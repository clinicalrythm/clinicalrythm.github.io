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92"/>
  </p:notesMasterIdLst>
  <p:sldIdLst>
    <p:sldId id="256" r:id="rId3"/>
    <p:sldId id="257" r:id="rId4"/>
    <p:sldId id="258" r:id="rId5"/>
    <p:sldId id="259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300" r:id="rId36"/>
    <p:sldId id="301" r:id="rId37"/>
    <p:sldId id="302" r:id="rId38"/>
    <p:sldId id="303" r:id="rId39"/>
    <p:sldId id="293" r:id="rId40"/>
    <p:sldId id="294" r:id="rId41"/>
    <p:sldId id="295" r:id="rId42"/>
    <p:sldId id="335" r:id="rId43"/>
    <p:sldId id="353" r:id="rId44"/>
    <p:sldId id="354" r:id="rId45"/>
    <p:sldId id="355" r:id="rId46"/>
    <p:sldId id="296" r:id="rId47"/>
    <p:sldId id="297" r:id="rId48"/>
    <p:sldId id="298" r:id="rId49"/>
    <p:sldId id="309" r:id="rId50"/>
    <p:sldId id="310" r:id="rId51"/>
    <p:sldId id="338" r:id="rId52"/>
    <p:sldId id="339" r:id="rId53"/>
    <p:sldId id="304" r:id="rId54"/>
    <p:sldId id="305" r:id="rId55"/>
    <p:sldId id="306" r:id="rId56"/>
    <p:sldId id="308" r:id="rId57"/>
    <p:sldId id="307" r:id="rId58"/>
    <p:sldId id="337" r:id="rId59"/>
    <p:sldId id="311" r:id="rId60"/>
    <p:sldId id="312" r:id="rId61"/>
    <p:sldId id="315" r:id="rId62"/>
    <p:sldId id="316" r:id="rId63"/>
    <p:sldId id="349" r:id="rId64"/>
    <p:sldId id="340" r:id="rId65"/>
    <p:sldId id="352" r:id="rId66"/>
    <p:sldId id="350" r:id="rId67"/>
    <p:sldId id="317" r:id="rId68"/>
    <p:sldId id="318" r:id="rId69"/>
    <p:sldId id="319" r:id="rId70"/>
    <p:sldId id="320" r:id="rId71"/>
    <p:sldId id="342" r:id="rId72"/>
    <p:sldId id="343" r:id="rId73"/>
    <p:sldId id="321" r:id="rId74"/>
    <p:sldId id="345" r:id="rId75"/>
    <p:sldId id="346" r:id="rId76"/>
    <p:sldId id="347" r:id="rId77"/>
    <p:sldId id="348" r:id="rId78"/>
    <p:sldId id="344" r:id="rId79"/>
    <p:sldId id="322" r:id="rId80"/>
    <p:sldId id="323" r:id="rId81"/>
    <p:sldId id="314" r:id="rId82"/>
    <p:sldId id="324" r:id="rId83"/>
    <p:sldId id="325" r:id="rId84"/>
    <p:sldId id="326" r:id="rId85"/>
    <p:sldId id="327" r:id="rId86"/>
    <p:sldId id="328" r:id="rId87"/>
    <p:sldId id="329" r:id="rId88"/>
    <p:sldId id="330" r:id="rId89"/>
    <p:sldId id="332" r:id="rId90"/>
    <p:sldId id="341" r:id="rId91"/>
  </p:sldIdLst>
  <p:sldSz cx="12192000" cy="6858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61"/>
    <p:restoredTop sz="88557"/>
  </p:normalViewPr>
  <p:slideViewPr>
    <p:cSldViewPr snapToGrid="0">
      <p:cViewPr>
        <p:scale>
          <a:sx n="68" d="100"/>
          <a:sy n="68" d="100"/>
        </p:scale>
        <p:origin x="34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65AF37-34BE-9049-8472-4A4F7B51A14B}" type="doc">
      <dgm:prSet loTypeId="urn:microsoft.com/office/officeart/2005/8/layout/chevron1" loCatId="" qsTypeId="urn:microsoft.com/office/officeart/2005/8/quickstyle/simple1#1" qsCatId="simple" csTypeId="urn:microsoft.com/office/officeart/2005/8/colors/colorful5#1" csCatId="colorful" phldr="1"/>
      <dgm:spPr/>
    </dgm:pt>
    <dgm:pt modelId="{F7DB4415-DCA9-704B-A890-27865FF6732B}">
      <dgm:prSet phldrT="[Text]" custT="1"/>
      <dgm:spPr/>
      <dgm:t>
        <a:bodyPr/>
        <a:lstStyle/>
        <a:p>
          <a:r>
            <a:rPr lang="en-GB" sz="2400" dirty="0"/>
            <a:t>Dormant in cavities &amp; Macrophage</a:t>
          </a:r>
        </a:p>
      </dgm:t>
    </dgm:pt>
    <dgm:pt modelId="{7F33F4D8-E1C9-6040-A0CA-40614585D43E}" type="parTrans" cxnId="{B306E160-666E-3046-92F1-717FC8E7A4A7}">
      <dgm:prSet/>
      <dgm:spPr/>
      <dgm:t>
        <a:bodyPr/>
        <a:lstStyle/>
        <a:p>
          <a:endParaRPr lang="en-GB" sz="2400"/>
        </a:p>
      </dgm:t>
    </dgm:pt>
    <dgm:pt modelId="{8668B9D6-B5A3-9D4D-9134-7E6F56672017}" type="sibTrans" cxnId="{B306E160-666E-3046-92F1-717FC8E7A4A7}">
      <dgm:prSet/>
      <dgm:spPr/>
      <dgm:t>
        <a:bodyPr/>
        <a:lstStyle/>
        <a:p>
          <a:endParaRPr lang="en-GB" sz="2400"/>
        </a:p>
      </dgm:t>
    </dgm:pt>
    <dgm:pt modelId="{6FDE2483-24B2-CE43-94AA-C03E8B10E120}">
      <dgm:prSet phldrT="[Text]" custT="1"/>
      <dgm:spPr/>
      <dgm:t>
        <a:bodyPr/>
        <a:lstStyle/>
        <a:p>
          <a:r>
            <a:rPr lang="en-GB" sz="2400" dirty="0"/>
            <a:t>Slow Growing Semidormant</a:t>
          </a:r>
        </a:p>
      </dgm:t>
    </dgm:pt>
    <dgm:pt modelId="{036A83A6-818C-8746-8AF4-25ECDCB3C6B1}" type="parTrans" cxnId="{B3EA0E6A-BC2D-6448-8A23-923C27D7192C}">
      <dgm:prSet/>
      <dgm:spPr/>
      <dgm:t>
        <a:bodyPr/>
        <a:lstStyle/>
        <a:p>
          <a:endParaRPr lang="en-GB" sz="2400"/>
        </a:p>
      </dgm:t>
    </dgm:pt>
    <dgm:pt modelId="{F6189C9E-60AC-5644-9BA4-C82298CD1BCE}" type="sibTrans" cxnId="{B3EA0E6A-BC2D-6448-8A23-923C27D7192C}">
      <dgm:prSet/>
      <dgm:spPr/>
      <dgm:t>
        <a:bodyPr/>
        <a:lstStyle/>
        <a:p>
          <a:endParaRPr lang="en-GB" sz="2400"/>
        </a:p>
      </dgm:t>
    </dgm:pt>
    <dgm:pt modelId="{E02D9226-9E9A-7E4E-95B0-C429DB7F2D37}">
      <dgm:prSet phldrT="[Text]" custT="1"/>
      <dgm:spPr/>
      <dgm:t>
        <a:bodyPr/>
        <a:lstStyle/>
        <a:p>
          <a:r>
            <a:rPr lang="en-GB" sz="2400" dirty="0"/>
            <a:t>Active Rapid Growing</a:t>
          </a:r>
        </a:p>
      </dgm:t>
    </dgm:pt>
    <dgm:pt modelId="{D7A0B7A0-E93C-124C-B031-5433CBB8162C}" type="parTrans" cxnId="{9DA8E025-9E1D-FF48-9DB2-FB983CE0DE09}">
      <dgm:prSet/>
      <dgm:spPr/>
      <dgm:t>
        <a:bodyPr/>
        <a:lstStyle/>
        <a:p>
          <a:endParaRPr lang="en-GB" sz="2400"/>
        </a:p>
      </dgm:t>
    </dgm:pt>
    <dgm:pt modelId="{92D89CDA-7B60-C541-8CA9-08E2041C3F18}" type="sibTrans" cxnId="{9DA8E025-9E1D-FF48-9DB2-FB983CE0DE09}">
      <dgm:prSet/>
      <dgm:spPr/>
      <dgm:t>
        <a:bodyPr/>
        <a:lstStyle/>
        <a:p>
          <a:endParaRPr lang="en-GB" sz="2400"/>
        </a:p>
      </dgm:t>
    </dgm:pt>
    <dgm:pt modelId="{88B833BB-111C-5743-B337-BAE92437EA45}">
      <dgm:prSet phldrT="[Text]" custT="1"/>
      <dgm:spPr/>
      <dgm:t>
        <a:bodyPr/>
        <a:lstStyle/>
        <a:p>
          <a:r>
            <a:rPr lang="en-GB" sz="2400" dirty="0"/>
            <a:t>Bacteriostatic, Prevents resistance.</a:t>
          </a:r>
        </a:p>
      </dgm:t>
    </dgm:pt>
    <dgm:pt modelId="{50793107-321A-A44D-A217-23EB8A1B48C7}" type="parTrans" cxnId="{61CDA6FC-E485-044B-AA5B-490996515FC5}">
      <dgm:prSet/>
      <dgm:spPr/>
      <dgm:t>
        <a:bodyPr/>
        <a:lstStyle/>
        <a:p>
          <a:endParaRPr lang="en-GB" sz="2400"/>
        </a:p>
      </dgm:t>
    </dgm:pt>
    <dgm:pt modelId="{11422EB4-3BA7-1743-88D6-252CF10ECAF9}" type="sibTrans" cxnId="{61CDA6FC-E485-044B-AA5B-490996515FC5}">
      <dgm:prSet/>
      <dgm:spPr/>
      <dgm:t>
        <a:bodyPr/>
        <a:lstStyle/>
        <a:p>
          <a:endParaRPr lang="en-GB" sz="2400"/>
        </a:p>
      </dgm:t>
    </dgm:pt>
    <dgm:pt modelId="{25148B1F-24DB-F245-B1E6-5023D6F12196}" type="pres">
      <dgm:prSet presAssocID="{C365AF37-34BE-9049-8472-4A4F7B51A14B}" presName="Name0" presStyleCnt="0">
        <dgm:presLayoutVars>
          <dgm:dir/>
          <dgm:animLvl val="lvl"/>
          <dgm:resizeHandles val="exact"/>
        </dgm:presLayoutVars>
      </dgm:prSet>
      <dgm:spPr/>
    </dgm:pt>
    <dgm:pt modelId="{F48D8CD8-5EEF-D745-B093-349A8680D9FD}" type="pres">
      <dgm:prSet presAssocID="{F7DB4415-DCA9-704B-A890-27865FF6732B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0800F40-E87C-9343-AC5C-0B31D611D729}" type="pres">
      <dgm:prSet presAssocID="{8668B9D6-B5A3-9D4D-9134-7E6F56672017}" presName="parTxOnlySpace" presStyleCnt="0"/>
      <dgm:spPr/>
    </dgm:pt>
    <dgm:pt modelId="{15DC3E54-099E-844A-A98D-BF66437E948F}" type="pres">
      <dgm:prSet presAssocID="{6FDE2483-24B2-CE43-94AA-C03E8B10E12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1EC0FFA-37EB-EB46-AEAC-92BFB81334AB}" type="pres">
      <dgm:prSet presAssocID="{F6189C9E-60AC-5644-9BA4-C82298CD1BCE}" presName="parTxOnlySpace" presStyleCnt="0"/>
      <dgm:spPr/>
    </dgm:pt>
    <dgm:pt modelId="{8E77D7A8-2F4F-014B-8A0A-C7AC3E95D216}" type="pres">
      <dgm:prSet presAssocID="{E02D9226-9E9A-7E4E-95B0-C429DB7F2D3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4A9A298-CE8D-4D43-8688-FA4F0BBA340E}" type="pres">
      <dgm:prSet presAssocID="{92D89CDA-7B60-C541-8CA9-08E2041C3F18}" presName="parTxOnlySpace" presStyleCnt="0"/>
      <dgm:spPr/>
    </dgm:pt>
    <dgm:pt modelId="{90D4E823-5042-D149-B946-70723EE33E22}" type="pres">
      <dgm:prSet presAssocID="{88B833BB-111C-5743-B337-BAE92437EA4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DDD5D08-18BA-7D4B-9666-4147AF78395D}" type="presOf" srcId="{88B833BB-111C-5743-B337-BAE92437EA45}" destId="{90D4E823-5042-D149-B946-70723EE33E22}" srcOrd="0" destOrd="0" presId="urn:microsoft.com/office/officeart/2005/8/layout/chevron1"/>
    <dgm:cxn modelId="{AB8CB50E-EA6B-F943-84B5-7204930C3A07}" type="presOf" srcId="{E02D9226-9E9A-7E4E-95B0-C429DB7F2D37}" destId="{8E77D7A8-2F4F-014B-8A0A-C7AC3E95D216}" srcOrd="0" destOrd="0" presId="urn:microsoft.com/office/officeart/2005/8/layout/chevron1"/>
    <dgm:cxn modelId="{9DA8E025-9E1D-FF48-9DB2-FB983CE0DE09}" srcId="{C365AF37-34BE-9049-8472-4A4F7B51A14B}" destId="{E02D9226-9E9A-7E4E-95B0-C429DB7F2D37}" srcOrd="2" destOrd="0" parTransId="{D7A0B7A0-E93C-124C-B031-5433CBB8162C}" sibTransId="{92D89CDA-7B60-C541-8CA9-08E2041C3F18}"/>
    <dgm:cxn modelId="{C1BE0B2E-B7FC-FA48-819D-A3A446CC07E1}" type="presOf" srcId="{C365AF37-34BE-9049-8472-4A4F7B51A14B}" destId="{25148B1F-24DB-F245-B1E6-5023D6F12196}" srcOrd="0" destOrd="0" presId="urn:microsoft.com/office/officeart/2005/8/layout/chevron1"/>
    <dgm:cxn modelId="{D6EA6955-54F7-714C-A078-9D1FEC53E73D}" type="presOf" srcId="{6FDE2483-24B2-CE43-94AA-C03E8B10E120}" destId="{15DC3E54-099E-844A-A98D-BF66437E948F}" srcOrd="0" destOrd="0" presId="urn:microsoft.com/office/officeart/2005/8/layout/chevron1"/>
    <dgm:cxn modelId="{B306E160-666E-3046-92F1-717FC8E7A4A7}" srcId="{C365AF37-34BE-9049-8472-4A4F7B51A14B}" destId="{F7DB4415-DCA9-704B-A890-27865FF6732B}" srcOrd="0" destOrd="0" parTransId="{7F33F4D8-E1C9-6040-A0CA-40614585D43E}" sibTransId="{8668B9D6-B5A3-9D4D-9134-7E6F56672017}"/>
    <dgm:cxn modelId="{6D0BF164-1593-C947-B41F-1E95BA18F240}" type="presOf" srcId="{F7DB4415-DCA9-704B-A890-27865FF6732B}" destId="{F48D8CD8-5EEF-D745-B093-349A8680D9FD}" srcOrd="0" destOrd="0" presId="urn:microsoft.com/office/officeart/2005/8/layout/chevron1"/>
    <dgm:cxn modelId="{B3EA0E6A-BC2D-6448-8A23-923C27D7192C}" srcId="{C365AF37-34BE-9049-8472-4A4F7B51A14B}" destId="{6FDE2483-24B2-CE43-94AA-C03E8B10E120}" srcOrd="1" destOrd="0" parTransId="{036A83A6-818C-8746-8AF4-25ECDCB3C6B1}" sibTransId="{F6189C9E-60AC-5644-9BA4-C82298CD1BCE}"/>
    <dgm:cxn modelId="{61CDA6FC-E485-044B-AA5B-490996515FC5}" srcId="{C365AF37-34BE-9049-8472-4A4F7B51A14B}" destId="{88B833BB-111C-5743-B337-BAE92437EA45}" srcOrd="3" destOrd="0" parTransId="{50793107-321A-A44D-A217-23EB8A1B48C7}" sibTransId="{11422EB4-3BA7-1743-88D6-252CF10ECAF9}"/>
    <dgm:cxn modelId="{50348CCD-A132-0842-9339-88EEF8ADB551}" type="presParOf" srcId="{25148B1F-24DB-F245-B1E6-5023D6F12196}" destId="{F48D8CD8-5EEF-D745-B093-349A8680D9FD}" srcOrd="0" destOrd="0" presId="urn:microsoft.com/office/officeart/2005/8/layout/chevron1"/>
    <dgm:cxn modelId="{6F8880D5-CDD8-0144-BF10-EEA3F6DD7BDC}" type="presParOf" srcId="{25148B1F-24DB-F245-B1E6-5023D6F12196}" destId="{F0800F40-E87C-9343-AC5C-0B31D611D729}" srcOrd="1" destOrd="0" presId="urn:microsoft.com/office/officeart/2005/8/layout/chevron1"/>
    <dgm:cxn modelId="{52142A77-915A-0C40-B687-2FAE330195CE}" type="presParOf" srcId="{25148B1F-24DB-F245-B1E6-5023D6F12196}" destId="{15DC3E54-099E-844A-A98D-BF66437E948F}" srcOrd="2" destOrd="0" presId="urn:microsoft.com/office/officeart/2005/8/layout/chevron1"/>
    <dgm:cxn modelId="{4D511D27-9FC2-FC43-97CB-700A668FB32A}" type="presParOf" srcId="{25148B1F-24DB-F245-B1E6-5023D6F12196}" destId="{11EC0FFA-37EB-EB46-AEAC-92BFB81334AB}" srcOrd="3" destOrd="0" presId="urn:microsoft.com/office/officeart/2005/8/layout/chevron1"/>
    <dgm:cxn modelId="{788C4342-0D62-1E47-AFE1-62A595386519}" type="presParOf" srcId="{25148B1F-24DB-F245-B1E6-5023D6F12196}" destId="{8E77D7A8-2F4F-014B-8A0A-C7AC3E95D216}" srcOrd="4" destOrd="0" presId="urn:microsoft.com/office/officeart/2005/8/layout/chevron1"/>
    <dgm:cxn modelId="{8838A8B4-FE69-D34D-9F8A-C5C44C1545D4}" type="presParOf" srcId="{25148B1F-24DB-F245-B1E6-5023D6F12196}" destId="{34A9A298-CE8D-4D43-8688-FA4F0BBA340E}" srcOrd="5" destOrd="0" presId="urn:microsoft.com/office/officeart/2005/8/layout/chevron1"/>
    <dgm:cxn modelId="{F5002D2B-FEAB-664D-BA31-E0F2CB80C89D}" type="presParOf" srcId="{25148B1F-24DB-F245-B1E6-5023D6F12196}" destId="{90D4E823-5042-D149-B946-70723EE33E2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D8CD8-5EEF-D745-B093-349A8680D9FD}">
      <dsp:nvSpPr>
        <dsp:cNvPr id="0" name=""/>
        <dsp:cNvSpPr/>
      </dsp:nvSpPr>
      <dsp:spPr bwMode="white">
        <a:xfrm>
          <a:off x="5270" y="2663267"/>
          <a:ext cx="3068159" cy="1227263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Dormant in cavities &amp; Macrophage</a:t>
          </a:r>
        </a:p>
      </dsp:txBody>
      <dsp:txXfrm>
        <a:off x="618902" y="2663267"/>
        <a:ext cx="1840896" cy="1227263"/>
      </dsp:txXfrm>
    </dsp:sp>
    <dsp:sp modelId="{15DC3E54-099E-844A-A98D-BF66437E948F}">
      <dsp:nvSpPr>
        <dsp:cNvPr id="0" name=""/>
        <dsp:cNvSpPr/>
      </dsp:nvSpPr>
      <dsp:spPr bwMode="white">
        <a:xfrm>
          <a:off x="2766614" y="2663267"/>
          <a:ext cx="3068159" cy="1227263"/>
        </a:xfrm>
        <a:prstGeom prst="chevron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Slow Growing Semidormant</a:t>
          </a:r>
        </a:p>
      </dsp:txBody>
      <dsp:txXfrm>
        <a:off x="3380246" y="2663267"/>
        <a:ext cx="1840896" cy="1227263"/>
      </dsp:txXfrm>
    </dsp:sp>
    <dsp:sp modelId="{8E77D7A8-2F4F-014B-8A0A-C7AC3E95D216}">
      <dsp:nvSpPr>
        <dsp:cNvPr id="0" name=""/>
        <dsp:cNvSpPr/>
      </dsp:nvSpPr>
      <dsp:spPr bwMode="white">
        <a:xfrm>
          <a:off x="5527958" y="2663267"/>
          <a:ext cx="3068159" cy="1227263"/>
        </a:xfrm>
        <a:prstGeom prst="chevron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Active Rapid Growing</a:t>
          </a:r>
        </a:p>
      </dsp:txBody>
      <dsp:txXfrm>
        <a:off x="6141590" y="2663267"/>
        <a:ext cx="1840896" cy="1227263"/>
      </dsp:txXfrm>
    </dsp:sp>
    <dsp:sp modelId="{90D4E823-5042-D149-B946-70723EE33E22}">
      <dsp:nvSpPr>
        <dsp:cNvPr id="0" name=""/>
        <dsp:cNvSpPr/>
      </dsp:nvSpPr>
      <dsp:spPr bwMode="white">
        <a:xfrm>
          <a:off x="8289302" y="2663267"/>
          <a:ext cx="3068159" cy="1227263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Bacteriostatic, Prevents resistance.</a:t>
          </a:r>
        </a:p>
      </dsp:txBody>
      <dsp:txXfrm>
        <a:off x="8902934" y="2663267"/>
        <a:ext cx="1840896" cy="12272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97D6C-2EFB-B747-AC91-5D259A956BA1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7AB62-0A3F-2A43-A279-401B7BDFBA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</a:t>
            </a:r>
            <a:r>
              <a:rPr lang="en-TZ" dirty="0"/>
              <a:t>elayed type 4 sensitivity reaction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AB62-0A3F-2A43-A279-401B7BDFBA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4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IDSA= Infectious Diseases Society of America ; TST= Tuberculin skin test; IGRA= Interferon Gamma release assay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LAM is a component of the cell wall of M.Tb which can be detected in urine aHR= adjusted hazard ratio; ptnt who had urine LAM testing were dx/started on TB tx 55% faster than those without LAM testing and mortality was 7% lower in the urine LAM group.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LAM is a component of the cell wall of M.Tb which can be detected in urine aHR= adjusted hazard ratio; ptnt who had urine LAM testing were dx/started on TB tx 55% faster than those without LAM testing and mortality was 7% lower in the urine LAM group.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Secondary outcome = TB dx rates, time to TB treatment, microbiologically confirmed TB, hospital readmission, ART initiation, duration of hospitalization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adjusted risk ratio -2.8%  95% CI : -5.8 to +0.3 p=0.074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based on WHO global drug resistance surveillance reports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based on WHO Global report in 2019 there were 465,000 cases of MDR/RR TB cases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74151"/>
                </a:solidFill>
                <a:effectLst/>
                <a:latin typeface="Manrope" pitchFamily="2" charset="0"/>
              </a:rPr>
              <a:t>Open‑label phase 3 noninferiority RCT (34 sites, 13 countries) in which the </a:t>
            </a:r>
            <a:r>
              <a:rPr lang="en-GB" b="1" i="0" dirty="0">
                <a:solidFill>
                  <a:srgbClr val="111827"/>
                </a:solidFill>
                <a:effectLst/>
                <a:latin typeface="Manrope" pitchFamily="2" charset="0"/>
              </a:rPr>
              <a:t>rifapentine–moxifloxacin 4‑month regimen was noninferior</a:t>
            </a:r>
            <a:r>
              <a:rPr lang="en-GB" b="0" i="0" dirty="0">
                <a:solidFill>
                  <a:srgbClr val="374151"/>
                </a:solidFill>
                <a:effectLst/>
                <a:latin typeface="Manrope" pitchFamily="2" charset="0"/>
              </a:rPr>
              <a:t> to standard 6‑month therapy in the microbiologically eligible population (</a:t>
            </a:r>
            <a:r>
              <a:rPr lang="en-GB" b="1" i="0" dirty="0" err="1">
                <a:solidFill>
                  <a:srgbClr val="111827"/>
                </a:solidFill>
                <a:effectLst/>
                <a:latin typeface="Manrope" pitchFamily="2" charset="0"/>
              </a:rPr>
              <a:t>unfavorable</a:t>
            </a:r>
            <a:r>
              <a:rPr lang="en-GB" b="1" i="0" dirty="0">
                <a:solidFill>
                  <a:srgbClr val="111827"/>
                </a:solidFill>
                <a:effectLst/>
                <a:latin typeface="Manrope" pitchFamily="2" charset="0"/>
              </a:rPr>
              <a:t> outcome 15.5% vs 14.6%; difference 1.0 percentage point, 95% CI −2.6 to 4.5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AB62-0A3F-2A43-A279-401B7BDFBAA5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74151"/>
                </a:solidFill>
                <a:effectLst/>
                <a:latin typeface="Manrope" pitchFamily="2" charset="0"/>
              </a:rPr>
              <a:t>Open‑label phase 3 noninferiority RCT (34 sites, 13 countries) in which the </a:t>
            </a:r>
            <a:r>
              <a:rPr lang="en-GB" b="1" i="0" dirty="0">
                <a:solidFill>
                  <a:srgbClr val="111827"/>
                </a:solidFill>
                <a:effectLst/>
                <a:latin typeface="Manrope" pitchFamily="2" charset="0"/>
              </a:rPr>
              <a:t>rifapentine–moxifloxacin 4‑month regimen was noninferior</a:t>
            </a:r>
            <a:r>
              <a:rPr lang="en-GB" b="0" i="0" dirty="0">
                <a:solidFill>
                  <a:srgbClr val="374151"/>
                </a:solidFill>
                <a:effectLst/>
                <a:latin typeface="Manrope" pitchFamily="2" charset="0"/>
              </a:rPr>
              <a:t> to standard 6‑month therapy in the microbiologically eligible population (</a:t>
            </a:r>
            <a:r>
              <a:rPr lang="en-GB" b="1" i="0" dirty="0" err="1">
                <a:solidFill>
                  <a:srgbClr val="111827"/>
                </a:solidFill>
                <a:effectLst/>
                <a:latin typeface="Manrope" pitchFamily="2" charset="0"/>
              </a:rPr>
              <a:t>unfavorable</a:t>
            </a:r>
            <a:r>
              <a:rPr lang="en-GB" b="1" i="0" dirty="0">
                <a:solidFill>
                  <a:srgbClr val="111827"/>
                </a:solidFill>
                <a:effectLst/>
                <a:latin typeface="Manrope" pitchFamily="2" charset="0"/>
              </a:rPr>
              <a:t> outcome 15.5% vs 14.6%; difference 1.0 percentage point, 95% CI −2.6 to 4.5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AB62-0A3F-2A43-A279-401B7BDFBAA5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Mycobacterium tuberculosis that was not resistant to isoniazid, rifampicin and fluoroquinolones.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Mycobacterium tuberculosis that was not resistant to isoniazid, rifampicin and fluoroquinolones.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itchFamily="2" charset="0"/>
                <a:sym typeface="+mn-ea"/>
              </a:rPr>
              <a:t>TBTC Study: </a:t>
            </a:r>
            <a:r>
              <a:rPr lang="en-GB" dirty="0">
                <a:latin typeface="Helvetica" pitchFamily="2" charset="0"/>
                <a:sym typeface="+mn-ea"/>
              </a:rPr>
              <a:t>Phase 3 RCT: 4-month rifapentine–moxifloxacin noninferior to 6-month standard</a:t>
            </a:r>
            <a:endParaRPr lang="en-GB" dirty="0">
              <a:latin typeface="Helvetica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" pitchFamily="2" charset="0"/>
                <a:sym typeface="+mn-ea"/>
              </a:rPr>
              <a:t>(</a:t>
            </a:r>
            <a:r>
              <a:rPr lang="en-GB" dirty="0" err="1">
                <a:effectLst/>
                <a:latin typeface="Helvetica" pitchFamily="2" charset="0"/>
                <a:sym typeface="+mn-ea"/>
              </a:rPr>
              <a:t>unfavorable</a:t>
            </a:r>
            <a:r>
              <a:rPr lang="en-GB" dirty="0">
                <a:effectLst/>
                <a:latin typeface="Helvetica" pitchFamily="2" charset="0"/>
                <a:sym typeface="+mn-ea"/>
              </a:rPr>
              <a:t> outcome 15.5% vs 14.6%; </a:t>
            </a:r>
            <a:r>
              <a:rPr lang="el-GR" dirty="0">
                <a:effectLst/>
                <a:latin typeface="Helvetica" pitchFamily="2" charset="0"/>
                <a:sym typeface="+mn-ea"/>
              </a:rPr>
              <a:t>95% </a:t>
            </a:r>
            <a:r>
              <a:rPr lang="en-GB" dirty="0">
                <a:effectLst/>
                <a:latin typeface="Helvetica" pitchFamily="2" charset="0"/>
                <a:sym typeface="+mn-ea"/>
              </a:rPr>
              <a:t>CI −2.6 to 4.5)</a:t>
            </a:r>
            <a:endParaRPr lang="en-GB" dirty="0">
              <a:effectLst/>
              <a:latin typeface="Helvetica" pitchFamily="2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</a:t>
            </a:r>
            <a:r>
              <a:rPr lang="en-TZ" dirty="0"/>
              <a:t>ccular effect it chelates metals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7AB62-0A3F-2A43-A279-401B7BDFBAA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58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upper limit of the confidence interval remained below 0.75%  CI (-0.60% to 0.13%) which was the non inferiority margin set for the study and this demonstrated that 3 months of rifapentine plus isoniazid was non inferior to 9 months of isoniazid for TB prevention.</a:t>
            </a:r>
          </a:p>
          <a:p>
            <a:r>
              <a:rPr lang="en-US"/>
              <a:t>HEPATOTOXICITY : 0.3% IN COMBINATION GROUP AND 2% IN ISONIAZID ONLY GROUP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primary end point = incidence rate of 0.65 and 0.67 per 100 person years respectively for a between group diff of -0.02 CI =-0.35 to 0.30.</a:t>
            </a:r>
          </a:p>
          <a:p>
            <a:r>
              <a:rPr lang="en-US"/>
              <a:t>Active TB 29 of 32 events in 1 month group and 26 of 33 in 9 month group; 3 tb related deaths in 1 month group and 7 deaths in 9 month group 3 due to TB and remaining due to unknown causes. one tb death was due to TB IRIS.</a:t>
            </a:r>
          </a:p>
          <a:p>
            <a:r>
              <a:rPr lang="en-US"/>
              <a:t>AE: NAUSEA AND VOMITING, RASH, DRUG ASS FEVER, ELEVATED LIVER ENZYMES, PERIPHERAL NEUROPATHY, THROMBOCYTOPENIA, NEUTROPENIA AND ANEMIA.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50B522-FF1C-40F4-A350-C5555C846B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BA3940-0BCD-415A-87F6-2A0A88E769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AA19A-1B11-45C9-8F0E-2978EE0B6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CA874-66B4-4BA1-A11C-99BB872FD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258FE-C949-47BD-87BF-03D41E0ADC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7DCF6-3EDF-4DFC-93F1-EB27BA7132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8692CA-7874-450F-8139-040D2AF80F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ECE18-55A6-47A4-9A1D-D6EB97790B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58E11-1308-4589-A1F9-ECE47DB927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40C68-D427-4473-8E72-4AAE4AC2B2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 hasCustomPrompt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6CEFD-9DA0-49FC-B124-09A97F8AAB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50B522-FF1C-40F4-A350-C5555C846B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BA3940-0BCD-415A-87F6-2A0A88E769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3AA19A-1B11-45C9-8F0E-2978EE0B6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CA874-66B4-4BA1-A11C-99BB872FD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258FE-C949-47BD-87BF-03D41E0ADC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7DCF6-3EDF-4DFC-93F1-EB27BA7132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8692CA-7874-450F-8139-040D2AF80F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ECE18-55A6-47A4-9A1D-D6EB97790B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758E11-1308-4589-A1F9-ECE47DB927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240C68-D427-4473-8E72-4AAE4AC2B2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 hasCustomPrompt="1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6CEFD-9DA0-49FC-B124-09A97F8AAB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300960"/>
            <a:ext cx="9143640" cy="156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9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TUBERCULOSIS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1523880" y="1773000"/>
            <a:ext cx="9143640" cy="433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MMed1 Seminar Presentation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Presenters: </a:t>
            </a:r>
            <a:r>
              <a:rPr lang="en-US" sz="4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Margreth</a:t>
            </a: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Kwai 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			       Edna </a:t>
            </a:r>
            <a:r>
              <a:rPr lang="en-US" sz="4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Chagama</a:t>
            </a: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4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Facilitator: Prof. Patricia </a:t>
            </a:r>
            <a:r>
              <a:rPr lang="en-US" sz="4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Munseri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100440"/>
            <a:ext cx="10515240" cy="112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OUTLINE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914400"/>
            <a:ext cx="10515240" cy="557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Introduction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Epidemiology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Natural history of TB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Clinical presentation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Diagnosis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Treatment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TB-HIV coinfection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pitchFamily="2" charset="2"/>
              <a:buChar char=""/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References 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 dirty="0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2124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INTRODUCTION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442520"/>
            <a:ext cx="10515240" cy="52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Tuberculosis is a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chronic contagious disease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caused by </a:t>
            </a:r>
            <a:r>
              <a:rPr lang="en-US" sz="2800" b="1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Mycobacterium tuberculosis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Most commonly transmitted via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aerosol droplets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generated by a person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with lung/airways TB.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Once the aerosols are inhaled by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susceptible individual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they are deposited in lung leading to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spectrum of outcomes.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EPIDEMIOLOGY - GLOBALLY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275120"/>
            <a:ext cx="10515240" cy="521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 2024: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10.7million new TB cases/year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with p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revalence ~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14 million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Estimated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390,000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people developed MDR/RR-TB, of which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42%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received treatment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drug susceptible TB (88%) and DR-TB (71%)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1.23 million estimated deaths due to TB: Men (54%) &gt;Women (35%)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High burden regions being Asia and Africa (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2.7 million ~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25% of global burden)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Number of TB deaths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424,000 per year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negative,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85,000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among PLHIV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3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WHO Global TB Report 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156240"/>
            <a:ext cx="10515240" cy="104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EPIDEMIOLOGY - TANZANIA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1" name="Picture 4"/>
          <p:cNvPicPr/>
          <p:nvPr/>
        </p:nvPicPr>
        <p:blipFill>
          <a:blip/>
          <a:stretch>
            <a:fillRect/>
          </a:stretch>
        </p:blipFill>
        <p:spPr>
          <a:xfrm>
            <a:off x="579863" y="1610100"/>
            <a:ext cx="11195825" cy="47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838080" y="682560"/>
            <a:ext cx="10515240" cy="54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Dar es Salaam and other nine regions contributed 59% of all cases notified in the country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Dar es Salaam  has remained a major contributor ( 15% ) of all cases notified in the country, which has been decreasing compared 2015 (22%).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Other regions are:  Dodoma (6%); Manyara (5%); Mwanza (5%); Geita (5%); Arusha (5%); Mara (4%); Tanga (4%); Morogoro (4%); and Tabora (4%).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National TB and Leprosy Program Report of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84" name="Picture 1"/>
          <p:cNvPicPr/>
          <p:nvPr/>
        </p:nvPicPr>
        <p:blipFill>
          <a:blip/>
          <a:stretch>
            <a:fillRect/>
          </a:stretch>
        </p:blipFill>
        <p:spPr>
          <a:xfrm>
            <a:off x="838080" y="111600"/>
            <a:ext cx="10515240" cy="6746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RISK FACTORS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481040"/>
            <a:ext cx="10515240" cy="469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HOST FACTORS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infection: Risk of acquiring TB is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9 to 16 times that of HIV uninfected individuals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Malnutrition, Post transplant patients, Glucocorticoid therapy,  DM and TNF alpha inhibitors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Substance abuse,  Chronic lung diseases (Silicosis and COPD)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RISK FACTORS Cont.….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371600"/>
            <a:ext cx="10515240" cy="480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1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ENVIRONMENTAL FACTORS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Overcrowding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Low socioeconomic status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Household contacts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111600"/>
            <a:ext cx="10515240" cy="94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NATURAL HISTORY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93" name="Content Placeholder 4"/>
          <p:cNvPicPr/>
          <p:nvPr/>
        </p:nvPicPr>
        <p:blipFill>
          <a:blip/>
          <a:stretch>
            <a:fillRect/>
          </a:stretch>
        </p:blipFill>
        <p:spPr>
          <a:xfrm>
            <a:off x="925560" y="1237680"/>
            <a:ext cx="9935280" cy="5318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48080" y="152280"/>
            <a:ext cx="10515240" cy="94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Primary TB disease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094760"/>
            <a:ext cx="10984320" cy="53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Immediate onset of TB disease following exposure to M. tuberculosis in a previously naive host.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M. tuberculosis are taken up by alveolar macrophages, which then release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cytokines to attract other phagocytic cells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to join the fight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Congregation of cells forms a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tubercle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; nodular granulomatous structure known as </a:t>
            </a:r>
            <a:r>
              <a:rPr lang="en-US" sz="28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Ghon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focus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(commonly in lower and middle zones)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As the M. tuberculosis proliferate, tubercle enlarges and the bacilli spill into the lymphatic drainage reaching regional lymph nodes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94680"/>
            <a:ext cx="1051524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Primary TB disease cont.…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991800"/>
            <a:ext cx="10971360" cy="56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0000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Ghon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focus together with regional lymphadenopathy is known as </a:t>
            </a:r>
            <a:r>
              <a:rPr lang="en-US" sz="30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Ghon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complex.</a:t>
            </a: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Ghon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complex that has undergone calcification is a 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Ranke complex.</a:t>
            </a: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M. tuberculosis continue proliferating until an </a:t>
            </a: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effective cell-mediated immune (CMI) response develops</a:t>
            </a: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0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If the CMI response is successful, the individual remains with TB infection.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Individuals who fail to mount a successful CMI response will progress to primary TB disease.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245160"/>
            <a:ext cx="10515240" cy="111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Latent TB infection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115280"/>
            <a:ext cx="10515240" cy="528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Follows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exposure to bacilli without signs or symptoms illness.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Occurs when are contained by host effective CMI but not eradicated.</a:t>
            </a:r>
          </a:p>
          <a:p>
            <a:pPr marL="457200" indent="-4572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Characterized by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evidence of specific cell mediated immunity (CMI) response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 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positive Tuberculin Skin Test (TST) and Interferon Gamma Release Assay (IGRA))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M. tuberculosis  my continue to proliferate or not-proliferative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but continue to survive intracellularly in alveolar macrophages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14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Post-primary TB (Reactivation  disease)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26224"/>
            <a:ext cx="11061360" cy="544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Occurrence of after a period of clinical latency.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With no underlying medical conditions, lifetime risk of reactivation is 5 - 10%.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Immunosuppressive states are associated with increased risk for reactivation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eactivation disease it is more localized with less regional lymph nodes involvement and less caseation.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Typically involves the apices and posterior segments of upper lobes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245160"/>
            <a:ext cx="10515240" cy="113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CLINICAL PRESENTATION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516680"/>
            <a:ext cx="10515240" cy="466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About 90% of TB infection involves lung parenchyma (Pulmonary TB).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remaining (Extrapulmonary TB) is usually seen in immunosuppressed individuals.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ay involve any organ including the CNS, musculoskeletal system, pleura and lymph nodes.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156240"/>
            <a:ext cx="10515240" cy="99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126386"/>
            <a:ext cx="10515240" cy="553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Primary TB – may be asymptomatic or present with low grade fever of gradual onset and chest pain (pleuritic and retrosternal)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Post-primary TB: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Cough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– dry or productive, with or without hemoptysis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Dyspnea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– due to extensive parenchymal involvement or pleural effusion or pneumothorax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Fever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– low grade and gradual onset, progressively increases with disease progression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Night sweats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anorexia and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weight loss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189720"/>
            <a:ext cx="10515240" cy="95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 Sequelae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271160"/>
            <a:ext cx="10515240" cy="490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L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ong-term lung complication arising even after successful treatment of pulmonary TB impacting lung function and quality of life.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Causes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disease process itself or the side effects of TB treatment can contribute to the development of sequela.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Impact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 Sequela leads to pulmonary dysfunction, reduced lung function, and increased risk of respiratory-related deaths.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ftr" idx="4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3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 Sequelae Cont.……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315800"/>
            <a:ext cx="10515240" cy="486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Symptoms: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Patient may experience persistent respiratory symptoms like dyspnea (shortness of breath), cough, and sputum production.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Risk factors: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Older age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Previous TB treatment history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Smoking, alcohol consumption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Smear-positive pulmonary TB diagnosis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Presence of radiographic evidence of pulmonary lesions at commencement of treatment.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78120"/>
            <a:ext cx="10515240" cy="117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 Sequelae Cont.…..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248840"/>
            <a:ext cx="10515240" cy="4927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Types of Pulmonary TB Sequelae: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AutoNum type="arabicPeriod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Parenchyma lesions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Include </a:t>
            </a:r>
            <a:r>
              <a:rPr lang="en-US" sz="2800" b="0" u="sng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fibrocavitation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(scarring and cavity formation),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emphysema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(air sac damage), and lung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scarring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(fibrosis)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2. Airway lesions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I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nclude bronchiectasis, tracheobronchial stenosis, &amp;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broncholitihiasis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100440"/>
            <a:ext cx="10515240" cy="133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 Sequelae Cont.…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259964"/>
            <a:ext cx="10515240" cy="49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3.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Vascular lesions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Leading to pulmonary hypertension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4.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Pleural changes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Pleural fibrosis can occur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5. Other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Chronic pulmonary aspergillosis (CPA), and even an increased risk of lung cancer have been linked to post TB-sequelae.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ftr" idx="4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100440"/>
            <a:ext cx="10515240" cy="100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Extrapulmonary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992520"/>
            <a:ext cx="10515240" cy="518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Tuberculosis may affect virtually any organ, following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hematogenous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dissemination especially in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immunocompromised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individuals.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following sites are most commonly affected: 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Lymph nodes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Pleura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Genitourinary tract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Bones and joints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Meninges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Peritoneum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Pericardium.</a:t>
            </a:r>
          </a:p>
        </p:txBody>
      </p:sp>
      <p:sp>
        <p:nvSpPr>
          <p:cNvPr id="124" name="PlaceHolder 3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89280"/>
            <a:ext cx="10515240" cy="9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Tuberculous lymphadenitis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014840"/>
            <a:ext cx="11164680" cy="534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Chronic granulomatous inflammation of lymph nodes with caseous necrosis.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Most cases occur in the setting of reactivation TB disease.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Some occur following miliary dissemination following primary TB infection.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Most commonly involved are the cervical lymph nodes.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Mostly present with fever and painless swelling but may complicate to ulceration, abscess formation or fistula/sinus formation.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5"/>
          <p:cNvPicPr/>
          <p:nvPr/>
        </p:nvPicPr>
        <p:blipFill>
          <a:blip/>
          <a:stretch>
            <a:fillRect/>
          </a:stretch>
        </p:blipFill>
        <p:spPr>
          <a:xfrm>
            <a:off x="6055200" y="423720"/>
            <a:ext cx="5865120" cy="569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Picture 2" descr="Cervical tuberculous lymphadenitis &quot;scrofula&quot; | Pathology Learning Centre"/>
          <p:cNvPicPr/>
          <p:nvPr/>
        </p:nvPicPr>
        <p:blipFill>
          <a:blip/>
          <a:stretch>
            <a:fillRect/>
          </a:stretch>
        </p:blipFill>
        <p:spPr>
          <a:xfrm>
            <a:off x="200160" y="423720"/>
            <a:ext cx="5714640" cy="569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6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Pleural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429560"/>
            <a:ext cx="10515240" cy="474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pleural effusion can occur with primary or reactivation TB disease.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 adults, it occurs most often with reactivation disease while in children it most commonly occurs as part of primary TB infection.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May occur following rupture of subpleural TB focus or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hypersensitivity reaction to TB or via hematogenous spread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Tuberculous empyema may develop as an extension of infection from nearby lymph nodes.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189720"/>
            <a:ext cx="10515240" cy="108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Pleural Tuberculosis Cont.….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193040"/>
            <a:ext cx="10868400" cy="529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Presents as acute febrile illness with nonproductive cough and pleuritic chest pain.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May also be accompanied with night sweats, dyspnea  and weight loss.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effusions are usually unilateral, moderate in amount and  self limited.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effusion can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progress to TB empyema associated with pleural thickening, scarring and calcification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</p:txBody>
      </p:sp>
      <p:sp>
        <p:nvSpPr>
          <p:cNvPr id="136" name="PlaceHolder 3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5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38" name="Picture 4"/>
          <p:cNvPicPr/>
          <p:nvPr/>
        </p:nvPicPr>
        <p:blipFill>
          <a:blip/>
          <a:stretch>
            <a:fillRect/>
          </a:stretch>
        </p:blipFill>
        <p:spPr>
          <a:xfrm>
            <a:off x="223200" y="424080"/>
            <a:ext cx="5698080" cy="572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5"/>
          <p:cNvPicPr/>
          <p:nvPr/>
        </p:nvPicPr>
        <p:blipFill>
          <a:blip/>
          <a:stretch>
            <a:fillRect/>
          </a:stretch>
        </p:blipFill>
        <p:spPr>
          <a:xfrm>
            <a:off x="6095700" y="424080"/>
            <a:ext cx="5657040" cy="593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234360"/>
            <a:ext cx="10515240" cy="10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Urogenital Tuberculosis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3000" y="1416132"/>
            <a:ext cx="1127340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From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hematogenous seeding of tuberculosis to genitourinary organs.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Urinary TB classically involves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renal pelvis, calyces, ureters &amp;  bladder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Rarely, it may involve the renal parenchyma and present as interstitial nephritis,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glomerulonephropathy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or amyloidosis.</a:t>
            </a:r>
          </a:p>
        </p:txBody>
      </p:sp>
      <p:sp>
        <p:nvSpPr>
          <p:cNvPr id="142" name="PlaceHolder 3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Urogenital Tuberculosis Cont.…..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Male genital TB may involve any part including prostate, seminal vesicles, vas deferens, epididymis, testicles, Cooper glands, and penis.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Female genital may involve the fallopian tubes, endometrium, and ovaries but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generally spares the myometrium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133920"/>
            <a:ext cx="105152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Skeletal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8080" y="1114595"/>
            <a:ext cx="10515240" cy="545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Contributes up to 35% of all extrapulmonary tuberculosis.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Results after seeding of bacilli in bones and synovial tissues.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Mostly seen in advanced age, malnutrition &amp; immunosuppressive states.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3 common form: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TB spondylitis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TB arthritis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Extraspinal TB osteomyelitis</a:t>
            </a:r>
          </a:p>
        </p:txBody>
      </p:sp>
      <p:sp>
        <p:nvSpPr>
          <p:cNvPr id="148" name="PlaceHolder 3"/>
          <p:cNvSpPr>
            <a:spLocks noGrp="1"/>
          </p:cNvSpPr>
          <p:nvPr>
            <p:ph type="ftr" idx="5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/>
          </p:nvPr>
        </p:nvSpPr>
        <p:spPr>
          <a:xfrm>
            <a:off x="6172200" y="489240"/>
            <a:ext cx="5781600" cy="56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Most commonly involves the Thoracic-Lumbar spine.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Progresses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anteroposteriorly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Eventually, vertebral destruction gives characteristic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Gibbus deformity.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Spinal cord compression give the neurological symptoms.</a:t>
            </a:r>
          </a:p>
        </p:txBody>
      </p:sp>
      <p:pic>
        <p:nvPicPr>
          <p:cNvPr id="151" name="Picture 2" descr="Gibbus in thoracolumbar region of spondylitis tuberculosis patient. A.... |  Download Scientific Diagram"/>
          <p:cNvPicPr/>
          <p:nvPr/>
        </p:nvPicPr>
        <p:blipFill>
          <a:blip/>
          <a:stretch>
            <a:fillRect/>
          </a:stretch>
        </p:blipFill>
        <p:spPr>
          <a:xfrm>
            <a:off x="234000" y="602280"/>
            <a:ext cx="5937840" cy="5554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184680"/>
            <a:ext cx="1051524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Central Nervous System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53680" y="1211202"/>
            <a:ext cx="11320200" cy="552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Results after bacilli reach the brain, forming tubercles in the brain, meninges and adjacent bones (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predilection: base of brain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)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tubercles may eventually burst, releasing tubercle proteins that </a:t>
            </a:r>
            <a:r>
              <a:rPr lang="en-US" sz="280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trigger intense hypersensitivity reaction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reaction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leads to vasculitis with resultant aneurysm, communicating hydrocephalus, thrombosis and infarctio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28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Central Nervous System Tuberculosis Cont.….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Has three forms of presentation: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TB meningitis.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Intracranial tuberculoma.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Spinal TB arachnoiditis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ftr" idx="5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DIAGNOSIS OF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History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Physical examination (general and respiratory system)</a:t>
            </a:r>
          </a:p>
          <a:p>
            <a:pPr marL="914400" lvl="1" indent="-4572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Detectable rales in the involved areas during inspiration.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14400" lvl="1" indent="-4572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Rhonchi due to partial bronchial obstruction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14400" lvl="1" indent="-4572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Classic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amphoric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breath sounds in areas with large cavities may be heard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14400" lvl="1" indent="-4572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GB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Dullness with pleural effusion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14400" lvl="1" indent="-457200" defTabSz="4572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GB" sz="2400" b="0" u="none" strike="noStrike" dirty="0">
                <a:solidFill>
                  <a:srgbClr val="000000"/>
                </a:solidFill>
                <a:effectLst/>
                <a:uFillTx/>
                <a:latin typeface="Calibri" panose="020F0502020204030204"/>
              </a:rPr>
              <a:t> Bronchial breathing with consolidation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Diagnosis of Tuberculosis Cont.….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IDSA/WHO recommend diagnosing TB disease by integrating: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C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linical assessment, Radiographic findings and 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Microbiologic confirmation (preferably NAAT; with other concurrent test per indication;  smear microscopy, and culture)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Tests for resistance to rifampicin </a:t>
            </a: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D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iagnosing TB infection with TST or IGRA after excluding TB disease.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CASE DEFINITIONS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616760"/>
            <a:ext cx="10515240" cy="48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case definitions: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Presumptive TB case</a:t>
            </a:r>
          </a:p>
          <a:p>
            <a:pPr marL="914400" lvl="1" indent="-4572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Bacteriologically confirmed TB case</a:t>
            </a:r>
          </a:p>
          <a:p>
            <a:pPr marL="914400" lvl="1" indent="-4572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Clinically diagnosed TB case</a:t>
            </a:r>
          </a:p>
          <a:p>
            <a:pPr marL="457200" indent="0" defTabSz="914400">
              <a:lnSpc>
                <a:spcPct val="90000"/>
              </a:lnSpc>
              <a:spcBef>
                <a:spcPts val="5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Presumptive TB case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38080" y="1600200"/>
            <a:ext cx="10765440" cy="48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person who presents with symptoms or signs suggestive of TB (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previously known as a TB suspect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).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most common symptom of PTB is a productive cough for more than two weeks.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M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ay be accompanied by other symptoms 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like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shortness of breath, chest pain, weight loss, fever, night sweats, fatigue, &amp; loss of appetite.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Bacteriologically confirmed TB case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There is evidence of biological specimen that  is positive by: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smear microscopy,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culture, or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molecular test (LPA(Line Probe Assay), GeneXpert® MTB/RIF)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This category was previously known as “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definite case of TB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”.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6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Clinically diagnosed TB case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TB case who is started on full treatment for active TB but does not fulfill the criteria to be considered bacteriologically confirmed.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It include cases diagnosed on basis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of X-ray and suggestive histology, and extra-pulmonary cases without a laboratory confirmation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91080"/>
            <a:ext cx="10515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tests for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171008"/>
            <a:ext cx="6900866" cy="541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Smear microscopy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: sensitivity 93.1%, specificity 100% if performed correctly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 PLHIV, sensitivity of sputum smear microscopy to detect TB falls to 55%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Sputum culture: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(Lowenstein –Jensen mediu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m) is reference g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old standard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D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etects viable bacilli and permits DST.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akes 2 to 8 weeks.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/>
          <a:srcRect b="-22567"/>
          <a:stretch/>
        </p:blipFill>
        <p:spPr>
          <a:xfrm>
            <a:off x="6936059" y="1338032"/>
            <a:ext cx="5025691" cy="567236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Diagnosis of Tuberculosis Cont.….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n-US" sz="28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Xpert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® MTB/RIF: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Automated (fast) diagnostic identifying MTB DNA and resistance to rifampicin by nucleic acid amplification technique (NAAT)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H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as increased case detection of TB, and facilitated earlier diagnosis and reduced time-to- initiation of TB treatment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Remains positive for up to 52 weeks after treatment in culture-negative patients (Not validated as a treatment monitoring endpoint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)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samples for TB diagnosis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629627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Pulmonary TB: sputum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Extrapulmonary TB: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pecific fluid or tissue of the affected area (CSF for CNS meningitis, pleural fluid for pleural TB)</a:t>
            </a:r>
          </a:p>
        </p:txBody>
      </p:sp>
      <p:sp>
        <p:nvSpPr>
          <p:cNvPr id="172" name="PlaceHolder 3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782" y="1486519"/>
            <a:ext cx="4838700" cy="4241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samples for TB diagnosis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Urine Lipoarabinomannan (LAM):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 Uses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immunochromatographic strip, tests LAM Ag in urine via an antibody capture and detection.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Recommended for PLHIV with CD4 &lt; 200, seriously ill or unable to produce sputum.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lvl="1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It reduced time to diagnosis (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aHR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1.55 (95% CI: 1.29–1.87)) and  8-week mortality (RR: 0.93; 95% CI: 0.74–1.17) (WHO 2025)</a:t>
            </a: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samples for TB diagnosis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algn="just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72515" y="1517015"/>
            <a:ext cx="9700260" cy="411353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samples for TB diagnosis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8330" y="1480820"/>
            <a:ext cx="10744835" cy="46958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Type: Multicenter, double blind, randomized controlled trial to determine whether urine LAM and urine Xpert to routine sputum TB screening would reduce mortality in HIV positive individuals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Population: HIV positive medical inpatients aged 18 years who were not taking TB treatment.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Countries: Malawi and South Africa conducted between 2015-2017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N= 2574 participants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Primary outcome: All cause 56 day mortality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Laboratory samples for TB diagnosis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8330" y="1480820"/>
            <a:ext cx="10744835" cy="469582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Results: 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Mortality at 56 days was reported for 272 (21%) of 1287 patients in the standard of care group and 253 (18%) of 1287 in the intervention group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Mortality was lower in the intervention group than in the standard of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care group for CD4 counts less than 100 cells,severe anemia and patients with clinically suspected TB.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Conclusion: Urine based TB screening did not reduce overall mortality in all HIV +ve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patients but might benefit some high risk subgroups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</p:txBody>
      </p:sp>
      <p:sp>
        <p:nvSpPr>
          <p:cNvPr id="172" name="PlaceHolder 3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178560"/>
            <a:ext cx="10515240" cy="102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Radiographic findings in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838080" y="1204200"/>
            <a:ext cx="10515240" cy="497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Primary TB infection – may show normal findings despite symptoms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Chest X-ray: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often normal, but may show hilar/mediastinal lymphadenopathy, effusion, homogenous segmental consolidation or atelectasis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Chest CT contrast-enhanced: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hilar/mediastinal lymphadenopathy, homogenous consolidation, miliary changes, solitary cavities, effusion, lobar atelectasis, stenosis and mediastinal abscess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ftr" idx="6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Radiographic findings in TB Cont.…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Post-primary TB – may show abnormality even 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without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symptoms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Chest X-ray: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patchy consolidation mostly in upper lobe, cavities, fibrocalcific changes and less commonly lymphadenopathy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Chest CT: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apicoposterior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consolidation, cavities, effusion, fibrosis, pleural thickening/calcification, traction bronchiectasis</a:t>
            </a:r>
          </a:p>
        </p:txBody>
      </p:sp>
      <p:sp>
        <p:nvSpPr>
          <p:cNvPr id="178" name="PlaceHolder 3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0" name="Picture 4"/>
          <p:cNvPicPr/>
          <p:nvPr/>
        </p:nvPicPr>
        <p:blipFill>
          <a:blip/>
          <a:stretch>
            <a:fillRect/>
          </a:stretch>
        </p:blipFill>
        <p:spPr>
          <a:xfrm>
            <a:off x="710451" y="333000"/>
            <a:ext cx="5150432" cy="638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5"/>
          <p:cNvPicPr/>
          <p:nvPr/>
        </p:nvPicPr>
        <p:blipFill>
          <a:blip/>
          <a:stretch>
            <a:fillRect/>
          </a:stretch>
        </p:blipFill>
        <p:spPr>
          <a:xfrm>
            <a:off x="6068147" y="333000"/>
            <a:ext cx="5412802" cy="638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82560" y="122760"/>
            <a:ext cx="9527760" cy="119308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167400" y="1315844"/>
            <a:ext cx="11831040" cy="523579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Control of TB depends much more on early case detection, notification and appropriate treatment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 with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aims of :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Cure the patient and restore quality of life and productivity. 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Prevent relapse of TB. 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Reduce transmission of TB to others. 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Prevent development and transmission of drug-resistant tubercle bacilli. 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Prevent death from active TB or its late effects. </a:t>
            </a:r>
          </a:p>
          <a:p>
            <a:pPr marL="457200" indent="0" defTabSz="914400">
              <a:lnSpc>
                <a:spcPct val="90000"/>
              </a:lnSpc>
              <a:spcBef>
                <a:spcPts val="5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DOTS strategy is the gold standard to achieve these aims and to prevent the development of anti-TB drug resistance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Why do we need so many drugs  and treatment take so long? 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80" y="1890132"/>
            <a:ext cx="10580727" cy="44323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dirty="0">
                <a:solidFill>
                  <a:schemeClr val="dk1"/>
                </a:solidFill>
                <a:latin typeface="Calibri" panose="020F0502020204030204"/>
              </a:rPr>
              <a:t>P</a:t>
            </a: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rinciples of TB treatment 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39" y="1600200"/>
            <a:ext cx="10390473" cy="44323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Categories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79600" y="1600200"/>
            <a:ext cx="11191320" cy="443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Patients are grouped according to their likelihood of having drug-resistant TB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New patients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Previously treated patients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Drug resistant patients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0" defTabSz="914400">
              <a:lnSpc>
                <a:spcPct val="90000"/>
              </a:lnSpc>
              <a:spcBef>
                <a:spcPts val="5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Classification based on history of previous TB treatment</a:t>
            </a:r>
            <a:endParaRPr lang="en-US" sz="4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82560" y="2096280"/>
            <a:ext cx="10670760" cy="42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F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ocuses on history of previous treatment only and is independent of bacteriological confirmation or site of disease.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New patient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Previously treated patient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Relapse patient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Treatment after failure patient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Treatment after loss of follow-up patient</a:t>
            </a:r>
          </a:p>
          <a:p>
            <a:pPr marL="971550" lvl="1" indent="-51435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Other previously treated patient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/>
          </p:nvPr>
        </p:nvSpPr>
        <p:spPr>
          <a:xfrm>
            <a:off x="657000" y="1271238"/>
            <a:ext cx="10573200" cy="508456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New patient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: 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ever treated for TB, or taken anti-TB for &gt; 1 month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5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Previously treated patient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received 1 &gt; month or more of anti-TB drugs in the past.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fi-FI" sz="28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Relapse</a:t>
            </a:r>
            <a:r>
              <a:rPr lang="fi-FI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  <a:r>
              <a:rPr lang="fi-FI" sz="28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patient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previously treated for TB, was declared cured or treatment completed at the end of the most recent treatment episode, and is now diagnosed with a recurrent episode of TB (either a 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true relapse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or a new episode of TB caused by 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re-infection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)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7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/>
          </p:nvPr>
        </p:nvSpPr>
        <p:spPr>
          <a:xfrm>
            <a:off x="631080" y="758282"/>
            <a:ext cx="10818000" cy="536747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after failure patient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who was previously treated for TB and whose treatment failed at the end of the most recent treatment episode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after loss of follow-up patient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previously treated for TB who was declared lost to follow-up at the end of most recent treatment episode (previously known as “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return after default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”)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Other previously treated patient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who was previously treated for TB but with an unknown or undocumented outcome for the most recent treatment episode (previously known as “</a:t>
            </a:r>
            <a:r>
              <a:rPr lang="en-US" sz="2800" b="0" i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others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”)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Classification based on HIV status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838080" y="1393920"/>
            <a:ext cx="10417680" cy="42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HIV-positive TB patient: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with TB who has a documented HIV-positive result.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HIV-negative TB patient: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with TB who has a documented negative HIV result from a test conducted at time of TB diagnosis. 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status unknown TB patient: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patient who does not have a documented HIV test result.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ftr" idx="7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200880"/>
            <a:ext cx="10515240" cy="96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Classification based on drug resistance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38077" y="1170721"/>
          <a:ext cx="10714585" cy="522550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3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6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356">
                <a:tc>
                  <a:txBody>
                    <a:bodyPr/>
                    <a:lstStyle/>
                    <a:p>
                      <a:r>
                        <a:rPr lang="en-GB" sz="2200" b="1"/>
                        <a:t>WHO Category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 b="1"/>
                        <a:t>Definition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 b="1" dirty="0"/>
                        <a:t>Clinical Implication (2025 updates)</a:t>
                      </a:r>
                      <a:endParaRPr lang="en-GB" sz="2200" dirty="0"/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018">
                <a:tc>
                  <a:txBody>
                    <a:bodyPr/>
                    <a:lstStyle/>
                    <a:p>
                      <a:r>
                        <a:rPr lang="en-GB" sz="2200" b="1"/>
                        <a:t>DS-TB</a:t>
                      </a:r>
                      <a:r>
                        <a:rPr lang="en-GB" sz="2200"/>
                        <a:t> (Drug-susceptible TB)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Susceptible to rifampicin &amp; isoniazid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Standard </a:t>
                      </a:r>
                      <a:r>
                        <a:rPr lang="en-GB" sz="2200" b="1"/>
                        <a:t>4-month (2HPZM/2HPM)</a:t>
                      </a:r>
                      <a:r>
                        <a:rPr lang="en-GB" sz="2200"/>
                        <a:t> or </a:t>
                      </a:r>
                      <a:r>
                        <a:rPr lang="en-GB" sz="2200" b="1"/>
                        <a:t>6-month (2HRZE/4HR)</a:t>
                      </a:r>
                      <a:r>
                        <a:rPr lang="en-GB" sz="2200"/>
                        <a:t>; 4-month if non-severe/no cavitation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18">
                <a:tc>
                  <a:txBody>
                    <a:bodyPr/>
                    <a:lstStyle/>
                    <a:p>
                      <a:r>
                        <a:rPr lang="en-GB" sz="2200" b="1" dirty="0"/>
                        <a:t>Mono-resistance </a:t>
                      </a:r>
                      <a:endParaRPr lang="en-GB" sz="2200" dirty="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Resistance to </a:t>
                      </a:r>
                      <a:r>
                        <a:rPr lang="en-GB" sz="2200" b="1"/>
                        <a:t>one first-line drug only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Regimen modified based on drug; INH mono most common; prevents progression to MDR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187">
                <a:tc>
                  <a:txBody>
                    <a:bodyPr/>
                    <a:lstStyle/>
                    <a:p>
                      <a:r>
                        <a:rPr lang="en-GB" sz="2200" b="1" dirty="0"/>
                        <a:t>Poly-resistance </a:t>
                      </a:r>
                      <a:endParaRPr lang="en-GB" sz="2200" dirty="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Resistance to </a:t>
                      </a:r>
                      <a:r>
                        <a:rPr lang="en-GB" sz="2200" b="1"/>
                        <a:t>&gt;1 first-line drug, but NOT both INH &amp; RIF together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Requires individualized first-line modification; not MDR but higher failure risk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187">
                <a:tc>
                  <a:txBody>
                    <a:bodyPr/>
                    <a:lstStyle/>
                    <a:p>
                      <a:r>
                        <a:rPr lang="en-GB" sz="2200" b="1"/>
                        <a:t>Hr-TB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INH-resistant, rifampicin-susceptible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~7.4% new / 11.4% retreatment; </a:t>
                      </a:r>
                      <a:r>
                        <a:rPr lang="en-GB" sz="2200" b="1"/>
                        <a:t>6 months RZE + levofloxacin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356">
                <a:tc>
                  <a:txBody>
                    <a:bodyPr/>
                    <a:lstStyle/>
                    <a:p>
                      <a:r>
                        <a:rPr lang="en-GB" sz="2200" b="1"/>
                        <a:t>RR-TB</a:t>
                      </a:r>
                      <a:endParaRPr lang="en-GB" sz="2200"/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/>
                        <a:t>Rifampicin-resistant (± INH)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Managed as MDR-TB; </a:t>
                      </a:r>
                      <a:r>
                        <a:rPr lang="en-GB" sz="2200" b="1" dirty="0" err="1"/>
                        <a:t>Xpert</a:t>
                      </a:r>
                      <a:r>
                        <a:rPr lang="en-GB" sz="2200" b="1" dirty="0"/>
                        <a:t> MTB/RIF = key test</a:t>
                      </a:r>
                      <a:endParaRPr lang="en-GB" sz="2200" dirty="0"/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200880"/>
            <a:ext cx="10515240" cy="96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Classification based on drug resistance </a:t>
            </a:r>
            <a:r>
              <a:rPr lang="en-US" sz="44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contd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079" y="1449659"/>
          <a:ext cx="10714583" cy="4928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4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498">
                <a:tc>
                  <a:txBody>
                    <a:bodyPr/>
                    <a:lstStyle/>
                    <a:p>
                      <a:r>
                        <a:rPr lang="en-GB" sz="2400" b="1" dirty="0"/>
                        <a:t>WHO Category</a:t>
                      </a:r>
                      <a:endParaRPr lang="en-GB" sz="240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 b="1"/>
                        <a:t>Definition</a:t>
                      </a:r>
                      <a:endParaRPr lang="en-GB" sz="2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 b="1" dirty="0"/>
                        <a:t>Clinical Implication</a:t>
                      </a:r>
                      <a:endParaRPr lang="en-GB" sz="24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922">
                <a:tc>
                  <a:txBody>
                    <a:bodyPr/>
                    <a:lstStyle/>
                    <a:p>
                      <a:r>
                        <a:rPr lang="en-GB" sz="2400" b="1"/>
                        <a:t>MDR-TB</a:t>
                      </a:r>
                      <a:endParaRPr lang="en-GB" sz="2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Resistant to BOTH INH &amp; RIF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 b="1" dirty="0" err="1"/>
                        <a:t>BPaLM</a:t>
                      </a:r>
                      <a:r>
                        <a:rPr lang="en-GB" sz="2400" b="1" dirty="0"/>
                        <a:t> (6-month all-oral)</a:t>
                      </a:r>
                      <a:r>
                        <a:rPr lang="en-GB" sz="2400" dirty="0"/>
                        <a:t> preferred: FQ + </a:t>
                      </a:r>
                      <a:r>
                        <a:rPr lang="en-GB" sz="2400" dirty="0" err="1"/>
                        <a:t>bedaquiline</a:t>
                      </a:r>
                      <a:r>
                        <a:rPr lang="en-GB" sz="2400" dirty="0"/>
                        <a:t> + linezolid backbone; ~465,000 cases (2019)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7854">
                <a:tc>
                  <a:txBody>
                    <a:bodyPr/>
                    <a:lstStyle/>
                    <a:p>
                      <a:r>
                        <a:rPr lang="en-GB" sz="2400" b="1"/>
                        <a:t>Pre-XDR-TB</a:t>
                      </a:r>
                      <a:r>
                        <a:rPr lang="en-GB" sz="2400"/>
                        <a:t> (2021)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MDR/RR + resistance to any fluoroquinolone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Loss of key </a:t>
                      </a:r>
                      <a:r>
                        <a:rPr lang="en-GB" sz="2400" b="1"/>
                        <a:t>Group A (FQ)</a:t>
                      </a:r>
                      <a:r>
                        <a:rPr lang="en-GB" sz="2400"/>
                        <a:t>; </a:t>
                      </a:r>
                      <a:r>
                        <a:rPr lang="en-GB" sz="2400" b="1"/>
                        <a:t>BPaL regimen (no moxifloxacin)</a:t>
                      </a:r>
                      <a:endParaRPr lang="en-GB" sz="2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6566">
                <a:tc>
                  <a:txBody>
                    <a:bodyPr/>
                    <a:lstStyle/>
                    <a:p>
                      <a:r>
                        <a:rPr lang="en-GB" sz="2400" b="1"/>
                        <a:t>XDR-TB</a:t>
                      </a:r>
                      <a:r>
                        <a:rPr lang="en-GB" sz="2400"/>
                        <a:t> (2021 revised)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MDR/RR + FQ resistance + bedaquiline and/or linezolid resistance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Severe resistance; very limited options; ~40.2% success (Europe 2025 cohort)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of DS TB</a:t>
            </a: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838080" y="1349280"/>
            <a:ext cx="10515240" cy="482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New adult TB patients should receive a six-month regimen containing rifampicin: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2RHZE/4RH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  OR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443" y="2674440"/>
            <a:ext cx="9081114" cy="418356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167400"/>
            <a:ext cx="10515240" cy="83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</a:t>
            </a:r>
            <a:r>
              <a:rPr lang="nl-NL" sz="4400" b="1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ctivity</a:t>
            </a:r>
            <a:r>
              <a:rPr lang="nl-NL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of first line anti-TB drugs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502164" y="167400"/>
          <a:ext cx="11362733" cy="655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982186" y="4423735"/>
            <a:ext cx="1717288" cy="624469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Pyrizinamide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9002" y="4423735"/>
            <a:ext cx="1717288" cy="624469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Rifampicin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655712" y="4423734"/>
            <a:ext cx="1717288" cy="624469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Isoniazid</a:t>
            </a:r>
          </a:p>
        </p:txBody>
      </p:sp>
      <p:sp>
        <p:nvSpPr>
          <p:cNvPr id="8" name="Rectangle 7"/>
          <p:cNvSpPr/>
          <p:nvPr/>
        </p:nvSpPr>
        <p:spPr>
          <a:xfrm>
            <a:off x="9301356" y="4423736"/>
            <a:ext cx="1717288" cy="624469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Ethambutal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1159200" y="89280"/>
            <a:ext cx="8989560" cy="89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</a:t>
            </a:r>
            <a:r>
              <a:rPr lang="en-GB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reatment outcomes</a:t>
            </a: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.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0" name="Picture 6" descr="Rx outcome.png"/>
          <p:cNvPicPr/>
          <p:nvPr/>
        </p:nvPicPr>
        <p:blipFill>
          <a:blip/>
          <a:stretch>
            <a:fillRect/>
          </a:stretch>
        </p:blipFill>
        <p:spPr>
          <a:xfrm>
            <a:off x="1068840" y="1104120"/>
            <a:ext cx="10328400" cy="535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PlaceHolder 2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2" name="Picture 3"/>
          <p:cNvPicPr/>
          <p:nvPr/>
        </p:nvPicPr>
        <p:blipFill>
          <a:blip/>
          <a:stretch>
            <a:fillRect/>
          </a:stretch>
        </p:blipFill>
        <p:spPr>
          <a:xfrm>
            <a:off x="178560" y="876240"/>
            <a:ext cx="11831040" cy="5981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of DS TB using 4 months regimen</a:t>
            </a:r>
            <a:b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838080" y="1282320"/>
            <a:ext cx="1051524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Helvetica" pitchFamily="2" charset="0"/>
              </a:rPr>
              <a:t>People ≥ 12 years </a:t>
            </a:r>
            <a:r>
              <a:rPr lang="en-GB" sz="2800" dirty="0">
                <a:latin typeface="Helvetica" pitchFamily="2" charset="0"/>
              </a:rPr>
              <a:t>2 months of isoniazid +</a:t>
            </a:r>
            <a:r>
              <a:rPr lang="en-GB" sz="2800" dirty="0" err="1">
                <a:latin typeface="Helvetica" pitchFamily="2" charset="0"/>
              </a:rPr>
              <a:t>rifapentine+pyrazinamide+moxifloxacin</a:t>
            </a:r>
            <a:r>
              <a:rPr lang="en-GB" sz="2800" dirty="0">
                <a:latin typeface="Helvetica" pitchFamily="2" charset="0"/>
              </a:rPr>
              <a:t> followed by 2 months of isoniazid + rifapentine + moxifloxacin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Helvetica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Helvetica" pitchFamily="2" charset="0"/>
              </a:rPr>
              <a:t>Only when baseline susceptibility to isoniazid, rifampicin (as surrogate for rifapentine), and fluoroquinolones is confirmed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Helvetica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Helvetica" pitchFamily="2" charset="0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TBTC Study</a:t>
            </a:r>
            <a:b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</a:b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/>
          <a:stretch>
            <a:fillRect/>
          </a:stretch>
        </p:blipFill>
        <p:spPr>
          <a:xfrm>
            <a:off x="316230" y="1383030"/>
            <a:ext cx="11565890" cy="44672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835" y="210185"/>
            <a:ext cx="10514330" cy="11150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TBTC Study</a:t>
            </a: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838080" y="1119125"/>
            <a:ext cx="1051524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20000"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  <a:sym typeface="+mn-ea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Type: O</a:t>
            </a:r>
            <a:r>
              <a:rPr lang="en-US" alt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pen-label, phase 3, randomized, controlled trial which  compared two 4-month rifapentine-based regimens with a standard 6-month regimen consisting of rifampin, isoniazid, pyrazinamide, and ethambutol (control) using a noninferiority margin of 6.6%.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Population: P</a:t>
            </a:r>
            <a:r>
              <a:rPr lang="en-US" alt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ersons with 12 years and above with smear +ve and culture +ve pulmonary DS-TB.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Countries: 34 sites from 13 countries conducted between Jan 2016-Oct 2018.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N= 2234 participants followed for 12 months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Primary endpont: Survival free of TB at 12 months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835" y="210185"/>
            <a:ext cx="10514330" cy="11150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TBTC Study</a:t>
            </a: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838080" y="1119125"/>
            <a:ext cx="1051524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20000"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Results: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Proportion of patients who were cured was 84.5% in Rifapentine-moxifloxacin arm vs 85.4% in standard of care arm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Retention on treatment was 99.7% in Rifapentine-moxifloxacin arm and 99.0% in standard of care arm.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All cause mortality recorded 14 days after end of treatment was 0.4% in Rifapentine- moxifloxacin arm vs 0.8% in standard of care.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Conclusion: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efficacy of a 4-month rifapentine-based regimen containing moxifloxacin was noninferior to the standard 6-month regimen in the treatment of tuberculosis.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Adverse effects: Isoniazid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838080" y="1282320"/>
            <a:ext cx="1051524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Peripheral neuropathy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; due to decreased/deficiency of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vitamin B6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or pyridoxine.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Hepatotoxicity: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 elderly and alcoholics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Hypersensitivity reactions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pt-BR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Maculopapular </a:t>
            </a:r>
            <a:r>
              <a:rPr lang="pt-BR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rash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Hematological reactions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Vasculitis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Arthralgia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Mental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disturbanceS</a:t>
            </a:r>
            <a:endParaRPr lang="en-US" sz="2800" b="0" u="none" strike="noStrike" dirty="0">
              <a:solidFill>
                <a:schemeClr val="dk1"/>
              </a:solidFill>
              <a:effectLst/>
              <a:highlight>
                <a:srgbClr val="FFFF00"/>
              </a:highlight>
              <a:uFillTx/>
              <a:latin typeface="Calibri" panose="020F0502020204030204"/>
            </a:endParaRP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Adverse effects: Rifampicin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Hepatotoxicity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– metabolized in liver and excreted in bile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pl-PL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Thrombocytopenia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Cutaneous reactions - urticaria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Discoloration of secretions especially orange </a:t>
            </a:r>
            <a:r>
              <a:rPr lang="en-US" sz="2800" b="0" u="sng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colour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of urine, sputum, various body secretions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ftr" idx="8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38080" y="133920"/>
            <a:ext cx="10515240" cy="114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Adverse effects: Pyrazinamide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838080" y="1282320"/>
            <a:ext cx="10515240" cy="489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Arthralgia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 –active metabolite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pyrazinoic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 acid is responsible for hyperuricemia as decreases the secretion of uric acid.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Hepatitis –in high doses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GIT upsets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Hemolytic anemia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hu-HU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Allergy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ro-RO" sz="2800" b="0" u="none" strike="noStrike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Dysuria</a:t>
            </a:r>
            <a:endParaRPr lang="en-US" sz="2800" b="0" u="none" strike="noStrike" dirty="0">
              <a:solidFill>
                <a:schemeClr val="dk1"/>
              </a:solidFill>
              <a:effectLst/>
              <a:highlight>
                <a:srgbClr val="FFFF00"/>
              </a:highlight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Sideroplastic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 anae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mia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Ethambutol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304640"/>
            <a:ext cx="1051524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Ocular effects</a:t>
            </a:r>
            <a:endParaRPr lang="en-US" sz="2800" b="0" u="none" strike="noStrike" dirty="0">
              <a:solidFill>
                <a:schemeClr val="dk1"/>
              </a:solidFill>
              <a:effectLst/>
              <a:highlight>
                <a:srgbClr val="FFFF00"/>
              </a:highlight>
              <a:uFillTx/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Retrobulbar neuritis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Red green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colour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 blindness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Blindness (rarely)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Increase </a:t>
            </a:r>
            <a:r>
              <a:rPr lang="en-US" sz="2800" b="0" u="sng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plasma uric acid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GIT effects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CNS –drowsiness, confusion</a:t>
            </a:r>
          </a:p>
        </p:txBody>
      </p:sp>
      <p:sp>
        <p:nvSpPr>
          <p:cNvPr id="244" name="PlaceHolder 3"/>
          <p:cNvSpPr>
            <a:spLocks noGrp="1"/>
          </p:cNvSpPr>
          <p:nvPr>
            <p:ph type="ftr" idx="8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12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Treatment</a:t>
            </a: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838080" y="1494360"/>
            <a:ext cx="10515240" cy="468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aim of preventive treatment is to prevent progression from TB infection to disease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Isoniazid given at a dose of 5 mg/kg daily for 6 months is an effective preventive treatment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Certain high-risk groups can be targeted for preventive therapy: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Infants of mothers with sputum smear positive PTB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children under 5 years of age with no signs of active TB but have been in contact with sputum smear positive PTB patients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infected individuals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ftr" idx="8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12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Treatment</a:t>
            </a: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838080" y="1494360"/>
            <a:ext cx="10515240" cy="468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TPT options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6 or 9 month, daily isoniazid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3 month weekly isoniazid and rifapentine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3 month daily isoniazid and rifampicin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1 month daily isoniazid and rifapentine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4 month daily rifampicin</a:t>
            </a:r>
          </a:p>
          <a:p>
            <a:pPr marL="342900" indent="-3429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Wingdings" panose="05000000000000000000" charset="0"/>
              <a:buChar char="Ø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6 month daily levofloxacin after exposure to multidrug or rifampicin resistant TB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ftr" idx="8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12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Treatment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/>
          </p:nvPr>
        </p:nvPicPr>
        <p:blipFill>
          <a:blip/>
          <a:stretch>
            <a:fillRect/>
          </a:stretch>
        </p:blipFill>
        <p:spPr>
          <a:xfrm>
            <a:off x="1066800" y="1493520"/>
            <a:ext cx="10285730" cy="44081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PlaceHolder 3"/>
          <p:cNvSpPr>
            <a:spLocks noGrp="1"/>
          </p:cNvSpPr>
          <p:nvPr>
            <p:ph type="ftr" idx="8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 TB TRIAL</a:t>
            </a: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838080" y="1455480"/>
            <a:ext cx="10515240" cy="526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Type: Multicenter, randomized open label non inferiority trial comparing 3 months of directly observed once weekly therapy with rifapentine (900mg) plus isoniazid (900mg) with 9 months of daily self administered isoniazid (300mg) in subjects at high risk of TB.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Population: Persons at high risk for progression from latent M.TB infection to active disease.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Countries: U.S, Canada, Brazil and Spain conducted between 2001-2008.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N= 7731 participants followed for 33 months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Primary endpont: Culture confirmed TB in subjects 18 years of age or older and culture confirmed or clinical TB in children under the age of 18.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 TB TRIAL</a:t>
            </a: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36785" y="1235770"/>
            <a:ext cx="10515240" cy="526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Results: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Tuberculosis developed in 7 of 3986 subjects in the combination therapy group (cummulative rate, 0.19%) and in 15 of 3745 subjects in the isoniazid- only group ( cummulative rate, 0.43%) for a difference of 0.24%.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Rates of treatment completion were 82.1% in the combination therapy group and 69% in the isoniazid only group.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Conclusion: 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use of rifapentine plus isoniazid for 3 months was as effective as 9 months of isoniazid alone in preventing tuberculosis and had a higher treatment completion rate.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treatment...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/>
          </p:nvPr>
        </p:nvPicPr>
        <p:blipFill>
          <a:blip/>
          <a:stretch>
            <a:fillRect/>
          </a:stretch>
        </p:blipFill>
        <p:spPr>
          <a:xfrm>
            <a:off x="900430" y="1274445"/>
            <a:ext cx="10259060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965" cy="7505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BRIEF TB Trial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838200" y="1115695"/>
            <a:ext cx="10457815" cy="5217160"/>
          </a:xfrm>
        </p:spPr>
        <p:txBody>
          <a:bodyPr/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Type: Multicenter, randomized open label non inferiority trial comparing the efficacy and safety of a 1 month regimen of daily rifapentine plus isoniazid with 9 months of isoniazid alone.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Population: HIV infected patients 13 years of age or older who were living in areas of high tuberculosis prevalence or who had evidence of latent TB infection.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Countries: 45 sites in 10 countries in Africa, Asia, South America, North America and the Carribean from May 2012- November 2017.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N= 3000 participants followed for median age of 3.3 years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Primary endpont: First diagnosis of TB or death from tuberculosis or an unknown cause.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endParaRPr lang="en-US" sz="2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965" cy="7505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BRIEF TB Trial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838200" y="1115695"/>
            <a:ext cx="10457815" cy="5217160"/>
          </a:xfrm>
        </p:spPr>
        <p:txBody>
          <a:bodyPr/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Results: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 Primary endpoint reported in 32 of 1488 patients (2%) in the 1 month group and in 33 of 1498 (2%) in the 9 month group. Serious adverse events occured in 83 patients (6%) in 1 month group and 108 patients (7%) in 9 month group.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Rates of treatment completion were 97% in the 1 month group and 90% in the 9 month group. (P&lt;0.001)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  <a:sym typeface="+mn-ea"/>
              </a:rPr>
              <a:t>Conclusion: 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A 1-month regimen of rifapentine plus isoniazid was non inferior to 9 months of isoniazid alone for preventing TB in HIV- infected patients.</a:t>
            </a:r>
          </a:p>
          <a:p>
            <a:endParaRPr lang="en-US" sz="2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DRUG-RESISTANT TUBERCULOSIS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838080" y="1455480"/>
            <a:ext cx="10515240" cy="526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Drug resistant TB is a form of Tuberculosis on which first-line anti-TB drugs have little or no effect.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endParaRPr lang="en-US" sz="3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diagnosis is confirmed through DST using molecular and/or phenotypic tests of M. tuberculosis strains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Risk of Drug-resistant TB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838080" y="1506960"/>
            <a:ext cx="10515240" cy="498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High risk of drug resistant Tuberculosis is seen among: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failure after using first-line anti-TB medicines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Close contact of a known DR-TB case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Patients who remain sputum smear-positive after completion of intensive phase of first-line anti-TB drug regimen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Relapse or return after loss to follow up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Health care worker presenting with TB symptoms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Vulnerable groups in congregate settings (prisoners, urban poor, miners, people who use drugs)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Close contact of a patient who died while on TB treatment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Residents or migrants from high DR-TB burden settings who presents with TB symptoms</a:t>
            </a:r>
            <a:br>
              <a:rPr sz="2800" dirty="0"/>
            </a:b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</a:t>
            </a:r>
          </a:p>
          <a:p>
            <a:pPr marL="514350" indent="-514350" defTabSz="9144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ftr" idx="8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Diagnosis of Drug-resistant TB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Drug susceptibility testing can be done through: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Rapid molecular tests on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Xpert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MTB platforms (MTB/RIF, Ultra, and Omni) or first- and second-line LPA, PCR, TaqMan Array Cards, and Sequencer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Culture using solid or liquid medium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9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838080" y="122760"/>
            <a:ext cx="10515240" cy="103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Line Treatment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7" name="Content Placeholder 4"/>
          <p:cNvPicPr/>
          <p:nvPr/>
        </p:nvPicPr>
        <p:blipFill>
          <a:blip/>
          <a:stretch>
            <a:fillRect/>
          </a:stretch>
        </p:blipFill>
        <p:spPr>
          <a:xfrm>
            <a:off x="838080" y="914400"/>
            <a:ext cx="10515240" cy="580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PlaceHolder 2"/>
          <p:cNvSpPr>
            <a:spLocks noGrp="1"/>
          </p:cNvSpPr>
          <p:nvPr>
            <p:ph type="ftr" idx="8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9875"/>
          <a:stretch>
            <a:fillRect/>
          </a:stretch>
        </p:blipFill>
        <p:spPr>
          <a:xfrm>
            <a:off x="0" y="1461960"/>
            <a:ext cx="12191999" cy="5396040"/>
          </a:xfrm>
          <a:prstGeom prst="rect">
            <a:avLst/>
          </a:prstGeom>
        </p:spPr>
      </p:pic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932876" y="1368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WHO recommendations for DR-TB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9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TB-HIV COINFECTION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838080" y="1349280"/>
            <a:ext cx="10515240" cy="4827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degree of immunosuppression in HIV influences the clinical manifestation of TB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Early in the course of HIV infection, the clinical presentation  and radiographic findings of TB are similar to of HIV uninfected patients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With decline in immunity, there is increased risk of extrapulmonary TB, also decrease in frequency of cavitation and hemoptysis and presence of atypical radiographic findings</a:t>
            </a:r>
          </a:p>
        </p:txBody>
      </p:sp>
      <p:sp>
        <p:nvSpPr>
          <p:cNvPr id="262" name="PlaceHolder 3"/>
          <p:cNvSpPr>
            <a:spLocks noGrp="1"/>
          </p:cNvSpPr>
          <p:nvPr>
            <p:ph type="ftr" idx="9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838080" y="133920"/>
            <a:ext cx="10515240" cy="112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Effect of HIV on TB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838080" y="1391040"/>
            <a:ext cx="10868400" cy="52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reduces the number of CD4+ cells that are essential for a protective immune response to Mycobacterium tuberculosis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disrupts function of CD8+ cells important in controlling latent TB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With HIV infection there is increased production of TNF which increases susceptibility to TB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disrupts the apoptosis and necrosis of TB infected macrophages hence delaying specific immune response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upregulates M. tuberculosis entry receptors on macrophages</a:t>
            </a:r>
          </a:p>
        </p:txBody>
      </p:sp>
      <p:sp>
        <p:nvSpPr>
          <p:cNvPr id="265" name="PlaceHolder 3"/>
          <p:cNvSpPr>
            <a:spLocks noGrp="1"/>
          </p:cNvSpPr>
          <p:nvPr>
            <p:ph type="ftr" idx="9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Effect of TB on HIV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Tuberculosis exacerbates the progression of HIV to AIDS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M. tuberculosis has been shown to upregulate HIV replication in infected T cells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M. tuberculosis has been shown to increase expression of HIV coreceptors CXCR4 and CCR5, making cells more susceptible to HIV infection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7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Treatment considerations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838080" y="1442520"/>
            <a:ext cx="10515240" cy="505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Initiation of ART suppresses HIV replication which leads to rapid raise in CD4+ cells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This rapid immune restoration unmasks diseases that were previously asymptomatic/atypical due to poor immune response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This may lead to worsening of pre-existing disease or onset of new ones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Hence, in a patient with TB-HIV coinfection who was previously not on treatment for either disease,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the first management step is to initiate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anti-TB thera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py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ftr" idx="9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Cotrimoxazole </a:t>
            </a:r>
            <a:r>
              <a:rPr lang="en-US" sz="4400" b="1" dirty="0">
                <a:solidFill>
                  <a:schemeClr val="dk1"/>
                </a:solidFill>
                <a:latin typeface="Calibri" panose="020F0502020204030204"/>
              </a:rPr>
              <a:t>P</a:t>
            </a: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rophylaxis</a:t>
            </a:r>
            <a:endParaRPr lang="en-US" sz="44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838080" y="1600200"/>
            <a:ext cx="10871320" cy="47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PLHIV who have active TB disease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, regardless of CD4 count or HIV disease stage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, should receive daily co-trimoxazole prophylaxis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initiated as soon as possible following the initiation of anti-TB therapy</a:t>
            </a: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Recommended dose: the total daily dose is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 panose="020F0502020204030204"/>
              </a:rPr>
              <a:t>800 mg of sulfamethoxazole and 160 mg of trimethoprim</a:t>
            </a:r>
          </a:p>
        </p:txBody>
      </p:sp>
      <p:sp>
        <p:nvSpPr>
          <p:cNvPr id="274" name="PlaceHolder 3"/>
          <p:cNvSpPr>
            <a:spLocks noGrp="1"/>
          </p:cNvSpPr>
          <p:nvPr>
            <p:ph type="ftr" idx="9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measures for TB-HIV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838080" y="1416240"/>
            <a:ext cx="10515240" cy="47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685800" indent="-4572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TB preventive treatment (TPT) reduces the risk of </a:t>
            </a:r>
            <a:r>
              <a:rPr lang="en-US" sz="2800" dirty="0">
                <a:solidFill>
                  <a:schemeClr val="dk1"/>
                </a:solidFill>
                <a:latin typeface="Calibri" panose="020F0502020204030204"/>
              </a:rPr>
              <a:t>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Tuberculosis infection  progressing to TB disease </a:t>
            </a:r>
          </a:p>
          <a:p>
            <a:pPr marL="6858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Preventive therapy with isoniazid gives protection against recent TB infection but is less against reactivation of an old infection</a:t>
            </a:r>
          </a:p>
          <a:p>
            <a:pPr marL="228600">
              <a:lnSpc>
                <a:spcPct val="90000"/>
              </a:lnSpc>
              <a:spcBef>
                <a:spcPts val="1000"/>
              </a:spcBef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The most important target groups for TPT are: </a:t>
            </a:r>
          </a:p>
          <a:p>
            <a:pPr marL="742950" lvl="1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positive health workers </a:t>
            </a:r>
          </a:p>
          <a:p>
            <a:pPr marL="742950" lvl="1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positive household contacts of TB patients </a:t>
            </a:r>
          </a:p>
          <a:p>
            <a:pPr marL="742950" lvl="1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HIV positive prisoners </a:t>
            </a:r>
          </a:p>
          <a:p>
            <a:pPr marL="742950" lvl="1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Hospitalized HIV positive patients </a:t>
            </a:r>
          </a:p>
          <a:p>
            <a:pPr marL="742950" lvl="1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Other HIV positive individuals in congregate settings</a:t>
            </a:r>
          </a:p>
          <a:p>
            <a:pPr marL="6858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REFERENCES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838080" y="1981200"/>
            <a:ext cx="10515240" cy="419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Global tuberculosis report 2023; 2. Ford N et al. J Int AIDS Soc. 2016; 3.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Badje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A et al. Lancet Glob Health. 2017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Bruins WS et al. Infect Dis. 2017; 5. WHO Guidelines for intensified TB case-finding and IPT for PLHIV in resource-constrained settings, 2011 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Nuermberger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E.L.,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Chaisson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R.E. Restocking the tuberculosis drug arsenal. Nat Med (2024).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WHO consolidated guidelines on TB: Module 1 TB preventive therapy, 2025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FujiLAM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assays for tuberculosis detection in people with HIV: a systematic review and meta- analysis. https://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pmc.ncbi.nlm.nih.gov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/articles/PMC12699939/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Bruchfeld,J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Correla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-Neves, M., &amp;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Kallenius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G. (2015). Tuberculosis and HIV Coinfection. Cold Spring Harbor perspectives in medicine. 5(7), a017871. https://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doi.org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/10.1101/cshperspect.a017871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Loscalzo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J, Kasper, L.D,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Fauci,S.A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(2022) Mycobacterium tuberculosis, Mario C (eds) Harrisons Principles of Internal Medicine. 22nd ed. New York: MC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Grawhill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 Publishers pp 1357-1382</a:t>
            </a:r>
          </a:p>
        </p:txBody>
      </p:sp>
      <p:sp>
        <p:nvSpPr>
          <p:cNvPr id="283" name="PlaceHolder 3"/>
          <p:cNvSpPr>
            <a:spLocks noGrp="1"/>
          </p:cNvSpPr>
          <p:nvPr>
            <p:ph type="ftr" idx="9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REFERENCES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838080" y="1981200"/>
            <a:ext cx="10515240" cy="419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Matee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M.,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Mtei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L.,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Lounasvaara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T., Wieland-Alter, W., Waddell, R.,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Lyimo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J., Bakari, M.,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Pallangyo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K., &amp; von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Reyn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, C.F. (2008). Sputum microscopy for the diagnosis of HIV-associated pulmonary tuberculosis in Tanzania. BMC Public Health 8(1). https://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doi.org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/10.1186/1471-2458-8-68 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Gupta-Wright A, Corbett E, van Oosterhout J et al. Rapid urine-based screening for tuberculosis in HIV-positive patients admitted to hospital in Africa (STAMP): a pragmatic, multicentre, parallel-group, double-blind, randomised controlled trial.The Lancet, 2018; 392, 292-301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Dorman SE, Nahid P, Kurbatova EV, et al. Four-Month Rifapentine Regimens with or without Moxifloxacin for Tuberculosis. N Engl J Med 2021; 384:1705-1718. DOI: 10.1056/NEJMoa2033400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0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Swindells, S., Ramchandani, R., Gupta A., et al. (2019). One month of rifapentine plus isoniazid to prevent HIV-related tuberculosis. The New England Journal of Medicine, 380(11), 1001-1011.</a:t>
            </a:r>
          </a:p>
          <a:p>
            <a:pPr marL="457200" indent="-4572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altLang="en-US" sz="2000" b="0" u="none" strike="noStrike" dirty="0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ftr" idx="9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5456</Words>
  <Application>Microsoft Macintosh PowerPoint</Application>
  <PresentationFormat>Widescreen</PresentationFormat>
  <Paragraphs>594</Paragraphs>
  <Slides>89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9" baseType="lpstr">
      <vt:lpstr>Arial</vt:lpstr>
      <vt:lpstr>Calibri</vt:lpstr>
      <vt:lpstr>Calibri Light</vt:lpstr>
      <vt:lpstr>Helvetica</vt:lpstr>
      <vt:lpstr>Manrope</vt:lpstr>
      <vt:lpstr>Symbol</vt:lpstr>
      <vt:lpstr>Times New Roman</vt:lpstr>
      <vt:lpstr>Wingdings</vt:lpstr>
      <vt:lpstr>Office Theme</vt:lpstr>
      <vt:lpstr>1_Office Theme</vt:lpstr>
      <vt:lpstr>TUBERCULOSIS</vt:lpstr>
      <vt:lpstr>OUTLINE</vt:lpstr>
      <vt:lpstr>INTRODUCTION</vt:lpstr>
      <vt:lpstr>EPIDEMIOLOGY - GLOBALLY</vt:lpstr>
      <vt:lpstr>EPIDEMIOLOGY - TANZANIA</vt:lpstr>
      <vt:lpstr>PowerPoint Presentation</vt:lpstr>
      <vt:lpstr>RISK FACTORS</vt:lpstr>
      <vt:lpstr>RISK FACTORS Cont.….</vt:lpstr>
      <vt:lpstr>NATURAL HISTORY</vt:lpstr>
      <vt:lpstr>Primary TB disease</vt:lpstr>
      <vt:lpstr>Primary TB disease cont.…</vt:lpstr>
      <vt:lpstr>Latent TB infection</vt:lpstr>
      <vt:lpstr>Post-primary TB (Reactivation  disease)</vt:lpstr>
      <vt:lpstr>CLINICAL PRESENTATION</vt:lpstr>
      <vt:lpstr>Pulmonary tuberculosis</vt:lpstr>
      <vt:lpstr>Pulmonary TB Sequelae</vt:lpstr>
      <vt:lpstr>Pulmonary TB Sequelae Cont.……</vt:lpstr>
      <vt:lpstr>Pulmonary TB Sequelae Cont.…..</vt:lpstr>
      <vt:lpstr>Pulmonary TB Sequelae Cont.…</vt:lpstr>
      <vt:lpstr>Extrapulmonary Tuberculosis</vt:lpstr>
      <vt:lpstr>Tuberculous lymphadenitis</vt:lpstr>
      <vt:lpstr>PowerPoint Presentation</vt:lpstr>
      <vt:lpstr>Pleural Tuberculosis</vt:lpstr>
      <vt:lpstr>Pleural Tuberculosis Cont.….</vt:lpstr>
      <vt:lpstr>PowerPoint Presentation</vt:lpstr>
      <vt:lpstr>Urogenital Tuberculosis</vt:lpstr>
      <vt:lpstr>Urogenital Tuberculosis Cont.…..</vt:lpstr>
      <vt:lpstr>Skeletal Tuberculosis</vt:lpstr>
      <vt:lpstr>PowerPoint Presentation</vt:lpstr>
      <vt:lpstr>Central Nervous System Tuberculosis</vt:lpstr>
      <vt:lpstr>Central Nervous System Tuberculosis Cont.….</vt:lpstr>
      <vt:lpstr>DIAGNOSIS OF TUBERCULOSIS</vt:lpstr>
      <vt:lpstr>Diagnosis of Tuberculosis Cont.….</vt:lpstr>
      <vt:lpstr>TB CASE DEFINITIONS</vt:lpstr>
      <vt:lpstr>Presumptive TB case</vt:lpstr>
      <vt:lpstr>Bacteriologically confirmed TB case</vt:lpstr>
      <vt:lpstr>Clinically diagnosed TB case</vt:lpstr>
      <vt:lpstr>Laboratory tests for Tuberculosis</vt:lpstr>
      <vt:lpstr>Diagnosis of Tuberculosis Cont.….</vt:lpstr>
      <vt:lpstr>Laboratory samples for TB diagnosis</vt:lpstr>
      <vt:lpstr>Laboratory samples for TB diagnosis</vt:lpstr>
      <vt:lpstr>Laboratory samples for TB diagnosis</vt:lpstr>
      <vt:lpstr>Laboratory samples for TB diagnosis</vt:lpstr>
      <vt:lpstr>Laboratory samples for TB diagnosis</vt:lpstr>
      <vt:lpstr>Radiographic findings in Tuberculosis</vt:lpstr>
      <vt:lpstr>Radiographic findings in TB Cont.…</vt:lpstr>
      <vt:lpstr>PowerPoint Presentation</vt:lpstr>
      <vt:lpstr>TREATMENT</vt:lpstr>
      <vt:lpstr>Why do we need so many drugs  and treatment take so long? </vt:lpstr>
      <vt:lpstr>Principles of TB treatment </vt:lpstr>
      <vt:lpstr>Treatment Categories</vt:lpstr>
      <vt:lpstr>Classification based on history of previous TB treatment</vt:lpstr>
      <vt:lpstr>PowerPoint Presentation</vt:lpstr>
      <vt:lpstr>PowerPoint Presentation</vt:lpstr>
      <vt:lpstr>Classification based on HIV status</vt:lpstr>
      <vt:lpstr>Classification based on drug resistance</vt:lpstr>
      <vt:lpstr>Classification based on drug resistance contd</vt:lpstr>
      <vt:lpstr>Treatment of DS TB</vt:lpstr>
      <vt:lpstr>Activity of first line anti-TB drugs</vt:lpstr>
      <vt:lpstr>Treatment outcomes.</vt:lpstr>
      <vt:lpstr>Treatment of DS TB using 4 months regimen </vt:lpstr>
      <vt:lpstr>TBTC Study </vt:lpstr>
      <vt:lpstr>TBTC Study</vt:lpstr>
      <vt:lpstr>TBTC Study</vt:lpstr>
      <vt:lpstr>Adverse effects: Isoniazid</vt:lpstr>
      <vt:lpstr>Adverse effects: Rifampicin</vt:lpstr>
      <vt:lpstr>Adverse effects: Pyrazinamide</vt:lpstr>
      <vt:lpstr>Ethambutol</vt:lpstr>
      <vt:lpstr>Preventive Treatment</vt:lpstr>
      <vt:lpstr>Preventive Treatment</vt:lpstr>
      <vt:lpstr>Preventive Treatment</vt:lpstr>
      <vt:lpstr>PREVENT TB TRIAL</vt:lpstr>
      <vt:lpstr>PREVENT TB TRIAL</vt:lpstr>
      <vt:lpstr>Preventive treatment...</vt:lpstr>
      <vt:lpstr>BRIEF TB Trial</vt:lpstr>
      <vt:lpstr>BRIEF TB Trial</vt:lpstr>
      <vt:lpstr>DRUG-RESISTANT TUBERCULOSIS</vt:lpstr>
      <vt:lpstr>Risk of Drug-resistant TB</vt:lpstr>
      <vt:lpstr>Diagnosis of Drug-resistant TB</vt:lpstr>
      <vt:lpstr>Second Line Treatment</vt:lpstr>
      <vt:lpstr>WHO recommendations for DR-TB</vt:lpstr>
      <vt:lpstr>TB-HIV COINFECTION</vt:lpstr>
      <vt:lpstr>Effect of HIV on TB</vt:lpstr>
      <vt:lpstr>Effect of TB on HIV</vt:lpstr>
      <vt:lpstr>Treatment considerations</vt:lpstr>
      <vt:lpstr>Cotrimoxazole Prophylaxis</vt:lpstr>
      <vt:lpstr>Preventive measures for TB-HIV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TUBERCULOSIS</dc:title>
  <dc:creator>Bin_Idrisa</dc:creator>
  <cp:lastModifiedBy>clinicalrythm</cp:lastModifiedBy>
  <cp:revision>92</cp:revision>
  <dcterms:created xsi:type="dcterms:W3CDTF">2024-03-25T01:33:00Z</dcterms:created>
  <dcterms:modified xsi:type="dcterms:W3CDTF">2026-05-29T21:06:38Z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78</vt:i4>
  </property>
  <property fmtid="{D5CDD505-2E9C-101B-9397-08002B2CF9AE}" pid="4" name="ICV">
    <vt:lpwstr>0A132388034E44C591E4F8282F6D39C9_12</vt:lpwstr>
  </property>
  <property fmtid="{D5CDD505-2E9C-101B-9397-08002B2CF9AE}" pid="5" name="KSOProductBuildVer">
    <vt:lpwstr>1033-12.1.0.26372</vt:lpwstr>
  </property>
</Properties>
</file>