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72"/>
  </p:notesMasterIdLst>
  <p:sldIdLst>
    <p:sldId id="256" r:id="rId2"/>
    <p:sldId id="257" r:id="rId3"/>
    <p:sldId id="259" r:id="rId4"/>
    <p:sldId id="454" r:id="rId5"/>
    <p:sldId id="260" r:id="rId6"/>
    <p:sldId id="307" r:id="rId7"/>
    <p:sldId id="377" r:id="rId8"/>
    <p:sldId id="262" r:id="rId9"/>
    <p:sldId id="310" r:id="rId10"/>
    <p:sldId id="463" r:id="rId11"/>
    <p:sldId id="268" r:id="rId12"/>
    <p:sldId id="464" r:id="rId13"/>
    <p:sldId id="461" r:id="rId14"/>
    <p:sldId id="455" r:id="rId15"/>
    <p:sldId id="466" r:id="rId16"/>
    <p:sldId id="273" r:id="rId17"/>
    <p:sldId id="468" r:id="rId18"/>
    <p:sldId id="274" r:id="rId19"/>
    <p:sldId id="275" r:id="rId20"/>
    <p:sldId id="467" r:id="rId21"/>
    <p:sldId id="472" r:id="rId22"/>
    <p:sldId id="381" r:id="rId23"/>
    <p:sldId id="382" r:id="rId24"/>
    <p:sldId id="460" r:id="rId25"/>
    <p:sldId id="277" r:id="rId26"/>
    <p:sldId id="278" r:id="rId27"/>
    <p:sldId id="279" r:id="rId28"/>
    <p:sldId id="280" r:id="rId29"/>
    <p:sldId id="281" r:id="rId30"/>
    <p:sldId id="282" r:id="rId31"/>
    <p:sldId id="284" r:id="rId32"/>
    <p:sldId id="285" r:id="rId33"/>
    <p:sldId id="456" r:id="rId34"/>
    <p:sldId id="286" r:id="rId35"/>
    <p:sldId id="287" r:id="rId36"/>
    <p:sldId id="288" r:id="rId37"/>
    <p:sldId id="473" r:id="rId38"/>
    <p:sldId id="474" r:id="rId39"/>
    <p:sldId id="311" r:id="rId40"/>
    <p:sldId id="457" r:id="rId41"/>
    <p:sldId id="458" r:id="rId42"/>
    <p:sldId id="291" r:id="rId43"/>
    <p:sldId id="292" r:id="rId44"/>
    <p:sldId id="293" r:id="rId45"/>
    <p:sldId id="312" r:id="rId46"/>
    <p:sldId id="294" r:id="rId47"/>
    <p:sldId id="295" r:id="rId48"/>
    <p:sldId id="376" r:id="rId49"/>
    <p:sldId id="373" r:id="rId50"/>
    <p:sldId id="296" r:id="rId51"/>
    <p:sldId id="313" r:id="rId52"/>
    <p:sldId id="372" r:id="rId53"/>
    <p:sldId id="297" r:id="rId54"/>
    <p:sldId id="298" r:id="rId55"/>
    <p:sldId id="299" r:id="rId56"/>
    <p:sldId id="300" r:id="rId57"/>
    <p:sldId id="301" r:id="rId58"/>
    <p:sldId id="302" r:id="rId59"/>
    <p:sldId id="303" r:id="rId60"/>
    <p:sldId id="304" r:id="rId61"/>
    <p:sldId id="361" r:id="rId62"/>
    <p:sldId id="305" r:id="rId63"/>
    <p:sldId id="371" r:id="rId64"/>
    <p:sldId id="362" r:id="rId65"/>
    <p:sldId id="365" r:id="rId66"/>
    <p:sldId id="366" r:id="rId67"/>
    <p:sldId id="367" r:id="rId68"/>
    <p:sldId id="368" r:id="rId69"/>
    <p:sldId id="306" r:id="rId70"/>
    <p:sldId id="462"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9"/>
    <p:restoredTop sz="95382" autoAdjust="0"/>
  </p:normalViewPr>
  <p:slideViewPr>
    <p:cSldViewPr snapToGrid="0" showGuides="1">
      <p:cViewPr>
        <p:scale>
          <a:sx n="73" d="100"/>
          <a:sy n="73" d="100"/>
        </p:scale>
        <p:origin x="-588" y="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B62D22-60C0-BA48-B8EA-31C59C7A5031}" type="datetimeFigureOut">
              <a:rPr lang="en-US" smtClean="0"/>
              <a:t>4/28/2026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6FD0AC-3575-5944-B779-5F018F5134F0}" type="slidenum">
              <a:rPr lang="en-US" smtClean="0"/>
              <a:t>‹#›</a:t>
            </a:fld>
            <a:endParaRPr lang="en-US"/>
          </a:p>
        </p:txBody>
      </p:sp>
    </p:spTree>
    <p:extLst>
      <p:ext uri="{BB962C8B-B14F-4D97-AF65-F5344CB8AC3E}">
        <p14:creationId xmlns:p14="http://schemas.microsoft.com/office/powerpoint/2010/main" val="18814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journals.lww.com/jaids/pages/articleviewer.aspx?year=2014&amp;issue=06010&amp;article=00013&amp;type=Fulltext" TargetMode="External"/><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6FD0AC-3575-5944-B779-5F018F5134F0}"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b="0" i="0" dirty="0">
                <a:solidFill>
                  <a:srgbClr val="3C4245"/>
                </a:solidFill>
                <a:effectLst/>
                <a:latin typeface="Arial" charset="0"/>
              </a:rPr>
              <a:t>As of April 2021, 24 of the 26 countries in the meningitis belt have conducted mass preventive campaigns targeting 1–29-year-olds (nationwide or in high-risk areas), and half of them have introduced this vaccine into their national routine immunization schedules. Among vaccinated populations, incidence of serogroup A meningitis has declined by more than 99% - no serogroup A case has been confirmed since 2017.</a:t>
            </a:r>
          </a:p>
          <a:p>
            <a:pPr marL="0" marR="0" lvl="0" indent="0" algn="l" defTabSz="914400" rtl="0" eaLnBrk="1" fontAlgn="auto" latinLnBrk="0" hangingPunct="1">
              <a:lnSpc>
                <a:spcPct val="100000"/>
              </a:lnSpc>
              <a:spcBef>
                <a:spcPts val="0"/>
              </a:spcBef>
              <a:spcAft>
                <a:spcPts val="0"/>
              </a:spcAft>
              <a:buClrTx/>
              <a:buSzTx/>
              <a:buFontTx/>
              <a:buNone/>
              <a:defRPr/>
            </a:pPr>
            <a:endParaRPr lang="en-GB" b="0" i="0" dirty="0">
              <a:solidFill>
                <a:srgbClr val="3C4245"/>
              </a:solidFill>
              <a:effectLst/>
              <a:latin typeface="Arial"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dirty="0"/>
          </a:p>
          <a:p>
            <a:r>
              <a:rPr lang="en-GB" b="0" i="0" dirty="0">
                <a:solidFill>
                  <a:srgbClr val="202124"/>
                </a:solidFill>
                <a:effectLst/>
                <a:latin typeface="Google Sans"/>
              </a:rPr>
              <a:t>The African meningitis belt is </a:t>
            </a:r>
            <a:r>
              <a:rPr lang="en-GB" b="0" i="0" dirty="0">
                <a:solidFill>
                  <a:srgbClr val="040C28"/>
                </a:solidFill>
                <a:effectLst/>
                <a:latin typeface="Google Sans"/>
              </a:rPr>
              <a:t>a region in sub-Saharan Africa where the rate of incidence of meningitis is very high</a:t>
            </a:r>
            <a:r>
              <a:rPr lang="en-GB" b="0" i="0" dirty="0">
                <a:solidFill>
                  <a:srgbClr val="202124"/>
                </a:solidFill>
                <a:effectLst/>
                <a:latin typeface="Google Sans"/>
              </a:rPr>
              <a:t>. It extends from Senegal to Ethiopia, and the primary cause of meningitis in the belt is Neisseria meningitidis.</a:t>
            </a:r>
            <a:endParaRPr lang="en-US" dirty="0"/>
          </a:p>
        </p:txBody>
      </p:sp>
      <p:sp>
        <p:nvSpPr>
          <p:cNvPr id="4" name="Slide Number Placeholder 3"/>
          <p:cNvSpPr>
            <a:spLocks noGrp="1"/>
          </p:cNvSpPr>
          <p:nvPr>
            <p:ph type="sldNum" sz="quarter" idx="5"/>
          </p:nvPr>
        </p:nvSpPr>
        <p:spPr/>
        <p:txBody>
          <a:bodyPr/>
          <a:lstStyle/>
          <a:p>
            <a:fld id="{F26FD0AC-3575-5944-B779-5F018F5134F0}" type="slidenum">
              <a:rPr lang="en-US" smtClean="0"/>
              <a:t>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6FD0AC-3575-5944-B779-5F018F5134F0}" type="slidenum">
              <a:rPr lang="en-US" smtClean="0"/>
              <a:t>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Bacterial Isolation Frequency (n) (%)</a:t>
            </a:r>
          </a:p>
          <a:p>
            <a:r>
              <a:rPr lang="en-US" dirty="0" err="1" smtClean="0"/>
              <a:t>Klebsiella</a:t>
            </a:r>
            <a:r>
              <a:rPr lang="en-US" dirty="0" smtClean="0"/>
              <a:t> pneumonia 11 15.5</a:t>
            </a:r>
          </a:p>
          <a:p>
            <a:r>
              <a:rPr lang="en-US" dirty="0" smtClean="0"/>
              <a:t>Neisseria meningitis 7 9.9</a:t>
            </a:r>
          </a:p>
          <a:p>
            <a:r>
              <a:rPr lang="en-US" dirty="0" smtClean="0"/>
              <a:t>Escherichia coli 29 40.8</a:t>
            </a:r>
          </a:p>
          <a:p>
            <a:r>
              <a:rPr lang="en-US" dirty="0" err="1" smtClean="0"/>
              <a:t>Haemophilus</a:t>
            </a:r>
            <a:r>
              <a:rPr lang="en-US" dirty="0" smtClean="0"/>
              <a:t> influenza 9 12.7</a:t>
            </a:r>
          </a:p>
          <a:p>
            <a:r>
              <a:rPr lang="en-US" dirty="0" smtClean="0"/>
              <a:t>None specific growth 5 7.0</a:t>
            </a:r>
          </a:p>
          <a:p>
            <a:r>
              <a:rPr lang="en-US" dirty="0" smtClean="0"/>
              <a:t>No bacterial growth 10 14.1</a:t>
            </a:r>
          </a:p>
          <a:p>
            <a:endParaRPr lang="en-US" dirty="0"/>
          </a:p>
        </p:txBody>
      </p:sp>
      <p:sp>
        <p:nvSpPr>
          <p:cNvPr id="4" name="Slide Number Placeholder 3"/>
          <p:cNvSpPr>
            <a:spLocks noGrp="1"/>
          </p:cNvSpPr>
          <p:nvPr>
            <p:ph type="sldNum" sz="quarter" idx="10"/>
          </p:nvPr>
        </p:nvSpPr>
        <p:spPr/>
        <p:txBody>
          <a:bodyPr/>
          <a:lstStyle/>
          <a:p>
            <a:fld id="{F26FD0AC-3575-5944-B779-5F018F5134F0}" type="slidenum">
              <a:rPr lang="en-US" smtClean="0"/>
              <a:t>7</a:t>
            </a:fld>
            <a:endParaRPr lang="en-US"/>
          </a:p>
        </p:txBody>
      </p:sp>
    </p:spTree>
    <p:extLst>
      <p:ext uri="{BB962C8B-B14F-4D97-AF65-F5344CB8AC3E}">
        <p14:creationId xmlns:p14="http://schemas.microsoft.com/office/powerpoint/2010/main" val="24112465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latin typeface="Arial" charset="0"/>
                <a:cs typeface="Arial" charset="0"/>
              </a:rPr>
              <a:t>benzathine penicillin(IV/IM) 300,000U/kg/day with a </a:t>
            </a:r>
          </a:p>
          <a:p>
            <a:r>
              <a:rPr lang="en-GB" dirty="0">
                <a:latin typeface="Arial" charset="0"/>
                <a:cs typeface="Arial" charset="0"/>
              </a:rPr>
              <a:t>chloramphenicol (IV) 50 to 100mg/kg/day with a </a:t>
            </a:r>
            <a:endParaRPr lang="en-US" dirty="0"/>
          </a:p>
        </p:txBody>
      </p:sp>
      <p:sp>
        <p:nvSpPr>
          <p:cNvPr id="4" name="Slide Number Placeholder 3"/>
          <p:cNvSpPr>
            <a:spLocks noGrp="1"/>
          </p:cNvSpPr>
          <p:nvPr>
            <p:ph type="sldNum" sz="quarter" idx="5"/>
          </p:nvPr>
        </p:nvSpPr>
        <p:spPr/>
        <p:txBody>
          <a:bodyPr/>
          <a:lstStyle/>
          <a:p>
            <a:fld id="{F26FD0AC-3575-5944-B779-5F018F5134F0}" type="slidenum">
              <a:rPr lang="en-US" smtClean="0"/>
              <a:t>19</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Bacterial meningitis typically presents within one week</a:t>
            </a:r>
            <a:endParaRPr lang="en-US" dirty="0"/>
          </a:p>
        </p:txBody>
      </p:sp>
      <p:sp>
        <p:nvSpPr>
          <p:cNvPr id="4" name="Slide Number Placeholder 3"/>
          <p:cNvSpPr>
            <a:spLocks noGrp="1"/>
          </p:cNvSpPr>
          <p:nvPr>
            <p:ph type="sldNum" sz="quarter" idx="5"/>
          </p:nvPr>
        </p:nvSpPr>
        <p:spPr/>
        <p:txBody>
          <a:bodyPr/>
          <a:lstStyle/>
          <a:p>
            <a:fld id="{F26FD0AC-3575-5944-B779-5F018F5134F0}" type="slidenum">
              <a:rPr lang="en-US" smtClean="0"/>
              <a:t>27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However elevated CSF ADA may also be observed in setting of bacterial infection.</a:t>
            </a:r>
            <a:endParaRPr lang="en-US" dirty="0"/>
          </a:p>
        </p:txBody>
      </p:sp>
      <p:sp>
        <p:nvSpPr>
          <p:cNvPr id="4" name="Slide Number Placeholder 3"/>
          <p:cNvSpPr>
            <a:spLocks noGrp="1"/>
          </p:cNvSpPr>
          <p:nvPr>
            <p:ph type="sldNum" sz="quarter" idx="5"/>
          </p:nvPr>
        </p:nvSpPr>
        <p:spPr/>
        <p:txBody>
          <a:bodyPr/>
          <a:lstStyle/>
          <a:p>
            <a:fld id="{F26FD0AC-3575-5944-B779-5F018F5134F0}" type="slidenum">
              <a:rPr lang="en-US" smtClean="0"/>
              <a:t>28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26FD0AC-3575-5944-B779-5F018F5134F0}" type="slidenum">
              <a:rPr lang="en-US" smtClean="0"/>
              <a:t>29</a:t>
            </a:fld>
            <a:endParaRPr lang="en-US"/>
          </a:p>
        </p:txBody>
      </p:sp>
    </p:spTree>
    <p:extLst>
      <p:ext uri="{BB962C8B-B14F-4D97-AF65-F5344CB8AC3E}">
        <p14:creationId xmlns:p14="http://schemas.microsoft.com/office/powerpoint/2010/main" val="42745639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6FD0AC-3575-5944-B779-5F018F5134F0}" type="slidenum">
              <a:rPr lang="en-US" smtClean="0"/>
              <a:t>33</a:t>
            </a:fld>
            <a:endParaRPr lang="en-US"/>
          </a:p>
        </p:txBody>
      </p:sp>
    </p:spTree>
    <p:extLst>
      <p:ext uri="{BB962C8B-B14F-4D97-AF65-F5344CB8AC3E}">
        <p14:creationId xmlns:p14="http://schemas.microsoft.com/office/powerpoint/2010/main" val="29297886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Brain imaging?? MRI - may demonstrate </a:t>
            </a:r>
            <a:r>
              <a:rPr lang="en-GB" dirty="0" err="1"/>
              <a:t>cryptococcomas</a:t>
            </a:r>
            <a:endParaRPr lang="en-US" dirty="0"/>
          </a:p>
        </p:txBody>
      </p:sp>
      <p:sp>
        <p:nvSpPr>
          <p:cNvPr id="4" name="Slide Number Placeholder 3"/>
          <p:cNvSpPr>
            <a:spLocks noGrp="1"/>
          </p:cNvSpPr>
          <p:nvPr>
            <p:ph type="sldNum" sz="quarter" idx="5"/>
          </p:nvPr>
        </p:nvSpPr>
        <p:spPr/>
        <p:txBody>
          <a:bodyPr/>
          <a:lstStyle/>
          <a:p>
            <a:fld id="{F26FD0AC-3575-5944-B779-5F018F5134F0}" type="slidenum">
              <a:rPr lang="en-US" smtClean="0"/>
              <a:t>35</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Discontinue maintenance treatment if CD4 ≥100 with undetectable</a:t>
            </a:r>
            <a:endParaRPr lang="en-US" dirty="0"/>
          </a:p>
        </p:txBody>
      </p:sp>
      <p:sp>
        <p:nvSpPr>
          <p:cNvPr id="4" name="Slide Number Placeholder 3"/>
          <p:cNvSpPr>
            <a:spLocks noGrp="1"/>
          </p:cNvSpPr>
          <p:nvPr>
            <p:ph type="sldNum" sz="quarter" idx="5"/>
          </p:nvPr>
        </p:nvSpPr>
        <p:spPr/>
        <p:txBody>
          <a:bodyPr/>
          <a:lstStyle/>
          <a:p>
            <a:fld id="{F26FD0AC-3575-5944-B779-5F018F5134F0}" type="slidenum">
              <a:rPr lang="en-US" smtClean="0"/>
              <a:t>36</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MRI is the neuroimaging procedure of choice and demonstrates areas of increased T2 signal. Bitemporal and orbitofrontal areas of increased signal are seen in HSV encephalitis, but are not diagnostic</a:t>
            </a:r>
            <a:endParaRPr lang="en-US" dirty="0"/>
          </a:p>
        </p:txBody>
      </p:sp>
      <p:sp>
        <p:nvSpPr>
          <p:cNvPr id="4" name="Slide Number Placeholder 3"/>
          <p:cNvSpPr>
            <a:spLocks noGrp="1"/>
          </p:cNvSpPr>
          <p:nvPr>
            <p:ph type="sldNum" sz="quarter" idx="5"/>
          </p:nvPr>
        </p:nvSpPr>
        <p:spPr/>
        <p:txBody>
          <a:bodyPr/>
          <a:lstStyle/>
          <a:p>
            <a:fld id="{F26FD0AC-3575-5944-B779-5F018F5134F0}" type="slidenum">
              <a:rPr lang="en-US" smtClean="0"/>
              <a:t>44</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202020"/>
                </a:solidFill>
                <a:effectLst/>
                <a:latin typeface="Helvetica" pitchFamily="34" charset="0"/>
              </a:rPr>
              <a:t>Neurocysticercosis (NCC) is common among people with epilepsy in low-resource settings</a:t>
            </a:r>
            <a:endParaRPr lang="en-US" dirty="0"/>
          </a:p>
        </p:txBody>
      </p:sp>
      <p:sp>
        <p:nvSpPr>
          <p:cNvPr id="4" name="Slide Number Placeholder 3"/>
          <p:cNvSpPr>
            <a:spLocks noGrp="1"/>
          </p:cNvSpPr>
          <p:nvPr>
            <p:ph type="sldNum" sz="quarter" idx="5"/>
          </p:nvPr>
        </p:nvSpPr>
        <p:spPr/>
        <p:txBody>
          <a:bodyPr/>
          <a:lstStyle/>
          <a:p>
            <a:fld id="{F26FD0AC-3575-5944-B779-5F018F5134F0}" type="slidenum">
              <a:rPr lang="en-US" smtClean="0"/>
              <a:t>48</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b="1" dirty="0">
                <a:solidFill>
                  <a:schemeClr val="bg2">
                    <a:lumMod val="10000"/>
                  </a:schemeClr>
                </a:solidFill>
                <a:latin typeface="Calibri" pitchFamily="34" charset="0"/>
                <a:cs typeface="Calibri" pitchFamily="34" charset="0"/>
              </a:rPr>
              <a:t>Note </a:t>
            </a:r>
            <a:r>
              <a:rPr lang="en-US" dirty="0">
                <a:solidFill>
                  <a:schemeClr val="bg2">
                    <a:lumMod val="10000"/>
                  </a:schemeClr>
                </a:solidFill>
                <a:latin typeface="Calibri" pitchFamily="34" charset="0"/>
                <a:cs typeface="Calibri" pitchFamily="34" charset="0"/>
              </a:rPr>
              <a:t>: Fundoscopic examination is mandatory for all patients before initiation of anthelminthic therapy-</a:t>
            </a:r>
          </a:p>
          <a:p>
            <a:endParaRPr lang="en-US" dirty="0"/>
          </a:p>
        </p:txBody>
      </p:sp>
      <p:sp>
        <p:nvSpPr>
          <p:cNvPr id="4" name="Slide Number Placeholder 3"/>
          <p:cNvSpPr>
            <a:spLocks noGrp="1"/>
          </p:cNvSpPr>
          <p:nvPr>
            <p:ph type="sldNum" sz="quarter" idx="5"/>
          </p:nvPr>
        </p:nvSpPr>
        <p:spPr/>
        <p:txBody>
          <a:bodyPr/>
          <a:lstStyle/>
          <a:p>
            <a:fld id="{F26FD0AC-3575-5944-B779-5F018F5134F0}" type="slidenum">
              <a:rPr lang="en-US" smtClean="0"/>
              <a:t>51</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JC - </a:t>
            </a:r>
            <a:r>
              <a:rPr lang="en-GB" b="0" i="0" dirty="0">
                <a:solidFill>
                  <a:srgbClr val="212121"/>
                </a:solidFill>
                <a:effectLst/>
                <a:latin typeface="Merriweather" pitchFamily="2" charset="0"/>
              </a:rPr>
              <a:t>John Cunningham virus.</a:t>
            </a:r>
            <a:endParaRPr lang="en-US" dirty="0"/>
          </a:p>
        </p:txBody>
      </p:sp>
      <p:sp>
        <p:nvSpPr>
          <p:cNvPr id="4" name="Slide Number Placeholder 3"/>
          <p:cNvSpPr>
            <a:spLocks noGrp="1"/>
          </p:cNvSpPr>
          <p:nvPr>
            <p:ph type="sldNum" sz="quarter" idx="5"/>
          </p:nvPr>
        </p:nvSpPr>
        <p:spPr/>
        <p:txBody>
          <a:bodyPr/>
          <a:lstStyle/>
          <a:p>
            <a:fld id="{F26FD0AC-3575-5944-B779-5F018F5134F0}" type="slidenum">
              <a:rPr lang="en-US" smtClean="0"/>
              <a:t>54</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6FD0AC-3575-5944-B779-5F018F5134F0}" type="slidenum">
              <a:rPr lang="en-US" smtClean="0"/>
              <a:t>55</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atin typeface="Arial Regular" charset="0"/>
                <a:cs typeface="Arial Regular" charset="0"/>
                <a:sym typeface="+mn-ea"/>
              </a:rPr>
              <a:t>specific deficits depend upon the intracranial location of the brain abscess </a:t>
            </a:r>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dirty="0">
                <a:latin typeface="Arial" charset="0"/>
                <a:cs typeface="Arial" charset="0"/>
              </a:rPr>
              <a:t>O</a:t>
            </a:r>
            <a:endParaRPr lang="en-US" dirty="0"/>
          </a:p>
        </p:txBody>
      </p:sp>
      <p:sp>
        <p:nvSpPr>
          <p:cNvPr id="4" name="Slide Number Placeholder 3"/>
          <p:cNvSpPr>
            <a:spLocks noGrp="1"/>
          </p:cNvSpPr>
          <p:nvPr>
            <p:ph type="sldNum" sz="quarter" idx="5"/>
          </p:nvPr>
        </p:nvSpPr>
        <p:spPr/>
        <p:txBody>
          <a:bodyPr/>
          <a:lstStyle/>
          <a:p>
            <a:fld id="{F26FD0AC-3575-5944-B779-5F018F5134F0}" type="slidenum">
              <a:rPr lang="en-US" smtClean="0"/>
              <a:t>62</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dirty="0"/>
          </a:p>
          <a:p>
            <a:endParaRPr lang="en-US" dirty="0"/>
          </a:p>
          <a:p>
            <a:pPr marL="171450" indent="-171450">
              <a:buFont typeface="Arial" charset="0"/>
              <a:buChar char="•"/>
            </a:pPr>
            <a:r>
              <a:rPr lang="en-US" dirty="0"/>
              <a:t>(a) MRI scan in a 37-year-old male showing a large brain abscess located in the left temporoparietal area </a:t>
            </a:r>
          </a:p>
          <a:p>
            <a:pPr marL="171450" indent="-171450">
              <a:buFont typeface="Arial" charset="0"/>
              <a:buChar char="•"/>
            </a:pPr>
            <a:endParaRPr lang="en-US" dirty="0"/>
          </a:p>
          <a:p>
            <a:pPr marL="171450" indent="-171450">
              <a:buFont typeface="Arial" charset="0"/>
              <a:buChar char="•"/>
            </a:pPr>
            <a:r>
              <a:rPr lang="en-US" dirty="0"/>
              <a:t>(b) Contrast-enhanced computed tomography: bilateral brain abscesses with hypodense </a:t>
            </a:r>
            <a:r>
              <a:rPr lang="en-US" dirty="0" err="1"/>
              <a:t>centre</a:t>
            </a:r>
            <a:r>
              <a:rPr lang="en-US" dirty="0"/>
              <a:t> (central necrosis), limited by a ring-shaped, contrast-enhanced capsule, surrounded by a variable hypodense area (oedema).</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pPr marL="171450" indent="-171450">
              <a:buFont typeface="Arial" charset="0"/>
              <a:buChar char="•"/>
            </a:pPr>
            <a:r>
              <a:rPr lang="en-US" dirty="0">
                <a:sym typeface="+mn-ea"/>
              </a:rPr>
              <a:t> Glucocorticoids should not be given routinely.</a:t>
            </a:r>
            <a:endParaRPr lang="en-US" dirty="0"/>
          </a:p>
          <a:p>
            <a:r>
              <a:rPr lang="en-US" dirty="0">
                <a:sym typeface="+mn-ea"/>
              </a:rPr>
              <a:t>• Serial MRI or CT scans should be obtained on a monthly or twice-monthly basis to document resolution of the abscess.</a:t>
            </a:r>
          </a:p>
          <a:p>
            <a:pPr marL="0" marR="0" lvl="0" indent="0" algn="l" defTabSz="914400" rtl="0" eaLnBrk="1" fontAlgn="auto" latinLnBrk="0" hangingPunct="1">
              <a:lnSpc>
                <a:spcPct val="100000"/>
              </a:lnSpc>
              <a:spcBef>
                <a:spcPts val="0"/>
              </a:spcBef>
              <a:spcAft>
                <a:spcPts val="0"/>
              </a:spcAft>
              <a:buClrTx/>
              <a:buSzTx/>
              <a:buFontTx/>
              <a:buNone/>
              <a:defRPr/>
            </a:pPr>
            <a:r>
              <a:rPr lang="en-US" sz="1200" dirty="0">
                <a:latin typeface="Arial" charset="0"/>
                <a:cs typeface="Arial" charset="0"/>
              </a:rPr>
              <a:t>All pts should receive a minimum of 6–8weeks of parenteral antibiotic therapy.</a:t>
            </a:r>
          </a:p>
          <a:p>
            <a:endParaRPr lang="en-US" dirty="0"/>
          </a:p>
          <a:p>
            <a:pPr marL="171450" indent="-171450">
              <a:buFont typeface="Arial" charset="0"/>
              <a:buChar char="•"/>
            </a:pPr>
            <a:r>
              <a:rPr lang="en-US" dirty="0">
                <a:sym typeface="+mn-ea"/>
              </a:rPr>
              <a:t>Pts should receive prophylactic anticonvulsant therapy.</a:t>
            </a:r>
          </a:p>
          <a:p>
            <a:pPr marL="171450" marR="0" lvl="0" indent="-171450" algn="l" defTabSz="914400" rtl="0" eaLnBrk="1" fontAlgn="auto" latinLnBrk="0" hangingPunct="1">
              <a:lnSpc>
                <a:spcPct val="100000"/>
              </a:lnSpc>
              <a:spcBef>
                <a:spcPts val="0"/>
              </a:spcBef>
              <a:spcAft>
                <a:spcPts val="0"/>
              </a:spcAft>
              <a:buClrTx/>
              <a:buSzTx/>
              <a:buFont typeface="Arial" charset="0"/>
              <a:buChar char="•"/>
              <a:defRPr/>
            </a:pPr>
            <a:r>
              <a:rPr lang="en-US" sz="1200" dirty="0">
                <a:latin typeface="Arial" charset="0"/>
                <a:cs typeface="Arial" charset="0"/>
              </a:rPr>
              <a:t>In pts with penetrating head trauma or recent neurosurgical procedures, treatment should include ceftazidime to enhance coverage of Pseudomonas spp. and vancomycin for coverage of resistant staphylococci. Meropenem plus </a:t>
            </a:r>
            <a:r>
              <a:rPr lang="en-US" sz="1200" dirty="0" err="1">
                <a:latin typeface="Arial" charset="0"/>
                <a:cs typeface="Arial" charset="0"/>
              </a:rPr>
              <a:t>vanco</a:t>
            </a:r>
            <a:r>
              <a:rPr lang="en-US" sz="1200" dirty="0">
                <a:latin typeface="Arial" charset="0"/>
                <a:cs typeface="Arial" charset="0"/>
              </a:rPr>
              <a:t>- </a:t>
            </a:r>
            <a:r>
              <a:rPr lang="en-US" sz="1200" dirty="0" err="1">
                <a:latin typeface="Arial" charset="0"/>
                <a:cs typeface="Arial" charset="0"/>
              </a:rPr>
              <a:t>mycin</a:t>
            </a:r>
            <a:r>
              <a:rPr lang="en-US" sz="1200" dirty="0">
                <a:latin typeface="Arial" charset="0"/>
                <a:cs typeface="Arial" charset="0"/>
              </a:rPr>
              <a:t> also provides good coverage in this setting.</a:t>
            </a:r>
          </a:p>
          <a:p>
            <a:pPr marL="171450" indent="-171450">
              <a:buFont typeface="Arial" charset="0"/>
              <a:buChar char="•"/>
            </a:pPr>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dirty="0"/>
              <a:t>There are four means of acquiring toxoplasmosis in humans :</a:t>
            </a:r>
          </a:p>
          <a:p>
            <a:endParaRPr lang="en-US" dirty="0"/>
          </a:p>
          <a:p>
            <a:r>
              <a:rPr lang="en-US" dirty="0"/>
              <a:t>●Ingestion of infectious oocysts from the environment (usually from soil or fresh water sources contaminated with feline feces) or from contaminated fruits or vegetables</a:t>
            </a:r>
          </a:p>
          <a:p>
            <a:endParaRPr lang="en-US" dirty="0"/>
          </a:p>
          <a:p>
            <a:r>
              <a:rPr lang="en-US" dirty="0"/>
              <a:t>●Ingestion of tissue cysts in meat from an infected animal</a:t>
            </a:r>
          </a:p>
          <a:p>
            <a:endParaRPr lang="en-US" dirty="0"/>
          </a:p>
          <a:p>
            <a:r>
              <a:rPr lang="en-US" dirty="0"/>
              <a:t>●Vertical transmission from an infected mother to her fetus</a:t>
            </a:r>
          </a:p>
          <a:p>
            <a:endParaRPr lang="en-US" dirty="0"/>
          </a:p>
          <a:p>
            <a:r>
              <a:rPr lang="en-US" dirty="0"/>
              <a:t>●Transmission through an organ transplantation from an infected donor</a:t>
            </a:r>
          </a:p>
          <a:p>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pPr marL="628650" lvl="1" indent="-171450">
              <a:buFont typeface="Arial" charset="0"/>
              <a:buChar char="•"/>
            </a:pPr>
            <a:r>
              <a:rPr lang="en-US">
                <a:sym typeface="+mn-ea"/>
              </a:rPr>
              <a:t>Headaches, myalgias, pharyngitis, hepatosplenomegaly, and/or a diffuse non-pruritic maculopapular rash may also occur.</a:t>
            </a:r>
          </a:p>
          <a:p>
            <a:pPr lvl="1"/>
            <a:endParaRPr lang="en-US"/>
          </a:p>
          <a:p>
            <a:pPr marL="628650" lvl="2" indent="-171450">
              <a:buFont typeface="Arial" charset="0"/>
              <a:buChar char="•"/>
            </a:pPr>
            <a:r>
              <a:rPr lang="en-US">
                <a:sym typeface="+mn-ea"/>
              </a:rPr>
              <a:t>The lymph nodes are usually smaller than 3 centimeters in size and are nonfluctuant. Unlike the fever, which lasts for a short duration, lymphadenopathy can persist for weeks. </a:t>
            </a:r>
          </a:p>
          <a:p>
            <a:pPr marL="628650" lvl="2" indent="-171450">
              <a:buFont typeface="Arial" charset="0"/>
              <a:buChar char="•"/>
            </a:pPr>
            <a:endParaRPr lang="en-US">
              <a:sym typeface="+mn-ea"/>
            </a:endParaRPr>
          </a:p>
          <a:p>
            <a:pPr marL="628650" lvl="1" indent="-171450">
              <a:buFont typeface="Arial" charset="0"/>
              <a:buChar char="•"/>
            </a:pPr>
            <a:r>
              <a:rPr lang="en-US">
                <a:sym typeface="+mn-ea"/>
              </a:rPr>
              <a:t>Uncommon manifestations — On rare occasions, immunocompetent patients may present with severe disease such as pneumonitis , acute respiratory distress syndrome, myocarditis , pericarditis , polymyositis , hepatitis, posterior uveitis, or encephalitis.</a:t>
            </a:r>
          </a:p>
          <a:p>
            <a:pPr lvl="1"/>
            <a:endParaRPr lang="en-US">
              <a:sym typeface="+mn-ea"/>
            </a:endParaRPr>
          </a:p>
          <a:p>
            <a:pPr marL="628650" lvl="2" indent="-171450">
              <a:buFont typeface="Arial" charset="0"/>
              <a:buChar char="•"/>
            </a:pPr>
            <a:endParaRPr lang="en-US">
              <a:sym typeface="+mn-ea"/>
            </a:endParaRPr>
          </a:p>
          <a:p>
            <a:pPr marL="628650" lvl="2" indent="-171450">
              <a:buFont typeface="Arial" charset="0"/>
              <a:buChar char="•"/>
            </a:pPr>
            <a:endParaRPr lang="en-US"/>
          </a:p>
          <a:p>
            <a:pPr lvl="1"/>
            <a:endParaRPr lang="en-US"/>
          </a:p>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pPr lvl="1"/>
            <a:endParaRPr lang="en-US">
              <a:sym typeface="+mn-ea"/>
            </a:endParaRPr>
          </a:p>
          <a:p>
            <a:pPr lvl="1"/>
            <a:endParaRPr lang="en-US">
              <a:sym typeface="+mn-ea"/>
            </a:endParaRPr>
          </a:p>
          <a:p>
            <a:pPr lvl="1"/>
            <a:r>
              <a:rPr lang="en-US">
                <a:sym typeface="+mn-ea"/>
              </a:rPr>
              <a:t>Laboratory findings — Laboratory findings are nonspecific in patients with toxoplasmosis. </a:t>
            </a:r>
          </a:p>
          <a:p>
            <a:pPr lvl="1"/>
            <a:r>
              <a:rPr lang="en-US">
                <a:sym typeface="+mn-ea"/>
              </a:rPr>
              <a:t>Patients may have a slight lymphocytosis with or without atypical cells. If atypical lymphocytes are present, they usually account for less than 10 percent of the total leukocyte count. Hepatic transaminases may also be slightly elevated, and there may be moderate increases in the C-reactive protein.</a:t>
            </a:r>
            <a:endParaRPr lang="en-US"/>
          </a:p>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hlinkClick r:id="rId3"/>
              </a:rPr>
              <a:t>Cryptococcal</a:t>
            </a:r>
            <a:r>
              <a:rPr lang="en-GB" dirty="0">
                <a:hlinkClick r:id="rId3"/>
              </a:rPr>
              <a:t> Meningitis Management in Tanzania With Strict S... : JAIDS Journal of Acquired Immune Deficiency Syndromes (lww.com)</a:t>
            </a:r>
            <a:endParaRPr lang="en-GB" dirty="0"/>
          </a:p>
        </p:txBody>
      </p:sp>
      <p:sp>
        <p:nvSpPr>
          <p:cNvPr id="4" name="Slide Number Placeholder 3"/>
          <p:cNvSpPr>
            <a:spLocks noGrp="1"/>
          </p:cNvSpPr>
          <p:nvPr>
            <p:ph type="sldNum" sz="quarter" idx="10"/>
          </p:nvPr>
        </p:nvSpPr>
        <p:spPr/>
        <p:txBody>
          <a:bodyPr/>
          <a:lstStyle/>
          <a:p>
            <a:fld id="{F26FD0AC-3575-5944-B779-5F018F5134F0}" type="slidenum">
              <a:rPr lang="en-US" smtClean="0"/>
              <a:t>70</a:t>
            </a:fld>
            <a:endParaRPr lang="en-US"/>
          </a:p>
        </p:txBody>
      </p:sp>
    </p:spTree>
    <p:extLst>
      <p:ext uri="{BB962C8B-B14F-4D97-AF65-F5344CB8AC3E}">
        <p14:creationId xmlns:p14="http://schemas.microsoft.com/office/powerpoint/2010/main" val="2208481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96CA8CF4-8E3B-F34E-9167-3321660EEB24}" type="datetime1">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FE3303-6B45-A04F-92A9-2081B149BDD4}" type="slidenum">
              <a:rPr lang="en-US" smtClean="0"/>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6CA8CF4-8E3B-F34E-9167-3321660EEB24}" type="datetime1">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FE3303-6B45-A04F-92A9-2081B149BDD4}" type="slidenum">
              <a:rPr lang="en-US" smtClean="0"/>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96CA8CF4-8E3B-F34E-9167-3321660EEB24}" type="datetime1">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FE3303-6B45-A04F-92A9-2081B149BDD4}" type="slidenum">
              <a:rPr lang="en-US" smtClean="0"/>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96CA8CF4-8E3B-F34E-9167-3321660EEB24}" type="datetime1">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FE3303-6B45-A04F-92A9-2081B149BDD4}" type="slidenum">
              <a:rPr lang="en-US" smtClean="0"/>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96CA8CF4-8E3B-F34E-9167-3321660EEB24}" type="datetime1">
              <a:rPr lang="en-US" smtClean="0"/>
              <a:t>4/28/2026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AFE3303-6B45-A04F-92A9-2081B149BDD4}" type="slidenum">
              <a:rPr lang="en-US" smtClean="0"/>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96CA8CF4-8E3B-F34E-9167-3321660EEB24}" type="datetime1">
              <a:rPr lang="en-US" smtClean="0"/>
              <a:t>4/28/2026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AFE3303-6B45-A04F-92A9-2081B149BDD4}" type="slidenum">
              <a:rPr lang="en-US" smtClean="0"/>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CA8CF4-8E3B-F34E-9167-3321660EEB24}" type="datetime1">
              <a:rPr lang="en-US" smtClean="0"/>
              <a:t>4/28/2026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AFE3303-6B45-A04F-92A9-2081B149BDD4}" type="slidenum">
              <a:rPr lang="en-US" smtClean="0"/>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96CA8CF4-8E3B-F34E-9167-3321660EEB24}" type="datetime1">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FE3303-6B45-A04F-92A9-2081B149BDD4}" type="slidenum">
              <a:rPr lang="en-US" smtClean="0"/>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96CA8CF4-8E3B-F34E-9167-3321660EEB24}" type="datetime1">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FE3303-6B45-A04F-92A9-2081B149BDD4}" type="slidenum">
              <a:rPr lang="en-US" smtClean="0"/>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6CA8CF4-8E3B-F34E-9167-3321660EEB24}" type="datetime1">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FE3303-6B45-A04F-92A9-2081B149BDD4}" type="slidenum">
              <a:rPr lang="en-US"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6CA8CF4-8E3B-F34E-9167-3321660EEB24}" type="datetime1">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FE3303-6B45-A04F-92A9-2081B149BDD4}" type="slidenum">
              <a:rPr lang="en-US" smtClean="0"/>
              <a:t>‹#›</a:t>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CA8CF4-8E3B-F34E-9167-3321660EEB24}" type="datetime1">
              <a:rPr lang="en-US" smtClean="0"/>
              <a:t>4/28/2026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FE3303-6B45-A04F-92A9-2081B149BDD4}"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hyperlink" Target="https://www.cdc.gov/parasites/toxoplasmosis/epi.html" TargetMode="External"/><Relationship Id="rId2" Type="http://schemas.openxmlformats.org/officeDocument/2006/relationships/hyperlink" Target="https://www.who.int/news-room/fact-sheets/detail/meningitis" TargetMode="Externa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hyperlink" Target="https://www.rcpjournals.org/content/clinmedicine/18/2/164"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hyperlink" Target="https://journals.lww.com/jaids/pages/articleviewer.aspx?year=2014&amp;issue=06010&amp;article=00013&amp;type=Fulltext" TargetMode="External"/><Relationship Id="rId4" Type="http://schemas.openxmlformats.org/officeDocument/2006/relationships/hyperlink" Target="https://journals.plos.org/plosntds/article?id=10.1371/journal.pntd.001091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72540" y="345123"/>
            <a:ext cx="9144000" cy="599257"/>
          </a:xfrm>
        </p:spPr>
        <p:txBody>
          <a:bodyPr>
            <a:normAutofit fontScale="90000"/>
          </a:bodyPr>
          <a:lstStyle/>
          <a:p>
            <a:endParaRPr lang="en-US" b="1" dirty="0">
              <a:latin typeface="+mn-lt"/>
              <a:cs typeface="Arial" charset="0"/>
            </a:endParaRPr>
          </a:p>
        </p:txBody>
      </p:sp>
      <p:sp>
        <p:nvSpPr>
          <p:cNvPr id="3" name="Subtitle 2"/>
          <p:cNvSpPr>
            <a:spLocks noGrp="1"/>
          </p:cNvSpPr>
          <p:nvPr>
            <p:ph type="subTitle" idx="1"/>
          </p:nvPr>
        </p:nvSpPr>
        <p:spPr>
          <a:xfrm>
            <a:off x="1524000" y="3882452"/>
            <a:ext cx="9144000" cy="2107186"/>
          </a:xfrm>
        </p:spPr>
        <p:txBody>
          <a:bodyPr>
            <a:noAutofit/>
          </a:bodyPr>
          <a:lstStyle/>
          <a:p>
            <a:pPr algn="l"/>
            <a:endParaRPr lang="en-GB" sz="3200" dirty="0">
              <a:latin typeface="Arial" panose="020B0604020202020204" pitchFamily="34" charset="0"/>
              <a:cs typeface="Arial" panose="020B0604020202020204" pitchFamily="34" charset="0"/>
            </a:endParaRPr>
          </a:p>
          <a:p>
            <a:pPr algn="l"/>
            <a:r>
              <a:rPr lang="en-GB" sz="3200" dirty="0">
                <a:latin typeface="Arial" panose="020B0604020202020204" pitchFamily="34" charset="0"/>
                <a:cs typeface="Arial" panose="020B0604020202020204" pitchFamily="34" charset="0"/>
              </a:rPr>
              <a:t>Presenters: 	</a:t>
            </a:r>
            <a:r>
              <a:rPr lang="en-US" sz="3200" dirty="0">
                <a:latin typeface="Arial" panose="020B0604020202020204" pitchFamily="34" charset="0"/>
                <a:cs typeface="Arial" panose="020B0604020202020204" pitchFamily="34" charset="0"/>
              </a:rPr>
              <a:t>Dr. </a:t>
            </a:r>
            <a:r>
              <a:rPr lang="en-GB" sz="3200" dirty="0">
                <a:latin typeface="Arial" panose="020B0604020202020204" pitchFamily="34" charset="0"/>
                <a:cs typeface="Arial" panose="020B0604020202020204" pitchFamily="34" charset="0"/>
              </a:rPr>
              <a:t>Godard Martin.</a:t>
            </a:r>
          </a:p>
          <a:p>
            <a:pPr algn="l"/>
            <a:r>
              <a:rPr lang="en-US" sz="3200" dirty="0">
                <a:latin typeface="Arial" panose="020B0604020202020204" pitchFamily="34" charset="0"/>
                <a:cs typeface="Arial" panose="020B0604020202020204" pitchFamily="34" charset="0"/>
              </a:rPr>
              <a:t> </a:t>
            </a:r>
            <a:r>
              <a:rPr lang="en-GB" sz="3200" dirty="0">
                <a:latin typeface="Arial" panose="020B0604020202020204" pitchFamily="34" charset="0"/>
                <a:cs typeface="Arial" panose="020B0604020202020204" pitchFamily="34" charset="0"/>
              </a:rPr>
              <a:t>			</a:t>
            </a:r>
            <a:r>
              <a:rPr lang="en-US" sz="3200" dirty="0">
                <a:latin typeface="Arial" panose="020B0604020202020204" pitchFamily="34" charset="0"/>
                <a:cs typeface="Arial" panose="020B0604020202020204" pitchFamily="34" charset="0"/>
              </a:rPr>
              <a:t>Dr. </a:t>
            </a:r>
            <a:r>
              <a:rPr lang="en-GB" sz="3200" dirty="0">
                <a:latin typeface="Arial" panose="020B0604020202020204" pitchFamily="34" charset="0"/>
                <a:cs typeface="Arial" panose="020B0604020202020204" pitchFamily="34" charset="0"/>
              </a:rPr>
              <a:t>Petro Shio.</a:t>
            </a:r>
          </a:p>
          <a:p>
            <a:pPr algn="l"/>
            <a:endParaRPr lang="en-GB" sz="3200" dirty="0">
              <a:latin typeface="Arial" panose="020B0604020202020204" pitchFamily="34" charset="0"/>
              <a:cs typeface="Arial" panose="020B0604020202020204" pitchFamily="34" charset="0"/>
            </a:endParaRPr>
          </a:p>
          <a:p>
            <a:pPr algn="l"/>
            <a:r>
              <a:rPr lang="en-GB" sz="3200" b="1" dirty="0">
                <a:latin typeface="Arial" panose="020B0604020202020204" pitchFamily="34" charset="0"/>
                <a:cs typeface="Arial" panose="020B0604020202020204" pitchFamily="34" charset="0"/>
              </a:rPr>
              <a:t>Supervisor;</a:t>
            </a:r>
            <a:r>
              <a:rPr lang="en-GB" sz="3200" dirty="0">
                <a:latin typeface="Arial" panose="020B0604020202020204" pitchFamily="34" charset="0"/>
                <a:cs typeface="Arial" panose="020B0604020202020204" pitchFamily="34" charset="0"/>
              </a:rPr>
              <a:t> 	</a:t>
            </a:r>
            <a:r>
              <a:rPr lang="en-GB" sz="3200" b="1" dirty="0">
                <a:latin typeface="Arial" panose="020B0604020202020204" pitchFamily="34" charset="0"/>
                <a:cs typeface="Arial" panose="020B0604020202020204" pitchFamily="34" charset="0"/>
              </a:rPr>
              <a:t>Prof. </a:t>
            </a:r>
            <a:r>
              <a:rPr lang="en-GB" sz="3200" b="1" dirty="0" err="1">
                <a:latin typeface="Arial" panose="020B0604020202020204" pitchFamily="34" charset="0"/>
                <a:cs typeface="Arial" panose="020B0604020202020204" pitchFamily="34" charset="0"/>
              </a:rPr>
              <a:t>Matuja</a:t>
            </a:r>
            <a:r>
              <a:rPr lang="en-GB" sz="3200" b="1" dirty="0">
                <a:latin typeface="Arial" panose="020B0604020202020204" pitchFamily="34" charset="0"/>
                <a:cs typeface="Arial" panose="020B0604020202020204" pitchFamily="34" charset="0"/>
              </a:rPr>
              <a:t>.</a:t>
            </a:r>
            <a:endParaRPr lang="en-US" sz="3200" b="1" dirty="0">
              <a:latin typeface="Arial" panose="020B0604020202020204" pitchFamily="34" charset="0"/>
              <a:cs typeface="Arial" panose="020B0604020202020204" pitchFamily="34" charset="0"/>
            </a:endParaRPr>
          </a:p>
        </p:txBody>
      </p:sp>
      <p:pic>
        <p:nvPicPr>
          <p:cNvPr id="1026" name="Picture 2" descr="C:\Users\user\Downloads\100043472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597" y="1"/>
            <a:ext cx="11452484" cy="448205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charset="0"/>
                <a:cs typeface="Arial" charset="0"/>
              </a:rPr>
              <a:t>O</a:t>
            </a:r>
            <a:r>
              <a:rPr lang="en-US" b="1" dirty="0">
                <a:latin typeface="Arial" charset="0"/>
                <a:cs typeface="Arial" charset="0"/>
              </a:rPr>
              <a:t>UTLINE</a:t>
            </a:r>
            <a:r>
              <a:rPr lang="en-GB" b="1" dirty="0">
                <a:latin typeface="Arial" charset="0"/>
                <a:cs typeface="Arial" charset="0"/>
              </a:rPr>
              <a:t>.</a:t>
            </a:r>
            <a:endParaRPr lang="en-US" b="1" dirty="0">
              <a:latin typeface="Arial" charset="0"/>
              <a:cs typeface="Arial" charset="0"/>
            </a:endParaRPr>
          </a:p>
        </p:txBody>
      </p:sp>
      <p:sp>
        <p:nvSpPr>
          <p:cNvPr id="3" name="Content Placeholder 2"/>
          <p:cNvSpPr>
            <a:spLocks noGrp="1"/>
          </p:cNvSpPr>
          <p:nvPr>
            <p:ph idx="1"/>
          </p:nvPr>
        </p:nvSpPr>
        <p:spPr/>
        <p:txBody>
          <a:bodyPr>
            <a:normAutofit/>
          </a:bodyPr>
          <a:lstStyle/>
          <a:p>
            <a:r>
              <a:rPr lang="en-GB" dirty="0">
                <a:cs typeface="Arial" charset="0"/>
              </a:rPr>
              <a:t>I</a:t>
            </a:r>
            <a:r>
              <a:rPr lang="en-US" dirty="0">
                <a:cs typeface="Arial" charset="0"/>
              </a:rPr>
              <a:t>ntroduction</a:t>
            </a:r>
          </a:p>
          <a:p>
            <a:r>
              <a:rPr lang="en-GB" dirty="0">
                <a:cs typeface="Arial" charset="0"/>
              </a:rPr>
              <a:t>E</a:t>
            </a:r>
            <a:r>
              <a:rPr lang="en-US" dirty="0">
                <a:cs typeface="Arial" charset="0"/>
              </a:rPr>
              <a:t>pidermiology</a:t>
            </a:r>
          </a:p>
          <a:p>
            <a:r>
              <a:rPr lang="en-GB" dirty="0">
                <a:cs typeface="Arial" charset="0"/>
              </a:rPr>
              <a:t>Classification </a:t>
            </a:r>
            <a:r>
              <a:rPr lang="en-US" dirty="0">
                <a:cs typeface="Arial" charset="0"/>
              </a:rPr>
              <a:t>of meningitis</a:t>
            </a:r>
          </a:p>
          <a:p>
            <a:r>
              <a:rPr lang="en-GB" dirty="0">
                <a:cs typeface="Arial" charset="0"/>
              </a:rPr>
              <a:t>P</a:t>
            </a:r>
            <a:r>
              <a:rPr lang="en-US" dirty="0">
                <a:cs typeface="Arial" charset="0"/>
              </a:rPr>
              <a:t>athophysiology</a:t>
            </a:r>
          </a:p>
          <a:p>
            <a:r>
              <a:rPr lang="en-GB" dirty="0">
                <a:cs typeface="Arial" charset="0"/>
              </a:rPr>
              <a:t>C</a:t>
            </a:r>
            <a:r>
              <a:rPr lang="en-US" dirty="0">
                <a:cs typeface="Arial" charset="0"/>
              </a:rPr>
              <a:t>linical presentation</a:t>
            </a:r>
          </a:p>
          <a:p>
            <a:r>
              <a:rPr lang="en-GB" dirty="0">
                <a:cs typeface="Arial" charset="0"/>
              </a:rPr>
              <a:t>I</a:t>
            </a:r>
            <a:r>
              <a:rPr lang="en-US" dirty="0">
                <a:cs typeface="Arial" charset="0"/>
              </a:rPr>
              <a:t>nvestigation and treatment</a:t>
            </a:r>
          </a:p>
          <a:p>
            <a:r>
              <a:rPr lang="en-US" dirty="0">
                <a:cs typeface="Arial" charset="0"/>
              </a:rPr>
              <a:t>Other CNS infections</a:t>
            </a:r>
          </a:p>
          <a:p>
            <a:r>
              <a:rPr lang="en-US" dirty="0">
                <a:cs typeface="Arial" charset="0"/>
              </a:rPr>
              <a:t>References</a:t>
            </a:r>
          </a:p>
          <a:p>
            <a:endParaRPr lang="en-US" sz="32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019330"/>
          </a:xfrm>
        </p:spPr>
        <p:txBody>
          <a:bodyPr/>
          <a:lstStyle/>
          <a:p>
            <a:r>
              <a:rPr lang="en-US" dirty="0"/>
              <a:t>                          </a:t>
            </a:r>
            <a:r>
              <a:rPr lang="en-US" b="1" dirty="0"/>
              <a:t>MENINGITIS</a:t>
            </a:r>
          </a:p>
        </p:txBody>
      </p:sp>
      <p:pic>
        <p:nvPicPr>
          <p:cNvPr id="5" name="Picture 2"/>
          <p:cNvPicPr>
            <a:picLocks noGrp="1" noChangeAspect="1"/>
          </p:cNvPicPr>
          <p:nvPr>
            <p:ph idx="1"/>
          </p:nvPr>
        </p:nvPicPr>
        <p:blipFill>
          <a:blip r:embed="rId2"/>
          <a:stretch>
            <a:fillRect/>
          </a:stretch>
        </p:blipFill>
        <p:spPr>
          <a:xfrm>
            <a:off x="0" y="824458"/>
            <a:ext cx="12192000" cy="6033541"/>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09493"/>
          </a:xfrm>
        </p:spPr>
        <p:txBody>
          <a:bodyPr>
            <a:normAutofit/>
          </a:bodyPr>
          <a:lstStyle/>
          <a:p>
            <a:pPr algn="ctr"/>
            <a:r>
              <a:rPr lang="en-US" sz="4800" b="1" dirty="0">
                <a:latin typeface="+mn-lt"/>
                <a:cs typeface="Arial" charset="0"/>
              </a:rPr>
              <a:t>Epidemiology.</a:t>
            </a:r>
            <a:endParaRPr lang="en-GB" sz="4800" b="1" dirty="0">
              <a:latin typeface="+mn-lt"/>
            </a:endParaRPr>
          </a:p>
        </p:txBody>
      </p:sp>
      <p:sp>
        <p:nvSpPr>
          <p:cNvPr id="3" name="Content Placeholder 2"/>
          <p:cNvSpPr>
            <a:spLocks noGrp="1"/>
          </p:cNvSpPr>
          <p:nvPr>
            <p:ph idx="1"/>
          </p:nvPr>
        </p:nvSpPr>
        <p:spPr>
          <a:xfrm>
            <a:off x="838200" y="1274618"/>
            <a:ext cx="10515600" cy="5514109"/>
          </a:xfrm>
        </p:spPr>
        <p:txBody>
          <a:bodyPr>
            <a:normAutofit/>
          </a:bodyPr>
          <a:lstStyle/>
          <a:p>
            <a:pPr lvl="0"/>
            <a:r>
              <a:rPr lang="en-US" dirty="0"/>
              <a:t>Despite significant advances in prevention and treatment strategies, meningitis continues to pose a substantial global health challenge. </a:t>
            </a:r>
          </a:p>
          <a:p>
            <a:pPr lvl="0"/>
            <a:endParaRPr lang="en-US" dirty="0"/>
          </a:p>
          <a:p>
            <a:pPr lvl="0"/>
            <a:r>
              <a:rPr lang="en-US" dirty="0"/>
              <a:t>Globally, the age-standardized incidence rate stands at 31.65 per 100,000 with a corresponding mortality rate of 2.95 per </a:t>
            </a:r>
            <a:r>
              <a:rPr lang="en-US" dirty="0" smtClean="0"/>
              <a:t>100,000.</a:t>
            </a:r>
            <a:endParaRPr lang="en-US" dirty="0"/>
          </a:p>
          <a:p>
            <a:pPr lvl="0"/>
            <a:endParaRPr lang="en-US" altLang="en-GB" b="1" i="1" dirty="0">
              <a:sym typeface="+mn-ea"/>
            </a:endParaRPr>
          </a:p>
          <a:p>
            <a:pPr lvl="0"/>
            <a:r>
              <a:rPr lang="en-US" altLang="en-GB" b="1" i="1" dirty="0">
                <a:sym typeface="+mn-ea"/>
              </a:rPr>
              <a:t>S</a:t>
            </a:r>
            <a:r>
              <a:rPr lang="en-US" b="1" i="1" dirty="0">
                <a:sym typeface="+mn-ea"/>
              </a:rPr>
              <a:t>. pneumoniae </a:t>
            </a:r>
            <a:r>
              <a:rPr lang="en-US" dirty="0">
                <a:sym typeface="+mn-ea"/>
              </a:rPr>
              <a:t>remains the most common etiology </a:t>
            </a:r>
            <a:r>
              <a:rPr lang="en-US" b="1" dirty="0">
                <a:sym typeface="+mn-ea"/>
              </a:rPr>
              <a:t>globally</a:t>
            </a:r>
            <a:r>
              <a:rPr lang="en-US" dirty="0">
                <a:sym typeface="+mn-ea"/>
              </a:rPr>
              <a:t>, accounting for approximately 25% to 50%  of </a:t>
            </a:r>
            <a:r>
              <a:rPr lang="en-US" dirty="0" smtClean="0">
                <a:sym typeface="+mn-ea"/>
              </a:rPr>
              <a:t>cases.</a:t>
            </a:r>
            <a:endParaRPr lang="en-US" dirty="0">
              <a:sym typeface="+mn-ea"/>
            </a:endParaRPr>
          </a:p>
          <a:p>
            <a:pPr lvl="0"/>
            <a:endParaRPr lang="en-US" dirty="0"/>
          </a:p>
          <a:p>
            <a:pPr lvl="0"/>
            <a:endParaRPr lang="en-US" dirty="0">
              <a:latin typeface="Arial" charset="0"/>
              <a:sym typeface="+mn-ea"/>
            </a:endParaRPr>
          </a:p>
        </p:txBody>
      </p:sp>
      <p:sp>
        <p:nvSpPr>
          <p:cNvPr id="6" name="TextBox 5"/>
          <p:cNvSpPr txBox="1"/>
          <p:nvPr/>
        </p:nvSpPr>
        <p:spPr>
          <a:xfrm>
            <a:off x="1267097" y="5904411"/>
            <a:ext cx="9392194" cy="646331"/>
          </a:xfrm>
          <a:prstGeom prst="rect">
            <a:avLst/>
          </a:prstGeom>
          <a:noFill/>
          <a:ln>
            <a:solidFill>
              <a:schemeClr val="accent2">
                <a:lumMod val="75000"/>
              </a:schemeClr>
            </a:solidFill>
          </a:ln>
        </p:spPr>
        <p:txBody>
          <a:bodyPr wrap="square" rtlCol="0">
            <a:spAutoFit/>
          </a:bodyPr>
          <a:lstStyle/>
          <a:p>
            <a:r>
              <a:rPr lang="en-US" dirty="0">
                <a:latin typeface="Times New Roman" panose="02020603050405020304" pitchFamily="18" charset="0"/>
                <a:cs typeface="Times New Roman" panose="02020603050405020304" pitchFamily="18" charset="0"/>
              </a:rPr>
              <a:t>Tang C, Han </a:t>
            </a:r>
            <a:r>
              <a:rPr lang="en-US" dirty="0" smtClean="0">
                <a:latin typeface="Times New Roman" panose="02020603050405020304" pitchFamily="18" charset="0"/>
                <a:cs typeface="Times New Roman" panose="02020603050405020304" pitchFamily="18" charset="0"/>
              </a:rPr>
              <a:t>R et al. Comprehensive </a:t>
            </a:r>
            <a:r>
              <a:rPr lang="en-US" dirty="0">
                <a:latin typeface="Times New Roman" panose="02020603050405020304" pitchFamily="18" charset="0"/>
                <a:cs typeface="Times New Roman" panose="02020603050405020304" pitchFamily="18" charset="0"/>
              </a:rPr>
              <a:t>analysis of the Global Burden and epidemiological trends of meningitis from 1990 to 2021</a:t>
            </a:r>
            <a:endParaRPr lang="en-US" dirty="0"/>
          </a:p>
        </p:txBody>
      </p:sp>
    </p:spTree>
    <p:extLst>
      <p:ext uri="{BB962C8B-B14F-4D97-AF65-F5344CB8AC3E}">
        <p14:creationId xmlns:p14="http://schemas.microsoft.com/office/powerpoint/2010/main" val="126529993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561703"/>
          </a:xfrm>
        </p:spPr>
        <p:txBody>
          <a:bodyPr>
            <a:normAutofit fontScale="90000"/>
          </a:bodyPr>
          <a:lstStyle/>
          <a:p>
            <a:pPr algn="ctr"/>
            <a:r>
              <a:rPr lang="en-US" b="1" dirty="0">
                <a:latin typeface="+mn-lt"/>
                <a:cs typeface="Arial" charset="0"/>
              </a:rPr>
              <a:t>Epidemiology</a:t>
            </a:r>
          </a:p>
        </p:txBody>
      </p:sp>
      <p:sp>
        <p:nvSpPr>
          <p:cNvPr id="3" name="Content Placeholder 2"/>
          <p:cNvSpPr>
            <a:spLocks noGrp="1"/>
          </p:cNvSpPr>
          <p:nvPr>
            <p:ph idx="1"/>
          </p:nvPr>
        </p:nvSpPr>
        <p:spPr>
          <a:xfrm>
            <a:off x="767862" y="1493430"/>
            <a:ext cx="10515600" cy="5364570"/>
          </a:xfrm>
        </p:spPr>
        <p:txBody>
          <a:bodyPr>
            <a:noAutofit/>
          </a:bodyPr>
          <a:lstStyle/>
          <a:p>
            <a:pPr marL="0" indent="0">
              <a:buNone/>
            </a:pPr>
            <a:endParaRPr lang="en-GB" b="0" i="0" dirty="0">
              <a:effectLst/>
              <a:latin typeface="Arial" charset="0"/>
            </a:endParaRPr>
          </a:p>
          <a:p>
            <a:endParaRPr lang="en-GB" b="0" i="0" dirty="0">
              <a:effectLst/>
              <a:latin typeface="Arial" charset="0"/>
            </a:endParaRPr>
          </a:p>
          <a:p>
            <a:endParaRPr lang="en-GB" b="0" i="0" dirty="0">
              <a:effectLst/>
              <a:latin typeface="Arial" charset="0"/>
            </a:endParaRPr>
          </a:p>
        </p:txBody>
      </p:sp>
      <p:pic>
        <p:nvPicPr>
          <p:cNvPr id="4" name="Picture 2"/>
          <p:cNvPicPr>
            <a:picLocks noChangeAspect="1"/>
          </p:cNvPicPr>
          <p:nvPr/>
        </p:nvPicPr>
        <p:blipFill>
          <a:blip r:embed="rId3"/>
          <a:stretch>
            <a:fillRect/>
          </a:stretch>
        </p:blipFill>
        <p:spPr>
          <a:xfrm>
            <a:off x="1" y="548640"/>
            <a:ext cx="12191999" cy="5251269"/>
          </a:xfrm>
          <a:prstGeom prst="rect">
            <a:avLst/>
          </a:prstGeom>
        </p:spPr>
      </p:pic>
      <p:sp>
        <p:nvSpPr>
          <p:cNvPr id="5" name="TextBox 4"/>
          <p:cNvSpPr txBox="1"/>
          <p:nvPr/>
        </p:nvSpPr>
        <p:spPr>
          <a:xfrm>
            <a:off x="1423851" y="6230983"/>
            <a:ext cx="8621487" cy="646331"/>
          </a:xfrm>
          <a:prstGeom prst="rect">
            <a:avLst/>
          </a:prstGeom>
          <a:noFill/>
          <a:ln>
            <a:solidFill>
              <a:schemeClr val="accent2">
                <a:lumMod val="75000"/>
              </a:schemeClr>
            </a:solidFill>
          </a:ln>
        </p:spPr>
        <p:txBody>
          <a:bodyPr wrap="square" rtlCol="0">
            <a:spAutoFit/>
          </a:bodyPr>
          <a:lstStyle/>
          <a:p>
            <a:r>
              <a:rPr lang="en-US" dirty="0">
                <a:latin typeface="Times New Roman" panose="02020603050405020304" pitchFamily="18" charset="0"/>
                <a:cs typeface="Times New Roman" panose="02020603050405020304" pitchFamily="18" charset="0"/>
              </a:rPr>
              <a:t>Tang C, Han R, Yang J, Wu N, He D. Comprehensive analysis of the Global Burden and epidemiological trends of meningitis from 1990 to 2021</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4504"/>
            <a:ext cx="10515600" cy="849086"/>
          </a:xfrm>
        </p:spPr>
        <p:txBody>
          <a:bodyPr/>
          <a:lstStyle/>
          <a:p>
            <a:r>
              <a:rPr lang="en-GB" b="1" dirty="0">
                <a:latin typeface="Arial" charset="0"/>
                <a:cs typeface="Arial" charset="0"/>
              </a:rPr>
              <a:t>Status in </a:t>
            </a:r>
            <a:r>
              <a:rPr lang="en-GB" b="1" dirty="0" smtClean="0">
                <a:latin typeface="Arial" charset="0"/>
                <a:cs typeface="Arial" charset="0"/>
              </a:rPr>
              <a:t>Tanzania</a:t>
            </a:r>
            <a:endParaRPr lang="en-US" sz="1600" b="1" dirty="0">
              <a:solidFill>
                <a:srgbClr val="FF0000"/>
              </a:solidFill>
              <a:latin typeface="Arial" charset="0"/>
              <a:cs typeface="Arial" charset="0"/>
            </a:endParaRPr>
          </a:p>
        </p:txBody>
      </p:sp>
      <p:pic>
        <p:nvPicPr>
          <p:cNvPr id="5" name="Content Placeholder 4"/>
          <p:cNvPicPr>
            <a:picLocks noGrp="1" noChangeAspect="1"/>
          </p:cNvPicPr>
          <p:nvPr>
            <p:ph idx="1"/>
          </p:nvPr>
        </p:nvPicPr>
        <p:blipFill>
          <a:blip r:embed="rId3"/>
          <a:stretch>
            <a:fillRect/>
          </a:stretch>
        </p:blipFill>
        <p:spPr>
          <a:xfrm>
            <a:off x="515911" y="836023"/>
            <a:ext cx="10837889" cy="4101738"/>
          </a:xfrm>
        </p:spPr>
      </p:pic>
      <p:sp>
        <p:nvSpPr>
          <p:cNvPr id="3" name="TextBox 2"/>
          <p:cNvSpPr txBox="1"/>
          <p:nvPr/>
        </p:nvSpPr>
        <p:spPr>
          <a:xfrm>
            <a:off x="744583" y="5826034"/>
            <a:ext cx="10528663" cy="923330"/>
          </a:xfrm>
          <a:prstGeom prst="rect">
            <a:avLst/>
          </a:prstGeom>
          <a:noFill/>
          <a:ln>
            <a:solidFill>
              <a:schemeClr val="accent2">
                <a:lumMod val="75000"/>
              </a:schemeClr>
            </a:solidFill>
          </a:ln>
        </p:spPr>
        <p:txBody>
          <a:bodyPr wrap="square" rtlCol="0">
            <a:spAutoFit/>
          </a:bodyPr>
          <a:lstStyle/>
          <a:p>
            <a:r>
              <a:rPr lang="en-US" dirty="0" smtClean="0"/>
              <a:t>P</a:t>
            </a:r>
            <a:r>
              <a:rPr lang="en-US" dirty="0"/>
              <a:t>. B. </a:t>
            </a:r>
            <a:r>
              <a:rPr lang="en-US" dirty="0" err="1"/>
              <a:t>Madoshi</a:t>
            </a:r>
            <a:r>
              <a:rPr lang="en-US" dirty="0"/>
              <a:t>; Z. E. </a:t>
            </a:r>
            <a:r>
              <a:rPr lang="en-US" dirty="0" err="1"/>
              <a:t>Sanga</a:t>
            </a:r>
            <a:r>
              <a:rPr lang="en-US" dirty="0"/>
              <a:t>; K. A. N. </a:t>
            </a:r>
            <a:r>
              <a:rPr lang="en-US" dirty="0" err="1"/>
              <a:t>Ngarawa</a:t>
            </a:r>
            <a:r>
              <a:rPr lang="en-US" dirty="0"/>
              <a:t> et al. Prevalence and outcome of bacterial meningitis among children of less than 10 years along the </a:t>
            </a:r>
            <a:r>
              <a:rPr lang="en-US" dirty="0" err="1"/>
              <a:t>Kilombero</a:t>
            </a:r>
            <a:r>
              <a:rPr lang="en-US" dirty="0"/>
              <a:t> valley in </a:t>
            </a:r>
            <a:r>
              <a:rPr lang="en-US" dirty="0" err="1"/>
              <a:t>Morogoro</a:t>
            </a:r>
            <a:r>
              <a:rPr lang="en-US" dirty="0"/>
              <a:t>, Tanzania. Rwanda Medical Journal, Vol. 79, no. 1, p. 50-56, 2022</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8715" y="648070"/>
            <a:ext cx="11103428" cy="6079301"/>
          </a:xfrm>
        </p:spPr>
        <p:txBody>
          <a:bodyPr>
            <a:noAutofit/>
          </a:bodyPr>
          <a:lstStyle/>
          <a:p>
            <a:pPr marL="0" indent="0">
              <a:buNone/>
            </a:pPr>
            <a:endParaRPr lang="en-GB" dirty="0">
              <a:cs typeface="Arial" charset="0"/>
            </a:endParaRPr>
          </a:p>
          <a:p>
            <a:r>
              <a:rPr lang="en-GB" dirty="0">
                <a:latin typeface="Arial" panose="020B0604020202020204" pitchFamily="34" charset="0"/>
                <a:cs typeface="Arial" panose="020B0604020202020204" pitchFamily="34" charset="0"/>
              </a:rPr>
              <a:t>The analysis of the patient biodata showed that </a:t>
            </a:r>
            <a:r>
              <a:rPr lang="en-GB" b="1" dirty="0">
                <a:latin typeface="Arial" panose="020B0604020202020204" pitchFamily="34" charset="0"/>
                <a:cs typeface="Arial" panose="020B0604020202020204" pitchFamily="34" charset="0"/>
              </a:rPr>
              <a:t>8.3% </a:t>
            </a:r>
            <a:r>
              <a:rPr lang="en-GB" dirty="0">
                <a:latin typeface="Arial" panose="020B0604020202020204" pitchFamily="34" charset="0"/>
                <a:cs typeface="Arial" panose="020B0604020202020204" pitchFamily="34" charset="0"/>
              </a:rPr>
              <a:t>of the </a:t>
            </a:r>
            <a:r>
              <a:rPr lang="en-GB" b="1" dirty="0">
                <a:latin typeface="Arial" panose="020B0604020202020204" pitchFamily="34" charset="0"/>
                <a:cs typeface="Arial" panose="020B0604020202020204" pitchFamily="34" charset="0"/>
              </a:rPr>
              <a:t>857 children </a:t>
            </a:r>
            <a:r>
              <a:rPr lang="en-GB" dirty="0">
                <a:latin typeface="Arial" panose="020B0604020202020204" pitchFamily="34" charset="0"/>
                <a:cs typeface="Arial" panose="020B0604020202020204" pitchFamily="34" charset="0"/>
              </a:rPr>
              <a:t>had meningitis, with a </a:t>
            </a:r>
            <a:r>
              <a:rPr lang="en-GB" b="1" dirty="0">
                <a:latin typeface="Arial" panose="020B0604020202020204" pitchFamily="34" charset="0"/>
                <a:cs typeface="Arial" panose="020B0604020202020204" pitchFamily="34" charset="0"/>
              </a:rPr>
              <a:t>case fatality rate of 11.3% </a:t>
            </a:r>
            <a:r>
              <a:rPr lang="en-GB" dirty="0">
                <a:latin typeface="Arial" panose="020B0604020202020204" pitchFamily="34" charset="0"/>
                <a:cs typeface="Arial" panose="020B0604020202020204" pitchFamily="34" charset="0"/>
              </a:rPr>
              <a:t>in children less than 10 years old.</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Generally, the clinical presentations of bacterial meningitis are </a:t>
            </a:r>
            <a:r>
              <a:rPr lang="en-GB" b="1" dirty="0">
                <a:latin typeface="Arial" panose="020B0604020202020204" pitchFamily="34" charset="0"/>
                <a:cs typeface="Arial" panose="020B0604020202020204" pitchFamily="34" charset="0"/>
              </a:rPr>
              <a:t>not specific</a:t>
            </a:r>
            <a:r>
              <a:rPr lang="en-GB" dirty="0">
                <a:latin typeface="Arial" panose="020B0604020202020204" pitchFamily="34" charset="0"/>
                <a:cs typeface="Arial" panose="020B0604020202020204" pitchFamily="34" charset="0"/>
              </a:rPr>
              <a:t>, which might not help establish an early diagnosis in infected patients; meanwhile, the commonest bacteria that cause the disease are </a:t>
            </a:r>
            <a:r>
              <a:rPr lang="en-GB" b="1" dirty="0">
                <a:latin typeface="Arial" panose="020B0604020202020204" pitchFamily="34" charset="0"/>
                <a:cs typeface="Arial" panose="020B0604020202020204" pitchFamily="34" charset="0"/>
              </a:rPr>
              <a:t>Gram-negative.</a:t>
            </a:r>
          </a:p>
          <a:p>
            <a:endParaRPr lang="en-GB" b="1" dirty="0">
              <a:latin typeface="Arial" panose="020B0604020202020204" pitchFamily="34" charset="0"/>
              <a:cs typeface="Arial" panose="020B0604020202020204" pitchFamily="34" charset="0"/>
            </a:endParaRPr>
          </a:p>
          <a:p>
            <a:r>
              <a:rPr lang="en-GB" b="1" i="1" dirty="0">
                <a:latin typeface="Arial" panose="020B0604020202020204" pitchFamily="34" charset="0"/>
                <a:cs typeface="Arial" panose="020B0604020202020204" pitchFamily="34" charset="0"/>
              </a:rPr>
              <a:t>Escherichia coli, Klebsiella pneumoniae, Haemophilus influenzae </a:t>
            </a:r>
            <a:r>
              <a:rPr lang="en-GB" dirty="0">
                <a:latin typeface="Arial" panose="020B0604020202020204" pitchFamily="34" charset="0"/>
                <a:cs typeface="Arial" panose="020B0604020202020204" pitchFamily="34" charset="0"/>
              </a:rPr>
              <a:t>and </a:t>
            </a:r>
            <a:r>
              <a:rPr lang="en-GB" b="1" i="1" dirty="0">
                <a:latin typeface="Arial" panose="020B0604020202020204" pitchFamily="34" charset="0"/>
                <a:cs typeface="Arial" panose="020B0604020202020204" pitchFamily="34" charset="0"/>
              </a:rPr>
              <a:t>Neisseria meningitides </a:t>
            </a:r>
            <a:r>
              <a:rPr lang="en-GB" dirty="0">
                <a:latin typeface="Arial" panose="020B0604020202020204" pitchFamily="34" charset="0"/>
                <a:cs typeface="Arial" panose="020B0604020202020204" pitchFamily="34" charset="0"/>
              </a:rPr>
              <a:t>were mostly isolated from the CSF samples at the </a:t>
            </a:r>
            <a:r>
              <a:rPr lang="en-GB" dirty="0" smtClean="0">
                <a:latin typeface="Arial" panose="020B0604020202020204" pitchFamily="34" charset="0"/>
                <a:cs typeface="Arial" panose="020B0604020202020204" pitchFamily="34" charset="0"/>
              </a:rPr>
              <a:t>hospital.</a:t>
            </a:r>
            <a:endParaRPr lang="en-US" sz="1800" b="1" dirty="0">
              <a:solidFill>
                <a:srgbClr val="FF0000"/>
              </a:solidFill>
              <a:latin typeface="Arial" panose="020B0604020202020204" pitchFamily="34" charset="0"/>
              <a:cs typeface="Arial" panose="020B0604020202020204" pitchFamily="34" charset="0"/>
            </a:endParaRPr>
          </a:p>
          <a:p>
            <a:endParaRPr lang="en-US" sz="3200" dirty="0">
              <a:latin typeface="Arial" charset="0"/>
              <a:cs typeface="Arial"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154243"/>
          </a:xfrm>
        </p:spPr>
        <p:txBody>
          <a:bodyPr/>
          <a:lstStyle/>
          <a:p>
            <a:pPr algn="ctr"/>
            <a:r>
              <a:rPr lang="en-US" b="1" dirty="0">
                <a:latin typeface="Arial" panose="020B0604020202020204" pitchFamily="34" charset="0"/>
                <a:cs typeface="Arial" panose="020B0604020202020204" pitchFamily="34" charset="0"/>
              </a:rPr>
              <a:t>Classification of Meningitis</a:t>
            </a:r>
          </a:p>
        </p:txBody>
      </p:sp>
      <p:pic>
        <p:nvPicPr>
          <p:cNvPr id="4" name="Picture 2"/>
          <p:cNvPicPr>
            <a:picLocks noGrp="1" noChangeAspect="1"/>
          </p:cNvPicPr>
          <p:nvPr>
            <p:ph idx="1"/>
          </p:nvPr>
        </p:nvPicPr>
        <p:blipFill>
          <a:blip r:embed="rId2"/>
          <a:stretch>
            <a:fillRect/>
          </a:stretch>
        </p:blipFill>
        <p:spPr>
          <a:xfrm>
            <a:off x="944380" y="783772"/>
            <a:ext cx="10912840" cy="5225142"/>
          </a:xfrm>
          <a:prstGeom prst="rect">
            <a:avLst/>
          </a:prstGeom>
        </p:spPr>
      </p:pic>
      <p:sp>
        <p:nvSpPr>
          <p:cNvPr id="3" name="TextBox 2"/>
          <p:cNvSpPr txBox="1"/>
          <p:nvPr/>
        </p:nvSpPr>
        <p:spPr>
          <a:xfrm>
            <a:off x="574767" y="6217920"/>
            <a:ext cx="10411096" cy="646331"/>
          </a:xfrm>
          <a:prstGeom prst="rect">
            <a:avLst/>
          </a:prstGeom>
          <a:noFill/>
          <a:ln>
            <a:solidFill>
              <a:schemeClr val="accent2">
                <a:lumMod val="75000"/>
              </a:schemeClr>
            </a:solidFill>
          </a:ln>
        </p:spPr>
        <p:txBody>
          <a:bodyPr wrap="square" rtlCol="0">
            <a:spAutoFit/>
          </a:bodyPr>
          <a:lstStyle/>
          <a:p>
            <a:r>
              <a:rPr lang="en-US" dirty="0"/>
              <a:t>WHO guidelines on meningitis diagnosis, treatment and care, </a:t>
            </a:r>
            <a:r>
              <a:rPr lang="en-US" dirty="0" err="1"/>
              <a:t>StatPearls</a:t>
            </a:r>
            <a:r>
              <a:rPr lang="en-US" dirty="0"/>
              <a:t> - NCBI Bookshelf, and Harrison's Principles of Internal Medicine. </a:t>
            </a:r>
            <a:endParaRPr lang="en-US"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Arial" charset="0"/>
                <a:cs typeface="Arial" charset="0"/>
              </a:rPr>
              <a:t> </a:t>
            </a:r>
            <a:r>
              <a:rPr lang="en-GB" b="1" dirty="0">
                <a:latin typeface="+mn-lt"/>
                <a:cs typeface="Arial" charset="0"/>
              </a:rPr>
              <a:t>Bacteria meningitis.</a:t>
            </a:r>
            <a:endParaRPr lang="en-US" b="1" dirty="0">
              <a:latin typeface="+mn-lt"/>
              <a:cs typeface="Arial" charset="0"/>
            </a:endParaRPr>
          </a:p>
        </p:txBody>
      </p:sp>
      <p:sp>
        <p:nvSpPr>
          <p:cNvPr id="3" name="Content Placeholder 2"/>
          <p:cNvSpPr>
            <a:spLocks noGrp="1"/>
          </p:cNvSpPr>
          <p:nvPr>
            <p:ph idx="1"/>
          </p:nvPr>
        </p:nvSpPr>
        <p:spPr>
          <a:xfrm>
            <a:off x="838200" y="1844098"/>
            <a:ext cx="10515600" cy="4351338"/>
          </a:xfrm>
        </p:spPr>
        <p:txBody>
          <a:bodyPr>
            <a:normAutofit/>
          </a:bodyPr>
          <a:lstStyle/>
          <a:p>
            <a:r>
              <a:rPr lang="en-GB" dirty="0">
                <a:latin typeface="Arial" charset="0"/>
                <a:cs typeface="Arial" charset="0"/>
              </a:rPr>
              <a:t>Bacterial meningitis may occur through haematogenous spread or direct spread from an adjacent focus of infection in the ear</a:t>
            </a:r>
            <a:r>
              <a:rPr lang="en-GB" b="1" dirty="0">
                <a:latin typeface="Arial" charset="0"/>
                <a:cs typeface="Arial" charset="0"/>
              </a:rPr>
              <a:t>(otitis), </a:t>
            </a:r>
            <a:r>
              <a:rPr lang="en-GB" dirty="0">
                <a:latin typeface="Arial" charset="0"/>
                <a:cs typeface="Arial" charset="0"/>
              </a:rPr>
              <a:t>skull fracture or sinus</a:t>
            </a:r>
            <a:r>
              <a:rPr lang="en-GB" b="1" dirty="0">
                <a:latin typeface="Arial" charset="0"/>
                <a:cs typeface="Arial" charset="0"/>
              </a:rPr>
              <a:t>(sinusitis) </a:t>
            </a:r>
            <a:r>
              <a:rPr lang="en-GB" dirty="0">
                <a:latin typeface="Arial" charset="0"/>
                <a:cs typeface="Arial" charset="0"/>
              </a:rPr>
              <a:t>can be causative.</a:t>
            </a:r>
          </a:p>
          <a:p>
            <a:endParaRPr lang="en-GB" dirty="0">
              <a:latin typeface="Arial" charset="0"/>
              <a:cs typeface="Arial" charset="0"/>
            </a:endParaRPr>
          </a:p>
          <a:p>
            <a:r>
              <a:rPr lang="en-GB" b="1" dirty="0">
                <a:latin typeface="Arial" charset="0"/>
                <a:cs typeface="Arial" charset="0"/>
              </a:rPr>
              <a:t>Epidemics</a:t>
            </a:r>
            <a:r>
              <a:rPr lang="en-GB" dirty="0">
                <a:latin typeface="Arial" charset="0"/>
                <a:cs typeface="Arial" charset="0"/>
              </a:rPr>
              <a:t> of </a:t>
            </a:r>
            <a:r>
              <a:rPr lang="en-GB" b="1" dirty="0">
                <a:latin typeface="Arial" charset="0"/>
                <a:cs typeface="Arial" charset="0"/>
              </a:rPr>
              <a:t>meningococcal meningitis </a:t>
            </a:r>
            <a:r>
              <a:rPr lang="en-GB" dirty="0">
                <a:latin typeface="Arial" charset="0"/>
                <a:cs typeface="Arial" charset="0"/>
              </a:rPr>
              <a:t>occur particularly in </a:t>
            </a:r>
            <a:r>
              <a:rPr lang="en-GB" b="1" dirty="0">
                <a:latin typeface="Arial" charset="0"/>
                <a:cs typeface="Arial" charset="0"/>
              </a:rPr>
              <a:t>cramped</a:t>
            </a:r>
            <a:r>
              <a:rPr lang="en-GB" dirty="0">
                <a:latin typeface="Arial" charset="0"/>
                <a:cs typeface="Arial" charset="0"/>
              </a:rPr>
              <a:t> living conditions or where the climate is hot and dry</a:t>
            </a:r>
            <a:endParaRPr lang="en-US" dirty="0">
              <a:latin typeface="Arial" charset="0"/>
              <a:cs typeface="Arial"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2"/>
          <p:cNvPicPr>
            <a:picLocks noGrp="1" noChangeAspect="1"/>
          </p:cNvPicPr>
          <p:nvPr>
            <p:ph idx="1"/>
          </p:nvPr>
        </p:nvPicPr>
        <p:blipFill>
          <a:blip r:embed="rId2"/>
          <a:stretch>
            <a:fillRect/>
          </a:stretch>
        </p:blipFill>
        <p:spPr>
          <a:xfrm>
            <a:off x="224852" y="104930"/>
            <a:ext cx="11767279" cy="6640643"/>
          </a:xfrm>
          <a:prstGeom prst="rect">
            <a:avLst/>
          </a:prstGeom>
        </p:spPr>
      </p:pic>
    </p:spTree>
    <p:extLst>
      <p:ext uri="{BB962C8B-B14F-4D97-AF65-F5344CB8AC3E}">
        <p14:creationId xmlns:p14="http://schemas.microsoft.com/office/powerpoint/2010/main" val="211293552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26218"/>
          </a:xfrm>
        </p:spPr>
        <p:txBody>
          <a:bodyPr/>
          <a:lstStyle/>
          <a:p>
            <a:pPr algn="ctr"/>
            <a:r>
              <a:rPr lang="en-GB" b="1" dirty="0">
                <a:latin typeface="Arial" panose="020B0604020202020204" pitchFamily="34" charset="0"/>
                <a:cs typeface="Arial" panose="020B0604020202020204" pitchFamily="34" charset="0"/>
              </a:rPr>
              <a:t>Clinical presentation</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415143"/>
            <a:ext cx="10515600" cy="5334000"/>
          </a:xfrm>
        </p:spPr>
        <p:txBody>
          <a:bodyPr>
            <a:noAutofit/>
          </a:bodyPr>
          <a:lstStyle/>
          <a:p>
            <a:r>
              <a:rPr lang="en-GB" sz="3200" dirty="0">
                <a:latin typeface="Arial" panose="020B0604020202020204" pitchFamily="34" charset="0"/>
                <a:cs typeface="Arial" panose="020B0604020202020204" pitchFamily="34" charset="0"/>
              </a:rPr>
              <a:t>Classic clinical triad of meningitis is </a:t>
            </a:r>
            <a:r>
              <a:rPr lang="en-GB" sz="3200" b="1" dirty="0">
                <a:latin typeface="Arial" panose="020B0604020202020204" pitchFamily="34" charset="0"/>
                <a:cs typeface="Arial" panose="020B0604020202020204" pitchFamily="34" charset="0"/>
              </a:rPr>
              <a:t>fever, altered mental status, </a:t>
            </a:r>
            <a:r>
              <a:rPr lang="en-GB" sz="3200" dirty="0">
                <a:latin typeface="Arial" panose="020B0604020202020204" pitchFamily="34" charset="0"/>
                <a:cs typeface="Arial" panose="020B0604020202020204" pitchFamily="34" charset="0"/>
              </a:rPr>
              <a:t>and</a:t>
            </a:r>
            <a:r>
              <a:rPr lang="en-GB" sz="3200" b="1" dirty="0">
                <a:latin typeface="Arial" panose="020B0604020202020204" pitchFamily="34" charset="0"/>
                <a:cs typeface="Arial" panose="020B0604020202020204" pitchFamily="34" charset="0"/>
              </a:rPr>
              <a:t> nuchal rigidity (“stiff neck”) </a:t>
            </a:r>
            <a:r>
              <a:rPr lang="en-GB" sz="3200" dirty="0">
                <a:latin typeface="Arial" panose="020B0604020202020204" pitchFamily="34" charset="0"/>
                <a:cs typeface="Arial" panose="020B0604020202020204" pitchFamily="34" charset="0"/>
              </a:rPr>
              <a:t>seen in about 44% of </a:t>
            </a:r>
            <a:r>
              <a:rPr lang="en-GB" sz="3200" dirty="0" smtClean="0">
                <a:latin typeface="Arial" panose="020B0604020202020204" pitchFamily="34" charset="0"/>
                <a:cs typeface="Arial" panose="020B0604020202020204" pitchFamily="34" charset="0"/>
              </a:rPr>
              <a:t>patients. </a:t>
            </a:r>
            <a:endParaRPr lang="en-GB" sz="3200" dirty="0">
              <a:solidFill>
                <a:srgbClr val="FF0000"/>
              </a:solidFill>
              <a:latin typeface="Arial" panose="020B0604020202020204" pitchFamily="34" charset="0"/>
              <a:cs typeface="Arial" panose="020B0604020202020204" pitchFamily="34" charset="0"/>
            </a:endParaRPr>
          </a:p>
          <a:p>
            <a:r>
              <a:rPr lang="en-GB" sz="3200" dirty="0">
                <a:latin typeface="Arial" panose="020B0604020202020204" pitchFamily="34" charset="0"/>
                <a:cs typeface="Arial" panose="020B0604020202020204" pitchFamily="34" charset="0"/>
              </a:rPr>
              <a:t>Other common features include;</a:t>
            </a:r>
          </a:p>
          <a:p>
            <a:pPr lvl="2">
              <a:buFont typeface="Wingdings" charset="2"/>
              <a:buChar char="ü"/>
            </a:pPr>
            <a:r>
              <a:rPr lang="en-GB" sz="3200" dirty="0">
                <a:latin typeface="Arial" panose="020B0604020202020204" pitchFamily="34" charset="0"/>
                <a:cs typeface="Arial" panose="020B0604020202020204" pitchFamily="34" charset="0"/>
              </a:rPr>
              <a:t>Convulsions.</a:t>
            </a:r>
          </a:p>
          <a:p>
            <a:pPr lvl="2">
              <a:buFont typeface="Wingdings" charset="2"/>
              <a:buChar char="ü"/>
            </a:pPr>
            <a:r>
              <a:rPr lang="en-GB" sz="3200" dirty="0">
                <a:latin typeface="Arial" panose="020B0604020202020204" pitchFamily="34" charset="0"/>
                <a:cs typeface="Arial" panose="020B0604020202020204" pitchFamily="34" charset="0"/>
              </a:rPr>
              <a:t>Headache</a:t>
            </a:r>
          </a:p>
          <a:p>
            <a:pPr lvl="2">
              <a:buFont typeface="Wingdings" charset="2"/>
              <a:buChar char="ü"/>
            </a:pPr>
            <a:r>
              <a:rPr lang="en-GB" sz="3200" dirty="0">
                <a:latin typeface="Arial" panose="020B0604020202020204" pitchFamily="34" charset="0"/>
                <a:cs typeface="Arial" panose="020B0604020202020204" pitchFamily="34" charset="0"/>
              </a:rPr>
              <a:t>Nausea and vomiting.</a:t>
            </a:r>
          </a:p>
          <a:p>
            <a:pPr lvl="2">
              <a:buFont typeface="Wingdings" charset="2"/>
              <a:buChar char="ü"/>
            </a:pPr>
            <a:r>
              <a:rPr lang="en-GB" sz="3200" dirty="0">
                <a:latin typeface="Arial" panose="020B0604020202020204" pitchFamily="34" charset="0"/>
                <a:cs typeface="Arial" panose="020B0604020202020204" pitchFamily="34" charset="0"/>
              </a:rPr>
              <a:t>Photophobia.</a:t>
            </a:r>
          </a:p>
          <a:p>
            <a:pPr lvl="2">
              <a:buFont typeface="Wingdings" charset="2"/>
              <a:buChar char="ü"/>
            </a:pPr>
            <a:r>
              <a:rPr lang="en-GB" sz="3200" dirty="0">
                <a:latin typeface="Arial" panose="020B0604020202020204" pitchFamily="34" charset="0"/>
                <a:cs typeface="Arial" panose="020B0604020202020204" pitchFamily="34" charset="0"/>
              </a:rPr>
              <a:t>Rashes.</a:t>
            </a:r>
            <a:endParaRPr lang="en-US" sz="320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2"/>
          <p:cNvPicPr>
            <a:picLocks noGrp="1" noChangeAspect="1"/>
          </p:cNvPicPr>
          <p:nvPr>
            <p:ph idx="1"/>
          </p:nvPr>
        </p:nvPicPr>
        <p:blipFill>
          <a:blip r:embed="rId2"/>
          <a:stretch>
            <a:fillRect/>
          </a:stretch>
        </p:blipFill>
        <p:spPr>
          <a:xfrm>
            <a:off x="0" y="104930"/>
            <a:ext cx="12082072" cy="6753069"/>
          </a:xfrm>
          <a:prstGeom prst="rect">
            <a:avLst/>
          </a:prstGeom>
        </p:spPr>
      </p:pic>
    </p:spTree>
    <p:extLst>
      <p:ext uri="{BB962C8B-B14F-4D97-AF65-F5344CB8AC3E}">
        <p14:creationId xmlns:p14="http://schemas.microsoft.com/office/powerpoint/2010/main" val="326795535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5" name="Picture 4" descr="Pipette putting a sample on the tray"/>
          <p:cNvPicPr>
            <a:picLocks noChangeAspect="1"/>
          </p:cNvPicPr>
          <p:nvPr/>
        </p:nvPicPr>
        <p:blipFill rotWithShape="1">
          <a:blip r:embed="rId2"/>
          <a:srcRect l="5884" r="-1" b="-1"/>
          <a:stretch>
            <a:fillRect/>
          </a:stretch>
        </p:blipFill>
        <p:spPr>
          <a:xfrm>
            <a:off x="2522356" y="10"/>
            <a:ext cx="9669642" cy="6857990"/>
          </a:xfrm>
          <a:prstGeom prst="rect">
            <a:avLst/>
          </a:prstGeom>
        </p:spPr>
      </p:pic>
      <p:sp>
        <p:nvSpPr>
          <p:cNvPr id="11" name="Rectangle 10"/>
          <p:cNvSpPr/>
          <p:nvPr/>
        </p:nvSpPr>
        <p:spPr>
          <a:xfrm>
            <a:off x="0"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 name="Title 1"/>
          <p:cNvSpPr>
            <a:spLocks noGrp="1"/>
          </p:cNvSpPr>
          <p:nvPr>
            <p:ph type="title"/>
          </p:nvPr>
        </p:nvSpPr>
        <p:spPr>
          <a:xfrm>
            <a:off x="838200" y="365125"/>
            <a:ext cx="3822189" cy="1899912"/>
          </a:xfrm>
        </p:spPr>
        <p:txBody>
          <a:bodyPr>
            <a:normAutofit/>
          </a:bodyPr>
          <a:lstStyle/>
          <a:p>
            <a:r>
              <a:rPr lang="en-GB" b="1" dirty="0">
                <a:latin typeface="+mn-lt"/>
                <a:cs typeface="Arial" panose="020B0604020202020204" pitchFamily="34" charset="0"/>
              </a:rPr>
              <a:t>Investigations.</a:t>
            </a:r>
            <a:endParaRPr lang="en-US" b="1" dirty="0">
              <a:latin typeface="+mn-lt"/>
              <a:cs typeface="Arial" panose="020B0604020202020204" pitchFamily="34" charset="0"/>
            </a:endParaRPr>
          </a:p>
        </p:txBody>
      </p:sp>
      <p:sp>
        <p:nvSpPr>
          <p:cNvPr id="3" name="Content Placeholder 2"/>
          <p:cNvSpPr>
            <a:spLocks noGrp="1"/>
          </p:cNvSpPr>
          <p:nvPr>
            <p:ph idx="1"/>
          </p:nvPr>
        </p:nvSpPr>
        <p:spPr>
          <a:xfrm>
            <a:off x="295564" y="1874982"/>
            <a:ext cx="5200072" cy="4895273"/>
          </a:xfrm>
        </p:spPr>
        <p:txBody>
          <a:bodyPr>
            <a:noAutofit/>
          </a:bodyPr>
          <a:lstStyle/>
          <a:p>
            <a:endParaRPr lang="en-GB" dirty="0">
              <a:cs typeface="Arial" charset="0"/>
            </a:endParaRPr>
          </a:p>
          <a:p>
            <a:r>
              <a:rPr lang="en-GB" dirty="0">
                <a:latin typeface="Arial" panose="020B0604020202020204" pitchFamily="34" charset="0"/>
                <a:cs typeface="Arial" panose="020B0604020202020204" pitchFamily="34" charset="0"/>
              </a:rPr>
              <a:t>Lab evaluation, </a:t>
            </a:r>
          </a:p>
          <a:p>
            <a:pPr lvl="1">
              <a:buFont typeface="Wingdings" charset="2"/>
              <a:buChar char="ü"/>
            </a:pPr>
            <a:r>
              <a:rPr lang="en-GB" sz="2800" b="1" dirty="0">
                <a:latin typeface="Arial" panose="020B0604020202020204" pitchFamily="34" charset="0"/>
                <a:cs typeface="Arial" panose="020B0604020202020204" pitchFamily="34" charset="0"/>
              </a:rPr>
              <a:t>Lumber puncture for CSF analysis</a:t>
            </a:r>
          </a:p>
          <a:p>
            <a:pPr lvl="1">
              <a:buFont typeface="Wingdings" charset="2"/>
              <a:buChar char="ü"/>
            </a:pPr>
            <a:r>
              <a:rPr lang="en-GB" sz="2800" dirty="0">
                <a:latin typeface="Arial" panose="020B0604020202020204" pitchFamily="34" charset="0"/>
                <a:cs typeface="Arial" panose="020B0604020202020204" pitchFamily="34" charset="0"/>
              </a:rPr>
              <a:t>CBC</a:t>
            </a:r>
          </a:p>
          <a:p>
            <a:pPr lvl="1">
              <a:buFont typeface="Wingdings" charset="2"/>
              <a:buChar char="ü"/>
            </a:pPr>
            <a:r>
              <a:rPr lang="en-GB" sz="2800" dirty="0">
                <a:latin typeface="Arial" panose="020B0604020202020204" pitchFamily="34" charset="0"/>
                <a:cs typeface="Arial" panose="020B0604020202020204" pitchFamily="34" charset="0"/>
              </a:rPr>
              <a:t>Blood culture</a:t>
            </a:r>
          </a:p>
          <a:p>
            <a:pPr lvl="1">
              <a:buFont typeface="Wingdings" charset="2"/>
              <a:buChar char="ü"/>
            </a:pPr>
            <a:r>
              <a:rPr lang="en-GB" sz="2800" dirty="0">
                <a:latin typeface="Arial" panose="020B0604020202020204" pitchFamily="34" charset="0"/>
                <a:cs typeface="Arial" panose="020B0604020202020204" pitchFamily="34" charset="0"/>
              </a:rPr>
              <a:t>Serum electrolytes</a:t>
            </a:r>
          </a:p>
          <a:p>
            <a:pPr lvl="1">
              <a:buFont typeface="Wingdings" charset="2"/>
              <a:buChar char="ü"/>
            </a:pPr>
            <a:r>
              <a:rPr lang="en-GB" sz="2800" dirty="0">
                <a:latin typeface="Arial" panose="020B0604020202020204" pitchFamily="34" charset="0"/>
                <a:cs typeface="Arial" panose="020B0604020202020204" pitchFamily="34" charset="0"/>
              </a:rPr>
              <a:t>RBG</a:t>
            </a:r>
          </a:p>
          <a:p>
            <a:pPr lvl="1">
              <a:buFont typeface="Wingdings" charset="2"/>
              <a:buChar char="ü"/>
            </a:pPr>
            <a:r>
              <a:rPr lang="en-GB" sz="2800" dirty="0">
                <a:latin typeface="Arial" panose="020B0604020202020204" pitchFamily="34" charset="0"/>
                <a:cs typeface="Arial" panose="020B0604020202020204" pitchFamily="34" charset="0"/>
              </a:rPr>
              <a:t>RFT</a:t>
            </a:r>
            <a:endParaRPr lang="en-US" sz="280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b="1" dirty="0">
                <a:latin typeface="Arial" panose="020B0604020202020204" pitchFamily="34" charset="0"/>
                <a:cs typeface="Arial" panose="020B0604020202020204" pitchFamily="34" charset="0"/>
              </a:rPr>
              <a:t>Lumber puncture</a:t>
            </a:r>
          </a:p>
        </p:txBody>
      </p:sp>
      <p:sp>
        <p:nvSpPr>
          <p:cNvPr id="3" name="Content Placeholder 2"/>
          <p:cNvSpPr>
            <a:spLocks noGrp="1"/>
          </p:cNvSpPr>
          <p:nvPr>
            <p:ph idx="1"/>
          </p:nvPr>
        </p:nvSpPr>
        <p:spPr/>
        <p:txBody>
          <a:bodyPr>
            <a:normAutofit lnSpcReduction="10000"/>
          </a:bodyPr>
          <a:lstStyle/>
          <a:p>
            <a:pPr marL="0" indent="0">
              <a:buNone/>
            </a:pPr>
            <a:r>
              <a:rPr lang="en-US" b="1" dirty="0">
                <a:cs typeface="Arial" panose="020B0604020202020204" pitchFamily="34" charset="0"/>
              </a:rPr>
              <a:t>Indications for urgent diagnostic LP</a:t>
            </a:r>
          </a:p>
          <a:p>
            <a:r>
              <a:rPr lang="en-US" dirty="0">
                <a:cs typeface="Arial" panose="020B0604020202020204" pitchFamily="34" charset="0"/>
              </a:rPr>
              <a:t>Suspected infectious meningitis</a:t>
            </a:r>
          </a:p>
          <a:p>
            <a:r>
              <a:rPr lang="en-US" dirty="0">
                <a:cs typeface="Arial" panose="020B0604020202020204" pitchFamily="34" charset="0"/>
              </a:rPr>
              <a:t>Suspected subarachnoid hemorrhage with </a:t>
            </a:r>
            <a:r>
              <a:rPr lang="en-US" dirty="0" err="1">
                <a:cs typeface="Arial" panose="020B0604020202020204" pitchFamily="34" charset="0"/>
              </a:rPr>
              <a:t>neg</a:t>
            </a:r>
            <a:r>
              <a:rPr lang="en-US" dirty="0">
                <a:cs typeface="Arial" panose="020B0604020202020204" pitchFamily="34" charset="0"/>
              </a:rPr>
              <a:t> CT </a:t>
            </a:r>
            <a:r>
              <a:rPr lang="en-US" dirty="0" smtClean="0">
                <a:cs typeface="Arial" panose="020B0604020202020204" pitchFamily="34" charset="0"/>
              </a:rPr>
              <a:t>scan.</a:t>
            </a:r>
          </a:p>
          <a:p>
            <a:endParaRPr lang="en-US" dirty="0">
              <a:cs typeface="Arial" panose="020B0604020202020204" pitchFamily="34" charset="0"/>
            </a:endParaRPr>
          </a:p>
          <a:p>
            <a:pPr marL="0" indent="0">
              <a:buNone/>
            </a:pPr>
            <a:r>
              <a:rPr lang="en-US" b="1" dirty="0">
                <a:cs typeface="Arial" panose="020B0604020202020204" pitchFamily="34" charset="0"/>
              </a:rPr>
              <a:t>Caution should be used in patients with</a:t>
            </a:r>
            <a:r>
              <a:rPr lang="en-US" dirty="0">
                <a:cs typeface="Arial" panose="020B0604020202020204" pitchFamily="34" charset="0"/>
              </a:rPr>
              <a:t>: </a:t>
            </a:r>
          </a:p>
          <a:p>
            <a:r>
              <a:rPr lang="en-US" dirty="0">
                <a:cs typeface="Arial" panose="020B0604020202020204" pitchFamily="34" charset="0"/>
              </a:rPr>
              <a:t>possible raised intracranial pressure.</a:t>
            </a:r>
          </a:p>
          <a:p>
            <a:r>
              <a:rPr lang="en-US" dirty="0">
                <a:cs typeface="Arial" panose="020B0604020202020204" pitchFamily="34" charset="0"/>
              </a:rPr>
              <a:t>suspected spinal epidural abscess or skin/soft tissue infection overlying the LP site</a:t>
            </a:r>
          </a:p>
          <a:p>
            <a:r>
              <a:rPr lang="en-US" dirty="0">
                <a:cs typeface="Arial" panose="020B0604020202020204" pitchFamily="34" charset="0"/>
              </a:rPr>
              <a:t>T</a:t>
            </a:r>
            <a:r>
              <a:rPr lang="en-US" dirty="0" smtClean="0">
                <a:cs typeface="Arial" panose="020B0604020202020204" pitchFamily="34" charset="0"/>
              </a:rPr>
              <a:t>hrombocytopenia </a:t>
            </a:r>
            <a:r>
              <a:rPr lang="en-US" dirty="0">
                <a:cs typeface="Arial" panose="020B0604020202020204" pitchFamily="34" charset="0"/>
              </a:rPr>
              <a:t>or other bleeding </a:t>
            </a:r>
            <a:r>
              <a:rPr lang="en-US" dirty="0" smtClean="0">
                <a:cs typeface="Arial" panose="020B0604020202020204" pitchFamily="34" charset="0"/>
              </a:rPr>
              <a:t>diathesis.</a:t>
            </a:r>
            <a:endParaRPr lang="en-GB" dirty="0">
              <a:cs typeface="Arial" panose="020B0604020202020204" pitchFamily="34" charset="0"/>
            </a:endParaRPr>
          </a:p>
        </p:txBody>
      </p:sp>
    </p:spTree>
    <p:extLst>
      <p:ext uri="{BB962C8B-B14F-4D97-AF65-F5344CB8AC3E}">
        <p14:creationId xmlns:p14="http://schemas.microsoft.com/office/powerpoint/2010/main" val="159875755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Picture 2"/>
          <p:cNvPicPr>
            <a:picLocks noGrp="1" noChangeAspect="1"/>
          </p:cNvPicPr>
          <p:nvPr>
            <p:ph idx="1"/>
          </p:nvPr>
        </p:nvPicPr>
        <p:blipFill>
          <a:blip r:embed="rId2"/>
          <a:stretch>
            <a:fillRect/>
          </a:stretch>
        </p:blipFill>
        <p:spPr>
          <a:xfrm>
            <a:off x="239843" y="134910"/>
            <a:ext cx="11527436" cy="5965443"/>
          </a:xfrm>
          <a:prstGeom prst="rect">
            <a:avLst/>
          </a:prstGeom>
        </p:spPr>
      </p:pic>
    </p:spTree>
    <p:extLst>
      <p:ext uri="{BB962C8B-B14F-4D97-AF65-F5344CB8AC3E}">
        <p14:creationId xmlns:p14="http://schemas.microsoft.com/office/powerpoint/2010/main" val="326303797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434340" y="91439"/>
            <a:ext cx="11201400" cy="5617029"/>
          </a:xfrm>
        </p:spPr>
      </p:pic>
      <p:sp>
        <p:nvSpPr>
          <p:cNvPr id="2" name="TextBox 1"/>
          <p:cNvSpPr txBox="1"/>
          <p:nvPr/>
        </p:nvSpPr>
        <p:spPr>
          <a:xfrm>
            <a:off x="2246811" y="5904411"/>
            <a:ext cx="5081452" cy="369332"/>
          </a:xfrm>
          <a:prstGeom prst="rect">
            <a:avLst/>
          </a:prstGeom>
          <a:noFill/>
          <a:ln>
            <a:solidFill>
              <a:schemeClr val="accent2">
                <a:lumMod val="75000"/>
              </a:schemeClr>
            </a:solidFill>
          </a:ln>
        </p:spPr>
        <p:txBody>
          <a:bodyPr wrap="square" rtlCol="0">
            <a:spAutoFit/>
          </a:bodyPr>
          <a:lstStyle/>
          <a:p>
            <a:pPr lvl="0"/>
            <a:r>
              <a:rPr lang="en-US" dirty="0">
                <a:solidFill>
                  <a:prstClr val="black"/>
                </a:solidFill>
              </a:rPr>
              <a:t>Harrison's Principles of Internal </a:t>
            </a:r>
            <a:r>
              <a:rPr lang="en-US" dirty="0" smtClean="0">
                <a:solidFill>
                  <a:prstClr val="black"/>
                </a:solidFill>
              </a:rPr>
              <a:t>Medicine 21 ed. </a:t>
            </a:r>
            <a:endParaRPr lang="en-US" dirty="0">
              <a:solidFill>
                <a:prstClr val="black"/>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0716" y="266802"/>
            <a:ext cx="10515600" cy="1325563"/>
          </a:xfrm>
        </p:spPr>
        <p:txBody>
          <a:bodyPr/>
          <a:lstStyle/>
          <a:p>
            <a:pPr algn="ctr"/>
            <a:r>
              <a:rPr lang="en-GB" b="1" dirty="0">
                <a:latin typeface="Arial" panose="020B0604020202020204" pitchFamily="34" charset="0"/>
                <a:cs typeface="Arial" panose="020B0604020202020204" pitchFamily="34" charset="0"/>
              </a:rPr>
              <a:t>Management</a:t>
            </a:r>
            <a:endParaRPr lang="en-US" b="1" dirty="0">
              <a:solidFill>
                <a:srgbClr val="FF00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r>
              <a:rPr lang="en-GB" sz="3200" b="0" i="0" dirty="0">
                <a:solidFill>
                  <a:srgbClr val="333333"/>
                </a:solidFill>
                <a:effectLst/>
                <a:latin typeface="Arial" panose="020B0604020202020204" pitchFamily="34" charset="0"/>
                <a:cs typeface="Arial" panose="020B0604020202020204" pitchFamily="34" charset="0"/>
              </a:rPr>
              <a:t>The choice of antibiotics is a three stage process: </a:t>
            </a:r>
          </a:p>
          <a:p>
            <a:pPr lvl="2">
              <a:buFont typeface="Wingdings" charset="2"/>
              <a:buChar char="ü"/>
            </a:pPr>
            <a:r>
              <a:rPr lang="en-GB" sz="3200" dirty="0">
                <a:solidFill>
                  <a:srgbClr val="333333"/>
                </a:solidFill>
                <a:latin typeface="Arial" panose="020B0604020202020204" pitchFamily="34" charset="0"/>
                <a:cs typeface="Arial" panose="020B0604020202020204" pitchFamily="34" charset="0"/>
              </a:rPr>
              <a:t>A</a:t>
            </a:r>
            <a:r>
              <a:rPr lang="en-GB" sz="3200" b="0" i="0" dirty="0">
                <a:solidFill>
                  <a:srgbClr val="333333"/>
                </a:solidFill>
                <a:effectLst/>
                <a:latin typeface="Arial" panose="020B0604020202020204" pitchFamily="34" charset="0"/>
                <a:cs typeface="Arial" panose="020B0604020202020204" pitchFamily="34" charset="0"/>
              </a:rPr>
              <a:t>n initial empirical decision based on clinical suspicion, </a:t>
            </a:r>
          </a:p>
          <a:p>
            <a:pPr lvl="2">
              <a:buFont typeface="Wingdings" charset="2"/>
              <a:buChar char="ü"/>
            </a:pPr>
            <a:r>
              <a:rPr lang="en-GB" sz="3200" b="0" i="0" dirty="0">
                <a:solidFill>
                  <a:srgbClr val="333333"/>
                </a:solidFill>
                <a:effectLst/>
                <a:latin typeface="Arial" panose="020B0604020202020204" pitchFamily="34" charset="0"/>
                <a:cs typeface="Arial" panose="020B0604020202020204" pitchFamily="34" charset="0"/>
              </a:rPr>
              <a:t>Review following microscopy results, and </a:t>
            </a:r>
          </a:p>
          <a:p>
            <a:pPr lvl="2">
              <a:buFont typeface="Wingdings" charset="2"/>
              <a:buChar char="ü"/>
            </a:pPr>
            <a:r>
              <a:rPr lang="en-GB" sz="3200" dirty="0">
                <a:solidFill>
                  <a:srgbClr val="333333"/>
                </a:solidFill>
                <a:latin typeface="Arial" panose="020B0604020202020204" pitchFamily="34" charset="0"/>
                <a:cs typeface="Arial" panose="020B0604020202020204" pitchFamily="34" charset="0"/>
              </a:rPr>
              <a:t>R</a:t>
            </a:r>
            <a:r>
              <a:rPr lang="en-GB" sz="3200" b="0" i="0" dirty="0">
                <a:solidFill>
                  <a:srgbClr val="333333"/>
                </a:solidFill>
                <a:effectLst/>
                <a:latin typeface="Arial" panose="020B0604020202020204" pitchFamily="34" charset="0"/>
                <a:cs typeface="Arial" panose="020B0604020202020204" pitchFamily="34" charset="0"/>
              </a:rPr>
              <a:t>eview again when culture or PCR results are </a:t>
            </a:r>
            <a:r>
              <a:rPr lang="en-GB" sz="3200" b="0" i="0" dirty="0" smtClean="0">
                <a:solidFill>
                  <a:srgbClr val="333333"/>
                </a:solidFill>
                <a:effectLst/>
                <a:latin typeface="Arial" panose="020B0604020202020204" pitchFamily="34" charset="0"/>
                <a:cs typeface="Arial" panose="020B0604020202020204" pitchFamily="34" charset="0"/>
              </a:rPr>
              <a:t>available.</a:t>
            </a:r>
            <a:endParaRPr lang="en-GB" sz="3200" b="0" i="0" dirty="0">
              <a:solidFill>
                <a:srgbClr val="333333"/>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711089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Arial" panose="020B0604020202020204" pitchFamily="34" charset="0"/>
                <a:cs typeface="Arial" panose="020B0604020202020204" pitchFamily="34" charset="0"/>
              </a:rPr>
              <a:t>Management of Meningitis - STG</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394460"/>
            <a:ext cx="10515600" cy="4782503"/>
          </a:xfrm>
        </p:spPr>
        <p:txBody>
          <a:bodyPr>
            <a:normAutofit/>
          </a:bodyPr>
          <a:lstStyle/>
          <a:p>
            <a:pPr marL="0" indent="0">
              <a:buNone/>
            </a:pPr>
            <a:endParaRPr lang="en-GB" b="1" dirty="0">
              <a:cs typeface="Arial" charset="0"/>
            </a:endParaRPr>
          </a:p>
          <a:p>
            <a:r>
              <a:rPr lang="en-GB" b="1" dirty="0">
                <a:cs typeface="Arial" charset="0"/>
              </a:rPr>
              <a:t>I.</a:t>
            </a:r>
            <a:r>
              <a:rPr lang="en-GB" dirty="0">
                <a:solidFill>
                  <a:srgbClr val="FF0000"/>
                </a:solidFill>
                <a:cs typeface="Arial" charset="0"/>
              </a:rPr>
              <a:t> </a:t>
            </a:r>
            <a:r>
              <a:rPr lang="en-GB" dirty="0">
                <a:latin typeface="Arial" panose="020B0604020202020204" pitchFamily="34" charset="0"/>
                <a:cs typeface="Arial" panose="020B0604020202020204" pitchFamily="34" charset="0"/>
              </a:rPr>
              <a:t>Empirical treatment  </a:t>
            </a:r>
          </a:p>
          <a:p>
            <a:pPr marL="457200" lvl="2" indent="-457200">
              <a:spcBef>
                <a:spcPts val="1000"/>
              </a:spcBef>
              <a:buFont typeface="Wingdings" pitchFamily="2" charset="2"/>
              <a:buChar char="ü"/>
            </a:pPr>
            <a:r>
              <a:rPr lang="en-GB" sz="2800" dirty="0">
                <a:latin typeface="Arial" panose="020B0604020202020204" pitchFamily="34" charset="0"/>
                <a:cs typeface="Arial" panose="020B0604020202020204" pitchFamily="34" charset="0"/>
              </a:rPr>
              <a:t>C</a:t>
            </a:r>
            <a:r>
              <a:rPr lang="en-GB" sz="2800" dirty="0" smtClean="0">
                <a:latin typeface="Arial" panose="020B0604020202020204" pitchFamily="34" charset="0"/>
                <a:cs typeface="Arial" panose="020B0604020202020204" pitchFamily="34" charset="0"/>
              </a:rPr>
              <a:t>eftriaxone </a:t>
            </a:r>
            <a:r>
              <a:rPr lang="en-GB" sz="2800" dirty="0">
                <a:latin typeface="Arial" panose="020B0604020202020204" pitchFamily="34" charset="0"/>
                <a:cs typeface="Arial" panose="020B0604020202020204" pitchFamily="34" charset="0"/>
              </a:rPr>
              <a:t>2g IV </a:t>
            </a:r>
            <a:r>
              <a:rPr lang="en-GB" sz="2800" dirty="0" smtClean="0">
                <a:latin typeface="Arial" panose="020B0604020202020204" pitchFamily="34" charset="0"/>
                <a:cs typeface="Arial" panose="020B0604020202020204" pitchFamily="34" charset="0"/>
              </a:rPr>
              <a:t>12hourly </a:t>
            </a:r>
            <a:r>
              <a:rPr lang="en-GB" sz="2800" dirty="0">
                <a:latin typeface="Arial" panose="020B0604020202020204" pitchFamily="34" charset="0"/>
                <a:cs typeface="Arial" panose="020B0604020202020204" pitchFamily="34" charset="0"/>
              </a:rPr>
              <a:t>for 10–14days</a:t>
            </a:r>
            <a:r>
              <a:rPr lang="en-GB" sz="2800" dirty="0" smtClean="0">
                <a:latin typeface="Arial" panose="020B0604020202020204" pitchFamily="34" charset="0"/>
                <a:cs typeface="Arial" panose="020B0604020202020204" pitchFamily="34" charset="0"/>
              </a:rPr>
              <a:t> </a:t>
            </a:r>
            <a:r>
              <a:rPr lang="en-GB" sz="2800" b="1" dirty="0" smtClean="0">
                <a:latin typeface="Arial" panose="020B0604020202020204" pitchFamily="34" charset="0"/>
                <a:cs typeface="Arial" panose="020B0604020202020204" pitchFamily="34" charset="0"/>
              </a:rPr>
              <a:t>OR</a:t>
            </a:r>
            <a:endParaRPr lang="en-GB" sz="2800" b="1" dirty="0">
              <a:latin typeface="Arial" panose="020B0604020202020204" pitchFamily="34" charset="0"/>
              <a:cs typeface="Arial" panose="020B0604020202020204" pitchFamily="34" charset="0"/>
            </a:endParaRPr>
          </a:p>
          <a:p>
            <a:r>
              <a:rPr lang="en-GB" dirty="0" smtClean="0">
                <a:latin typeface="Arial" panose="020B0604020202020204" pitchFamily="34" charset="0"/>
                <a:cs typeface="Arial" panose="020B0604020202020204" pitchFamily="34" charset="0"/>
              </a:rPr>
              <a:t>Alternatively </a:t>
            </a:r>
            <a:r>
              <a:rPr lang="en-GB" dirty="0">
                <a:latin typeface="Arial" panose="020B0604020202020204" pitchFamily="34" charset="0"/>
                <a:cs typeface="Arial" panose="020B0604020202020204" pitchFamily="34" charset="0"/>
              </a:rPr>
              <a:t>: </a:t>
            </a:r>
          </a:p>
          <a:p>
            <a:pPr lvl="2">
              <a:buFont typeface="Wingdings" charset="2"/>
              <a:buChar char="ü"/>
            </a:pPr>
            <a:r>
              <a:rPr lang="en-GB" sz="2800" dirty="0" smtClean="0">
                <a:latin typeface="Arial" panose="020B0604020202020204" pitchFamily="34" charset="0"/>
                <a:cs typeface="Arial" panose="020B0604020202020204" pitchFamily="34" charset="0"/>
              </a:rPr>
              <a:t>:</a:t>
            </a:r>
            <a:r>
              <a:rPr lang="en-GB" sz="2800" dirty="0">
                <a:latin typeface="Arial" panose="020B0604020202020204" pitchFamily="34" charset="0"/>
                <a:cs typeface="Arial" panose="020B0604020202020204" pitchFamily="34" charset="0"/>
              </a:rPr>
              <a:t>ampicillin (IV) 2g 6hourly for </a:t>
            </a:r>
            <a:r>
              <a:rPr lang="en-GB" sz="2800" dirty="0" smtClean="0">
                <a:latin typeface="Arial" panose="020B0604020202020204" pitchFamily="34" charset="0"/>
                <a:cs typeface="Arial" panose="020B0604020202020204" pitchFamily="34" charset="0"/>
              </a:rPr>
              <a:t>10–14days Added if you suspect listeria </a:t>
            </a:r>
            <a:r>
              <a:rPr lang="en-GB" sz="2800" b="1" dirty="0" smtClean="0">
                <a:latin typeface="Arial" panose="020B0604020202020204" pitchFamily="34" charset="0"/>
                <a:cs typeface="Arial" panose="020B0604020202020204" pitchFamily="34" charset="0"/>
              </a:rPr>
              <a:t>OR</a:t>
            </a:r>
            <a:r>
              <a:rPr lang="en-GB" sz="2800" dirty="0" smtClean="0">
                <a:latin typeface="Arial" panose="020B0604020202020204" pitchFamily="34" charset="0"/>
                <a:cs typeface="Arial" panose="020B0604020202020204" pitchFamily="34" charset="0"/>
              </a:rPr>
              <a:t> </a:t>
            </a:r>
            <a:endParaRPr lang="en-GB" sz="2800" dirty="0">
              <a:latin typeface="Arial" panose="020B0604020202020204" pitchFamily="34" charset="0"/>
              <a:cs typeface="Arial" panose="020B0604020202020204" pitchFamily="34" charset="0"/>
            </a:endParaRPr>
          </a:p>
          <a:p>
            <a:pPr lvl="2">
              <a:buFont typeface="Wingdings" charset="2"/>
              <a:buChar char="ü"/>
            </a:pPr>
            <a:r>
              <a:rPr lang="en-GB" sz="2800" dirty="0">
                <a:latin typeface="Arial" panose="020B0604020202020204" pitchFamily="34" charset="0"/>
                <a:cs typeface="Arial" panose="020B0604020202020204" pitchFamily="34" charset="0"/>
              </a:rPr>
              <a:t>: </a:t>
            </a:r>
            <a:r>
              <a:rPr lang="en-GB" sz="2800" dirty="0" err="1" smtClean="0">
                <a:latin typeface="Arial" panose="020B0604020202020204" pitchFamily="34" charset="0"/>
                <a:cs typeface="Arial" panose="020B0604020202020204" pitchFamily="34" charset="0"/>
              </a:rPr>
              <a:t>cefotaxime</a:t>
            </a:r>
            <a:r>
              <a:rPr lang="en-GB" sz="2800" dirty="0" smtClean="0">
                <a:latin typeface="Arial" panose="020B0604020202020204" pitchFamily="34" charset="0"/>
                <a:cs typeface="Arial" panose="020B0604020202020204" pitchFamily="34" charset="0"/>
              </a:rPr>
              <a:t> </a:t>
            </a:r>
            <a:r>
              <a:rPr lang="en-GB" sz="2800" dirty="0">
                <a:latin typeface="Arial" panose="020B0604020202020204" pitchFamily="34" charset="0"/>
                <a:cs typeface="Arial" panose="020B0604020202020204" pitchFamily="34" charset="0"/>
              </a:rPr>
              <a:t>(IV) 2g </a:t>
            </a:r>
            <a:r>
              <a:rPr lang="en-GB" sz="2800" dirty="0" smtClean="0">
                <a:latin typeface="Arial" panose="020B0604020202020204" pitchFamily="34" charset="0"/>
                <a:cs typeface="Arial" panose="020B0604020202020204" pitchFamily="34" charset="0"/>
              </a:rPr>
              <a:t>6-8hourly for 10–14days </a:t>
            </a:r>
            <a:endParaRPr lang="en-GB" sz="2800"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May also depend on national surveillance results of the population sensitivity </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5218"/>
          </a:xfrm>
        </p:spPr>
        <p:txBody>
          <a:bodyPr>
            <a:normAutofit/>
          </a:bodyPr>
          <a:lstStyle/>
          <a:p>
            <a:pPr algn="ctr"/>
            <a:r>
              <a:rPr lang="en-US" b="1" dirty="0">
                <a:latin typeface="Arial" panose="020B0604020202020204" pitchFamily="34" charset="0"/>
                <a:cs typeface="Arial" panose="020B0604020202020204" pitchFamily="34" charset="0"/>
              </a:rPr>
              <a:t>TREATMENT</a:t>
            </a:r>
          </a:p>
        </p:txBody>
      </p:sp>
      <p:sp>
        <p:nvSpPr>
          <p:cNvPr id="3" name="Content Placeholder 2"/>
          <p:cNvSpPr>
            <a:spLocks noGrp="1"/>
          </p:cNvSpPr>
          <p:nvPr>
            <p:ph idx="1"/>
          </p:nvPr>
        </p:nvSpPr>
        <p:spPr>
          <a:xfrm>
            <a:off x="838200" y="1136977"/>
            <a:ext cx="10515600" cy="5747655"/>
          </a:xfrm>
        </p:spPr>
        <p:txBody>
          <a:bodyPr>
            <a:noAutofit/>
          </a:bodyPr>
          <a:lstStyle/>
          <a:p>
            <a:r>
              <a:rPr lang="en-GB" b="1" dirty="0">
                <a:cs typeface="Arial" charset="0"/>
              </a:rPr>
              <a:t>II</a:t>
            </a:r>
            <a:r>
              <a:rPr lang="en-GB" b="1" dirty="0">
                <a:latin typeface="Arial" panose="020B0604020202020204" pitchFamily="34" charset="0"/>
                <a:cs typeface="Arial" panose="020B0604020202020204" pitchFamily="34" charset="0"/>
              </a:rPr>
              <a:t>. Where the organism is known: </a:t>
            </a:r>
          </a:p>
          <a:p>
            <a:pPr>
              <a:buFont typeface="Wingdings" charset="2"/>
              <a:buChar char="ü"/>
            </a:pPr>
            <a:r>
              <a:rPr lang="en-GB" b="1" dirty="0">
                <a:latin typeface="Arial" panose="020B0604020202020204" pitchFamily="34" charset="0"/>
                <a:cs typeface="Arial" panose="020B0604020202020204" pitchFamily="34" charset="0"/>
              </a:rPr>
              <a:t>Meningococcal meningitis;</a:t>
            </a:r>
            <a:r>
              <a:rPr lang="en-GB" dirty="0">
                <a:latin typeface="Arial" panose="020B0604020202020204" pitchFamily="34" charset="0"/>
                <a:cs typeface="Arial" panose="020B0604020202020204" pitchFamily="34" charset="0"/>
              </a:rPr>
              <a:t> benzathine penicillin(IV/IM) maximum dose of 24MU/day for 10- 14 days, give 4 million units 4 hourly IV in adults </a:t>
            </a:r>
            <a:r>
              <a:rPr lang="en-GB" b="1" dirty="0">
                <a:latin typeface="Arial" panose="020B0604020202020204" pitchFamily="34" charset="0"/>
                <a:cs typeface="Arial" panose="020B0604020202020204" pitchFamily="34" charset="0"/>
              </a:rPr>
              <a:t>AND</a:t>
            </a:r>
            <a:r>
              <a:rPr lang="en-GB" dirty="0">
                <a:latin typeface="Arial" panose="020B0604020202020204" pitchFamily="34" charset="0"/>
                <a:cs typeface="Arial" panose="020B0604020202020204" pitchFamily="34" charset="0"/>
              </a:rPr>
              <a:t>: chloramphenicol maximum dose of 4 g/day give in divided doses at 8 hourly intervals for 10-14 days. </a:t>
            </a:r>
            <a:endParaRPr lang="en-GB" b="1" dirty="0">
              <a:latin typeface="Arial" panose="020B0604020202020204" pitchFamily="34" charset="0"/>
              <a:cs typeface="Arial" panose="020B0604020202020204" pitchFamily="34" charset="0"/>
            </a:endParaRPr>
          </a:p>
          <a:p>
            <a:pPr>
              <a:buFont typeface="Wingdings" charset="2"/>
              <a:buChar char="ü"/>
            </a:pPr>
            <a:r>
              <a:rPr lang="en-GB" b="1" dirty="0">
                <a:latin typeface="Arial" panose="020B0604020202020204" pitchFamily="34" charset="0"/>
                <a:cs typeface="Arial" panose="020B0604020202020204" pitchFamily="34" charset="0"/>
              </a:rPr>
              <a:t>Haemophilus influenza </a:t>
            </a:r>
            <a:r>
              <a:rPr lang="en-GB" dirty="0">
                <a:latin typeface="Arial" panose="020B0604020202020204" pitchFamily="34" charset="0"/>
                <a:cs typeface="Arial" panose="020B0604020202020204" pitchFamily="34" charset="0"/>
              </a:rPr>
              <a:t>meningitis: chloramphenicol (IV) 1g 6hourly for 7–10days. OR D: </a:t>
            </a:r>
            <a:r>
              <a:rPr lang="en-GB" dirty="0" err="1">
                <a:latin typeface="Arial" panose="020B0604020202020204" pitchFamily="34" charset="0"/>
                <a:cs typeface="Arial" panose="020B0604020202020204" pitchFamily="34" charset="0"/>
              </a:rPr>
              <a:t>ceftriaxone+Sulbactam</a:t>
            </a:r>
            <a:r>
              <a:rPr lang="en-GB" dirty="0">
                <a:latin typeface="Arial" panose="020B0604020202020204" pitchFamily="34" charset="0"/>
                <a:cs typeface="Arial" panose="020B0604020202020204" pitchFamily="34" charset="0"/>
              </a:rPr>
              <a:t> (IV) 1.5g 12hourly for 14days </a:t>
            </a:r>
          </a:p>
          <a:p>
            <a:pPr marL="0" indent="0">
              <a:buNone/>
            </a:pPr>
            <a:endParaRPr lang="en-GB" dirty="0">
              <a:latin typeface="Arial" panose="020B0604020202020204" pitchFamily="34" charset="0"/>
              <a:cs typeface="Arial" panose="020B0604020202020204" pitchFamily="34" charset="0"/>
            </a:endParaRPr>
          </a:p>
          <a:p>
            <a:pPr>
              <a:buFont typeface="Wingdings" charset="2"/>
              <a:buChar char="ü"/>
            </a:pPr>
            <a:r>
              <a:rPr lang="en-GB" b="1" dirty="0">
                <a:latin typeface="Arial" panose="020B0604020202020204" pitchFamily="34" charset="0"/>
                <a:cs typeface="Arial" panose="020B0604020202020204" pitchFamily="34" charset="0"/>
              </a:rPr>
              <a:t>Pneumococcal meningitis </a:t>
            </a:r>
            <a:r>
              <a:rPr lang="en-GB" dirty="0">
                <a:latin typeface="Arial" panose="020B0604020202020204" pitchFamily="34" charset="0"/>
                <a:cs typeface="Arial" panose="020B0604020202020204" pitchFamily="34" charset="0"/>
              </a:rPr>
              <a:t>A: benzyl penicillin (IV) 5MU 6hourly for 14days OR D: ceftriaxone + </a:t>
            </a:r>
            <a:r>
              <a:rPr lang="en-GB" dirty="0" err="1">
                <a:latin typeface="Arial" panose="020B0604020202020204" pitchFamily="34" charset="0"/>
                <a:cs typeface="Arial" panose="020B0604020202020204" pitchFamily="34" charset="0"/>
              </a:rPr>
              <a:t>Salbactam</a:t>
            </a:r>
            <a:r>
              <a:rPr lang="en-GB" dirty="0">
                <a:latin typeface="Arial" panose="020B0604020202020204" pitchFamily="34" charset="0"/>
                <a:cs typeface="Arial" panose="020B0604020202020204" pitchFamily="34" charset="0"/>
              </a:rPr>
              <a:t> (FDC) (IV) 1.5mg 12hourly for 14days</a:t>
            </a:r>
            <a:endParaRPr lang="en-US"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Infectious Disease Society of America (IDSA) recommendation presumptive  treatment of Meningitis </a:t>
            </a:r>
            <a:r>
              <a:rPr lang="en-US" dirty="0" smtClean="0"/>
              <a:t>guidelines 2025</a:t>
            </a:r>
            <a:endParaRPr lang="en-US" dirty="0"/>
          </a:p>
        </p:txBody>
      </p:sp>
      <p:pic>
        <p:nvPicPr>
          <p:cNvPr id="4" name="Picture 2"/>
          <p:cNvPicPr>
            <a:picLocks noGrp="1" noChangeAspect="1"/>
          </p:cNvPicPr>
          <p:nvPr>
            <p:ph idx="1"/>
          </p:nvPr>
        </p:nvPicPr>
        <p:blipFill>
          <a:blip r:embed="rId2"/>
          <a:stretch>
            <a:fillRect/>
          </a:stretch>
        </p:blipFill>
        <p:spPr>
          <a:xfrm>
            <a:off x="659568" y="1825625"/>
            <a:ext cx="10343212" cy="4889968"/>
          </a:xfrm>
          <a:prstGeom prst="rect">
            <a:avLst/>
          </a:prstGeom>
        </p:spPr>
      </p:pic>
    </p:spTree>
    <p:extLst>
      <p:ext uri="{BB962C8B-B14F-4D97-AF65-F5344CB8AC3E}">
        <p14:creationId xmlns:p14="http://schemas.microsoft.com/office/powerpoint/2010/main" val="99993183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2F61A7C-39C5-1BA0-0344-305ECCD0C366}"/>
              </a:ext>
            </a:extLst>
          </p:cNvPr>
          <p:cNvSpPr>
            <a:spLocks noGrp="1"/>
          </p:cNvSpPr>
          <p:nvPr>
            <p:ph type="title"/>
          </p:nvPr>
        </p:nvSpPr>
        <p:spPr/>
        <p:txBody>
          <a:bodyPr/>
          <a:lstStyle/>
          <a:p>
            <a:endParaRPr lang="x-none"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7734483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086"/>
            <a:ext cx="10515600" cy="1023258"/>
          </a:xfrm>
        </p:spPr>
        <p:txBody>
          <a:bodyPr>
            <a:normAutofit/>
          </a:bodyPr>
          <a:lstStyle/>
          <a:p>
            <a:pPr algn="ctr"/>
            <a:r>
              <a:rPr lang="en-GB" b="1" dirty="0">
                <a:latin typeface="Arial" panose="020B0604020202020204" pitchFamily="34" charset="0"/>
                <a:cs typeface="Arial" panose="020B0604020202020204" pitchFamily="34" charset="0"/>
              </a:rPr>
              <a:t>Viral meningitis.</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219200"/>
            <a:ext cx="10515600" cy="5453743"/>
          </a:xfrm>
        </p:spPr>
        <p:txBody>
          <a:bodyPr>
            <a:noAutofit/>
          </a:bodyPr>
          <a:lstStyle/>
          <a:p>
            <a:endParaRPr lang="en-GB" b="0" i="0" dirty="0">
              <a:solidFill>
                <a:srgbClr val="000000"/>
              </a:solidFill>
              <a:effectLst/>
              <a:latin typeface="Arial" panose="020B0604020202020204" pitchFamily="34" charset="0"/>
              <a:cs typeface="Arial" panose="020B0604020202020204" pitchFamily="34" charset="0"/>
            </a:endParaRPr>
          </a:p>
          <a:p>
            <a:r>
              <a:rPr lang="en-GB" b="0" i="0" dirty="0">
                <a:solidFill>
                  <a:srgbClr val="000000"/>
                </a:solidFill>
                <a:effectLst/>
                <a:latin typeface="Arial" panose="020B0604020202020204" pitchFamily="34" charset="0"/>
                <a:cs typeface="Arial" panose="020B0604020202020204" pitchFamily="34" charset="0"/>
              </a:rPr>
              <a:t>Viral meningitis is an inflammation and infection of the meninges of the brain and spinal cord by a virus.</a:t>
            </a:r>
          </a:p>
          <a:p>
            <a:endParaRPr lang="en-GB" dirty="0">
              <a:solidFill>
                <a:srgbClr val="000000"/>
              </a:solidFill>
              <a:latin typeface="Arial" panose="020B0604020202020204" pitchFamily="34" charset="0"/>
              <a:cs typeface="Arial" panose="020B0604020202020204" pitchFamily="34" charset="0"/>
            </a:endParaRPr>
          </a:p>
          <a:p>
            <a:pPr marL="0" indent="0">
              <a:buNone/>
            </a:pPr>
            <a:endParaRPr lang="en-GB" b="0" i="0" dirty="0">
              <a:solidFill>
                <a:srgbClr val="000000"/>
              </a:solidFill>
              <a:effectLst/>
              <a:latin typeface="Arial" panose="020B0604020202020204" pitchFamily="34" charset="0"/>
              <a:cs typeface="Arial" panose="020B0604020202020204" pitchFamily="34" charset="0"/>
            </a:endParaRPr>
          </a:p>
          <a:p>
            <a:r>
              <a:rPr lang="en-GB" b="0" i="0" dirty="0">
                <a:solidFill>
                  <a:srgbClr val="000000"/>
                </a:solidFill>
                <a:effectLst/>
                <a:latin typeface="Arial" panose="020B0604020202020204" pitchFamily="34" charset="0"/>
                <a:cs typeface="Arial" panose="020B0604020202020204" pitchFamily="34" charset="0"/>
              </a:rPr>
              <a:t>A variety of viruses can cause this inflammation of the meninges.</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892630"/>
          </a:xfrm>
        </p:spPr>
        <p:txBody>
          <a:bodyPr>
            <a:normAutofit/>
          </a:bodyPr>
          <a:lstStyle/>
          <a:p>
            <a:pPr algn="ctr"/>
            <a:r>
              <a:rPr lang="en-GB" b="1" dirty="0">
                <a:latin typeface="Arial" panose="020B0604020202020204" pitchFamily="34" charset="0"/>
                <a:cs typeface="Arial" panose="020B0604020202020204" pitchFamily="34" charset="0"/>
              </a:rPr>
              <a:t>Pathophysiology.</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892630"/>
            <a:ext cx="10515600" cy="5747656"/>
          </a:xfrm>
        </p:spPr>
        <p:txBody>
          <a:bodyPr>
            <a:noAutofit/>
          </a:bodyPr>
          <a:lstStyle/>
          <a:p>
            <a:r>
              <a:rPr lang="en-GB" b="0" i="0" dirty="0">
                <a:solidFill>
                  <a:srgbClr val="000000"/>
                </a:solidFill>
                <a:effectLst/>
                <a:latin typeface="Arial" panose="020B0604020202020204" pitchFamily="34" charset="0"/>
                <a:cs typeface="Arial" panose="020B0604020202020204" pitchFamily="34" charset="0"/>
              </a:rPr>
              <a:t>The viruses are able to cross the </a:t>
            </a:r>
            <a:r>
              <a:rPr lang="en-GB" b="1" i="0" dirty="0">
                <a:solidFill>
                  <a:srgbClr val="000000"/>
                </a:solidFill>
                <a:effectLst/>
                <a:latin typeface="Arial" panose="020B0604020202020204" pitchFamily="34" charset="0"/>
                <a:cs typeface="Arial" panose="020B0604020202020204" pitchFamily="34" charset="0"/>
              </a:rPr>
              <a:t>blood-brain barrier by causing infection in leukocytes</a:t>
            </a:r>
            <a:r>
              <a:rPr lang="en-GB" b="0" i="0" dirty="0">
                <a:solidFill>
                  <a:srgbClr val="000000"/>
                </a:solidFill>
                <a:effectLst/>
                <a:latin typeface="Arial" panose="020B0604020202020204" pitchFamily="34" charset="0"/>
                <a:cs typeface="Arial" panose="020B0604020202020204" pitchFamily="34" charset="0"/>
              </a:rPr>
              <a:t>, which act as  </a:t>
            </a:r>
            <a:r>
              <a:rPr lang="en-GB" b="1" i="0" dirty="0">
                <a:solidFill>
                  <a:srgbClr val="000000"/>
                </a:solidFill>
                <a:effectLst/>
                <a:latin typeface="Arial" panose="020B0604020202020204" pitchFamily="34" charset="0"/>
                <a:cs typeface="Arial" panose="020B0604020202020204" pitchFamily="34" charset="0"/>
              </a:rPr>
              <a:t>carriers</a:t>
            </a:r>
            <a:r>
              <a:rPr lang="en-GB" b="0" i="0" dirty="0">
                <a:solidFill>
                  <a:srgbClr val="000000"/>
                </a:solidFill>
                <a:effectLst/>
                <a:latin typeface="Arial" panose="020B0604020202020204" pitchFamily="34" charset="0"/>
                <a:cs typeface="Arial" panose="020B0604020202020204" pitchFamily="34" charset="0"/>
              </a:rPr>
              <a:t> to the virus, that are migrating into the brain for protective purposes.</a:t>
            </a:r>
          </a:p>
          <a:p>
            <a:pPr marL="0" indent="0">
              <a:buNone/>
            </a:pPr>
            <a:r>
              <a:rPr lang="en-GB" b="0" i="0" dirty="0">
                <a:solidFill>
                  <a:srgbClr val="000000"/>
                </a:solidFill>
                <a:effectLst/>
                <a:latin typeface="Arial" panose="020B0604020202020204" pitchFamily="34" charset="0"/>
                <a:cs typeface="Arial" panose="020B0604020202020204" pitchFamily="34" charset="0"/>
              </a:rPr>
              <a:t> </a:t>
            </a:r>
          </a:p>
          <a:p>
            <a:r>
              <a:rPr lang="en-GB" b="0" i="0" dirty="0">
                <a:solidFill>
                  <a:srgbClr val="000000"/>
                </a:solidFill>
                <a:effectLst/>
                <a:latin typeface="Arial" panose="020B0604020202020204" pitchFamily="34" charset="0"/>
                <a:cs typeface="Arial" panose="020B0604020202020204" pitchFamily="34" charset="0"/>
              </a:rPr>
              <a:t>Once the virus has crossed the barrier through it’s leukocyte carrier, it is able to invade the vascular endothelium because it is considered hematogenous.</a:t>
            </a:r>
          </a:p>
          <a:p>
            <a:endParaRPr lang="en-GB" b="0" i="0" dirty="0">
              <a:solidFill>
                <a:srgbClr val="000000"/>
              </a:solidFill>
              <a:effectLst/>
              <a:latin typeface="Arial" panose="020B0604020202020204" pitchFamily="34" charset="0"/>
              <a:cs typeface="Arial" panose="020B0604020202020204" pitchFamily="34" charset="0"/>
            </a:endParaRPr>
          </a:p>
          <a:p>
            <a:r>
              <a:rPr lang="en-GB" b="0" i="0" dirty="0">
                <a:solidFill>
                  <a:srgbClr val="000000"/>
                </a:solidFill>
                <a:effectLst/>
                <a:latin typeface="Arial" panose="020B0604020202020204" pitchFamily="34" charset="0"/>
                <a:cs typeface="Arial" panose="020B0604020202020204" pitchFamily="34" charset="0"/>
              </a:rPr>
              <a:t>This infection of the vascular endothelium is what leads to the initial inflammation of meninges in the subarachnoid space of the brain, causing an inflammatory response, which leads to the migration of </a:t>
            </a:r>
            <a:r>
              <a:rPr lang="en-GB" b="1" i="0" dirty="0">
                <a:solidFill>
                  <a:srgbClr val="000000"/>
                </a:solidFill>
                <a:effectLst/>
                <a:latin typeface="Arial" panose="020B0604020202020204" pitchFamily="34" charset="0"/>
                <a:cs typeface="Arial" panose="020B0604020202020204" pitchFamily="34" charset="0"/>
              </a:rPr>
              <a:t>inflammatory mediators </a:t>
            </a:r>
            <a:r>
              <a:rPr lang="en-GB" b="0" i="0" dirty="0">
                <a:solidFill>
                  <a:srgbClr val="000000"/>
                </a:solidFill>
                <a:effectLst/>
                <a:latin typeface="Arial" panose="020B0604020202020204" pitchFamily="34" charset="0"/>
                <a:cs typeface="Arial" panose="020B0604020202020204" pitchFamily="34" charset="0"/>
              </a:rPr>
              <a:t>and </a:t>
            </a:r>
            <a:r>
              <a:rPr lang="en-GB" b="1" i="0" dirty="0">
                <a:solidFill>
                  <a:srgbClr val="000000"/>
                </a:solidFill>
                <a:effectLst/>
                <a:latin typeface="Arial" panose="020B0604020202020204" pitchFamily="34" charset="0"/>
                <a:cs typeface="Arial" panose="020B0604020202020204" pitchFamily="34" charset="0"/>
              </a:rPr>
              <a:t>antibodies</a:t>
            </a:r>
            <a:r>
              <a:rPr lang="en-GB" b="0" i="0" dirty="0">
                <a:solidFill>
                  <a:srgbClr val="000000"/>
                </a:solidFill>
                <a:effectLst/>
                <a:latin typeface="Arial" panose="020B0604020202020204" pitchFamily="34" charset="0"/>
                <a:cs typeface="Arial" panose="020B0604020202020204" pitchFamily="34" charset="0"/>
              </a:rPr>
              <a:t> to the area of </a:t>
            </a:r>
            <a:r>
              <a:rPr lang="en-GB" b="1" i="0" dirty="0">
                <a:solidFill>
                  <a:srgbClr val="000000"/>
                </a:solidFill>
                <a:effectLst/>
                <a:latin typeface="Arial" panose="020B0604020202020204" pitchFamily="34" charset="0"/>
                <a:cs typeface="Arial" panose="020B0604020202020204" pitchFamily="34" charset="0"/>
              </a:rPr>
              <a:t>inflammation</a:t>
            </a:r>
            <a:r>
              <a:rPr lang="en-GB" b="0" i="0" dirty="0">
                <a:solidFill>
                  <a:srgbClr val="000000"/>
                </a:solidFill>
                <a:effectLst/>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5380" y="205105"/>
            <a:ext cx="10515600" cy="1325563"/>
          </a:xfrm>
        </p:spPr>
        <p:txBody>
          <a:bodyPr/>
          <a:lstStyle/>
          <a:p>
            <a:pPr algn="ctr"/>
            <a:r>
              <a:rPr lang="en-GB" b="1" dirty="0">
                <a:latin typeface="Arial" panose="020B0604020202020204" pitchFamily="34" charset="0"/>
                <a:cs typeface="Arial" panose="020B0604020202020204" pitchFamily="34" charset="0"/>
              </a:rPr>
              <a:t>Investigation and treatment of viral meningitis.</a:t>
            </a:r>
            <a:endParaRPr lang="en-US" b="1" dirty="0">
              <a:solidFill>
                <a:srgbClr val="FF00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GB" dirty="0">
                <a:latin typeface="Arial" panose="020B0604020202020204" pitchFamily="34" charset="0"/>
                <a:cs typeface="Arial" panose="020B0604020202020204" pitchFamily="34" charset="0"/>
              </a:rPr>
              <a:t>The CSF usually contains an excess of</a:t>
            </a:r>
            <a:r>
              <a:rPr lang="en-GB" b="1" dirty="0">
                <a:latin typeface="Arial" panose="020B0604020202020204" pitchFamily="34" charset="0"/>
                <a:cs typeface="Arial" panose="020B0604020202020204" pitchFamily="34" charset="0"/>
              </a:rPr>
              <a:t> lymphocytes </a:t>
            </a:r>
            <a:r>
              <a:rPr lang="en-GB" dirty="0">
                <a:latin typeface="Arial" panose="020B0604020202020204" pitchFamily="34" charset="0"/>
                <a:cs typeface="Arial" panose="020B0604020202020204" pitchFamily="34" charset="0"/>
              </a:rPr>
              <a:t>but glucose and protein levels are commonly normal. It is extremely important to </a:t>
            </a:r>
            <a:r>
              <a:rPr lang="en-GB" b="1" dirty="0">
                <a:latin typeface="Arial" panose="020B0604020202020204" pitchFamily="34" charset="0"/>
                <a:cs typeface="Arial" panose="020B0604020202020204" pitchFamily="34" charset="0"/>
              </a:rPr>
              <a:t>verify that the patient has not received antibiotics </a:t>
            </a:r>
            <a:r>
              <a:rPr lang="en-GB" dirty="0">
                <a:latin typeface="Arial" panose="020B0604020202020204" pitchFamily="34" charset="0"/>
                <a:cs typeface="Arial" panose="020B0604020202020204" pitchFamily="34" charset="0"/>
              </a:rPr>
              <a:t>(for whatever cause) prior to the lumbar puncture.</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There is </a:t>
            </a:r>
            <a:r>
              <a:rPr lang="en-GB" b="1" dirty="0">
                <a:latin typeface="Arial" panose="020B0604020202020204" pitchFamily="34" charset="0"/>
                <a:cs typeface="Arial" panose="020B0604020202020204" pitchFamily="34" charset="0"/>
              </a:rPr>
              <a:t>no specific treatment </a:t>
            </a:r>
            <a:r>
              <a:rPr lang="en-GB" dirty="0">
                <a:latin typeface="Arial" panose="020B0604020202020204" pitchFamily="34" charset="0"/>
                <a:cs typeface="Arial" panose="020B0604020202020204" pitchFamily="34" charset="0"/>
              </a:rPr>
              <a:t>and the condition is usually </a:t>
            </a:r>
            <a:r>
              <a:rPr lang="en-GB" b="1" dirty="0">
                <a:latin typeface="Arial" panose="020B0604020202020204" pitchFamily="34" charset="0"/>
                <a:cs typeface="Arial" panose="020B0604020202020204" pitchFamily="34" charset="0"/>
              </a:rPr>
              <a:t>benign</a:t>
            </a:r>
            <a:r>
              <a:rPr lang="en-GB" dirty="0">
                <a:latin typeface="Arial" panose="020B0604020202020204" pitchFamily="34" charset="0"/>
                <a:cs typeface="Arial" panose="020B0604020202020204" pitchFamily="34" charset="0"/>
              </a:rPr>
              <a:t> and </a:t>
            </a:r>
            <a:r>
              <a:rPr lang="en-GB" b="1" dirty="0">
                <a:latin typeface="Arial" panose="020B0604020202020204" pitchFamily="34" charset="0"/>
                <a:cs typeface="Arial" panose="020B0604020202020204" pitchFamily="34" charset="0"/>
              </a:rPr>
              <a:t>self-limiting</a:t>
            </a:r>
            <a:r>
              <a:rPr lang="en-GB" dirty="0">
                <a:latin typeface="Arial" panose="020B0604020202020204" pitchFamily="34" charset="0"/>
                <a:cs typeface="Arial" panose="020B0604020202020204" pitchFamily="34" charset="0"/>
              </a:rPr>
              <a:t>. The patient should be treated symptomatically in a quiet environment.</a:t>
            </a:r>
            <a:endParaRPr lang="en-US"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881"/>
            <a:ext cx="10515600" cy="1097279"/>
          </a:xfrm>
        </p:spPr>
        <p:txBody>
          <a:bodyPr>
            <a:normAutofit/>
          </a:bodyPr>
          <a:lstStyle/>
          <a:p>
            <a:pPr algn="ctr"/>
            <a:r>
              <a:rPr lang="en-GB" b="1" dirty="0">
                <a:latin typeface="Arial" panose="020B0604020202020204" pitchFamily="34" charset="0"/>
                <a:cs typeface="Arial" panose="020B0604020202020204" pitchFamily="34" charset="0"/>
              </a:rPr>
              <a:t>Tuberculous meningitis.</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825625"/>
            <a:ext cx="10515600" cy="3987346"/>
          </a:xfrm>
        </p:spPr>
        <p:txBody>
          <a:bodyPr>
            <a:normAutofit fontScale="92500" lnSpcReduction="10000"/>
          </a:bodyPr>
          <a:lstStyle/>
          <a:p>
            <a:r>
              <a:rPr lang="en-GB" dirty="0">
                <a:latin typeface="Arial" charset="0"/>
                <a:cs typeface="Arial" charset="0"/>
              </a:rPr>
              <a:t>Meninges Infection due </a:t>
            </a:r>
            <a:r>
              <a:rPr lang="en-GB" b="1" i="1" dirty="0">
                <a:latin typeface="Arial" charset="0"/>
                <a:cs typeface="Arial" charset="0"/>
              </a:rPr>
              <a:t>Mycobacterium tuberculosis</a:t>
            </a:r>
            <a:r>
              <a:rPr lang="en-GB" dirty="0">
                <a:latin typeface="Arial" charset="0"/>
                <a:cs typeface="Arial" charset="0"/>
              </a:rPr>
              <a:t>.</a:t>
            </a:r>
          </a:p>
          <a:p>
            <a:r>
              <a:rPr lang="en-GB" dirty="0">
                <a:latin typeface="Arial" charset="0"/>
                <a:cs typeface="Arial" charset="0"/>
              </a:rPr>
              <a:t>One of the extra pulmonary TB manifestation developing in </a:t>
            </a:r>
            <a:r>
              <a:rPr lang="en-GB" b="1" dirty="0">
                <a:latin typeface="Arial" charset="0"/>
                <a:cs typeface="Arial" charset="0"/>
              </a:rPr>
              <a:t>1-5% of TB </a:t>
            </a:r>
            <a:r>
              <a:rPr lang="en-GB" b="1" dirty="0" smtClean="0">
                <a:latin typeface="Arial" charset="0"/>
                <a:cs typeface="Arial" charset="0"/>
              </a:rPr>
              <a:t>cases</a:t>
            </a:r>
            <a:r>
              <a:rPr lang="en-GB" dirty="0" smtClean="0">
                <a:latin typeface="Arial" charset="0"/>
                <a:cs typeface="Arial" charset="0"/>
              </a:rPr>
              <a:t>. </a:t>
            </a:r>
            <a:endParaRPr lang="en-GB" dirty="0">
              <a:latin typeface="Arial" charset="0"/>
              <a:cs typeface="Arial" charset="0"/>
            </a:endParaRPr>
          </a:p>
          <a:p>
            <a:endParaRPr lang="en-GB" dirty="0">
              <a:latin typeface="Arial" charset="0"/>
              <a:cs typeface="Arial" charset="0"/>
            </a:endParaRPr>
          </a:p>
          <a:p>
            <a:r>
              <a:rPr lang="en-GB" dirty="0">
                <a:latin typeface="Arial" charset="0"/>
                <a:cs typeface="Arial" charset="0"/>
              </a:rPr>
              <a:t>Commonly encountered in HIV infected individuals(</a:t>
            </a:r>
            <a:r>
              <a:rPr lang="en-GB" b="1" dirty="0">
                <a:latin typeface="Arial" charset="0"/>
                <a:cs typeface="Arial" charset="0"/>
              </a:rPr>
              <a:t>among those with TB and HIV coinfection have five-fold increase likelihood of having TB CNS involvement).</a:t>
            </a:r>
          </a:p>
          <a:p>
            <a:endParaRPr lang="en-GB" dirty="0">
              <a:latin typeface="Arial" charset="0"/>
              <a:cs typeface="Arial" charset="0"/>
            </a:endParaRPr>
          </a:p>
          <a:p>
            <a:r>
              <a:rPr lang="en-GB" dirty="0">
                <a:latin typeface="Arial" charset="0"/>
                <a:cs typeface="Arial" charset="0"/>
              </a:rPr>
              <a:t>Other forms of CNS TB includes </a:t>
            </a:r>
            <a:r>
              <a:rPr lang="en-GB" dirty="0" err="1">
                <a:latin typeface="Arial" charset="0"/>
                <a:cs typeface="Arial" charset="0"/>
              </a:rPr>
              <a:t>tuberculoma</a:t>
            </a:r>
            <a:r>
              <a:rPr lang="en-GB" dirty="0">
                <a:latin typeface="Arial" charset="0"/>
                <a:cs typeface="Arial" charset="0"/>
              </a:rPr>
              <a:t> and spinal </a:t>
            </a:r>
            <a:r>
              <a:rPr lang="en-GB" dirty="0" err="1">
                <a:latin typeface="Arial" charset="0"/>
                <a:cs typeface="Arial" charset="0"/>
              </a:rPr>
              <a:t>arachnoiditis</a:t>
            </a:r>
            <a:r>
              <a:rPr lang="en-GB" dirty="0">
                <a:latin typeface="Arial" charset="0"/>
                <a:cs typeface="Arial" charset="0"/>
              </a:rPr>
              <a:t>.</a:t>
            </a:r>
          </a:p>
          <a:p>
            <a:endParaRPr lang="en-US" sz="3200" dirty="0">
              <a:latin typeface="Arial" charset="0"/>
              <a:cs typeface="Arial" charset="0"/>
            </a:endParaRPr>
          </a:p>
        </p:txBody>
      </p:sp>
      <p:sp>
        <p:nvSpPr>
          <p:cNvPr id="5" name="TextBox 4"/>
          <p:cNvSpPr txBox="1"/>
          <p:nvPr/>
        </p:nvSpPr>
        <p:spPr>
          <a:xfrm>
            <a:off x="1802674" y="6283234"/>
            <a:ext cx="8138160" cy="646331"/>
          </a:xfrm>
          <a:prstGeom prst="rect">
            <a:avLst/>
          </a:prstGeom>
          <a:noFill/>
          <a:ln>
            <a:solidFill>
              <a:schemeClr val="accent2">
                <a:lumMod val="75000"/>
              </a:schemeClr>
            </a:solidFill>
          </a:ln>
        </p:spPr>
        <p:txBody>
          <a:bodyPr wrap="square" rtlCol="0">
            <a:spAutoFit/>
          </a:bodyPr>
          <a:lstStyle/>
          <a:p>
            <a:r>
              <a:rPr lang="en-US" dirty="0" err="1"/>
              <a:t>Agrawal</a:t>
            </a:r>
            <a:r>
              <a:rPr lang="en-US" dirty="0"/>
              <a:t> DK. Epidemiology, Pathogenesis, Clinical Manifestations, and Management Strategies of </a:t>
            </a:r>
            <a:r>
              <a:rPr lang="en-US" dirty="0" err="1"/>
              <a:t>Tuberculous</a:t>
            </a:r>
            <a:r>
              <a:rPr lang="en-US" dirty="0"/>
              <a:t> Meningitis. Arch Intern Med Res. 2025;8(1</a:t>
            </a:r>
            <a:endParaRPr lang="en-US" dirty="0"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00062"/>
            <a:ext cx="10515600" cy="1325563"/>
          </a:xfrm>
        </p:spPr>
        <p:txBody>
          <a:bodyPr/>
          <a:lstStyle/>
          <a:p>
            <a:pPr algn="ctr"/>
            <a:r>
              <a:rPr lang="en-GB" b="1" dirty="0">
                <a:latin typeface="Arial" panose="020B0604020202020204" pitchFamily="34" charset="0"/>
                <a:cs typeface="Arial" panose="020B0604020202020204" pitchFamily="34" charset="0"/>
              </a:rPr>
              <a:t>Pathogenesis.</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825624"/>
            <a:ext cx="10515600" cy="4712335"/>
          </a:xfrm>
        </p:spPr>
        <p:txBody>
          <a:bodyPr>
            <a:noAutofit/>
          </a:bodyPr>
          <a:lstStyle/>
          <a:p>
            <a:r>
              <a:rPr lang="en-GB" sz="2400" b="1" dirty="0">
                <a:latin typeface="Arial" panose="020B0604020202020204" pitchFamily="34" charset="0"/>
                <a:cs typeface="Arial" panose="020B0604020202020204" pitchFamily="34" charset="0"/>
              </a:rPr>
              <a:t>Bacillaemia</a:t>
            </a:r>
            <a:r>
              <a:rPr lang="en-GB" sz="2400" dirty="0">
                <a:latin typeface="Arial" panose="020B0604020202020204" pitchFamily="34" charset="0"/>
                <a:cs typeface="Arial" panose="020B0604020202020204" pitchFamily="34" charset="0"/>
              </a:rPr>
              <a:t> that follows primary infection or late reactivation TB, scattered tuberculous foci (tubercles) are established in the brain, meninges, or adjacent cranial bone.</a:t>
            </a:r>
          </a:p>
          <a:p>
            <a:pPr marL="0" indent="0">
              <a:buNone/>
            </a:pPr>
            <a:endParaRPr lang="en-GB" sz="2400" dirty="0">
              <a:latin typeface="Arial" panose="020B0604020202020204" pitchFamily="34" charset="0"/>
              <a:cs typeface="Arial" panose="020B0604020202020204" pitchFamily="34" charset="0"/>
            </a:endParaRPr>
          </a:p>
          <a:p>
            <a:r>
              <a:rPr lang="en-GB" sz="2400" dirty="0">
                <a:latin typeface="Arial" panose="020B0604020202020204" pitchFamily="34" charset="0"/>
                <a:cs typeface="Arial" panose="020B0604020202020204" pitchFamily="34" charset="0"/>
              </a:rPr>
              <a:t>The spillage of </a:t>
            </a:r>
            <a:r>
              <a:rPr lang="en-GB" sz="2400" b="1" dirty="0">
                <a:latin typeface="Arial" panose="020B0604020202020204" pitchFamily="34" charset="0"/>
                <a:cs typeface="Arial" panose="020B0604020202020204" pitchFamily="34" charset="0"/>
              </a:rPr>
              <a:t>tubercular bacilli </a:t>
            </a:r>
            <a:r>
              <a:rPr lang="en-GB" sz="2400" dirty="0">
                <a:latin typeface="Arial" panose="020B0604020202020204" pitchFamily="34" charset="0"/>
                <a:cs typeface="Arial" panose="020B0604020202020204" pitchFamily="34" charset="0"/>
              </a:rPr>
              <a:t>and tubercular protein into the subarachnoid space produces an intense hypersensitivity reaction, giving rise to inflammatory changes that are most marked at the base of the brain.</a:t>
            </a:r>
          </a:p>
          <a:p>
            <a:pPr marL="0" indent="0">
              <a:buNone/>
            </a:pPr>
            <a:endParaRPr lang="en-GB" sz="2400" dirty="0">
              <a:latin typeface="Arial" panose="020B0604020202020204" pitchFamily="34" charset="0"/>
              <a:cs typeface="Arial" panose="020B0604020202020204" pitchFamily="34" charset="0"/>
            </a:endParaRPr>
          </a:p>
          <a:p>
            <a:r>
              <a:rPr lang="en-GB" sz="2400" dirty="0">
                <a:latin typeface="Arial" panose="020B0604020202020204" pitchFamily="34" charset="0"/>
                <a:cs typeface="Arial" panose="020B0604020202020204" pitchFamily="34" charset="0"/>
              </a:rPr>
              <a:t>Three main features; </a:t>
            </a:r>
            <a:r>
              <a:rPr lang="en-GB" sz="2400" b="1" dirty="0">
                <a:latin typeface="Arial" panose="020B0604020202020204" pitchFamily="34" charset="0"/>
                <a:cs typeface="Arial" panose="020B0604020202020204" pitchFamily="34" charset="0"/>
              </a:rPr>
              <a:t>Thick gelatinous exudate, tuberculous vasculitis </a:t>
            </a:r>
            <a:r>
              <a:rPr lang="en-GB" sz="2400" dirty="0">
                <a:latin typeface="Arial" panose="020B0604020202020204" pitchFamily="34" charset="0"/>
                <a:cs typeface="Arial" panose="020B0604020202020204" pitchFamily="34" charset="0"/>
              </a:rPr>
              <a:t>and</a:t>
            </a:r>
            <a:r>
              <a:rPr lang="en-GB" sz="2400" b="1" dirty="0">
                <a:latin typeface="Arial" panose="020B0604020202020204" pitchFamily="34" charset="0"/>
                <a:cs typeface="Arial" panose="020B0604020202020204" pitchFamily="34" charset="0"/>
              </a:rPr>
              <a:t> </a:t>
            </a:r>
            <a:r>
              <a:rPr lang="en-GB" sz="2400" b="1" dirty="0" smtClean="0">
                <a:latin typeface="Arial" panose="020B0604020202020204" pitchFamily="34" charset="0"/>
                <a:cs typeface="Arial" panose="020B0604020202020204" pitchFamily="34" charset="0"/>
              </a:rPr>
              <a:t>Hydrocephalus</a:t>
            </a:r>
            <a:r>
              <a:rPr lang="en-GB" sz="2400"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Clinical presentation; </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825624"/>
            <a:ext cx="10515600" cy="4563745"/>
          </a:xfrm>
        </p:spPr>
        <p:txBody>
          <a:bodyPr>
            <a:noAutofit/>
          </a:bodyPr>
          <a:lstStyle/>
          <a:p>
            <a:r>
              <a:rPr lang="en-GB" sz="2400" b="1" dirty="0">
                <a:latin typeface="Arial" panose="020B0604020202020204" pitchFamily="34" charset="0"/>
                <a:cs typeface="Arial" panose="020B0604020202020204" pitchFamily="34" charset="0"/>
              </a:rPr>
              <a:t>Typical presentations.</a:t>
            </a:r>
          </a:p>
          <a:p>
            <a:pPr lvl="1">
              <a:buFont typeface="Wingdings" charset="2"/>
              <a:buChar char="ü"/>
            </a:pPr>
            <a:r>
              <a:rPr lang="en-GB" dirty="0">
                <a:latin typeface="Arial" panose="020B0604020202020204" pitchFamily="34" charset="0"/>
                <a:cs typeface="Arial" panose="020B0604020202020204" pitchFamily="34" charset="0"/>
              </a:rPr>
              <a:t>Most of the presentation resemble bacterial </a:t>
            </a:r>
            <a:r>
              <a:rPr lang="en-GB" dirty="0" smtClean="0">
                <a:latin typeface="Arial" panose="020B0604020202020204" pitchFamily="34" charset="0"/>
                <a:cs typeface="Arial" panose="020B0604020202020204" pitchFamily="34" charset="0"/>
              </a:rPr>
              <a:t>meningitides, </a:t>
            </a:r>
            <a:r>
              <a:rPr lang="en-GB" dirty="0">
                <a:latin typeface="Arial" panose="020B0604020202020204" pitchFamily="34" charset="0"/>
                <a:cs typeface="Arial" panose="020B0604020202020204" pitchFamily="34" charset="0"/>
              </a:rPr>
              <a:t>the distinguishing features includes, subacute presentation, focal neurological deficits(tuberculoma) about 39% and presence of cranial </a:t>
            </a:r>
            <a:r>
              <a:rPr lang="en-GB" b="1" dirty="0">
                <a:latin typeface="Arial" panose="020B0604020202020204" pitchFamily="34" charset="0"/>
                <a:cs typeface="Arial" panose="020B0604020202020204" pitchFamily="34" charset="0"/>
              </a:rPr>
              <a:t>nerve palsy 33.3</a:t>
            </a:r>
            <a:r>
              <a:rPr lang="en-GB" b="1" dirty="0" smtClean="0">
                <a:latin typeface="Arial" panose="020B0604020202020204" pitchFamily="34" charset="0"/>
                <a:cs typeface="Arial" panose="020B0604020202020204" pitchFamily="34" charset="0"/>
              </a:rPr>
              <a:t>%</a:t>
            </a:r>
            <a:r>
              <a:rPr lang="en-GB" dirty="0" smtClean="0">
                <a:latin typeface="Arial" panose="020B0604020202020204" pitchFamily="34" charset="0"/>
                <a:cs typeface="Arial" panose="020B0604020202020204" pitchFamily="34" charset="0"/>
              </a:rPr>
              <a:t>.</a:t>
            </a:r>
            <a:endParaRPr lang="en-GB" dirty="0">
              <a:latin typeface="Arial" panose="020B0604020202020204" pitchFamily="34" charset="0"/>
              <a:cs typeface="Arial" panose="020B0604020202020204" pitchFamily="34" charset="0"/>
            </a:endParaRPr>
          </a:p>
          <a:p>
            <a:pPr lvl="1">
              <a:buFont typeface="Wingdings" charset="2"/>
              <a:buChar char="ü"/>
            </a:pPr>
            <a:endParaRPr lang="en-GB" dirty="0">
              <a:latin typeface="Arial" panose="020B0604020202020204" pitchFamily="34" charset="0"/>
              <a:cs typeface="Arial" panose="020B0604020202020204" pitchFamily="34" charset="0"/>
            </a:endParaRPr>
          </a:p>
          <a:p>
            <a:r>
              <a:rPr lang="en-GB" sz="2400" b="1" dirty="0">
                <a:latin typeface="Arial" panose="020B0604020202020204" pitchFamily="34" charset="0"/>
                <a:cs typeface="Arial" panose="020B0604020202020204" pitchFamily="34" charset="0"/>
              </a:rPr>
              <a:t>Atypical presentation.</a:t>
            </a:r>
          </a:p>
          <a:p>
            <a:pPr lvl="1">
              <a:buFont typeface="Wingdings" charset="2"/>
              <a:buChar char="ü"/>
            </a:pPr>
            <a:r>
              <a:rPr lang="en-GB" dirty="0">
                <a:latin typeface="Arial" panose="020B0604020202020204" pitchFamily="34" charset="0"/>
                <a:cs typeface="Arial" panose="020B0604020202020204" pitchFamily="34" charset="0"/>
              </a:rPr>
              <a:t> progressively acute, rapidly progressive </a:t>
            </a:r>
            <a:r>
              <a:rPr lang="en-GB" dirty="0" err="1">
                <a:latin typeface="Arial" panose="020B0604020202020204" pitchFamily="34" charset="0"/>
                <a:cs typeface="Arial" panose="020B0604020202020204" pitchFamily="34" charset="0"/>
              </a:rPr>
              <a:t>meningitic</a:t>
            </a:r>
            <a:r>
              <a:rPr lang="en-GB" dirty="0">
                <a:latin typeface="Arial" panose="020B0604020202020204" pitchFamily="34" charset="0"/>
                <a:cs typeface="Arial" panose="020B0604020202020204" pitchFamily="34" charset="0"/>
              </a:rPr>
              <a:t> syndrome suggesting </a:t>
            </a:r>
            <a:r>
              <a:rPr lang="en-GB" b="1" dirty="0">
                <a:latin typeface="Arial" panose="020B0604020202020204" pitchFamily="34" charset="0"/>
                <a:cs typeface="Arial" panose="020B0604020202020204" pitchFamily="34" charset="0"/>
              </a:rPr>
              <a:t>pyogenic meningitis</a:t>
            </a:r>
            <a:r>
              <a:rPr lang="en-GB" dirty="0">
                <a:latin typeface="Arial" panose="020B0604020202020204" pitchFamily="34" charset="0"/>
                <a:cs typeface="Arial" panose="020B0604020202020204" pitchFamily="34" charset="0"/>
              </a:rPr>
              <a:t>, or with slowly progressive </a:t>
            </a:r>
            <a:r>
              <a:rPr lang="en-GB" b="1" dirty="0">
                <a:latin typeface="Arial" panose="020B0604020202020204" pitchFamily="34" charset="0"/>
                <a:cs typeface="Arial" panose="020B0604020202020204" pitchFamily="34" charset="0"/>
              </a:rPr>
              <a:t>dementia</a:t>
            </a:r>
            <a:r>
              <a:rPr lang="en-GB" dirty="0">
                <a:latin typeface="Arial" panose="020B0604020202020204" pitchFamily="34" charset="0"/>
                <a:cs typeface="Arial" panose="020B0604020202020204" pitchFamily="34" charset="0"/>
              </a:rPr>
              <a:t> over months characterized by personality change, social withdrawal, loss of</a:t>
            </a:r>
            <a:r>
              <a:rPr lang="en-GB" b="1" dirty="0">
                <a:latin typeface="Arial" panose="020B0604020202020204" pitchFamily="34" charset="0"/>
                <a:cs typeface="Arial" panose="020B0604020202020204" pitchFamily="34" charset="0"/>
              </a:rPr>
              <a:t> libido</a:t>
            </a:r>
            <a:r>
              <a:rPr lang="en-GB" dirty="0">
                <a:latin typeface="Arial" panose="020B0604020202020204" pitchFamily="34" charset="0"/>
                <a:cs typeface="Arial" panose="020B0604020202020204" pitchFamily="34" charset="0"/>
              </a:rPr>
              <a:t>, and </a:t>
            </a:r>
            <a:r>
              <a:rPr lang="en-GB" b="1" dirty="0">
                <a:latin typeface="Arial" panose="020B0604020202020204" pitchFamily="34" charset="0"/>
                <a:cs typeface="Arial" panose="020B0604020202020204" pitchFamily="34" charset="0"/>
              </a:rPr>
              <a:t>memory </a:t>
            </a:r>
            <a:r>
              <a:rPr lang="en-GB" b="1" dirty="0" smtClean="0">
                <a:latin typeface="Arial" panose="020B0604020202020204" pitchFamily="34" charset="0"/>
                <a:cs typeface="Arial" panose="020B0604020202020204" pitchFamily="34" charset="0"/>
              </a:rPr>
              <a:t>deficits</a:t>
            </a:r>
            <a:r>
              <a:rPr lang="en-GB" dirty="0" smtClean="0">
                <a:latin typeface="Arial" panose="020B0604020202020204" pitchFamily="34" charset="0"/>
                <a:cs typeface="Arial" panose="020B0604020202020204" pitchFamily="34" charset="0"/>
              </a:rPr>
              <a:t>. </a:t>
            </a:r>
            <a:endParaRPr lang="en-GB" dirty="0">
              <a:latin typeface="Arial" panose="020B0604020202020204" pitchFamily="34" charset="0"/>
              <a:cs typeface="Arial" panose="020B0604020202020204" pitchFamily="34" charset="0"/>
            </a:endParaRPr>
          </a:p>
        </p:txBody>
      </p:sp>
      <p:sp>
        <p:nvSpPr>
          <p:cNvPr id="4" name="TextBox 3"/>
          <p:cNvSpPr txBox="1"/>
          <p:nvPr/>
        </p:nvSpPr>
        <p:spPr>
          <a:xfrm>
            <a:off x="1750423" y="6074229"/>
            <a:ext cx="8556171" cy="646331"/>
          </a:xfrm>
          <a:prstGeom prst="rect">
            <a:avLst/>
          </a:prstGeom>
          <a:noFill/>
          <a:ln>
            <a:solidFill>
              <a:schemeClr val="accent2">
                <a:lumMod val="75000"/>
              </a:schemeClr>
            </a:solidFill>
          </a:ln>
        </p:spPr>
        <p:txBody>
          <a:bodyPr wrap="square" rtlCol="0">
            <a:spAutoFit/>
          </a:bodyPr>
          <a:lstStyle/>
          <a:p>
            <a:r>
              <a:rPr lang="en-US" dirty="0" err="1"/>
              <a:t>Agrawal</a:t>
            </a:r>
            <a:r>
              <a:rPr lang="en-US" dirty="0"/>
              <a:t> DK. Epidemiology, Pathogenesis, Clinical Manifestations, and Management Strategies of </a:t>
            </a:r>
            <a:r>
              <a:rPr lang="en-US" dirty="0" err="1"/>
              <a:t>Tuberculous</a:t>
            </a:r>
            <a:r>
              <a:rPr lang="en-US" dirty="0"/>
              <a:t> Meningitis. Arch Intern Med Res. 2025;8(1</a:t>
            </a:r>
            <a:endParaRPr lang="en-US" dirty="0" smtClean="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p:cNvSpPr/>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p:cNvSpPr/>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6722" y="586855"/>
            <a:ext cx="3201366" cy="3387497"/>
          </a:xfrm>
        </p:spPr>
        <p:txBody>
          <a:bodyPr anchor="b">
            <a:normAutofit/>
          </a:bodyPr>
          <a:lstStyle/>
          <a:p>
            <a:pPr algn="r"/>
            <a:r>
              <a:rPr lang="en-GB" sz="3400" b="1">
                <a:solidFill>
                  <a:srgbClr val="FFFFFF"/>
                </a:solidFill>
                <a:latin typeface="Arial" charset="0"/>
                <a:cs typeface="Arial" charset="0"/>
              </a:rPr>
              <a:t>Investigation;</a:t>
            </a:r>
            <a:endParaRPr lang="en-US" sz="3400" b="1">
              <a:solidFill>
                <a:srgbClr val="FFFFFF"/>
              </a:solidFill>
              <a:latin typeface="Arial" charset="0"/>
              <a:cs typeface="Arial" charset="0"/>
            </a:endParaRPr>
          </a:p>
        </p:txBody>
      </p:sp>
      <p:sp>
        <p:nvSpPr>
          <p:cNvPr id="3" name="Content Placeholder 2"/>
          <p:cNvSpPr>
            <a:spLocks noGrp="1"/>
          </p:cNvSpPr>
          <p:nvPr>
            <p:ph idx="1"/>
          </p:nvPr>
        </p:nvSpPr>
        <p:spPr>
          <a:xfrm>
            <a:off x="4581727" y="649480"/>
            <a:ext cx="3025303" cy="5546047"/>
          </a:xfrm>
        </p:spPr>
        <p:txBody>
          <a:bodyPr anchor="ctr">
            <a:normAutofit/>
          </a:bodyPr>
          <a:lstStyle/>
          <a:p>
            <a:r>
              <a:rPr lang="en-US" sz="2400" dirty="0">
                <a:latin typeface="Arial" charset="0"/>
                <a:cs typeface="Arial" charset="0"/>
              </a:rPr>
              <a:t>CSF analysis –high opening pressure</a:t>
            </a:r>
          </a:p>
          <a:p>
            <a:pPr marL="0" indent="0">
              <a:buNone/>
            </a:pPr>
            <a:r>
              <a:rPr lang="en-US" sz="2400" dirty="0">
                <a:latin typeface="Arial" charset="0"/>
                <a:cs typeface="Arial" charset="0"/>
              </a:rPr>
              <a:t>    </a:t>
            </a:r>
          </a:p>
          <a:p>
            <a:r>
              <a:rPr lang="en-US" sz="2400" dirty="0">
                <a:latin typeface="Arial" charset="0"/>
                <a:cs typeface="Arial" charset="0"/>
              </a:rPr>
              <a:t>CSF AFB/Gene </a:t>
            </a:r>
            <a:r>
              <a:rPr lang="en-US" sz="2400" dirty="0" err="1">
                <a:latin typeface="Arial" charset="0"/>
                <a:cs typeface="Arial" charset="0"/>
              </a:rPr>
              <a:t>Xpert</a:t>
            </a:r>
            <a:endParaRPr lang="en-US" sz="2400" dirty="0">
              <a:latin typeface="Arial" charset="0"/>
              <a:cs typeface="Arial" charset="0"/>
            </a:endParaRPr>
          </a:p>
          <a:p>
            <a:pPr marL="0" indent="0">
              <a:buNone/>
            </a:pPr>
            <a:endParaRPr lang="en-US" sz="2400" dirty="0">
              <a:latin typeface="Arial" charset="0"/>
              <a:cs typeface="Arial" charset="0"/>
            </a:endParaRPr>
          </a:p>
          <a:p>
            <a:r>
              <a:rPr lang="en-US" sz="2400" dirty="0">
                <a:latin typeface="Arial" charset="0"/>
                <a:cs typeface="Arial" charset="0"/>
              </a:rPr>
              <a:t>CSF Mycobacterial culture.</a:t>
            </a:r>
          </a:p>
          <a:p>
            <a:r>
              <a:rPr lang="en-US" sz="2400" dirty="0">
                <a:latin typeface="Arial" charset="0"/>
                <a:cs typeface="Arial" charset="0"/>
              </a:rPr>
              <a:t>CSF- ADA</a:t>
            </a:r>
          </a:p>
          <a:p>
            <a:endParaRPr lang="en-US" sz="2400" dirty="0">
              <a:latin typeface="Arial" charset="0"/>
              <a:cs typeface="Arial" charset="0"/>
            </a:endParaRPr>
          </a:p>
        </p:txBody>
      </p:sp>
      <p:pic>
        <p:nvPicPr>
          <p:cNvPr id="4" name="Picture 3"/>
          <p:cNvPicPr>
            <a:picLocks noChangeAspect="1"/>
          </p:cNvPicPr>
          <p:nvPr/>
        </p:nvPicPr>
        <p:blipFill>
          <a:blip r:embed="rId3"/>
          <a:stretch>
            <a:fillRect/>
          </a:stretch>
        </p:blipFill>
        <p:spPr>
          <a:xfrm>
            <a:off x="8109502" y="1120417"/>
            <a:ext cx="3615776" cy="4629045"/>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CSF analysis findings.</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r>
              <a:rPr lang="en-GB" sz="2400" dirty="0">
                <a:latin typeface="Arial" panose="020B0604020202020204" pitchFamily="34" charset="0"/>
                <a:cs typeface="Arial" panose="020B0604020202020204" pitchFamily="34" charset="0"/>
              </a:rPr>
              <a:t>Elevated CSF opening pressure(180 -300mmH2O).</a:t>
            </a:r>
          </a:p>
          <a:p>
            <a:r>
              <a:rPr lang="en-US" sz="2400" dirty="0">
                <a:solidFill>
                  <a:schemeClr val="bg2">
                    <a:lumMod val="10000"/>
                  </a:schemeClr>
                </a:solidFill>
                <a:latin typeface="Arial" panose="020B0604020202020204" pitchFamily="34" charset="0"/>
                <a:cs typeface="Arial" panose="020B0604020202020204" pitchFamily="34" charset="0"/>
              </a:rPr>
              <a:t>Lymphocytic </a:t>
            </a:r>
            <a:r>
              <a:rPr lang="en-US" sz="2400" dirty="0" err="1">
                <a:solidFill>
                  <a:schemeClr val="bg2">
                    <a:lumMod val="10000"/>
                  </a:schemeClr>
                </a:solidFill>
                <a:latin typeface="Arial" panose="020B0604020202020204" pitchFamily="34" charset="0"/>
                <a:cs typeface="Arial" panose="020B0604020202020204" pitchFamily="34" charset="0"/>
              </a:rPr>
              <a:t>pleiocytosis</a:t>
            </a:r>
            <a:r>
              <a:rPr lang="en-US" sz="2400" dirty="0">
                <a:solidFill>
                  <a:schemeClr val="bg2">
                    <a:lumMod val="10000"/>
                  </a:schemeClr>
                </a:solidFill>
                <a:latin typeface="Arial" panose="020B0604020202020204" pitchFamily="34" charset="0"/>
                <a:cs typeface="Arial" panose="020B0604020202020204" pitchFamily="34" charset="0"/>
              </a:rPr>
              <a:t>.</a:t>
            </a:r>
          </a:p>
          <a:p>
            <a:r>
              <a:rPr lang="en-US" sz="2400" dirty="0">
                <a:solidFill>
                  <a:schemeClr val="bg2">
                    <a:lumMod val="10000"/>
                  </a:schemeClr>
                </a:solidFill>
                <a:latin typeface="Arial" panose="020B0604020202020204" pitchFamily="34" charset="0"/>
                <a:cs typeface="Arial" panose="020B0604020202020204" pitchFamily="34" charset="0"/>
              </a:rPr>
              <a:t>Elevated protein concentration</a:t>
            </a:r>
          </a:p>
          <a:p>
            <a:r>
              <a:rPr lang="en-US" sz="2400" dirty="0">
                <a:solidFill>
                  <a:schemeClr val="bg2">
                    <a:lumMod val="10000"/>
                  </a:schemeClr>
                </a:solidFill>
                <a:latin typeface="Arial" panose="020B0604020202020204" pitchFamily="34" charset="0"/>
                <a:cs typeface="Arial" panose="020B0604020202020204" pitchFamily="34" charset="0"/>
              </a:rPr>
              <a:t>Low glucose concentration.</a:t>
            </a:r>
          </a:p>
          <a:p>
            <a:r>
              <a:rPr lang="en-US" sz="2400" dirty="0">
                <a:solidFill>
                  <a:schemeClr val="bg2">
                    <a:lumMod val="10000"/>
                  </a:schemeClr>
                </a:solidFill>
                <a:latin typeface="Arial" panose="020B0604020202020204" pitchFamily="34" charset="0"/>
                <a:cs typeface="Arial" panose="020B0604020202020204" pitchFamily="34" charset="0"/>
              </a:rPr>
              <a:t>CSF WBC is between 100 -500 cells per microliters with lymphocytes predominancy.</a:t>
            </a:r>
          </a:p>
          <a:p>
            <a:r>
              <a:rPr lang="en-US" sz="2400" dirty="0">
                <a:solidFill>
                  <a:schemeClr val="bg2">
                    <a:lumMod val="10000"/>
                  </a:schemeClr>
                </a:solidFill>
                <a:latin typeface="Arial" panose="020B0604020202020204" pitchFamily="34" charset="0"/>
                <a:cs typeface="Arial" panose="020B0604020202020204" pitchFamily="34" charset="0"/>
              </a:rPr>
              <a:t>AFB for Dx is 30% -60</a:t>
            </a:r>
            <a:r>
              <a:rPr lang="en-US" sz="2400" dirty="0" smtClean="0">
                <a:solidFill>
                  <a:schemeClr val="bg2">
                    <a:lumMod val="10000"/>
                  </a:schemeClr>
                </a:solidFill>
                <a:latin typeface="Arial" panose="020B0604020202020204" pitchFamily="34" charset="0"/>
                <a:cs typeface="Arial" panose="020B0604020202020204" pitchFamily="34" charset="0"/>
              </a:rPr>
              <a:t>%.</a:t>
            </a:r>
            <a:endParaRPr lang="en-US" sz="2400" dirty="0">
              <a:solidFill>
                <a:schemeClr val="bg2">
                  <a:lumMod val="10000"/>
                </a:schemeClr>
              </a:solidFill>
              <a:latin typeface="Arial" panose="020B0604020202020204" pitchFamily="34" charset="0"/>
              <a:cs typeface="Arial" panose="020B0604020202020204" pitchFamily="34" charset="0"/>
            </a:endParaRPr>
          </a:p>
          <a:p>
            <a:endParaRPr lang="en-US" sz="3200" dirty="0">
              <a:latin typeface="Arial" charset="0"/>
              <a:cs typeface="Arial"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Imaging modality</a:t>
            </a:r>
            <a:r>
              <a:rPr lang="en-GB" b="1" dirty="0">
                <a:latin typeface="+mn-lt"/>
                <a:cs typeface="Arial" charset="0"/>
              </a:rPr>
              <a:t>.</a:t>
            </a:r>
            <a:endParaRPr lang="en-US" b="1" dirty="0">
              <a:latin typeface="+mn-lt"/>
              <a:cs typeface="Arial" charset="0"/>
            </a:endParaRPr>
          </a:p>
        </p:txBody>
      </p:sp>
      <p:sp>
        <p:nvSpPr>
          <p:cNvPr id="3" name="Content Placeholder 2"/>
          <p:cNvSpPr>
            <a:spLocks noGrp="1"/>
          </p:cNvSpPr>
          <p:nvPr>
            <p:ph idx="1"/>
          </p:nvPr>
        </p:nvSpPr>
        <p:spPr/>
        <p:txBody>
          <a:bodyPr>
            <a:normAutofit/>
          </a:bodyPr>
          <a:lstStyle/>
          <a:p>
            <a:r>
              <a:rPr lang="en-GB" sz="2400" dirty="0">
                <a:latin typeface="Arial" panose="020B0604020202020204" pitchFamily="34" charset="0"/>
                <a:cs typeface="Arial" panose="020B0604020202020204" pitchFamily="34" charset="0"/>
              </a:rPr>
              <a:t>Radiographic modalities for evaluation of patients with suspected CNS TB include brain CT or brain MRI. Brain MRI is </a:t>
            </a:r>
            <a:r>
              <a:rPr lang="en-GB" sz="2400" b="1" dirty="0">
                <a:latin typeface="Arial" panose="020B0604020202020204" pitchFamily="34" charset="0"/>
                <a:cs typeface="Arial" panose="020B0604020202020204" pitchFamily="34" charset="0"/>
              </a:rPr>
              <a:t>superior</a:t>
            </a:r>
            <a:r>
              <a:rPr lang="en-GB" sz="2400" dirty="0">
                <a:latin typeface="Arial" panose="020B0604020202020204" pitchFamily="34" charset="0"/>
                <a:cs typeface="Arial" panose="020B0604020202020204" pitchFamily="34" charset="0"/>
              </a:rPr>
              <a:t> to CT in defining lesions of the </a:t>
            </a:r>
            <a:r>
              <a:rPr lang="en-GB" sz="2400" b="1" dirty="0">
                <a:latin typeface="Arial" panose="020B0604020202020204" pitchFamily="34" charset="0"/>
                <a:cs typeface="Arial" panose="020B0604020202020204" pitchFamily="34" charset="0"/>
              </a:rPr>
              <a:t>basal ganglia, midbrain, </a:t>
            </a:r>
            <a:r>
              <a:rPr lang="en-GB" sz="2400" dirty="0">
                <a:latin typeface="Arial" panose="020B0604020202020204" pitchFamily="34" charset="0"/>
                <a:cs typeface="Arial" panose="020B0604020202020204" pitchFamily="34" charset="0"/>
              </a:rPr>
              <a:t>and</a:t>
            </a:r>
            <a:r>
              <a:rPr lang="en-GB" sz="2400" b="1" dirty="0">
                <a:latin typeface="Arial" panose="020B0604020202020204" pitchFamily="34" charset="0"/>
                <a:cs typeface="Arial" panose="020B0604020202020204" pitchFamily="34" charset="0"/>
              </a:rPr>
              <a:t> brainstem.</a:t>
            </a:r>
          </a:p>
          <a:p>
            <a:pPr marL="0" indent="0">
              <a:buNone/>
            </a:pPr>
            <a:endParaRPr lang="en-GB" sz="2400" dirty="0">
              <a:latin typeface="Arial" panose="020B0604020202020204" pitchFamily="34" charset="0"/>
              <a:cs typeface="Arial" panose="020B0604020202020204" pitchFamily="34" charset="0"/>
            </a:endParaRPr>
          </a:p>
          <a:p>
            <a:pPr marL="0" indent="0">
              <a:buNone/>
            </a:pPr>
            <a:endParaRPr lang="en-GB" sz="2400" dirty="0">
              <a:latin typeface="Arial" panose="020B0604020202020204" pitchFamily="34" charset="0"/>
              <a:cs typeface="Arial" panose="020B0604020202020204" pitchFamily="34" charset="0"/>
            </a:endParaRPr>
          </a:p>
          <a:p>
            <a:r>
              <a:rPr lang="en-GB" sz="2400" dirty="0">
                <a:latin typeface="Arial" panose="020B0604020202020204" pitchFamily="34" charset="0"/>
                <a:cs typeface="Arial" panose="020B0604020202020204" pitchFamily="34" charset="0"/>
              </a:rPr>
              <a:t>In patients with tuberculous meningitis, classical neuroimaging findings include </a:t>
            </a:r>
            <a:r>
              <a:rPr lang="en-GB" sz="2400" b="1" dirty="0">
                <a:latin typeface="Arial" panose="020B0604020202020204" pitchFamily="34" charset="0"/>
                <a:cs typeface="Arial" panose="020B0604020202020204" pitchFamily="34" charset="0"/>
              </a:rPr>
              <a:t>hydrocephalus, basilar exudates, periventricular infarcts,</a:t>
            </a:r>
            <a:r>
              <a:rPr lang="en-GB" sz="2400" dirty="0">
                <a:latin typeface="Arial" panose="020B0604020202020204" pitchFamily="34" charset="0"/>
                <a:cs typeface="Arial" panose="020B0604020202020204" pitchFamily="34" charset="0"/>
              </a:rPr>
              <a:t> and </a:t>
            </a:r>
            <a:r>
              <a:rPr lang="en-GB" sz="2400" b="1" dirty="0">
                <a:latin typeface="Arial" panose="020B0604020202020204" pitchFamily="34" charset="0"/>
                <a:cs typeface="Arial" panose="020B0604020202020204" pitchFamily="34" charset="0"/>
              </a:rPr>
              <a:t>cerebral parenchymal tuberculomas</a:t>
            </a:r>
            <a:endParaRPr lang="en-US" sz="2400" b="1"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b="1" dirty="0">
                <a:latin typeface="Arial" panose="020B0604020202020204" pitchFamily="34" charset="0"/>
                <a:cs typeface="Arial" panose="020B0604020202020204" pitchFamily="34" charset="0"/>
              </a:rPr>
              <a:t>Management.</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r>
              <a:rPr lang="en-US" dirty="0">
                <a:solidFill>
                  <a:schemeClr val="bg2">
                    <a:lumMod val="10000"/>
                  </a:schemeClr>
                </a:solidFill>
                <a:latin typeface="Arial" panose="020B0604020202020204" pitchFamily="34" charset="0"/>
                <a:cs typeface="Arial" panose="020B0604020202020204" pitchFamily="34" charset="0"/>
              </a:rPr>
              <a:t>2 RHZE/ </a:t>
            </a:r>
            <a:r>
              <a:rPr lang="en-US" dirty="0" smtClean="0">
                <a:solidFill>
                  <a:schemeClr val="bg2">
                    <a:lumMod val="10000"/>
                  </a:schemeClr>
                </a:solidFill>
                <a:latin typeface="Arial" panose="020B0604020202020204" pitchFamily="34" charset="0"/>
                <a:cs typeface="Arial" panose="020B0604020202020204" pitchFamily="34" charset="0"/>
              </a:rPr>
              <a:t>10RH.</a:t>
            </a:r>
            <a:endParaRPr lang="en-US" dirty="0">
              <a:solidFill>
                <a:schemeClr val="bg2">
                  <a:lumMod val="10000"/>
                </a:schemeClr>
              </a:solidFill>
              <a:latin typeface="Arial" panose="020B0604020202020204" pitchFamily="34" charset="0"/>
              <a:cs typeface="Arial" panose="020B0604020202020204" pitchFamily="34" charset="0"/>
            </a:endParaRPr>
          </a:p>
          <a:p>
            <a:pPr marL="0" indent="0">
              <a:buNone/>
            </a:pPr>
            <a:endParaRPr lang="en-US" b="1" dirty="0">
              <a:solidFill>
                <a:schemeClr val="bg2">
                  <a:lumMod val="10000"/>
                </a:schemeClr>
              </a:solidFill>
              <a:latin typeface="Arial" panose="020B0604020202020204" pitchFamily="34" charset="0"/>
              <a:cs typeface="Arial" panose="020B0604020202020204" pitchFamily="34" charset="0"/>
            </a:endParaRPr>
          </a:p>
          <a:p>
            <a:r>
              <a:rPr lang="en-US" dirty="0">
                <a:solidFill>
                  <a:schemeClr val="bg2">
                    <a:lumMod val="10000"/>
                  </a:schemeClr>
                </a:solidFill>
                <a:latin typeface="Arial" panose="020B0604020202020204" pitchFamily="34" charset="0"/>
                <a:cs typeface="Arial" panose="020B0604020202020204" pitchFamily="34" charset="0"/>
              </a:rPr>
              <a:t>IV Dexamethasone 0.3 to 0.4mg/kg/day for 6 to 8 weeks then tapered off afterwards</a:t>
            </a:r>
          </a:p>
          <a:p>
            <a:pPr marL="0" indent="0">
              <a:buNone/>
            </a:pPr>
            <a:endParaRPr lang="en-US" dirty="0">
              <a:solidFill>
                <a:schemeClr val="bg2">
                  <a:lumMod val="10000"/>
                </a:schemeClr>
              </a:solidFill>
              <a:latin typeface="Arial" panose="020B0604020202020204" pitchFamily="34" charset="0"/>
              <a:cs typeface="Arial" panose="020B0604020202020204" pitchFamily="34" charset="0"/>
            </a:endParaRPr>
          </a:p>
          <a:p>
            <a:r>
              <a:rPr lang="en-US" dirty="0">
                <a:solidFill>
                  <a:schemeClr val="bg2">
                    <a:lumMod val="10000"/>
                  </a:schemeClr>
                </a:solidFill>
                <a:latin typeface="Arial" panose="020B0604020202020204" pitchFamily="34" charset="0"/>
                <a:cs typeface="Arial" panose="020B0604020202020204" pitchFamily="34" charset="0"/>
              </a:rPr>
              <a:t>VP shunt for the patient with </a:t>
            </a:r>
            <a:r>
              <a:rPr lang="en-US" dirty="0" smtClean="0">
                <a:solidFill>
                  <a:schemeClr val="bg2">
                    <a:lumMod val="10000"/>
                  </a:schemeClr>
                </a:solidFill>
                <a:latin typeface="Arial" panose="020B0604020202020204" pitchFamily="34" charset="0"/>
                <a:cs typeface="Arial" panose="020B0604020202020204" pitchFamily="34" charset="0"/>
              </a:rPr>
              <a:t>hydrocephalus.</a:t>
            </a:r>
            <a:endParaRPr lang="en-US" dirty="0">
              <a:solidFill>
                <a:schemeClr val="bg2">
                  <a:lumMod val="10000"/>
                </a:schemeClr>
              </a:solidFill>
              <a:latin typeface="Arial" panose="020B0604020202020204" pitchFamily="34" charset="0"/>
              <a:cs typeface="Arial" panose="020B0604020202020204" pitchFamily="34" charset="0"/>
            </a:endParaRPr>
          </a:p>
          <a:p>
            <a:endParaRPr lang="en-US" sz="3200" dirty="0">
              <a:latin typeface="Arial" charset="0"/>
              <a:cs typeface="Arial"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CRYPTOCOCCAL MENINGITIS.</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516284"/>
            <a:ext cx="10515600" cy="4976591"/>
          </a:xfrm>
        </p:spPr>
        <p:txBody>
          <a:bodyPr>
            <a:noAutofit/>
          </a:bodyPr>
          <a:lstStyle/>
          <a:p>
            <a:endParaRPr lang="en-GB" sz="2400" b="1" i="1" dirty="0">
              <a:cs typeface="Arial" charset="0"/>
            </a:endParaRPr>
          </a:p>
          <a:p>
            <a:r>
              <a:rPr lang="en-GB" sz="2400" b="1" i="1" dirty="0">
                <a:latin typeface="Arial" panose="020B0604020202020204" pitchFamily="34" charset="0"/>
                <a:cs typeface="Arial" panose="020B0604020202020204" pitchFamily="34" charset="0"/>
              </a:rPr>
              <a:t>Cryptococcus neoformans </a:t>
            </a:r>
            <a:r>
              <a:rPr lang="en-GB" sz="2400" dirty="0">
                <a:latin typeface="Arial" panose="020B0604020202020204" pitchFamily="34" charset="0"/>
                <a:cs typeface="Arial" panose="020B0604020202020204" pitchFamily="34" charset="0"/>
              </a:rPr>
              <a:t>is the most common cause of meningitis in </a:t>
            </a:r>
            <a:r>
              <a:rPr lang="en-GB" sz="2400" b="1" dirty="0">
                <a:latin typeface="Arial" panose="020B0604020202020204" pitchFamily="34" charset="0"/>
                <a:cs typeface="Arial" panose="020B0604020202020204" pitchFamily="34" charset="0"/>
              </a:rPr>
              <a:t>AIDS patients </a:t>
            </a:r>
            <a:r>
              <a:rPr lang="en-GB" sz="2400" dirty="0">
                <a:latin typeface="Arial" panose="020B0604020202020204" pitchFamily="34" charset="0"/>
                <a:cs typeface="Arial" panose="020B0604020202020204" pitchFamily="34" charset="0"/>
              </a:rPr>
              <a:t>and people with low immunity </a:t>
            </a:r>
            <a:r>
              <a:rPr lang="en-GB" sz="2400" b="1" dirty="0">
                <a:latin typeface="Arial" panose="020B0604020202020204" pitchFamily="34" charset="0"/>
                <a:cs typeface="Arial" panose="020B0604020202020204" pitchFamily="34" charset="0"/>
              </a:rPr>
              <a:t>(immunocompromised)</a:t>
            </a:r>
          </a:p>
          <a:p>
            <a:endParaRPr lang="en-GB" sz="2400" dirty="0">
              <a:latin typeface="Arial" panose="020B0604020202020204" pitchFamily="34" charset="0"/>
              <a:cs typeface="Arial" panose="020B0604020202020204" pitchFamily="34" charset="0"/>
            </a:endParaRPr>
          </a:p>
          <a:p>
            <a:r>
              <a:rPr lang="en-GB" sz="2400" dirty="0">
                <a:latin typeface="Arial" panose="020B0604020202020204" pitchFamily="34" charset="0"/>
                <a:cs typeface="Arial" panose="020B0604020202020204" pitchFamily="34" charset="0"/>
              </a:rPr>
              <a:t>Found in soil contaminated with bird droppings, decaying wood  and vegetation</a:t>
            </a:r>
          </a:p>
          <a:p>
            <a:endParaRPr lang="en-GB" sz="2400" dirty="0">
              <a:latin typeface="Arial" panose="020B0604020202020204" pitchFamily="34" charset="0"/>
              <a:cs typeface="Arial" panose="020B0604020202020204" pitchFamily="34" charset="0"/>
            </a:endParaRPr>
          </a:p>
          <a:p>
            <a:r>
              <a:rPr lang="en-GB" sz="2400" dirty="0">
                <a:latin typeface="Arial" panose="020B0604020202020204" pitchFamily="34" charset="0"/>
                <a:cs typeface="Arial" panose="020B0604020202020204" pitchFamily="34" charset="0"/>
              </a:rPr>
              <a:t>Transmission is by </a:t>
            </a:r>
            <a:r>
              <a:rPr lang="en-US" sz="2400" dirty="0">
                <a:solidFill>
                  <a:schemeClr val="bg2">
                    <a:lumMod val="10000"/>
                  </a:schemeClr>
                </a:solidFill>
                <a:latin typeface="Arial" panose="020B0604020202020204" pitchFamily="34" charset="0"/>
                <a:cs typeface="Arial" panose="020B0604020202020204" pitchFamily="34" charset="0"/>
              </a:rPr>
              <a:t>inhalation of airborne encapsulated </a:t>
            </a:r>
            <a:r>
              <a:rPr lang="en-US" sz="2400" b="1" dirty="0">
                <a:solidFill>
                  <a:schemeClr val="bg2">
                    <a:lumMod val="10000"/>
                  </a:schemeClr>
                </a:solidFill>
                <a:latin typeface="Arial" panose="020B0604020202020204" pitchFamily="34" charset="0"/>
                <a:cs typeface="Arial" panose="020B0604020202020204" pitchFamily="34" charset="0"/>
              </a:rPr>
              <a:t>yeast</a:t>
            </a:r>
            <a:r>
              <a:rPr lang="en-US" sz="2400" dirty="0">
                <a:solidFill>
                  <a:schemeClr val="bg2">
                    <a:lumMod val="10000"/>
                  </a:schemeClr>
                </a:solidFill>
                <a:latin typeface="Arial" panose="020B0604020202020204" pitchFamily="34" charset="0"/>
                <a:cs typeface="Arial" panose="020B0604020202020204" pitchFamily="34" charset="0"/>
              </a:rPr>
              <a:t> from soil contaminated with pigeon droppings</a:t>
            </a:r>
            <a:r>
              <a:rPr lang="en-GB" sz="2400" dirty="0">
                <a:solidFill>
                  <a:schemeClr val="bg2">
                    <a:lumMod val="10000"/>
                  </a:schemeClr>
                </a:solidFill>
                <a:latin typeface="Arial" panose="020B0604020202020204" pitchFamily="34" charset="0"/>
                <a:cs typeface="Arial" panose="020B0604020202020204" pitchFamily="34" charset="0"/>
              </a:rPr>
              <a:t>.</a:t>
            </a:r>
          </a:p>
          <a:p>
            <a:endParaRPr lang="en-GB" sz="2400" dirty="0">
              <a:solidFill>
                <a:schemeClr val="bg2">
                  <a:lumMod val="10000"/>
                </a:schemeClr>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A3D3C2-2DF3-4001-9A15-4C3F8ED40175}"/>
              </a:ext>
            </a:extLst>
          </p:cNvPr>
          <p:cNvSpPr>
            <a:spLocks noGrp="1"/>
          </p:cNvSpPr>
          <p:nvPr>
            <p:ph type="title"/>
          </p:nvPr>
        </p:nvSpPr>
        <p:spPr/>
        <p:txBody>
          <a:bodyPr/>
          <a:lstStyle/>
          <a:p>
            <a:pPr algn="ctr"/>
            <a:r>
              <a:rPr lang="en-GB" b="1" dirty="0" err="1">
                <a:latin typeface="Arial" panose="020B0604020202020204" pitchFamily="34" charset="0"/>
                <a:cs typeface="Arial" panose="020B0604020202020204" pitchFamily="34" charset="0"/>
              </a:rPr>
              <a:t>Cryptococcal</a:t>
            </a:r>
            <a:r>
              <a:rPr lang="en-GB" b="1" dirty="0">
                <a:latin typeface="Arial" panose="020B0604020202020204" pitchFamily="34" charset="0"/>
                <a:cs typeface="Arial" panose="020B0604020202020204" pitchFamily="34" charset="0"/>
              </a:rPr>
              <a:t> meningitis</a:t>
            </a:r>
            <a:endParaRPr lang="en-US" b="1" dirty="0"/>
          </a:p>
        </p:txBody>
      </p:sp>
      <p:sp>
        <p:nvSpPr>
          <p:cNvPr id="3" name="Content Placeholder 2">
            <a:extLst>
              <a:ext uri="{FF2B5EF4-FFF2-40B4-BE49-F238E27FC236}">
                <a16:creationId xmlns:a16="http://schemas.microsoft.com/office/drawing/2014/main" xmlns="" id="{6CD41BF8-BDED-4481-A3AE-C9ED10EB814A}"/>
              </a:ext>
            </a:extLst>
          </p:cNvPr>
          <p:cNvSpPr>
            <a:spLocks noGrp="1"/>
          </p:cNvSpPr>
          <p:nvPr>
            <p:ph idx="1"/>
          </p:nvPr>
        </p:nvSpPr>
        <p:spPr>
          <a:xfrm>
            <a:off x="838200" y="1825624"/>
            <a:ext cx="10515600" cy="4872355"/>
          </a:xfrm>
        </p:spPr>
        <p:txBody>
          <a:bodyPr>
            <a:normAutofit lnSpcReduction="10000"/>
          </a:bodyPr>
          <a:lstStyle/>
          <a:p>
            <a:endParaRPr lang="en-US" dirty="0"/>
          </a:p>
          <a:p>
            <a:r>
              <a:rPr lang="en-US" dirty="0">
                <a:latin typeface="Arial" panose="020B0604020202020204" pitchFamily="34" charset="0"/>
                <a:cs typeface="Arial" panose="020B0604020202020204" pitchFamily="34" charset="0"/>
              </a:rPr>
              <a:t>The incidence of cryptococcal meningitis is  152,000 cases per year with annul deaths of 112,000 accounting for 19% of all AIDS – related mortality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In sub-Saharan Africa there are approximately 82,000 cases annually  with 71,000 cryptococcus related death representing 63% of the global  cryptococcal related </a:t>
            </a:r>
            <a:r>
              <a:rPr lang="en-US" dirty="0" smtClean="0">
                <a:latin typeface="Arial" panose="020B0604020202020204" pitchFamily="34" charset="0"/>
                <a:cs typeface="Arial" panose="020B0604020202020204" pitchFamily="34" charset="0"/>
              </a:rPr>
              <a:t>deaths</a:t>
            </a: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 study done by </a:t>
            </a:r>
            <a:r>
              <a:rPr lang="en-US" dirty="0" err="1">
                <a:latin typeface="Arial" panose="020B0604020202020204" pitchFamily="34" charset="0"/>
                <a:cs typeface="Arial" panose="020B0604020202020204" pitchFamily="34" charset="0"/>
              </a:rPr>
              <a:t>Minja</a:t>
            </a:r>
            <a:r>
              <a:rPr lang="en-US" dirty="0">
                <a:latin typeface="Arial" panose="020B0604020202020204" pitchFamily="34" charset="0"/>
                <a:cs typeface="Arial" panose="020B0604020202020204" pitchFamily="34" charset="0"/>
              </a:rPr>
              <a:t> et al in Dar es salaam in 3 public regional hospitals  from 2019 to 2022 involving 405 PLHIV, Showed a prevalence of 11.9 % of CM and mortality rate of 8.9% </a:t>
            </a:r>
          </a:p>
          <a:p>
            <a:endParaRPr lang="en-US" dirty="0"/>
          </a:p>
          <a:p>
            <a:endParaRPr lang="en-US" dirty="0"/>
          </a:p>
          <a:p>
            <a:pPr marL="0" indent="0">
              <a:buNone/>
            </a:pPr>
            <a:endParaRPr lang="en-US" dirty="0"/>
          </a:p>
        </p:txBody>
      </p:sp>
    </p:spTree>
    <p:extLst>
      <p:ext uri="{BB962C8B-B14F-4D97-AF65-F5344CB8AC3E}">
        <p14:creationId xmlns:p14="http://schemas.microsoft.com/office/powerpoint/2010/main" val="301578354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err="1">
                <a:latin typeface="Arial" panose="020B0604020202020204" pitchFamily="34" charset="0"/>
                <a:cs typeface="Arial" panose="020B0604020202020204" pitchFamily="34" charset="0"/>
              </a:rPr>
              <a:t>Cryptococcal</a:t>
            </a:r>
            <a:r>
              <a:rPr lang="en-GB" b="1" dirty="0">
                <a:latin typeface="Arial" panose="020B0604020202020204" pitchFamily="34" charset="0"/>
                <a:cs typeface="Arial" panose="020B0604020202020204" pitchFamily="34" charset="0"/>
              </a:rPr>
              <a:t> meningitis</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marL="0" indent="0">
              <a:buNone/>
            </a:pPr>
            <a:r>
              <a:rPr lang="en-GB" dirty="0">
                <a:latin typeface="Arial" panose="020B0604020202020204" pitchFamily="34" charset="0"/>
                <a:cs typeface="Arial" panose="020B0604020202020204" pitchFamily="34" charset="0"/>
              </a:rPr>
              <a:t>Signs and symptoms</a:t>
            </a:r>
          </a:p>
          <a:p>
            <a:pPr marL="0" indent="0">
              <a:buNone/>
            </a:pPr>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 Headache, fever, intolerance to light and sound, </a:t>
            </a:r>
          </a:p>
          <a:p>
            <a:pPr marL="0" indent="0">
              <a:buNone/>
            </a:pPr>
            <a:endParaRPr lang="en-GB" dirty="0">
              <a:latin typeface="Arial" panose="020B0604020202020204" pitchFamily="34" charset="0"/>
              <a:cs typeface="Arial" panose="020B0604020202020204" pitchFamily="34" charset="0"/>
            </a:endParaRPr>
          </a:p>
          <a:p>
            <a:pPr marL="0" indent="0">
              <a:buNone/>
            </a:pPr>
            <a:r>
              <a:rPr lang="en-GB" dirty="0">
                <a:latin typeface="Arial" panose="020B0604020202020204" pitchFamily="34" charset="0"/>
                <a:cs typeface="Arial" panose="020B0604020202020204" pitchFamily="34" charset="0"/>
              </a:rPr>
              <a:t>• Neck stiffness, vomiting, seizures, impaired vision</a:t>
            </a:r>
          </a:p>
          <a:p>
            <a:pPr marL="0" indent="0">
              <a:buNone/>
            </a:pPr>
            <a:endParaRPr lang="en-GB" dirty="0">
              <a:latin typeface="Arial" panose="020B0604020202020204" pitchFamily="34" charset="0"/>
              <a:cs typeface="Arial" panose="020B0604020202020204" pitchFamily="34" charset="0"/>
            </a:endParaRPr>
          </a:p>
          <a:p>
            <a:pPr marL="0" indent="0">
              <a:buNone/>
            </a:pPr>
            <a:r>
              <a:rPr lang="en-GB" dirty="0">
                <a:latin typeface="Arial" panose="020B0604020202020204" pitchFamily="34" charset="0"/>
                <a:cs typeface="Arial" panose="020B0604020202020204" pitchFamily="34" charset="0"/>
              </a:rPr>
              <a:t> • In advanced stages it may present with Altered mental status that may progress to coma</a:t>
            </a:r>
            <a:endParaRPr lang="en-US"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pPr algn="ctr"/>
            <a:r>
              <a:rPr lang="en-GB" b="1" dirty="0">
                <a:cs typeface="Arial" charset="0"/>
              </a:rPr>
              <a:t> </a:t>
            </a:r>
            <a:r>
              <a:rPr lang="en-GB" b="1" dirty="0">
                <a:latin typeface="Arial" panose="020B0604020202020204" pitchFamily="34" charset="0"/>
                <a:cs typeface="Arial" panose="020B0604020202020204" pitchFamily="34" charset="0"/>
              </a:rPr>
              <a:t>Investigations of </a:t>
            </a:r>
            <a:r>
              <a:rPr lang="en-GB" b="1" dirty="0" err="1">
                <a:latin typeface="Arial" panose="020B0604020202020204" pitchFamily="34" charset="0"/>
                <a:cs typeface="Arial" panose="020B0604020202020204" pitchFamily="34" charset="0"/>
              </a:rPr>
              <a:t>Cryptococcal</a:t>
            </a:r>
            <a:r>
              <a:rPr lang="en-GB" b="1" dirty="0">
                <a:latin typeface="Arial" panose="020B0604020202020204" pitchFamily="34" charset="0"/>
                <a:cs typeface="Arial" panose="020B0604020202020204" pitchFamily="34" charset="0"/>
              </a:rPr>
              <a:t> meningitis</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fontScale="92500" lnSpcReduction="20000"/>
          </a:bodyPr>
          <a:lstStyle/>
          <a:p>
            <a:endParaRPr lang="en-GB" sz="3200" dirty="0">
              <a:cs typeface="Arial" charset="0"/>
            </a:endParaRPr>
          </a:p>
          <a:p>
            <a:r>
              <a:rPr lang="en-GB" sz="3200" dirty="0">
                <a:latin typeface="Arial" panose="020B0604020202020204" pitchFamily="34" charset="0"/>
                <a:cs typeface="Arial" panose="020B0604020202020204" pitchFamily="34" charset="0"/>
              </a:rPr>
              <a:t>LP for CSF analysis.</a:t>
            </a:r>
          </a:p>
          <a:p>
            <a:pPr lvl="2">
              <a:buFont typeface="Wingdings" charset="2"/>
              <a:buChar char="ü"/>
            </a:pPr>
            <a:r>
              <a:rPr lang="en-GB" sz="3200" dirty="0" err="1">
                <a:latin typeface="Arial" panose="020B0604020202020204" pitchFamily="34" charset="0"/>
                <a:cs typeface="Arial" panose="020B0604020202020204" pitchFamily="34" charset="0"/>
              </a:rPr>
              <a:t>CrgAg</a:t>
            </a:r>
            <a:r>
              <a:rPr lang="en-GB" sz="3200" dirty="0">
                <a:latin typeface="Arial" panose="020B0604020202020204" pitchFamily="34" charset="0"/>
                <a:cs typeface="Arial" panose="020B0604020202020204" pitchFamily="34" charset="0"/>
              </a:rPr>
              <a:t> test.</a:t>
            </a:r>
          </a:p>
          <a:p>
            <a:pPr lvl="2">
              <a:buFont typeface="Wingdings" charset="2"/>
              <a:buChar char="ü"/>
            </a:pPr>
            <a:r>
              <a:rPr lang="en-GB" sz="3200" dirty="0">
                <a:latin typeface="Arial" panose="020B0604020202020204" pitchFamily="34" charset="0"/>
                <a:cs typeface="Arial" panose="020B0604020202020204" pitchFamily="34" charset="0"/>
              </a:rPr>
              <a:t>Gram stain</a:t>
            </a:r>
          </a:p>
          <a:p>
            <a:pPr lvl="2">
              <a:buFont typeface="Wingdings" charset="2"/>
              <a:buChar char="ü"/>
            </a:pPr>
            <a:r>
              <a:rPr lang="en-GB" sz="3200" dirty="0">
                <a:latin typeface="Arial" panose="020B0604020202020204" pitchFamily="34" charset="0"/>
                <a:cs typeface="Arial" panose="020B0604020202020204" pitchFamily="34" charset="0"/>
              </a:rPr>
              <a:t>Culture</a:t>
            </a:r>
          </a:p>
          <a:p>
            <a:pPr lvl="2">
              <a:buFont typeface="Wingdings" charset="2"/>
              <a:buChar char="ü"/>
            </a:pPr>
            <a:r>
              <a:rPr lang="en-GB" sz="3200" dirty="0">
                <a:latin typeface="Arial" panose="020B0604020202020204" pitchFamily="34" charset="0"/>
                <a:cs typeface="Arial" panose="020B0604020202020204" pitchFamily="34" charset="0"/>
              </a:rPr>
              <a:t>Indian ink.</a:t>
            </a:r>
          </a:p>
          <a:p>
            <a:pPr marL="914400" lvl="2" indent="0">
              <a:buNone/>
            </a:pPr>
            <a:endParaRPr lang="en-GB" sz="3200" dirty="0">
              <a:latin typeface="Arial" panose="020B0604020202020204" pitchFamily="34" charset="0"/>
              <a:cs typeface="Arial" panose="020B0604020202020204" pitchFamily="34" charset="0"/>
            </a:endParaRPr>
          </a:p>
          <a:p>
            <a:r>
              <a:rPr lang="en-GB" sz="3200" dirty="0">
                <a:latin typeface="Arial" panose="020B0604020202020204" pitchFamily="34" charset="0"/>
                <a:cs typeface="Arial" panose="020B0604020202020204" pitchFamily="34" charset="0"/>
              </a:rPr>
              <a:t>LP for opening pressure. (more than 40cmH20)</a:t>
            </a:r>
          </a:p>
          <a:p>
            <a:pPr marL="0" indent="0">
              <a:buNone/>
            </a:pPr>
            <a:endParaRPr lang="en-GB" sz="3200" dirty="0">
              <a:latin typeface="Arial" panose="020B0604020202020204" pitchFamily="34" charset="0"/>
              <a:cs typeface="Arial" panose="020B0604020202020204" pitchFamily="34" charset="0"/>
            </a:endParaRPr>
          </a:p>
          <a:p>
            <a:r>
              <a:rPr lang="en-GB" sz="3200" dirty="0">
                <a:latin typeface="Arial" panose="020B0604020202020204" pitchFamily="34" charset="0"/>
                <a:cs typeface="Arial" panose="020B0604020202020204" pitchFamily="34" charset="0"/>
              </a:rPr>
              <a:t>Serum </a:t>
            </a:r>
            <a:r>
              <a:rPr lang="en-GB" sz="3200" dirty="0" err="1">
                <a:latin typeface="Arial" panose="020B0604020202020204" pitchFamily="34" charset="0"/>
                <a:cs typeface="Arial" panose="020B0604020202020204" pitchFamily="34" charset="0"/>
              </a:rPr>
              <a:t>CrAg</a:t>
            </a:r>
            <a:r>
              <a:rPr lang="en-GB" sz="3200" dirty="0">
                <a:latin typeface="Arial" panose="020B0604020202020204" pitchFamily="34" charset="0"/>
                <a:cs typeface="Arial" panose="020B0604020202020204" pitchFamily="34" charset="0"/>
              </a:rPr>
              <a:t> test.</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Management – STG.</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825624"/>
            <a:ext cx="10515600" cy="4906645"/>
          </a:xfrm>
        </p:spPr>
        <p:txBody>
          <a:bodyPr>
            <a:normAutofit fontScale="92500" lnSpcReduction="10000"/>
          </a:bodyPr>
          <a:lstStyle/>
          <a:p>
            <a:pPr algn="just"/>
            <a:r>
              <a:rPr lang="en-GB" sz="2400" b="1" dirty="0">
                <a:latin typeface="Arial" panose="020B0604020202020204" pitchFamily="34" charset="0"/>
                <a:cs typeface="Arial" panose="020B0604020202020204" pitchFamily="34" charset="0"/>
              </a:rPr>
              <a:t>Phase 1: Induction phase </a:t>
            </a:r>
            <a:r>
              <a:rPr lang="en-GB" sz="2400" dirty="0">
                <a:latin typeface="Arial" panose="020B0604020202020204" pitchFamily="34" charset="0"/>
                <a:cs typeface="Arial" panose="020B0604020202020204" pitchFamily="34" charset="0"/>
              </a:rPr>
              <a:t>; Amphotericin B 0.7mg/kg/day IV + 5 Flucytosine 100mg/kg/day administered orally for 14 days • </a:t>
            </a:r>
          </a:p>
          <a:p>
            <a:pPr algn="just"/>
            <a:r>
              <a:rPr lang="en-GB" sz="2400" b="1" dirty="0">
                <a:latin typeface="Arial" panose="020B0604020202020204" pitchFamily="34" charset="0"/>
                <a:cs typeface="Arial" panose="020B0604020202020204" pitchFamily="34" charset="0"/>
              </a:rPr>
              <a:t>Phase 2: Consolidation phase </a:t>
            </a:r>
            <a:r>
              <a:rPr lang="en-GB" sz="2400" dirty="0">
                <a:latin typeface="Arial" panose="020B0604020202020204" pitchFamily="34" charset="0"/>
                <a:cs typeface="Arial" panose="020B0604020202020204" pitchFamily="34" charset="0"/>
              </a:rPr>
              <a:t>; Fluconazole 400mg/ day for 8 weeks or until CSF is sterile. </a:t>
            </a:r>
          </a:p>
          <a:p>
            <a:pPr algn="just"/>
            <a:r>
              <a:rPr lang="en-GB" sz="2400" b="1" dirty="0">
                <a:latin typeface="Arial" panose="020B0604020202020204" pitchFamily="34" charset="0"/>
                <a:cs typeface="Arial" panose="020B0604020202020204" pitchFamily="34" charset="0"/>
              </a:rPr>
              <a:t>Phase 3: Suppressive phase</a:t>
            </a:r>
            <a:r>
              <a:rPr lang="en-GB" sz="2400" dirty="0">
                <a:latin typeface="Arial" panose="020B0604020202020204" pitchFamily="34" charset="0"/>
                <a:cs typeface="Arial" panose="020B0604020202020204" pitchFamily="34" charset="0"/>
              </a:rPr>
              <a:t>; Give patient maintenance therapy with Fluconazole 200mg per day.</a:t>
            </a:r>
          </a:p>
          <a:p>
            <a:pPr marL="0" indent="0" algn="just">
              <a:buNone/>
            </a:pPr>
            <a:r>
              <a:rPr lang="en-GB" sz="2400" dirty="0">
                <a:latin typeface="Arial" panose="020B0604020202020204" pitchFamily="34" charset="0"/>
                <a:cs typeface="Arial" panose="020B0604020202020204" pitchFamily="34" charset="0"/>
              </a:rPr>
              <a:t> </a:t>
            </a:r>
          </a:p>
          <a:p>
            <a:pPr algn="just">
              <a:buFont typeface="Wingdings" charset="2"/>
              <a:buChar char="Ø"/>
            </a:pPr>
            <a:r>
              <a:rPr lang="en-GB" sz="2400" b="1" dirty="0">
                <a:latin typeface="Arial" panose="020B0604020202020204" pitchFamily="34" charset="0"/>
                <a:cs typeface="Arial" panose="020B0604020202020204" pitchFamily="34" charset="0"/>
              </a:rPr>
              <a:t>In absence of Amphotericin B and Flucytosine</a:t>
            </a:r>
            <a:r>
              <a:rPr lang="en-GB" sz="2400" dirty="0">
                <a:latin typeface="Arial" panose="020B0604020202020204" pitchFamily="34" charset="0"/>
                <a:cs typeface="Arial" panose="020B0604020202020204" pitchFamily="34" charset="0"/>
              </a:rPr>
              <a:t>, alternative therapy should be: </a:t>
            </a:r>
          </a:p>
          <a:p>
            <a:pPr algn="just"/>
            <a:r>
              <a:rPr lang="en-GB" sz="2400" b="1" dirty="0">
                <a:latin typeface="Arial" panose="020B0604020202020204" pitchFamily="34" charset="0"/>
                <a:cs typeface="Arial" panose="020B0604020202020204" pitchFamily="34" charset="0"/>
              </a:rPr>
              <a:t>Phase 1: Induction phase ; </a:t>
            </a:r>
            <a:r>
              <a:rPr lang="en-GB" sz="2400" dirty="0">
                <a:latin typeface="Arial" panose="020B0604020202020204" pitchFamily="34" charset="0"/>
                <a:cs typeface="Arial" panose="020B0604020202020204" pitchFamily="34" charset="0"/>
              </a:rPr>
              <a:t>Fluconazole 1200mg IV/ORAL once daily for 14 days</a:t>
            </a:r>
          </a:p>
          <a:p>
            <a:pPr algn="just"/>
            <a:r>
              <a:rPr lang="en-GB" sz="2400" dirty="0">
                <a:latin typeface="Arial" panose="020B0604020202020204" pitchFamily="34" charset="0"/>
                <a:cs typeface="Arial" panose="020B0604020202020204" pitchFamily="34" charset="0"/>
              </a:rPr>
              <a:t> </a:t>
            </a:r>
            <a:r>
              <a:rPr lang="en-GB" sz="2400" b="1" dirty="0">
                <a:latin typeface="Arial" panose="020B0604020202020204" pitchFamily="34" charset="0"/>
                <a:cs typeface="Arial" panose="020B0604020202020204" pitchFamily="34" charset="0"/>
              </a:rPr>
              <a:t>Phase 2: Consolidation phase </a:t>
            </a:r>
            <a:r>
              <a:rPr lang="en-GB" sz="2400" dirty="0">
                <a:latin typeface="Arial" panose="020B0604020202020204" pitchFamily="34" charset="0"/>
                <a:cs typeface="Arial" panose="020B0604020202020204" pitchFamily="34" charset="0"/>
              </a:rPr>
              <a:t>• Fluconazole 400mg/ day for 8 weeks or until CSF is sterile. </a:t>
            </a:r>
          </a:p>
          <a:p>
            <a:pPr algn="just"/>
            <a:r>
              <a:rPr lang="en-GB" sz="2400" dirty="0">
                <a:latin typeface="Arial" panose="020B0604020202020204" pitchFamily="34" charset="0"/>
                <a:cs typeface="Arial" panose="020B0604020202020204" pitchFamily="34" charset="0"/>
              </a:rPr>
              <a:t> </a:t>
            </a:r>
            <a:r>
              <a:rPr lang="en-GB" sz="2400" b="1" dirty="0">
                <a:latin typeface="Arial" panose="020B0604020202020204" pitchFamily="34" charset="0"/>
                <a:cs typeface="Arial" panose="020B0604020202020204" pitchFamily="34" charset="0"/>
              </a:rPr>
              <a:t>Phase 3: Suppressive phase </a:t>
            </a:r>
            <a:r>
              <a:rPr lang="en-GB" sz="2400" dirty="0">
                <a:latin typeface="Arial" panose="020B0604020202020204" pitchFamily="34" charset="0"/>
                <a:cs typeface="Arial" panose="020B0604020202020204" pitchFamily="34" charset="0"/>
              </a:rPr>
              <a:t>; Give patient maintenance therapy with Fluconazole 200mg per day(1).</a:t>
            </a:r>
            <a:endParaRPr lang="en-US" sz="240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WHO </a:t>
            </a:r>
            <a:r>
              <a:rPr lang="en-US" sz="4000" b="1" dirty="0" err="1"/>
              <a:t>Cryptococcal</a:t>
            </a:r>
            <a:r>
              <a:rPr lang="en-US" sz="4000" b="1" dirty="0"/>
              <a:t> Meningitis in HIV Guideline</a:t>
            </a:r>
          </a:p>
        </p:txBody>
      </p:sp>
      <p:sp>
        <p:nvSpPr>
          <p:cNvPr id="3" name="Content Placeholder 2"/>
          <p:cNvSpPr>
            <a:spLocks noGrp="1"/>
          </p:cNvSpPr>
          <p:nvPr>
            <p:ph idx="1"/>
          </p:nvPr>
        </p:nvSpPr>
        <p:spPr/>
        <p:txBody>
          <a:bodyPr/>
          <a:lstStyle/>
          <a:p>
            <a:r>
              <a:rPr lang="en-US" dirty="0">
                <a:solidFill>
                  <a:schemeClr val="bg2">
                    <a:lumMod val="10000"/>
                  </a:schemeClr>
                </a:solidFill>
              </a:rPr>
              <a:t>As of 2025, the current World Health Organization (WHO) guidelines for managing </a:t>
            </a:r>
            <a:r>
              <a:rPr lang="en-US" dirty="0" err="1">
                <a:solidFill>
                  <a:schemeClr val="bg2">
                    <a:lumMod val="10000"/>
                  </a:schemeClr>
                </a:solidFill>
              </a:rPr>
              <a:t>cryptococcal</a:t>
            </a:r>
            <a:r>
              <a:rPr lang="en-US" dirty="0">
                <a:solidFill>
                  <a:schemeClr val="bg2">
                    <a:lumMod val="10000"/>
                  </a:schemeClr>
                </a:solidFill>
              </a:rPr>
              <a:t> meningitis in people living with HIV prioritize a simplified, "single high-dose" regimen. </a:t>
            </a:r>
          </a:p>
          <a:p>
            <a:endParaRPr lang="en-US" dirty="0">
              <a:solidFill>
                <a:schemeClr val="bg2">
                  <a:lumMod val="10000"/>
                </a:schemeClr>
              </a:solidFill>
            </a:endParaRPr>
          </a:p>
          <a:p>
            <a:r>
              <a:rPr lang="en-US" dirty="0">
                <a:solidFill>
                  <a:schemeClr val="bg2">
                    <a:lumMod val="10000"/>
                  </a:schemeClr>
                </a:solidFill>
              </a:rPr>
              <a:t>This updated approach aims to reduce hospital stays and minimize the toxic side effects associated with older treatment protocols.</a:t>
            </a:r>
          </a:p>
          <a:p>
            <a:pPr marL="0" indent="0">
              <a:buNone/>
            </a:pPr>
            <a:endParaRPr lang="en-US" dirty="0">
              <a:solidFill>
                <a:schemeClr val="bg2">
                  <a:lumMod val="10000"/>
                </a:schemeClr>
              </a:solidFill>
            </a:endParaRPr>
          </a:p>
          <a:p>
            <a:r>
              <a:rPr lang="en-US" dirty="0">
                <a:solidFill>
                  <a:schemeClr val="bg2">
                    <a:lumMod val="10000"/>
                  </a:schemeClr>
                </a:solidFill>
              </a:rPr>
              <a:t> The Preferred Induction regimen , the WHO strongly recommends a simplified induction phase for patients with advanced HIV disease</a:t>
            </a:r>
          </a:p>
          <a:p>
            <a:endParaRPr lang="en-US" dirty="0"/>
          </a:p>
        </p:txBody>
      </p:sp>
    </p:spTree>
    <p:extLst>
      <p:ext uri="{BB962C8B-B14F-4D97-AF65-F5344CB8AC3E}">
        <p14:creationId xmlns:p14="http://schemas.microsoft.com/office/powerpoint/2010/main" val="58620359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Recommendations</a:t>
            </a:r>
          </a:p>
        </p:txBody>
      </p:sp>
      <p:sp>
        <p:nvSpPr>
          <p:cNvPr id="3" name="Content Placeholder 2"/>
          <p:cNvSpPr>
            <a:spLocks noGrp="1"/>
          </p:cNvSpPr>
          <p:nvPr>
            <p:ph idx="1"/>
          </p:nvPr>
        </p:nvSpPr>
        <p:spPr/>
        <p:txBody>
          <a:bodyPr>
            <a:normAutofit lnSpcReduction="10000"/>
          </a:bodyPr>
          <a:lstStyle/>
          <a:p>
            <a:pPr marL="514350" indent="-514350">
              <a:buFont typeface="+mj-lt"/>
              <a:buAutoNum type="arabicPeriod"/>
            </a:pPr>
            <a:r>
              <a:rPr lang="en-US" dirty="0">
                <a:solidFill>
                  <a:schemeClr val="bg2">
                    <a:lumMod val="10000"/>
                  </a:schemeClr>
                </a:solidFill>
              </a:rPr>
              <a:t>One week of Amphotericin B </a:t>
            </a:r>
            <a:r>
              <a:rPr lang="en-US" dirty="0" err="1">
                <a:solidFill>
                  <a:schemeClr val="bg2">
                    <a:lumMod val="10000"/>
                  </a:schemeClr>
                </a:solidFill>
              </a:rPr>
              <a:t>deoxycholate</a:t>
            </a:r>
            <a:r>
              <a:rPr lang="en-US" dirty="0">
                <a:solidFill>
                  <a:schemeClr val="bg2">
                    <a:lumMod val="10000"/>
                  </a:schemeClr>
                </a:solidFill>
              </a:rPr>
              <a:t>(1mg/kg/day) and </a:t>
            </a:r>
            <a:r>
              <a:rPr lang="en-US" dirty="0" err="1">
                <a:solidFill>
                  <a:schemeClr val="bg2">
                    <a:lumMod val="10000"/>
                  </a:schemeClr>
                </a:solidFill>
              </a:rPr>
              <a:t>flucytosine</a:t>
            </a:r>
            <a:r>
              <a:rPr lang="en-US" dirty="0">
                <a:solidFill>
                  <a:schemeClr val="bg2">
                    <a:lumMod val="10000"/>
                  </a:schemeClr>
                </a:solidFill>
              </a:rPr>
              <a:t> based therapy(1.2g/day) followed by a week of 1.2g of Fluconazole for induction phase.</a:t>
            </a:r>
          </a:p>
          <a:p>
            <a:pPr marL="0" indent="0">
              <a:buNone/>
            </a:pPr>
            <a:r>
              <a:rPr lang="en-US" dirty="0">
                <a:solidFill>
                  <a:schemeClr val="bg2">
                    <a:lumMod val="10000"/>
                  </a:schemeClr>
                </a:solidFill>
              </a:rPr>
              <a:t>Alternatively</a:t>
            </a:r>
          </a:p>
          <a:p>
            <a:pPr marL="514350" indent="-514350">
              <a:buFont typeface="+mj-lt"/>
              <a:buAutoNum type="arabicPeriod"/>
            </a:pPr>
            <a:r>
              <a:rPr lang="en-US" dirty="0">
                <a:solidFill>
                  <a:schemeClr val="bg2">
                    <a:lumMod val="10000"/>
                  </a:schemeClr>
                </a:solidFill>
              </a:rPr>
              <a:t>Two weeks of fluconazole (1200 mg daily for adults, 12 mg/kg/day for children and adolescents) + </a:t>
            </a:r>
            <a:r>
              <a:rPr lang="en-US" dirty="0" err="1">
                <a:solidFill>
                  <a:schemeClr val="bg2">
                    <a:lumMod val="10000"/>
                  </a:schemeClr>
                </a:solidFill>
              </a:rPr>
              <a:t>flucytosine</a:t>
            </a:r>
            <a:r>
              <a:rPr lang="en-US" dirty="0">
                <a:solidFill>
                  <a:schemeClr val="bg2">
                    <a:lumMod val="10000"/>
                  </a:schemeClr>
                </a:solidFill>
              </a:rPr>
              <a:t> (100 mg/kg/day, divided into four doses per day)</a:t>
            </a:r>
          </a:p>
          <a:p>
            <a:pPr marL="514350" indent="-514350">
              <a:buFont typeface="+mj-lt"/>
              <a:buAutoNum type="arabicPeriod"/>
            </a:pPr>
            <a:r>
              <a:rPr lang="en-US" dirty="0">
                <a:solidFill>
                  <a:schemeClr val="bg2">
                    <a:lumMod val="10000"/>
                  </a:schemeClr>
                </a:solidFill>
              </a:rPr>
              <a:t>Two weeks of amphotericin B </a:t>
            </a:r>
            <a:r>
              <a:rPr lang="en-US" dirty="0" err="1">
                <a:solidFill>
                  <a:schemeClr val="bg2">
                    <a:lumMod val="10000"/>
                  </a:schemeClr>
                </a:solidFill>
              </a:rPr>
              <a:t>deoxycholate</a:t>
            </a:r>
            <a:r>
              <a:rPr lang="en-US" dirty="0">
                <a:solidFill>
                  <a:schemeClr val="bg2">
                    <a:lumMod val="10000"/>
                  </a:schemeClr>
                </a:solidFill>
              </a:rPr>
              <a:t> (1.0 mg/kg/day) + fluconazole (1200 mg daily for adults,</a:t>
            </a:r>
          </a:p>
          <a:p>
            <a:pPr marL="0" indent="0">
              <a:buNone/>
            </a:pPr>
            <a:r>
              <a:rPr lang="en-US" dirty="0">
                <a:solidFill>
                  <a:schemeClr val="bg2">
                    <a:lumMod val="10000"/>
                  </a:schemeClr>
                </a:solidFill>
              </a:rPr>
              <a:t>NB: Pediatric dose of fluconazole 12mg/kg/day Max 800mg</a:t>
            </a:r>
          </a:p>
          <a:p>
            <a:endParaRPr lang="en-US" dirty="0"/>
          </a:p>
        </p:txBody>
      </p:sp>
    </p:spTree>
    <p:extLst>
      <p:ext uri="{BB962C8B-B14F-4D97-AF65-F5344CB8AC3E}">
        <p14:creationId xmlns:p14="http://schemas.microsoft.com/office/powerpoint/2010/main" val="291491168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mn-lt"/>
                <a:cs typeface="Arial" charset="0"/>
              </a:rPr>
              <a:t>OTHER CNS INFECTIONS.</a:t>
            </a:r>
            <a:endParaRPr lang="en-US" b="1" dirty="0">
              <a:latin typeface="+mn-lt"/>
              <a:cs typeface="Arial"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CCE02B6E-4803-49F1-ABEE-92D31592B735}"/>
              </a:ext>
            </a:extLst>
          </p:cNvPr>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OTHER CNS INFECTIONS</a:t>
            </a:r>
          </a:p>
        </p:txBody>
      </p:sp>
      <p:sp>
        <p:nvSpPr>
          <p:cNvPr id="5" name="Content Placeholder 4">
            <a:extLst>
              <a:ext uri="{FF2B5EF4-FFF2-40B4-BE49-F238E27FC236}">
                <a16:creationId xmlns:a16="http://schemas.microsoft.com/office/drawing/2014/main" xmlns="" id="{2CB9E0A7-B566-49B8-A9EE-9BCBBED281C1}"/>
              </a:ext>
            </a:extLst>
          </p:cNvPr>
          <p:cNvSpPr>
            <a:spLocks noGrp="1"/>
          </p:cNvSpPr>
          <p:nvPr>
            <p:ph idx="1"/>
          </p:nvPr>
        </p:nvSpPr>
        <p:spPr/>
        <p:txBody>
          <a:bodyPr/>
          <a:lstStyle/>
          <a:p>
            <a:r>
              <a:rPr lang="en-US" dirty="0">
                <a:latin typeface="Arial" panose="020B0604020202020204" pitchFamily="34" charset="0"/>
                <a:cs typeface="Arial" panose="020B0604020202020204" pitchFamily="34" charset="0"/>
              </a:rPr>
              <a:t>CNS infections can infect various parts of the brain including the meninges and the brain parenchyma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Brain parenchyma infections varies on their pathophysiological mechanism and etiology agents.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Some of the infections includes encephalitis, </a:t>
            </a:r>
            <a:r>
              <a:rPr lang="en-GB" dirty="0">
                <a:latin typeface="Arial" panose="020B0604020202020204" pitchFamily="34" charset="0"/>
                <a:cs typeface="Arial" panose="020B0604020202020204" pitchFamily="34" charset="0"/>
              </a:rPr>
              <a:t>neurocysticercosis, progressive multifocal leukoencephalopathy (PML), Brain abscess, toxoplasmosis</a:t>
            </a:r>
          </a:p>
          <a:p>
            <a:endParaRPr lang="en-GB" b="1" dirty="0">
              <a:latin typeface="Arial" charset="0"/>
              <a:cs typeface="Arial" charset="0"/>
            </a:endParaRPr>
          </a:p>
          <a:p>
            <a:endParaRPr lang="en-GB" b="1" dirty="0">
              <a:latin typeface="Arial" charset="0"/>
              <a:cs typeface="Arial" charset="0"/>
            </a:endParaRPr>
          </a:p>
          <a:p>
            <a:endParaRPr lang="en-GB" b="1" dirty="0">
              <a:latin typeface="Arial" charset="0"/>
              <a:cs typeface="Arial" charset="0"/>
            </a:endParaRPr>
          </a:p>
          <a:p>
            <a:endParaRPr lang="en-US" dirty="0"/>
          </a:p>
        </p:txBody>
      </p:sp>
    </p:spTree>
    <p:extLst>
      <p:ext uri="{BB962C8B-B14F-4D97-AF65-F5344CB8AC3E}">
        <p14:creationId xmlns:p14="http://schemas.microsoft.com/office/powerpoint/2010/main" val="276999827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EAC1B31-30A4-42A6-B005-CB5770352ABA}"/>
              </a:ext>
            </a:extLst>
          </p:cNvPr>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1. ENCEPHALITIS</a:t>
            </a:r>
          </a:p>
        </p:txBody>
      </p:sp>
      <p:sp>
        <p:nvSpPr>
          <p:cNvPr id="3" name="Content Placeholder 2">
            <a:extLst>
              <a:ext uri="{FF2B5EF4-FFF2-40B4-BE49-F238E27FC236}">
                <a16:creationId xmlns:a16="http://schemas.microsoft.com/office/drawing/2014/main" xmlns="" id="{3766A551-7564-4ED4-BF06-C938EF3F1B21}"/>
              </a:ext>
            </a:extLst>
          </p:cNvPr>
          <p:cNvSpPr>
            <a:spLocks noGrp="1"/>
          </p:cNvSpPr>
          <p:nvPr>
            <p:ph idx="1"/>
          </p:nvPr>
        </p:nvSpPr>
        <p:spPr/>
        <p:txBody>
          <a:bodyPr>
            <a:normAutofit fontScale="92500" lnSpcReduction="10000"/>
          </a:bodyPr>
          <a:lstStyle/>
          <a:p>
            <a:r>
              <a:rPr lang="en-US" dirty="0">
                <a:latin typeface="Arial" panose="020B0604020202020204" pitchFamily="34" charset="0"/>
                <a:cs typeface="Arial" panose="020B0604020202020204" pitchFamily="34" charset="0"/>
              </a:rPr>
              <a:t>Inflammation of the brain parenchyma can  caused by either an infection, usually with a virus or from a primary autoimmune process.</a:t>
            </a:r>
          </a:p>
          <a:p>
            <a:endParaRPr lang="en-US"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The most common causes of sporadic viral encephalitis in</a:t>
            </a:r>
            <a:r>
              <a:rPr lang="en-GB" b="1" dirty="0">
                <a:latin typeface="Arial" panose="020B0604020202020204" pitchFamily="34" charset="0"/>
                <a:cs typeface="Arial" panose="020B0604020202020204" pitchFamily="34" charset="0"/>
              </a:rPr>
              <a:t> immunocompetent </a:t>
            </a:r>
            <a:r>
              <a:rPr lang="en-GB" dirty="0">
                <a:latin typeface="Arial" panose="020B0604020202020204" pitchFamily="34" charset="0"/>
                <a:cs typeface="Arial" panose="020B0604020202020204" pitchFamily="34" charset="0"/>
              </a:rPr>
              <a:t>adults are </a:t>
            </a:r>
            <a:r>
              <a:rPr lang="en-GB" b="1" dirty="0">
                <a:latin typeface="Arial" panose="020B0604020202020204" pitchFamily="34" charset="0"/>
                <a:cs typeface="Arial" panose="020B0604020202020204" pitchFamily="34" charset="0"/>
              </a:rPr>
              <a:t>herpesviruses 1. </a:t>
            </a:r>
          </a:p>
          <a:p>
            <a:pPr marL="0" indent="0">
              <a:buNone/>
            </a:pPr>
            <a:endParaRPr lang="en-GB" b="1" dirty="0">
              <a:latin typeface="Arial" panose="020B0604020202020204" pitchFamily="34" charset="0"/>
              <a:cs typeface="Arial" panose="020B0604020202020204" pitchFamily="34" charset="0"/>
            </a:endParaRPr>
          </a:p>
          <a:p>
            <a:r>
              <a:rPr lang="en-GB" b="1" dirty="0">
                <a:latin typeface="Arial" panose="020B0604020202020204" pitchFamily="34" charset="0"/>
                <a:cs typeface="Arial" panose="020B0604020202020204" pitchFamily="34" charset="0"/>
              </a:rPr>
              <a:t>Other include causes of encephalitis include VZV, CMV and Rabies</a:t>
            </a:r>
          </a:p>
          <a:p>
            <a:endParaRPr lang="en-GB" b="1" dirty="0">
              <a:latin typeface="Arial" panose="020B0604020202020204" pitchFamily="34" charset="0"/>
              <a:cs typeface="Arial" panose="020B0604020202020204" pitchFamily="34" charset="0"/>
            </a:endParaRPr>
          </a:p>
          <a:p>
            <a:r>
              <a:rPr lang="en-GB" b="1" dirty="0">
                <a:latin typeface="Arial" panose="020B0604020202020204" pitchFamily="34" charset="0"/>
                <a:cs typeface="Arial" panose="020B0604020202020204" pitchFamily="34" charset="0"/>
              </a:rPr>
              <a:t>Epidemics</a:t>
            </a:r>
            <a:r>
              <a:rPr lang="en-GB" dirty="0">
                <a:latin typeface="Arial" panose="020B0604020202020204" pitchFamily="34" charset="0"/>
                <a:cs typeface="Arial" panose="020B0604020202020204" pitchFamily="34" charset="0"/>
              </a:rPr>
              <a:t> of viral encephalitis are usually caused by </a:t>
            </a:r>
            <a:r>
              <a:rPr lang="en-GB" b="1" dirty="0">
                <a:latin typeface="Arial" panose="020B0604020202020204" pitchFamily="34" charset="0"/>
                <a:cs typeface="Arial" panose="020B0604020202020204" pitchFamily="34" charset="0"/>
              </a:rPr>
              <a:t>arboviruses (WNV, EEEV, JEV).</a:t>
            </a:r>
            <a:endParaRPr lang="en-US" b="1"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43432495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Pathogenesis of viral encephalitis.</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825624"/>
            <a:ext cx="10515600" cy="5352416"/>
          </a:xfrm>
        </p:spPr>
        <p:txBody>
          <a:bodyPr>
            <a:noAutofit/>
          </a:bodyPr>
          <a:lstStyle/>
          <a:p>
            <a:r>
              <a:rPr lang="en-GB" sz="2400" dirty="0">
                <a:latin typeface="Arial" panose="020B0604020202020204" pitchFamily="34" charset="0"/>
                <a:cs typeface="Arial" panose="020B0604020202020204" pitchFamily="34" charset="0"/>
              </a:rPr>
              <a:t>Damage of the brain parenchyma is caused by direct cytopathic effect and immune mediated damage causing an inflammatory response causing neuronal dysfunction</a:t>
            </a:r>
          </a:p>
          <a:p>
            <a:pPr marL="0" indent="0">
              <a:buNone/>
            </a:pPr>
            <a:endParaRPr lang="en-GB" sz="2400" dirty="0">
              <a:latin typeface="Arial" panose="020B0604020202020204" pitchFamily="34" charset="0"/>
              <a:cs typeface="Arial" panose="020B0604020202020204" pitchFamily="34" charset="0"/>
            </a:endParaRPr>
          </a:p>
          <a:p>
            <a:r>
              <a:rPr lang="en-GB" sz="2400" dirty="0">
                <a:latin typeface="Arial" panose="020B0604020202020204" pitchFamily="34" charset="0"/>
                <a:cs typeface="Arial" panose="020B0604020202020204" pitchFamily="34" charset="0"/>
              </a:rPr>
              <a:t>The distribution of lesions varies with the type of virus. For example, in </a:t>
            </a:r>
            <a:r>
              <a:rPr lang="en-GB" sz="2400" b="1" dirty="0">
                <a:latin typeface="Arial" panose="020B0604020202020204" pitchFamily="34" charset="0"/>
                <a:cs typeface="Arial" panose="020B0604020202020204" pitchFamily="34" charset="0"/>
              </a:rPr>
              <a:t>herpes simplex encephalitis</a:t>
            </a:r>
            <a:r>
              <a:rPr lang="en-GB" sz="2400" dirty="0">
                <a:latin typeface="Arial" panose="020B0604020202020204" pitchFamily="34" charset="0"/>
                <a:cs typeface="Arial" panose="020B0604020202020204" pitchFamily="34" charset="0"/>
              </a:rPr>
              <a:t>, the </a:t>
            </a:r>
            <a:r>
              <a:rPr lang="en-GB" sz="2400" b="1" dirty="0">
                <a:latin typeface="Arial" panose="020B0604020202020204" pitchFamily="34" charset="0"/>
                <a:cs typeface="Arial" panose="020B0604020202020204" pitchFamily="34" charset="0"/>
              </a:rPr>
              <a:t>temporal lobes </a:t>
            </a:r>
            <a:r>
              <a:rPr lang="en-GB" sz="2400" dirty="0">
                <a:latin typeface="Arial" panose="020B0604020202020204" pitchFamily="34" charset="0"/>
                <a:cs typeface="Arial" panose="020B0604020202020204" pitchFamily="34" charset="0"/>
              </a:rPr>
              <a:t>are usually primarily affected, whereas </a:t>
            </a:r>
            <a:r>
              <a:rPr lang="en-GB" sz="2400" b="1" dirty="0">
                <a:latin typeface="Arial" panose="020B0604020202020204" pitchFamily="34" charset="0"/>
                <a:cs typeface="Arial" panose="020B0604020202020204" pitchFamily="34" charset="0"/>
              </a:rPr>
              <a:t>cytomegalovirus</a:t>
            </a:r>
            <a:r>
              <a:rPr lang="en-GB" sz="2400" dirty="0">
                <a:latin typeface="Arial" panose="020B0604020202020204" pitchFamily="34" charset="0"/>
                <a:cs typeface="Arial" panose="020B0604020202020204" pitchFamily="34" charset="0"/>
              </a:rPr>
              <a:t> can involve the areas adjacent to the </a:t>
            </a:r>
            <a:r>
              <a:rPr lang="en-GB" sz="2400" b="1" dirty="0">
                <a:latin typeface="Arial" panose="020B0604020202020204" pitchFamily="34" charset="0"/>
                <a:cs typeface="Arial" panose="020B0604020202020204" pitchFamily="34" charset="0"/>
              </a:rPr>
              <a:t>ventricles (ventriculitis). </a:t>
            </a:r>
          </a:p>
          <a:p>
            <a:endParaRPr lang="en-GB" sz="2400" dirty="0">
              <a:latin typeface="Arial" panose="020B0604020202020204" pitchFamily="34" charset="0"/>
              <a:cs typeface="Arial" panose="020B0604020202020204" pitchFamily="34" charset="0"/>
            </a:endParaRPr>
          </a:p>
          <a:p>
            <a:r>
              <a:rPr lang="en-GB" sz="2400" dirty="0">
                <a:latin typeface="Arial" panose="020B0604020202020204" pitchFamily="34" charset="0"/>
                <a:cs typeface="Arial" panose="020B0604020202020204" pitchFamily="34" charset="0"/>
              </a:rPr>
              <a:t>Inclusion bodies may be present in the neurons and glial cells and there is an infiltration of polymorphonuclear cells in the perivascular space.</a:t>
            </a:r>
            <a:endParaRPr lang="en-US" sz="2400" b="1"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Clinical features.</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825624"/>
            <a:ext cx="10515600" cy="4815205"/>
          </a:xfrm>
        </p:spPr>
        <p:txBody>
          <a:bodyPr>
            <a:noAutofit/>
          </a:bodyPr>
          <a:lstStyle/>
          <a:p>
            <a:r>
              <a:rPr lang="en-GB" b="1" dirty="0">
                <a:latin typeface="Arial" panose="020B0604020202020204" pitchFamily="34" charset="0"/>
                <a:cs typeface="Arial" panose="020B0604020202020204" pitchFamily="34" charset="0"/>
              </a:rPr>
              <a:t>Signs of focal neurological deficits</a:t>
            </a:r>
            <a:r>
              <a:rPr lang="en-GB" dirty="0">
                <a:latin typeface="Arial" panose="020B0604020202020204" pitchFamily="34" charset="0"/>
                <a:cs typeface="Arial" panose="020B0604020202020204" pitchFamily="34" charset="0"/>
              </a:rPr>
              <a:t>(aphasia, hemiparesis, involuntary movements and cranial nerve deficits)</a:t>
            </a:r>
          </a:p>
          <a:p>
            <a:endParaRPr lang="en-GB" dirty="0">
              <a:latin typeface="Arial" panose="020B0604020202020204" pitchFamily="34" charset="0"/>
              <a:cs typeface="Arial" panose="020B0604020202020204" pitchFamily="34" charset="0"/>
            </a:endParaRPr>
          </a:p>
          <a:p>
            <a:pPr marL="0" indent="0">
              <a:buNone/>
            </a:pPr>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Other features includes, headache, fever, behavioural changes, hallucinations and seizures.</a:t>
            </a:r>
          </a:p>
          <a:p>
            <a:pPr marL="0" indent="0">
              <a:buNone/>
            </a:pPr>
            <a:endParaRPr lang="en-GB" dirty="0">
              <a:latin typeface="Arial" panose="020B0604020202020204" pitchFamily="34" charset="0"/>
              <a:cs typeface="Arial" panose="020B0604020202020204" pitchFamily="34" charset="0"/>
            </a:endParaRPr>
          </a:p>
          <a:p>
            <a:r>
              <a:rPr lang="en-GB" b="1" dirty="0">
                <a:latin typeface="Arial" panose="020B0604020202020204" pitchFamily="34" charset="0"/>
                <a:cs typeface="Arial" panose="020B0604020202020204" pitchFamily="34" charset="0"/>
              </a:rPr>
              <a:t>Rabies</a:t>
            </a:r>
            <a:r>
              <a:rPr lang="en-GB" dirty="0">
                <a:latin typeface="Arial" panose="020B0604020202020204" pitchFamily="34" charset="0"/>
                <a:cs typeface="Arial" panose="020B0604020202020204" pitchFamily="34" charset="0"/>
              </a:rPr>
              <a:t> have distinct characteristics; </a:t>
            </a:r>
            <a:r>
              <a:rPr lang="en-GB" b="0" i="0" dirty="0">
                <a:solidFill>
                  <a:srgbClr val="000000"/>
                </a:solidFill>
                <a:effectLst/>
                <a:latin typeface="Arial" panose="020B0604020202020204" pitchFamily="34" charset="0"/>
                <a:cs typeface="Arial" panose="020B0604020202020204" pitchFamily="34" charset="0"/>
              </a:rPr>
              <a:t>anxiety, confusion, and agitation. As the disease progresses, the person may experience delirium, hallucinations, hydrophobia and insomnia</a:t>
            </a:r>
            <a:endParaRPr lang="en-US"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Investigations.</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825624"/>
            <a:ext cx="10515600" cy="4940935"/>
          </a:xfrm>
        </p:spPr>
        <p:txBody>
          <a:bodyPr>
            <a:noAutofit/>
          </a:bodyPr>
          <a:lstStyle/>
          <a:p>
            <a:r>
              <a:rPr lang="en-GB" dirty="0">
                <a:latin typeface="Arial" panose="020B0604020202020204" pitchFamily="34" charset="0"/>
                <a:cs typeface="Arial" panose="020B0604020202020204" pitchFamily="34" charset="0"/>
              </a:rPr>
              <a:t> </a:t>
            </a:r>
            <a:r>
              <a:rPr lang="en-GB" sz="2400" b="1" dirty="0">
                <a:latin typeface="Arial" panose="020B0604020202020204" pitchFamily="34" charset="0"/>
                <a:cs typeface="Arial" panose="020B0604020202020204" pitchFamily="34" charset="0"/>
              </a:rPr>
              <a:t>CSF PCR </a:t>
            </a:r>
            <a:r>
              <a:rPr lang="en-GB" sz="2400" dirty="0">
                <a:latin typeface="Arial" panose="020B0604020202020204" pitchFamily="34" charset="0"/>
                <a:cs typeface="Arial" panose="020B0604020202020204" pitchFamily="34" charset="0"/>
              </a:rPr>
              <a:t>tests allow for rapid and reliable diagnosis of HSV, EBV, CMV, HHV-6, and enteroviruses.</a:t>
            </a:r>
          </a:p>
          <a:p>
            <a:pPr marL="0" indent="0">
              <a:buNone/>
            </a:pPr>
            <a:endParaRPr lang="en-GB" sz="2400" dirty="0">
              <a:latin typeface="Arial" panose="020B0604020202020204" pitchFamily="34" charset="0"/>
              <a:cs typeface="Arial" panose="020B0604020202020204" pitchFamily="34" charset="0"/>
            </a:endParaRPr>
          </a:p>
          <a:p>
            <a:r>
              <a:rPr lang="en-GB" sz="2400" dirty="0">
                <a:latin typeface="Arial" panose="020B0604020202020204" pitchFamily="34" charset="0"/>
                <a:cs typeface="Arial" panose="020B0604020202020204" pitchFamily="34" charset="0"/>
              </a:rPr>
              <a:t>virus-specific</a:t>
            </a:r>
            <a:r>
              <a:rPr lang="en-GB" sz="2400" b="1" dirty="0">
                <a:latin typeface="Arial" panose="020B0604020202020204" pitchFamily="34" charset="0"/>
                <a:cs typeface="Arial" panose="020B0604020202020204" pitchFamily="34" charset="0"/>
              </a:rPr>
              <a:t> IgM </a:t>
            </a:r>
            <a:r>
              <a:rPr lang="en-GB" sz="2400" dirty="0">
                <a:latin typeface="Arial" panose="020B0604020202020204" pitchFamily="34" charset="0"/>
                <a:cs typeface="Arial" panose="020B0604020202020204" pitchFamily="34" charset="0"/>
              </a:rPr>
              <a:t>antibodies. Demonstration of </a:t>
            </a:r>
            <a:r>
              <a:rPr lang="en-GB" sz="2400" b="1" dirty="0">
                <a:latin typeface="Arial" panose="020B0604020202020204" pitchFamily="34" charset="0"/>
                <a:cs typeface="Arial" panose="020B0604020202020204" pitchFamily="34" charset="0"/>
              </a:rPr>
              <a:t>WNV IgM antibodies </a:t>
            </a:r>
            <a:r>
              <a:rPr lang="en-GB" sz="2400" dirty="0">
                <a:latin typeface="Arial" panose="020B0604020202020204" pitchFamily="34" charset="0"/>
                <a:cs typeface="Arial" panose="020B0604020202020204" pitchFamily="34" charset="0"/>
              </a:rPr>
              <a:t>in the CSF is diagnostic of </a:t>
            </a:r>
            <a:r>
              <a:rPr lang="en-GB" sz="2400" b="1" dirty="0">
                <a:latin typeface="Arial" panose="020B0604020202020204" pitchFamily="34" charset="0"/>
                <a:cs typeface="Arial" panose="020B0604020202020204" pitchFamily="34" charset="0"/>
              </a:rPr>
              <a:t>WNV encephalitis</a:t>
            </a:r>
            <a:r>
              <a:rPr lang="en-GB" sz="2400" dirty="0">
                <a:latin typeface="Arial" panose="020B0604020202020204" pitchFamily="34" charset="0"/>
                <a:cs typeface="Arial" panose="020B0604020202020204" pitchFamily="34" charset="0"/>
              </a:rPr>
              <a:t>.</a:t>
            </a:r>
          </a:p>
          <a:p>
            <a:pPr marL="0" indent="0">
              <a:buNone/>
            </a:pPr>
            <a:endParaRPr lang="en-GB" sz="2400" dirty="0">
              <a:latin typeface="Arial" panose="020B0604020202020204" pitchFamily="34" charset="0"/>
              <a:cs typeface="Arial" panose="020B0604020202020204" pitchFamily="34" charset="0"/>
            </a:endParaRPr>
          </a:p>
          <a:p>
            <a:r>
              <a:rPr lang="en-US" sz="2400" b="1" dirty="0">
                <a:solidFill>
                  <a:srgbClr val="000000"/>
                </a:solidFill>
                <a:latin typeface="Arial" panose="020B0604020202020204" pitchFamily="34" charset="0"/>
                <a:cs typeface="Arial" panose="020B0604020202020204" pitchFamily="34" charset="0"/>
              </a:rPr>
              <a:t>IgG and IgM titers </a:t>
            </a:r>
            <a:r>
              <a:rPr lang="en-US" sz="2400" dirty="0">
                <a:solidFill>
                  <a:srgbClr val="000000"/>
                </a:solidFill>
                <a:latin typeface="Arial" panose="020B0604020202020204" pitchFamily="34" charset="0"/>
                <a:cs typeface="Arial" panose="020B0604020202020204" pitchFamily="34" charset="0"/>
              </a:rPr>
              <a:t>may be more sensitive than PCR for VZV</a:t>
            </a:r>
          </a:p>
          <a:p>
            <a:endParaRPr lang="en-US" sz="2400" dirty="0">
              <a:solidFill>
                <a:srgbClr val="000000"/>
              </a:solidFill>
              <a:latin typeface="Arial" panose="020B0604020202020204" pitchFamily="34" charset="0"/>
              <a:cs typeface="Arial" panose="020B0604020202020204" pitchFamily="34" charset="0"/>
            </a:endParaRPr>
          </a:p>
          <a:p>
            <a:r>
              <a:rPr lang="en-US" sz="2400" dirty="0">
                <a:solidFill>
                  <a:srgbClr val="000000"/>
                </a:solidFill>
                <a:latin typeface="Arial" panose="020B0604020202020204" pitchFamily="34" charset="0"/>
                <a:cs typeface="Arial" panose="020B0604020202020204" pitchFamily="34" charset="0"/>
              </a:rPr>
              <a:t>Rabies can be diagnosed </a:t>
            </a:r>
            <a:r>
              <a:rPr lang="en-GB" sz="2400" dirty="0">
                <a:latin typeface="Arial" panose="020B0604020202020204" pitchFamily="34" charset="0"/>
                <a:cs typeface="Arial" panose="020B0604020202020204" pitchFamily="34" charset="0"/>
              </a:rPr>
              <a:t>rapid immunofluorescent techniques (</a:t>
            </a:r>
            <a:r>
              <a:rPr lang="en-US" sz="2400" b="1" dirty="0">
                <a:solidFill>
                  <a:srgbClr val="000000"/>
                </a:solidFill>
                <a:latin typeface="Arial" panose="020B0604020202020204" pitchFamily="34" charset="0"/>
                <a:cs typeface="Arial" panose="020B0604020202020204" pitchFamily="34" charset="0"/>
              </a:rPr>
              <a:t>direct fluorescent antibody ) </a:t>
            </a:r>
            <a:r>
              <a:rPr lang="en-GB" sz="2400" dirty="0">
                <a:latin typeface="Arial" panose="020B0604020202020204" pitchFamily="34" charset="0"/>
                <a:cs typeface="Arial" panose="020B0604020202020204" pitchFamily="34" charset="0"/>
              </a:rPr>
              <a:t>can detect antigen in corneal impression smears or skin biopsies.</a:t>
            </a:r>
            <a:endParaRPr lang="en-US" sz="2400" b="1" dirty="0">
              <a:solidFill>
                <a:srgbClr val="000000"/>
              </a:solidFill>
              <a:latin typeface="Arial" panose="020B0604020202020204" pitchFamily="34" charset="0"/>
              <a:cs typeface="Arial" panose="020B0604020202020204" pitchFamily="34" charset="0"/>
            </a:endParaRPr>
          </a:p>
          <a:p>
            <a:pPr marL="0" indent="0">
              <a:buNone/>
            </a:pPr>
            <a:endParaRPr lang="en-US" sz="3200" b="1"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88670" y="834390"/>
            <a:ext cx="10629899" cy="5269229"/>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b="1" dirty="0">
                <a:latin typeface="Arial" panose="020B0604020202020204" pitchFamily="34" charset="0"/>
                <a:cs typeface="Arial" panose="020B0604020202020204" pitchFamily="34" charset="0"/>
              </a:rPr>
              <a:t>Treatment.</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825624"/>
            <a:ext cx="10515600" cy="4838065"/>
          </a:xfrm>
        </p:spPr>
        <p:txBody>
          <a:bodyPr>
            <a:noAutofit/>
          </a:bodyPr>
          <a:lstStyle/>
          <a:p>
            <a:r>
              <a:rPr lang="en-US" b="1" dirty="0">
                <a:solidFill>
                  <a:schemeClr val="bg2">
                    <a:lumMod val="10000"/>
                  </a:schemeClr>
                </a:solidFill>
                <a:latin typeface="Arial" panose="020B0604020202020204" pitchFamily="34" charset="0"/>
                <a:cs typeface="Arial" panose="020B0604020202020204" pitchFamily="34" charset="0"/>
              </a:rPr>
              <a:t>IV/PO Acyclovir </a:t>
            </a:r>
            <a:r>
              <a:rPr lang="en-US" dirty="0">
                <a:solidFill>
                  <a:schemeClr val="bg2">
                    <a:lumMod val="10000"/>
                  </a:schemeClr>
                </a:solidFill>
                <a:latin typeface="Arial" panose="020B0604020202020204" pitchFamily="34" charset="0"/>
                <a:cs typeface="Arial" panose="020B0604020202020204" pitchFamily="34" charset="0"/>
              </a:rPr>
              <a:t>10mg/kg every 8hrs for 14 days is the treatment of choice for HSV-1, HSV-2, and VZV encephalitis.</a:t>
            </a:r>
          </a:p>
          <a:p>
            <a:pPr marL="0" indent="0">
              <a:buNone/>
            </a:pPr>
            <a:endParaRPr lang="en-US" dirty="0">
              <a:solidFill>
                <a:schemeClr val="bg2">
                  <a:lumMod val="10000"/>
                </a:schemeClr>
              </a:solidFill>
              <a:latin typeface="Arial" panose="020B0604020202020204" pitchFamily="34" charset="0"/>
              <a:cs typeface="Arial" panose="020B0604020202020204" pitchFamily="34" charset="0"/>
            </a:endParaRPr>
          </a:p>
          <a:p>
            <a:endParaRPr lang="en-US" dirty="0">
              <a:solidFill>
                <a:schemeClr val="bg2">
                  <a:lumMod val="10000"/>
                </a:schemeClr>
              </a:solidFill>
              <a:latin typeface="Arial" panose="020B0604020202020204" pitchFamily="34" charset="0"/>
              <a:cs typeface="Arial" panose="020B0604020202020204" pitchFamily="34" charset="0"/>
            </a:endParaRPr>
          </a:p>
          <a:p>
            <a:r>
              <a:rPr lang="en-US" dirty="0">
                <a:solidFill>
                  <a:schemeClr val="bg2">
                    <a:lumMod val="10000"/>
                  </a:schemeClr>
                </a:solidFill>
                <a:latin typeface="Arial" panose="020B0604020202020204" pitchFamily="34" charset="0"/>
                <a:cs typeface="Arial" panose="020B0604020202020204" pitchFamily="34" charset="0"/>
              </a:rPr>
              <a:t>CMV encephalitis A combination of </a:t>
            </a:r>
            <a:r>
              <a:rPr lang="en-US" b="1" dirty="0">
                <a:solidFill>
                  <a:schemeClr val="bg2">
                    <a:lumMod val="10000"/>
                  </a:schemeClr>
                </a:solidFill>
                <a:latin typeface="Arial" panose="020B0604020202020204" pitchFamily="34" charset="0"/>
                <a:cs typeface="Arial" panose="020B0604020202020204" pitchFamily="34" charset="0"/>
              </a:rPr>
              <a:t>Ganciclovir</a:t>
            </a:r>
            <a:r>
              <a:rPr lang="en-US" dirty="0">
                <a:solidFill>
                  <a:schemeClr val="bg2">
                    <a:lumMod val="10000"/>
                  </a:schemeClr>
                </a:solidFill>
                <a:latin typeface="Arial" panose="020B0604020202020204" pitchFamily="34" charset="0"/>
                <a:cs typeface="Arial" panose="020B0604020202020204" pitchFamily="34" charset="0"/>
              </a:rPr>
              <a:t> 5 mg/kg IV every 12 hours and </a:t>
            </a:r>
            <a:r>
              <a:rPr lang="en-US" b="1" dirty="0">
                <a:solidFill>
                  <a:schemeClr val="bg2">
                    <a:lumMod val="10000"/>
                  </a:schemeClr>
                </a:solidFill>
                <a:latin typeface="Arial" panose="020B0604020202020204" pitchFamily="34" charset="0"/>
                <a:cs typeface="Arial" panose="020B0604020202020204" pitchFamily="34" charset="0"/>
              </a:rPr>
              <a:t>Foscarnet</a:t>
            </a:r>
            <a:r>
              <a:rPr lang="en-US" dirty="0">
                <a:solidFill>
                  <a:schemeClr val="bg2">
                    <a:lumMod val="10000"/>
                  </a:schemeClr>
                </a:solidFill>
                <a:latin typeface="Arial" panose="020B0604020202020204" pitchFamily="34" charset="0"/>
                <a:cs typeface="Arial" panose="020B0604020202020204" pitchFamily="34" charset="0"/>
              </a:rPr>
              <a:t> 60 mg/kg IV every 8 hours or 90 mg/kg IV every 12 hours for 21 days</a:t>
            </a:r>
          </a:p>
          <a:p>
            <a:pPr marL="0" indent="0">
              <a:buNone/>
            </a:pPr>
            <a:endParaRPr lang="en-US" dirty="0">
              <a:solidFill>
                <a:schemeClr val="bg2">
                  <a:lumMod val="10000"/>
                </a:schemeClr>
              </a:solidFill>
              <a:latin typeface="Arial" panose="020B0604020202020204" pitchFamily="34" charset="0"/>
              <a:cs typeface="Arial" panose="020B0604020202020204" pitchFamily="34" charset="0"/>
            </a:endParaRPr>
          </a:p>
          <a:p>
            <a:r>
              <a:rPr lang="en-US" dirty="0">
                <a:solidFill>
                  <a:schemeClr val="bg2">
                    <a:lumMod val="10000"/>
                  </a:schemeClr>
                </a:solidFill>
                <a:latin typeface="Arial" panose="020B0604020202020204" pitchFamily="34" charset="0"/>
                <a:cs typeface="Arial" panose="020B0604020202020204" pitchFamily="34" charset="0"/>
              </a:rPr>
              <a:t> There is no antiviral therapy for arboviral or rabies encephalitis.</a:t>
            </a:r>
          </a:p>
          <a:p>
            <a:endParaRPr lang="en-US" sz="3200" dirty="0">
              <a:latin typeface="Arial" charset="0"/>
              <a:cs typeface="Arial"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charset="0"/>
                <a:cs typeface="Arial" charset="0"/>
              </a:rPr>
              <a:t>2</a:t>
            </a:r>
            <a:r>
              <a:rPr lang="en-GB" b="1" dirty="0">
                <a:latin typeface="+mn-lt"/>
                <a:cs typeface="Arial" charset="0"/>
              </a:rPr>
              <a:t>. </a:t>
            </a:r>
            <a:r>
              <a:rPr lang="en-GB" b="1" dirty="0">
                <a:latin typeface="Arial" panose="020B0604020202020204" pitchFamily="34" charset="0"/>
                <a:cs typeface="Arial" panose="020B0604020202020204" pitchFamily="34" charset="0"/>
              </a:rPr>
              <a:t>NEUROCYSTICERCOSIS.</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r>
              <a:rPr lang="en-GB" dirty="0">
                <a:latin typeface="Arial" panose="020B0604020202020204" pitchFamily="34" charset="0"/>
                <a:cs typeface="Arial" panose="020B0604020202020204" pitchFamily="34" charset="0"/>
              </a:rPr>
              <a:t>Human cysticercosis is acquired by ingesting </a:t>
            </a:r>
            <a:r>
              <a:rPr lang="en-GB" i="1" dirty="0">
                <a:latin typeface="Arial" panose="020B0604020202020204" pitchFamily="34" charset="0"/>
                <a:cs typeface="Arial" panose="020B0604020202020204" pitchFamily="34" charset="0"/>
              </a:rPr>
              <a:t>T. </a:t>
            </a:r>
            <a:r>
              <a:rPr lang="en-GB" i="1" dirty="0" err="1">
                <a:latin typeface="Arial" panose="020B0604020202020204" pitchFamily="34" charset="0"/>
                <a:cs typeface="Arial" panose="020B0604020202020204" pitchFamily="34" charset="0"/>
              </a:rPr>
              <a:t>solium</a:t>
            </a:r>
            <a:r>
              <a:rPr lang="en-GB" i="1" dirty="0">
                <a:latin typeface="Arial" panose="020B0604020202020204" pitchFamily="34" charset="0"/>
                <a:cs typeface="Arial" panose="020B0604020202020204" pitchFamily="34" charset="0"/>
              </a:rPr>
              <a:t> </a:t>
            </a:r>
            <a:r>
              <a:rPr lang="en-GB" dirty="0">
                <a:latin typeface="Arial" panose="020B0604020202020204" pitchFamily="34" charset="0"/>
                <a:cs typeface="Arial" panose="020B0604020202020204" pitchFamily="34" charset="0"/>
              </a:rPr>
              <a:t>tapeworm ova, from either contaminated fingers or food.</a:t>
            </a:r>
          </a:p>
          <a:p>
            <a:endParaRPr lang="en-GB" dirty="0">
              <a:latin typeface="Arial" panose="020B0604020202020204" pitchFamily="34" charset="0"/>
              <a:cs typeface="Arial" panose="020B0604020202020204" pitchFamily="34" charset="0"/>
            </a:endParaRP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Common locations are the </a:t>
            </a:r>
            <a:r>
              <a:rPr lang="en-GB" b="1" dirty="0">
                <a:latin typeface="Arial" panose="020B0604020202020204" pitchFamily="34" charset="0"/>
                <a:cs typeface="Arial" panose="020B0604020202020204" pitchFamily="34" charset="0"/>
              </a:rPr>
              <a:t>subcutaneous tissue, skeletal muscles and brain (neurocysticercosis).</a:t>
            </a:r>
            <a:endParaRPr lang="en-US" b="1"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963119"/>
            <a:ext cx="10515600" cy="3213843"/>
          </a:xfrm>
        </p:spPr>
        <p:txBody>
          <a:bodyPr>
            <a:normAutofit/>
          </a:bodyPr>
          <a:lstStyle/>
          <a:p>
            <a:pPr marL="0" indent="0">
              <a:buNone/>
            </a:pPr>
            <a:r>
              <a:rPr lang="en-GB" sz="3200" b="0" i="0" dirty="0">
                <a:solidFill>
                  <a:srgbClr val="202020"/>
                </a:solidFill>
                <a:effectLst/>
                <a:latin typeface="Arial" charset="0"/>
                <a:cs typeface="Arial" charset="0"/>
              </a:rPr>
              <a:t>In all three (</a:t>
            </a:r>
            <a:r>
              <a:rPr lang="en-GB" sz="3200" b="0" i="0" dirty="0" err="1">
                <a:solidFill>
                  <a:srgbClr val="202020"/>
                </a:solidFill>
                <a:effectLst/>
                <a:latin typeface="Arial" charset="0"/>
                <a:cs typeface="Arial" charset="0"/>
              </a:rPr>
              <a:t>Ifisi</a:t>
            </a:r>
            <a:r>
              <a:rPr lang="en-GB" sz="3200" b="0" i="0" dirty="0">
                <a:solidFill>
                  <a:srgbClr val="202020"/>
                </a:solidFill>
                <a:effectLst/>
                <a:latin typeface="Arial" charset="0"/>
                <a:cs typeface="Arial" charset="0"/>
              </a:rPr>
              <a:t>, </a:t>
            </a:r>
            <a:r>
              <a:rPr lang="en-GB" sz="3200" b="0" i="0" dirty="0" err="1">
                <a:solidFill>
                  <a:srgbClr val="202020"/>
                </a:solidFill>
                <a:effectLst/>
                <a:latin typeface="Arial" charset="0"/>
                <a:cs typeface="Arial" charset="0"/>
              </a:rPr>
              <a:t>Tukuyu</a:t>
            </a:r>
            <a:r>
              <a:rPr lang="en-GB" sz="3200" b="0" i="0" dirty="0">
                <a:solidFill>
                  <a:srgbClr val="202020"/>
                </a:solidFill>
                <a:effectLst/>
                <a:latin typeface="Arial" charset="0"/>
                <a:cs typeface="Arial" charset="0"/>
              </a:rPr>
              <a:t> and </a:t>
            </a:r>
            <a:r>
              <a:rPr lang="en-GB" sz="3200" b="0" i="0" dirty="0" err="1">
                <a:solidFill>
                  <a:srgbClr val="202020"/>
                </a:solidFill>
                <a:effectLst/>
                <a:latin typeface="Arial" charset="0"/>
                <a:cs typeface="Arial" charset="0"/>
              </a:rPr>
              <a:t>Vwawa</a:t>
            </a:r>
            <a:r>
              <a:rPr lang="en-GB" sz="3200" b="0" i="0" dirty="0">
                <a:solidFill>
                  <a:srgbClr val="202020"/>
                </a:solidFill>
                <a:effectLst/>
                <a:latin typeface="Arial" charset="0"/>
                <a:cs typeface="Arial" charset="0"/>
              </a:rPr>
              <a:t>) district hospitals, more than 30% of all people with epileptic seizures (PWE) had NCC lesions in their brain (38% in </a:t>
            </a:r>
            <a:r>
              <a:rPr lang="en-GB" sz="3200" b="0" i="0" dirty="0" err="1">
                <a:solidFill>
                  <a:srgbClr val="202020"/>
                </a:solidFill>
                <a:effectLst/>
                <a:latin typeface="Arial" charset="0"/>
                <a:cs typeface="Arial" charset="0"/>
              </a:rPr>
              <a:t>Vwawa</a:t>
            </a:r>
            <a:r>
              <a:rPr lang="en-GB" sz="3200" b="0" i="0" dirty="0">
                <a:solidFill>
                  <a:srgbClr val="202020"/>
                </a:solidFill>
                <a:effectLst/>
                <a:latin typeface="Arial" charset="0"/>
                <a:cs typeface="Arial" charset="0"/>
              </a:rPr>
              <a:t>, 32% in </a:t>
            </a:r>
            <a:r>
              <a:rPr lang="en-GB" sz="3200" b="0" i="0" dirty="0" err="1">
                <a:solidFill>
                  <a:srgbClr val="202020"/>
                </a:solidFill>
                <a:effectLst/>
                <a:latin typeface="Arial" charset="0"/>
                <a:cs typeface="Arial" charset="0"/>
              </a:rPr>
              <a:t>Tukuyu</a:t>
            </a:r>
            <a:r>
              <a:rPr lang="en-GB" sz="3200" b="0" i="0" dirty="0">
                <a:solidFill>
                  <a:srgbClr val="202020"/>
                </a:solidFill>
                <a:effectLst/>
                <a:latin typeface="Arial" charset="0"/>
                <a:cs typeface="Arial" charset="0"/>
              </a:rPr>
              <a:t> and 31% in </a:t>
            </a:r>
            <a:r>
              <a:rPr lang="en-GB" sz="3200" b="0" i="0" dirty="0" err="1">
                <a:solidFill>
                  <a:srgbClr val="202020"/>
                </a:solidFill>
                <a:effectLst/>
                <a:latin typeface="Arial" charset="0"/>
                <a:cs typeface="Arial" charset="0"/>
              </a:rPr>
              <a:t>Ifisi</a:t>
            </a:r>
            <a:r>
              <a:rPr lang="en-GB" sz="3200" b="0" i="0" dirty="0">
                <a:solidFill>
                  <a:srgbClr val="202020"/>
                </a:solidFill>
                <a:effectLst/>
                <a:latin typeface="Arial" charset="0"/>
                <a:cs typeface="Arial" charset="0"/>
              </a:rPr>
              <a:t>). Most PWE with NCC had multiple lesions and mostly parenchymal lesions (at least 85%)</a:t>
            </a:r>
            <a:endParaRPr lang="en-US" sz="3200" dirty="0">
              <a:latin typeface="Arial" charset="0"/>
              <a:cs typeface="Arial" charset="0"/>
            </a:endParaRPr>
          </a:p>
        </p:txBody>
      </p:sp>
      <p:pic>
        <p:nvPicPr>
          <p:cNvPr id="5" name="Picture 4"/>
          <p:cNvPicPr>
            <a:picLocks noChangeAspect="1"/>
          </p:cNvPicPr>
          <p:nvPr/>
        </p:nvPicPr>
        <p:blipFill>
          <a:blip r:embed="rId3"/>
          <a:stretch>
            <a:fillRect/>
          </a:stretch>
        </p:blipFill>
        <p:spPr>
          <a:xfrm>
            <a:off x="838200" y="405114"/>
            <a:ext cx="10331370" cy="2443869"/>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Diagram&#10;&#10;Description automatically generated"/>
          <p:cNvPicPr>
            <a:picLocks noGrp="1" noChangeAspect="1"/>
          </p:cNvPicPr>
          <p:nvPr>
            <p:ph idx="1"/>
          </p:nvPr>
        </p:nvPicPr>
        <p:blipFill>
          <a:blip r:embed="rId2"/>
          <a:stretch>
            <a:fillRect/>
          </a:stretch>
        </p:blipFill>
        <p:spPr>
          <a:xfrm>
            <a:off x="497840" y="294640"/>
            <a:ext cx="11369039" cy="6096000"/>
          </a:xfr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Clinical features.</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lnSpcReduction="10000"/>
          </a:bodyPr>
          <a:lstStyle/>
          <a:p>
            <a:r>
              <a:rPr lang="en-GB" dirty="0">
                <a:latin typeface="Arial" panose="020B0604020202020204" pitchFamily="34" charset="0"/>
                <a:cs typeface="Arial" panose="020B0604020202020204" pitchFamily="34" charset="0"/>
              </a:rPr>
              <a:t>Neurologic manifestations are most common and include </a:t>
            </a:r>
          </a:p>
          <a:p>
            <a:pPr marL="0" indent="0">
              <a:buNone/>
            </a:pPr>
            <a:endParaRPr lang="en-GB" dirty="0">
              <a:latin typeface="Arial" panose="020B0604020202020204" pitchFamily="34" charset="0"/>
              <a:cs typeface="Arial" panose="020B0604020202020204" pitchFamily="34" charset="0"/>
            </a:endParaRPr>
          </a:p>
          <a:p>
            <a:pPr lvl="1">
              <a:buFont typeface="Wingdings" charset="2"/>
              <a:buChar char="ü"/>
            </a:pPr>
            <a:r>
              <a:rPr lang="en-GB" sz="2800" b="1" dirty="0">
                <a:latin typeface="Arial" panose="020B0604020202020204" pitchFamily="34" charset="0"/>
                <a:cs typeface="Arial" panose="020B0604020202020204" pitchFamily="34" charset="0"/>
              </a:rPr>
              <a:t>seizures</a:t>
            </a:r>
            <a:r>
              <a:rPr lang="en-GB" sz="2800" dirty="0">
                <a:latin typeface="Arial" panose="020B0604020202020204" pitchFamily="34" charset="0"/>
                <a:cs typeface="Arial" panose="020B0604020202020204" pitchFamily="34" charset="0"/>
              </a:rPr>
              <a:t> (due to inflammation surrounding </a:t>
            </a:r>
            <a:r>
              <a:rPr lang="en-GB" sz="2800" dirty="0" err="1">
                <a:latin typeface="Arial" panose="020B0604020202020204" pitchFamily="34" charset="0"/>
                <a:cs typeface="Arial" panose="020B0604020202020204" pitchFamily="34" charset="0"/>
              </a:rPr>
              <a:t>cysticerci</a:t>
            </a:r>
            <a:r>
              <a:rPr lang="en-GB" sz="2800" dirty="0">
                <a:latin typeface="Arial" panose="020B0604020202020204" pitchFamily="34" charset="0"/>
                <a:cs typeface="Arial" panose="020B0604020202020204" pitchFamily="34" charset="0"/>
              </a:rPr>
              <a:t> in the brain)</a:t>
            </a:r>
          </a:p>
          <a:p>
            <a:pPr marL="457200" lvl="1" indent="0">
              <a:buNone/>
            </a:pPr>
            <a:endParaRPr lang="en-GB" sz="2800" dirty="0">
              <a:latin typeface="Arial" panose="020B0604020202020204" pitchFamily="34" charset="0"/>
              <a:cs typeface="Arial" panose="020B0604020202020204" pitchFamily="34" charset="0"/>
            </a:endParaRPr>
          </a:p>
          <a:p>
            <a:pPr lvl="1">
              <a:buFont typeface="Wingdings" charset="2"/>
              <a:buChar char="ü"/>
            </a:pPr>
            <a:r>
              <a:rPr lang="en-GB" sz="2800" b="1" dirty="0">
                <a:latin typeface="Arial" panose="020B0604020202020204" pitchFamily="34" charset="0"/>
                <a:cs typeface="Arial" panose="020B0604020202020204" pitchFamily="34" charset="0"/>
              </a:rPr>
              <a:t>hydrocephalus</a:t>
            </a:r>
            <a:r>
              <a:rPr lang="en-GB" sz="2800" dirty="0">
                <a:latin typeface="Arial" panose="020B0604020202020204" pitchFamily="34" charset="0"/>
                <a:cs typeface="Arial" panose="020B0604020202020204" pitchFamily="34" charset="0"/>
              </a:rPr>
              <a:t> (from obstruction of CSF flow by </a:t>
            </a:r>
            <a:r>
              <a:rPr lang="en-GB" sz="2800" dirty="0" err="1">
                <a:latin typeface="Arial" panose="020B0604020202020204" pitchFamily="34" charset="0"/>
                <a:cs typeface="Arial" panose="020B0604020202020204" pitchFamily="34" charset="0"/>
              </a:rPr>
              <a:t>cysticerci</a:t>
            </a:r>
            <a:r>
              <a:rPr lang="en-GB" sz="2800" dirty="0">
                <a:latin typeface="Arial" panose="020B0604020202020204" pitchFamily="34" charset="0"/>
                <a:cs typeface="Arial" panose="020B0604020202020204" pitchFamily="34" charset="0"/>
              </a:rPr>
              <a:t> and accompanying inflammation or arachnoiditis.</a:t>
            </a:r>
          </a:p>
          <a:p>
            <a:pPr marL="457200" lvl="1" indent="0">
              <a:buNone/>
            </a:pPr>
            <a:endParaRPr lang="en-GB" sz="2800" dirty="0">
              <a:latin typeface="Arial" panose="020B0604020202020204" pitchFamily="34" charset="0"/>
              <a:cs typeface="Arial" panose="020B0604020202020204" pitchFamily="34" charset="0"/>
            </a:endParaRPr>
          </a:p>
          <a:p>
            <a:pPr lvl="1">
              <a:buFont typeface="Wingdings" charset="2"/>
              <a:buChar char="ü"/>
            </a:pPr>
            <a:r>
              <a:rPr lang="en-GB" sz="2800" b="1" dirty="0">
                <a:latin typeface="Arial" panose="020B0604020202020204" pitchFamily="34" charset="0"/>
                <a:cs typeface="Arial" panose="020B0604020202020204" pitchFamily="34" charset="0"/>
              </a:rPr>
              <a:t>increased intracranial pressure </a:t>
            </a:r>
            <a:r>
              <a:rPr lang="en-GB" sz="2800" dirty="0">
                <a:latin typeface="Arial" panose="020B0604020202020204" pitchFamily="34" charset="0"/>
                <a:cs typeface="Arial" panose="020B0604020202020204" pitchFamily="34" charset="0"/>
              </a:rPr>
              <a:t>(e.g., headache, nausea, vomiting, changes in vision).</a:t>
            </a:r>
            <a:endParaRPr lang="en-US" sz="280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4768" y="0"/>
            <a:ext cx="10515600" cy="1325563"/>
          </a:xfrm>
        </p:spPr>
        <p:txBody>
          <a:bodyPr/>
          <a:lstStyle/>
          <a:p>
            <a:pPr algn="ctr"/>
            <a:r>
              <a:rPr lang="en-GB" b="1" dirty="0">
                <a:latin typeface="Arial" panose="020B0604020202020204" pitchFamily="34" charset="0"/>
                <a:cs typeface="Arial" panose="020B0604020202020204" pitchFamily="34" charset="0"/>
              </a:rPr>
              <a:t>Investigation.</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r>
              <a:rPr lang="en-US" dirty="0">
                <a:solidFill>
                  <a:schemeClr val="bg2">
                    <a:lumMod val="10000"/>
                  </a:schemeClr>
                </a:solidFill>
                <a:latin typeface="Arial" panose="020B0604020202020204" pitchFamily="34" charset="0"/>
                <a:cs typeface="Arial" panose="020B0604020202020204" pitchFamily="34" charset="0"/>
              </a:rPr>
              <a:t>Contrast head CT scan; </a:t>
            </a:r>
            <a:r>
              <a:rPr lang="en-US" b="1" dirty="0">
                <a:solidFill>
                  <a:schemeClr val="bg2">
                    <a:lumMod val="10000"/>
                  </a:schemeClr>
                </a:solidFill>
                <a:latin typeface="Arial" panose="020B0604020202020204" pitchFamily="34" charset="0"/>
                <a:cs typeface="Arial" panose="020B0604020202020204" pitchFamily="34" charset="0"/>
              </a:rPr>
              <a:t>ring enhancing lesions, calcified lesions</a:t>
            </a:r>
          </a:p>
          <a:p>
            <a:endParaRPr lang="en-US" b="1" dirty="0">
              <a:solidFill>
                <a:schemeClr val="bg2">
                  <a:lumMod val="10000"/>
                </a:schemeClr>
              </a:solidFill>
              <a:latin typeface="Arial" panose="020B0604020202020204" pitchFamily="34" charset="0"/>
              <a:cs typeface="Arial" panose="020B0604020202020204" pitchFamily="34" charset="0"/>
            </a:endParaRPr>
          </a:p>
          <a:p>
            <a:endParaRPr lang="en-US" b="1" dirty="0">
              <a:solidFill>
                <a:schemeClr val="bg2">
                  <a:lumMod val="10000"/>
                </a:schemeClr>
              </a:solidFill>
              <a:latin typeface="Arial" panose="020B0604020202020204" pitchFamily="34" charset="0"/>
              <a:cs typeface="Arial" panose="020B0604020202020204" pitchFamily="34" charset="0"/>
            </a:endParaRPr>
          </a:p>
          <a:p>
            <a:r>
              <a:rPr lang="en-US" dirty="0">
                <a:solidFill>
                  <a:schemeClr val="bg2">
                    <a:lumMod val="10000"/>
                  </a:schemeClr>
                </a:solidFill>
                <a:latin typeface="Arial" panose="020B0604020202020204" pitchFamily="34" charset="0"/>
                <a:cs typeface="Arial" panose="020B0604020202020204" pitchFamily="34" charset="0"/>
              </a:rPr>
              <a:t>Contrast brain MRI - </a:t>
            </a:r>
            <a:r>
              <a:rPr lang="en-US" b="1" dirty="0">
                <a:solidFill>
                  <a:schemeClr val="bg2">
                    <a:lumMod val="10000"/>
                  </a:schemeClr>
                </a:solidFill>
                <a:latin typeface="Arial" panose="020B0604020202020204" pitchFamily="34" charset="0"/>
                <a:cs typeface="Arial" panose="020B0604020202020204" pitchFamily="34" charset="0"/>
              </a:rPr>
              <a:t>viable cystic lesions with </a:t>
            </a:r>
            <a:r>
              <a:rPr lang="en-US" b="1" dirty="0" err="1">
                <a:solidFill>
                  <a:schemeClr val="bg2">
                    <a:lumMod val="10000"/>
                  </a:schemeClr>
                </a:solidFill>
                <a:latin typeface="Arial" panose="020B0604020202020204" pitchFamily="34" charset="0"/>
                <a:cs typeface="Arial" panose="020B0604020202020204" pitchFamily="34" charset="0"/>
              </a:rPr>
              <a:t>scolices</a:t>
            </a:r>
            <a:endParaRPr lang="en-US" b="1" dirty="0">
              <a:solidFill>
                <a:schemeClr val="bg2">
                  <a:lumMod val="10000"/>
                </a:schemeClr>
              </a:solidFill>
              <a:latin typeface="Arial" panose="020B0604020202020204" pitchFamily="34" charset="0"/>
              <a:cs typeface="Arial" panose="020B0604020202020204" pitchFamily="34" charset="0"/>
            </a:endParaRPr>
          </a:p>
          <a:p>
            <a:endParaRPr lang="en-US" sz="320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981825" y="1641752"/>
            <a:ext cx="4391024" cy="1323439"/>
          </a:xfrm>
        </p:spPr>
        <p:txBody>
          <a:bodyPr vert="horz" lIns="91440" tIns="45720" rIns="91440" bIns="45720" rtlCol="0" anchor="t">
            <a:normAutofit/>
          </a:bodyPr>
          <a:lstStyle/>
          <a:p>
            <a:r>
              <a:rPr lang="en-US" sz="4000" b="1">
                <a:solidFill>
                  <a:schemeClr val="bg1"/>
                </a:solidFill>
              </a:rPr>
              <a:t>MRI findings for Neurocysticercosis</a:t>
            </a:r>
          </a:p>
        </p:txBody>
      </p:sp>
      <p:pic>
        <p:nvPicPr>
          <p:cNvPr id="5" name="Content Placeholder 4" descr="A close up of a coin&#10;&#10;Description automatically generated with low confidence"/>
          <p:cNvPicPr>
            <a:picLocks noGrp="1" noChangeAspect="1"/>
          </p:cNvPicPr>
          <p:nvPr>
            <p:ph idx="1"/>
          </p:nvPr>
        </p:nvPicPr>
        <p:blipFill rotWithShape="1">
          <a:blip r:embed="rId2"/>
          <a:srcRect t="8946" r="-1" b="4594"/>
          <a:stretch>
            <a:fillRect/>
          </a:stretch>
        </p:blipFill>
        <p:spPr>
          <a:xfrm>
            <a:off x="20" y="2"/>
            <a:ext cx="6186992" cy="6857998"/>
          </a:xfrm>
          <a:custGeom>
            <a:avLst/>
            <a:gdLst/>
            <a:ahLst/>
            <a:cxnLst/>
            <a:rect l="l" t="t" r="r" b="b"/>
            <a:pathLst>
              <a:path w="6187012" h="6857998">
                <a:moveTo>
                  <a:pt x="5434855" y="6118149"/>
                </a:moveTo>
                <a:cubicBezTo>
                  <a:pt x="5441404" y="6124102"/>
                  <a:pt x="5449025" y="6129341"/>
                  <a:pt x="5456075" y="6133723"/>
                </a:cubicBezTo>
                <a:cubicBezTo>
                  <a:pt x="5463218" y="6138152"/>
                  <a:pt x="5468564" y="6143474"/>
                  <a:pt x="5472234" y="6149380"/>
                </a:cubicBezTo>
                <a:lnTo>
                  <a:pt x="5477710" y="6166562"/>
                </a:lnTo>
                <a:lnTo>
                  <a:pt x="5472234" y="6149379"/>
                </a:lnTo>
                <a:cubicBezTo>
                  <a:pt x="5468564" y="6143474"/>
                  <a:pt x="5463218" y="6138152"/>
                  <a:pt x="5456075" y="6133722"/>
                </a:cubicBezTo>
                <a:cubicBezTo>
                  <a:pt x="5449025" y="6129341"/>
                  <a:pt x="5441404" y="6124102"/>
                  <a:pt x="5434855" y="6118149"/>
                </a:cubicBezTo>
                <a:close/>
                <a:moveTo>
                  <a:pt x="5343013" y="4941372"/>
                </a:moveTo>
                <a:lnTo>
                  <a:pt x="5346342" y="4950869"/>
                </a:lnTo>
                <a:lnTo>
                  <a:pt x="5356027" y="4991382"/>
                </a:lnTo>
                <a:lnTo>
                  <a:pt x="5346342" y="4950868"/>
                </a:lnTo>
                <a:close/>
                <a:moveTo>
                  <a:pt x="5346951" y="4749807"/>
                </a:moveTo>
                <a:cubicBezTo>
                  <a:pt x="5334815" y="4762826"/>
                  <a:pt x="5333958" y="4781365"/>
                  <a:pt x="5332244" y="4799797"/>
                </a:cubicBezTo>
                <a:cubicBezTo>
                  <a:pt x="5333958" y="4781365"/>
                  <a:pt x="5334815" y="4762827"/>
                  <a:pt x="5346951" y="4749807"/>
                </a:cubicBezTo>
                <a:close/>
                <a:moveTo>
                  <a:pt x="5364750" y="4543185"/>
                </a:moveTo>
                <a:cubicBezTo>
                  <a:pt x="5365727" y="4548281"/>
                  <a:pt x="5367775" y="4553662"/>
                  <a:pt x="5370156" y="4557092"/>
                </a:cubicBezTo>
                <a:cubicBezTo>
                  <a:pt x="5381776" y="4573618"/>
                  <a:pt x="5390563" y="4588275"/>
                  <a:pt x="5396519" y="4602021"/>
                </a:cubicBezTo>
                <a:cubicBezTo>
                  <a:pt x="5390563" y="4588275"/>
                  <a:pt x="5381776" y="4573618"/>
                  <a:pt x="5370156" y="4557091"/>
                </a:cubicBezTo>
                <a:close/>
                <a:moveTo>
                  <a:pt x="5830968" y="2819253"/>
                </a:moveTo>
                <a:lnTo>
                  <a:pt x="5842611" y="2827484"/>
                </a:lnTo>
                <a:lnTo>
                  <a:pt x="5842613" y="2827486"/>
                </a:lnTo>
                <a:lnTo>
                  <a:pt x="5871116" y="2861156"/>
                </a:lnTo>
                <a:lnTo>
                  <a:pt x="5861462" y="2842392"/>
                </a:lnTo>
                <a:lnTo>
                  <a:pt x="5842613" y="2827486"/>
                </a:lnTo>
                <a:lnTo>
                  <a:pt x="5842611" y="2827483"/>
                </a:lnTo>
                <a:close/>
                <a:moveTo>
                  <a:pt x="5761313" y="1974015"/>
                </a:moveTo>
                <a:lnTo>
                  <a:pt x="5754799" y="1999763"/>
                </a:lnTo>
                <a:cubicBezTo>
                  <a:pt x="5750990" y="2008056"/>
                  <a:pt x="5745310" y="2016020"/>
                  <a:pt x="5737071" y="2023547"/>
                </a:cubicBezTo>
                <a:cubicBezTo>
                  <a:pt x="5753550" y="2008497"/>
                  <a:pt x="5759789" y="1991685"/>
                  <a:pt x="5761313" y="1974015"/>
                </a:cubicBezTo>
                <a:close/>
                <a:moveTo>
                  <a:pt x="5744119" y="1768838"/>
                </a:moveTo>
                <a:cubicBezTo>
                  <a:pt x="5739738" y="1774411"/>
                  <a:pt x="5736975" y="1779948"/>
                  <a:pt x="5735518" y="1785412"/>
                </a:cubicBezTo>
                <a:lnTo>
                  <a:pt x="5734738" y="1801558"/>
                </a:lnTo>
                <a:cubicBezTo>
                  <a:pt x="5733070" y="1790986"/>
                  <a:pt x="5735356" y="1779981"/>
                  <a:pt x="5744119" y="1768838"/>
                </a:cubicBezTo>
                <a:close/>
                <a:moveTo>
                  <a:pt x="5853708" y="520953"/>
                </a:moveTo>
                <a:lnTo>
                  <a:pt x="5846981" y="549926"/>
                </a:lnTo>
                <a:lnTo>
                  <a:pt x="5840726" y="566616"/>
                </a:lnTo>
                <a:lnTo>
                  <a:pt x="5834776" y="581804"/>
                </a:lnTo>
                <a:lnTo>
                  <a:pt x="5834358" y="583595"/>
                </a:lnTo>
                <a:lnTo>
                  <a:pt x="5832183" y="589388"/>
                </a:lnTo>
                <a:cubicBezTo>
                  <a:pt x="5829783" y="597005"/>
                  <a:pt x="5828025" y="604728"/>
                  <a:pt x="5827560" y="612658"/>
                </a:cubicBezTo>
                <a:lnTo>
                  <a:pt x="5834358" y="583595"/>
                </a:lnTo>
                <a:lnTo>
                  <a:pt x="5840674" y="566754"/>
                </a:lnTo>
                <a:lnTo>
                  <a:pt x="5840726" y="566616"/>
                </a:lnTo>
                <a:lnTo>
                  <a:pt x="5846564" y="551717"/>
                </a:lnTo>
                <a:lnTo>
                  <a:pt x="5846981" y="549926"/>
                </a:lnTo>
                <a:lnTo>
                  <a:pt x="5849145" y="544146"/>
                </a:lnTo>
                <a:cubicBezTo>
                  <a:pt x="5851532" y="536547"/>
                  <a:pt x="5853271" y="528850"/>
                  <a:pt x="5853708" y="520953"/>
                </a:cubicBezTo>
                <a:close/>
                <a:moveTo>
                  <a:pt x="5802605" y="268794"/>
                </a:moveTo>
                <a:cubicBezTo>
                  <a:pt x="5800080" y="279176"/>
                  <a:pt x="5798377" y="289296"/>
                  <a:pt x="5797729" y="299164"/>
                </a:cubicBezTo>
                <a:cubicBezTo>
                  <a:pt x="5797080" y="309031"/>
                  <a:pt x="5797485" y="318646"/>
                  <a:pt x="5799176" y="328017"/>
                </a:cubicBezTo>
                <a:close/>
                <a:moveTo>
                  <a:pt x="0" y="0"/>
                </a:moveTo>
                <a:lnTo>
                  <a:pt x="6120021" y="0"/>
                </a:lnTo>
                <a:lnTo>
                  <a:pt x="6115806" y="24480"/>
                </a:lnTo>
                <a:cubicBezTo>
                  <a:pt x="6113321" y="32636"/>
                  <a:pt x="6109559" y="40471"/>
                  <a:pt x="6103795" y="47806"/>
                </a:cubicBezTo>
                <a:cubicBezTo>
                  <a:pt x="6088935" y="66857"/>
                  <a:pt x="6092364" y="85336"/>
                  <a:pt x="6094651" y="105718"/>
                </a:cubicBezTo>
                <a:cubicBezTo>
                  <a:pt x="6096365" y="121150"/>
                  <a:pt x="6095794" y="136963"/>
                  <a:pt x="6095986" y="152584"/>
                </a:cubicBezTo>
                <a:cubicBezTo>
                  <a:pt x="6096555" y="180017"/>
                  <a:pt x="6096746" y="207450"/>
                  <a:pt x="6097699" y="234883"/>
                </a:cubicBezTo>
                <a:cubicBezTo>
                  <a:pt x="6098079" y="243648"/>
                  <a:pt x="6102844" y="252600"/>
                  <a:pt x="6102082" y="261173"/>
                </a:cubicBezTo>
                <a:cubicBezTo>
                  <a:pt x="6098461" y="300800"/>
                  <a:pt x="6092746" y="340425"/>
                  <a:pt x="6089507" y="380050"/>
                </a:cubicBezTo>
                <a:cubicBezTo>
                  <a:pt x="6087603" y="402529"/>
                  <a:pt x="6091220" y="425581"/>
                  <a:pt x="6088555" y="447870"/>
                </a:cubicBezTo>
                <a:cubicBezTo>
                  <a:pt x="6085507" y="473587"/>
                  <a:pt x="6077697" y="498733"/>
                  <a:pt x="6072932" y="524262"/>
                </a:cubicBezTo>
                <a:cubicBezTo>
                  <a:pt x="6071600" y="531310"/>
                  <a:pt x="6073315" y="539121"/>
                  <a:pt x="6073694" y="546552"/>
                </a:cubicBezTo>
                <a:cubicBezTo>
                  <a:pt x="6074076" y="554933"/>
                  <a:pt x="6074838" y="563125"/>
                  <a:pt x="6075029" y="571508"/>
                </a:cubicBezTo>
                <a:cubicBezTo>
                  <a:pt x="6075411" y="597037"/>
                  <a:pt x="6074838" y="622564"/>
                  <a:pt x="6076173" y="648092"/>
                </a:cubicBezTo>
                <a:cubicBezTo>
                  <a:pt x="6076934" y="663713"/>
                  <a:pt x="6084744" y="680096"/>
                  <a:pt x="6081886" y="694576"/>
                </a:cubicBezTo>
                <a:cubicBezTo>
                  <a:pt x="6076363" y="724104"/>
                  <a:pt x="6088745" y="753633"/>
                  <a:pt x="6078459" y="783158"/>
                </a:cubicBezTo>
                <a:cubicBezTo>
                  <a:pt x="6075411" y="792306"/>
                  <a:pt x="6083031" y="804877"/>
                  <a:pt x="6083411" y="815929"/>
                </a:cubicBezTo>
                <a:cubicBezTo>
                  <a:pt x="6084363" y="843552"/>
                  <a:pt x="6084173" y="871173"/>
                  <a:pt x="6083983" y="898797"/>
                </a:cubicBezTo>
                <a:cubicBezTo>
                  <a:pt x="6083793" y="923562"/>
                  <a:pt x="6086459" y="949281"/>
                  <a:pt x="6081125" y="973095"/>
                </a:cubicBezTo>
                <a:cubicBezTo>
                  <a:pt x="6075411" y="998052"/>
                  <a:pt x="6076173" y="1020529"/>
                  <a:pt x="6082649" y="1044725"/>
                </a:cubicBezTo>
                <a:cubicBezTo>
                  <a:pt x="6087031" y="1061298"/>
                  <a:pt x="6087603" y="1078826"/>
                  <a:pt x="6088935" y="1095972"/>
                </a:cubicBezTo>
                <a:cubicBezTo>
                  <a:pt x="6090459" y="1114449"/>
                  <a:pt x="6086459" y="1134834"/>
                  <a:pt x="6092746" y="1151600"/>
                </a:cubicBezTo>
                <a:cubicBezTo>
                  <a:pt x="6111415" y="1201512"/>
                  <a:pt x="6115415" y="1252757"/>
                  <a:pt x="6115415" y="1304955"/>
                </a:cubicBezTo>
                <a:cubicBezTo>
                  <a:pt x="6115415" y="1314483"/>
                  <a:pt x="6112750" y="1324198"/>
                  <a:pt x="6109892" y="1333341"/>
                </a:cubicBezTo>
                <a:cubicBezTo>
                  <a:pt x="6092746" y="1386684"/>
                  <a:pt x="6094269" y="1440216"/>
                  <a:pt x="6104748" y="1494509"/>
                </a:cubicBezTo>
                <a:cubicBezTo>
                  <a:pt x="6107034" y="1505751"/>
                  <a:pt x="6107415" y="1518324"/>
                  <a:pt x="6105130" y="1529563"/>
                </a:cubicBezTo>
                <a:cubicBezTo>
                  <a:pt x="6098461" y="1561189"/>
                  <a:pt x="6087411" y="1591859"/>
                  <a:pt x="6082649" y="1623675"/>
                </a:cubicBezTo>
                <a:cubicBezTo>
                  <a:pt x="6074838" y="1676253"/>
                  <a:pt x="6101126" y="1721785"/>
                  <a:pt x="6118274" y="1768838"/>
                </a:cubicBezTo>
                <a:cubicBezTo>
                  <a:pt x="6134467" y="1813610"/>
                  <a:pt x="6171044" y="1851709"/>
                  <a:pt x="6162851" y="1904673"/>
                </a:cubicBezTo>
                <a:cubicBezTo>
                  <a:pt x="6162090" y="1910004"/>
                  <a:pt x="6167233" y="1915912"/>
                  <a:pt x="6168567" y="1921817"/>
                </a:cubicBezTo>
                <a:cubicBezTo>
                  <a:pt x="6172188" y="1938009"/>
                  <a:pt x="6176566" y="1954202"/>
                  <a:pt x="6178283" y="1970586"/>
                </a:cubicBezTo>
                <a:cubicBezTo>
                  <a:pt x="6180570" y="1990589"/>
                  <a:pt x="6179809" y="2010974"/>
                  <a:pt x="6181713" y="2030977"/>
                </a:cubicBezTo>
                <a:cubicBezTo>
                  <a:pt x="6182856" y="2043835"/>
                  <a:pt x="6184951" y="2056600"/>
                  <a:pt x="6186761" y="2069340"/>
                </a:cubicBezTo>
                <a:lnTo>
                  <a:pt x="6187012" y="2072225"/>
                </a:lnTo>
                <a:lnTo>
                  <a:pt x="6187012" y="2131532"/>
                </a:lnTo>
                <a:lnTo>
                  <a:pt x="6186141" y="2138304"/>
                </a:lnTo>
                <a:cubicBezTo>
                  <a:pt x="6183950" y="2148519"/>
                  <a:pt x="6181332" y="2158712"/>
                  <a:pt x="6179617" y="2168903"/>
                </a:cubicBezTo>
                <a:cubicBezTo>
                  <a:pt x="6174854" y="2197670"/>
                  <a:pt x="6176188" y="2229296"/>
                  <a:pt x="6163995" y="2254633"/>
                </a:cubicBezTo>
                <a:cubicBezTo>
                  <a:pt x="6151041" y="2281683"/>
                  <a:pt x="6145135" y="2307402"/>
                  <a:pt x="6149135" y="2335405"/>
                </a:cubicBezTo>
                <a:cubicBezTo>
                  <a:pt x="6150469" y="2344741"/>
                  <a:pt x="6158471" y="2356744"/>
                  <a:pt x="6166661" y="2360933"/>
                </a:cubicBezTo>
                <a:cubicBezTo>
                  <a:pt x="6184950" y="2370270"/>
                  <a:pt x="6188190" y="2383032"/>
                  <a:pt x="6181902" y="2400369"/>
                </a:cubicBezTo>
                <a:cubicBezTo>
                  <a:pt x="6176566" y="2415420"/>
                  <a:pt x="6173901" y="2433897"/>
                  <a:pt x="6163613" y="2444184"/>
                </a:cubicBezTo>
                <a:cubicBezTo>
                  <a:pt x="6134467" y="2473333"/>
                  <a:pt x="6133515" y="2510483"/>
                  <a:pt x="6125705" y="2546678"/>
                </a:cubicBezTo>
                <a:cubicBezTo>
                  <a:pt x="6120940" y="2568774"/>
                  <a:pt x="6120750" y="2589352"/>
                  <a:pt x="6123988" y="2611450"/>
                </a:cubicBezTo>
                <a:cubicBezTo>
                  <a:pt x="6131227" y="2659455"/>
                  <a:pt x="6120940" y="2706131"/>
                  <a:pt x="6107796" y="2752235"/>
                </a:cubicBezTo>
                <a:cubicBezTo>
                  <a:pt x="6099034" y="2782716"/>
                  <a:pt x="6093699" y="2813958"/>
                  <a:pt x="6084744" y="2844248"/>
                </a:cubicBezTo>
                <a:cubicBezTo>
                  <a:pt x="6077886" y="2866918"/>
                  <a:pt x="6069694" y="2889587"/>
                  <a:pt x="6058646" y="2910353"/>
                </a:cubicBezTo>
                <a:cubicBezTo>
                  <a:pt x="6042452" y="2940455"/>
                  <a:pt x="6018067" y="2966742"/>
                  <a:pt x="6024544" y="3005035"/>
                </a:cubicBezTo>
                <a:cubicBezTo>
                  <a:pt x="6030260" y="3038756"/>
                  <a:pt x="6018259" y="3069235"/>
                  <a:pt x="6006828" y="3100099"/>
                </a:cubicBezTo>
                <a:cubicBezTo>
                  <a:pt x="5998446" y="3122770"/>
                  <a:pt x="5989871" y="3145436"/>
                  <a:pt x="5984537" y="3168870"/>
                </a:cubicBezTo>
                <a:cubicBezTo>
                  <a:pt x="5978251" y="3196686"/>
                  <a:pt x="5980920" y="3228119"/>
                  <a:pt x="5969297" y="3252885"/>
                </a:cubicBezTo>
                <a:cubicBezTo>
                  <a:pt x="5957105" y="3278795"/>
                  <a:pt x="5965297" y="3300319"/>
                  <a:pt x="5968726" y="3323372"/>
                </a:cubicBezTo>
                <a:cubicBezTo>
                  <a:pt x="5974061" y="3360139"/>
                  <a:pt x="5983967" y="3396719"/>
                  <a:pt x="5971395" y="3433866"/>
                </a:cubicBezTo>
                <a:cubicBezTo>
                  <a:pt x="5956153" y="3479015"/>
                  <a:pt x="5939769" y="3523785"/>
                  <a:pt x="5925292" y="3569124"/>
                </a:cubicBezTo>
                <a:cubicBezTo>
                  <a:pt x="5919765" y="3586653"/>
                  <a:pt x="5917479" y="3605509"/>
                  <a:pt x="5915003" y="3623799"/>
                </a:cubicBezTo>
                <a:cubicBezTo>
                  <a:pt x="5912906" y="3641134"/>
                  <a:pt x="5918242" y="3661899"/>
                  <a:pt x="5910241" y="3675238"/>
                </a:cubicBezTo>
                <a:cubicBezTo>
                  <a:pt x="5889667" y="3709529"/>
                  <a:pt x="5879569" y="3744770"/>
                  <a:pt x="5879569" y="3784397"/>
                </a:cubicBezTo>
                <a:cubicBezTo>
                  <a:pt x="5879569" y="3799258"/>
                  <a:pt x="5870996" y="3813737"/>
                  <a:pt x="5869471" y="3828785"/>
                </a:cubicBezTo>
                <a:cubicBezTo>
                  <a:pt x="5867567" y="3849362"/>
                  <a:pt x="5862423" y="3872985"/>
                  <a:pt x="5869664" y="3890891"/>
                </a:cubicBezTo>
                <a:cubicBezTo>
                  <a:pt x="5886809" y="3932993"/>
                  <a:pt x="5872519" y="3967091"/>
                  <a:pt x="5855566" y="4003861"/>
                </a:cubicBezTo>
                <a:cubicBezTo>
                  <a:pt x="5838801" y="4040058"/>
                  <a:pt x="5825466" y="4078159"/>
                  <a:pt x="5814416" y="4116641"/>
                </a:cubicBezTo>
                <a:cubicBezTo>
                  <a:pt x="5810415" y="4131119"/>
                  <a:pt x="5817085" y="4148453"/>
                  <a:pt x="5818417" y="4164458"/>
                </a:cubicBezTo>
                <a:cubicBezTo>
                  <a:pt x="5818798" y="4170174"/>
                  <a:pt x="5819370" y="4176461"/>
                  <a:pt x="5817466" y="4181603"/>
                </a:cubicBezTo>
                <a:cubicBezTo>
                  <a:pt x="5799176" y="4231324"/>
                  <a:pt x="5785269" y="4281810"/>
                  <a:pt x="5794794" y="4335722"/>
                </a:cubicBezTo>
                <a:cubicBezTo>
                  <a:pt x="5795747" y="4340674"/>
                  <a:pt x="5793650" y="4346201"/>
                  <a:pt x="5792317" y="4351154"/>
                </a:cubicBezTo>
                <a:cubicBezTo>
                  <a:pt x="5785461" y="4375349"/>
                  <a:pt x="5774601" y="4398972"/>
                  <a:pt x="5772124" y="4423545"/>
                </a:cubicBezTo>
                <a:cubicBezTo>
                  <a:pt x="5766028" y="4484127"/>
                  <a:pt x="5763550" y="4545086"/>
                  <a:pt x="5759550" y="4606053"/>
                </a:cubicBezTo>
                <a:cubicBezTo>
                  <a:pt x="5759361" y="4609863"/>
                  <a:pt x="5759361" y="4613864"/>
                  <a:pt x="5758027" y="4617291"/>
                </a:cubicBezTo>
                <a:cubicBezTo>
                  <a:pt x="5749834" y="4639772"/>
                  <a:pt x="5752502" y="4659393"/>
                  <a:pt x="5768123" y="4678445"/>
                </a:cubicBezTo>
                <a:cubicBezTo>
                  <a:pt x="5774982" y="4686828"/>
                  <a:pt x="5778601" y="4698258"/>
                  <a:pt x="5782412" y="4708734"/>
                </a:cubicBezTo>
                <a:cubicBezTo>
                  <a:pt x="5788127" y="4724167"/>
                  <a:pt x="5793650" y="4739978"/>
                  <a:pt x="5797271" y="4755980"/>
                </a:cubicBezTo>
                <a:cubicBezTo>
                  <a:pt x="5800700" y="4771793"/>
                  <a:pt x="5805462" y="4788747"/>
                  <a:pt x="5802796" y="4803988"/>
                </a:cubicBezTo>
                <a:cubicBezTo>
                  <a:pt x="5798035" y="4831420"/>
                  <a:pt x="5787366" y="4857522"/>
                  <a:pt x="5780315" y="4884572"/>
                </a:cubicBezTo>
                <a:cubicBezTo>
                  <a:pt x="5777837" y="4893907"/>
                  <a:pt x="5778221" y="4904195"/>
                  <a:pt x="5778030" y="4913909"/>
                </a:cubicBezTo>
                <a:cubicBezTo>
                  <a:pt x="5777459" y="4936201"/>
                  <a:pt x="5782984" y="4959061"/>
                  <a:pt x="5767171" y="4979253"/>
                </a:cubicBezTo>
                <a:cubicBezTo>
                  <a:pt x="5752311" y="4997922"/>
                  <a:pt x="5756692" y="5016785"/>
                  <a:pt x="5767932" y="5036405"/>
                </a:cubicBezTo>
                <a:cubicBezTo>
                  <a:pt x="5775934" y="5050504"/>
                  <a:pt x="5782221" y="5066505"/>
                  <a:pt x="5785269" y="5082317"/>
                </a:cubicBezTo>
                <a:cubicBezTo>
                  <a:pt x="5789460" y="5104036"/>
                  <a:pt x="5791175" y="5125562"/>
                  <a:pt x="5788697" y="5148995"/>
                </a:cubicBezTo>
                <a:cubicBezTo>
                  <a:pt x="5786983" y="5165570"/>
                  <a:pt x="5786221" y="5179097"/>
                  <a:pt x="5776125" y="5192051"/>
                </a:cubicBezTo>
                <a:cubicBezTo>
                  <a:pt x="5774601" y="5194145"/>
                  <a:pt x="5774219" y="5197955"/>
                  <a:pt x="5774412" y="5200813"/>
                </a:cubicBezTo>
                <a:cubicBezTo>
                  <a:pt x="5777649" y="5238343"/>
                  <a:pt x="5775934" y="5275491"/>
                  <a:pt x="5773646" y="5313403"/>
                </a:cubicBezTo>
                <a:cubicBezTo>
                  <a:pt x="5770601" y="5361598"/>
                  <a:pt x="5779553" y="5412276"/>
                  <a:pt x="5811559" y="5453995"/>
                </a:cubicBezTo>
                <a:cubicBezTo>
                  <a:pt x="5816322" y="5460092"/>
                  <a:pt x="5818417" y="5469236"/>
                  <a:pt x="5819562" y="5477239"/>
                </a:cubicBezTo>
                <a:cubicBezTo>
                  <a:pt x="5824514" y="5514957"/>
                  <a:pt x="5827942" y="5552869"/>
                  <a:pt x="5833467" y="5590590"/>
                </a:cubicBezTo>
                <a:cubicBezTo>
                  <a:pt x="5836516" y="5611164"/>
                  <a:pt x="5839182" y="5632691"/>
                  <a:pt x="5847565" y="5651360"/>
                </a:cubicBezTo>
                <a:cubicBezTo>
                  <a:pt x="5855756" y="5669647"/>
                  <a:pt x="5865471" y="5684320"/>
                  <a:pt x="5848327" y="5695178"/>
                </a:cubicBezTo>
                <a:cubicBezTo>
                  <a:pt x="5857471" y="5714607"/>
                  <a:pt x="5865092" y="5731564"/>
                  <a:pt x="5873282" y="5748136"/>
                </a:cubicBezTo>
                <a:cubicBezTo>
                  <a:pt x="5876329" y="5754234"/>
                  <a:pt x="5881284" y="5759378"/>
                  <a:pt x="5884142" y="5765474"/>
                </a:cubicBezTo>
                <a:cubicBezTo>
                  <a:pt x="5887190" y="5771953"/>
                  <a:pt x="5889094" y="5779191"/>
                  <a:pt x="5890620" y="5786239"/>
                </a:cubicBezTo>
                <a:cubicBezTo>
                  <a:pt x="5897477" y="5817674"/>
                  <a:pt x="5903763" y="5849107"/>
                  <a:pt x="5911194" y="5880348"/>
                </a:cubicBezTo>
                <a:cubicBezTo>
                  <a:pt x="5912717" y="5886447"/>
                  <a:pt x="5918813" y="5891590"/>
                  <a:pt x="5922813" y="5897114"/>
                </a:cubicBezTo>
                <a:cubicBezTo>
                  <a:pt x="5925481" y="5900735"/>
                  <a:pt x="5929482" y="5904353"/>
                  <a:pt x="5930054" y="5908355"/>
                </a:cubicBezTo>
                <a:cubicBezTo>
                  <a:pt x="5934626" y="5938836"/>
                  <a:pt x="5939961" y="5969124"/>
                  <a:pt x="5942246" y="5999796"/>
                </a:cubicBezTo>
                <a:cubicBezTo>
                  <a:pt x="5944149" y="6025515"/>
                  <a:pt x="5943580" y="6050282"/>
                  <a:pt x="5976728" y="6056948"/>
                </a:cubicBezTo>
                <a:cubicBezTo>
                  <a:pt x="5982443" y="6058092"/>
                  <a:pt x="5988540" y="6066284"/>
                  <a:pt x="5991396" y="6072569"/>
                </a:cubicBezTo>
                <a:cubicBezTo>
                  <a:pt x="5999589" y="6090477"/>
                  <a:pt x="6005113" y="6109530"/>
                  <a:pt x="6013494" y="6127247"/>
                </a:cubicBezTo>
                <a:cubicBezTo>
                  <a:pt x="6041500" y="6185351"/>
                  <a:pt x="6059217" y="6246121"/>
                  <a:pt x="6055978" y="6311084"/>
                </a:cubicBezTo>
                <a:cubicBezTo>
                  <a:pt x="6055026" y="6331277"/>
                  <a:pt x="6044737" y="6350899"/>
                  <a:pt x="6040926" y="6363664"/>
                </a:cubicBezTo>
                <a:cubicBezTo>
                  <a:pt x="6055978" y="6400429"/>
                  <a:pt x="6070456" y="6431292"/>
                  <a:pt x="6081315" y="6463490"/>
                </a:cubicBezTo>
                <a:cubicBezTo>
                  <a:pt x="6091031" y="6491874"/>
                  <a:pt x="6097127" y="6521593"/>
                  <a:pt x="6104175" y="6550742"/>
                </a:cubicBezTo>
                <a:cubicBezTo>
                  <a:pt x="6106844" y="6561411"/>
                  <a:pt x="6108367" y="6572269"/>
                  <a:pt x="6109702" y="6583128"/>
                </a:cubicBezTo>
                <a:cubicBezTo>
                  <a:pt x="6113892" y="6617036"/>
                  <a:pt x="6103795" y="6652472"/>
                  <a:pt x="6119798" y="6685617"/>
                </a:cubicBezTo>
                <a:cubicBezTo>
                  <a:pt x="6128180" y="6702955"/>
                  <a:pt x="6138276" y="6720103"/>
                  <a:pt x="6142658" y="6738388"/>
                </a:cubicBezTo>
                <a:cubicBezTo>
                  <a:pt x="6147421" y="6758011"/>
                  <a:pt x="6154851" y="6777207"/>
                  <a:pt x="6160162" y="6796804"/>
                </a:cubicBezTo>
                <a:lnTo>
                  <a:pt x="6164933" y="6857457"/>
                </a:lnTo>
                <a:lnTo>
                  <a:pt x="6037694" y="6857457"/>
                </a:lnTo>
                <a:lnTo>
                  <a:pt x="6037694" y="6857998"/>
                </a:lnTo>
                <a:lnTo>
                  <a:pt x="0" y="6857998"/>
                </a:lnTo>
                <a:close/>
              </a:path>
            </a:pathLst>
          </a:custGeom>
          <a:effectLst>
            <a:outerShdw blurRad="381000" dist="152400" algn="tl" rotWithShape="0">
              <a:prstClr val="black">
                <a:alpha val="10000"/>
              </a:prstClr>
            </a:outerShdw>
          </a:effectLst>
        </p:spPr>
      </p:pic>
      <p:grpSp>
        <p:nvGrpSpPr>
          <p:cNvPr id="14" name="Group 13"/>
          <p:cNvGrpSpPr>
            <a:grpSpLocks noGrp="1" noUngrp="1" noRot="1" noChangeAspect="1" noMove="1" noResize="1"/>
          </p:cNvGrpSpPr>
          <p:nvPr/>
        </p:nvGrpSpPr>
        <p:grpSpPr>
          <a:xfrm>
            <a:off x="5395368" y="0"/>
            <a:ext cx="874718" cy="6857455"/>
            <a:chOff x="5395368" y="0"/>
            <a:chExt cx="874718" cy="6857455"/>
          </a:xfrm>
        </p:grpSpPr>
        <p:sp>
          <p:nvSpPr>
            <p:cNvPr id="15" name="Freeform: Shape 14"/>
            <p:cNvSpPr/>
            <p:nvPr/>
          </p:nvSpPr>
          <p:spPr>
            <a:xfrm rot="16200000">
              <a:off x="2404000" y="2991370"/>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8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8"/>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p:cNvSpPr/>
            <p:nvPr/>
          </p:nvSpPr>
          <p:spPr>
            <a:xfrm rot="16200000">
              <a:off x="2403998" y="2991370"/>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7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7"/>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7" name="TextBox 6"/>
          <p:cNvSpPr txBox="1"/>
          <p:nvPr/>
        </p:nvSpPr>
        <p:spPr>
          <a:xfrm>
            <a:off x="6981826" y="3146400"/>
            <a:ext cx="4391024" cy="2682000"/>
          </a:xfrm>
          <a:prstGeom prst="rect">
            <a:avLst/>
          </a:prstGeom>
        </p:spPr>
        <p:txBody>
          <a:bodyPr vert="horz" lIns="91440" tIns="45720" rIns="91440" bIns="45720" rtlCol="0">
            <a:normAutofit/>
          </a:bodyPr>
          <a:lstStyle/>
          <a:p>
            <a:pPr indent="-228600">
              <a:lnSpc>
                <a:spcPct val="90000"/>
              </a:lnSpc>
              <a:spcAft>
                <a:spcPts val="600"/>
              </a:spcAft>
              <a:buFont typeface="Arial" charset="0"/>
              <a:buChar char="•"/>
            </a:pPr>
            <a:r>
              <a:rPr lang="en-US" sz="2400">
                <a:solidFill>
                  <a:schemeClr val="bg1">
                    <a:alpha val="80000"/>
                  </a:schemeClr>
                </a:solidFill>
              </a:rPr>
              <a:t>Disseminated neurocysticercosis</a:t>
            </a:r>
          </a:p>
          <a:p>
            <a:pPr indent="-228600">
              <a:lnSpc>
                <a:spcPct val="90000"/>
              </a:lnSpc>
              <a:spcAft>
                <a:spcPts val="600"/>
              </a:spcAft>
              <a:buFont typeface="Arial" charset="0"/>
              <a:buChar char="•"/>
            </a:pPr>
            <a:endParaRPr lang="en-US" sz="2400">
              <a:solidFill>
                <a:schemeClr val="bg1">
                  <a:alpha val="80000"/>
                </a:schemeClr>
              </a:solidFill>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charset="0"/>
                <a:cs typeface="Arial" charset="0"/>
              </a:rPr>
              <a:t>Treatment.</a:t>
            </a:r>
            <a:endParaRPr lang="en-US" b="1" dirty="0">
              <a:latin typeface="Arial" charset="0"/>
              <a:cs typeface="Arial" charset="0"/>
            </a:endParaRPr>
          </a:p>
        </p:txBody>
      </p:sp>
      <p:sp>
        <p:nvSpPr>
          <p:cNvPr id="3" name="Content Placeholder 2"/>
          <p:cNvSpPr>
            <a:spLocks noGrp="1"/>
          </p:cNvSpPr>
          <p:nvPr>
            <p:ph idx="1"/>
          </p:nvPr>
        </p:nvSpPr>
        <p:spPr/>
        <p:txBody>
          <a:bodyPr>
            <a:normAutofit/>
          </a:bodyPr>
          <a:lstStyle/>
          <a:p>
            <a:r>
              <a:rPr lang="en-GB" dirty="0">
                <a:latin typeface="Arial" panose="020B0604020202020204" pitchFamily="34" charset="0"/>
                <a:cs typeface="Arial" panose="020B0604020202020204" pitchFamily="34" charset="0"/>
              </a:rPr>
              <a:t>Albendazole (15 mg/kg per day for 8–28 days) </a:t>
            </a:r>
            <a:r>
              <a:rPr lang="en-GB" b="1" dirty="0">
                <a:latin typeface="Arial" panose="020B0604020202020204" pitchFamily="34" charset="0"/>
                <a:cs typeface="Arial" panose="020B0604020202020204" pitchFamily="34" charset="0"/>
              </a:rPr>
              <a:t>or </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Praziquantel (50–100 mg/kg daily in three divided doses for 15–30 days). </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A combination of albendazole and praziquantel (50 mg/kg in three divided doses per day) is more effective in pts with more than two cystic lesions.</a:t>
            </a:r>
            <a:endParaRPr lang="en-US"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5943"/>
            <a:ext cx="10515600" cy="1494745"/>
          </a:xfrm>
        </p:spPr>
        <p:txBody>
          <a:bodyPr>
            <a:normAutofit fontScale="90000"/>
          </a:bodyPr>
          <a:lstStyle/>
          <a:p>
            <a:pPr algn="ctr"/>
            <a:r>
              <a:rPr lang="en-GB" b="1" dirty="0">
                <a:latin typeface="Arial" charset="0"/>
                <a:cs typeface="Arial" charset="0"/>
              </a:rPr>
              <a:t/>
            </a:r>
            <a:br>
              <a:rPr lang="en-GB" b="1" dirty="0">
                <a:latin typeface="Arial" charset="0"/>
                <a:cs typeface="Arial" charset="0"/>
              </a:rPr>
            </a:br>
            <a:r>
              <a:rPr lang="en-GB" b="1" dirty="0">
                <a:latin typeface="Arial" charset="0"/>
                <a:cs typeface="Arial" charset="0"/>
              </a:rPr>
              <a:t>3. </a:t>
            </a:r>
            <a:r>
              <a:rPr lang="en-GB" sz="4900" b="1" dirty="0">
                <a:latin typeface="Arial" panose="020B0604020202020204" pitchFamily="34" charset="0"/>
                <a:cs typeface="Arial" panose="020B0604020202020204" pitchFamily="34" charset="0"/>
              </a:rPr>
              <a:t>PROGRESSIVE MULTIFOCAL LEUKOENCEPHALOPATHY (PML)</a:t>
            </a:r>
            <a:r>
              <a:rPr lang="en-GB" b="1" dirty="0">
                <a:latin typeface="Arial" panose="020B0604020202020204" pitchFamily="34" charset="0"/>
                <a:cs typeface="Arial" panose="020B0604020202020204" pitchFamily="34" charset="0"/>
              </a:rPr>
              <a:t/>
            </a:r>
            <a:br>
              <a:rPr lang="en-GB" b="1" dirty="0">
                <a:latin typeface="Arial" panose="020B0604020202020204" pitchFamily="34" charset="0"/>
                <a:cs typeface="Arial" panose="020B0604020202020204" pitchFamily="34" charset="0"/>
              </a:rPr>
            </a:b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r>
              <a:rPr lang="en-GB" dirty="0">
                <a:latin typeface="Arial" panose="020B0604020202020204" pitchFamily="34" charset="0"/>
                <a:cs typeface="Arial" panose="020B0604020202020204" pitchFamily="34" charset="0"/>
              </a:rPr>
              <a:t>A progressive disorder due to infection with the JC virus, a human polyoma virus</a:t>
            </a:r>
          </a:p>
          <a:p>
            <a:endParaRPr lang="en-GB" dirty="0">
              <a:latin typeface="Arial" panose="020B0604020202020204" pitchFamily="34" charset="0"/>
              <a:cs typeface="Arial" panose="020B0604020202020204" pitchFamily="34" charset="0"/>
            </a:endParaRPr>
          </a:p>
          <a:p>
            <a:pPr marL="0" indent="0">
              <a:buNone/>
            </a:pPr>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 It is characterized by multifocal areas of demyelination of the subcortical white matter involving the parietal and occipital lobes with characteristic cytologic alterations in </a:t>
            </a:r>
            <a:r>
              <a:rPr lang="en-GB" b="1" dirty="0">
                <a:latin typeface="Arial" panose="020B0604020202020204" pitchFamily="34" charset="0"/>
                <a:cs typeface="Arial" panose="020B0604020202020204" pitchFamily="34" charset="0"/>
              </a:rPr>
              <a:t>astrocytes and oligodendrocytes</a:t>
            </a:r>
            <a:r>
              <a:rPr lang="en-GB" dirty="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Clinical presentation.</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958516" y="2174540"/>
            <a:ext cx="10515600" cy="5032375"/>
          </a:xfrm>
        </p:spPr>
        <p:txBody>
          <a:bodyPr>
            <a:noAutofit/>
          </a:bodyPr>
          <a:lstStyle/>
          <a:p>
            <a:r>
              <a:rPr lang="en-GB" b="1" dirty="0">
                <a:latin typeface="Arial" panose="020B0604020202020204" pitchFamily="34" charset="0"/>
                <a:cs typeface="Arial" panose="020B0604020202020204" pitchFamily="34" charset="0"/>
              </a:rPr>
              <a:t>visual deficits </a:t>
            </a:r>
            <a:r>
              <a:rPr lang="en-GB" dirty="0">
                <a:latin typeface="Arial" panose="020B0604020202020204" pitchFamily="34" charset="0"/>
                <a:cs typeface="Arial" panose="020B0604020202020204" pitchFamily="34" charset="0"/>
              </a:rPr>
              <a:t>, typically a homonymous hemianopia</a:t>
            </a:r>
          </a:p>
          <a:p>
            <a:endParaRPr lang="en-GB" dirty="0">
              <a:latin typeface="Arial" panose="020B0604020202020204" pitchFamily="34" charset="0"/>
              <a:cs typeface="Arial" panose="020B0604020202020204" pitchFamily="34" charset="0"/>
            </a:endParaRPr>
          </a:p>
          <a:p>
            <a:r>
              <a:rPr lang="fr-FR" b="1" dirty="0">
                <a:latin typeface="Arial" panose="020B0604020202020204" pitchFamily="34" charset="0"/>
                <a:cs typeface="Arial" panose="020B0604020202020204" pitchFamily="34" charset="0"/>
              </a:rPr>
              <a:t>mental impairement </a:t>
            </a:r>
            <a:r>
              <a:rPr lang="fr-FR" dirty="0">
                <a:latin typeface="Arial" panose="020B0604020202020204" pitchFamily="34" charset="0"/>
                <a:cs typeface="Arial" panose="020B0604020202020204" pitchFamily="34" charset="0"/>
              </a:rPr>
              <a:t>(</a:t>
            </a:r>
            <a:r>
              <a:rPr lang="fr-FR" dirty="0" err="1">
                <a:latin typeface="Arial" panose="020B0604020202020204" pitchFamily="34" charset="0"/>
                <a:cs typeface="Arial" panose="020B0604020202020204" pitchFamily="34" charset="0"/>
              </a:rPr>
              <a:t>dementia</a:t>
            </a:r>
            <a:r>
              <a:rPr lang="fr-FR" dirty="0">
                <a:latin typeface="Arial" panose="020B0604020202020204" pitchFamily="34" charset="0"/>
                <a:cs typeface="Arial" panose="020B0604020202020204" pitchFamily="34" charset="0"/>
              </a:rPr>
              <a:t>, confusion, </a:t>
            </a:r>
            <a:r>
              <a:rPr lang="fr-FR" dirty="0" err="1">
                <a:latin typeface="Arial" panose="020B0604020202020204" pitchFamily="34" charset="0"/>
                <a:cs typeface="Arial" panose="020B0604020202020204" pitchFamily="34" charset="0"/>
              </a:rPr>
              <a:t>personality</a:t>
            </a:r>
            <a:r>
              <a:rPr lang="fr-FR" dirty="0">
                <a:latin typeface="Arial" panose="020B0604020202020204" pitchFamily="34" charset="0"/>
                <a:cs typeface="Arial" panose="020B0604020202020204" pitchFamily="34" charset="0"/>
              </a:rPr>
              <a:t> change)</a:t>
            </a:r>
          </a:p>
          <a:p>
            <a:endParaRPr lang="en-GB" dirty="0">
              <a:latin typeface="Arial" panose="020B0604020202020204" pitchFamily="34" charset="0"/>
              <a:cs typeface="Arial" panose="020B0604020202020204" pitchFamily="34" charset="0"/>
            </a:endParaRPr>
          </a:p>
          <a:p>
            <a:r>
              <a:rPr lang="en-GB" b="1" dirty="0">
                <a:latin typeface="Arial" panose="020B0604020202020204" pitchFamily="34" charset="0"/>
                <a:cs typeface="Arial" panose="020B0604020202020204" pitchFamily="34" charset="0"/>
              </a:rPr>
              <a:t>Focal neurological symptoms</a:t>
            </a:r>
            <a:r>
              <a:rPr lang="en-GB" dirty="0">
                <a:latin typeface="Arial" panose="020B0604020202020204" pitchFamily="34" charset="0"/>
                <a:cs typeface="Arial" panose="020B0604020202020204" pitchFamily="34" charset="0"/>
              </a:rPr>
              <a:t>.</a:t>
            </a:r>
          </a:p>
          <a:p>
            <a:pPr marL="0" indent="0">
              <a:buNone/>
            </a:pPr>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Seizures </a:t>
            </a:r>
          </a:p>
          <a:p>
            <a:pPr marL="0" indent="0">
              <a:buNone/>
            </a:pPr>
            <a:endParaRPr lang="en-GB" dirty="0">
              <a:cs typeface="Arial" charset="0"/>
            </a:endParaRPr>
          </a:p>
          <a:p>
            <a:pPr marL="0" indent="0">
              <a:buNone/>
            </a:pPr>
            <a:endParaRPr lang="en-US" b="1" dirty="0">
              <a:cs typeface="Arial" charset="0"/>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Investigation.</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r>
              <a:rPr lang="en-GB" dirty="0">
                <a:latin typeface="Arial" panose="020B0604020202020204" pitchFamily="34" charset="0"/>
                <a:cs typeface="Arial" panose="020B0604020202020204" pitchFamily="34" charset="0"/>
              </a:rPr>
              <a:t>MRI reveals </a:t>
            </a:r>
            <a:r>
              <a:rPr lang="en-GB" b="1" dirty="0">
                <a:latin typeface="Arial" panose="020B0604020202020204" pitchFamily="34" charset="0"/>
                <a:cs typeface="Arial" panose="020B0604020202020204" pitchFamily="34" charset="0"/>
              </a:rPr>
              <a:t>multifocal asymmetric, coalescing white matter lesions </a:t>
            </a:r>
            <a:r>
              <a:rPr lang="en-GB" dirty="0">
                <a:latin typeface="Arial" panose="020B0604020202020204" pitchFamily="34" charset="0"/>
                <a:cs typeface="Arial" panose="020B0604020202020204" pitchFamily="34" charset="0"/>
              </a:rPr>
              <a:t>located peri ventricularly, in the centrum </a:t>
            </a:r>
            <a:r>
              <a:rPr lang="en-GB" dirty="0" err="1">
                <a:latin typeface="Arial" panose="020B0604020202020204" pitchFamily="34" charset="0"/>
                <a:cs typeface="Arial" panose="020B0604020202020204" pitchFamily="34" charset="0"/>
              </a:rPr>
              <a:t>semiovale</a:t>
            </a:r>
            <a:r>
              <a:rPr lang="en-GB" dirty="0">
                <a:latin typeface="Arial" panose="020B0604020202020204" pitchFamily="34" charset="0"/>
                <a:cs typeface="Arial" panose="020B0604020202020204" pitchFamily="34" charset="0"/>
              </a:rPr>
              <a:t>, in the parietal-occipital region, and in the cerebellum- (CT scan is less sensitive.)</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A </a:t>
            </a:r>
            <a:r>
              <a:rPr lang="en-GB" b="1" dirty="0">
                <a:latin typeface="Arial" panose="020B0604020202020204" pitchFamily="34" charset="0"/>
                <a:cs typeface="Arial" panose="020B0604020202020204" pitchFamily="34" charset="0"/>
              </a:rPr>
              <a:t>positive CSF PCR for JC virus DNA </a:t>
            </a:r>
            <a:r>
              <a:rPr lang="en-GB" dirty="0">
                <a:latin typeface="Arial" panose="020B0604020202020204" pitchFamily="34" charset="0"/>
                <a:cs typeface="Arial" panose="020B0604020202020204" pitchFamily="34" charset="0"/>
              </a:rPr>
              <a:t>in association with typical MRI lesions in the appropriate clinical setting is diagnostic of PML</a:t>
            </a:r>
            <a:endParaRPr lang="en-US"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Treatment.</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r>
              <a:rPr lang="en-GB" b="1" dirty="0">
                <a:latin typeface="Arial" panose="020B0604020202020204" pitchFamily="34" charset="0"/>
                <a:cs typeface="Arial" panose="020B0604020202020204" pitchFamily="34" charset="0"/>
              </a:rPr>
              <a:t>No</a:t>
            </a:r>
            <a:r>
              <a:rPr lang="en-GB" dirty="0">
                <a:latin typeface="Arial" panose="020B0604020202020204" pitchFamily="34" charset="0"/>
                <a:cs typeface="Arial" panose="020B0604020202020204" pitchFamily="34" charset="0"/>
              </a:rPr>
              <a:t> effective therapy is available.</a:t>
            </a:r>
          </a:p>
          <a:p>
            <a:pPr marL="0" indent="0">
              <a:buNone/>
            </a:pPr>
            <a:endParaRPr lang="en-GB" dirty="0">
              <a:latin typeface="Arial" panose="020B0604020202020204" pitchFamily="34" charset="0"/>
              <a:cs typeface="Arial" panose="020B0604020202020204" pitchFamily="34" charset="0"/>
            </a:endParaRPr>
          </a:p>
          <a:p>
            <a:pPr marL="0" indent="0">
              <a:buNone/>
            </a:pPr>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Some pts with HIV-associated PML have shown dramatic clinical gains associated with improvement in immune status following institution of highly active antiretroviral therapy (HAART).</a:t>
            </a:r>
            <a:endParaRPr lang="en-US"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chemeClr val="tx1"/>
                </a:solidFill>
                <a:effectLst>
                  <a:outerShdw blurRad="38100" dist="19050" dir="2700000" algn="tl" rotWithShape="0">
                    <a:schemeClr val="dk1">
                      <a:alpha val="40000"/>
                      <a:alpha val="40000"/>
                    </a:schemeClr>
                  </a:outerShdw>
                </a:effectLst>
                <a:latin typeface="Arial" panose="020B0604020202020204" pitchFamily="34" charset="0"/>
                <a:cs typeface="Arial" panose="020B0604020202020204" pitchFamily="34" charset="0"/>
              </a:rPr>
              <a:t>4. BRAIN ABSCESS</a:t>
            </a:r>
          </a:p>
        </p:txBody>
      </p:sp>
      <p:sp>
        <p:nvSpPr>
          <p:cNvPr id="3" name="Content Placeholder 2"/>
          <p:cNvSpPr>
            <a:spLocks noGrp="1"/>
          </p:cNvSpPr>
          <p:nvPr>
            <p:ph idx="1"/>
          </p:nvPr>
        </p:nvSpPr>
        <p:spPr/>
        <p:txBody>
          <a:bodyPr>
            <a:normAutofit/>
          </a:bodyPr>
          <a:lstStyle/>
          <a:p>
            <a:r>
              <a:rPr lang="en-US" sz="240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sym typeface="+mn-ea"/>
              </a:rPr>
              <a:t>Brain abscess is a </a:t>
            </a:r>
            <a:r>
              <a:rPr lang="en-US" sz="2400" b="1" dirty="0">
                <a:latin typeface="Arial" panose="020B0604020202020204" pitchFamily="34" charset="0"/>
                <a:cs typeface="Arial" panose="020B0604020202020204" pitchFamily="34" charset="0"/>
                <a:sym typeface="+mn-ea"/>
              </a:rPr>
              <a:t>focal pus collection </a:t>
            </a:r>
            <a:r>
              <a:rPr lang="en-US" sz="2400" dirty="0">
                <a:latin typeface="Arial" panose="020B0604020202020204" pitchFamily="34" charset="0"/>
                <a:cs typeface="Arial" panose="020B0604020202020204" pitchFamily="34" charset="0"/>
                <a:sym typeface="+mn-ea"/>
              </a:rPr>
              <a:t>within the brain parenchyma, which can arise as a complication of a variety of infections, trauma, or surgery.</a:t>
            </a:r>
          </a:p>
          <a:p>
            <a:pPr marL="0" indent="0">
              <a:buNone/>
            </a:pPr>
            <a:endParaRPr lang="en-US" sz="2400" dirty="0">
              <a:latin typeface="Arial" panose="020B0604020202020204" pitchFamily="34" charset="0"/>
              <a:cs typeface="Arial" panose="020B0604020202020204" pitchFamily="34" charset="0"/>
              <a:sym typeface="+mn-ea"/>
            </a:endParaRPr>
          </a:p>
          <a:p>
            <a:pPr marL="0" indent="0">
              <a:buNone/>
            </a:pPr>
            <a:endParaRPr lang="en-US" sz="2400" dirty="0">
              <a:latin typeface="Arial" panose="020B0604020202020204" pitchFamily="34" charset="0"/>
              <a:cs typeface="Arial" panose="020B0604020202020204" pitchFamily="34" charset="0"/>
              <a:sym typeface="+mn-ea"/>
            </a:endParaRPr>
          </a:p>
          <a:p>
            <a:pPr marL="0" indent="0">
              <a:buNone/>
            </a:pPr>
            <a:endParaRPr lang="en-US" sz="2400" dirty="0">
              <a:latin typeface="Arial" panose="020B0604020202020204" pitchFamily="34" charset="0"/>
              <a:cs typeface="Arial" panose="020B0604020202020204" pitchFamily="34" charset="0"/>
              <a:sym typeface="+mn-ea"/>
            </a:endParaRPr>
          </a:p>
          <a:p>
            <a:r>
              <a:rPr lang="en-US" sz="2400" dirty="0">
                <a:latin typeface="Arial" panose="020B0604020202020204" pitchFamily="34" charset="0"/>
                <a:cs typeface="Arial" panose="020B0604020202020204" pitchFamily="34" charset="0"/>
              </a:rPr>
              <a:t>Many abscesses are common in </a:t>
            </a:r>
            <a:r>
              <a:rPr lang="en-US" sz="2400" b="1" dirty="0">
                <a:latin typeface="Arial" panose="020B0604020202020204" pitchFamily="34" charset="0"/>
                <a:cs typeface="Arial" panose="020B0604020202020204" pitchFamily="34" charset="0"/>
              </a:rPr>
              <a:t>immunocompromised individuals</a:t>
            </a:r>
            <a:r>
              <a:rPr lang="en-US" sz="2400" dirty="0">
                <a:latin typeface="Arial" panose="020B0604020202020204" pitchFamily="34" charset="0"/>
                <a:cs typeface="Arial" panose="020B0604020202020204" pitchFamily="34" charset="0"/>
              </a:rPr>
              <a:t> and the most common organisms includes;</a:t>
            </a:r>
          </a:p>
          <a:p>
            <a:pPr lvl="1">
              <a:buFont typeface="Wingdings" charset="2"/>
              <a:buChar char="ü"/>
            </a:pPr>
            <a:r>
              <a:rPr lang="en-US" b="1" dirty="0">
                <a:latin typeface="Arial" panose="020B0604020202020204" pitchFamily="34" charset="0"/>
                <a:cs typeface="Arial" panose="020B0604020202020204" pitchFamily="34" charset="0"/>
              </a:rPr>
              <a:t>toxoplasma gondii, aspergillus </a:t>
            </a:r>
            <a:r>
              <a:rPr lang="en-US" b="1" dirty="0" err="1">
                <a:latin typeface="Arial" panose="020B0604020202020204" pitchFamily="34" charset="0"/>
                <a:cs typeface="Arial" panose="020B0604020202020204" pitchFamily="34" charset="0"/>
              </a:rPr>
              <a:t>spp</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Norcadia</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spp</a:t>
            </a:r>
            <a:r>
              <a:rPr lang="en-US" b="1" dirty="0">
                <a:latin typeface="Arial" panose="020B0604020202020204" pitchFamily="34" charset="0"/>
                <a:cs typeface="Arial" panose="020B0604020202020204" pitchFamily="34" charset="0"/>
              </a:rPr>
              <a:t>, Candida </a:t>
            </a:r>
            <a:r>
              <a:rPr lang="en-US" b="1" dirty="0" err="1">
                <a:latin typeface="Arial" panose="020B0604020202020204" pitchFamily="34" charset="0"/>
                <a:cs typeface="Arial" panose="020B0604020202020204" pitchFamily="34" charset="0"/>
              </a:rPr>
              <a:t>spp</a:t>
            </a:r>
            <a:r>
              <a:rPr lang="en-US" b="1" dirty="0">
                <a:latin typeface="Arial" panose="020B0604020202020204" pitchFamily="34" charset="0"/>
                <a:cs typeface="Arial" panose="020B0604020202020204" pitchFamily="34" charset="0"/>
              </a:rPr>
              <a:t> and cryptococcus neoformans. </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6595" y="153035"/>
            <a:ext cx="10657205" cy="1379220"/>
          </a:xfrm>
        </p:spPr>
        <p:txBody>
          <a:bodyPr/>
          <a:lstStyle/>
          <a:p>
            <a:pPr algn="ctr"/>
            <a:r>
              <a:rPr lang="en-US" b="1" dirty="0">
                <a:solidFill>
                  <a:schemeClr val="tx1"/>
                </a:solidFill>
                <a:effectLst>
                  <a:outerShdw blurRad="38100" dist="19050" dir="2700000" algn="tl" rotWithShape="0">
                    <a:schemeClr val="dk1">
                      <a:alpha val="40000"/>
                      <a:alpha val="40000"/>
                    </a:schemeClr>
                  </a:outerShdw>
                </a:effectLst>
                <a:latin typeface="Arial" panose="020B0604020202020204" pitchFamily="34" charset="0"/>
                <a:cs typeface="Arial" panose="020B0604020202020204" pitchFamily="34" charset="0"/>
              </a:rPr>
              <a:t>Brain </a:t>
            </a:r>
            <a:r>
              <a:rPr lang="en-US" b="1" dirty="0" err="1">
                <a:solidFill>
                  <a:schemeClr val="tx1"/>
                </a:solidFill>
                <a:effectLst>
                  <a:outerShdw blurRad="38100" dist="19050" dir="2700000" algn="tl" rotWithShape="0">
                    <a:schemeClr val="dk1">
                      <a:alpha val="40000"/>
                      <a:alpha val="40000"/>
                    </a:schemeClr>
                  </a:outerShdw>
                </a:effectLst>
                <a:latin typeface="Arial" panose="020B0604020202020204" pitchFamily="34" charset="0"/>
                <a:cs typeface="Arial" panose="020B0604020202020204" pitchFamily="34" charset="0"/>
              </a:rPr>
              <a:t>Abcess</a:t>
            </a:r>
            <a:r>
              <a:rPr lang="en-US" b="1" dirty="0">
                <a:solidFill>
                  <a:schemeClr val="tx1"/>
                </a:solidFill>
                <a:effectLst>
                  <a:outerShdw blurRad="38100" dist="19050" dir="2700000" algn="tl" rotWithShape="0">
                    <a:schemeClr val="dk1">
                      <a:alpha val="40000"/>
                      <a:alpha val="40000"/>
                    </a:schemeClr>
                  </a:outerShdw>
                </a:effectLst>
                <a:latin typeface="Arial" panose="020B0604020202020204" pitchFamily="34" charset="0"/>
                <a:cs typeface="Arial" panose="020B0604020202020204" pitchFamily="34" charset="0"/>
              </a:rPr>
              <a:t> </a:t>
            </a:r>
            <a:r>
              <a:rPr lang="en-US" b="1" dirty="0" err="1">
                <a:solidFill>
                  <a:schemeClr val="tx1"/>
                </a:solidFill>
                <a:effectLst>
                  <a:outerShdw blurRad="38100" dist="19050" dir="2700000" algn="tl" rotWithShape="0">
                    <a:schemeClr val="dk1">
                      <a:alpha val="40000"/>
                      <a:alpha val="40000"/>
                    </a:schemeClr>
                  </a:outerShdw>
                </a:effectLst>
                <a:latin typeface="Arial" panose="020B0604020202020204" pitchFamily="34" charset="0"/>
                <a:cs typeface="Arial" panose="020B0604020202020204" pitchFamily="34" charset="0"/>
              </a:rPr>
              <a:t>Epidermiology</a:t>
            </a:r>
            <a:endParaRPr lang="en-US" b="1" dirty="0">
              <a:solidFill>
                <a:schemeClr val="tx1"/>
              </a:solidFill>
              <a:effectLst>
                <a:outerShdw blurRad="38100" dist="19050" dir="2700000" algn="tl" rotWithShape="0">
                  <a:schemeClr val="dk1">
                    <a:alpha val="40000"/>
                    <a:alpha val="40000"/>
                  </a:schemeClr>
                </a:outerShdw>
              </a:effectLst>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532255"/>
            <a:ext cx="10515600" cy="4645025"/>
          </a:xfrm>
        </p:spPr>
        <p:txBody>
          <a:bodyPr>
            <a:noAutofit/>
          </a:bodyPr>
          <a:lstStyle/>
          <a:p>
            <a:r>
              <a:rPr lang="en-US" sz="2400" dirty="0">
                <a:latin typeface="Arial" panose="020B0604020202020204" pitchFamily="34" charset="0"/>
                <a:cs typeface="Arial" panose="020B0604020202020204" pitchFamily="34" charset="0"/>
                <a:sym typeface="+mn-ea"/>
              </a:rPr>
              <a:t>Populations in low-resource settings have a higher burden of brain abscess. It accounts for </a:t>
            </a:r>
            <a:r>
              <a:rPr lang="en-US" sz="2400" b="1" dirty="0">
                <a:latin typeface="Arial" panose="020B0604020202020204" pitchFamily="34" charset="0"/>
                <a:cs typeface="Arial" panose="020B0604020202020204" pitchFamily="34" charset="0"/>
                <a:sym typeface="+mn-ea"/>
              </a:rPr>
              <a:t>less than 1% </a:t>
            </a:r>
            <a:r>
              <a:rPr lang="en-US" sz="2400" dirty="0">
                <a:latin typeface="Arial" panose="020B0604020202020204" pitchFamily="34" charset="0"/>
                <a:cs typeface="Arial" panose="020B0604020202020204" pitchFamily="34" charset="0"/>
                <a:sym typeface="+mn-ea"/>
              </a:rPr>
              <a:t>of intracranial lesions in the developed world, as opposed to </a:t>
            </a:r>
            <a:r>
              <a:rPr lang="en-US" sz="2400" b="1" dirty="0">
                <a:latin typeface="Arial" panose="020B0604020202020204" pitchFamily="34" charset="0"/>
                <a:cs typeface="Arial" panose="020B0604020202020204" pitchFamily="34" charset="0"/>
                <a:sym typeface="+mn-ea"/>
              </a:rPr>
              <a:t>roughly 8% in developing countries </a:t>
            </a:r>
          </a:p>
          <a:p>
            <a:pPr marL="0" indent="0">
              <a:buNone/>
            </a:pPr>
            <a:endParaRPr lang="en-US" sz="2400" b="1" dirty="0">
              <a:latin typeface="Arial" panose="020B0604020202020204" pitchFamily="34" charset="0"/>
              <a:cs typeface="Arial" panose="020B0604020202020204" pitchFamily="34" charset="0"/>
              <a:sym typeface="+mn-ea"/>
            </a:endParaRPr>
          </a:p>
          <a:p>
            <a:r>
              <a:rPr lang="en-US" sz="2400" dirty="0">
                <a:latin typeface="Arial" panose="020B0604020202020204" pitchFamily="34" charset="0"/>
                <a:cs typeface="Arial" panose="020B0604020202020204" pitchFamily="34" charset="0"/>
              </a:rPr>
              <a:t>Although brain abscess can affect both sexes, in multiple series of both pediatric and adult patients, the male-to-female ratio of brain abscess has been demonstrated to range </a:t>
            </a:r>
            <a:r>
              <a:rPr lang="en-US" sz="2400" b="1" dirty="0">
                <a:latin typeface="Arial" panose="020B0604020202020204" pitchFamily="34" charset="0"/>
                <a:cs typeface="Arial" panose="020B0604020202020204" pitchFamily="34" charset="0"/>
              </a:rPr>
              <a:t>from 2:1 to as great as 4:1</a:t>
            </a:r>
            <a:r>
              <a:rPr lang="en-US" sz="2400" b="1" dirty="0" smtClean="0">
                <a:latin typeface="Arial" panose="020B0604020202020204" pitchFamily="34" charset="0"/>
                <a:cs typeface="Arial" panose="020B0604020202020204" pitchFamily="34" charset="0"/>
              </a:rPr>
              <a:t>.</a:t>
            </a:r>
            <a:endParaRPr lang="en-US" sz="2400" b="1" dirty="0">
              <a:latin typeface="Arial" panose="020B0604020202020204" pitchFamily="34" charset="0"/>
              <a:cs typeface="Arial" panose="020B0604020202020204" pitchFamily="34" charset="0"/>
            </a:endParaRPr>
          </a:p>
          <a:p>
            <a:pPr marL="0" indent="0">
              <a:buNone/>
            </a:pPr>
            <a:endParaRPr lang="en-US" sz="2400" b="1"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Throughout the first half of the 20th century, the age distribution of brain abscess was </a:t>
            </a:r>
            <a:r>
              <a:rPr lang="en-US" sz="2400" b="1" dirty="0">
                <a:latin typeface="Arial" panose="020B0604020202020204" pitchFamily="34" charset="0"/>
                <a:cs typeface="Arial" panose="020B0604020202020204" pitchFamily="34" charset="0"/>
              </a:rPr>
              <a:t>bimodal</a:t>
            </a:r>
            <a:r>
              <a:rPr lang="en-US" sz="2400" dirty="0">
                <a:latin typeface="Arial" panose="020B0604020202020204" pitchFamily="34" charset="0"/>
                <a:cs typeface="Arial" panose="020B0604020202020204" pitchFamily="34" charset="0"/>
              </a:rPr>
              <a:t>, with the highest rates being among children and adults older than 60 years. </a:t>
            </a:r>
          </a:p>
        </p:txBody>
      </p:sp>
      <p:sp>
        <p:nvSpPr>
          <p:cNvPr id="5" name="TextBox 4"/>
          <p:cNvSpPr txBox="1"/>
          <p:nvPr/>
        </p:nvSpPr>
        <p:spPr>
          <a:xfrm>
            <a:off x="1828800" y="6230983"/>
            <a:ext cx="8817429" cy="646331"/>
          </a:xfrm>
          <a:prstGeom prst="rect">
            <a:avLst/>
          </a:prstGeom>
          <a:noFill/>
          <a:ln>
            <a:solidFill>
              <a:schemeClr val="accent2">
                <a:lumMod val="75000"/>
              </a:schemeClr>
            </a:solidFill>
          </a:ln>
        </p:spPr>
        <p:txBody>
          <a:bodyPr wrap="square" rtlCol="0">
            <a:spAutoFit/>
          </a:bodyPr>
          <a:lstStyle/>
          <a:p>
            <a:r>
              <a:rPr lang="en-US" dirty="0"/>
              <a:t>Epidemiology, Pathogenesis, Clinical Manifestations, and Management Strategies </a:t>
            </a:r>
            <a:r>
              <a:rPr lang="en-US" dirty="0" smtClean="0"/>
              <a:t>of </a:t>
            </a:r>
            <a:r>
              <a:rPr lang="en-US" dirty="0"/>
              <a:t>Meningitis. Arch Intern Med Res. 2025;8(1):48-58. </a:t>
            </a:r>
            <a:r>
              <a:rPr lang="en-US" dirty="0" err="1"/>
              <a:t>doi</a:t>
            </a:r>
            <a:r>
              <a:rPr lang="en-US" dirty="0"/>
              <a:t>: 10.26502/aimr.0195</a:t>
            </a:r>
            <a:endParaRPr lang="en-US" dirty="0" smtClean="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23837"/>
          </a:xfrm>
        </p:spPr>
        <p:txBody>
          <a:bodyPr/>
          <a:lstStyle/>
          <a:p>
            <a:pPr algn="ctr"/>
            <a:r>
              <a:rPr lang="en-US" b="1" dirty="0">
                <a:solidFill>
                  <a:schemeClr val="tx1"/>
                </a:solidFill>
                <a:latin typeface="Arial" panose="020B0604020202020204" pitchFamily="34" charset="0"/>
                <a:cs typeface="Arial" panose="020B0604020202020204" pitchFamily="34" charset="0"/>
              </a:rPr>
              <a:t>Clinical presentation</a:t>
            </a:r>
          </a:p>
        </p:txBody>
      </p:sp>
      <p:sp>
        <p:nvSpPr>
          <p:cNvPr id="3" name="Content Placeholder 2"/>
          <p:cNvSpPr>
            <a:spLocks noGrp="1"/>
          </p:cNvSpPr>
          <p:nvPr>
            <p:ph idx="1"/>
          </p:nvPr>
        </p:nvSpPr>
        <p:spPr>
          <a:xfrm>
            <a:off x="838200" y="1388962"/>
            <a:ext cx="10515600" cy="5382228"/>
          </a:xfrm>
        </p:spPr>
        <p:txBody>
          <a:bodyPr>
            <a:noAutofit/>
          </a:bodyPr>
          <a:lstStyle/>
          <a:p>
            <a:r>
              <a:rPr lang="en-US" sz="2400" dirty="0">
                <a:latin typeface="Arial" panose="020B0604020202020204" pitchFamily="34" charset="0"/>
                <a:cs typeface="Arial" panose="020B0604020202020204" pitchFamily="34" charset="0"/>
              </a:rPr>
              <a:t>The clinical manifestations of brain abscess typically include headache, fever, and focal </a:t>
            </a:r>
            <a:r>
              <a:rPr lang="en-US" sz="2400" b="1" dirty="0">
                <a:latin typeface="Arial" panose="020B0604020202020204" pitchFamily="34" charset="0"/>
                <a:cs typeface="Arial" panose="020B0604020202020204" pitchFamily="34" charset="0"/>
              </a:rPr>
              <a:t>neurologic deficits</a:t>
            </a:r>
            <a:r>
              <a:rPr lang="en-US" sz="2400" dirty="0">
                <a:latin typeface="Arial" panose="020B0604020202020204" pitchFamily="34" charset="0"/>
                <a:cs typeface="Arial" panose="020B0604020202020204" pitchFamily="34" charset="0"/>
              </a:rPr>
              <a:t>. However, early in the course of disease, the manifestations can be nonspecific.</a:t>
            </a:r>
          </a:p>
          <a:p>
            <a:pPr marL="0" indent="0">
              <a:buNone/>
            </a:pPr>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symptoms </a:t>
            </a:r>
          </a:p>
          <a:p>
            <a:pPr lvl="1"/>
            <a:r>
              <a:rPr lang="en-US" b="1" dirty="0">
                <a:latin typeface="Arial" panose="020B0604020202020204" pitchFamily="34" charset="0"/>
                <a:cs typeface="Arial" panose="020B0604020202020204" pitchFamily="34" charset="0"/>
              </a:rPr>
              <a:t>Headache</a:t>
            </a:r>
            <a:r>
              <a:rPr lang="en-US" dirty="0">
                <a:latin typeface="Arial" panose="020B0604020202020204" pitchFamily="34" charset="0"/>
                <a:cs typeface="Arial" panose="020B0604020202020204" pitchFamily="34" charset="0"/>
              </a:rPr>
              <a:t> is the most common symptom of a brain abscess (69%). </a:t>
            </a:r>
          </a:p>
          <a:p>
            <a:pPr lvl="1"/>
            <a:r>
              <a:rPr lang="en-US" b="1" dirty="0">
                <a:latin typeface="Arial" panose="020B0604020202020204" pitchFamily="34" charset="0"/>
                <a:cs typeface="Arial" panose="020B0604020202020204" pitchFamily="34" charset="0"/>
              </a:rPr>
              <a:t>Neck stiffness</a:t>
            </a:r>
            <a:r>
              <a:rPr lang="en-US" dirty="0">
                <a:latin typeface="Arial" panose="020B0604020202020204" pitchFamily="34" charset="0"/>
                <a:cs typeface="Arial" panose="020B0604020202020204" pitchFamily="34" charset="0"/>
              </a:rPr>
              <a:t> – Neck stiffness occurs in 15% of patients with brain abscess. </a:t>
            </a:r>
          </a:p>
          <a:p>
            <a:pPr lvl="1"/>
            <a:r>
              <a:rPr lang="en-US" b="1" dirty="0">
                <a:latin typeface="Arial" panose="020B0604020202020204" pitchFamily="34" charset="0"/>
                <a:cs typeface="Arial" panose="020B0604020202020204" pitchFamily="34" charset="0"/>
              </a:rPr>
              <a:t>Altered mental status</a:t>
            </a:r>
            <a:r>
              <a:rPr lang="en-US" dirty="0">
                <a:latin typeface="Arial" panose="020B0604020202020204" pitchFamily="34" charset="0"/>
                <a:cs typeface="Arial" panose="020B0604020202020204" pitchFamily="34" charset="0"/>
              </a:rPr>
              <a:t> – Changes in mental status (lethargy progressing to coma) are indicative of severe cerebral edema and are a poor prognostic sign.</a:t>
            </a:r>
          </a:p>
          <a:p>
            <a:pPr lvl="1"/>
            <a:r>
              <a:rPr lang="en-US" b="1" dirty="0">
                <a:latin typeface="Arial" panose="020B0604020202020204" pitchFamily="34" charset="0"/>
                <a:cs typeface="Arial" panose="020B0604020202020204" pitchFamily="34" charset="0"/>
              </a:rPr>
              <a:t>Vomiting</a:t>
            </a:r>
            <a:r>
              <a:rPr lang="en-US" dirty="0">
                <a:latin typeface="Arial" panose="020B0604020202020204" pitchFamily="34" charset="0"/>
                <a:cs typeface="Arial" panose="020B0604020202020204" pitchFamily="34" charset="0"/>
              </a:rPr>
              <a:t> – Vomiting generally develops in association with increased intracranial pressure .</a:t>
            </a:r>
          </a:p>
          <a:p>
            <a:pPr lvl="1"/>
            <a:endParaRPr lang="en-US" sz="2800" dirty="0">
              <a:latin typeface="Arial" charset="0"/>
              <a:cs typeface="Arial" charset="0"/>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3158" y="-144379"/>
            <a:ext cx="10150642" cy="1166791"/>
          </a:xfrm>
        </p:spPr>
        <p:txBody>
          <a:bodyPr>
            <a:normAutofit/>
            <a:scene3d>
              <a:camera prst="orthographicFront"/>
              <a:lightRig rig="threePt" dir="t"/>
            </a:scene3d>
          </a:bodyPr>
          <a:lstStyle/>
          <a:p>
            <a:pPr algn="ctr"/>
            <a:r>
              <a:rPr lang="en-US" sz="4900" b="1" dirty="0">
                <a:effectLst>
                  <a:outerShdw blurRad="38100" dist="19050" dir="2700000" algn="tl" rotWithShape="0">
                    <a:schemeClr val="dk1">
                      <a:alpha val="40000"/>
                      <a:alpha val="40000"/>
                    </a:schemeClr>
                  </a:outerShdw>
                </a:effectLst>
                <a:latin typeface="Arial" panose="020B0604020202020204" pitchFamily="34" charset="0"/>
                <a:cs typeface="Arial" panose="020B0604020202020204" pitchFamily="34" charset="0"/>
                <a:sym typeface="+mn-ea"/>
              </a:rPr>
              <a:t>Clinical presentation</a:t>
            </a:r>
            <a:endParaRPr lang="en-US" b="1" dirty="0">
              <a:solidFill>
                <a:schemeClr val="tx1"/>
              </a:solidFill>
              <a:effectLst>
                <a:outerShdw blurRad="38100" dist="19050" dir="2700000" algn="tl" rotWithShape="0">
                  <a:schemeClr val="dk1">
                    <a:alpha val="40000"/>
                    <a:alpha val="40000"/>
                  </a:schemeClr>
                </a:outerShdw>
              </a:effectLst>
              <a:latin typeface="Arial" panose="020B0604020202020204" pitchFamily="34" charset="0"/>
              <a:cs typeface="Arial" panose="020B0604020202020204" pitchFamily="34" charset="0"/>
              <a:sym typeface="+mn-ea"/>
            </a:endParaRPr>
          </a:p>
        </p:txBody>
      </p:sp>
      <p:sp>
        <p:nvSpPr>
          <p:cNvPr id="3" name="Content Placeholder 2"/>
          <p:cNvSpPr>
            <a:spLocks noGrp="1"/>
          </p:cNvSpPr>
          <p:nvPr>
            <p:ph idx="1"/>
          </p:nvPr>
        </p:nvSpPr>
        <p:spPr>
          <a:xfrm>
            <a:off x="494030" y="807658"/>
            <a:ext cx="10859770" cy="5903748"/>
          </a:xfrm>
        </p:spPr>
        <p:txBody>
          <a:bodyPr>
            <a:noAutofit/>
          </a:bodyPr>
          <a:lstStyle/>
          <a:p>
            <a:endParaRPr lang="en-US" dirty="0">
              <a:latin typeface="Arial Regular" charset="0"/>
              <a:cs typeface="Arial Regular" charset="0"/>
            </a:endParaRPr>
          </a:p>
          <a:p>
            <a:r>
              <a:rPr lang="en-US" sz="2400" b="1" dirty="0">
                <a:latin typeface="Arial" panose="020B0604020202020204" pitchFamily="34" charset="0"/>
                <a:cs typeface="Arial" panose="020B0604020202020204" pitchFamily="34" charset="0"/>
              </a:rPr>
              <a:t>Fever</a:t>
            </a:r>
            <a:r>
              <a:rPr lang="en-US" sz="2400" dirty="0">
                <a:latin typeface="Arial" panose="020B0604020202020204" pitchFamily="34" charset="0"/>
                <a:cs typeface="Arial" panose="020B0604020202020204" pitchFamily="34" charset="0"/>
              </a:rPr>
              <a:t> – Fever may be seen in patients with brain abscess but is not a reliable indicator since only 45 to 53 %of patients have this sign .</a:t>
            </a:r>
          </a:p>
          <a:p>
            <a:pPr marL="0" indent="0">
              <a:buNone/>
            </a:pPr>
            <a:endParaRPr lang="en-US" sz="2400" dirty="0">
              <a:latin typeface="Arial" panose="020B0604020202020204" pitchFamily="34" charset="0"/>
              <a:cs typeface="Arial" panose="020B0604020202020204" pitchFamily="34" charset="0"/>
            </a:endParaRPr>
          </a:p>
          <a:p>
            <a:r>
              <a:rPr lang="en-US" sz="2400" b="1" dirty="0">
                <a:latin typeface="Arial" panose="020B0604020202020204" pitchFamily="34" charset="0"/>
                <a:cs typeface="Arial" panose="020B0604020202020204" pitchFamily="34" charset="0"/>
              </a:rPr>
              <a:t>Focal neurologic deficits </a:t>
            </a:r>
            <a:r>
              <a:rPr lang="en-US" sz="2400" dirty="0">
                <a:latin typeface="Arial" panose="020B0604020202020204" pitchFamily="34" charset="0"/>
                <a:cs typeface="Arial" panose="020B0604020202020204" pitchFamily="34" charset="0"/>
              </a:rPr>
              <a:t>– are observed in up to 50 % of patients and generally occur days to weeks after the onset of headache. </a:t>
            </a:r>
            <a:r>
              <a:rPr lang="en-US" sz="2400" b="1" dirty="0">
                <a:latin typeface="Arial" panose="020B0604020202020204" pitchFamily="34" charset="0"/>
                <a:cs typeface="Arial" panose="020B0604020202020204" pitchFamily="34" charset="0"/>
              </a:rPr>
              <a:t>Third and sixth cranial nerve deficits </a:t>
            </a:r>
            <a:r>
              <a:rPr lang="en-US" sz="2400" dirty="0">
                <a:latin typeface="Arial" panose="020B0604020202020204" pitchFamily="34" charset="0"/>
                <a:cs typeface="Arial" panose="020B0604020202020204" pitchFamily="34" charset="0"/>
              </a:rPr>
              <a:t>indicate raised intracranial pressure. </a:t>
            </a:r>
            <a:r>
              <a:rPr lang="en-US" sz="2400" b="1" dirty="0">
                <a:latin typeface="Arial" panose="020B0604020202020204" pitchFamily="34" charset="0"/>
                <a:cs typeface="Arial" panose="020B0604020202020204" pitchFamily="34" charset="0"/>
              </a:rPr>
              <a:t>Papilledema</a:t>
            </a:r>
            <a:r>
              <a:rPr lang="en-US" sz="2400" dirty="0">
                <a:latin typeface="Arial" panose="020B0604020202020204" pitchFamily="34" charset="0"/>
                <a:cs typeface="Arial" panose="020B0604020202020204" pitchFamily="34" charset="0"/>
              </a:rPr>
              <a:t> is a late manifestation of cerebral edema and usually takes several days to develop. This finding is observed in approximately 25%of patients.</a:t>
            </a:r>
          </a:p>
          <a:p>
            <a:pPr marL="0" indent="0">
              <a:buNone/>
            </a:pPr>
            <a:endParaRPr lang="en-US" sz="2400" dirty="0">
              <a:latin typeface="Arial" panose="020B0604020202020204" pitchFamily="34" charset="0"/>
              <a:cs typeface="Arial" panose="020B0604020202020204" pitchFamily="34" charset="0"/>
            </a:endParaRPr>
          </a:p>
          <a:p>
            <a:pPr marL="0" indent="0">
              <a:buNone/>
            </a:pPr>
            <a:endParaRPr lang="en-US" sz="2400" dirty="0">
              <a:latin typeface="Arial" panose="020B0604020202020204" pitchFamily="34" charset="0"/>
              <a:cs typeface="Arial" panose="020B0604020202020204" pitchFamily="34" charset="0"/>
            </a:endParaRPr>
          </a:p>
          <a:p>
            <a:r>
              <a:rPr lang="en-US" sz="2400" b="1" dirty="0">
                <a:latin typeface="Arial" panose="020B0604020202020204" pitchFamily="34" charset="0"/>
                <a:cs typeface="Arial" panose="020B0604020202020204" pitchFamily="34" charset="0"/>
              </a:rPr>
              <a:t>Seizures</a:t>
            </a:r>
            <a:r>
              <a:rPr lang="en-US" sz="2400" dirty="0">
                <a:latin typeface="Arial" panose="020B0604020202020204" pitchFamily="34" charset="0"/>
                <a:cs typeface="Arial" panose="020B0604020202020204" pitchFamily="34" charset="0"/>
              </a:rPr>
              <a:t> – Seizures develop in 25% of cases and can be the first manifestation of brain abscess . Grand mal seizures are particularly common in frontal abscesses.</a:t>
            </a:r>
          </a:p>
          <a:p>
            <a:endParaRPr lang="en-US"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942" y="365125"/>
            <a:ext cx="11285316" cy="706120"/>
          </a:xfrm>
        </p:spPr>
        <p:txBody>
          <a:bodyPr>
            <a:normAutofit/>
          </a:bodyPr>
          <a:lstStyle/>
          <a:p>
            <a:pPr algn="ctr"/>
            <a:r>
              <a:rPr lang="en-US" b="1" dirty="0">
                <a:solidFill>
                  <a:schemeClr val="tx1"/>
                </a:solidFill>
                <a:effectLst>
                  <a:outerShdw blurRad="38100" dist="19050" dir="2700000" algn="tl" rotWithShape="0">
                    <a:schemeClr val="dk1">
                      <a:alpha val="40000"/>
                      <a:alpha val="40000"/>
                    </a:schemeClr>
                  </a:outerShdw>
                </a:effectLst>
                <a:latin typeface="Arial" panose="020B0604020202020204" pitchFamily="34" charset="0"/>
                <a:cs typeface="Arial" panose="020B0604020202020204" pitchFamily="34" charset="0"/>
              </a:rPr>
              <a:t>Investigations</a:t>
            </a:r>
          </a:p>
        </p:txBody>
      </p:sp>
      <p:sp>
        <p:nvSpPr>
          <p:cNvPr id="3" name="Content Placeholder 2"/>
          <p:cNvSpPr>
            <a:spLocks noGrp="1"/>
          </p:cNvSpPr>
          <p:nvPr>
            <p:ph idx="1"/>
          </p:nvPr>
        </p:nvSpPr>
        <p:spPr>
          <a:xfrm>
            <a:off x="430530" y="1205865"/>
            <a:ext cx="10923270" cy="4971415"/>
          </a:xfrm>
        </p:spPr>
        <p:txBody>
          <a:bodyPr>
            <a:normAutofit/>
          </a:bodyPr>
          <a:lstStyle/>
          <a:p>
            <a:r>
              <a:rPr lang="en-US" sz="2400" b="1" dirty="0">
                <a:latin typeface="Arial" panose="020B0604020202020204" pitchFamily="34" charset="0"/>
                <a:cs typeface="Arial" panose="020B0604020202020204" pitchFamily="34" charset="0"/>
              </a:rPr>
              <a:t>MRI is superior to CT for </a:t>
            </a:r>
            <a:r>
              <a:rPr lang="en-US" sz="2400" b="1" dirty="0" err="1">
                <a:latin typeface="Arial" panose="020B0604020202020204" pitchFamily="34" charset="0"/>
                <a:cs typeface="Arial" panose="020B0604020202020204" pitchFamily="34" charset="0"/>
              </a:rPr>
              <a:t>demonstaring</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abcesses</a:t>
            </a:r>
            <a:r>
              <a:rPr lang="en-US" sz="2400" b="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in the early stages (</a:t>
            </a:r>
            <a:r>
              <a:rPr lang="en-US" sz="2400" dirty="0" err="1">
                <a:latin typeface="Arial" panose="020B0604020202020204" pitchFamily="34" charset="0"/>
                <a:cs typeface="Arial" panose="020B0604020202020204" pitchFamily="34" charset="0"/>
              </a:rPr>
              <a:t>celebritis</a:t>
            </a:r>
            <a:r>
              <a:rPr lang="en-US" sz="2400" dirty="0">
                <a:latin typeface="Arial" panose="020B0604020202020204" pitchFamily="34" charset="0"/>
                <a:cs typeface="Arial" panose="020B0604020202020204" pitchFamily="34" charset="0"/>
              </a:rPr>
              <a:t>) and also for abscesses at the posterior fossa. Abscesses are usually </a:t>
            </a:r>
            <a:r>
              <a:rPr lang="en-US" sz="2400" b="1" dirty="0">
                <a:latin typeface="Arial" panose="020B0604020202020204" pitchFamily="34" charset="0"/>
                <a:cs typeface="Arial" panose="020B0604020202020204" pitchFamily="34" charset="0"/>
              </a:rPr>
              <a:t>hyperintense</a:t>
            </a:r>
            <a:r>
              <a:rPr lang="en-US" sz="2400" dirty="0">
                <a:latin typeface="Arial" panose="020B0604020202020204" pitchFamily="34" charset="0"/>
                <a:cs typeface="Arial" panose="020B0604020202020204" pitchFamily="34" charset="0"/>
              </a:rPr>
              <a:t> on diffusion-weighted MRI, indicating restricted diffusion, characteristic of viscous materials, such as pus. </a:t>
            </a:r>
          </a:p>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Labs: microbiological diagnosis best determines by </a:t>
            </a:r>
            <a:r>
              <a:rPr lang="en-US" sz="2400" b="1" dirty="0">
                <a:latin typeface="Arial" panose="020B0604020202020204" pitchFamily="34" charset="0"/>
                <a:cs typeface="Arial" panose="020B0604020202020204" pitchFamily="34" charset="0"/>
              </a:rPr>
              <a:t>Gram’s stain </a:t>
            </a:r>
            <a:r>
              <a:rPr lang="en-US" sz="2400" dirty="0">
                <a:latin typeface="Arial" panose="020B0604020202020204" pitchFamily="34" charset="0"/>
                <a:cs typeface="Arial" panose="020B0604020202020204" pitchFamily="34" charset="0"/>
              </a:rPr>
              <a:t>and </a:t>
            </a:r>
            <a:r>
              <a:rPr lang="en-US" sz="2400" b="1" dirty="0">
                <a:latin typeface="Arial" panose="020B0604020202020204" pitchFamily="34" charset="0"/>
                <a:cs typeface="Arial" panose="020B0604020202020204" pitchFamily="34" charset="0"/>
              </a:rPr>
              <a:t>culture</a:t>
            </a:r>
            <a:r>
              <a:rPr lang="en-US" sz="2400" dirty="0">
                <a:latin typeface="Arial" panose="020B0604020202020204" pitchFamily="34" charset="0"/>
                <a:cs typeface="Arial" panose="020B0604020202020204" pitchFamily="34" charset="0"/>
              </a:rPr>
              <a:t> of abscess material obtained from needles aspirations.</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brain abcess MRI Small"/>
          <p:cNvPicPr>
            <a:picLocks noGrp="1" noChangeAspect="1"/>
          </p:cNvPicPr>
          <p:nvPr>
            <p:ph idx="1"/>
          </p:nvPr>
        </p:nvPicPr>
        <p:blipFill>
          <a:blip r:embed="rId3"/>
          <a:stretch>
            <a:fillRect/>
          </a:stretch>
        </p:blipFill>
        <p:spPr>
          <a:xfrm>
            <a:off x="838200" y="763929"/>
            <a:ext cx="4694499" cy="4977114"/>
          </a:xfrm>
          <a:prstGeom prst="rect">
            <a:avLst/>
          </a:prstGeom>
        </p:spPr>
      </p:pic>
      <p:pic>
        <p:nvPicPr>
          <p:cNvPr id="6" name="Picture 5" descr="ct brain abcess Small"/>
          <p:cNvPicPr>
            <a:picLocks noChangeAspect="1"/>
          </p:cNvPicPr>
          <p:nvPr/>
        </p:nvPicPr>
        <p:blipFill>
          <a:blip r:embed="rId4"/>
          <a:stretch>
            <a:fillRect/>
          </a:stretch>
        </p:blipFill>
        <p:spPr>
          <a:xfrm>
            <a:off x="6562846" y="763928"/>
            <a:ext cx="4525524" cy="4977113"/>
          </a:xfrm>
          <a:prstGeom prst="rect">
            <a:avLst/>
          </a:prstGeom>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9919" y="365125"/>
            <a:ext cx="11133881" cy="965963"/>
          </a:xfrm>
        </p:spPr>
        <p:txBody>
          <a:bodyPr/>
          <a:lstStyle/>
          <a:p>
            <a:pPr algn="ctr"/>
            <a:r>
              <a:rPr lang="en-US" b="1" dirty="0">
                <a:latin typeface="Arial" panose="020B0604020202020204" pitchFamily="34" charset="0"/>
                <a:cs typeface="Arial" panose="020B0604020202020204" pitchFamily="34" charset="0"/>
              </a:rPr>
              <a:t>Treatment</a:t>
            </a:r>
          </a:p>
        </p:txBody>
      </p:sp>
      <p:sp>
        <p:nvSpPr>
          <p:cNvPr id="3" name="Content Placeholder 2"/>
          <p:cNvSpPr>
            <a:spLocks noGrp="1"/>
          </p:cNvSpPr>
          <p:nvPr>
            <p:ph idx="1"/>
          </p:nvPr>
        </p:nvSpPr>
        <p:spPr>
          <a:xfrm>
            <a:off x="219919" y="1331088"/>
            <a:ext cx="11574683" cy="5324355"/>
          </a:xfrm>
        </p:spPr>
        <p:txBody>
          <a:bodyPr>
            <a:noAutofit/>
          </a:bodyPr>
          <a:lstStyle/>
          <a:p>
            <a:r>
              <a:rPr lang="en-US" sz="2400" b="1" dirty="0">
                <a:latin typeface="Arial" panose="020B0604020202020204" pitchFamily="34" charset="0"/>
                <a:cs typeface="Arial" panose="020B0604020202020204" pitchFamily="34" charset="0"/>
              </a:rPr>
              <a:t>high-dose parenteral antibiotics and neurosurgical drainage.</a:t>
            </a:r>
          </a:p>
          <a:p>
            <a:r>
              <a:rPr lang="en-US" sz="2400" dirty="0">
                <a:latin typeface="Arial" panose="020B0604020202020204" pitchFamily="34" charset="0"/>
                <a:cs typeface="Arial" panose="020B0604020202020204" pitchFamily="34" charset="0"/>
              </a:rPr>
              <a:t>Empirical therapy of community-acquired brain abscess in an immunocompetent pt typically includes a </a:t>
            </a:r>
            <a:r>
              <a:rPr lang="en-US" sz="2400" b="1" dirty="0">
                <a:latin typeface="Arial" panose="020B0604020202020204" pitchFamily="34" charset="0"/>
                <a:cs typeface="Arial" panose="020B0604020202020204" pitchFamily="34" charset="0"/>
              </a:rPr>
              <a:t>third- or fourth-generation cephalosporin</a:t>
            </a:r>
            <a:r>
              <a:rPr lang="en-US" sz="2400" dirty="0">
                <a:latin typeface="Arial" panose="020B0604020202020204" pitchFamily="34" charset="0"/>
                <a:cs typeface="Arial" panose="020B0604020202020204" pitchFamily="34" charset="0"/>
              </a:rPr>
              <a:t> (e.g., cefotaxime, ceftriaxone, or cefepime) and metronidazole.</a:t>
            </a:r>
          </a:p>
          <a:p>
            <a:pPr marL="0" indent="0">
              <a:buNone/>
            </a:pPr>
            <a:endParaRPr lang="en-US" sz="2400" dirty="0">
              <a:latin typeface="Arial" panose="020B0604020202020204" pitchFamily="34" charset="0"/>
              <a:cs typeface="Arial" panose="020B0604020202020204" pitchFamily="34" charset="0"/>
            </a:endParaRPr>
          </a:p>
          <a:p>
            <a:r>
              <a:rPr lang="en-US" sz="2400" b="1" dirty="0">
                <a:latin typeface="Arial" panose="020B0604020202020204" pitchFamily="34" charset="0"/>
                <a:cs typeface="Arial" panose="020B0604020202020204" pitchFamily="34" charset="0"/>
              </a:rPr>
              <a:t>Aspiration and drainage </a:t>
            </a:r>
            <a:r>
              <a:rPr lang="en-US" sz="2400" dirty="0">
                <a:latin typeface="Arial" panose="020B0604020202020204" pitchFamily="34" charset="0"/>
                <a:cs typeface="Arial" panose="020B0604020202020204" pitchFamily="34" charset="0"/>
              </a:rPr>
              <a:t>essential in most cases. </a:t>
            </a:r>
          </a:p>
          <a:p>
            <a:pPr marL="0" indent="0">
              <a:buNone/>
            </a:pPr>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Medical therapy alone is reserved for pts whose abscesses are </a:t>
            </a:r>
            <a:r>
              <a:rPr lang="en-US" sz="2400" dirty="0" err="1">
                <a:latin typeface="Arial" panose="020B0604020202020204" pitchFamily="34" charset="0"/>
                <a:cs typeface="Arial" panose="020B0604020202020204" pitchFamily="34" charset="0"/>
              </a:rPr>
              <a:t>neurosurgically</a:t>
            </a:r>
            <a:r>
              <a:rPr lang="en-US" sz="2400" dirty="0">
                <a:latin typeface="Arial" panose="020B0604020202020204" pitchFamily="34" charset="0"/>
                <a:cs typeface="Arial" panose="020B0604020202020204" pitchFamily="34" charset="0"/>
              </a:rPr>
              <a:t> inaccessible and for pts with small (&lt;2–3 cm) or nonencapsulated abscesses (cerebritis).</a:t>
            </a:r>
          </a:p>
          <a:p>
            <a:pPr marL="0" indent="0">
              <a:buNone/>
            </a:pPr>
            <a:endParaRPr lang="en-US" sz="320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5. TOXOPLASMOSIS</a:t>
            </a:r>
          </a:p>
        </p:txBody>
      </p:sp>
      <p:sp>
        <p:nvSpPr>
          <p:cNvPr id="3" name="Content Placeholder 2"/>
          <p:cNvSpPr>
            <a:spLocks noGrp="1"/>
          </p:cNvSpPr>
          <p:nvPr>
            <p:ph idx="1"/>
          </p:nvPr>
        </p:nvSpPr>
        <p:spPr/>
        <p:txBody>
          <a:bodyPr>
            <a:normAutofit fontScale="92500" lnSpcReduction="10000"/>
          </a:bodyPr>
          <a:lstStyle/>
          <a:p>
            <a:r>
              <a:rPr lang="en-US" dirty="0">
                <a:latin typeface="Arial" panose="020B0604020202020204" pitchFamily="34" charset="0"/>
                <a:cs typeface="Arial" panose="020B0604020202020204" pitchFamily="34" charset="0"/>
              </a:rPr>
              <a:t>Toxoplasmosis, an infection with a worldwide distribution, is caused by the intracellular protozoan parasite, </a:t>
            </a:r>
            <a:r>
              <a:rPr lang="en-US" b="1" i="1" dirty="0">
                <a:latin typeface="Arial" panose="020B0604020202020204" pitchFamily="34" charset="0"/>
                <a:cs typeface="Arial" panose="020B0604020202020204" pitchFamily="34" charset="0"/>
              </a:rPr>
              <a:t>Toxoplasma gondii. </a:t>
            </a:r>
          </a:p>
          <a:p>
            <a:pPr marL="0" indent="0">
              <a:buNone/>
            </a:pPr>
            <a:endParaRPr lang="en-US" b="1" i="1"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Immunocompetent</a:t>
            </a:r>
            <a:r>
              <a:rPr lang="en-US" dirty="0">
                <a:latin typeface="Arial" panose="020B0604020202020204" pitchFamily="34" charset="0"/>
                <a:cs typeface="Arial" panose="020B0604020202020204" pitchFamily="34" charset="0"/>
              </a:rPr>
              <a:t> persons with primary infection are usually </a:t>
            </a:r>
            <a:r>
              <a:rPr lang="en-US" b="1" dirty="0">
                <a:latin typeface="Arial" panose="020B0604020202020204" pitchFamily="34" charset="0"/>
                <a:cs typeface="Arial" panose="020B0604020202020204" pitchFamily="34" charset="0"/>
              </a:rPr>
              <a:t>asymptomatic</a:t>
            </a:r>
            <a:r>
              <a:rPr lang="en-US" dirty="0">
                <a:latin typeface="Arial" panose="020B0604020202020204" pitchFamily="34" charset="0"/>
                <a:cs typeface="Arial" panose="020B0604020202020204" pitchFamily="34" charset="0"/>
              </a:rPr>
              <a:t>. However, in some immunocompetent individuals, </a:t>
            </a:r>
            <a:r>
              <a:rPr lang="en-US" i="1" dirty="0">
                <a:latin typeface="Arial" panose="020B0604020202020204" pitchFamily="34" charset="0"/>
                <a:cs typeface="Arial" panose="020B0604020202020204" pitchFamily="34" charset="0"/>
              </a:rPr>
              <a:t>T. gondii </a:t>
            </a:r>
            <a:r>
              <a:rPr lang="en-US" dirty="0">
                <a:latin typeface="Arial" panose="020B0604020202020204" pitchFamily="34" charset="0"/>
                <a:cs typeface="Arial" panose="020B0604020202020204" pitchFamily="34" charset="0"/>
              </a:rPr>
              <a:t>infection can present as an acute systemic infection or as ocular disease (</a:t>
            </a:r>
            <a:r>
              <a:rPr lang="en-US" dirty="0" err="1">
                <a:latin typeface="Arial" panose="020B0604020202020204" pitchFamily="34" charset="0"/>
                <a:cs typeface="Arial" panose="020B0604020202020204" pitchFamily="34" charset="0"/>
              </a:rPr>
              <a:t>eg</a:t>
            </a:r>
            <a:r>
              <a:rPr lang="en-US" dirty="0">
                <a:latin typeface="Arial" panose="020B0604020202020204" pitchFamily="34" charset="0"/>
                <a:cs typeface="Arial" panose="020B0604020202020204" pitchFamily="34" charset="0"/>
              </a:rPr>
              <a:t>, posterior uveitis).</a:t>
            </a:r>
          </a:p>
          <a:p>
            <a:pPr marL="0" indent="0">
              <a:buNone/>
            </a:pP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In</a:t>
            </a:r>
            <a:r>
              <a:rPr lang="en-US" b="1" dirty="0">
                <a:latin typeface="Arial" panose="020B0604020202020204" pitchFamily="34" charset="0"/>
                <a:cs typeface="Arial" panose="020B0604020202020204" pitchFamily="34" charset="0"/>
              </a:rPr>
              <a:t> immunosuppressed </a:t>
            </a:r>
            <a:r>
              <a:rPr lang="en-US" dirty="0">
                <a:latin typeface="Arial" panose="020B0604020202020204" pitchFamily="34" charset="0"/>
                <a:cs typeface="Arial" panose="020B0604020202020204" pitchFamily="34" charset="0"/>
              </a:rPr>
              <a:t>patients, especially patients with AIDS, the parasite can reactivate and cause disease, when the CD4  count falls below </a:t>
            </a:r>
            <a:r>
              <a:rPr lang="en-US" b="1" dirty="0">
                <a:latin typeface="Arial" panose="020B0604020202020204" pitchFamily="34" charset="0"/>
                <a:cs typeface="Arial" panose="020B0604020202020204" pitchFamily="34" charset="0"/>
              </a:rPr>
              <a:t>100cell/mm3.</a:t>
            </a: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Epidemiology.</a:t>
            </a:r>
          </a:p>
        </p:txBody>
      </p:sp>
      <p:sp>
        <p:nvSpPr>
          <p:cNvPr id="3" name="Content Placeholder 2"/>
          <p:cNvSpPr>
            <a:spLocks noGrp="1"/>
          </p:cNvSpPr>
          <p:nvPr>
            <p:ph idx="1"/>
          </p:nvPr>
        </p:nvSpPr>
        <p:spPr/>
        <p:txBody>
          <a:bodyPr>
            <a:normAutofit/>
          </a:bodyPr>
          <a:lstStyle/>
          <a:p>
            <a:r>
              <a:rPr lang="en-US" sz="2400" dirty="0">
                <a:latin typeface="Arial" panose="020B0604020202020204" pitchFamily="34" charset="0"/>
                <a:cs typeface="Arial" panose="020B0604020202020204" pitchFamily="34" charset="0"/>
              </a:rPr>
              <a:t>In various places throughout the world, it has been shown that more than 60%  of some populations have been infected with Toxoplasma.</a:t>
            </a:r>
          </a:p>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 Infection is often highest in areas of the world that have hot, humid climates and lower altitudes, because the oocysts survive better in these types of environments.</a:t>
            </a:r>
          </a:p>
        </p:txBody>
      </p:sp>
      <p:sp>
        <p:nvSpPr>
          <p:cNvPr id="4" name="TextBox 3"/>
          <p:cNvSpPr txBox="1"/>
          <p:nvPr/>
        </p:nvSpPr>
        <p:spPr>
          <a:xfrm>
            <a:off x="1449977" y="6257109"/>
            <a:ext cx="8843554" cy="646331"/>
          </a:xfrm>
          <a:prstGeom prst="rect">
            <a:avLst/>
          </a:prstGeom>
          <a:noFill/>
          <a:ln>
            <a:solidFill>
              <a:schemeClr val="accent2">
                <a:lumMod val="75000"/>
              </a:schemeClr>
            </a:solidFill>
          </a:ln>
        </p:spPr>
        <p:txBody>
          <a:bodyPr wrap="square" rtlCol="0">
            <a:spAutoFit/>
          </a:bodyPr>
          <a:lstStyle/>
          <a:p>
            <a:r>
              <a:rPr lang="en-US" dirty="0"/>
              <a:t>Epidemiology, Pathogenesis, Clinical Manifestations, and Management Strategies </a:t>
            </a:r>
            <a:r>
              <a:rPr lang="en-US" dirty="0" smtClean="0"/>
              <a:t>. </a:t>
            </a:r>
            <a:r>
              <a:rPr lang="en-US" dirty="0"/>
              <a:t>Arch Intern Med Res. 2025;8(1):48-58</a:t>
            </a:r>
            <a:r>
              <a:rPr lang="en-US" dirty="0" smtClean="0"/>
              <a:t>.</a:t>
            </a: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255" y="241300"/>
            <a:ext cx="10710545" cy="1148715"/>
          </a:xfrm>
        </p:spPr>
        <p:txBody>
          <a:bodyPr/>
          <a:lstStyle/>
          <a:p>
            <a:pPr algn="ctr"/>
            <a:r>
              <a:rPr lang="en-US" b="1" dirty="0">
                <a:latin typeface="Arial" panose="020B0604020202020204" pitchFamily="34" charset="0"/>
                <a:cs typeface="Arial" panose="020B0604020202020204" pitchFamily="34" charset="0"/>
              </a:rPr>
              <a:t>Clinical Presentation</a:t>
            </a:r>
          </a:p>
        </p:txBody>
      </p:sp>
      <p:sp>
        <p:nvSpPr>
          <p:cNvPr id="3" name="Content Placeholder 2"/>
          <p:cNvSpPr>
            <a:spLocks noGrp="1"/>
          </p:cNvSpPr>
          <p:nvPr>
            <p:ph idx="1"/>
          </p:nvPr>
        </p:nvSpPr>
        <p:spPr>
          <a:xfrm>
            <a:off x="439838" y="1577340"/>
            <a:ext cx="10913962" cy="5039360"/>
          </a:xfrm>
        </p:spPr>
        <p:txBody>
          <a:bodyPr>
            <a:noAutofit/>
          </a:bodyPr>
          <a:lstStyle/>
          <a:p>
            <a:r>
              <a:rPr lang="en-US" sz="2400" dirty="0">
                <a:latin typeface="Arial" panose="020B0604020202020204" pitchFamily="34" charset="0"/>
                <a:cs typeface="Arial" panose="020B0604020202020204" pitchFamily="34" charset="0"/>
              </a:rPr>
              <a:t>In </a:t>
            </a:r>
            <a:r>
              <a:rPr lang="en-US" sz="2400" b="1" dirty="0">
                <a:latin typeface="Arial" panose="020B0604020202020204" pitchFamily="34" charset="0"/>
                <a:cs typeface="Arial" panose="020B0604020202020204" pitchFamily="34" charset="0"/>
              </a:rPr>
              <a:t>immunocompetent</a:t>
            </a:r>
            <a:r>
              <a:rPr lang="en-US" sz="2400" dirty="0">
                <a:latin typeface="Arial" panose="020B0604020202020204" pitchFamily="34" charset="0"/>
                <a:cs typeface="Arial" panose="020B0604020202020204" pitchFamily="34" charset="0"/>
              </a:rPr>
              <a:t> hosts is usually asymptomatic (80–90% of cases) and self-limited and does not require therapy. In contrast, </a:t>
            </a:r>
            <a:r>
              <a:rPr lang="en-US" sz="2400" b="1" dirty="0">
                <a:latin typeface="Arial" panose="020B0604020202020204" pitchFamily="34" charset="0"/>
                <a:cs typeface="Arial" panose="020B0604020202020204" pitchFamily="34" charset="0"/>
              </a:rPr>
              <a:t>immunocompromised </a:t>
            </a:r>
            <a:r>
              <a:rPr lang="en-US" sz="2400" dirty="0">
                <a:latin typeface="Arial" panose="020B0604020202020204" pitchFamily="34" charset="0"/>
                <a:cs typeface="Arial" panose="020B0604020202020204" pitchFamily="34" charset="0"/>
              </a:rPr>
              <a:t>pts, including newborns, can develop severe infections typically involving the CNS.</a:t>
            </a:r>
          </a:p>
          <a:p>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General symptoms — Patients with acute toxoplasmosis typically present with </a:t>
            </a:r>
            <a:r>
              <a:rPr lang="en-US" sz="2400" b="1" dirty="0">
                <a:latin typeface="Arial" panose="020B0604020202020204" pitchFamily="34" charset="0"/>
                <a:cs typeface="Arial" panose="020B0604020202020204" pitchFamily="34" charset="0"/>
              </a:rPr>
              <a:t>constitutional symptoms</a:t>
            </a:r>
            <a:r>
              <a:rPr lang="en-US" sz="2400" dirty="0">
                <a:latin typeface="Arial" panose="020B0604020202020204" pitchFamily="34" charset="0"/>
                <a:cs typeface="Arial" panose="020B0604020202020204" pitchFamily="34" charset="0"/>
              </a:rPr>
              <a:t>, such as fever, chills, and sweats; however, these symptoms are generally mild, and the febrile episodes usually last two to three days. </a:t>
            </a:r>
          </a:p>
          <a:p>
            <a:endParaRPr lang="en-US" sz="2400" dirty="0">
              <a:latin typeface="Arial" panose="020B0604020202020204" pitchFamily="34" charset="0"/>
              <a:cs typeface="Arial" panose="020B0604020202020204" pitchFamily="34" charset="0"/>
            </a:endParaRPr>
          </a:p>
          <a:p>
            <a:r>
              <a:rPr lang="en-US" sz="2400" b="1" dirty="0">
                <a:latin typeface="Arial" panose="020B0604020202020204" pitchFamily="34" charset="0"/>
                <a:cs typeface="Arial" panose="020B0604020202020204" pitchFamily="34" charset="0"/>
              </a:rPr>
              <a:t>Lymphadenopathy</a:t>
            </a:r>
            <a:r>
              <a:rPr lang="en-US" sz="2400" dirty="0">
                <a:latin typeface="Arial" panose="020B0604020202020204" pitchFamily="34" charset="0"/>
                <a:cs typeface="Arial" panose="020B0604020202020204" pitchFamily="34" charset="0"/>
              </a:rPr>
              <a:t> — The most common clinical manifestation of acute toxoplasmosis is bilateral, symmetrical, nontender cervical adenopathy . Approximately 20 to 30 % develop generalized lymphadenopathy. </a:t>
            </a:r>
          </a:p>
          <a:p>
            <a:endParaRPr lang="en-US" sz="240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Diagnosis</a:t>
            </a:r>
          </a:p>
        </p:txBody>
      </p:sp>
      <p:sp>
        <p:nvSpPr>
          <p:cNvPr id="3" name="Content Placeholder 2"/>
          <p:cNvSpPr>
            <a:spLocks noGrp="1"/>
          </p:cNvSpPr>
          <p:nvPr>
            <p:ph idx="1"/>
          </p:nvPr>
        </p:nvSpPr>
        <p:spPr>
          <a:xfrm>
            <a:off x="838200" y="1825624"/>
            <a:ext cx="10515600" cy="4852967"/>
          </a:xfrm>
        </p:spPr>
        <p:txBody>
          <a:bodyPr>
            <a:noAutofit/>
          </a:bodyPr>
          <a:lstStyle/>
          <a:p>
            <a:r>
              <a:rPr lang="en-US" dirty="0">
                <a:latin typeface="Arial" panose="020B0604020202020204" pitchFamily="34" charset="0"/>
                <a:cs typeface="Arial" panose="020B0604020202020204" pitchFamily="34" charset="0"/>
              </a:rPr>
              <a:t>Serology is the primary method of diagnosis.</a:t>
            </a:r>
          </a:p>
          <a:p>
            <a:pPr lvl="1">
              <a:buFont typeface="Wingdings" charset="2"/>
              <a:buChar char="ü"/>
            </a:pPr>
            <a:r>
              <a:rPr lang="en-US" dirty="0">
                <a:latin typeface="Arial" panose="020B0604020202020204" pitchFamily="34" charset="0"/>
                <a:cs typeface="Arial" panose="020B0604020202020204" pitchFamily="34" charset="0"/>
              </a:rPr>
              <a:t>An </a:t>
            </a:r>
            <a:r>
              <a:rPr lang="en-US" b="1" dirty="0">
                <a:latin typeface="Arial" panose="020B0604020202020204" pitchFamily="34" charset="0"/>
                <a:cs typeface="Arial" panose="020B0604020202020204" pitchFamily="34" charset="0"/>
              </a:rPr>
              <a:t>enzyme-linked immunosorbent assay (ELISA)</a:t>
            </a:r>
            <a:r>
              <a:rPr lang="en-US" dirty="0">
                <a:latin typeface="Arial" panose="020B0604020202020204" pitchFamily="34" charset="0"/>
                <a:cs typeface="Arial" panose="020B0604020202020204" pitchFamily="34" charset="0"/>
              </a:rPr>
              <a:t> is most commonly used.</a:t>
            </a:r>
          </a:p>
          <a:p>
            <a:r>
              <a:rPr lang="en-US" b="1" dirty="0">
                <a:latin typeface="Arial" panose="020B0604020202020204" pitchFamily="34" charset="0"/>
                <a:cs typeface="Arial" panose="020B0604020202020204" pitchFamily="34" charset="0"/>
              </a:rPr>
              <a:t>Molecular techniques </a:t>
            </a:r>
            <a:r>
              <a:rPr lang="en-US" dirty="0">
                <a:latin typeface="Arial" panose="020B0604020202020204" pitchFamily="34" charset="0"/>
                <a:cs typeface="Arial" panose="020B0604020202020204" pitchFamily="34" charset="0"/>
              </a:rPr>
              <a:t>that can detect the parasite’s DNA in the amniotic fluid can be useful in cases of possible mother-to-child (congenital) transmission.</a:t>
            </a:r>
          </a:p>
          <a:p>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Ocular disease </a:t>
            </a:r>
            <a:r>
              <a:rPr lang="en-US" dirty="0">
                <a:latin typeface="Arial" panose="020B0604020202020204" pitchFamily="34" charset="0"/>
                <a:cs typeface="Arial" panose="020B0604020202020204" pitchFamily="34" charset="0"/>
              </a:rPr>
              <a:t>is diagnosed based on the appearance of the lesions in the eye, symptoms, course of disease, and often serologic testing</a:t>
            </a:r>
          </a:p>
        </p:txBody>
      </p:sp>
      <p:pic>
        <p:nvPicPr>
          <p:cNvPr id="4" name="Picture 2"/>
          <p:cNvPicPr>
            <a:picLocks noChangeAspect="1"/>
          </p:cNvPicPr>
          <p:nvPr/>
        </p:nvPicPr>
        <p:blipFill>
          <a:blip r:embed="rId3"/>
          <a:stretch>
            <a:fillRect/>
          </a:stretch>
        </p:blipFill>
        <p:spPr>
          <a:xfrm>
            <a:off x="0" y="1"/>
            <a:ext cx="12192000" cy="6857999"/>
          </a:xfrm>
          <a:prstGeom prst="rect">
            <a:avLst/>
          </a:prstGeom>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8591"/>
            <a:ext cx="10515600" cy="651509"/>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0" y="661737"/>
            <a:ext cx="12192000" cy="6196263"/>
          </a:xfrm>
        </p:spPr>
        <p:txBody>
          <a:bodyPr>
            <a:normAutofit fontScale="85000" lnSpcReduction="20000"/>
          </a:bodyPr>
          <a:lstStyle/>
          <a:p>
            <a:pPr marL="514350" indent="-514350">
              <a:buFont typeface="+mj-lt"/>
              <a:buAutoNum type="arabicPeriod"/>
            </a:pPr>
            <a:r>
              <a:rPr lang="en-US" dirty="0">
                <a:solidFill>
                  <a:schemeClr val="bg2">
                    <a:lumMod val="10000"/>
                  </a:schemeClr>
                </a:solidFill>
                <a:latin typeface="Times New Roman" panose="02020603050405020304" pitchFamily="18" charset="0"/>
                <a:cs typeface="Times New Roman" panose="02020603050405020304" pitchFamily="18" charset="0"/>
              </a:rPr>
              <a:t>Tanzania Standard Treatment Guideline – 2021</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Tang C, Han R, Yang J, Wu N, He D. Comprehensive analysis of the Global Burden and epidemiological trends of meningitis from 1990 to 2021. Infection. 2025 Mar 3:1-7.</a:t>
            </a:r>
            <a:endParaRPr lang="en-GB"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dirty="0">
                <a:solidFill>
                  <a:schemeClr val="bg2">
                    <a:lumMod val="10000"/>
                  </a:schemeClr>
                </a:solidFill>
                <a:latin typeface="Times New Roman" panose="02020603050405020304" pitchFamily="18" charset="0"/>
                <a:cs typeface="Times New Roman" panose="02020603050405020304" pitchFamily="18" charset="0"/>
              </a:rPr>
              <a:t>Harrison’s manual of medicine 20</a:t>
            </a:r>
            <a:r>
              <a:rPr lang="en-US" baseline="30000" dirty="0">
                <a:solidFill>
                  <a:schemeClr val="bg2">
                    <a:lumMod val="10000"/>
                  </a:schemeClr>
                </a:solidFill>
                <a:latin typeface="Times New Roman" panose="02020603050405020304" pitchFamily="18" charset="0"/>
                <a:cs typeface="Times New Roman" panose="02020603050405020304" pitchFamily="18" charset="0"/>
              </a:rPr>
              <a:t>th</a:t>
            </a:r>
            <a:r>
              <a:rPr lang="en-US" dirty="0">
                <a:solidFill>
                  <a:schemeClr val="bg2">
                    <a:lumMod val="10000"/>
                  </a:schemeClr>
                </a:solidFill>
                <a:latin typeface="Times New Roman" panose="02020603050405020304" pitchFamily="18" charset="0"/>
                <a:cs typeface="Times New Roman" panose="02020603050405020304" pitchFamily="18" charset="0"/>
              </a:rPr>
              <a:t> edition</a:t>
            </a:r>
          </a:p>
          <a:p>
            <a:pPr marL="514350" indent="-514350">
              <a:buFont typeface="+mj-lt"/>
              <a:buAutoNum type="arabicPeriod"/>
            </a:pPr>
            <a:r>
              <a:rPr lang="en-US" dirty="0" err="1">
                <a:solidFill>
                  <a:schemeClr val="bg2">
                    <a:lumMod val="10000"/>
                  </a:schemeClr>
                </a:solidFill>
                <a:latin typeface="Arial Regular" charset="0"/>
                <a:cs typeface="Arial Regular" charset="0"/>
              </a:rPr>
              <a:t>Davidison’s</a:t>
            </a:r>
            <a:r>
              <a:rPr lang="en-US" dirty="0">
                <a:solidFill>
                  <a:schemeClr val="bg2">
                    <a:lumMod val="10000"/>
                  </a:schemeClr>
                </a:solidFill>
                <a:latin typeface="Arial Regular" charset="0"/>
                <a:cs typeface="Arial Regular" charset="0"/>
              </a:rPr>
              <a:t> principles and practice of medicine 22</a:t>
            </a:r>
            <a:r>
              <a:rPr lang="en-US" baseline="30000" dirty="0">
                <a:solidFill>
                  <a:schemeClr val="bg2">
                    <a:lumMod val="10000"/>
                  </a:schemeClr>
                </a:solidFill>
                <a:latin typeface="Arial Regular" charset="0"/>
                <a:cs typeface="Arial Regular" charset="0"/>
              </a:rPr>
              <a:t>nd</a:t>
            </a:r>
            <a:r>
              <a:rPr lang="en-US" dirty="0">
                <a:solidFill>
                  <a:schemeClr val="bg2">
                    <a:lumMod val="10000"/>
                  </a:schemeClr>
                </a:solidFill>
                <a:latin typeface="Arial Regular" charset="0"/>
                <a:cs typeface="Arial Regular" charset="0"/>
              </a:rPr>
              <a:t> edition</a:t>
            </a:r>
            <a:endParaRPr lang="en-US" dirty="0">
              <a:solidFill>
                <a:schemeClr val="bg2">
                  <a:lumMod val="10000"/>
                </a:schemeClr>
              </a:solidFill>
              <a:latin typeface="Times New Roman" panose="02020603050405020304" pitchFamily="18" charset="0"/>
              <a:cs typeface="Times New Roman" panose="02020603050405020304" pitchFamily="18" charset="0"/>
            </a:endParaRPr>
          </a:p>
          <a:p>
            <a:pPr marL="514350" indent="-514350">
              <a:buFont typeface="+mj-lt"/>
              <a:buAutoNum type="arabicPeriod"/>
            </a:pPr>
            <a:r>
              <a:rPr lang="en-GB" dirty="0" err="1">
                <a:latin typeface="Times New Roman" panose="02020603050405020304" pitchFamily="18" charset="0"/>
                <a:cs typeface="Times New Roman" panose="02020603050405020304" pitchFamily="18" charset="0"/>
              </a:rPr>
              <a:t>Barichello</a:t>
            </a:r>
            <a:r>
              <a:rPr lang="en-GB" dirty="0">
                <a:latin typeface="Times New Roman" panose="02020603050405020304" pitchFamily="18" charset="0"/>
                <a:cs typeface="Times New Roman" panose="02020603050405020304" pitchFamily="18" charset="0"/>
              </a:rPr>
              <a:t> T, Rocha </a:t>
            </a:r>
            <a:r>
              <a:rPr lang="en-GB" dirty="0" err="1">
                <a:latin typeface="Times New Roman" panose="02020603050405020304" pitchFamily="18" charset="0"/>
                <a:cs typeface="Times New Roman" panose="02020603050405020304" pitchFamily="18" charset="0"/>
              </a:rPr>
              <a:t>Catalão</a:t>
            </a:r>
            <a:r>
              <a:rPr lang="en-GB" dirty="0">
                <a:latin typeface="Times New Roman" panose="02020603050405020304" pitchFamily="18" charset="0"/>
                <a:cs typeface="Times New Roman" panose="02020603050405020304" pitchFamily="18" charset="0"/>
              </a:rPr>
              <a:t> CH, </a:t>
            </a:r>
            <a:r>
              <a:rPr lang="en-GB" dirty="0" err="1">
                <a:latin typeface="Times New Roman" panose="02020603050405020304" pitchFamily="18" charset="0"/>
                <a:cs typeface="Times New Roman" panose="02020603050405020304" pitchFamily="18" charset="0"/>
              </a:rPr>
              <a:t>Rohlwink</a:t>
            </a:r>
            <a:r>
              <a:rPr lang="en-GB" dirty="0">
                <a:latin typeface="Times New Roman" panose="02020603050405020304" pitchFamily="18" charset="0"/>
                <a:cs typeface="Times New Roman" panose="02020603050405020304" pitchFamily="18" charset="0"/>
              </a:rPr>
              <a:t> UK, </a:t>
            </a:r>
            <a:r>
              <a:rPr lang="en-GB" dirty="0" err="1">
                <a:latin typeface="Times New Roman" panose="02020603050405020304" pitchFamily="18" charset="0"/>
                <a:cs typeface="Times New Roman" panose="02020603050405020304" pitchFamily="18" charset="0"/>
              </a:rPr>
              <a:t>Kuip</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Mvd</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Zaharie</a:t>
            </a:r>
            <a:r>
              <a:rPr lang="en-GB" dirty="0">
                <a:latin typeface="Times New Roman" panose="02020603050405020304" pitchFamily="18" charset="0"/>
                <a:cs typeface="Times New Roman" panose="02020603050405020304" pitchFamily="18" charset="0"/>
              </a:rPr>
              <a:t> D, </a:t>
            </a:r>
            <a:r>
              <a:rPr lang="en-GB" dirty="0" err="1">
                <a:latin typeface="Times New Roman" panose="02020603050405020304" pitchFamily="18" charset="0"/>
                <a:cs typeface="Times New Roman" panose="02020603050405020304" pitchFamily="18" charset="0"/>
              </a:rPr>
              <a:t>Solomons</a:t>
            </a:r>
            <a:r>
              <a:rPr lang="en-GB" dirty="0">
                <a:latin typeface="Times New Roman" panose="02020603050405020304" pitchFamily="18" charset="0"/>
                <a:cs typeface="Times New Roman" panose="02020603050405020304" pitchFamily="18" charset="0"/>
              </a:rPr>
              <a:t> RS, van </a:t>
            </a:r>
            <a:r>
              <a:rPr lang="en-GB" dirty="0" err="1">
                <a:latin typeface="Times New Roman" panose="02020603050405020304" pitchFamily="18" charset="0"/>
                <a:cs typeface="Times New Roman" panose="02020603050405020304" pitchFamily="18" charset="0"/>
              </a:rPr>
              <a:t>Toorn</a:t>
            </a:r>
            <a:r>
              <a:rPr lang="en-GB" dirty="0">
                <a:latin typeface="Times New Roman" panose="02020603050405020304" pitchFamily="18" charset="0"/>
                <a:cs typeface="Times New Roman" panose="02020603050405020304" pitchFamily="18" charset="0"/>
              </a:rPr>
              <a:t> R, Tutu van Furth M, </a:t>
            </a:r>
            <a:r>
              <a:rPr lang="en-GB" dirty="0" err="1">
                <a:latin typeface="Times New Roman" panose="02020603050405020304" pitchFamily="18" charset="0"/>
                <a:cs typeface="Times New Roman" panose="02020603050405020304" pitchFamily="18" charset="0"/>
              </a:rPr>
              <a:t>Hasbun</a:t>
            </a:r>
            <a:r>
              <a:rPr lang="en-GB" dirty="0">
                <a:latin typeface="Times New Roman" panose="02020603050405020304" pitchFamily="18" charset="0"/>
                <a:cs typeface="Times New Roman" panose="02020603050405020304" pitchFamily="18" charset="0"/>
              </a:rPr>
              <a:t> R, Iovino F and </a:t>
            </a:r>
            <a:r>
              <a:rPr lang="en-GB" dirty="0" err="1">
                <a:latin typeface="Times New Roman" panose="02020603050405020304" pitchFamily="18" charset="0"/>
                <a:cs typeface="Times New Roman" panose="02020603050405020304" pitchFamily="18" charset="0"/>
              </a:rPr>
              <a:t>Namale</a:t>
            </a:r>
            <a:r>
              <a:rPr lang="en-GB" dirty="0">
                <a:latin typeface="Times New Roman" panose="02020603050405020304" pitchFamily="18" charset="0"/>
                <a:cs typeface="Times New Roman" panose="02020603050405020304" pitchFamily="18" charset="0"/>
              </a:rPr>
              <a:t> VS (2023) Bacterial meningitis in Africa. </a:t>
            </a:r>
            <a:r>
              <a:rPr lang="en-GB" i="1" dirty="0">
                <a:latin typeface="Times New Roman" panose="02020603050405020304" pitchFamily="18" charset="0"/>
                <a:cs typeface="Times New Roman" panose="02020603050405020304" pitchFamily="18" charset="0"/>
              </a:rPr>
              <a:t>Front. Neurol.</a:t>
            </a:r>
            <a:r>
              <a:rPr lang="en-GB" dirty="0">
                <a:latin typeface="Times New Roman" panose="02020603050405020304" pitchFamily="18" charset="0"/>
                <a:cs typeface="Times New Roman" panose="02020603050405020304" pitchFamily="18" charset="0"/>
              </a:rPr>
              <a:t> 14:822575. </a:t>
            </a:r>
            <a:endParaRPr lang="en-GB" dirty="0">
              <a:latin typeface="Times New Roman" panose="02020603050405020304" pitchFamily="18" charset="0"/>
              <a:cs typeface="Times New Roman" panose="02020603050405020304" pitchFamily="18" charset="0"/>
              <a:hlinkClick r:id="rId2"/>
            </a:endParaRPr>
          </a:p>
          <a:p>
            <a:pPr marL="514350" indent="-514350">
              <a:buFont typeface="+mj-lt"/>
              <a:buAutoNum type="arabicPeriod"/>
            </a:pPr>
            <a:r>
              <a:rPr lang="en-GB" dirty="0">
                <a:latin typeface="Times New Roman" panose="02020603050405020304" pitchFamily="18" charset="0"/>
                <a:cs typeface="Times New Roman" panose="02020603050405020304" pitchFamily="18" charset="0"/>
                <a:hlinkClick r:id="rId2"/>
              </a:rPr>
              <a:t>https://www.who.int/news-room/fact-sheets/detail/meningitis</a:t>
            </a:r>
            <a:endParaRPr lang="en-GB"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GB" dirty="0">
                <a:latin typeface="Times New Roman" panose="02020603050405020304" pitchFamily="18" charset="0"/>
                <a:cs typeface="Times New Roman" panose="02020603050405020304" pitchFamily="18" charset="0"/>
              </a:rPr>
              <a:t>https://</a:t>
            </a:r>
            <a:r>
              <a:rPr lang="en-GB" dirty="0" err="1">
                <a:latin typeface="Times New Roman" panose="02020603050405020304" pitchFamily="18" charset="0"/>
                <a:cs typeface="Times New Roman" panose="02020603050405020304" pitchFamily="18" charset="0"/>
              </a:rPr>
              <a:t>www.researchgate.net</a:t>
            </a:r>
            <a:r>
              <a:rPr lang="en-GB" dirty="0">
                <a:latin typeface="Times New Roman" panose="02020603050405020304" pitchFamily="18" charset="0"/>
                <a:cs typeface="Times New Roman" panose="02020603050405020304" pitchFamily="18" charset="0"/>
              </a:rPr>
              <a:t>/figure/The-meningitis-belt-of-sub-Saharan-Africa-and-meningococcal-serogroup-A-conjugate-vaccine_fig1_320819976</a:t>
            </a:r>
          </a:p>
          <a:p>
            <a:pPr marL="514350" indent="-514350">
              <a:buFont typeface="+mj-lt"/>
              <a:buAutoNum type="arabicPeriod"/>
            </a:pPr>
            <a:r>
              <a:rPr lang="en-GB" dirty="0">
                <a:latin typeface="Times New Roman" panose="02020603050405020304" pitchFamily="18" charset="0"/>
                <a:cs typeface="Times New Roman" panose="02020603050405020304" pitchFamily="18" charset="0"/>
                <a:hlinkClick r:id="rId3"/>
              </a:rPr>
              <a:t>https://www.cdc.gov/parasites/toxoplasmosis/epi.html</a:t>
            </a:r>
            <a:endParaRPr lang="en-GB"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GB" dirty="0">
                <a:latin typeface="Times New Roman" panose="02020603050405020304" pitchFamily="18" charset="0"/>
                <a:cs typeface="Times New Roman" panose="02020603050405020304" pitchFamily="18" charset="0"/>
              </a:rPr>
              <a:t>https://www.researchgate.net/profile/Band-Rathnayak/publication/388634634_Meningitis_A_Review_of_Pathophysiology_Diagnosis_and_Treatment_Protocols/links/67a03e6252b58d39f2671374/Meningitis-A-Review-of-Pathophysiology-Diagnosis-and-Treatment-Protocols.pdf</a:t>
            </a:r>
          </a:p>
          <a:p>
            <a:pPr marL="514350" indent="-514350">
              <a:buFont typeface="+mj-lt"/>
              <a:buAutoNum type="arabicPeriod"/>
            </a:pPr>
            <a:r>
              <a:rPr lang="en-GB" dirty="0" err="1"/>
              <a:t>Oo</a:t>
            </a:r>
            <a:r>
              <a:rPr lang="en-GB" dirty="0"/>
              <a:t> N, Agrawal DK. Epidemiology, Pathogenesis, Clinical Manifestations, and Management Strategies of Tuberculous Meningitis. Arch Intern Med Res. 2025;8(1):48-58. </a:t>
            </a:r>
            <a:r>
              <a:rPr lang="en-GB" dirty="0" err="1"/>
              <a:t>doi</a:t>
            </a:r>
            <a:r>
              <a:rPr lang="en-GB" dirty="0"/>
              <a:t>: 10.26502/aimr.0195. </a:t>
            </a:r>
            <a:r>
              <a:rPr lang="en-GB" dirty="0" err="1"/>
              <a:t>Epub</a:t>
            </a:r>
            <a:r>
              <a:rPr lang="en-GB" dirty="0"/>
              <a:t> 2025 Feb 10. PMID: 40061519; PMCID: PMC11887623.</a:t>
            </a:r>
            <a:endParaRPr lang="en-GB" dirty="0">
              <a:latin typeface="Times New Roman" panose="02020603050405020304" pitchFamily="18" charset="0"/>
              <a:cs typeface="Times New Roman" panose="02020603050405020304" pitchFamily="18" charset="0"/>
            </a:endParaRPr>
          </a:p>
          <a:p>
            <a:pPr marL="0" indent="0">
              <a:buNone/>
            </a:pPr>
            <a:endParaRPr lang="en-US" dirty="0">
              <a:latin typeface="Arial Regular" charset="0"/>
              <a:cs typeface="Arial Regular" charset="0"/>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7987"/>
            <a:ext cx="10515600" cy="1111045"/>
          </a:xfrm>
        </p:spPr>
        <p:txBody>
          <a:bodyPr/>
          <a:lstStyle/>
          <a:p>
            <a:pPr algn="ctr"/>
            <a:r>
              <a:rPr lang="en-GB" b="1"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0" y="794084"/>
            <a:ext cx="12055642" cy="6160169"/>
          </a:xfrm>
        </p:spPr>
        <p:txBody>
          <a:bodyPr>
            <a:normAutofit fontScale="70000" lnSpcReduction="20000"/>
          </a:bodyPr>
          <a:lstStyle/>
          <a:p>
            <a:pPr marL="0" indent="0">
              <a:buNone/>
            </a:pPr>
            <a:r>
              <a:rPr lang="en-GB" dirty="0">
                <a:latin typeface="Arial" panose="020B0604020202020204" pitchFamily="34" charset="0"/>
                <a:cs typeface="Arial" panose="020B0604020202020204" pitchFamily="34" charset="0"/>
              </a:rPr>
              <a:t>11. </a:t>
            </a:r>
            <a:r>
              <a:rPr lang="en-GB" dirty="0">
                <a:latin typeface="Times New Roman" panose="02020603050405020304" pitchFamily="18" charset="0"/>
                <a:cs typeface="Times New Roman" panose="02020603050405020304" pitchFamily="18" charset="0"/>
                <a:hlinkClick r:id="rId3"/>
              </a:rPr>
              <a:t>Management of acute meningitis | RCP Journals</a:t>
            </a:r>
            <a:endParaRPr lang="en-GB" dirty="0">
              <a:latin typeface="Times New Roman" panose="02020603050405020304" pitchFamily="18" charset="0"/>
              <a:cs typeface="Times New Roman" panose="02020603050405020304" pitchFamily="18" charset="0"/>
            </a:endParaRPr>
          </a:p>
          <a:p>
            <a:pPr marL="0" indent="0">
              <a:buNone/>
            </a:pPr>
            <a:endParaRPr lang="en-GB" dirty="0">
              <a:latin typeface="Times New Roman" panose="02020603050405020304" pitchFamily="18" charset="0"/>
              <a:cs typeface="Times New Roman" panose="02020603050405020304" pitchFamily="18" charset="0"/>
            </a:endParaRPr>
          </a:p>
          <a:p>
            <a:pPr marL="0" indent="0">
              <a:lnSpc>
                <a:spcPct val="100000"/>
              </a:lnSpc>
              <a:spcBef>
                <a:spcPts val="0"/>
              </a:spcBef>
              <a:buNone/>
              <a:defRPr/>
            </a:pPr>
            <a:r>
              <a:rPr lang="en-GB" dirty="0">
                <a:latin typeface="Times New Roman" panose="02020603050405020304" pitchFamily="18" charset="0"/>
                <a:cs typeface="Times New Roman" panose="02020603050405020304" pitchFamily="18" charset="0"/>
              </a:rPr>
              <a:t>12. </a:t>
            </a:r>
            <a:r>
              <a:rPr lang="en-GB" dirty="0">
                <a:latin typeface="Times New Roman" panose="02020603050405020304" pitchFamily="18" charset="0"/>
                <a:cs typeface="Times New Roman" panose="02020603050405020304" pitchFamily="18" charset="0"/>
                <a:hlinkClick r:id="rId4"/>
              </a:rPr>
              <a:t>Epidemiological, clinical and radiological characteristics of people with </a:t>
            </a:r>
            <a:r>
              <a:rPr lang="en-GB" dirty="0" err="1">
                <a:latin typeface="Times New Roman" panose="02020603050405020304" pitchFamily="18" charset="0"/>
                <a:cs typeface="Times New Roman" panose="02020603050405020304" pitchFamily="18" charset="0"/>
                <a:hlinkClick r:id="rId4"/>
              </a:rPr>
              <a:t>neurocysticercosis</a:t>
            </a:r>
            <a:r>
              <a:rPr lang="en-GB" dirty="0">
                <a:latin typeface="Times New Roman" panose="02020603050405020304" pitchFamily="18" charset="0"/>
                <a:cs typeface="Times New Roman" panose="02020603050405020304" pitchFamily="18" charset="0"/>
                <a:hlinkClick r:id="rId4"/>
              </a:rPr>
              <a:t> in Tanzania–A cross-sectional study | PLOS Neglected Tropical Diseases</a:t>
            </a:r>
            <a:endParaRPr lang="en-GB" dirty="0">
              <a:latin typeface="Times New Roman" panose="02020603050405020304" pitchFamily="18" charset="0"/>
              <a:cs typeface="Times New Roman" panose="02020603050405020304" pitchFamily="18" charset="0"/>
            </a:endParaRPr>
          </a:p>
          <a:p>
            <a:pPr marL="0" indent="0">
              <a:buNone/>
            </a:pPr>
            <a:r>
              <a:rPr lang="en-GB" dirty="0">
                <a:latin typeface="Times New Roman" panose="02020603050405020304" pitchFamily="18" charset="0"/>
                <a:cs typeface="Times New Roman" panose="02020603050405020304" pitchFamily="18" charset="0"/>
              </a:rPr>
              <a:t>13. </a:t>
            </a:r>
            <a:r>
              <a:rPr lang="en-GB" dirty="0" err="1">
                <a:latin typeface="Times New Roman" panose="02020603050405020304" pitchFamily="18" charset="0"/>
                <a:cs typeface="Times New Roman" panose="02020603050405020304" pitchFamily="18" charset="0"/>
                <a:hlinkClick r:id="rId5"/>
              </a:rPr>
              <a:t>Cryptococcal</a:t>
            </a:r>
            <a:r>
              <a:rPr lang="en-GB" dirty="0">
                <a:latin typeface="Times New Roman" panose="02020603050405020304" pitchFamily="18" charset="0"/>
                <a:cs typeface="Times New Roman" panose="02020603050405020304" pitchFamily="18" charset="0"/>
                <a:hlinkClick r:id="rId5"/>
              </a:rPr>
              <a:t> Meningitis Management in Tanzania With Strict S... : JAIDS Journal of Acquired Immune Deficiency Syndromes (lww.com)</a:t>
            </a:r>
            <a:endParaRPr lang="en-GB" dirty="0">
              <a:latin typeface="Times New Roman" panose="02020603050405020304" pitchFamily="18" charset="0"/>
              <a:cs typeface="Times New Roman" panose="02020603050405020304" pitchFamily="18" charset="0"/>
            </a:endParaRPr>
          </a:p>
          <a:p>
            <a:pPr marL="0" indent="0">
              <a:buNone/>
            </a:pPr>
            <a:r>
              <a:rPr lang="en-GB" dirty="0">
                <a:latin typeface="Times New Roman" panose="02020603050405020304" pitchFamily="18" charset="0"/>
                <a:cs typeface="Times New Roman" panose="02020603050405020304" pitchFamily="18" charset="0"/>
              </a:rPr>
              <a:t>14. </a:t>
            </a:r>
            <a:r>
              <a:rPr lang="en-US" dirty="0">
                <a:latin typeface="Times New Roman" panose="02020603050405020304" pitchFamily="18" charset="0"/>
                <a:cs typeface="Times New Roman" panose="02020603050405020304" pitchFamily="18" charset="0"/>
              </a:rPr>
              <a:t>Salazar L, </a:t>
            </a:r>
            <a:r>
              <a:rPr lang="en-US" dirty="0" err="1">
                <a:latin typeface="Times New Roman" panose="02020603050405020304" pitchFamily="18" charset="0"/>
                <a:cs typeface="Times New Roman" panose="02020603050405020304" pitchFamily="18" charset="0"/>
              </a:rPr>
              <a:t>Hasbun</a:t>
            </a:r>
            <a:r>
              <a:rPr lang="en-US" dirty="0">
                <a:latin typeface="Times New Roman" panose="02020603050405020304" pitchFamily="18" charset="0"/>
                <a:cs typeface="Times New Roman" panose="02020603050405020304" pitchFamily="18" charset="0"/>
              </a:rPr>
              <a:t> R. Cranial imaging before lumbar puncture in adults with community-acquired meningitis: clinical utility and adherence to the Infectious Diseases Society of America guidelines. Clinical infectious diseases. 2017 Jun 15;64(12):1657-62.</a:t>
            </a:r>
            <a:endParaRPr lang="en-GB" dirty="0">
              <a:latin typeface="Times New Roman" panose="02020603050405020304" pitchFamily="18" charset="0"/>
              <a:cs typeface="Times New Roman" panose="02020603050405020304" pitchFamily="18" charset="0"/>
            </a:endParaRPr>
          </a:p>
          <a:p>
            <a:pPr marL="0" indent="0">
              <a:buNone/>
            </a:pPr>
            <a:r>
              <a:rPr lang="en-GB" dirty="0">
                <a:latin typeface="Times New Roman" panose="02020603050405020304" pitchFamily="18" charset="0"/>
                <a:cs typeface="Times New Roman" panose="02020603050405020304" pitchFamily="18" charset="0"/>
              </a:rPr>
              <a:t>15. Griffiths MJ, McGill F, Solomon T. Management of acute meningitis. </a:t>
            </a:r>
            <a:r>
              <a:rPr lang="en-GB" dirty="0" err="1">
                <a:latin typeface="Times New Roman" panose="02020603050405020304" pitchFamily="18" charset="0"/>
                <a:cs typeface="Times New Roman" panose="02020603050405020304" pitchFamily="18" charset="0"/>
              </a:rPr>
              <a:t>Clin</a:t>
            </a:r>
            <a:r>
              <a:rPr lang="en-GB" dirty="0">
                <a:latin typeface="Times New Roman" panose="02020603050405020304" pitchFamily="18" charset="0"/>
                <a:cs typeface="Times New Roman" panose="02020603050405020304" pitchFamily="18" charset="0"/>
              </a:rPr>
              <a:t> Med (</a:t>
            </a:r>
            <a:r>
              <a:rPr lang="en-GB" dirty="0" err="1">
                <a:latin typeface="Times New Roman" panose="02020603050405020304" pitchFamily="18" charset="0"/>
                <a:cs typeface="Times New Roman" panose="02020603050405020304" pitchFamily="18" charset="0"/>
              </a:rPr>
              <a:t>Lond</a:t>
            </a:r>
            <a:r>
              <a:rPr lang="en-GB" dirty="0">
                <a:latin typeface="Times New Roman" panose="02020603050405020304" pitchFamily="18" charset="0"/>
                <a:cs typeface="Times New Roman" panose="02020603050405020304" pitchFamily="18" charset="0"/>
              </a:rPr>
              <a:t>). 2018 Mar;18(2):164-169. </a:t>
            </a:r>
            <a:r>
              <a:rPr lang="en-GB" dirty="0" err="1">
                <a:latin typeface="Times New Roman" panose="02020603050405020304" pitchFamily="18" charset="0"/>
                <a:cs typeface="Times New Roman" panose="02020603050405020304" pitchFamily="18" charset="0"/>
              </a:rPr>
              <a:t>doi</a:t>
            </a:r>
            <a:r>
              <a:rPr lang="en-GB" dirty="0">
                <a:latin typeface="Times New Roman" panose="02020603050405020304" pitchFamily="18" charset="0"/>
                <a:cs typeface="Times New Roman" panose="02020603050405020304" pitchFamily="18" charset="0"/>
              </a:rPr>
              <a:t>: 10.7861/clinmedicine.18-2-164. PMID: 29626023; PMCID: PMC6303447</a:t>
            </a:r>
          </a:p>
          <a:p>
            <a:pPr marL="0" indent="0">
              <a:buNone/>
            </a:pPr>
            <a:r>
              <a:rPr lang="en-GB" dirty="0">
                <a:latin typeface="Times New Roman" panose="02020603050405020304" pitchFamily="18" charset="0"/>
                <a:cs typeface="Times New Roman" panose="02020603050405020304" pitchFamily="18" charset="0"/>
              </a:rPr>
              <a:t>16. </a:t>
            </a:r>
            <a:r>
              <a:rPr lang="en-GB" dirty="0" err="1">
                <a:latin typeface="Times New Roman" panose="02020603050405020304" pitchFamily="18" charset="0"/>
                <a:cs typeface="Times New Roman" panose="02020603050405020304" pitchFamily="18" charset="0"/>
              </a:rPr>
              <a:t>Rajasinham</a:t>
            </a:r>
            <a:r>
              <a:rPr lang="en-GB" dirty="0">
                <a:latin typeface="Times New Roman" panose="02020603050405020304" pitchFamily="18" charset="0"/>
                <a:cs typeface="Times New Roman" panose="02020603050405020304" pitchFamily="18" charset="0"/>
              </a:rPr>
              <a:t>, R, </a:t>
            </a:r>
            <a:r>
              <a:rPr lang="en-GB" dirty="0" err="1">
                <a:latin typeface="Times New Roman" panose="02020603050405020304" pitchFamily="18" charset="0"/>
                <a:cs typeface="Times New Roman" panose="02020603050405020304" pitchFamily="18" charset="0"/>
              </a:rPr>
              <a:t>Meya</a:t>
            </a:r>
            <a:r>
              <a:rPr lang="en-GB" dirty="0">
                <a:latin typeface="Times New Roman" panose="02020603050405020304" pitchFamily="18" charset="0"/>
                <a:cs typeface="Times New Roman" panose="02020603050405020304" pitchFamily="18" charset="0"/>
              </a:rPr>
              <a:t>, D.B., </a:t>
            </a:r>
            <a:r>
              <a:rPr lang="en-GB" dirty="0" err="1">
                <a:latin typeface="Times New Roman" panose="02020603050405020304" pitchFamily="18" charset="0"/>
                <a:cs typeface="Times New Roman" panose="02020603050405020304" pitchFamily="18" charset="0"/>
              </a:rPr>
              <a:t>Boulware</a:t>
            </a:r>
            <a:r>
              <a:rPr lang="en-GB" dirty="0">
                <a:latin typeface="Times New Roman" panose="02020603050405020304" pitchFamily="18" charset="0"/>
                <a:cs typeface="Times New Roman" panose="02020603050405020304" pitchFamily="18" charset="0"/>
              </a:rPr>
              <a:t>, D.R., et al. (2022) “The global burden of HIV- associated  </a:t>
            </a:r>
            <a:r>
              <a:rPr lang="en-GB" dirty="0" err="1">
                <a:latin typeface="Times New Roman" panose="02020603050405020304" pitchFamily="18" charset="0"/>
                <a:cs typeface="Times New Roman" panose="02020603050405020304" pitchFamily="18" charset="0"/>
              </a:rPr>
              <a:t>cryptococcal</a:t>
            </a:r>
            <a:r>
              <a:rPr lang="en-GB" dirty="0">
                <a:latin typeface="Times New Roman" panose="02020603050405020304" pitchFamily="18" charset="0"/>
                <a:cs typeface="Times New Roman" panose="02020603050405020304" pitchFamily="18" charset="0"/>
              </a:rPr>
              <a:t> infection in adults in 2020:a modelling analysis”, The </a:t>
            </a:r>
            <a:r>
              <a:rPr lang="en-GB" dirty="0" err="1">
                <a:latin typeface="Times New Roman" panose="02020603050405020304" pitchFamily="18" charset="0"/>
                <a:cs typeface="Times New Roman" panose="02020603050405020304" pitchFamily="18" charset="0"/>
              </a:rPr>
              <a:t>lancetInfectious</a:t>
            </a:r>
            <a:r>
              <a:rPr lang="en-GB" dirty="0">
                <a:latin typeface="Times New Roman" panose="02020603050405020304" pitchFamily="18" charset="0"/>
                <a:cs typeface="Times New Roman" panose="02020603050405020304" pitchFamily="18" charset="0"/>
              </a:rPr>
              <a:t> Diseases, 22(12),pp. 1708 -1717</a:t>
            </a:r>
          </a:p>
          <a:p>
            <a:pPr marL="0" indent="0">
              <a:buNone/>
            </a:pPr>
            <a:r>
              <a:rPr lang="en-GB" dirty="0">
                <a:latin typeface="Times New Roman" panose="02020603050405020304" pitchFamily="18" charset="0"/>
                <a:cs typeface="Times New Roman" panose="02020603050405020304" pitchFamily="18" charset="0"/>
              </a:rPr>
              <a:t>17. van de </a:t>
            </a:r>
            <a:r>
              <a:rPr lang="en-GB" dirty="0" err="1">
                <a:latin typeface="Times New Roman" panose="02020603050405020304" pitchFamily="18" charset="0"/>
                <a:cs typeface="Times New Roman" panose="02020603050405020304" pitchFamily="18" charset="0"/>
              </a:rPr>
              <a:t>Beek</a:t>
            </a:r>
            <a:r>
              <a:rPr lang="en-GB" dirty="0">
                <a:latin typeface="Times New Roman" panose="02020603050405020304" pitchFamily="18" charset="0"/>
                <a:cs typeface="Times New Roman" panose="02020603050405020304" pitchFamily="18" charset="0"/>
              </a:rPr>
              <a:t> D, </a:t>
            </a:r>
            <a:r>
              <a:rPr lang="en-GB" dirty="0" err="1">
                <a:latin typeface="Times New Roman" panose="02020603050405020304" pitchFamily="18" charset="0"/>
                <a:cs typeface="Times New Roman" panose="02020603050405020304" pitchFamily="18" charset="0"/>
              </a:rPr>
              <a:t>Brouwer</a:t>
            </a:r>
            <a:r>
              <a:rPr lang="en-GB" dirty="0">
                <a:latin typeface="Times New Roman" panose="02020603050405020304" pitchFamily="18" charset="0"/>
                <a:cs typeface="Times New Roman" panose="02020603050405020304" pitchFamily="18" charset="0"/>
              </a:rPr>
              <a:t> MC, </a:t>
            </a:r>
            <a:r>
              <a:rPr lang="en-GB" dirty="0" err="1">
                <a:latin typeface="Times New Roman" panose="02020603050405020304" pitchFamily="18" charset="0"/>
                <a:cs typeface="Times New Roman" panose="02020603050405020304" pitchFamily="18" charset="0"/>
              </a:rPr>
              <a:t>Koedel</a:t>
            </a:r>
            <a:r>
              <a:rPr lang="en-GB" dirty="0">
                <a:latin typeface="Times New Roman" panose="02020603050405020304" pitchFamily="18" charset="0"/>
                <a:cs typeface="Times New Roman" panose="02020603050405020304" pitchFamily="18" charset="0"/>
              </a:rPr>
              <a:t> U, Wall EC. Community-acquired bacterial meningitis. The Lancet. 2021 Sep 25;398(10306):1171-83.</a:t>
            </a:r>
          </a:p>
          <a:p>
            <a:pPr marL="0" indent="0">
              <a:buNone/>
            </a:pPr>
            <a:r>
              <a:rPr lang="en-GB" dirty="0">
                <a:latin typeface="Times New Roman" panose="02020603050405020304" pitchFamily="18" charset="0"/>
                <a:cs typeface="Times New Roman" panose="02020603050405020304" pitchFamily="18" charset="0"/>
              </a:rPr>
              <a:t>18.</a:t>
            </a:r>
            <a:r>
              <a:rPr lang="en-GB" dirty="0"/>
              <a:t> Hall WA, </a:t>
            </a:r>
            <a:r>
              <a:rPr lang="en-GB" dirty="0" err="1"/>
              <a:t>Mesfin</a:t>
            </a:r>
            <a:r>
              <a:rPr lang="en-GB" dirty="0"/>
              <a:t> FB. Brain Abscess.</a:t>
            </a:r>
          </a:p>
          <a:p>
            <a:pPr marL="0" indent="0">
              <a:buNone/>
            </a:pPr>
            <a:r>
              <a:rPr lang="en-GB" dirty="0"/>
              <a:t>19. Wen A, Cao WF, Liu SM, Zhou YL, Xiang ZB, Hu F, Wu LF, </a:t>
            </a:r>
            <a:r>
              <a:rPr lang="en-GB" dirty="0" err="1"/>
              <a:t>Cai</a:t>
            </a:r>
            <a:r>
              <a:rPr lang="en-GB" dirty="0"/>
              <a:t> W, </a:t>
            </a:r>
            <a:r>
              <a:rPr lang="en-GB" dirty="0" err="1"/>
              <a:t>Leng</a:t>
            </a:r>
            <a:r>
              <a:rPr lang="en-GB" dirty="0"/>
              <a:t> EL. Incidence and risk factors of cranial nerve palsy in patients with tuberculous meningitis: a retrospective evaluation. Infection and Drug Resistance. 2023 Dec 31:829-41.</a:t>
            </a:r>
          </a:p>
          <a:p>
            <a:pPr marL="0" indent="0">
              <a:buNone/>
            </a:pPr>
            <a:r>
              <a:rPr lang="en-GB" dirty="0"/>
              <a:t>20. </a:t>
            </a:r>
            <a:r>
              <a:rPr lang="en-GB" dirty="0" err="1"/>
              <a:t>Anuradha</a:t>
            </a:r>
            <a:r>
              <a:rPr lang="en-GB" dirty="0"/>
              <a:t> HK, Garg RK, Sinha MK, Agarwal A, </a:t>
            </a:r>
            <a:r>
              <a:rPr lang="en-GB" dirty="0" err="1"/>
              <a:t>Verma</a:t>
            </a:r>
            <a:r>
              <a:rPr lang="en-GB" dirty="0"/>
              <a:t> R, Singh MK, Shukla R. Intracranial </a:t>
            </a:r>
            <a:r>
              <a:rPr lang="en-GB" dirty="0" err="1"/>
              <a:t>tuberculomas</a:t>
            </a:r>
            <a:r>
              <a:rPr lang="en-GB" dirty="0"/>
              <a:t> in patients with tuberculous meningitis: predictors and prognostic significance. The International journal of tuberculosis and lung disease. 2011 Feb 1;15(2):234-9.</a:t>
            </a:r>
          </a:p>
          <a:p>
            <a:pPr marL="0" indent="0">
              <a:buNone/>
            </a:pP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521666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dirty="0" smtClean="0"/>
        </a:defPPr>
      </a:lstStyle>
    </a:tx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13531</TotalTime>
  <Words>4456</Words>
  <Application>Microsoft Office PowerPoint</Application>
  <PresentationFormat>Custom</PresentationFormat>
  <Paragraphs>460</Paragraphs>
  <Slides>70</Slides>
  <Notes>26</Notes>
  <HiddenSlides>0</HiddenSlides>
  <MMClips>0</MMClips>
  <ScaleCrop>false</ScaleCrop>
  <HeadingPairs>
    <vt:vector size="4" baseType="variant">
      <vt:variant>
        <vt:lpstr>Theme</vt:lpstr>
      </vt:variant>
      <vt:variant>
        <vt:i4>1</vt:i4>
      </vt:variant>
      <vt:variant>
        <vt:lpstr>Slide Titles</vt:lpstr>
      </vt:variant>
      <vt:variant>
        <vt:i4>70</vt:i4>
      </vt:variant>
    </vt:vector>
  </HeadingPairs>
  <TitlesOfParts>
    <vt:vector size="71" baseType="lpstr">
      <vt:lpstr>Office Theme</vt:lpstr>
      <vt:lpstr>PowerPoint Presentation</vt:lpstr>
      <vt:lpstr>OUTLINE.</vt:lpstr>
      <vt:lpstr>                          MENINGITIS</vt:lpstr>
      <vt:lpstr>Epidemiology.</vt:lpstr>
      <vt:lpstr>Epidemiology</vt:lpstr>
      <vt:lpstr>Status in Tanzania</vt:lpstr>
      <vt:lpstr>PowerPoint Presentation</vt:lpstr>
      <vt:lpstr>Classification of Meningitis</vt:lpstr>
      <vt:lpstr> Bacteria meningitis.</vt:lpstr>
      <vt:lpstr>PowerPoint Presentation</vt:lpstr>
      <vt:lpstr>Clinical presentation</vt:lpstr>
      <vt:lpstr>PowerPoint Presentation</vt:lpstr>
      <vt:lpstr>Investigations.</vt:lpstr>
      <vt:lpstr>Lumber puncture</vt:lpstr>
      <vt:lpstr>PowerPoint Presentation</vt:lpstr>
      <vt:lpstr>PowerPoint Presentation</vt:lpstr>
      <vt:lpstr>Management</vt:lpstr>
      <vt:lpstr>Management of Meningitis - STG</vt:lpstr>
      <vt:lpstr>TREATMENT</vt:lpstr>
      <vt:lpstr>Infectious Disease Society of America (IDSA) recommendation presumptive  treatment of Meningitis guidelines 2025</vt:lpstr>
      <vt:lpstr>PowerPoint Presentation</vt:lpstr>
      <vt:lpstr>Viral meningitis.</vt:lpstr>
      <vt:lpstr>Pathophysiology.</vt:lpstr>
      <vt:lpstr>Investigation and treatment of viral meningitis.</vt:lpstr>
      <vt:lpstr>Tuberculous meningitis.</vt:lpstr>
      <vt:lpstr>Pathogenesis.</vt:lpstr>
      <vt:lpstr>Clinical presentation; </vt:lpstr>
      <vt:lpstr>Investigation;</vt:lpstr>
      <vt:lpstr>CSF analysis findings.</vt:lpstr>
      <vt:lpstr>Imaging modality.</vt:lpstr>
      <vt:lpstr>Management.</vt:lpstr>
      <vt:lpstr>CRYPTOCOCCAL MENINGITIS.</vt:lpstr>
      <vt:lpstr>Cryptococcal meningitis</vt:lpstr>
      <vt:lpstr>Cryptococcal meningitis</vt:lpstr>
      <vt:lpstr> Investigations of Cryptococcal meningitis</vt:lpstr>
      <vt:lpstr>Management – STG.</vt:lpstr>
      <vt:lpstr>WHO Cryptococcal Meningitis in HIV Guideline</vt:lpstr>
      <vt:lpstr>Recommendations</vt:lpstr>
      <vt:lpstr>OTHER CNS INFECTIONS.</vt:lpstr>
      <vt:lpstr>OTHER CNS INFECTIONS</vt:lpstr>
      <vt:lpstr>1. ENCEPHALITIS</vt:lpstr>
      <vt:lpstr>Pathogenesis of viral encephalitis.</vt:lpstr>
      <vt:lpstr>Clinical features.</vt:lpstr>
      <vt:lpstr>Investigations.</vt:lpstr>
      <vt:lpstr>PowerPoint Presentation</vt:lpstr>
      <vt:lpstr>Treatment.</vt:lpstr>
      <vt:lpstr>2. NEUROCYSTICERCOSIS.</vt:lpstr>
      <vt:lpstr>PowerPoint Presentation</vt:lpstr>
      <vt:lpstr>PowerPoint Presentation</vt:lpstr>
      <vt:lpstr>Clinical features.</vt:lpstr>
      <vt:lpstr>Investigation.</vt:lpstr>
      <vt:lpstr>MRI findings for Neurocysticercosis</vt:lpstr>
      <vt:lpstr>Treatment.</vt:lpstr>
      <vt:lpstr> 3. PROGRESSIVE MULTIFOCAL LEUKOENCEPHALOPATHY (PML) </vt:lpstr>
      <vt:lpstr>Clinical presentation.</vt:lpstr>
      <vt:lpstr>Investigation.</vt:lpstr>
      <vt:lpstr>Treatment.</vt:lpstr>
      <vt:lpstr>4. BRAIN ABSCESS</vt:lpstr>
      <vt:lpstr>Brain Abcess Epidermiology</vt:lpstr>
      <vt:lpstr>Clinical presentation</vt:lpstr>
      <vt:lpstr>Clinical presentation</vt:lpstr>
      <vt:lpstr>Investigations</vt:lpstr>
      <vt:lpstr>PowerPoint Presentation</vt:lpstr>
      <vt:lpstr>Treatment</vt:lpstr>
      <vt:lpstr>5. TOXOPLASMOSIS</vt:lpstr>
      <vt:lpstr>Epidemiology.</vt:lpstr>
      <vt:lpstr>Clinical Presentation</vt:lpstr>
      <vt:lpstr>Diagnosis</vt:lpstr>
      <vt:lpstr>References</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Meningitis and other CNS disorders</dc:title>
  <dc:creator>mariam mzee</dc:creator>
  <cp:lastModifiedBy>Peter Shio</cp:lastModifiedBy>
  <cp:revision>143</cp:revision>
  <dcterms:created xsi:type="dcterms:W3CDTF">1900-01-01T00:00:00Z</dcterms:created>
  <dcterms:modified xsi:type="dcterms:W3CDTF">2026-05-07T20:36:23Z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3081-11.33.90</vt:lpwstr>
  </property>
  <property fmtid="{D5CDD505-2E9C-101B-9397-08002B2CF9AE}" pid="3" name="ICV">
    <vt:lpwstr>45BF94B7801EEF13B988EE67F27B0087_32</vt:lpwstr>
  </property>
</Properties>
</file>