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2.xml" ContentType="application/vnd.openxmlformats-officedocument.presentationml.tags+xml"/>
  <Override PartName="/ppt/notesSlides/notesSlide9.xml" ContentType="application/vnd.openxmlformats-officedocument.presentationml.notesSlide+xml"/>
  <Override PartName="/ppt/tags/tag3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0"/>
  </p:notesMasterIdLst>
  <p:sldIdLst>
    <p:sldId id="256" r:id="rId2"/>
    <p:sldId id="318" r:id="rId3"/>
    <p:sldId id="320" r:id="rId4"/>
    <p:sldId id="323" r:id="rId5"/>
    <p:sldId id="295" r:id="rId6"/>
    <p:sldId id="294" r:id="rId7"/>
    <p:sldId id="293" r:id="rId8"/>
    <p:sldId id="291" r:id="rId9"/>
    <p:sldId id="290" r:id="rId10"/>
    <p:sldId id="289" r:id="rId11"/>
    <p:sldId id="298" r:id="rId12"/>
    <p:sldId id="288" r:id="rId13"/>
    <p:sldId id="283" r:id="rId14"/>
    <p:sldId id="282" r:id="rId15"/>
    <p:sldId id="284" r:id="rId16"/>
    <p:sldId id="324" r:id="rId17"/>
    <p:sldId id="281" r:id="rId18"/>
    <p:sldId id="325" r:id="rId19"/>
    <p:sldId id="326" r:id="rId20"/>
    <p:sldId id="327" r:id="rId21"/>
    <p:sldId id="280" r:id="rId22"/>
    <p:sldId id="302" r:id="rId23"/>
    <p:sldId id="279" r:id="rId24"/>
    <p:sldId id="304" r:id="rId25"/>
    <p:sldId id="299" r:id="rId26"/>
    <p:sldId id="300" r:id="rId27"/>
    <p:sldId id="305" r:id="rId28"/>
    <p:sldId id="310" r:id="rId29"/>
    <p:sldId id="307" r:id="rId30"/>
    <p:sldId id="308" r:id="rId31"/>
    <p:sldId id="301" r:id="rId32"/>
    <p:sldId id="278" r:id="rId33"/>
    <p:sldId id="277" r:id="rId34"/>
    <p:sldId id="276" r:id="rId35"/>
    <p:sldId id="275" r:id="rId36"/>
    <p:sldId id="274" r:id="rId37"/>
    <p:sldId id="273" r:id="rId38"/>
    <p:sldId id="312" r:id="rId39"/>
    <p:sldId id="313" r:id="rId40"/>
    <p:sldId id="272" r:id="rId41"/>
    <p:sldId id="271" r:id="rId42"/>
    <p:sldId id="270" r:id="rId43"/>
    <p:sldId id="269" r:id="rId44"/>
    <p:sldId id="258" r:id="rId45"/>
    <p:sldId id="314" r:id="rId46"/>
    <p:sldId id="315" r:id="rId47"/>
    <p:sldId id="316" r:id="rId48"/>
    <p:sldId id="317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5/1/26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Pathogenesis of pneumonia.</a:t>
            </a:r>
          </a:p>
          <a:p>
            <a:r>
              <a:rPr lang="en-US" altLang="en-US">
                <a:sym typeface="+mn-ea"/>
              </a:rPr>
              <a:t>4 Stages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1. Edema →   2. Red Hepatization (RBCs) →  3. Gray Hepatization    (Neutrophils/Fibrin) → 4. Resolution (Macrophages).</a:t>
            </a:r>
          </a:p>
          <a:p>
            <a:pPr marL="0" indent="0">
              <a:buNone/>
            </a:pPr>
            <a:r>
              <a:rPr lang="en-US"/>
              <a:t>Protective mechn.</a:t>
            </a:r>
          </a:p>
          <a:p>
            <a:pPr marL="0" indent="0">
              <a:buNone/>
            </a:pPr>
            <a:r>
              <a:rPr b="1">
                <a:sym typeface="+mn-ea"/>
              </a:rPr>
              <a:t>Mechanical</a:t>
            </a:r>
            <a:endParaRPr b="1"/>
          </a:p>
          <a:p>
            <a:pPr marL="0" indent="0">
              <a:buNone/>
            </a:pPr>
            <a:r>
              <a:rPr>
                <a:sym typeface="+mn-ea"/>
              </a:rPr>
              <a:t>- Nasal filtration</a:t>
            </a:r>
            <a:r>
              <a:rPr lang="en-US">
                <a:sym typeface="+mn-ea"/>
              </a:rPr>
              <a:t> </a:t>
            </a:r>
            <a:r>
              <a:rPr>
                <a:sym typeface="+mn-ea"/>
              </a:rPr>
              <a:t>- Cough reflex</a:t>
            </a:r>
            <a:r>
              <a:rPr lang="en-US">
                <a:sym typeface="+mn-ea"/>
              </a:rPr>
              <a:t> </a:t>
            </a:r>
            <a:r>
              <a:rPr>
                <a:sym typeface="+mn-ea"/>
              </a:rPr>
              <a:t>- Mucociliary clearance</a:t>
            </a:r>
            <a:endParaRPr lang="en-US"/>
          </a:p>
          <a:p>
            <a:pPr marL="0" indent="0">
              <a:buNone/>
            </a:pPr>
            <a:r>
              <a:rPr b="1">
                <a:sym typeface="+mn-ea"/>
              </a:rPr>
              <a:t>Cellular</a:t>
            </a:r>
            <a:endParaRPr b="1"/>
          </a:p>
          <a:p>
            <a:pPr marL="0" indent="0">
              <a:buNone/>
            </a:pPr>
            <a:r>
              <a:rPr>
                <a:sym typeface="+mn-ea"/>
              </a:rPr>
              <a:t>- Alveolar macrophages</a:t>
            </a:r>
            <a:r>
              <a:rPr lang="en-US">
                <a:sym typeface="+mn-ea"/>
              </a:rPr>
              <a:t>   </a:t>
            </a:r>
            <a:r>
              <a:rPr>
                <a:sym typeface="+mn-ea"/>
              </a:rPr>
              <a:t>- Neutrophils</a:t>
            </a:r>
          </a:p>
          <a:p>
            <a:pPr marL="0" indent="0">
              <a:buNone/>
            </a:pPr>
            <a:r>
              <a:rPr b="1">
                <a:sym typeface="+mn-ea"/>
              </a:rPr>
              <a:t>Humoral</a:t>
            </a:r>
            <a:endParaRPr b="1"/>
          </a:p>
          <a:p>
            <a:pPr marL="0" indent="0">
              <a:buNone/>
            </a:pPr>
            <a:r>
              <a:rPr>
                <a:sym typeface="+mn-ea"/>
              </a:rPr>
              <a:t>- IgA, IgG</a:t>
            </a:r>
            <a:r>
              <a:rPr lang="en-US">
                <a:sym typeface="+mn-ea"/>
              </a:rPr>
              <a:t>   </a:t>
            </a:r>
            <a:r>
              <a:rPr>
                <a:sym typeface="+mn-ea"/>
              </a:rPr>
              <a:t>- Complement</a:t>
            </a:r>
            <a:r>
              <a:rPr lang="en-US">
                <a:sym typeface="+mn-ea"/>
              </a:rPr>
              <a:t>  - </a:t>
            </a:r>
            <a:r>
              <a:rPr>
                <a:sym typeface="+mn-ea"/>
              </a:rPr>
              <a:t>Surfactant proteins (SP-A, SP-D)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Pathogenesis of pneumonia.</a:t>
            </a:r>
          </a:p>
          <a:p>
            <a:r>
              <a:rPr lang="en-US" altLang="en-US">
                <a:sym typeface="+mn-ea"/>
              </a:rPr>
              <a:t>4 Stages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1. Edema →   2. Red Hepatization (RBCs) →  3. Gray Hepatization    (Neutrophils/Fibrin) → 4. Resolution (Macrophages).</a:t>
            </a:r>
          </a:p>
          <a:p>
            <a:pPr marL="0" indent="0">
              <a:buNone/>
            </a:pPr>
            <a:r>
              <a:rPr lang="en-US"/>
              <a:t>Protective mechn.</a:t>
            </a:r>
          </a:p>
          <a:p>
            <a:pPr marL="0" indent="0">
              <a:buNone/>
            </a:pPr>
            <a:r>
              <a:rPr b="1">
                <a:sym typeface="+mn-ea"/>
              </a:rPr>
              <a:t>Mechanical</a:t>
            </a:r>
            <a:endParaRPr b="1"/>
          </a:p>
          <a:p>
            <a:pPr marL="0" indent="0">
              <a:buNone/>
            </a:pPr>
            <a:r>
              <a:rPr>
                <a:sym typeface="+mn-ea"/>
              </a:rPr>
              <a:t>- Nasal filtration</a:t>
            </a:r>
            <a:r>
              <a:rPr lang="en-US">
                <a:sym typeface="+mn-ea"/>
              </a:rPr>
              <a:t> </a:t>
            </a:r>
            <a:r>
              <a:rPr>
                <a:sym typeface="+mn-ea"/>
              </a:rPr>
              <a:t>- Cough reflex</a:t>
            </a:r>
            <a:r>
              <a:rPr lang="en-US">
                <a:sym typeface="+mn-ea"/>
              </a:rPr>
              <a:t> </a:t>
            </a:r>
            <a:r>
              <a:rPr>
                <a:sym typeface="+mn-ea"/>
              </a:rPr>
              <a:t>- Mucociliary clearance</a:t>
            </a:r>
            <a:endParaRPr lang="en-US"/>
          </a:p>
          <a:p>
            <a:pPr marL="0" indent="0">
              <a:buNone/>
            </a:pPr>
            <a:r>
              <a:rPr b="1">
                <a:sym typeface="+mn-ea"/>
              </a:rPr>
              <a:t>Cellular</a:t>
            </a:r>
            <a:endParaRPr b="1"/>
          </a:p>
          <a:p>
            <a:pPr marL="0" indent="0">
              <a:buNone/>
            </a:pPr>
            <a:r>
              <a:rPr>
                <a:sym typeface="+mn-ea"/>
              </a:rPr>
              <a:t>- Alveolar macrophages</a:t>
            </a:r>
            <a:r>
              <a:rPr lang="en-US">
                <a:sym typeface="+mn-ea"/>
              </a:rPr>
              <a:t>   </a:t>
            </a:r>
            <a:r>
              <a:rPr>
                <a:sym typeface="+mn-ea"/>
              </a:rPr>
              <a:t>- Neutrophils</a:t>
            </a:r>
          </a:p>
          <a:p>
            <a:pPr marL="0" indent="0">
              <a:buNone/>
            </a:pPr>
            <a:r>
              <a:rPr b="1">
                <a:sym typeface="+mn-ea"/>
              </a:rPr>
              <a:t>Humoral</a:t>
            </a:r>
            <a:endParaRPr b="1"/>
          </a:p>
          <a:p>
            <a:pPr marL="0" indent="0">
              <a:buNone/>
            </a:pPr>
            <a:r>
              <a:rPr>
                <a:sym typeface="+mn-ea"/>
              </a:rPr>
              <a:t>- IgA, IgG</a:t>
            </a:r>
            <a:r>
              <a:rPr lang="en-US">
                <a:sym typeface="+mn-ea"/>
              </a:rPr>
              <a:t>   </a:t>
            </a:r>
            <a:r>
              <a:rPr>
                <a:sym typeface="+mn-ea"/>
              </a:rPr>
              <a:t>- Complement</a:t>
            </a:r>
            <a:r>
              <a:rPr lang="en-US">
                <a:sym typeface="+mn-ea"/>
              </a:rPr>
              <a:t>  - </a:t>
            </a:r>
            <a:r>
              <a:rPr>
                <a:sym typeface="+mn-ea"/>
              </a:rPr>
              <a:t>Surfactant proteins (SP-A, SP-D)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>
                <a:sym typeface="+mn-ea"/>
              </a:rPr>
              <a:t>Infection acquired outside hospital or within &lt;48 hours of admission</a:t>
            </a:r>
          </a:p>
          <a:p>
            <a:r>
              <a:rPr lang="en-US" altLang="en-US"/>
              <a:t>Atypical CAP- Bacteria that do not show up on standard Gram stains and inherently resist beta-lactam antibiotics.</a:t>
            </a:r>
          </a:p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>
                <a:sym typeface="+mn-ea"/>
              </a:rPr>
              <a:t>Not incubating at admission</a:t>
            </a:r>
            <a:endParaRPr lang="en-US" altLang="en-US"/>
          </a:p>
          <a:p>
            <a:r>
              <a:rPr lang="en-US" altLang="en-US"/>
              <a:t>HAP- Also includes patients who present to the hospital with pneumonia but were discharged from a hospital within the last 7 to 10 days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/>
              <a:t>Viral-bacterial codetection occurs in up to 30% of hospitalized adult CAP cases, dramatically increasing the risk of adverse outcomes and mortality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depends on host factors</a:t>
            </a:r>
          </a:p>
          <a:p>
            <a:r>
              <a:rPr lang="en-US"/>
              <a:t>- </a:t>
            </a:r>
            <a:r>
              <a:rPr lang="en-US" altLang="en-US"/>
              <a:t>HIV, COPD, diabetes, elderly, smoking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>
                <a:sym typeface="+mn-ea"/>
              </a:rPr>
              <a:t>GeneXpert / sputum AFB, Chest X-ray (cavitation, fibrosis)</a:t>
            </a:r>
            <a:endParaRPr lang="en-US" altLang="en-US"/>
          </a:p>
          <a:p>
            <a:r>
              <a:rPr lang="en-US" altLang="en-US">
                <a:sym typeface="+mn-ea"/>
              </a:rPr>
              <a:t>In high TB burden settings → always rule out TB before labeling as CAP</a:t>
            </a:r>
            <a:endParaRPr lang="en-US" altLang="en-US"/>
          </a:p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>
                <a:sym typeface="+mn-ea"/>
              </a:rPr>
              <a:t>PSI - Good for research, heavy for daily use</a:t>
            </a:r>
          </a:p>
          <a:p>
            <a:r>
              <a:rPr lang="en-US" altLang="en-US">
                <a:sym typeface="+mn-ea"/>
              </a:rPr>
              <a:t>C- Confusion U-Urea  R- resp rate &gt;30   BP- &lt;90   age &gt;65</a:t>
            </a:r>
            <a:endParaRPr lang="en-US" altLang="en-US"/>
          </a:p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>
                <a:sym typeface="+mn-ea"/>
              </a:rPr>
              <a:t>Bacterial Endotoxins (IL-1b, TNF-a): STIMULATE PCT release from parenchymal cells.</a:t>
            </a:r>
            <a:endParaRPr lang="en-US" altLang="en-US"/>
          </a:p>
          <a:p>
            <a:r>
              <a:rPr lang="en-US" altLang="en-US">
                <a:sym typeface="+mn-ea"/>
              </a:rPr>
              <a:t>Viral Infection (Interferon-Gamma): SUPPRESSES the CALC-1 gene (PCT gene).</a:t>
            </a:r>
            <a:endParaRPr lang="en-US" altLang="en-US"/>
          </a:p>
          <a:p>
            <a:r>
              <a:rPr lang="en-US" altLang="en-US" b="1">
                <a:sym typeface="+mn-ea"/>
              </a:rPr>
              <a:t>Clinical Correlate:</a:t>
            </a:r>
            <a:endParaRPr lang="en-US" altLang="en-US"/>
          </a:p>
          <a:p>
            <a:r>
              <a:rPr lang="en-US" altLang="en-US"/>
              <a:t>viral infection  </a:t>
            </a:r>
            <a:r>
              <a:rPr lang="en-US" altLang="en-US">
                <a:sym typeface="+mn-ea"/>
              </a:rPr>
              <a:t>Lab: PCT &lt;0.25, CRP high.</a:t>
            </a:r>
          </a:p>
          <a:p>
            <a:r>
              <a:rPr lang="en-US" altLang="en-US"/>
              <a:t>Baseline Bloods: electrolytes, liver function tests,</a:t>
            </a:r>
          </a:p>
          <a:p>
            <a:r>
              <a:rPr lang="en-US" altLang="en-US"/>
              <a:t>ProACT Trial (2018)</a:t>
            </a:r>
          </a:p>
          <a:p>
            <a:r>
              <a:rPr lang="en-US" altLang="en-US"/>
              <a:t>Procalcitonin-guided therapy</a:t>
            </a:r>
          </a:p>
          <a:p>
            <a:r>
              <a:rPr lang="en-US" altLang="en-US"/>
              <a:t>→ Reduced antibiotic use, no mortality difference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/>
              <a:t>- pneumococcal urinary antigen tests to support de-escalation to a narrower_x0002_spectrum antibiotic </a:t>
            </a:r>
          </a:p>
          <a:p>
            <a:r>
              <a:rPr lang="en-US" altLang="en-US"/>
              <a:t>- legionella urinary antigen tests if the person has risk factors for legionella infection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CXR- </a:t>
            </a:r>
            <a:r>
              <a:rPr lang="en-US" altLang="en-US">
                <a:sym typeface="+mn-ea"/>
              </a:rPr>
              <a:t>insensitive in dehydration and early disease.</a:t>
            </a:r>
            <a:endParaRPr lang="en-US" altLang="en-US"/>
          </a:p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/>
              <a:t>Guiding Initiation and Cessation</a:t>
            </a:r>
          </a:p>
          <a:p>
            <a:r>
              <a:rPr lang="en-US" altLang="en-US"/>
              <a:t>Initiation:</a:t>
            </a:r>
          </a:p>
          <a:p>
            <a:r>
              <a:rPr lang="en-US" altLang="en-US"/>
              <a:t>PCT &lt;0.10 µg/L: Strongly discourages antibiotic initiation.</a:t>
            </a:r>
          </a:p>
          <a:p>
            <a:r>
              <a:rPr lang="en-US" altLang="en-US"/>
              <a:t>PCT &gt;0.25 µg/L: Suggests bacterial infection.</a:t>
            </a:r>
          </a:p>
          <a:p>
            <a:r>
              <a:rPr lang="en-US" altLang="en-US"/>
              <a:t>Cessation (The Stewardship Tool):</a:t>
            </a:r>
          </a:p>
          <a:p>
            <a:r>
              <a:rPr lang="en-US" altLang="en-US"/>
              <a:t>Criteria: PCT &lt;0.25 µg/L OR &gt;80% drop from peak.</a:t>
            </a:r>
          </a:p>
          <a:p>
            <a:r>
              <a:rPr lang="en-US" altLang="en-US"/>
              <a:t>Action: STOP ANTIBIOTICS.</a:t>
            </a:r>
          </a:p>
          <a:p>
            <a:r>
              <a:rPr lang="en-US" altLang="en-US"/>
              <a:t>Primary driver for the "Shorter is Safer" paradigm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/>
              <a:t>Severity assessment tools (PSI, CRB65/CURB65) to determine site of care and mortality risk</a:t>
            </a:r>
          </a:p>
          <a:p>
            <a:r>
              <a:rPr lang="en-US" altLang="en-US"/>
              <a:t>Early diagnostics (CXR) and microbiology in moderate–severe or HAP; start antibiotics ≤4 hours</a:t>
            </a:r>
          </a:p>
          <a:p>
            <a:r>
              <a:rPr lang="en-US" altLang="en-US"/>
              <a:t>Empiric antibiotics tailored to CAP vs HAP, severity, local AMR; de‑escalate by cultures</a:t>
            </a:r>
          </a:p>
          <a:p>
            <a:r>
              <a:rPr lang="en-US" altLang="en-US"/>
              <a:t>Supportive care: oxygen/HFNO, NIV/intubation as needed; cautious fluids, early nutrition and mobilization</a:t>
            </a:r>
          </a:p>
          <a:p>
            <a:r>
              <a:rPr lang="en-US" altLang="en-US"/>
              <a:t>Prevention: PCV20/21 or PCV15→PPSV23, influenza/COVID/RSV vaccines, smoking cessation, ventilator bundles and hand hygiene</a:t>
            </a:r>
          </a:p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/>
              <a:t>IV to Oral Switch: Review IV antibiotics at 48 hours; step down to oral therapy as soon as clinical stability is achieved.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/>
              <a:t>alternative oral antibiotics for penicillin allergy or if </a:t>
            </a:r>
          </a:p>
          <a:p>
            <a:r>
              <a:rPr lang="en-US" altLang="en-US"/>
              <a:t>amoxicillin unsuitable (for example, if atypical pathogens suspected)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/>
              <a:t>FDA (Black Box Warning): The FDA has also strengthened warnings regarding tendinitis, tendon rupture, peripheral neuropathy, and central nervous system (CNS) effects.</a:t>
            </a:r>
          </a:p>
          <a:p>
            <a:r>
              <a:rPr lang="en-US" altLang="en-US"/>
              <a:t>Situations for Use: 1. when standard first-line antibiotics have failed due to resistance, 2. contraindicated for the patient, 3. caused side effects requiring treatment cessation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/>
              <a:t>linezolid 600 mg twice a day orally or intravenously</a:t>
            </a:r>
          </a:p>
          <a:p>
            <a:r>
              <a:rPr lang="en-US" altLang="en-US"/>
              <a:t>Teicoplanin: </a:t>
            </a:r>
          </a:p>
          <a:p>
            <a:r>
              <a:rPr lang="en-US" altLang="en-US"/>
              <a:t>Initially 6 mg/kg every 12 hours for 3 doses, then 6 mg/kg </a:t>
            </a:r>
          </a:p>
          <a:p>
            <a:r>
              <a:rPr lang="en-US" altLang="en-US"/>
              <a:t>once a day intravenously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/>
              <a:t>CAPE COD Trial (2023, NEJM)</a:t>
            </a:r>
          </a:p>
          <a:p>
            <a:r>
              <a:rPr lang="en-US" altLang="en-US"/>
              <a:t>Steroids in severe CAP</a:t>
            </a:r>
          </a:p>
          <a:p>
            <a:r>
              <a:rPr lang="en-US" altLang="en-US"/>
              <a:t>→ Reduced mortality with hydrocortisone in ICU patients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LIGHTS CRITERIA</a:t>
            </a:r>
          </a:p>
          <a:p>
            <a:r>
              <a:rPr lang="en-US"/>
              <a:t>INDICATIONS OF CHEST TUBE DRAINAGE</a:t>
            </a:r>
          </a:p>
          <a:p>
            <a:r>
              <a:rPr lang="en-US"/>
              <a:t>. empyema, +ve gram stain/culture, loculated </a:t>
            </a:r>
          </a:p>
          <a:p>
            <a:r>
              <a:rPr lang="en-US"/>
              <a:t>. large symptomatic- significant dyspnea</a:t>
            </a:r>
          </a:p>
          <a:p>
            <a:r>
              <a:rPr lang="en-US"/>
              <a:t>. mediastinal shift / lung collapse</a:t>
            </a:r>
          </a:p>
          <a:p>
            <a:r>
              <a:rPr lang="en-US"/>
              <a:t>. hemothorax, rec malign symptomatic effusion</a:t>
            </a:r>
          </a:p>
          <a:p>
            <a:r>
              <a:rPr lang="en-US"/>
              <a:t>. before pleurodesis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>
                <a:sym typeface="+mn-ea"/>
              </a:rPr>
              <a:t>PCV20 / PCV21 (Prevnar 20 / Capvaxive):</a:t>
            </a:r>
            <a:endParaRPr lang="en-US" altLang="en-US"/>
          </a:p>
          <a:p>
            <a:endParaRPr lang="en-US" altLang="en-US"/>
          </a:p>
          <a:p>
            <a:r>
              <a:rPr lang="en-US" altLang="en-US">
                <a:sym typeface="+mn-ea"/>
              </a:rPr>
              <a:t>Mechanism: Conjugate vaccines targeting capsular polysaccharides.</a:t>
            </a:r>
            <a:endParaRPr lang="en-US" altLang="en-US"/>
          </a:p>
          <a:p>
            <a:r>
              <a:rPr lang="en-US" altLang="en-US">
                <a:sym typeface="+mn-ea"/>
              </a:rPr>
              <a:t>Impact: Covers &gt;80% of invasive serotypes in adults. Reduces nasopharyngeal carriage (herd immunity).</a:t>
            </a:r>
            <a:endParaRPr lang="en-US" altLang="en-US"/>
          </a:p>
          <a:p>
            <a:r>
              <a:rPr lang="en-US" altLang="en-US">
                <a:sym typeface="+mn-ea"/>
              </a:rPr>
              <a:t>Schedule Simplification: Eliminates need for PPSV23 boosters in many adult protocols.</a:t>
            </a:r>
            <a:endParaRPr lang="en-US" altLang="en-US"/>
          </a:p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>
                <a:sym typeface="+mn-ea"/>
              </a:rPr>
              <a:t>Extrapulmonary dominant (GI + CNS)                       </a:t>
            </a:r>
            <a:r>
              <a:rPr lang="zh-CN" altLang="en-US" b="1">
                <a:sym typeface="+mn-ea"/>
              </a:rPr>
              <a:t> </a:t>
            </a:r>
            <a:r>
              <a:rPr lang="en-US" altLang="en-US" b="1">
                <a:sym typeface="+mn-ea"/>
              </a:rPr>
              <a:t>Atypical pneumonia</a:t>
            </a:r>
            <a:endParaRPr lang="en-US" altLang="en-US" b="1"/>
          </a:p>
          <a:p>
            <a:r>
              <a:rPr lang="en-US" altLang="en-US">
                <a:sym typeface="+mn-ea"/>
              </a:rPr>
              <a:t>Hyponatremia → classic for Legionella</a:t>
            </a:r>
            <a:endParaRPr lang="en-US" altLang="en-US"/>
          </a:p>
          <a:p>
            <a:r>
              <a:rPr lang="en-US" altLang="en-US">
                <a:sym typeface="+mn-ea"/>
              </a:rPr>
              <a:t>Mild chest signs but sick patient</a:t>
            </a:r>
          </a:p>
          <a:p>
            <a:r>
              <a:rPr lang="en-US" altLang="en-US">
                <a:sym typeface="+mn-ea"/>
              </a:rPr>
              <a:t>Azithromycin OR Levofloxacin</a:t>
            </a:r>
            <a:endParaRPr lang="en-US" altLang="en-US"/>
          </a:p>
          <a:p>
            <a:r>
              <a:rPr lang="en-US" altLang="en-US">
                <a:sym typeface="+mn-ea"/>
              </a:rPr>
              <a:t>Admit (moderate–severe)</a:t>
            </a:r>
            <a:endParaRPr lang="en-US" altLang="en-US"/>
          </a:p>
          <a:p>
            <a:endParaRPr lang="en-US" altLang="en-US"/>
          </a:p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>
                <a:sym typeface="+mn-ea"/>
              </a:rPr>
              <a:t>Sudden onset, Clear chest exam, Normal CXR</a:t>
            </a:r>
            <a:endParaRPr lang="en-US" altLang="en-US"/>
          </a:p>
          <a:p>
            <a:r>
              <a:rPr lang="en-US" altLang="en-US">
                <a:sym typeface="+mn-ea"/>
              </a:rPr>
              <a:t>Risk factor (immobility)</a:t>
            </a:r>
          </a:p>
          <a:p>
            <a:r>
              <a:rPr lang="en-US" altLang="en-US">
                <a:sym typeface="+mn-ea"/>
              </a:rPr>
              <a:t>Fever can occur in PE</a:t>
            </a:r>
            <a:endParaRPr lang="en-US" altLang="en-US"/>
          </a:p>
          <a:p>
            <a:r>
              <a:rPr lang="en-US" altLang="en-US">
                <a:sym typeface="+mn-ea"/>
              </a:rPr>
              <a:t>Tachypnea + hypoxia overlap with pneumonia</a:t>
            </a:r>
            <a:endParaRPr lang="en-US" altLang="en-US"/>
          </a:p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1. </a:t>
            </a:r>
            <a:r>
              <a:rPr lang="en-US" altLang="en-US"/>
              <a:t>Meets ATS Severe CAP criteria</a:t>
            </a:r>
          </a:p>
          <a:p>
            <a:r>
              <a:rPr lang="en-US" altLang="en-US"/>
              <a:t>Major: Septic shock.  Minor ≥3: RR&gt;30, PF&lt;250, confusion, BUN↑, thrombocytopenia, multilobar</a:t>
            </a:r>
          </a:p>
          <a:p>
            <a:r>
              <a:rPr lang="zh-CN" altLang="en-US"/>
              <a:t>👉 </a:t>
            </a:r>
            <a:r>
              <a:rPr lang="en-US" altLang="en-US"/>
              <a:t>ICU admission required</a:t>
            </a:r>
          </a:p>
          <a:p>
            <a:r>
              <a:rPr lang="en-US" altLang="en-US"/>
              <a:t>2. Recent hospitalization (2 months ago), Recent IV antibiotic use, Diabetes mellitus</a:t>
            </a:r>
          </a:p>
          <a:p>
            <a:r>
              <a:rPr lang="en-US" altLang="en-US"/>
              <a:t>    Recommended Escalation: Piperacillin–Tazobactam ± MRSA coverage (Vancomycin/Linezolid)</a:t>
            </a:r>
          </a:p>
          <a:p>
            <a:r>
              <a:rPr lang="en-US" altLang="en-US"/>
              <a:t>3. Persistent lactate → ongoing septic shock</a:t>
            </a:r>
          </a:p>
          <a:p>
            <a:r>
              <a:rPr lang="en-US" altLang="en-US"/>
              <a:t>    Start Norepinephrine (target MAP ≥65)</a:t>
            </a:r>
          </a:p>
          <a:p>
            <a:r>
              <a:rPr lang="en-US" altLang="en-US"/>
              <a:t>     Monitor urine output, vitals, repeat lactate</a:t>
            </a:r>
          </a:p>
          <a:p>
            <a:r>
              <a:rPr lang="en-US" altLang="en-US"/>
              <a:t>4. IV Hydrocortisone 200 mg/day (4–7 days)</a:t>
            </a:r>
          </a:p>
          <a:p>
            <a:r>
              <a:rPr lang="en-US" altLang="en-US"/>
              <a:t>    Avoid if influenza suspected</a:t>
            </a:r>
          </a:p>
          <a:p>
            <a:r>
              <a:rPr lang="en-US" altLang="en-US"/>
              <a:t>5. Think of 5 M’s”:</a:t>
            </a:r>
          </a:p>
          <a:p>
            <a:r>
              <a:rPr lang="en-US" altLang="en-US"/>
              <a:t>Microbe: Resistant organism → broaden Abx</a:t>
            </a:r>
          </a:p>
          <a:p>
            <a:r>
              <a:rPr lang="en-US" altLang="en-US"/>
              <a:t>Mechanical: Effusion, abscess → imaging + drainage</a:t>
            </a:r>
          </a:p>
          <a:p>
            <a:r>
              <a:rPr lang="en-US" altLang="en-US"/>
              <a:t>Masquerader: PE, malignancy</a:t>
            </a:r>
          </a:p>
          <a:p>
            <a:r>
              <a:rPr lang="en-US" altLang="en-US"/>
              <a:t>Medication: Drug failure</a:t>
            </a:r>
          </a:p>
          <a:p>
            <a:r>
              <a:rPr lang="en-US" altLang="en-US"/>
              <a:t>Metabolic: Aspiration</a:t>
            </a:r>
          </a:p>
          <a:p>
            <a:endParaRPr lang="en-US" altLang="en-US"/>
          </a:p>
          <a:p>
            <a:r>
              <a:rPr lang="zh-CN" altLang="en-US"/>
              <a:t>👉 </a:t>
            </a:r>
            <a:r>
              <a:rPr lang="en-US" altLang="en-US"/>
              <a:t>CT chest, cultures, ± bronchoscopy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833495"/>
          </a:xfrm>
        </p:spPr>
        <p:txBody>
          <a:bodyPr/>
          <a:lstStyle/>
          <a:p>
            <a:pPr algn="ctr"/>
            <a:r>
              <a:rPr lang="en-US" sz="7200" dirty="0"/>
              <a:t>PNEUMONIA OTHER THAN TB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838200" y="4284980"/>
            <a:ext cx="5181600" cy="1892300"/>
          </a:xfrm>
        </p:spPr>
        <p:txBody>
          <a:bodyPr/>
          <a:lstStyle/>
          <a:p>
            <a:r>
              <a:rPr lang="en-US"/>
              <a:t>Presenters</a:t>
            </a:r>
          </a:p>
          <a:p>
            <a:pPr marL="0" indent="0">
              <a:buNone/>
            </a:pPr>
            <a:r>
              <a:rPr lang="en-US"/>
              <a:t>   1. Dr Shadai Ndandala</a:t>
            </a:r>
          </a:p>
          <a:p>
            <a:pPr marL="0" indent="0">
              <a:buNone/>
            </a:pPr>
            <a:r>
              <a:rPr lang="en-US"/>
              <a:t>   2. Dr James Masanja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6172200" y="4284345"/>
            <a:ext cx="5181600" cy="1892935"/>
          </a:xfrm>
        </p:spPr>
        <p:txBody>
          <a:bodyPr/>
          <a:lstStyle/>
          <a:p>
            <a:r>
              <a:rPr lang="en-US"/>
              <a:t>Facilitator</a:t>
            </a:r>
          </a:p>
          <a:p>
            <a:pPr marL="0" indent="0">
              <a:buNone/>
            </a:pPr>
            <a:r>
              <a:rPr lang="en-US"/>
              <a:t>Dr Sibtain Moledina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EPIDEMIOLOGY AND BURDEN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09065"/>
            <a:ext cx="10515600" cy="5170805"/>
          </a:xfrm>
        </p:spPr>
        <p:txBody>
          <a:bodyPr>
            <a:normAutofit fontScale="35000"/>
          </a:bodyPr>
          <a:lstStyle/>
          <a:p>
            <a:pPr marL="0" indent="0">
              <a:buNone/>
            </a:pPr>
            <a:endParaRPr lang="en-US" altLang="en-US" sz="11200" b="1"/>
          </a:p>
          <a:p>
            <a:pPr marL="0" indent="0">
              <a:buNone/>
            </a:pPr>
            <a:endParaRPr lang="en-US" altLang="en-US" sz="11200" b="1"/>
          </a:p>
          <a:p>
            <a:pPr marL="0" indent="0">
              <a:buNone/>
            </a:pPr>
            <a:endParaRPr lang="en-US" altLang="en-US" sz="1000" b="1"/>
          </a:p>
          <a:p>
            <a:pPr marL="0" indent="0">
              <a:buNone/>
            </a:pPr>
            <a:endParaRPr lang="en-US" altLang="en-US" sz="1000" b="1"/>
          </a:p>
          <a:p>
            <a:pPr marL="0" indent="0">
              <a:buNone/>
            </a:pPr>
            <a:endParaRPr lang="en-US" altLang="en-US" sz="1000" b="1"/>
          </a:p>
          <a:p>
            <a:pPr marL="0" indent="0">
              <a:buNone/>
            </a:pPr>
            <a:endParaRPr lang="en-US" altLang="en-US" sz="1000" b="1"/>
          </a:p>
          <a:p>
            <a:pPr marL="0" indent="0">
              <a:buNone/>
            </a:pPr>
            <a:endParaRPr lang="en-US" altLang="en-US" sz="1000" b="1"/>
          </a:p>
          <a:p>
            <a:pPr marL="0" indent="0">
              <a:buNone/>
            </a:pPr>
            <a:endParaRPr lang="en-US" altLang="en-US" sz="1000" b="1"/>
          </a:p>
          <a:p>
            <a:pPr marL="0" indent="0">
              <a:buNone/>
            </a:pPr>
            <a:endParaRPr lang="en-US" altLang="en-US" sz="1000" b="1"/>
          </a:p>
          <a:p>
            <a:pPr marL="0" indent="0">
              <a:buNone/>
            </a:pPr>
            <a:endParaRPr lang="en-US" altLang="en-US" sz="1000" b="1"/>
          </a:p>
          <a:p>
            <a:pPr marL="0" indent="0">
              <a:buNone/>
            </a:pPr>
            <a:endParaRPr lang="en-US" altLang="en-US" sz="1000" b="1"/>
          </a:p>
          <a:p>
            <a:pPr marL="0" indent="0">
              <a:buNone/>
            </a:pPr>
            <a:endParaRPr lang="en-US" altLang="en-US" sz="4000" b="1"/>
          </a:p>
          <a:p>
            <a:pPr marL="0" indent="0">
              <a:buNone/>
            </a:pPr>
            <a:endParaRPr lang="en-US" altLang="en-US" sz="4000" b="1"/>
          </a:p>
          <a:p>
            <a:pPr marL="0" indent="0">
              <a:buNone/>
            </a:pPr>
            <a:endParaRPr lang="en-US" altLang="en-US" sz="4000" b="1"/>
          </a:p>
          <a:p>
            <a:pPr marL="0" indent="0">
              <a:buNone/>
            </a:pPr>
            <a:endParaRPr lang="en-US" altLang="en-US" sz="4000" b="1"/>
          </a:p>
          <a:p>
            <a:pPr marL="0" indent="0">
              <a:buNone/>
            </a:pPr>
            <a:endParaRPr lang="en-US" altLang="en-US" sz="4000" b="1"/>
          </a:p>
          <a:p>
            <a:pPr marL="0" indent="0">
              <a:buNone/>
            </a:pPr>
            <a:r>
              <a:rPr lang="en-US" altLang="en-US" sz="4000" b="1"/>
              <a:t>1            GBD 2023 Causes of Death Collaborators. Global burden of 292 causes of death in 204 countries and territories and 660 subnational locations, 1990-2023: a systematic analysis for the Global Burden of Disease Study 2023. Lancet 2025; 406: 1811–1872.</a:t>
            </a:r>
          </a:p>
          <a:p>
            <a:pPr marL="0" indent="0">
              <a:buNone/>
            </a:pPr>
            <a:endParaRPr lang="en-US" altLang="en-US" sz="11200" b="1"/>
          </a:p>
          <a:p>
            <a:pPr marL="0" indent="0">
              <a:buNone/>
            </a:pPr>
            <a:endParaRPr lang="en-US" altLang="en-US" sz="11200" b="1"/>
          </a:p>
          <a:p>
            <a:pPr marL="0" indent="0">
              <a:buNone/>
            </a:pPr>
            <a:endParaRPr lang="en-US" altLang="en-US" sz="11200" b="1"/>
          </a:p>
          <a:p>
            <a:pPr marL="0" indent="0">
              <a:buNone/>
            </a:pPr>
            <a:endParaRPr lang="en-US" altLang="en-US" sz="1120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911860" y="1291590"/>
            <a:ext cx="8820150" cy="45986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29385"/>
            <a:ext cx="10515600" cy="4747895"/>
          </a:xfrm>
        </p:spPr>
        <p:txBody>
          <a:bodyPr>
            <a:normAutofit fontScale="25000"/>
          </a:bodyPr>
          <a:lstStyle/>
          <a:p>
            <a:endParaRPr lang="en-US" altLang="en-US"/>
          </a:p>
          <a:p>
            <a:pPr marL="0" indent="0">
              <a:lnSpc>
                <a:spcPct val="70000"/>
              </a:lnSpc>
              <a:buNone/>
            </a:pPr>
            <a:r>
              <a:rPr lang="en-US" altLang="en-US" sz="9600" b="1">
                <a:sym typeface="+mn-ea"/>
              </a:rPr>
              <a:t>Burden in SSA</a:t>
            </a:r>
            <a:endParaRPr lang="en-US" altLang="en-US" sz="9600" b="1"/>
          </a:p>
          <a:p>
            <a:pPr>
              <a:lnSpc>
                <a:spcPct val="70000"/>
              </a:lnSpc>
            </a:pPr>
            <a:r>
              <a:rPr lang="en-US" altLang="en-US" sz="9600"/>
              <a:t>Accounts for 68% of all deaths causeed by pneumonia</a:t>
            </a:r>
          </a:p>
          <a:p>
            <a:pPr>
              <a:lnSpc>
                <a:spcPct val="70000"/>
              </a:lnSpc>
            </a:pPr>
            <a:r>
              <a:rPr lang="en-US" altLang="en-US" sz="9600"/>
              <a:t>Leading cause of death &lt;5 yrs (then malaria 409,000, then diarrhoea 317,000) 52% occured in SSA</a:t>
            </a:r>
          </a:p>
          <a:p>
            <a:pPr>
              <a:lnSpc>
                <a:spcPct val="70000"/>
              </a:lnSpc>
            </a:pPr>
            <a:r>
              <a:rPr lang="en-US" altLang="en-US" sz="9600" b="1">
                <a:sym typeface="+mn-ea"/>
              </a:rPr>
              <a:t>• High mortality due to</a:t>
            </a:r>
            <a:r>
              <a:rPr lang="en-US" altLang="en-US" sz="9600">
                <a:sym typeface="+mn-ea"/>
              </a:rPr>
              <a:t>:</a:t>
            </a:r>
            <a:endParaRPr lang="en-US" altLang="en-US" sz="9600"/>
          </a:p>
          <a:p>
            <a:pPr>
              <a:lnSpc>
                <a:spcPct val="70000"/>
              </a:lnSpc>
            </a:pPr>
            <a:r>
              <a:rPr lang="en-US" altLang="en-US" sz="9600">
                <a:sym typeface="+mn-ea"/>
              </a:rPr>
              <a:t>ΗIV, Limited diagnostics, Delayed care, drug resistance</a:t>
            </a:r>
            <a:endParaRPr lang="en-US" altLang="en-US" sz="9600"/>
          </a:p>
          <a:p>
            <a:pPr>
              <a:lnSpc>
                <a:spcPct val="70000"/>
              </a:lnSpc>
            </a:pPr>
            <a:r>
              <a:rPr lang="en-US" altLang="en-US" sz="9600" b="1">
                <a:sym typeface="+mn-ea"/>
              </a:rPr>
              <a:t>Tanzania Context</a:t>
            </a:r>
          </a:p>
          <a:p>
            <a:pPr>
              <a:lnSpc>
                <a:spcPct val="70000"/>
              </a:lnSpc>
            </a:pPr>
            <a:r>
              <a:rPr lang="en-US" altLang="en-US" sz="9600"/>
              <a:t>In 2018, tanzania among top 8 countries, 17,624 deaths under five years of age</a:t>
            </a:r>
            <a:endParaRPr lang="en-US" altLang="en-US" sz="9600" b="1"/>
          </a:p>
          <a:p>
            <a:pPr>
              <a:lnSpc>
                <a:spcPct val="70000"/>
              </a:lnSpc>
            </a:pPr>
            <a:r>
              <a:rPr lang="en-US" altLang="en-US" sz="9600">
                <a:sym typeface="+mn-ea"/>
              </a:rPr>
              <a:t>CAP common cause of admission</a:t>
            </a:r>
            <a:endParaRPr lang="en-US" altLang="en-US" sz="9600"/>
          </a:p>
          <a:p>
            <a:pPr>
              <a:lnSpc>
                <a:spcPct val="70000"/>
              </a:lnSpc>
            </a:pPr>
            <a:r>
              <a:rPr lang="en-US" altLang="en-US" sz="9600">
                <a:sym typeface="+mn-ea"/>
              </a:rPr>
              <a:t>Limited microbiological data</a:t>
            </a:r>
            <a:endParaRPr lang="en-US" altLang="en-US" sz="9600" b="1">
              <a:sym typeface="+mn-ea"/>
            </a:endParaRPr>
          </a:p>
          <a:p>
            <a:r>
              <a:rPr lang="en-US" altLang="en-US" sz="5600" b="1" i="1">
                <a:sym typeface="+mn-ea"/>
              </a:rPr>
              <a:t>1   GBD 2023 Causes of Death Collaborators. Global burden of 292 causes of death in 204 countries and territories and 660 subnational locations, 1990-2023: a systematic analysis for the Global Burden of Disease Study 2023. Lancet 2025; 406: 1811–1872.</a:t>
            </a:r>
            <a:endParaRPr lang="en-US" altLang="en-US" sz="5600" b="1" i="1"/>
          </a:p>
          <a:p>
            <a:r>
              <a:rPr lang="en-US" altLang="en-US" sz="5600" b="1" i="1"/>
              <a:t>2.  Miyayo, S.F.; Owili, P.O.; Muga, M.A.; Lin, T.-H. Analysis of Pneumonia Occurrence in Relation to Climate Change in Tanga, Tanzania. Int. J. Environ. Res. Public Health 2021, 18, 4731. https://doi.org/10.3390/ijerph18094731</a:t>
            </a:r>
          </a:p>
          <a:p>
            <a:endParaRPr lang="en-US" altLang="en-US" sz="7110"/>
          </a:p>
          <a:p>
            <a:endParaRPr lang="en-US" altLang="en-US" sz="711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Distribution of causative agent and pattern of resistance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25000"/>
          </a:bodyPr>
          <a:lstStyle/>
          <a:p>
            <a:r>
              <a:rPr lang="en-US" sz="9600" b="1"/>
              <a:t>353</a:t>
            </a:r>
            <a:r>
              <a:rPr lang="en-US" sz="9600"/>
              <a:t> individuals sputum collected</a:t>
            </a:r>
          </a:p>
          <a:p>
            <a:r>
              <a:rPr lang="en-US" sz="9600"/>
              <a:t>Only 77 sputum was positive . of the 77 </a:t>
            </a:r>
          </a:p>
          <a:p>
            <a:r>
              <a:rPr lang="en-US" sz="9600"/>
              <a:t>91% of K.pneumonia - resistant to amoxyxillin - clavulanic acid and 87.0% resistance to Ceftriaxone</a:t>
            </a:r>
          </a:p>
          <a:p>
            <a:r>
              <a:rPr lang="en-US" sz="9600"/>
              <a:t>E. Coli - 100% resistant to Ampicilin with 85.7 resistant to Ceftriaxone</a:t>
            </a:r>
          </a:p>
          <a:p>
            <a:r>
              <a:rPr lang="en-US" sz="9600"/>
              <a:t>All S. Aureus was susceptible to SXT</a:t>
            </a:r>
          </a:p>
          <a:p>
            <a:endParaRPr lang="en-US" sz="2400"/>
          </a:p>
          <a:p>
            <a:pPr marL="0" indent="0">
              <a:buNone/>
            </a:pPr>
            <a:r>
              <a:rPr lang="en-US" altLang="en-US" sz="4800" b="1" i="1"/>
              <a:t>Prevalence of gram negative bacteria of causing community acquired pneumonia among adults in Mwanza City, Tanzania Peter Kishimbo1, Nyambura Moremi Sogone2, Fredrick Kalokola1 and Stephen E. Mshana3* 2020</a:t>
            </a:r>
          </a:p>
          <a:p>
            <a:endParaRPr lang="en-US" altLang="en-US" sz="4800" b="1" i="1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/>
          <a:srcRect l="3363" r="3363"/>
          <a:stretch>
            <a:fillRect/>
          </a:stretch>
        </p:blipFill>
        <p:spPr>
          <a:xfrm>
            <a:off x="6172200" y="1825625"/>
            <a:ext cx="5181600" cy="4351655"/>
          </a:xfrm>
        </p:spPr>
      </p:pic>
      <p:sp>
        <p:nvSpPr>
          <p:cNvPr id="7" name="Text Box 6"/>
          <p:cNvSpPr txBox="1"/>
          <p:nvPr/>
        </p:nvSpPr>
        <p:spPr>
          <a:xfrm>
            <a:off x="3496310" y="59683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/>
          </a:bodyPr>
          <a:lstStyle/>
          <a:p>
            <a:r>
              <a:rPr lang="en-US" altLang="en-US" sz="6400"/>
              <a:t>An acute infection of the lung parenchyma (alveoli and interstitium), characterized by microbial invasion leading to inflammation, alveolar filling with exudate, and impaired gas exchange.</a:t>
            </a:r>
            <a:endParaRPr lang="en-US" altLang="en-US" sz="6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6400">
                <a:sym typeface="+mn-ea"/>
              </a:rPr>
              <a:t>According to </a:t>
            </a:r>
            <a:r>
              <a:rPr lang="en-US" sz="6400" b="1">
                <a:sym typeface="+mn-ea"/>
              </a:rPr>
              <a:t>IDSA/ATS</a:t>
            </a:r>
            <a:r>
              <a:rPr lang="en-US" sz="6400">
                <a:sym typeface="+mn-ea"/>
              </a:rPr>
              <a:t> - Acute infection of the pulmonary parenchyma + new infiltrates on CXR + clinical features. Excludes</a:t>
            </a:r>
            <a:endParaRPr lang="en-US" sz="6400"/>
          </a:p>
          <a:p>
            <a:pPr marL="514350" indent="-514350">
              <a:buAutoNum type="arabicPeriod"/>
            </a:pPr>
            <a:r>
              <a:rPr lang="en-US" sz="6400">
                <a:sym typeface="+mn-ea"/>
              </a:rPr>
              <a:t>have recently completed foreign travel</a:t>
            </a:r>
            <a:endParaRPr lang="en-US" sz="6400"/>
          </a:p>
          <a:p>
            <a:pPr marL="514350" indent="-514350">
              <a:buAutoNum type="arabicPeriod"/>
            </a:pPr>
            <a:r>
              <a:rPr lang="en-US" sz="6400">
                <a:sym typeface="+mn-ea"/>
              </a:rPr>
              <a:t>immunocompromised individuals eg, HIV, suppress Cd4, post transplant, on chemo, immmunodeficiency, drug induced neutropenia. </a:t>
            </a:r>
            <a:endParaRPr lang="en-US" sz="6400"/>
          </a:p>
          <a:p>
            <a:r>
              <a:rPr lang="en-US" sz="6400">
                <a:sym typeface="+mn-ea"/>
              </a:rPr>
              <a:t>According to WHO - Radiological Infiltrates not included</a:t>
            </a:r>
            <a:endParaRPr lang="en-US" sz="6400"/>
          </a:p>
          <a:p>
            <a:pPr marL="0" indent="0">
              <a:buNone/>
            </a:pPr>
            <a:r>
              <a:rPr lang="en-US" altLang="en-US" sz="3000" b="1" i="1">
                <a:sym typeface="+mn-ea"/>
              </a:rPr>
              <a:t>1. Diagnosis and Treatment of Adults with Community-acquired. Pneumonia An Official Clinical Practice Guideline of the American Thoracic Society and Infectious Diseases Society of America August 2019</a:t>
            </a:r>
            <a:endParaRPr lang="en-US" altLang="en-US" sz="3000" b="1" i="1"/>
          </a:p>
          <a:p>
            <a:endParaRPr lang="en-US" altLang="en-US" b="1" i="1"/>
          </a:p>
          <a:p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Classification of Pneumonia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b="1"/>
              <a:t>Community-Acquired Pneumonia (CAP)</a:t>
            </a:r>
          </a:p>
          <a:p>
            <a:r>
              <a:rPr lang="en-US" altLang="en-US"/>
              <a:t>Subtypes:</a:t>
            </a:r>
          </a:p>
          <a:p>
            <a:r>
              <a:rPr lang="en-US" altLang="en-US"/>
              <a:t>Typical bacterial CAP</a:t>
            </a:r>
          </a:p>
          <a:p>
            <a:pPr marL="0" indent="0">
              <a:buNone/>
            </a:pPr>
            <a:r>
              <a:rPr lang="en-US" altLang="en-US"/>
              <a:t>    e.g. Streptococcus pneumoniae</a:t>
            </a:r>
          </a:p>
          <a:p>
            <a:r>
              <a:rPr lang="en-US" altLang="en-US"/>
              <a:t>Atypical CAP</a:t>
            </a:r>
          </a:p>
          <a:p>
            <a:pPr marL="0" indent="0">
              <a:buNone/>
            </a:pPr>
            <a:r>
              <a:rPr lang="en-US" altLang="en-US"/>
              <a:t>   e.g. Mycoplasma, Chlamydia, Legionella</a:t>
            </a:r>
          </a:p>
          <a:p>
            <a:r>
              <a:rPr lang="en-US" altLang="en-US"/>
              <a:t>Viral pneumonia</a:t>
            </a:r>
          </a:p>
          <a:p>
            <a:pPr marL="0" indent="0">
              <a:buNone/>
            </a:pPr>
            <a:r>
              <a:rPr lang="en-US" altLang="en-US"/>
              <a:t>    e.g. Influenza, SARS-CoV-2, RSV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CLASSIFICATION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b="1"/>
              <a:t>Hospital-Acquired Pneumonia (HAP)</a:t>
            </a:r>
          </a:p>
          <a:p>
            <a:r>
              <a:rPr lang="en-US" altLang="en-US"/>
              <a:t>Develops ≥48 hours after hospital admission</a:t>
            </a:r>
          </a:p>
          <a:p>
            <a:endParaRPr lang="en-US" altLang="en-US"/>
          </a:p>
          <a:p>
            <a:r>
              <a:rPr lang="en-US" altLang="en-US"/>
              <a:t>Key features:</a:t>
            </a:r>
          </a:p>
          <a:p>
            <a:r>
              <a:rPr lang="en-US" altLang="en-US"/>
              <a:t>Often due to gram-negative bacilli or Staphylococcus aureus</a:t>
            </a:r>
          </a:p>
          <a:p>
            <a:r>
              <a:rPr lang="en-US" altLang="en-US"/>
              <a:t>Higher risk of multidrug resistance (MDR)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en-US" b="1"/>
              <a:t>Ventilator-Associated Pneumonia (VAP)</a:t>
            </a:r>
          </a:p>
          <a:p>
            <a:r>
              <a:rPr lang="en-US" altLang="en-US"/>
              <a:t>Occurs ≥48 hours after endotracheal intubation</a:t>
            </a:r>
          </a:p>
          <a:p>
            <a:endParaRPr lang="en-US" altLang="en-US"/>
          </a:p>
          <a:p>
            <a:r>
              <a:rPr lang="en-US" altLang="en-US"/>
              <a:t>Characteristics:</a:t>
            </a:r>
          </a:p>
          <a:p>
            <a:r>
              <a:rPr lang="en-US" altLang="en-US"/>
              <a:t>Biofilm-related infection</a:t>
            </a:r>
          </a:p>
          <a:p>
            <a:r>
              <a:rPr lang="en-US" altLang="en-US"/>
              <a:t>Often MDR pathogens</a:t>
            </a:r>
          </a:p>
          <a:p>
            <a:r>
              <a:rPr lang="en-US" altLang="en-US"/>
              <a:t>High mortality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6635"/>
          </a:xfrm>
        </p:spPr>
        <p:txBody>
          <a:bodyPr/>
          <a:lstStyle/>
          <a:p>
            <a:r>
              <a:rPr lang="en-US" b="1"/>
              <a:t>COMMON CAUSES</a:t>
            </a:r>
          </a:p>
        </p:txBody>
      </p:sp>
      <p:pic>
        <p:nvPicPr>
          <p:cNvPr id="4" name="Content Placeholder 3" descr="pneumonia pathogens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41425" y="1180465"/>
            <a:ext cx="9255760" cy="55213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SYMPTOMS OF PNEUMONIA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0265"/>
          </a:xfrm>
        </p:spPr>
        <p:txBody>
          <a:bodyPr>
            <a:normAutofit fontScale="90000" lnSpcReduction="20000"/>
          </a:bodyPr>
          <a:lstStyle/>
          <a:p>
            <a:r>
              <a:rPr lang="en-US" altLang="en-US"/>
              <a:t>Cough: The hallmark, can be Productive or Dry.</a:t>
            </a:r>
          </a:p>
          <a:p>
            <a:endParaRPr lang="en-US" altLang="en-US"/>
          </a:p>
          <a:p>
            <a:r>
              <a:rPr lang="en-US" altLang="en-US"/>
              <a:t>Fever, headache,</a:t>
            </a:r>
          </a:p>
          <a:p>
            <a:endParaRPr lang="en-US" altLang="en-US"/>
          </a:p>
          <a:p>
            <a:r>
              <a:rPr lang="en-US" altLang="en-US"/>
              <a:t>Respiratory-, dyspnea, pleuritic chest pain </a:t>
            </a:r>
          </a:p>
          <a:p>
            <a:endParaRPr lang="en-US" altLang="en-US"/>
          </a:p>
          <a:p>
            <a:r>
              <a:rPr lang="en-US" altLang="en-US"/>
              <a:t>Other: Fatigue, myalgias, loss of appetite.</a:t>
            </a:r>
          </a:p>
          <a:p>
            <a:endParaRPr lang="en-US" altLang="en-US"/>
          </a:p>
          <a:p>
            <a:r>
              <a:rPr lang="en-US" altLang="en-US"/>
              <a:t>Geriatrics - Confusion, no fever, sudden decline of function</a:t>
            </a:r>
          </a:p>
          <a:p>
            <a:endParaRPr lang="en-US" altLang="en-US"/>
          </a:p>
          <a:p>
            <a:r>
              <a:rPr lang="en-US" altLang="en-US"/>
              <a:t>Immunocompromised- minimal finding despite severe disease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SIGNS OF PNEUMONIA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Inspection: Nasal flaring, accessory muscle use. tachypnoeic</a:t>
            </a:r>
          </a:p>
          <a:p>
            <a:endParaRPr lang="en-US" altLang="en-US"/>
          </a:p>
          <a:p>
            <a:r>
              <a:rPr lang="en-US" altLang="en-US"/>
              <a:t>Palpation: Increased tactile fremitus, reduced chest expansion</a:t>
            </a:r>
          </a:p>
          <a:p>
            <a:endParaRPr lang="en-US" altLang="en-US"/>
          </a:p>
          <a:p>
            <a:r>
              <a:rPr lang="en-US" altLang="en-US"/>
              <a:t>Percussion: Dullness (Consolidation) or Stony dull (Effusion).</a:t>
            </a:r>
          </a:p>
          <a:p>
            <a:endParaRPr lang="en-US" altLang="en-US"/>
          </a:p>
          <a:p>
            <a:r>
              <a:rPr lang="en-US" altLang="en-US"/>
              <a:t>Auscultation: Bronchial breath sounds, Egophony ("E-to-A" sound), Crackles.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ym typeface="+mn-ea"/>
              </a:rPr>
              <a:t>EXTRA PULMONARY SX-Atypical Pathogens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69720"/>
            <a:ext cx="10515600" cy="4607560"/>
          </a:xfrm>
        </p:spPr>
        <p:txBody>
          <a:bodyPr/>
          <a:lstStyle/>
          <a:p>
            <a:r>
              <a:rPr lang="en-US" altLang="en-US" b="1">
                <a:sym typeface="+mn-ea"/>
              </a:rPr>
              <a:t>Legionella pneumophila</a:t>
            </a:r>
            <a:endParaRPr lang="en-US" altLang="en-US" b="1"/>
          </a:p>
          <a:p>
            <a:r>
              <a:rPr lang="en-US" altLang="en-US">
                <a:sym typeface="+mn-ea"/>
              </a:rPr>
              <a:t>Hyponatremia (Na &lt;130 mEq/L) due to SIADH.</a:t>
            </a:r>
            <a:endParaRPr lang="en-US" altLang="en-US"/>
          </a:p>
          <a:p>
            <a:r>
              <a:rPr lang="en-US" altLang="en-US">
                <a:sym typeface="+mn-ea"/>
              </a:rPr>
              <a:t>Diarrhea (Watery, early).</a:t>
            </a:r>
            <a:endParaRPr lang="en-US" altLang="en-US"/>
          </a:p>
          <a:p>
            <a:r>
              <a:rPr lang="en-US" altLang="en-US">
                <a:sym typeface="+mn-ea"/>
              </a:rPr>
              <a:t>Elevated CK and Bradycardia relative to fever.</a:t>
            </a:r>
            <a:endParaRPr lang="en-US" altLang="en-US"/>
          </a:p>
          <a:p>
            <a:endParaRPr lang="en-US" altLang="en-US"/>
          </a:p>
          <a:p>
            <a:r>
              <a:rPr lang="en-US" altLang="en-US" b="1">
                <a:sym typeface="+mn-ea"/>
              </a:rPr>
              <a:t>Mycoplasma pneumoniae</a:t>
            </a:r>
            <a:endParaRPr lang="en-US" altLang="en-US"/>
          </a:p>
          <a:p>
            <a:r>
              <a:rPr lang="en-US" altLang="en-US">
                <a:sym typeface="+mn-ea"/>
              </a:rPr>
              <a:t>Bullous Myringitis (painful blisters on tympanic membrane).</a:t>
            </a:r>
            <a:endParaRPr lang="en-US" altLang="en-US"/>
          </a:p>
          <a:p>
            <a:r>
              <a:rPr lang="en-US" altLang="en-US">
                <a:sym typeface="+mn-ea"/>
              </a:rPr>
              <a:t>Cold Agglutinin Disease (Hemolytic anemia, acrocyanosis).</a:t>
            </a:r>
            <a:endParaRPr lang="en-US" altLang="en-US"/>
          </a:p>
          <a:p>
            <a:r>
              <a:rPr lang="en-US" altLang="en-US">
                <a:sym typeface="+mn-ea"/>
              </a:rPr>
              <a:t>Erythema Multiforme / Stevens-Johnson overlap.</a:t>
            </a:r>
            <a:endParaRPr lang="en-US" altLang="en-US"/>
          </a:p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CLINICAL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Cough + fever = infection. untill proven otherwise</a:t>
            </a:r>
          </a:p>
          <a:p>
            <a:r>
              <a:rPr lang="en-US"/>
              <a:t>exclude pneumonia mimics</a:t>
            </a:r>
          </a:p>
          <a:p>
            <a:r>
              <a:rPr lang="en-US" altLang="en-US"/>
              <a:t>Syndromic classification</a:t>
            </a:r>
          </a:p>
          <a:p>
            <a:endParaRPr lang="en-US" altLang="en-US"/>
          </a:p>
          <a:p>
            <a:r>
              <a:rPr lang="en-US" altLang="en-US"/>
              <a:t>Acute (&lt;3 weeks) → pneumonia, PE</a:t>
            </a:r>
          </a:p>
          <a:p>
            <a:r>
              <a:rPr lang="en-US" altLang="en-US"/>
              <a:t>Subacute (3–8 weeks) → TB, atypical pneumonia</a:t>
            </a:r>
          </a:p>
          <a:p>
            <a:r>
              <a:rPr lang="en-US" altLang="en-US"/>
              <a:t>Chronic (&gt;8 weeks) → TB, malignancy, HF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RED FLAGS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95730"/>
            <a:ext cx="10515600" cy="4781550"/>
          </a:xfrm>
        </p:spPr>
        <p:txBody>
          <a:bodyPr>
            <a:normAutofit/>
          </a:bodyPr>
          <a:lstStyle/>
          <a:p>
            <a:r>
              <a:rPr lang="en-US" altLang="en-US"/>
              <a:t>Hemoptysis (Coughing blood)</a:t>
            </a:r>
          </a:p>
          <a:p>
            <a:r>
              <a:rPr lang="en-US" altLang="en-US"/>
              <a:t>Dyspnea (Shortness of breath at rest)</a:t>
            </a:r>
          </a:p>
          <a:p>
            <a:r>
              <a:rPr lang="en-US" altLang="en-US"/>
              <a:t>Altered Mental Status (Hypoxia or Sepsis)</a:t>
            </a:r>
          </a:p>
          <a:p>
            <a:r>
              <a:rPr lang="en-US" altLang="en-US"/>
              <a:t>High Fever (&gt;38.5°C, &gt; 72 hours duration)</a:t>
            </a:r>
          </a:p>
          <a:p>
            <a:r>
              <a:rPr lang="en-US" altLang="en-US"/>
              <a:t>Hypotension (SBP &lt; 90)</a:t>
            </a:r>
          </a:p>
          <a:p>
            <a:r>
              <a:rPr lang="en-US" altLang="en-US"/>
              <a:t>Hypoxia (SpO2 &lt; 90% on room air)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5815"/>
          </a:xfrm>
        </p:spPr>
        <p:txBody>
          <a:bodyPr/>
          <a:lstStyle/>
          <a:p>
            <a:r>
              <a:rPr lang="en-US" b="1">
                <a:sym typeface="+mn-ea"/>
              </a:rPr>
              <a:t>DIFFERENTIALS/ MIMICS</a:t>
            </a:r>
            <a:endParaRPr lang="en-US" b="1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873125" y="1170305"/>
          <a:ext cx="10515600" cy="5317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8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16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5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KEY FEATURES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465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HEART FAILURE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Bil infiltrates, </a:t>
                      </a:r>
                      <a:r>
                        <a:rPr lang="en-US" altLang="en-US" sz="2200">
                          <a:sym typeface="+mn-ea"/>
                        </a:rPr>
                        <a:t>Orthopnea, PND</a:t>
                      </a:r>
                    </a:p>
                    <a:p>
                      <a:pPr>
                        <a:buNone/>
                      </a:pPr>
                      <a:r>
                        <a:rPr lang="en-US" altLang="en-US" sz="2200">
                          <a:sym typeface="+mn-ea"/>
                        </a:rPr>
                        <a:t>Frothy sputum, volume overload signs</a:t>
                      </a:r>
                      <a:endParaRPr lang="en-US" altLang="en-US" sz="2200"/>
                    </a:p>
                    <a:p>
                      <a:pPr>
                        <a:buNone/>
                      </a:pPr>
                      <a:r>
                        <a:rPr lang="en-US" altLang="en-US" sz="2200">
                          <a:sym typeface="+mn-ea"/>
                        </a:rPr>
                        <a:t>No high-grade fever, CXR: cardiomegaly, pulmonary edema</a:t>
                      </a:r>
                      <a:endParaRPr lang="en-US" sz="2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2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TB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2200">
                          <a:sym typeface="+mn-ea"/>
                        </a:rPr>
                        <a:t>Chronic cough (&gt;2–3 weeks)</a:t>
                      </a:r>
                      <a:endParaRPr lang="en-US" altLang="en-US" sz="2200"/>
                    </a:p>
                    <a:p>
                      <a:pPr>
                        <a:buNone/>
                      </a:pPr>
                      <a:r>
                        <a:rPr lang="en-US" altLang="en-US" sz="2200">
                          <a:sym typeface="+mn-ea"/>
                        </a:rPr>
                        <a:t>Low-grade fever, night sweats, weight loss</a:t>
                      </a:r>
                      <a:endParaRPr lang="en-US" altLang="en-US" sz="2200"/>
                    </a:p>
                    <a:p>
                      <a:pPr>
                        <a:buNone/>
                      </a:pPr>
                      <a:r>
                        <a:rPr lang="en-US" altLang="en-US" sz="2200">
                          <a:sym typeface="+mn-ea"/>
                        </a:rPr>
                        <a:t>Hemoptysis, Upper lobe involvement (CXR)</a:t>
                      </a:r>
                      <a:endParaRPr lang="en-US" altLang="en-US" sz="2200"/>
                    </a:p>
                    <a:p>
                      <a:pPr>
                        <a:buNone/>
                      </a:pPr>
                      <a:r>
                        <a:rPr lang="en-US" altLang="en-US" sz="2200">
                          <a:sym typeface="+mn-ea"/>
                        </a:rPr>
                        <a:t>Poor response to standard antibiotics</a:t>
                      </a:r>
                      <a:endParaRPr lang="en-US" altLang="en-US" sz="2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624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2200">
                          <a:sym typeface="+mn-ea"/>
                        </a:rPr>
                        <a:t>Acute dyspnea + pleuritic chest pain</a:t>
                      </a:r>
                      <a:endParaRPr lang="en-US" altLang="en-US" sz="2200"/>
                    </a:p>
                    <a:p>
                      <a:pPr>
                        <a:buNone/>
                      </a:pPr>
                      <a:r>
                        <a:rPr lang="en-US" altLang="en-US" sz="2200">
                          <a:sym typeface="+mn-ea"/>
                        </a:rPr>
                        <a:t>+/- Mild fever, Hemoptysis</a:t>
                      </a:r>
                      <a:endParaRPr lang="en-US" altLang="en-US" sz="2200"/>
                    </a:p>
                    <a:p>
                      <a:pPr>
                        <a:buNone/>
                      </a:pPr>
                      <a:r>
                        <a:rPr lang="en-US" altLang="en-US" sz="2200">
                          <a:sym typeface="+mn-ea"/>
                        </a:rPr>
                        <a:t>Risk factors (immobility, surgery, cancer)</a:t>
                      </a:r>
                      <a:endParaRPr lang="en-US" altLang="en-US" sz="2200"/>
                    </a:p>
                    <a:p>
                      <a:pPr>
                        <a:buNone/>
                      </a:pPr>
                      <a:r>
                        <a:rPr lang="en-US" altLang="en-US" sz="2200">
                          <a:sym typeface="+mn-ea"/>
                        </a:rPr>
                        <a:t>Normal or subtle CXR</a:t>
                      </a:r>
                      <a:endParaRPr lang="en-US" altLang="en-US" sz="2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Lung Cancer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persistent opacity, weight loss, cough, obstructive symptoms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SEVERETY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CURB -65</a:t>
            </a:r>
          </a:p>
          <a:p>
            <a:pPr marL="0" indent="0">
              <a:buNone/>
            </a:pPr>
            <a:r>
              <a:rPr lang="en-US"/>
              <a:t>5 variable. (hospital)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CRB - 65  (</a:t>
            </a:r>
            <a:r>
              <a:rPr lang="en-US" altLang="en-US"/>
              <a:t>Primary care)</a:t>
            </a:r>
          </a:p>
          <a:p>
            <a:endParaRPr lang="en-US" altLang="en-US"/>
          </a:p>
          <a:p>
            <a:r>
              <a:rPr lang="en-US"/>
              <a:t>PSI ( Pneumonia severity index)</a:t>
            </a:r>
          </a:p>
          <a:p>
            <a:pPr marL="0" indent="0">
              <a:buNone/>
            </a:pPr>
            <a:r>
              <a:rPr lang="en-US" altLang="en-US"/>
              <a:t>Very accurate but complex (20 variables). </a:t>
            </a:r>
          </a:p>
          <a:p>
            <a:pPr marL="0" indent="0">
              <a:buNone/>
            </a:pPr>
            <a:r>
              <a:rPr lang="en-US" altLang="en-US"/>
              <a:t>Used in tertiary setting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CURB 65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/>
              <a:t>Parameters</a:t>
            </a:r>
          </a:p>
          <a:p>
            <a:r>
              <a:rPr lang="en-US"/>
              <a:t>Confusion = GCS &lt;15</a:t>
            </a:r>
          </a:p>
          <a:p>
            <a:r>
              <a:rPr lang="en-US"/>
              <a:t>BUN &gt;19mg/dl /7mmol/L</a:t>
            </a:r>
          </a:p>
          <a:p>
            <a:r>
              <a:rPr lang="en-US"/>
              <a:t>RR =/&gt; 30 breaths/min</a:t>
            </a:r>
          </a:p>
          <a:p>
            <a:r>
              <a:rPr lang="en-US"/>
              <a:t>SBP &lt;90mmHg /DBP &lt;60 mmHg</a:t>
            </a:r>
          </a:p>
          <a:p>
            <a:r>
              <a:rPr lang="en-US"/>
              <a:t>Age =/ &gt; 65 years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>
                <a:sym typeface="+mn-ea"/>
              </a:rPr>
              <a:t>Adults are stratified for risk of death as follows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     - 0 or 1: low risk (less than 3% mortality risk)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457200">
              <a:buNone/>
            </a:pPr>
            <a:r>
              <a:rPr lang="en-US" altLang="en-US">
                <a:sym typeface="+mn-ea"/>
              </a:rPr>
              <a:t>- 2: intermediate risk (3% to 15% mortality risk) </a:t>
            </a:r>
            <a:endParaRPr lang="en-US" altLang="en-US"/>
          </a:p>
          <a:p>
            <a:pPr marL="0" indent="457200">
              <a:buNone/>
            </a:pPr>
            <a:endParaRPr lang="en-US" altLang="en-US"/>
          </a:p>
          <a:p>
            <a:pPr marL="0" indent="457200">
              <a:buNone/>
            </a:pPr>
            <a:r>
              <a:rPr lang="en-US" altLang="en-US">
                <a:sym typeface="+mn-ea"/>
              </a:rPr>
              <a:t>- 3 to 5: high risk (more than 15% mortality risk).</a:t>
            </a:r>
            <a:endParaRPr lang="en-US" altLang="en-US"/>
          </a:p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CURB-65 Limitations</a:t>
            </a:r>
          </a:p>
          <a:p>
            <a:pPr marL="0" indent="0">
              <a:buNone/>
            </a:pPr>
            <a:r>
              <a:rPr lang="en-US"/>
              <a:t>- underestimate severity in young patient</a:t>
            </a:r>
          </a:p>
          <a:p>
            <a:pPr marL="0" indent="0">
              <a:buNone/>
            </a:pPr>
            <a:r>
              <a:rPr lang="en-US"/>
              <a:t>- always combine with clinical judgment and Oxygenation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Hypoxia is a key ICU trigger.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Other severity assessment tools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20000"/>
          </a:bodyPr>
          <a:lstStyle/>
          <a:p>
            <a:r>
              <a:rPr lang="en-US" b="1"/>
              <a:t>SMART - COP</a:t>
            </a:r>
          </a:p>
          <a:p>
            <a:r>
              <a:rPr lang="en-US"/>
              <a:t>SBP &lt;=90mmHg</a:t>
            </a:r>
          </a:p>
          <a:p>
            <a:r>
              <a:rPr lang="en-US"/>
              <a:t>Multilobar involvement on chest X ray</a:t>
            </a:r>
          </a:p>
          <a:p>
            <a:r>
              <a:rPr lang="en-US"/>
              <a:t>Albumin &lt; 3.5g/dl</a:t>
            </a:r>
          </a:p>
          <a:p>
            <a:r>
              <a:rPr lang="en-US"/>
              <a:t>RR &gt;/= 30/min</a:t>
            </a:r>
          </a:p>
          <a:p>
            <a:r>
              <a:rPr lang="en-US"/>
              <a:t>HR =/&gt; 125bpm</a:t>
            </a:r>
          </a:p>
          <a:p>
            <a:r>
              <a:rPr lang="en-US"/>
              <a:t>Arterial Blood PH &lt; 7.35</a:t>
            </a:r>
          </a:p>
          <a:p>
            <a:r>
              <a:rPr lang="en-US"/>
              <a:t>New confusion</a:t>
            </a:r>
          </a:p>
          <a:p>
            <a:r>
              <a:rPr lang="en-US"/>
              <a:t>O2 Saturation &lt; 90%</a:t>
            </a:r>
          </a:p>
          <a:p>
            <a:pPr marL="0" indent="0" algn="r">
              <a:buNone/>
            </a:pP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/>
              <a:t>NEWS2 </a:t>
            </a:r>
          </a:p>
          <a:p>
            <a:r>
              <a:rPr lang="en-US"/>
              <a:t>RR </a:t>
            </a:r>
          </a:p>
          <a:p>
            <a:r>
              <a:rPr lang="en-US"/>
              <a:t>Sp02</a:t>
            </a:r>
          </a:p>
          <a:p>
            <a:r>
              <a:rPr lang="en-US"/>
              <a:t>SBP</a:t>
            </a:r>
          </a:p>
          <a:p>
            <a:r>
              <a:rPr lang="en-US"/>
              <a:t>HR</a:t>
            </a:r>
          </a:p>
          <a:p>
            <a:r>
              <a:rPr lang="en-US"/>
              <a:t>Level of consciousness</a:t>
            </a:r>
          </a:p>
          <a:p>
            <a:r>
              <a:rPr lang="en-US"/>
              <a:t>Temperature</a:t>
            </a:r>
          </a:p>
          <a:p>
            <a:r>
              <a:rPr lang="en-US"/>
              <a:t>+2 if on oxygen therapy</a:t>
            </a:r>
          </a:p>
          <a:p>
            <a:pPr algn="r"/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/>
              <a:t>Sensitivity of CURB over other severity assessment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altLang="en-US" sz="1800" i="1"/>
          </a:p>
          <a:p>
            <a:endParaRPr lang="en-US" altLang="en-US" sz="1800" b="1" i="1"/>
          </a:p>
          <a:p>
            <a:endParaRPr lang="en-US" altLang="en-US" sz="1800" b="1" i="1"/>
          </a:p>
          <a:p>
            <a:endParaRPr lang="en-US" altLang="en-US" sz="1800" b="1" i="1"/>
          </a:p>
          <a:p>
            <a:endParaRPr lang="en-US" altLang="en-US" sz="1800" b="1" i="1"/>
          </a:p>
          <a:p>
            <a:endParaRPr lang="en-US" altLang="en-US" sz="1800" b="1" i="1"/>
          </a:p>
          <a:p>
            <a:endParaRPr lang="en-US" altLang="en-US" sz="1800" b="1" i="1"/>
          </a:p>
          <a:p>
            <a:endParaRPr lang="en-US" altLang="en-US" sz="1800" b="1" i="1"/>
          </a:p>
          <a:p>
            <a:endParaRPr lang="en-US" altLang="en-US" sz="1800" b="1" i="1"/>
          </a:p>
          <a:p>
            <a:endParaRPr lang="en-US" altLang="en-US" sz="1800" b="1" i="1"/>
          </a:p>
          <a:p>
            <a:r>
              <a:rPr lang="en-US" altLang="en-US" sz="1800" b="1" i="1"/>
              <a:t>Barry, AA., Kumari, N., et al., 2025. Advanced Pneumonia Prognostication: Superior Performance of NEWS2 over CURB-65 and SMART-COP. Medical Research Archives, [online] 13(8). https://doi.org/10.18103/mra.v13i8.6687 European Society of Medicine 14th August 2025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880" y="1691005"/>
            <a:ext cx="9331325" cy="36093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84455"/>
            <a:ext cx="10224770" cy="677354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710"/>
          </a:xfrm>
        </p:spPr>
        <p:txBody>
          <a:bodyPr/>
          <a:lstStyle/>
          <a:p>
            <a:r>
              <a:rPr lang="en-US" b="1"/>
              <a:t>Labs workup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838200" y="1301750"/>
          <a:ext cx="10515600" cy="52844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03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57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EVIDENCE/GUIDELINE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4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FBP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neutrophilia, lymphocytosis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non specific but routine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CRP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Inflammatory marker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4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Procalcitonin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bacteria vs viral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ATS 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4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Urea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severity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strong prognostic value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HIV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Risk stratification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WHO recomendations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ABG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Severity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RBG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Risk stratification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24585"/>
          </a:xfrm>
        </p:spPr>
        <p:txBody>
          <a:bodyPr/>
          <a:lstStyle/>
          <a:p>
            <a:r>
              <a:rPr lang="en-US" b="1"/>
              <a:t>MICROBIOLOGY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838200" y="1490345"/>
          <a:ext cx="10515600" cy="49587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4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8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INDICATION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EVIDENCE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8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Sputum gram stain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moderate- severe CAP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low sensitive, useful when +ve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8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Sputum culture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Severe or non responding pneumonia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helps target therapy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8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Blood culture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severe CAP/ ICU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recomended before antibiotics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8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urinary antigen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Legionella/ pneumococcus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rapid diagnosis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8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Multiplex PCR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Viral and atypical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MULTI-CAP Trial 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4880"/>
          </a:xfrm>
        </p:spPr>
        <p:txBody>
          <a:bodyPr/>
          <a:lstStyle/>
          <a:p>
            <a:r>
              <a:rPr lang="en-US" b="1"/>
              <a:t>IMAGING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10005"/>
            <a:ext cx="10515600" cy="534924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/>
              <a:t>1. Chest X-Ray. </a:t>
            </a:r>
          </a:p>
          <a:p>
            <a:pPr marL="0" indent="0">
              <a:buNone/>
            </a:pPr>
            <a:r>
              <a:rPr lang="en-US"/>
              <a:t>- gold standard initial test         </a:t>
            </a:r>
          </a:p>
          <a:p>
            <a:pPr marL="0" indent="0">
              <a:buNone/>
            </a:pPr>
            <a:r>
              <a:rPr lang="en-US"/>
              <a:t>- confirm diagnosis           - within 4 hours of admission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2. Lung Ultrasound</a:t>
            </a:r>
          </a:p>
          <a:p>
            <a:pPr marL="0" indent="0">
              <a:buNone/>
            </a:pPr>
            <a:r>
              <a:rPr lang="en-US"/>
              <a:t>- </a:t>
            </a:r>
            <a:r>
              <a:rPr lang="en-US" altLang="en-US">
                <a:sym typeface="+mn-ea"/>
              </a:rPr>
              <a:t>Real-time bedside tool (ICU/emergency)</a:t>
            </a:r>
          </a:p>
          <a:p>
            <a:pPr marL="0" indent="0">
              <a:buNone/>
            </a:pPr>
            <a:r>
              <a:rPr lang="en-US" altLang="en-US">
                <a:sym typeface="+mn-ea"/>
              </a:rPr>
              <a:t>- Possible alternative diagnosis Eg HF</a:t>
            </a:r>
          </a:p>
          <a:p>
            <a:pPr marL="0" indent="0">
              <a:buNone/>
            </a:pPr>
            <a:endParaRPr lang="en-US" altLang="en-US">
              <a:sym typeface="+mn-ea"/>
            </a:endParaRPr>
          </a:p>
          <a:p>
            <a:pPr marL="0" indent="0">
              <a:buNone/>
            </a:pPr>
            <a:r>
              <a:rPr lang="en-US" altLang="en-US">
                <a:sym typeface="+mn-ea"/>
              </a:rPr>
              <a:t>3. Chest CT</a:t>
            </a:r>
          </a:p>
          <a:p>
            <a:pPr marL="0" indent="0">
              <a:buNone/>
            </a:pPr>
            <a:r>
              <a:rPr lang="en-US" altLang="en-US">
                <a:sym typeface="+mn-ea"/>
              </a:rPr>
              <a:t>- Complications or unclear cases</a:t>
            </a:r>
            <a:endParaRPr lang="en-US" alt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365125"/>
            <a:ext cx="10819765" cy="616902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PRINCIPLES OF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en-US"/>
              <a:t>Resuscitate: Oxygen for SpO2 &lt; 92%. Fluids for shock.</a:t>
            </a:r>
          </a:p>
          <a:p>
            <a:endParaRPr lang="en-US" altLang="en-US"/>
          </a:p>
          <a:p>
            <a:r>
              <a:rPr lang="en-US" altLang="en-US"/>
              <a:t>Treat: Antibiotics (Empiric, then Targeted).</a:t>
            </a:r>
          </a:p>
          <a:p>
            <a:endParaRPr lang="en-US" altLang="en-US"/>
          </a:p>
          <a:p>
            <a:r>
              <a:rPr lang="en-US" altLang="en-US"/>
              <a:t>Monitor: Clinical stability (Temp, HR, RR, BP, O2).</a:t>
            </a:r>
          </a:p>
          <a:p>
            <a:endParaRPr lang="en-US" altLang="en-US"/>
          </a:p>
          <a:p>
            <a:r>
              <a:rPr lang="en-US" altLang="en-US"/>
              <a:t>Prevent: Vaccines, mobilize, swallow assessment.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Antibiotic treatment for 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severity of symptoms or signs, based on clinical judgement and CURB-65 score </a:t>
            </a:r>
          </a:p>
          <a:p>
            <a:endParaRPr lang="en-US" altLang="en-US"/>
          </a:p>
          <a:p>
            <a:r>
              <a:rPr lang="en-US" altLang="en-US"/>
              <a:t>risk of developing complications, Eg relevant comorbidity such as severe lung disease or immunosuppression </a:t>
            </a:r>
          </a:p>
          <a:p>
            <a:endParaRPr lang="en-US" altLang="en-US"/>
          </a:p>
          <a:p>
            <a:r>
              <a:rPr lang="en-US" altLang="en-US"/>
              <a:t>local antimicrobial resistance</a:t>
            </a:r>
          </a:p>
          <a:p>
            <a:r>
              <a:rPr lang="en-US" altLang="en-US"/>
              <a:t>recent antibiotic use </a:t>
            </a:r>
          </a:p>
          <a:p>
            <a:r>
              <a:rPr lang="en-US" altLang="en-US"/>
              <a:t>recent microbiological results, i.e colonisation with MDR</a:t>
            </a:r>
          </a:p>
          <a:p>
            <a:pPr marL="0" indent="0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 Empiric Therapeutics: Outpatient 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Low-Risk (No Comorbidities):</a:t>
            </a:r>
          </a:p>
          <a:p>
            <a:endParaRPr lang="en-US" altLang="en-US"/>
          </a:p>
          <a:p>
            <a:r>
              <a:rPr lang="en-US" altLang="en-US"/>
              <a:t>Therapy: Amoxicillin 1g TID OR </a:t>
            </a:r>
          </a:p>
          <a:p>
            <a:r>
              <a:rPr lang="en-US" altLang="en-US"/>
              <a:t>Doxycycline 200mg stat then 100mg od 4/7</a:t>
            </a:r>
          </a:p>
          <a:p>
            <a:endParaRPr lang="en-US" altLang="en-US"/>
          </a:p>
          <a:p>
            <a:r>
              <a:rPr lang="en-US" altLang="en-US"/>
              <a:t>Note: Macrolide monotherapy failing due to &gt;30% S. pneumoniae resistance in US.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Inpatient CAP (Moderate Severity)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9395"/>
            <a:ext cx="10515600" cy="4969510"/>
          </a:xfrm>
        </p:spPr>
        <p:txBody>
          <a:bodyPr>
            <a:noAutofit/>
          </a:bodyPr>
          <a:lstStyle/>
          <a:p>
            <a:r>
              <a:rPr lang="en-US" altLang="en-US"/>
              <a:t>First-Line Options:</a:t>
            </a:r>
          </a:p>
          <a:p>
            <a:r>
              <a:rPr lang="en-US" altLang="en-US"/>
              <a:t>Oral Amoxicillin 500 mg TDS for 5 days.</a:t>
            </a:r>
          </a:p>
          <a:p>
            <a:r>
              <a:rPr lang="en-US" altLang="en-US"/>
              <a:t>Add Clarithromycin 500 mg BD if atypical pathogens are suspected.</a:t>
            </a:r>
          </a:p>
          <a:p>
            <a:endParaRPr lang="en-US" altLang="en-US"/>
          </a:p>
          <a:p>
            <a:r>
              <a:rPr lang="en-US" altLang="en-US"/>
              <a:t>Alternatives (Penicillin Allergy):</a:t>
            </a:r>
          </a:p>
          <a:p>
            <a:endParaRPr lang="en-US" altLang="en-US"/>
          </a:p>
          <a:p>
            <a:r>
              <a:rPr lang="en-US" altLang="en-US"/>
              <a:t>Doxycycline OR Clarithromycin monotherapy.</a:t>
            </a:r>
          </a:p>
          <a:p>
            <a:r>
              <a:rPr lang="en-US" altLang="en-US"/>
              <a:t>Note on Fluoroquinolones: Avoid routine use due to MHRA/FDA warnings regarding long-lasting adverse effects; use only when other standard antibiotics are inappropriate.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ym typeface="+mn-ea"/>
              </a:rPr>
              <a:t>High-severity disease CAP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lstStyle/>
          <a:p>
            <a:r>
              <a:rPr lang="en-US" altLang="en-US"/>
              <a:t>first line antibiotics </a:t>
            </a:r>
          </a:p>
          <a:p>
            <a:r>
              <a:rPr lang="en-US" altLang="en-US"/>
              <a:t>Co-amoxiclav: </a:t>
            </a:r>
          </a:p>
          <a:p>
            <a:r>
              <a:rPr lang="en-US" altLang="en-US"/>
              <a:t>500/125 mg three times a day orally or 1.2 g three </a:t>
            </a:r>
          </a:p>
          <a:p>
            <a:pPr marL="0" indent="0">
              <a:buNone/>
            </a:pPr>
            <a:r>
              <a:rPr lang="en-US" altLang="en-US"/>
              <a:t>   times a day intravenously for 5 days </a:t>
            </a:r>
          </a:p>
          <a:p>
            <a:pPr marL="0" indent="0">
              <a:buNone/>
            </a:pPr>
            <a:r>
              <a:rPr lang="en-US" altLang="en-US"/>
              <a:t>            PLUS</a:t>
            </a:r>
          </a:p>
          <a:p>
            <a:r>
              <a:rPr lang="en-US" altLang="en-US"/>
              <a:t>Clarithromycin 500 mg BID PO or intravenously for 5 days </a:t>
            </a:r>
          </a:p>
          <a:p>
            <a:endParaRPr lang="en-US" altLang="en-US"/>
          </a:p>
          <a:p>
            <a:r>
              <a:rPr lang="en-US" altLang="en-US"/>
              <a:t>Or </a:t>
            </a:r>
          </a:p>
          <a:p>
            <a:r>
              <a:rPr lang="en-US" altLang="en-US"/>
              <a:t>Erythromycin (in pregnancy): 500 mg four times a day PO for 5 days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alternative antibiotic for penicillin allergy</a:t>
            </a:r>
          </a:p>
          <a:p>
            <a:endParaRPr lang="en-US" altLang="en-US"/>
          </a:p>
          <a:p>
            <a:r>
              <a:rPr lang="en-US" altLang="en-US">
                <a:sym typeface="+mn-ea"/>
              </a:rPr>
              <a:t>Levofloxacin 750 mg once daily 5/7</a:t>
            </a:r>
          </a:p>
          <a:p>
            <a:pPr marL="0" indent="0">
              <a:buNone/>
            </a:pPr>
            <a:r>
              <a:rPr lang="en-US" altLang="en-US"/>
              <a:t>               or</a:t>
            </a:r>
          </a:p>
          <a:p>
            <a:pPr marL="0" indent="0">
              <a:buNone/>
            </a:pPr>
            <a:r>
              <a:rPr lang="en-US" altLang="en-US"/>
              <a:t>   Levofloxacin 500mg bd 5/7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/>
              <a:t>Management of Hospital-Acquired Pneumonia (HAP)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53210"/>
            <a:ext cx="10515600" cy="4909820"/>
          </a:xfrm>
        </p:spPr>
        <p:txBody>
          <a:bodyPr>
            <a:noAutofit/>
          </a:bodyPr>
          <a:lstStyle/>
          <a:p>
            <a:r>
              <a:rPr lang="en-US" altLang="en-US" b="1"/>
              <a:t>Early HAP (&lt;5 days post-admission, no high-risk factors)</a:t>
            </a:r>
          </a:p>
          <a:p>
            <a:endParaRPr lang="en-US" altLang="en-US"/>
          </a:p>
          <a:p>
            <a:r>
              <a:rPr lang="en-US" altLang="en-US"/>
              <a:t>First-line: Oral Co-amoxiclav for 5 days, then review.</a:t>
            </a:r>
          </a:p>
          <a:p>
            <a:endParaRPr lang="en-US" altLang="en-US"/>
          </a:p>
          <a:p>
            <a:r>
              <a:rPr lang="en-US" altLang="en-US" b="1"/>
              <a:t>Late/Severe HAP or High Risk of Resistance</a:t>
            </a:r>
          </a:p>
          <a:p>
            <a:r>
              <a:rPr lang="en-US" altLang="en-US"/>
              <a:t>Requires broad-spectrum IV therapy based on local data.</a:t>
            </a:r>
          </a:p>
          <a:p>
            <a:r>
              <a:rPr lang="en-US" altLang="en-US"/>
              <a:t>Options: Piperacillin-tazobactam, Ceftazidime, or Meropenem.</a:t>
            </a:r>
          </a:p>
          <a:p>
            <a:r>
              <a:rPr lang="en-US" altLang="en-US"/>
              <a:t>MRSA Suspected: Add dual therapy with IV Vancomycin ,Teicoplanin or Linezolid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/>
              <a:t>Managing Viral Pneumonia &amp; Antibiotic Stewardship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1640"/>
            <a:ext cx="10515600" cy="4485640"/>
          </a:xfrm>
        </p:spPr>
        <p:txBody>
          <a:bodyPr>
            <a:normAutofit fontScale="90000" lnSpcReduction="10000"/>
          </a:bodyPr>
          <a:lstStyle/>
          <a:p>
            <a:r>
              <a:rPr lang="en-US" altLang="en-US" b="1"/>
              <a:t>Outpatients with a Positive Viral Test</a:t>
            </a:r>
            <a:endParaRPr lang="en-US" altLang="en-US"/>
          </a:p>
          <a:p>
            <a:r>
              <a:rPr lang="en-US" altLang="en-US" b="1"/>
              <a:t>No Comorbidities</a:t>
            </a:r>
            <a:r>
              <a:rPr lang="en-US" altLang="en-US"/>
              <a:t>: It is suggested to WITHHOLD empiric antibiotics due to a low risk of bacterial coinfection.</a:t>
            </a:r>
          </a:p>
          <a:p>
            <a:endParaRPr lang="en-US" altLang="en-US"/>
          </a:p>
          <a:p>
            <a:r>
              <a:rPr lang="en-US" altLang="en-US" b="1"/>
              <a:t>With Comorbidities</a:t>
            </a:r>
            <a:r>
              <a:rPr lang="en-US" altLang="en-US"/>
              <a:t>: Prescribe antibiotics due to the high risk of severe outcomes from missed coinfections.</a:t>
            </a:r>
          </a:p>
          <a:p>
            <a:endParaRPr lang="en-US" altLang="en-US"/>
          </a:p>
          <a:p>
            <a:r>
              <a:rPr lang="en-US" altLang="en-US" b="1"/>
              <a:t>Inpatients WITH a Positive Viral Test</a:t>
            </a:r>
          </a:p>
          <a:p>
            <a:endParaRPr lang="en-US" altLang="en-US"/>
          </a:p>
          <a:p>
            <a:r>
              <a:rPr lang="en-US" altLang="en-US"/>
              <a:t>Prescribe empiric antibiotics universally, as the risk and mortality associated with viral-bacterial coinfection in hospitalized patients are very high.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Adjunctive Therapy: Corticosteroids in 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4790"/>
            <a:ext cx="10515600" cy="4953635"/>
          </a:xfrm>
        </p:spPr>
        <p:txBody>
          <a:bodyPr>
            <a:noAutofit/>
          </a:bodyPr>
          <a:lstStyle/>
          <a:p>
            <a:r>
              <a:rPr lang="en-US" altLang="en-US" sz="2700" b="1"/>
              <a:t>Nonsevere CAP</a:t>
            </a:r>
          </a:p>
          <a:p>
            <a:r>
              <a:rPr lang="en-US" altLang="en-US" sz="2700"/>
              <a:t>Strongly recommended AGAINST. Do not administer systemic corticosteroids, as the risk of hyperglycemia and secondary infections outweighs any benefit.</a:t>
            </a:r>
          </a:p>
          <a:p>
            <a:endParaRPr lang="en-US" altLang="en-US" sz="2700"/>
          </a:p>
          <a:p>
            <a:r>
              <a:rPr lang="en-US" altLang="en-US" sz="2700" b="1"/>
              <a:t>Severe CAP</a:t>
            </a:r>
          </a:p>
          <a:p>
            <a:r>
              <a:rPr lang="en-US" altLang="en-US" sz="2700"/>
              <a:t>Systemic corticosteroids are suggested (conditional recommendation), as they have been shown to reduce time in ICU and mortality.</a:t>
            </a:r>
          </a:p>
          <a:p>
            <a:r>
              <a:rPr lang="en-US" altLang="en-US" sz="2700"/>
              <a:t>Protocol: Consider IV Hydrocortisone (or Dexamethasone) for 4 to 7 days.</a:t>
            </a:r>
          </a:p>
          <a:p>
            <a:r>
              <a:rPr lang="en-US" altLang="en-US" sz="2700"/>
              <a:t>Exception: Do NOT use steroids if the severe CAP is caused by Influenza pneumonia.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Non-Invasive Respiratory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lstStyle/>
          <a:p>
            <a:r>
              <a:rPr lang="en-US" altLang="en-US"/>
              <a:t>Targeting Oxygenation: Standard oxygen therapy is the first line to maintain SpO2 &gt; 94% (or 88-92% in chronic retainers).</a:t>
            </a:r>
          </a:p>
          <a:p>
            <a:endParaRPr lang="en-US" altLang="en-US"/>
          </a:p>
          <a:p>
            <a:r>
              <a:rPr lang="en-US" altLang="en-US"/>
              <a:t>High-Flow Nasal Oxygen (HFNO): If standard oxygen is insufficient, consider a trial of HFNO. It is generally better tolerated and less invasive than CPAP.</a:t>
            </a:r>
          </a:p>
          <a:p>
            <a:endParaRPr lang="en-US" altLang="en-US"/>
          </a:p>
          <a:p>
            <a:r>
              <a:rPr lang="en-US" altLang="en-US"/>
              <a:t>CPAP/NIV: Consider specifically for patients with coexisting conditions that benefit from positive pressure, such as COPD exacerbations (Type 2 respiratory failure) or concurrent heart failure (acute pulmonary edema).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The Non-Responding Patient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9395"/>
            <a:ext cx="10515600" cy="4667885"/>
          </a:xfrm>
        </p:spPr>
        <p:txBody>
          <a:bodyPr>
            <a:noAutofit/>
          </a:bodyPr>
          <a:lstStyle/>
          <a:p>
            <a:r>
              <a:rPr lang="en-US" altLang="en-US" sz="2400"/>
              <a:t>Reassessment Criteria: Review the patient if symptoms fail to improve after 3 days, worsen rapidly, or systemic instability occurs.</a:t>
            </a:r>
          </a:p>
          <a:p>
            <a:endParaRPr lang="en-US" altLang="en-US" sz="2400"/>
          </a:p>
          <a:p>
            <a:r>
              <a:rPr lang="en-US" altLang="en-US" sz="2400"/>
              <a:t>Action Plan:</a:t>
            </a:r>
          </a:p>
          <a:p>
            <a:r>
              <a:rPr lang="en-US" altLang="en-US" sz="2400"/>
              <a:t>Repeat CRP/Procalcitonin to gauge biological response.</a:t>
            </a:r>
          </a:p>
          <a:p>
            <a:endParaRPr lang="en-US" altLang="en-US" sz="2400"/>
          </a:p>
          <a:p>
            <a:r>
              <a:rPr lang="en-US" altLang="en-US" sz="2400"/>
              <a:t>Send new microbiological samples (sputum/blood).</a:t>
            </a:r>
          </a:p>
          <a:p>
            <a:endParaRPr lang="en-US" altLang="en-US" sz="2400"/>
          </a:p>
          <a:p>
            <a:r>
              <a:rPr lang="en-US" altLang="en-US" sz="2400"/>
              <a:t>Broaden antibiotic coverage if resistant organisms are suspected </a:t>
            </a:r>
          </a:p>
          <a:p>
            <a:endParaRPr lang="en-US" altLang="en-US" sz="2400"/>
          </a:p>
          <a:p>
            <a:r>
              <a:rPr lang="en-US" altLang="en-US" sz="2400"/>
              <a:t>Investigate for alternative diagnoses (e.g., TB, lung cancer) or complications (e.g., empyema).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Pregnancy &amp; Immunocompromised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1005"/>
            <a:ext cx="10515600" cy="4486275"/>
          </a:xfrm>
        </p:spPr>
        <p:txBody>
          <a:bodyPr>
            <a:normAutofit fontScale="90000" lnSpcReduction="20000"/>
          </a:bodyPr>
          <a:lstStyle/>
          <a:p>
            <a:pPr marL="0" indent="0">
              <a:buNone/>
            </a:pPr>
            <a:r>
              <a:rPr lang="en-US" altLang="en-US" b="1"/>
              <a:t>PREGNANCY</a:t>
            </a:r>
          </a:p>
          <a:p>
            <a:r>
              <a:rPr lang="en-US" altLang="en-US"/>
              <a:t>Avoid Tetracyclines (Doxycycline) and standard Fluoroquinolones.</a:t>
            </a:r>
          </a:p>
          <a:p>
            <a:r>
              <a:rPr lang="en-US" altLang="en-US"/>
              <a:t>If a macrolide is necessary (e.g., severe penicillin allergy), Erythromycin is the preferred safe option.</a:t>
            </a:r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 b="1"/>
              <a:t>HIV/AIDS with PCP</a:t>
            </a:r>
          </a:p>
          <a:p>
            <a:pPr marL="0" indent="0">
              <a:buNone/>
            </a:pPr>
            <a:r>
              <a:rPr lang="en-US" altLang="en-US">
                <a:sym typeface="+mn-ea"/>
              </a:rPr>
              <a:t>Steroid is mandatory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Indication: Room air PaO2 &lt;70 mmHg OR A-a gradient &gt;35.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Timing: Steroids must be started before or concurrent with antibiotics</a:t>
            </a:r>
            <a:endParaRPr lang="en-US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Complications: Local Pulmonary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lstStyle/>
          <a:p>
            <a:r>
              <a:rPr lang="en-US" altLang="en-US"/>
              <a:t>Parapneumonic Effusion: Fluid accumulation in the pleural space. Usually sterile and resolves with antibiotics, but requires monitoring</a:t>
            </a:r>
          </a:p>
          <a:p>
            <a:r>
              <a:rPr lang="en-US" altLang="en-US"/>
              <a:t>Empyema: Infection of the pleural fluid (pus).</a:t>
            </a:r>
          </a:p>
          <a:p>
            <a:endParaRPr lang="en-US" altLang="en-US"/>
          </a:p>
          <a:p>
            <a:r>
              <a:rPr lang="en-US" altLang="en-US"/>
              <a:t>Signs: Persistent swinging fevers despite antibiotics, elevated CRP, dullness to percussion.</a:t>
            </a:r>
          </a:p>
          <a:p>
            <a:endParaRPr lang="en-US" altLang="en-US"/>
          </a:p>
          <a:p>
            <a:r>
              <a:rPr lang="en-US" altLang="en-US"/>
              <a:t>Management: Requires urgent pleural fluid aspiration, drainage via chest tube, and prolonged IV antibiotics.</a:t>
            </a:r>
          </a:p>
          <a:p>
            <a:endParaRPr lang="en-US" altLang="en-US"/>
          </a:p>
          <a:p>
            <a:r>
              <a:rPr lang="en-US" altLang="en-US"/>
              <a:t>Lung Abscess/Necrotizing Pneumonia: Often associated with S. aureus or Klebsiella; requires extended courses of tailored antibiotics.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Management of Parapneumonic Effusions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en-US" b="1"/>
              <a:t>Uncomplicated Effusion</a:t>
            </a:r>
          </a:p>
          <a:p>
            <a:r>
              <a:rPr lang="en-US" altLang="en-US"/>
              <a:t>Exudate, normal pH &gt;7.30, normal glucose.</a:t>
            </a:r>
          </a:p>
          <a:p>
            <a:r>
              <a:rPr lang="en-US" altLang="en-US"/>
              <a:t>Management: Antibiotics only. Do NOT place a chest tube.</a:t>
            </a:r>
          </a:p>
          <a:p>
            <a:endParaRPr lang="en-US" altLang="en-US"/>
          </a:p>
          <a:p>
            <a:r>
              <a:rPr lang="en-US" altLang="en-US" b="1"/>
              <a:t>Complicated Effusion</a:t>
            </a:r>
          </a:p>
          <a:p>
            <a:endParaRPr lang="en-US" altLang="en-US"/>
          </a:p>
          <a:p>
            <a:r>
              <a:rPr lang="en-US" altLang="en-US"/>
              <a:t>Criteria: pH &lt;7.20, Glucose &lt;60 mg/dL, LDH &gt;1000.</a:t>
            </a:r>
          </a:p>
          <a:p>
            <a:r>
              <a:rPr lang="en-US" altLang="en-US"/>
              <a:t>Management: Chest Tube Drainage.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Managing Progression - Empyema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/>
              <a:t>Definition: Frank pus OR positive Gram stain/culture of pleural fluid.</a:t>
            </a:r>
          </a:p>
          <a:p>
            <a:endParaRPr lang="en-US" altLang="en-US"/>
          </a:p>
          <a:p>
            <a:r>
              <a:rPr lang="en-US" altLang="en-US"/>
              <a:t>Physiology: Fibrin deposition leads to loculation and trapped lung.</a:t>
            </a:r>
          </a:p>
          <a:p>
            <a:endParaRPr lang="en-US" altLang="en-US"/>
          </a:p>
          <a:p>
            <a:r>
              <a:rPr lang="en-US" altLang="en-US"/>
              <a:t>Advanced Intervention (MIST2 Trial Protocol):</a:t>
            </a:r>
          </a:p>
          <a:p>
            <a:endParaRPr lang="en-US" altLang="en-US"/>
          </a:p>
          <a:p>
            <a:r>
              <a:rPr lang="en-US" altLang="en-US"/>
              <a:t>Drainage: Large-bore chest tube (or surgical VATS).</a:t>
            </a:r>
          </a:p>
          <a:p>
            <a:r>
              <a:rPr lang="en-US" altLang="en-US"/>
              <a:t>Therapy: Intrapleural tPA + DNase improves drainage and reduces surgical referral rates.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Systemic Complications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Sepsis and Septic Shock: Progression of the localized infection to a dysregulated systemic response, causing profound hypotension and organ failure. Requires aggressive fluid resuscitation and vasopressors.</a:t>
            </a:r>
          </a:p>
          <a:p>
            <a:endParaRPr lang="en-US" altLang="en-US"/>
          </a:p>
          <a:p>
            <a:r>
              <a:rPr lang="en-US" altLang="en-US"/>
              <a:t>ARDS (Acute Respiratory Distress Syndrome): Diffuse alveolar damage resulting in severe, refractory hypoxemia and bilateral opacities on imaging. Frequently necessitates intubation and protective mechanical ventilation.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Prevention Strategies: Vaccination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lstStyle/>
          <a:p>
            <a:r>
              <a:rPr lang="en-US" altLang="en-US"/>
              <a:t>Pneumococcal Vaccines: Crucial for high-risk groups (elderly, diabetics, chronic lung disease, HIV+ patients) to prevent invasive pneumococcal disease.</a:t>
            </a:r>
          </a:p>
          <a:p>
            <a:endParaRPr lang="en-US" altLang="en-US"/>
          </a:p>
          <a:p>
            <a:r>
              <a:rPr lang="en-US" altLang="en-US"/>
              <a:t>Influenza Vaccine: Annual vaccination reduces the risk of primary viral pneumonia and the devastating secondary bacterial coinfections associated with the flu.</a:t>
            </a:r>
          </a:p>
          <a:p>
            <a:endParaRPr lang="en-US" altLang="en-US"/>
          </a:p>
          <a:p>
            <a:r>
              <a:rPr lang="en-US" altLang="en-US"/>
              <a:t>Smoking Cessation &amp; Air Quality: Addressing indoor air pollution and smoking can significantly decrease baseline susceptibility to lower respiratory tract infections.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0600"/>
          </a:xfrm>
        </p:spPr>
        <p:txBody>
          <a:bodyPr/>
          <a:lstStyle/>
          <a:p>
            <a:r>
              <a:rPr lang="en-US"/>
              <a:t>CASE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19200"/>
            <a:ext cx="10515600" cy="5243195"/>
          </a:xfrm>
        </p:spPr>
        <p:txBody>
          <a:bodyPr>
            <a:normAutofit fontScale="25000"/>
          </a:bodyPr>
          <a:lstStyle/>
          <a:p>
            <a:r>
              <a:rPr lang="en-US" altLang="en-US" sz="9600"/>
              <a:t>45-year-old male, hotel worker</a:t>
            </a:r>
          </a:p>
          <a:p>
            <a:r>
              <a:rPr lang="en-US" altLang="en-US" sz="9600"/>
              <a:t>C/C: Confusion + diarrhea + fever (3 days)</a:t>
            </a:r>
          </a:p>
          <a:p>
            <a:r>
              <a:rPr lang="en-US" altLang="en-US" sz="9600"/>
              <a:t>High-grade fever (39.5°C), mild Dry cough, Watery diarrhea, Headache, confusion, No TB symptoms</a:t>
            </a:r>
          </a:p>
          <a:p>
            <a:r>
              <a:rPr lang="en-US" altLang="en-US" sz="9600"/>
              <a:t>On Exam. Temp: 39°C,      BP: 95/60         RR: 26        SpO₂: 92% RA</a:t>
            </a:r>
          </a:p>
          <a:p>
            <a:r>
              <a:rPr lang="en-US" altLang="en-US" sz="9600"/>
              <a:t>Chest: mild crackles </a:t>
            </a:r>
          </a:p>
          <a:p>
            <a:r>
              <a:rPr lang="en-US" altLang="en-US" sz="9600"/>
              <a:t>Initial Labs.  Na⁺: 128 mmol/L       CRP: 105         LFTs: mildly elevated</a:t>
            </a:r>
          </a:p>
          <a:p>
            <a:endParaRPr lang="en-US" altLang="en-US" sz="9600"/>
          </a:p>
          <a:p>
            <a:r>
              <a:rPr lang="en-US" altLang="en-US" sz="9600"/>
              <a:t>Diagnosis..?</a:t>
            </a:r>
          </a:p>
          <a:p>
            <a:r>
              <a:rPr lang="en-US" altLang="en-US" sz="9600"/>
              <a:t>Confirmatory Tests..??</a:t>
            </a:r>
          </a:p>
          <a:p>
            <a:r>
              <a:rPr lang="en-US" altLang="en-US" sz="9600"/>
              <a:t>Urinary antigen (Legionella),         PCR (if available)</a:t>
            </a:r>
          </a:p>
          <a:p>
            <a:r>
              <a:rPr lang="en-US" altLang="en-US" sz="9600"/>
              <a:t>Management..?</a:t>
            </a:r>
          </a:p>
          <a:p>
            <a:endParaRPr lang="en-US" altLang="en-US" sz="96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9330"/>
          </a:xfrm>
        </p:spPr>
        <p:txBody>
          <a:bodyPr/>
          <a:lstStyle/>
          <a:p>
            <a:r>
              <a:rPr lang="en-US"/>
              <a:t>CASE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0465"/>
            <a:ext cx="10515600" cy="5355590"/>
          </a:xfrm>
        </p:spPr>
        <p:txBody>
          <a:bodyPr>
            <a:normAutofit fontScale="25000"/>
          </a:bodyPr>
          <a:lstStyle/>
          <a:p>
            <a:r>
              <a:rPr lang="en-US" altLang="en-US" sz="9600"/>
              <a:t>38-year-old female  C/C: Sudden SOB + mild fever</a:t>
            </a:r>
          </a:p>
          <a:p>
            <a:r>
              <a:rPr lang="en-US" altLang="en-US" sz="9600"/>
              <a:t>Acute onset dyspnea 2 Hr a/w Pleuritic chest pain. Non productive cough</a:t>
            </a:r>
          </a:p>
          <a:p>
            <a:r>
              <a:rPr lang="en-US" altLang="en-US" sz="9600"/>
              <a:t>Recent travel 10-hour bus trip</a:t>
            </a:r>
          </a:p>
          <a:p>
            <a:r>
              <a:rPr lang="en-US" altLang="en-US" sz="9600"/>
              <a:t>On Exam, RR: 33     HR: 115   SpO₂: 90% RA      T- 37.9</a:t>
            </a:r>
          </a:p>
          <a:p>
            <a:r>
              <a:rPr lang="en-US" altLang="en-US" sz="9600"/>
              <a:t>Chest: clear</a:t>
            </a:r>
          </a:p>
          <a:p>
            <a:r>
              <a:rPr lang="en-US" altLang="en-US" sz="9600"/>
              <a:t>CXR: Normal              CRP: 22</a:t>
            </a:r>
          </a:p>
          <a:p>
            <a:r>
              <a:rPr lang="en-US" altLang="en-US" sz="9600"/>
              <a:t>DDX</a:t>
            </a:r>
          </a:p>
          <a:p>
            <a:r>
              <a:rPr lang="zh-CN" altLang="en-US" sz="9600"/>
              <a:t> </a:t>
            </a:r>
            <a:r>
              <a:rPr lang="en-US" altLang="en-US" sz="9600"/>
              <a:t>Pulmonary Embolism (Pneumonia mimic)</a:t>
            </a:r>
          </a:p>
          <a:p>
            <a:r>
              <a:rPr lang="en-US" altLang="en-US" sz="9600"/>
              <a:t>Next Steps</a:t>
            </a:r>
          </a:p>
          <a:p>
            <a:r>
              <a:rPr lang="en-US" altLang="en-US" sz="9600"/>
              <a:t>D-dimer,  CT Pulmonary Angiography</a:t>
            </a:r>
          </a:p>
          <a:p>
            <a:endParaRPr lang="en-US" altLang="en-US" sz="9600"/>
          </a:p>
          <a:p>
            <a:r>
              <a:rPr lang="en-US" altLang="en-US" sz="9600"/>
              <a:t>“Not all fever + SOB is pneumonia — always rule out PE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3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838200" y="1445260"/>
            <a:ext cx="5181600" cy="4732020"/>
          </a:xfrm>
        </p:spPr>
        <p:txBody>
          <a:bodyPr>
            <a:noAutofit/>
          </a:bodyPr>
          <a:lstStyle/>
          <a:p>
            <a:r>
              <a:rPr lang="en-US" altLang="en-US" sz="2200"/>
              <a:t>58-year-old male, diabetic</a:t>
            </a:r>
          </a:p>
          <a:p>
            <a:r>
              <a:rPr lang="en-US" altLang="en-US" sz="2200"/>
              <a:t>4 days hx fever, productive cough, dyspnea</a:t>
            </a:r>
          </a:p>
          <a:p>
            <a:r>
              <a:rPr lang="en-US" altLang="en-US" sz="2200"/>
              <a:t>12 hrs hx confusion + lethargy</a:t>
            </a:r>
          </a:p>
          <a:p>
            <a:pPr marL="0" indent="0">
              <a:buNone/>
            </a:pPr>
            <a:r>
              <a:rPr lang="en-US" altLang="en-US" sz="2200"/>
              <a:t>O/E. Temp 39.8°C, HR 130, BP 80/50 (MAP 60)</a:t>
            </a:r>
          </a:p>
          <a:p>
            <a:r>
              <a:rPr lang="en-US" altLang="en-US" sz="2200"/>
              <a:t>RR 34, SpO₂ 84% RA, GCS 14(confused)</a:t>
            </a:r>
          </a:p>
          <a:p>
            <a:r>
              <a:rPr lang="en-US" altLang="en-US" sz="2200"/>
              <a:t>Accessory muscle use, RLL crackles</a:t>
            </a:r>
          </a:p>
          <a:p>
            <a:r>
              <a:rPr lang="en-US" altLang="en-US" sz="2200"/>
              <a:t>Mottled skin, delayed capillary refill</a:t>
            </a:r>
          </a:p>
          <a:p>
            <a:r>
              <a:rPr lang="en-US" altLang="en-US" sz="2200"/>
              <a:t>CXR: Multilobar pneumonia</a:t>
            </a:r>
          </a:p>
          <a:p>
            <a:r>
              <a:rPr lang="en-US" altLang="en-US" sz="2200"/>
              <a:t>RLL consolidation</a:t>
            </a:r>
          </a:p>
          <a:p>
            <a:r>
              <a:rPr lang="en-US" altLang="en-US" sz="2200"/>
              <a:t>LUL patchy infiltrates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6172200" y="1445260"/>
            <a:ext cx="5181600" cy="4732020"/>
          </a:xfrm>
        </p:spPr>
        <p:txBody>
          <a:bodyPr>
            <a:normAutofit/>
          </a:bodyPr>
          <a:lstStyle/>
          <a:p>
            <a:r>
              <a:rPr lang="en-US" altLang="en-US" sz="2400"/>
              <a:t>WBC 32,000, bands 15%</a:t>
            </a:r>
          </a:p>
          <a:p>
            <a:r>
              <a:rPr lang="en-US" altLang="en-US" sz="2400"/>
              <a:t>Platelets 85,000</a:t>
            </a:r>
          </a:p>
          <a:p>
            <a:r>
              <a:rPr lang="en-US" altLang="en-US" sz="2400"/>
              <a:t>BUN 32, Cr 1.9 (AKI)</a:t>
            </a:r>
          </a:p>
          <a:p>
            <a:r>
              <a:rPr lang="en-US" altLang="en-US" sz="2400"/>
              <a:t>Lactate 4.2 mmol/L</a:t>
            </a:r>
          </a:p>
          <a:p>
            <a:r>
              <a:rPr lang="en-US" altLang="en-US" sz="2400"/>
              <a:t>CRP 320, PCT &gt;10</a:t>
            </a:r>
          </a:p>
          <a:p>
            <a:r>
              <a:rPr lang="en-US" altLang="en-US" sz="2400"/>
              <a:t>ABG: PaO₂/FiO₂ = 165 (hypoxemia)</a:t>
            </a:r>
          </a:p>
          <a:p>
            <a:endParaRPr lang="en-US" altLang="en-US" sz="2400"/>
          </a:p>
          <a:p>
            <a:r>
              <a:rPr lang="en-US" altLang="en-US" sz="2400"/>
              <a:t>DX- Severe CAP with septic shock + hypoxemic respiratory failure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Severity &amp; ICU Need.?</a:t>
            </a:r>
          </a:p>
          <a:p>
            <a:r>
              <a:rPr lang="en-US" altLang="en-US"/>
              <a:t>Antibiotic Appropriateness.?</a:t>
            </a:r>
          </a:p>
          <a:p>
            <a:r>
              <a:rPr lang="en-US" altLang="en-US"/>
              <a:t>Resuscitation &amp; Monitoring.?</a:t>
            </a:r>
          </a:p>
          <a:p>
            <a:r>
              <a:rPr lang="en-US" altLang="en-US"/>
              <a:t>Adjunctive Corticosteroids needed.?</a:t>
            </a:r>
          </a:p>
          <a:p>
            <a:r>
              <a:rPr lang="en-US" altLang="en-US"/>
              <a:t>Non-Responder at Day 3. what to do next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0990"/>
            <a:ext cx="10515600" cy="4606290"/>
          </a:xfrm>
        </p:spPr>
        <p:txBody>
          <a:bodyPr>
            <a:normAutofit lnSpcReduction="20000"/>
          </a:bodyPr>
          <a:lstStyle/>
          <a:p>
            <a:r>
              <a:rPr lang="en-US" altLang="en-US"/>
              <a:t>Metlay, J.P., Waterer, G.W., Long, A.C., et al. (2019) Diagnosis and treatment of adults with community-acquired pneumonia. American Journal of Respiratory and Critical Care Medicine, 200(7), pp. e45–e67.</a:t>
            </a:r>
          </a:p>
          <a:p>
            <a:r>
              <a:rPr lang="en-US" altLang="en-US"/>
              <a:t>World Health Organization (2023) Integrated Management of Adolescent and Adult Illness (IMAI): District clinician manual. Geneva: WHO.</a:t>
            </a:r>
          </a:p>
          <a:p>
            <a:r>
              <a:rPr lang="en-US" altLang="en-US"/>
              <a:t>National Institute for Health and Care Excellence (NICE) (2019) Pneumonia (community-acquired): antimicrobial prescribing (NG138). London: NICE.</a:t>
            </a:r>
          </a:p>
          <a:p>
            <a:r>
              <a:rPr lang="en-US" altLang="en-US"/>
              <a:t>Evans, L., Rhodes, A., Alhazzani, W., et al. (2021) Surviving Sepsis Campaign: international guidelines for management of sepsis and septic shock 2021. Intensive Care Medicine, 47, pp. 1181–1247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2240"/>
            <a:ext cx="10515600" cy="4926330"/>
          </a:xfrm>
        </p:spPr>
        <p:txBody>
          <a:bodyPr>
            <a:normAutofit fontScale="90000" lnSpcReduction="20000"/>
          </a:bodyPr>
          <a:lstStyle/>
          <a:p>
            <a:r>
              <a:rPr lang="en-US" altLang="en-US"/>
              <a:t>Bielicki, J.A., Stöhr, W., Barratt, S., et al. (2021) Effect of amoxicillin dose and duration on outcomes in children with community-acquired pneumonia (CAP-IT). JAMA, 326(17), pp. 1713–1724.</a:t>
            </a:r>
          </a:p>
          <a:p>
            <a:r>
              <a:rPr lang="en-US" altLang="en-US"/>
              <a:t>Huang, D.T., Yealy, D.M., Filbin, M.R., et al. (2018) Procalcitonin-guided use of antibiotics for lower respiratory tract infection (ProACT Trial). New England Journal of Medicine, 379, pp. 236–249.</a:t>
            </a:r>
          </a:p>
          <a:p>
            <a:r>
              <a:rPr lang="en-US" altLang="en-US"/>
              <a:t>Rahman, N.M., Maskell, N.A., West, A., et al. (2011) Intrapleural use of tissue plasminogen activator and DNase in pleural infection (MIST2). New England Journal of Medicine, 365, pp. 518–526.</a:t>
            </a:r>
          </a:p>
          <a:p>
            <a:r>
              <a:rPr lang="en-US" altLang="en-US"/>
              <a:t>Dequin, P.F., Meziani, F., Quenot, J.P., et al. (2023) Hydrocortisone in severe community-acquired pneumonia (CAPE COD Trial). New England Journal of Medicine, 388, pp. 1931–1941.</a:t>
            </a:r>
          </a:p>
          <a:p>
            <a:r>
              <a:rPr lang="en-US" altLang="en-US"/>
              <a:t>Frat, J.P., Thille, A.W., Mercat, A., et al. (2015) High-flow oxygen through nasal cannula in acute hypoxemic respiratory failure (FLORALI Trial). New England Journal of Medicine, 372, pp. 2185–2196.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.</a:t>
            </a:r>
          </a:p>
        </p:txBody>
      </p:sp>
      <p:pic>
        <p:nvPicPr>
          <p:cNvPr id="4" name="Content Placeholder 3" descr="thank u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4525" y="275590"/>
            <a:ext cx="7880985" cy="590169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28*418"/>
  <p:tag name="TABLE_ENDDRAG_RECT" val="68*92*828*41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28*416"/>
  <p:tag name="TABLE_ENDDRAG_RECT" val="66*102*828*41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28*363"/>
  <p:tag name="TABLE_ENDDRAG_RECT" val="66*117*828*36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16636</Words>
  <Application>Microsoft Office PowerPoint</Application>
  <PresentationFormat>Widescreen</PresentationFormat>
  <Paragraphs>604</Paragraphs>
  <Slides>48</Slides>
  <Notes>25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49" baseType="lpstr">
      <vt:lpstr>Office Theme</vt:lpstr>
      <vt:lpstr>PNEUMONIA OTHER THAN TB</vt:lpstr>
      <vt:lpstr>EPIDEMIOLOGY AND BURDEN</vt:lpstr>
      <vt:lpstr>PowerPoint Presentation</vt:lpstr>
      <vt:lpstr>Distribution of causative agent and pattern of resistance</vt:lpstr>
      <vt:lpstr>Definition</vt:lpstr>
      <vt:lpstr>Classification of Pneumonia</vt:lpstr>
      <vt:lpstr>CLASSIFICATION</vt:lpstr>
      <vt:lpstr>COMMON CAUSES</vt:lpstr>
      <vt:lpstr>SYMPTOMS OF PNEUMONIA</vt:lpstr>
      <vt:lpstr>SIGNS OF PNEUMONIA</vt:lpstr>
      <vt:lpstr>EXTRA PULMONARY SX-Atypical Pathogens</vt:lpstr>
      <vt:lpstr>CLINICAL APPROACH</vt:lpstr>
      <vt:lpstr>RED FLAGS</vt:lpstr>
      <vt:lpstr>DIFFERENTIALS/ MIMICS</vt:lpstr>
      <vt:lpstr>SEVERETY ASSESSMENT</vt:lpstr>
      <vt:lpstr>CURB 65</vt:lpstr>
      <vt:lpstr>PowerPoint Presentation</vt:lpstr>
      <vt:lpstr>Other severity assessment tools</vt:lpstr>
      <vt:lpstr>Sensitivity of CURB over other severity assessment tools</vt:lpstr>
      <vt:lpstr>PowerPoint Presentation</vt:lpstr>
      <vt:lpstr>Labs workup</vt:lpstr>
      <vt:lpstr>MICROBIOLOGY</vt:lpstr>
      <vt:lpstr>IMAGING</vt:lpstr>
      <vt:lpstr>PowerPoint Presentation</vt:lpstr>
      <vt:lpstr>PRINCIPLES OF MANAGEMENT</vt:lpstr>
      <vt:lpstr>Antibiotic treatment for CAP</vt:lpstr>
      <vt:lpstr> Empiric Therapeutics: Outpatient CAP</vt:lpstr>
      <vt:lpstr>Inpatient CAP (Moderate Severity)</vt:lpstr>
      <vt:lpstr>High-severity disease CAP</vt:lpstr>
      <vt:lpstr>..</vt:lpstr>
      <vt:lpstr>Management of Hospital-Acquired Pneumonia (HAP)</vt:lpstr>
      <vt:lpstr>Managing Viral Pneumonia &amp; Antibiotic Stewardship</vt:lpstr>
      <vt:lpstr>Adjunctive Therapy: Corticosteroids in CAP</vt:lpstr>
      <vt:lpstr>Non-Invasive Respiratory Support</vt:lpstr>
      <vt:lpstr>The Non-Responding Patient</vt:lpstr>
      <vt:lpstr>Pregnancy &amp; Immunocompromised</vt:lpstr>
      <vt:lpstr>Complications: Local Pulmonary Issues</vt:lpstr>
      <vt:lpstr>Management of Parapneumonic Effusions</vt:lpstr>
      <vt:lpstr>Managing Progression - Empyema</vt:lpstr>
      <vt:lpstr>Systemic Complications</vt:lpstr>
      <vt:lpstr>Prevention Strategies: Vaccination</vt:lpstr>
      <vt:lpstr>CASE 1</vt:lpstr>
      <vt:lpstr>CASE 2</vt:lpstr>
      <vt:lpstr>CASE 3</vt:lpstr>
      <vt:lpstr>Questions.</vt:lpstr>
      <vt:lpstr>References.</vt:lpstr>
      <vt:lpstr>..</vt:lpstr>
      <vt:lpstr>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Silas Gamba</cp:lastModifiedBy>
  <cp:revision>14</cp:revision>
  <dcterms:created xsi:type="dcterms:W3CDTF">2025-07-23T00:59:00Z</dcterms:created>
  <dcterms:modified xsi:type="dcterms:W3CDTF">2026-05-01T07:35:13Z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50DEB8C7D77E4030B7611A23085230CC_11</vt:lpwstr>
  </property>
  <property fmtid="{D5CDD505-2E9C-101B-9397-08002B2CF9AE}" pid="3" name="KSOProductBuildVer">
    <vt:lpwstr>1033-12.1.0.25862</vt:lpwstr>
  </property>
</Properties>
</file>