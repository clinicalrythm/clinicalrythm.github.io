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1"/>
  </p:notesMasterIdLst>
  <p:sldIdLst>
    <p:sldId id="268" r:id="rId2"/>
    <p:sldId id="269" r:id="rId3"/>
    <p:sldId id="270" r:id="rId4"/>
    <p:sldId id="271" r:id="rId5"/>
    <p:sldId id="524" r:id="rId6"/>
    <p:sldId id="272" r:id="rId7"/>
    <p:sldId id="273" r:id="rId8"/>
    <p:sldId id="274" r:id="rId9"/>
    <p:sldId id="276" r:id="rId10"/>
    <p:sldId id="277" r:id="rId11"/>
    <p:sldId id="278" r:id="rId12"/>
    <p:sldId id="279" r:id="rId13"/>
    <p:sldId id="280" r:id="rId14"/>
    <p:sldId id="284" r:id="rId15"/>
    <p:sldId id="576" r:id="rId16"/>
    <p:sldId id="577" r:id="rId17"/>
    <p:sldId id="286" r:id="rId18"/>
    <p:sldId id="287" r:id="rId19"/>
    <p:sldId id="288" r:id="rId20"/>
    <p:sldId id="289" r:id="rId21"/>
    <p:sldId id="578" r:id="rId22"/>
    <p:sldId id="290" r:id="rId23"/>
    <p:sldId id="579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4" r:id="rId43"/>
    <p:sldId id="315" r:id="rId44"/>
    <p:sldId id="316" r:id="rId45"/>
    <p:sldId id="317" r:id="rId46"/>
    <p:sldId id="318" r:id="rId47"/>
    <p:sldId id="319" r:id="rId48"/>
    <p:sldId id="320" r:id="rId49"/>
    <p:sldId id="321" r:id="rId50"/>
    <p:sldId id="322" r:id="rId51"/>
    <p:sldId id="323" r:id="rId52"/>
    <p:sldId id="324" r:id="rId53"/>
    <p:sldId id="536" r:id="rId54"/>
    <p:sldId id="581" r:id="rId55"/>
    <p:sldId id="565" r:id="rId56"/>
    <p:sldId id="566" r:id="rId57"/>
    <p:sldId id="567" r:id="rId58"/>
    <p:sldId id="572" r:id="rId59"/>
    <p:sldId id="568" r:id="rId60"/>
    <p:sldId id="569" r:id="rId61"/>
    <p:sldId id="571" r:id="rId62"/>
    <p:sldId id="335" r:id="rId63"/>
    <p:sldId id="413" r:id="rId64"/>
    <p:sldId id="405" r:id="rId65"/>
    <p:sldId id="428" r:id="rId66"/>
    <p:sldId id="508" r:id="rId67"/>
    <p:sldId id="513" r:id="rId68"/>
    <p:sldId id="511" r:id="rId69"/>
    <p:sldId id="512" r:id="rId70"/>
    <p:sldId id="514" r:id="rId71"/>
    <p:sldId id="515" r:id="rId72"/>
    <p:sldId id="388" r:id="rId73"/>
    <p:sldId id="518" r:id="rId74"/>
    <p:sldId id="522" r:id="rId75"/>
    <p:sldId id="516" r:id="rId76"/>
    <p:sldId id="452" r:id="rId77"/>
    <p:sldId id="416" r:id="rId78"/>
    <p:sldId id="453" r:id="rId79"/>
    <p:sldId id="580" r:id="rId80"/>
    <p:sldId id="454" r:id="rId81"/>
    <p:sldId id="455" r:id="rId82"/>
    <p:sldId id="418" r:id="rId83"/>
    <p:sldId id="446" r:id="rId84"/>
    <p:sldId id="419" r:id="rId85"/>
    <p:sldId id="420" r:id="rId86"/>
    <p:sldId id="421" r:id="rId87"/>
    <p:sldId id="422" r:id="rId88"/>
    <p:sldId id="423" r:id="rId89"/>
    <p:sldId id="424" r:id="rId90"/>
    <p:sldId id="425" r:id="rId91"/>
    <p:sldId id="427" r:id="rId92"/>
    <p:sldId id="482" r:id="rId93"/>
    <p:sldId id="483" r:id="rId94"/>
    <p:sldId id="484" r:id="rId95"/>
    <p:sldId id="485" r:id="rId96"/>
    <p:sldId id="487" r:id="rId97"/>
    <p:sldId id="488" r:id="rId98"/>
    <p:sldId id="489" r:id="rId99"/>
    <p:sldId id="491" r:id="rId100"/>
    <p:sldId id="492" r:id="rId101"/>
    <p:sldId id="494" r:id="rId102"/>
    <p:sldId id="495" r:id="rId103"/>
    <p:sldId id="496" r:id="rId104"/>
    <p:sldId id="497" r:id="rId105"/>
    <p:sldId id="498" r:id="rId106"/>
    <p:sldId id="499" r:id="rId107"/>
    <p:sldId id="500" r:id="rId108"/>
    <p:sldId id="501" r:id="rId109"/>
    <p:sldId id="502" r:id="rId110"/>
    <p:sldId id="503" r:id="rId111"/>
    <p:sldId id="504" r:id="rId112"/>
    <p:sldId id="505" r:id="rId113"/>
    <p:sldId id="506" r:id="rId114"/>
    <p:sldId id="507" r:id="rId115"/>
    <p:sldId id="459" r:id="rId116"/>
    <p:sldId id="368" r:id="rId117"/>
    <p:sldId id="333" r:id="rId118"/>
    <p:sldId id="520" r:id="rId119"/>
    <p:sldId id="521" r:id="rId1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2" autoAdjust="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7635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4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72192-0B2D-4F37-A216-8130C679396B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104884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85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5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5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8B49D-C2D6-49DD-8BD9-87A5F636F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0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Protozoa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fungi and, bacterial most common curable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Viral –Lack or Limited treatment options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Vaccination – HBV, HPV prevention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HCC,CaCx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8B49D-C2D6-49DD-8BD9-87A5F636FF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6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8B49D-C2D6-49DD-8BD9-87A5F636FFF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616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</a:t>
            </a:r>
            <a:r>
              <a:rPr lang="en-US" baseline="0" dirty="0"/>
              <a:t> common anaerobes causing PID =</a:t>
            </a:r>
            <a:r>
              <a:rPr lang="en-US" dirty="0" err="1"/>
              <a:t>Prevotella</a:t>
            </a:r>
            <a:r>
              <a:rPr lang="en-US" dirty="0"/>
              <a:t>, </a:t>
            </a:r>
            <a:r>
              <a:rPr lang="en-US" dirty="0" err="1"/>
              <a:t>bacteroides</a:t>
            </a:r>
            <a:r>
              <a:rPr lang="en-US" dirty="0"/>
              <a:t> </a:t>
            </a:r>
            <a:r>
              <a:rPr lang="en-US" dirty="0" err="1"/>
              <a:t>fragilis</a:t>
            </a:r>
            <a:r>
              <a:rPr lang="en-US" dirty="0"/>
              <a:t>, </a:t>
            </a:r>
            <a:r>
              <a:rPr lang="en-US" dirty="0" err="1"/>
              <a:t>peptostreptococus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8B49D-C2D6-49DD-8BD9-87A5F636FFF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Virus</a:t>
            </a:r>
            <a:r>
              <a:rPr lang="en-US" baseline="0" dirty="0"/>
              <a:t>= causes blister- rupture= ulcer</a:t>
            </a:r>
          </a:p>
          <a:p>
            <a:r>
              <a:rPr lang="en-US" baseline="0" dirty="0"/>
              <a:t>Bacteria= ulcers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8B49D-C2D6-49DD-8BD9-87A5F636FFF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pregnancy low dose</a:t>
            </a:r>
            <a:r>
              <a:rPr lang="en-US" baseline="0" dirty="0"/>
              <a:t>, short term recommended to prevent risk- preterm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8B49D-C2D6-49DD-8BD9-87A5F636FFF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92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MDR was defined</a:t>
            </a:r>
            <a:r>
              <a:rPr lang="en-US" baseline="0" dirty="0"/>
              <a:t> </a:t>
            </a:r>
            <a:r>
              <a:rPr lang="en-US" dirty="0"/>
              <a:t>as a resistance of more than one of previously recommended antimicrobial agents namely</a:t>
            </a:r>
          </a:p>
          <a:p>
            <a:r>
              <a:rPr lang="en-US" dirty="0"/>
              <a:t>penicillin, ciprofloxacin, </a:t>
            </a:r>
            <a:r>
              <a:rPr lang="en-US" dirty="0" err="1"/>
              <a:t>norfloxacin</a:t>
            </a:r>
            <a:r>
              <a:rPr lang="en-US" dirty="0"/>
              <a:t>, tetracycline, and erythromycin, plus one or more</a:t>
            </a:r>
          </a:p>
          <a:p>
            <a:r>
              <a:rPr lang="en-US" dirty="0"/>
              <a:t>of the currently recommended antimicrobial agents—ceftriaxone, </a:t>
            </a:r>
            <a:r>
              <a:rPr lang="en-US" dirty="0" err="1"/>
              <a:t>cefixime</a:t>
            </a:r>
            <a:r>
              <a:rPr lang="en-US" dirty="0"/>
              <a:t>, cefuroxime,</a:t>
            </a:r>
          </a:p>
          <a:p>
            <a:r>
              <a:rPr lang="en-US" dirty="0" err="1"/>
              <a:t>spectinomycin</a:t>
            </a:r>
            <a:r>
              <a:rPr lang="en-US" dirty="0"/>
              <a:t>, and kanamycin and azithromycin.</a:t>
            </a:r>
          </a:p>
          <a:p>
            <a:r>
              <a:rPr lang="en-US" dirty="0"/>
              <a:t> XDR was defined as a resistance of one</a:t>
            </a:r>
            <a:r>
              <a:rPr lang="en-US" baseline="0" dirty="0"/>
              <a:t> </a:t>
            </a:r>
            <a:r>
              <a:rPr lang="en-US" dirty="0"/>
              <a:t>or more antimicrobial agents to currently recommended regimen plus three or more of</a:t>
            </a:r>
          </a:p>
          <a:p>
            <a:r>
              <a:rPr lang="en-US" dirty="0"/>
              <a:t>previously recommended antimicrobial agents (CLSI, 2013).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A35F166-0957-42DC-9591-68DA1DFE915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0239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STUDY DONE  IN U.S.A  BETWEEN  NOVEMBER 2010-</a:t>
            </a:r>
            <a:r>
              <a:rPr lang="en-US" baseline="0" dirty="0"/>
              <a:t>JANUARY </a:t>
            </a:r>
            <a:r>
              <a:rPr lang="en-US" dirty="0"/>
              <a:t>2015</a:t>
            </a:r>
            <a:r>
              <a:rPr lang="en-US" baseline="0" dirty="0"/>
              <a:t> ,PUBLISHED  FEBRUARY 2020.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8B49D-C2D6-49DD-8BD9-87A5F636FFF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734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vulva and vagina in women are usually spared because they are lined by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stratified epithelial cells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8B49D-C2D6-49DD-8BD9-87A5F636FFFD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72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4A9479-FC34-784F-802A-1494B351E999}" type="slidenum">
              <a:rPr lang="x-none" smtClean="0"/>
              <a:t>63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43303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Recent Study in India identified an XDR strain</a:t>
            </a:r>
          </a:p>
          <a:p>
            <a:r>
              <a:rPr lang="en-US" dirty="0"/>
              <a:t>The bacteria are evolving through confirmed genetic mutations such as </a:t>
            </a:r>
            <a:r>
              <a:rPr lang="en-US" dirty="0" err="1"/>
              <a:t>penA</a:t>
            </a:r>
            <a:r>
              <a:rPr lang="en-US" dirty="0"/>
              <a:t> alleles that lower </a:t>
            </a:r>
            <a:r>
              <a:rPr lang="en-US" dirty="0" err="1"/>
              <a:t>te</a:t>
            </a:r>
            <a:r>
              <a:rPr lang="en-US" dirty="0"/>
              <a:t> efficacy of ceftriaxone and specific 23S rRNA gene mutations that drive macrolide resistance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B49D-C2D6-49DD-8BD9-87A5F636FFFD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310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8B49D-C2D6-49DD-8BD9-87A5F636FFFD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98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Neurosyphilis</a:t>
            </a:r>
            <a:r>
              <a:rPr lang="en-US" dirty="0"/>
              <a:t>: Aqueous Crystalline Pen G: 18-24 MU/day administered as 3-4 MU IV every 4 </a:t>
            </a:r>
            <a:r>
              <a:rPr lang="en-US" dirty="0" err="1"/>
              <a:t>hrs</a:t>
            </a:r>
            <a:r>
              <a:rPr lang="en-US" dirty="0"/>
              <a:t> or continuous,</a:t>
            </a:r>
            <a:r>
              <a:rPr lang="en-US" baseline="0" dirty="0"/>
              <a:t> for 10-14 days (To achieve adequate CNS drug levels). Alt: Procaine Penicillin (2.4 MU IM od)+ </a:t>
            </a:r>
            <a:r>
              <a:rPr lang="en-US" baseline="0" dirty="0" err="1"/>
              <a:t>Probenecid</a:t>
            </a:r>
            <a:r>
              <a:rPr lang="en-US" baseline="0" dirty="0"/>
              <a:t> (500 mg orally </a:t>
            </a:r>
            <a:r>
              <a:rPr lang="en-US" baseline="0" dirty="0" err="1"/>
              <a:t>qid</a:t>
            </a:r>
            <a:r>
              <a:rPr lang="en-US" baseline="0" dirty="0"/>
              <a:t>) for 10 – 14 days OR Ceftriaxone: 2g IV/IM od – 10-14 days, LP at six month interval  until CSF normalizes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38B49D-C2D6-49DD-8BD9-87A5F636FFFD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168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 can become infected with more than one type of HPV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1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be effective, they must be used before an infection occurs and are therefore recommended between the ages of 9 and 13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38B49D-C2D6-49DD-8BD9-87A5F636FFFD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9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6" descr="New MUHAS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99652" y="187325"/>
            <a:ext cx="1964267" cy="1347788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81" name="Rectangle 4"/>
          <p:cNvSpPr/>
          <p:nvPr/>
        </p:nvSpPr>
        <p:spPr bwMode="auto">
          <a:xfrm>
            <a:off x="0" y="6073912"/>
            <a:ext cx="12192000" cy="49213"/>
          </a:xfrm>
          <a:prstGeom prst="rect">
            <a:avLst/>
          </a:prstGeom>
          <a:solidFill>
            <a:srgbClr val="E4001B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048582" name="Rectangle 5"/>
          <p:cNvSpPr/>
          <p:nvPr/>
        </p:nvSpPr>
        <p:spPr bwMode="auto">
          <a:xfrm>
            <a:off x="6351" y="6167438"/>
            <a:ext cx="12192000" cy="49212"/>
          </a:xfrm>
          <a:prstGeom prst="rect">
            <a:avLst/>
          </a:prstGeom>
          <a:solidFill>
            <a:srgbClr val="E6DF13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048583" name="Rectangle 6"/>
          <p:cNvSpPr/>
          <p:nvPr/>
        </p:nvSpPr>
        <p:spPr bwMode="auto">
          <a:xfrm>
            <a:off x="6351" y="6267587"/>
            <a:ext cx="12192000" cy="49213"/>
          </a:xfrm>
          <a:prstGeom prst="rect">
            <a:avLst/>
          </a:prstGeom>
          <a:solidFill>
            <a:srgbClr val="1C7F5E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048584" name="Title 1"/>
          <p:cNvSpPr>
            <a:spLocks noGrp="1"/>
          </p:cNvSpPr>
          <p:nvPr>
            <p:ph type="ctrTitle"/>
          </p:nvPr>
        </p:nvSpPr>
        <p:spPr>
          <a:xfrm>
            <a:off x="914400" y="2130562"/>
            <a:ext cx="10363200" cy="1470025"/>
          </a:xfrm>
        </p:spPr>
        <p:txBody>
          <a:bodyPr/>
          <a:lstStyle>
            <a:lvl1pPr>
              <a:defRPr>
                <a:solidFill>
                  <a:srgbClr val="20328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5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024A6-FB06-45E6-9868-D62F5837C34A}" type="datetime1">
              <a:rPr lang="en-GB" altLang="en-US"/>
              <a:t>19/05/2026</a:t>
            </a:fld>
            <a:endParaRPr lang="en-GB" altLang="en-US"/>
          </a:p>
        </p:txBody>
      </p:sp>
      <p:sp>
        <p:nvSpPr>
          <p:cNvPr id="10485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sp>
        <p:nvSpPr>
          <p:cNvPr id="10485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8B08E-1655-4F1F-92E8-7443FB0F29FD}" type="slidenum">
              <a:rPr lang="en-GB" altLang="en-US"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Rectangle 3"/>
          <p:cNvSpPr/>
          <p:nvPr/>
        </p:nvSpPr>
        <p:spPr bwMode="auto">
          <a:xfrm>
            <a:off x="0" y="6073912"/>
            <a:ext cx="12192000" cy="49213"/>
          </a:xfrm>
          <a:prstGeom prst="rect">
            <a:avLst/>
          </a:prstGeom>
          <a:solidFill>
            <a:srgbClr val="E4001B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048595" name="Rectangle 4"/>
          <p:cNvSpPr/>
          <p:nvPr/>
        </p:nvSpPr>
        <p:spPr bwMode="auto">
          <a:xfrm>
            <a:off x="6351" y="6167438"/>
            <a:ext cx="12192000" cy="49212"/>
          </a:xfrm>
          <a:prstGeom prst="rect">
            <a:avLst/>
          </a:prstGeom>
          <a:solidFill>
            <a:srgbClr val="E6DF13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  <a:latin typeface="Calibri" pitchFamily="34" charset="0"/>
            </a:endParaRPr>
          </a:p>
        </p:txBody>
      </p:sp>
      <p:sp>
        <p:nvSpPr>
          <p:cNvPr id="1048596" name="Rectangle 5"/>
          <p:cNvSpPr/>
          <p:nvPr/>
        </p:nvSpPr>
        <p:spPr bwMode="auto">
          <a:xfrm>
            <a:off x="6351" y="6267587"/>
            <a:ext cx="12192000" cy="49213"/>
          </a:xfrm>
          <a:prstGeom prst="rect">
            <a:avLst/>
          </a:prstGeom>
          <a:solidFill>
            <a:srgbClr val="1C7F5E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/>
            <a:endParaRPr lang="en-US" dirty="0">
              <a:solidFill>
                <a:prstClr val="white"/>
              </a:solidFill>
              <a:latin typeface="Calibri" pitchFamily="34" charset="0"/>
            </a:endParaRPr>
          </a:p>
        </p:txBody>
      </p:sp>
      <p:pic>
        <p:nvPicPr>
          <p:cNvPr id="2097154" name="Picture 9" descr="New MUHAS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25809" y="5310325"/>
            <a:ext cx="1113367" cy="763587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7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0328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598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rgbClr val="20328C"/>
                </a:solidFill>
              </a:defRPr>
            </a:lvl1pPr>
            <a:lvl2pPr>
              <a:defRPr>
                <a:solidFill>
                  <a:srgbClr val="20328C"/>
                </a:solidFill>
              </a:defRPr>
            </a:lvl2pPr>
            <a:lvl3pPr>
              <a:defRPr>
                <a:solidFill>
                  <a:srgbClr val="20328C"/>
                </a:solidFill>
              </a:defRPr>
            </a:lvl3pPr>
            <a:lvl4pPr>
              <a:defRPr>
                <a:solidFill>
                  <a:srgbClr val="20328C"/>
                </a:solidFill>
              </a:defRPr>
            </a:lvl4pPr>
            <a:lvl5pPr>
              <a:defRPr>
                <a:solidFill>
                  <a:srgbClr val="20328C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5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D6CC3-AD8B-4A1E-A8B4-75298F0B6FA1}" type="datetime1">
              <a:rPr lang="en-GB" altLang="en-US"/>
              <a:t>19/05/2026</a:t>
            </a:fld>
            <a:endParaRPr lang="en-GB" altLang="en-US"/>
          </a:p>
        </p:txBody>
      </p:sp>
      <p:sp>
        <p:nvSpPr>
          <p:cNvPr id="10486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sp>
        <p:nvSpPr>
          <p:cNvPr id="10486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17FC2-56A1-4336-A0CE-AB23B51BC173}" type="slidenum">
              <a:rPr lang="en-GB" altLang="en-US"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Title 1"/>
          <p:cNvSpPr>
            <a:spLocks noGrp="1"/>
          </p:cNvSpPr>
          <p:nvPr>
            <p:ph type="title"/>
          </p:nvPr>
        </p:nvSpPr>
        <p:spPr>
          <a:xfrm>
            <a:off x="963084" y="440703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1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A5A91-A835-4C17-A721-E6B12881EF0D}" type="datetime1">
              <a:rPr lang="en-GB" altLang="en-US"/>
              <a:t>19/05/2026</a:t>
            </a:fld>
            <a:endParaRPr lang="en-GB" altLang="en-US"/>
          </a:p>
        </p:txBody>
      </p:sp>
      <p:sp>
        <p:nvSpPr>
          <p:cNvPr id="104881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sp>
        <p:nvSpPr>
          <p:cNvPr id="104881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9DD07-83B0-4045-BD87-02E56F00B19A}" type="slidenum">
              <a:rPr lang="en-GB" altLang="en-US"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36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37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EBCD0-609F-4F7B-A40F-BD48C64EE02A}" type="datetime1">
              <a:rPr lang="en-GB" altLang="en-US"/>
              <a:t>19/05/2026</a:t>
            </a:fld>
            <a:endParaRPr lang="en-GB" altLang="en-US"/>
          </a:p>
        </p:txBody>
      </p:sp>
      <p:sp>
        <p:nvSpPr>
          <p:cNvPr id="10488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sp>
        <p:nvSpPr>
          <p:cNvPr id="104884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50E8E-A1C5-4F63-9B3E-52B75907DB71}" type="slidenum">
              <a:rPr lang="en-GB" altLang="en-US"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1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1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19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45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20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9345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1D1D-C4EE-4555-8911-9A0CECABA2AA}" type="datetime1">
              <a:rPr lang="en-GB" altLang="en-US"/>
              <a:t>19/05/2026</a:t>
            </a:fld>
            <a:endParaRPr lang="en-GB" altLang="en-US"/>
          </a:p>
        </p:txBody>
      </p:sp>
      <p:sp>
        <p:nvSpPr>
          <p:cNvPr id="10488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sp>
        <p:nvSpPr>
          <p:cNvPr id="10488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953111-C5C4-4BB6-A29E-EC5B601693C7}" type="slidenum">
              <a:rPr lang="en-GB" altLang="en-US"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3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1EF81-E1D4-4131-A04A-107C2E3154E3}" type="datetime1">
              <a:rPr lang="en-GB" altLang="en-US"/>
              <a:t>19/05/2026</a:t>
            </a:fld>
            <a:endParaRPr lang="en-GB" altLang="en-US"/>
          </a:p>
        </p:txBody>
      </p:sp>
      <p:sp>
        <p:nvSpPr>
          <p:cNvPr id="104874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sp>
        <p:nvSpPr>
          <p:cNvPr id="104874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FC6E3-C53B-4873-A579-1D4FA1D8BE69}" type="slidenum">
              <a:rPr lang="en-GB" altLang="en-US"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29A26-CD81-42AE-8738-95C1F2888AE6}" type="datetime1">
              <a:rPr lang="en-GB" altLang="en-US"/>
              <a:t>19/05/2026</a:t>
            </a:fld>
            <a:endParaRPr lang="en-GB" altLang="en-US"/>
          </a:p>
        </p:txBody>
      </p:sp>
      <p:sp>
        <p:nvSpPr>
          <p:cNvPr id="10487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sp>
        <p:nvSpPr>
          <p:cNvPr id="10487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1D047-C2A7-4151-9C8C-6FFBA2BC80E0}" type="slidenum">
              <a:rPr lang="en-GB" altLang="en-US"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42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6733" y="27318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43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4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22825-7DD0-4629-B898-E28C67A3CC63}" type="datetime1">
              <a:rPr lang="en-GB" altLang="en-US"/>
              <a:t>19/05/2026</a:t>
            </a:fld>
            <a:endParaRPr lang="en-GB" altLang="en-US"/>
          </a:p>
        </p:txBody>
      </p:sp>
      <p:sp>
        <p:nvSpPr>
          <p:cNvPr id="104884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sp>
        <p:nvSpPr>
          <p:cNvPr id="104884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502104-2A05-4210-9C65-0EDEF89AC655}" type="slidenum">
              <a:rPr lang="en-GB" altLang="en-US"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06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48807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488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B6C87-ED0A-4D42-8903-3E14D152A670}" type="datetime1">
              <a:rPr lang="en-GB" altLang="en-US"/>
              <a:t>19/05/2026</a:t>
            </a:fld>
            <a:endParaRPr lang="en-GB" altLang="en-US"/>
          </a:p>
        </p:txBody>
      </p:sp>
      <p:sp>
        <p:nvSpPr>
          <p:cNvPr id="10488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sp>
        <p:nvSpPr>
          <p:cNvPr id="10488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E1CBD-21D6-42E5-9FC1-B9CD8795C49B}" type="slidenum">
              <a:rPr lang="en-GB" altLang="en-US"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31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3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22BD-8CC5-4A4D-8E3A-826B6A720687}" type="datetime1">
              <a:rPr lang="en-GB" altLang="en-US"/>
              <a:t>19/05/2026</a:t>
            </a:fld>
            <a:endParaRPr lang="en-GB" altLang="en-US"/>
          </a:p>
        </p:txBody>
      </p:sp>
      <p:sp>
        <p:nvSpPr>
          <p:cNvPr id="104883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sp>
        <p:nvSpPr>
          <p:cNvPr id="104883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098C9-0741-433B-A7AF-47FDFDC4BCAE}" type="slidenum">
              <a:rPr lang="en-GB" altLang="en-US"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0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77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801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7477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0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0C992-26C2-4456-A9BD-82055EEE9B82}" type="datetime1">
              <a:rPr lang="en-GB" altLang="en-US"/>
              <a:t>19/05/2026</a:t>
            </a:fld>
            <a:endParaRPr lang="en-GB" altLang="en-US"/>
          </a:p>
        </p:txBody>
      </p:sp>
      <p:sp>
        <p:nvSpPr>
          <p:cNvPr id="104880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sp>
        <p:nvSpPr>
          <p:cNvPr id="104880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4A12-B7A7-4580-8FB3-87ECBF0DA21A}" type="slidenum">
              <a:rPr lang="en-GB" altLang="en-US"/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Rectangle"/>
          <p:cNvSpPr/>
          <p:nvPr/>
        </p:nvSpPr>
        <p:spPr>
          <a:xfrm>
            <a:off x="0" y="6073912"/>
            <a:ext cx="12192000" cy="49213"/>
          </a:xfrm>
          <a:prstGeom prst="rect">
            <a:avLst/>
          </a:prstGeom>
          <a:solidFill>
            <a:srgbClr val="E4001B"/>
          </a:solidFill>
          <a:ln w="12700">
            <a:miter lim="400000"/>
          </a:ln>
          <a:effectLst>
            <a:outerShdw blurRad="38100" dist="23000" dir="5400000" rotWithShape="0">
              <a:srgbClr val="808080">
                <a:alpha val="34999"/>
              </a:srgbClr>
            </a:outerShdw>
          </a:effectLst>
        </p:spPr>
        <p:txBody>
          <a:bodyPr lIns="34289" rIns="34289" anchor="ctr"/>
          <a:lstStyle/>
          <a:p>
            <a:pPr algn="ctr" defTabSz="685800">
              <a:defRPr sz="1800">
                <a:solidFill>
                  <a:srgbClr val="FFFFFF"/>
                </a:solidFill>
              </a:defRPr>
            </a:pPr>
            <a:endParaRPr sz="135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048825" name="Rectangle"/>
          <p:cNvSpPr/>
          <p:nvPr/>
        </p:nvSpPr>
        <p:spPr>
          <a:xfrm>
            <a:off x="6351" y="6167438"/>
            <a:ext cx="12192000" cy="49212"/>
          </a:xfrm>
          <a:prstGeom prst="rect">
            <a:avLst/>
          </a:prstGeom>
          <a:solidFill>
            <a:srgbClr val="E6DF13"/>
          </a:solidFill>
          <a:ln w="12700">
            <a:miter lim="400000"/>
          </a:ln>
          <a:effectLst>
            <a:outerShdw blurRad="38100" dist="23000" dir="5400000" rotWithShape="0">
              <a:srgbClr val="808080">
                <a:alpha val="34999"/>
              </a:srgbClr>
            </a:outerShdw>
          </a:effectLst>
        </p:spPr>
        <p:txBody>
          <a:bodyPr lIns="34289" rIns="34289" anchor="ctr"/>
          <a:lstStyle/>
          <a:p>
            <a:pPr algn="ctr" defTabSz="685800">
              <a:defRPr sz="1800">
                <a:solidFill>
                  <a:srgbClr val="FFFFFF"/>
                </a:solidFill>
              </a:defRPr>
            </a:pPr>
            <a:endParaRPr sz="135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048826" name="Rectangle"/>
          <p:cNvSpPr/>
          <p:nvPr/>
        </p:nvSpPr>
        <p:spPr>
          <a:xfrm>
            <a:off x="6351" y="6267587"/>
            <a:ext cx="12192000" cy="49213"/>
          </a:xfrm>
          <a:prstGeom prst="rect">
            <a:avLst/>
          </a:prstGeom>
          <a:solidFill>
            <a:srgbClr val="1C7F5E"/>
          </a:solidFill>
          <a:ln w="12700">
            <a:miter lim="400000"/>
          </a:ln>
          <a:effectLst>
            <a:outerShdw blurRad="38100" dist="23000" dir="5400000" rotWithShape="0">
              <a:srgbClr val="808080">
                <a:alpha val="34999"/>
              </a:srgbClr>
            </a:outerShdw>
          </a:effectLst>
        </p:spPr>
        <p:txBody>
          <a:bodyPr lIns="34289" rIns="34289" anchor="ctr"/>
          <a:lstStyle/>
          <a:p>
            <a:pPr algn="ctr" defTabSz="685800">
              <a:defRPr sz="1800">
                <a:solidFill>
                  <a:srgbClr val="FFFFFF"/>
                </a:solidFill>
              </a:defRPr>
            </a:pPr>
            <a:endParaRPr sz="1350">
              <a:solidFill>
                <a:srgbClr val="FFFFFF"/>
              </a:solidFill>
              <a:latin typeface="Calibri" pitchFamily="34" charset="0"/>
            </a:endParaRPr>
          </a:p>
        </p:txBody>
      </p:sp>
      <p:pic>
        <p:nvPicPr>
          <p:cNvPr id="2097174" name="New MUHAS Logo.png" descr="New MUHAS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25809" y="5310325"/>
            <a:ext cx="1113367" cy="763587"/>
          </a:xfrm>
          <a:prstGeom prst="rect">
            <a:avLst/>
          </a:prstGeom>
          <a:noFill/>
          <a:ln>
            <a:noFill/>
          </a:ln>
        </p:spPr>
      </p:pic>
      <p:sp>
        <p:nvSpPr>
          <p:cNvPr id="1048827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31B6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048828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20E8A"/>
                </a:solidFill>
              </a:defRPr>
            </a:lvl1pPr>
            <a:lvl2pPr>
              <a:defRPr>
                <a:solidFill>
                  <a:srgbClr val="020E8A"/>
                </a:solidFill>
              </a:defRPr>
            </a:lvl2pPr>
            <a:lvl3pPr>
              <a:defRPr>
                <a:solidFill>
                  <a:srgbClr val="020E8A"/>
                </a:solidFill>
              </a:defRPr>
            </a:lvl3pPr>
            <a:lvl4pPr>
              <a:defRPr>
                <a:solidFill>
                  <a:srgbClr val="020E8A"/>
                </a:solidFill>
              </a:defRPr>
            </a:lvl4pPr>
            <a:lvl5pPr>
              <a:defRPr>
                <a:solidFill>
                  <a:srgbClr val="020E8A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8829" name="Slide Number"/>
          <p:cNvSpPr txBox="1"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defTabSz="685800">
              <a:defRPr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90DEF513-F2E3-4931-BC9C-B6DBC54BB260}" type="slidenum">
              <a:rPr lang="en-GB" altLang="en-US"/>
              <a:t>‹#›</a:t>
            </a:fld>
            <a:endParaRPr lang="en-GB" altLang="en-US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New MUHAS Logo.png" descr="New MUHAS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651" y="187325"/>
            <a:ext cx="1964268" cy="134778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48796" name="Rectangle"/>
          <p:cNvSpPr/>
          <p:nvPr/>
        </p:nvSpPr>
        <p:spPr>
          <a:xfrm>
            <a:off x="-2" y="6073914"/>
            <a:ext cx="12192003" cy="49213"/>
          </a:xfrm>
          <a:prstGeom prst="rect">
            <a:avLst/>
          </a:prstGeom>
          <a:solidFill>
            <a:srgbClr val="E4001B"/>
          </a:solidFill>
          <a:ln w="12700">
            <a:miter lim="400000"/>
          </a:ln>
          <a:effectLst>
            <a:outerShdw blurRad="38100" dist="23000" dir="5400000" rotWithShape="0">
              <a:srgbClr val="808080">
                <a:alpha val="34999"/>
              </a:srgbClr>
            </a:outerShdw>
          </a:effectLst>
        </p:spPr>
        <p:txBody>
          <a:bodyPr lIns="34289" rIns="34289" anchor="ctr"/>
          <a:lstStyle/>
          <a:p>
            <a:pPr algn="ctr" defTabSz="685800">
              <a:defRPr sz="1800">
                <a:solidFill>
                  <a:srgbClr val="FFFFFF"/>
                </a:solidFill>
              </a:defRPr>
            </a:pPr>
            <a:endParaRPr sz="135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048797" name="Rectangle"/>
          <p:cNvSpPr/>
          <p:nvPr/>
        </p:nvSpPr>
        <p:spPr>
          <a:xfrm>
            <a:off x="6442" y="6167576"/>
            <a:ext cx="12192001" cy="49213"/>
          </a:xfrm>
          <a:prstGeom prst="rect">
            <a:avLst/>
          </a:prstGeom>
          <a:solidFill>
            <a:srgbClr val="E6DF13"/>
          </a:solidFill>
          <a:ln w="12700">
            <a:miter lim="400000"/>
          </a:ln>
          <a:effectLst>
            <a:outerShdw blurRad="38100" dist="23000" dir="5400000" rotWithShape="0">
              <a:srgbClr val="808080">
                <a:alpha val="34999"/>
              </a:srgbClr>
            </a:outerShdw>
          </a:effectLst>
        </p:spPr>
        <p:txBody>
          <a:bodyPr lIns="34289" rIns="34289" anchor="ctr"/>
          <a:lstStyle/>
          <a:p>
            <a:pPr algn="ctr" defTabSz="685800">
              <a:defRPr sz="1800">
                <a:solidFill>
                  <a:srgbClr val="FFFFFF"/>
                </a:solidFill>
              </a:defRPr>
            </a:pPr>
            <a:endParaRPr sz="135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048798" name="Rectangle"/>
          <p:cNvSpPr/>
          <p:nvPr/>
        </p:nvSpPr>
        <p:spPr>
          <a:xfrm>
            <a:off x="6442" y="6267589"/>
            <a:ext cx="12192001" cy="49213"/>
          </a:xfrm>
          <a:prstGeom prst="rect">
            <a:avLst/>
          </a:prstGeom>
          <a:solidFill>
            <a:srgbClr val="1C7F5E"/>
          </a:solidFill>
          <a:ln w="12700">
            <a:miter lim="400000"/>
          </a:ln>
          <a:effectLst>
            <a:outerShdw blurRad="38100" dist="23000" dir="5400000" rotWithShape="0">
              <a:srgbClr val="808080">
                <a:alpha val="34999"/>
              </a:srgbClr>
            </a:outerShdw>
          </a:effectLst>
        </p:spPr>
        <p:txBody>
          <a:bodyPr lIns="34289" rIns="34289" anchor="ctr"/>
          <a:lstStyle/>
          <a:p>
            <a:pPr algn="ctr" defTabSz="685800">
              <a:defRPr sz="1800">
                <a:solidFill>
                  <a:srgbClr val="FFFFFF"/>
                </a:solidFill>
              </a:defRPr>
            </a:pPr>
            <a:endParaRPr sz="135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0487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defTabSz="685800"/>
            <a:fld id="{86CB4B4D-7CA3-9044-876B-883B54F8677D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 defTabSz="685800"/>
              <a:t>‹#›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 dirty="0"/>
              <a:t>Click to edit Master title style</a:t>
            </a:r>
            <a:endParaRPr lang="en-GB" altLang="en-US" dirty="0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6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en-GB" altLang="en-US" dirty="0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487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FC3EC"/>
                </a:solidFill>
                <a:latin typeface="Calibri" pitchFamily="34" charset="0"/>
              </a:defRPr>
            </a:lvl1pPr>
          </a:lstStyle>
          <a:p>
            <a:fld id="{A7E5040C-AE86-45B6-998C-437460A5E83A}" type="datetime1">
              <a:rPr lang="en-GB" altLang="en-US" smtClean="0"/>
              <a:t>19/05/2026</a:t>
            </a:fld>
            <a:endParaRPr lang="en-GB" altLang="en-US" dirty="0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48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Calibri" pitchFamily="34" charset="0"/>
                <a:ea typeface="+mn-ea"/>
              </a:defRPr>
            </a:lvl1pPr>
          </a:lstStyle>
          <a:p>
            <a:endParaRPr lang="en-US" dirty="0">
              <a:solidFill>
                <a:srgbClr val="32A9E5">
                  <a:tint val="75000"/>
                </a:srgbClr>
              </a:solidFill>
            </a:endParaRP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487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FC3EC"/>
                </a:solidFill>
                <a:latin typeface="Calibri" pitchFamily="34" charset="0"/>
              </a:defRPr>
            </a:lvl1pPr>
          </a:lstStyle>
          <a:p>
            <a:fld id="{A88A34C7-F087-4577-B14D-380A1F7A7DF2}" type="slidenum">
              <a:rPr lang="en-GB" altLang="en-US" smtClean="0"/>
              <a:t>‹#›</a:t>
            </a:fld>
            <a:endParaRPr lang="en-GB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Calibri" pitchFamily="34" charset="0"/>
          <a:ea typeface="MS PGothic" pitchFamily="34" charset="-128"/>
          <a:cs typeface="+mj-c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MS PGothic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itchFamily="34" charset="0"/>
          <a:ea typeface="MS PGothic" pitchFamily="34" charset="-128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itchFamily="34" charset="0"/>
          <a:ea typeface="MS PGothic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itchFamily="34" charset="0"/>
          <a:ea typeface="MS PGothic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itchFamily="34" charset="0"/>
          <a:ea typeface="MS PGothic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itchFamily="34" charset="0"/>
          <a:ea typeface="MS PGothic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600" y="1219200"/>
            <a:ext cx="11887200" cy="1828800"/>
          </a:xfrm>
        </p:spPr>
        <p:txBody>
          <a:bodyPr>
            <a:normAutofit/>
          </a:bodyPr>
          <a:lstStyle/>
          <a:p>
            <a:r>
              <a:rPr lang="x-none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SEXUAL TRANSMITTED INFECTIONS(STI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x-none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) OTHER THAN HIV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3612" y="4343400"/>
            <a:ext cx="10668000" cy="1295400"/>
          </a:xfrm>
        </p:spPr>
        <p:txBody>
          <a:bodyPr>
            <a:normAutofit fontScale="40000" lnSpcReduction="20000"/>
          </a:bodyPr>
          <a:lstStyle/>
          <a:p>
            <a:r>
              <a:rPr lang="en-US" sz="51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Dr</a:t>
            </a:r>
            <a:r>
              <a:rPr lang="en-US" sz="51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1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Elimokozi</a:t>
            </a:r>
            <a:r>
              <a:rPr lang="en-US" sz="51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51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Maleko</a:t>
            </a:r>
            <a:endParaRPr lang="en-US" sz="51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51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Dr Patrick </a:t>
            </a:r>
            <a:r>
              <a:rPr lang="en-US" sz="51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Mlowezi</a:t>
            </a:r>
            <a:endParaRPr lang="en-US" sz="51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51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51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Facilitator : Prof </a:t>
            </a:r>
            <a:r>
              <a:rPr lang="en-US" sz="51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Munseri</a:t>
            </a:r>
            <a:endParaRPr lang="en-US" sz="51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377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Definition of terms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Epidemiology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FACTORS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STIs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MANAGEMENT STRATEGIES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COMPLICATIONS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AND PREVENTION STRATEGIES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736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5528"/>
            <a:ext cx="10972800" cy="87775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83064"/>
            <a:ext cx="109728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STIs (Sexually Transmitted Infections) 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infections that are predominantly transmitted through sexual contact with a person who has STI</a:t>
            </a:r>
          </a:p>
          <a:p>
            <a:pPr>
              <a:buFont typeface="Wingdings" pitchFamily="2" charset="2"/>
              <a:buChar char="Ø"/>
            </a:pPr>
            <a:endParaRPr lang="en-US" sz="105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Persons maybe infected and have potential to infect others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without showing signs and symptoms of disease</a:t>
            </a:r>
          </a:p>
          <a:p>
            <a:pPr marL="0" indent="0">
              <a:buNone/>
            </a:pPr>
            <a:endParaRPr lang="en-US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327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495" y="1562628"/>
            <a:ext cx="10972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anose="02020603050405020304" pitchFamily="18" charset="0"/>
              </a:rPr>
              <a:t>STDs (Sexually Transmitted Diseases)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anose="02020603050405020304" pitchFamily="18" charset="0"/>
              </a:rPr>
              <a:t>A group of communicable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transmitted predominantly by unprotected sexual contact including vaginal intercourse, oral or anal sex,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showing signs and symptoms</a:t>
            </a:r>
          </a:p>
        </p:txBody>
      </p:sp>
    </p:spTree>
    <p:extLst>
      <p:ext uri="{BB962C8B-B14F-4D97-AF65-F5344CB8AC3E}">
        <p14:creationId xmlns:p14="http://schemas.microsoft.com/office/powerpoint/2010/main" val="295406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82" y="350729"/>
            <a:ext cx="11824570" cy="5611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3190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EPIDEMIOLOGY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374732"/>
            <a:ext cx="11277600" cy="4953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2020 the incidence of STI among people aged 15-49 years was estimated to be 374 million worldwide, approximately 1 million infection</a:t>
            </a:r>
          </a:p>
          <a:p>
            <a:pPr marL="0" indent="0">
              <a:buNone/>
            </a:pPr>
            <a:endParaRPr lang="en-US" sz="2800" b="1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most cases are asymptomatic</a:t>
            </a:r>
          </a:p>
          <a:p>
            <a:pPr>
              <a:buFont typeface="Wingdings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These infections include curable STIs: Chlamydia, Syphilis, Gonorrhea, and Trichomonas</a:t>
            </a:r>
          </a:p>
          <a:p>
            <a:endParaRPr lang="en-US" sz="33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4390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700" y="274638"/>
            <a:ext cx="10807700" cy="525462"/>
          </a:xfrm>
        </p:spPr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700" y="711207"/>
            <a:ext cx="11391900" cy="4267194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 estimated 8 million adults between 15 and 49 years old were infected with syphilis in 2022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 estimated 520 million people aged 15–49 years (13%) worldwide have herpes simplex virus type 2 (HSV-2) infection, the main cause of genital herpes</a:t>
            </a:r>
            <a:endParaRPr lang="en-US" sz="2800" i="1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Human papillomavirus (HPV) infection is associated with over 311 000 cervical cancer deaths each year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1300" y="5143500"/>
            <a:ext cx="10833100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Harfouche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 M et al. Estimated global and regional incidence and prevalence of herpes simplex virus infections and genital ulcer disease in 2020: mathematical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modelling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 analyses. Sex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Transm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 Infect. 2025 May 19;101(4):214-223.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doi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: 10.1136/sextrans-2024-056307. PMID: 39658199</a:t>
            </a:r>
          </a:p>
        </p:txBody>
      </p:sp>
    </p:spTree>
    <p:extLst>
      <p:ext uri="{BB962C8B-B14F-4D97-AF65-F5344CB8AC3E}">
        <p14:creationId xmlns:p14="http://schemas.microsoft.com/office/powerpoint/2010/main" val="3811802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1.1 million pregnant women were estimated to be infected with syphilis in 2022, resulting in over 390 000 adverse birth outcomes</a:t>
            </a: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STIs have a direct impact on sexual and reproductive health through stigmatization, infertility, cancers and pregnancy complications and can increase the risk of HIV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288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014" y="914421"/>
            <a:ext cx="11409631" cy="3229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5807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 review</a:t>
            </a:r>
          </a:p>
        </p:txBody>
      </p:sp>
      <p:sp>
        <p:nvSpPr>
          <p:cNvPr id="1048668" name="Content Placeholder 2"/>
          <p:cNvSpPr>
            <a:spLocks noGrp="1"/>
          </p:cNvSpPr>
          <p:nvPr>
            <p:ph idx="1"/>
          </p:nvPr>
        </p:nvSpPr>
        <p:spPr>
          <a:xfrm>
            <a:off x="711200" y="1447800"/>
            <a:ext cx="10972800" cy="470852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Study Objective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Prevalence of chlamydia,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gonorrhoea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trichomoniasis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among male and female general populations in sub-Saharan Africa from 2000–2024</a:t>
            </a:r>
          </a:p>
          <a:p>
            <a:pPr>
              <a:buFont typeface="Wingdings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Study Methods :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 systematic review and meta-regression analysis, included 211 studies from 28 countries</a:t>
            </a:r>
          </a:p>
        </p:txBody>
      </p:sp>
      <p:sp>
        <p:nvSpPr>
          <p:cNvPr id="104866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1105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Findings : 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2020, estimated prevalence among 15–49-year-olds in SSA:-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Chlamydia was 6.6% (females) and 4.7% (males)</a:t>
            </a:r>
          </a:p>
          <a:p>
            <a:pPr>
              <a:buFontTx/>
              <a:buChar char="-"/>
            </a:pP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Gonorrhoea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2.4% (females) and 1.7%(males)</a:t>
            </a:r>
          </a:p>
          <a:p>
            <a:pPr>
              <a:buFontTx/>
              <a:buChar char="-"/>
            </a:pP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Trichomoniasis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6.8%(females) and 1.7%(males)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From 2010–2020, chlamydia prevalence increased by 34.5% in SSA, while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gonorrhoea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trichomoniasis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trends were not statistically significant</a:t>
            </a:r>
          </a:p>
          <a:p>
            <a:pPr>
              <a:buFontTx/>
              <a:buChar char="-"/>
            </a:pP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212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  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SSA has a high, geographically varied STI burden, with increasing prevalence of chlamydia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Chlamydia and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gonorrhoea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prevalence were highest in Southern and Eastern Africa, whereas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trichomoniasis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was similar across sub-regions</a:t>
            </a:r>
          </a:p>
        </p:txBody>
      </p:sp>
    </p:spTree>
    <p:extLst>
      <p:ext uri="{BB962C8B-B14F-4D97-AF65-F5344CB8AC3E}">
        <p14:creationId xmlns:p14="http://schemas.microsoft.com/office/powerpoint/2010/main" val="79945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Epidemiology of STI in Tanzania</a:t>
            </a:r>
          </a:p>
        </p:txBody>
      </p:sp>
      <p:pic>
        <p:nvPicPr>
          <p:cNvPr id="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67" y="1215025"/>
            <a:ext cx="11026990" cy="4659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4939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44562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Article review</a:t>
            </a:r>
          </a:p>
        </p:txBody>
      </p:sp>
      <p:sp>
        <p:nvSpPr>
          <p:cNvPr id="1048668" name="Content Placeholder 2"/>
          <p:cNvSpPr>
            <a:spLocks noGrp="1"/>
          </p:cNvSpPr>
          <p:nvPr>
            <p:ph idx="1"/>
          </p:nvPr>
        </p:nvSpPr>
        <p:spPr>
          <a:xfrm>
            <a:off x="711200" y="914400"/>
            <a:ext cx="10972800" cy="51816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Study Objective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To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determine the prevalence of STIs and associated  risk factors among who presented with genital symptoms in STI/outpatient department (OPD) clinics in two regional referral hospitals and six health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centres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in six regions in Tanzania 2014 to 2016</a:t>
            </a: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Study Methods :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Cross-sectional study (2014-2016) at 8 health facilities across 6 regions(Dar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Salaam,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Tanga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Kilimanjaro,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Mbeya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Dodoma and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Mwanza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 total of 1243 Patients with genital symptoms were tested using molecular diagnostics;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syndromic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management was also evaluated.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6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524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391" y="186956"/>
            <a:ext cx="10972800" cy="639762"/>
          </a:xfrm>
        </p:spPr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041" y="961379"/>
            <a:ext cx="11043780" cy="4850698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Findings : </a:t>
            </a:r>
            <a:endParaRPr lang="en-GB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overall prevalence of all STIs was 55.8%. Women accounted for majority 86.3%</a:t>
            </a:r>
          </a:p>
          <a:p>
            <a:pPr>
              <a:buFont typeface="Wingdings" pitchFamily="2" charset="2"/>
              <a:buChar char="ü"/>
            </a:pPr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T. </a:t>
            </a:r>
            <a:r>
              <a:rPr lang="en-GB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vaginalis</a:t>
            </a:r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39.9% , </a:t>
            </a:r>
          </a:p>
          <a:p>
            <a:pPr>
              <a:buFont typeface="Wingdings" pitchFamily="2" charset="2"/>
              <a:buChar char="ü"/>
            </a:pPr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N. </a:t>
            </a:r>
            <a:r>
              <a:rPr lang="en-GB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gonorrhoeae</a:t>
            </a:r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13.4%, </a:t>
            </a:r>
          </a:p>
          <a:p>
            <a:pPr>
              <a:buFont typeface="Wingdings" pitchFamily="2" charset="2"/>
              <a:buChar char="ü"/>
            </a:pPr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C. trachomatis 13.4% and</a:t>
            </a:r>
          </a:p>
          <a:p>
            <a:pPr>
              <a:buFont typeface="Wingdings" pitchFamily="2" charset="2"/>
              <a:buChar char="ü"/>
            </a:pPr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M. </a:t>
            </a:r>
            <a:r>
              <a:rPr lang="en-GB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genitalium</a:t>
            </a:r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5.1% </a:t>
            </a:r>
          </a:p>
          <a:p>
            <a:pPr>
              <a:buFont typeface="Wingdings" pitchFamily="2" charset="2"/>
              <a:buChar char="ü"/>
            </a:pPr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High prevalence of 68.6%, 57.9%, and 47.9% of all STIs were observed in Dodoma, </a:t>
            </a:r>
            <a:r>
              <a:rPr lang="en-GB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Mwanza</a:t>
            </a:r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and Dar </a:t>
            </a:r>
            <a:r>
              <a:rPr lang="en-GB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es</a:t>
            </a:r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salaam respectively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764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 : 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study reported high prevalence of STIs and these infections are common and more prevalent in urban areas among patients attending STI clinics in Tanzania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T.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vaginalis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N.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gonorrhoeae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and C. trachomatis were more common and prevalent and were found infecting more young adults both men and women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137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RISK FACTORS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524000"/>
            <a:ext cx="5892800" cy="4525963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GB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Behavioural factors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Having multiple sexual partners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Having high risk partner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Unsafe sex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Alcohol and drug abuse</a:t>
            </a:r>
          </a:p>
          <a:p>
            <a:pPr marL="457200" lvl="1" indent="0">
              <a:buNone/>
            </a:pPr>
            <a:endParaRPr lang="en-GB" sz="13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GB" sz="24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Socio-economic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Lack of information on STI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Occupation (transactional sex)</a:t>
            </a:r>
          </a:p>
          <a:p>
            <a:pPr lvl="1">
              <a:buFont typeface="Wingdings" pitchFamily="2" charset="2"/>
              <a:buChar char="ü"/>
            </a:pP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Poverty </a:t>
            </a:r>
          </a:p>
          <a:p>
            <a:pPr lvl="1">
              <a:buFont typeface="Wingdings" pitchFamily="2" charset="2"/>
              <a:buChar char="ü"/>
            </a:pPr>
            <a:endParaRPr lang="en-GB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anose="02020603050405020304" pitchFamily="18" charset="0"/>
              </a:rPr>
              <a:t>Endogenous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Unhygienic conditions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vaginosis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candidiasis</a:t>
            </a:r>
          </a:p>
          <a:p>
            <a:endParaRPr lang="x-none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9241A-A142-43AE-9FE1-D6AE8F1E9B8E}"/>
              </a:ext>
            </a:extLst>
          </p:cNvPr>
          <p:cNvSpPr txBox="1">
            <a:spLocks/>
          </p:cNvSpPr>
          <p:nvPr/>
        </p:nvSpPr>
        <p:spPr>
          <a:xfrm>
            <a:off x="5791200" y="1524000"/>
            <a:ext cx="609600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en-GB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Cultural</a:t>
            </a:r>
          </a:p>
          <a:p>
            <a:pPr lvl="1">
              <a:buFont typeface="Wingdings" pitchFamily="2" charset="2"/>
              <a:buChar char="ü"/>
            </a:pPr>
            <a:r>
              <a:rPr lang="en-GB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Female genital mutilation</a:t>
            </a:r>
          </a:p>
          <a:p>
            <a:pPr lvl="1">
              <a:buFont typeface="Wingdings" pitchFamily="2" charset="2"/>
              <a:buChar char="ü"/>
            </a:pPr>
            <a:r>
              <a:rPr lang="en-GB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Widow inheritance</a:t>
            </a:r>
          </a:p>
          <a:p>
            <a:pPr marL="0" indent="0">
              <a:buFont typeface="Arial" pitchFamily="34" charset="0"/>
              <a:buNone/>
            </a:pPr>
            <a:endParaRPr lang="en-GB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GB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Biological</a:t>
            </a:r>
          </a:p>
          <a:p>
            <a:pPr lvl="1">
              <a:buFont typeface="Wingdings" pitchFamily="2" charset="2"/>
              <a:buChar char="ü"/>
            </a:pPr>
            <a:r>
              <a:rPr lang="en-GB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Age; Adolescents and youth are at most risk</a:t>
            </a:r>
          </a:p>
          <a:p>
            <a:pPr lvl="1">
              <a:buFont typeface="Wingdings" pitchFamily="2" charset="2"/>
              <a:buChar char="ü"/>
            </a:pPr>
            <a:r>
              <a:rPr lang="en-GB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Gender; Female are more likely to be infected compared to males</a:t>
            </a:r>
          </a:p>
          <a:p>
            <a:pPr>
              <a:buFont typeface="Wingdings" pitchFamily="2" charset="2"/>
              <a:buChar char="Ø"/>
            </a:pPr>
            <a:r>
              <a:rPr lang="en-GB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Political </a:t>
            </a:r>
          </a:p>
          <a:p>
            <a:pPr lvl="1">
              <a:buFont typeface="Wingdings" pitchFamily="2" charset="2"/>
              <a:buChar char="ü"/>
            </a:pPr>
            <a:r>
              <a:rPr lang="en-GB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Wars and civil crisis</a:t>
            </a:r>
          </a:p>
          <a:p>
            <a:pPr marL="0" indent="0">
              <a:buFont typeface="Arial" pitchFamily="34" charset="0"/>
              <a:buNone/>
            </a:pPr>
            <a:endParaRPr lang="en-GB" sz="2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GB" sz="22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Iatrogenic</a:t>
            </a:r>
          </a:p>
          <a:p>
            <a:pPr lvl="1">
              <a:buFont typeface="Wingdings" pitchFamily="2" charset="2"/>
              <a:buChar char="ü"/>
            </a:pPr>
            <a:r>
              <a:rPr lang="en-GB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Unsafe procedures </a:t>
            </a:r>
            <a:r>
              <a:rPr lang="en-GB" sz="22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eg</a:t>
            </a:r>
            <a:r>
              <a:rPr lang="en-GB" sz="2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abortions</a:t>
            </a:r>
          </a:p>
          <a:p>
            <a:pPr marL="457200" lvl="1" indent="0">
              <a:buFont typeface="Arial" pitchFamily="34" charset="0"/>
              <a:buNone/>
            </a:pPr>
            <a:endParaRPr lang="en-GB" sz="2000" dirty="0">
              <a:solidFill>
                <a:schemeClr val="bg2">
                  <a:lumMod val="10000"/>
                </a:schemeClr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27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838221"/>
            <a:ext cx="10972800" cy="4128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5647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563671" y="31844"/>
            <a:ext cx="11018729" cy="945185"/>
          </a:xfrm>
        </p:spPr>
        <p:txBody>
          <a:bodyPr/>
          <a:lstStyle/>
          <a:p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Article review</a:t>
            </a:r>
          </a:p>
        </p:txBody>
      </p:sp>
      <p:sp>
        <p:nvSpPr>
          <p:cNvPr id="1048668" name="Content Placeholder 2"/>
          <p:cNvSpPr>
            <a:spLocks noGrp="1"/>
          </p:cNvSpPr>
          <p:nvPr>
            <p:ph idx="1"/>
          </p:nvPr>
        </p:nvSpPr>
        <p:spPr>
          <a:xfrm>
            <a:off x="347945" y="1189973"/>
            <a:ext cx="10972800" cy="4659682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Study Objective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To assess how common STIs are and identify risk factors among young female students in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Mbeya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Tanzania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Methods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A cross-sectional study was conducted from February 2020 to June 2021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150 female students aged 18-24 years from 5 HLIs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Real-time Polymerase Chain Reaction (RT-PCR) to detect for Mycoplasma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genitalium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(MG), Chlamydia trachomatis (CT), Neisseria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gonorrhoea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(NG),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Trichomonas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vaginalis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(TV),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Ureaplasma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parvum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(UP), Mycoplasma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hominis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(MH) and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Ureaplasma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urealyticum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(UU)</a:t>
            </a:r>
          </a:p>
        </p:txBody>
      </p:sp>
      <p:sp>
        <p:nvSpPr>
          <p:cNvPr id="104866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942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6394"/>
            <a:ext cx="10972800" cy="539803"/>
          </a:xfrm>
        </p:spPr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200" y="864296"/>
            <a:ext cx="10972800" cy="503327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Findings :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Out of 150 participants, 19.33% had Mycoplasma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genitalium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, Chlamydia trachomatis , Neisseria gonorrhea, and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Trichomona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vaginalis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Ureaplasma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parvum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were 56%, and a combination of Mycoplasma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hominis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Ureaplasma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urealyticum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were 38%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More than half (59.01%) of positive cases had multiple infections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The majority of participants had poor levels of STI knowledge.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Being a young female student (&lt; 20 years) and having a history of practicing oral sex were significantly associated with an increased likelihood of having an STI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106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 :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STI diagnosis using molecular assays is beneficial in detecting pathogens not routinely tested in health facilities and for identifying asymptomatic infected individuals 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There is a paramount necessity for health promotion, to scale up STI education and prevention intervention strategies among female students in HLIs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479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CLASSIFICATION OF STIs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Etiological </a:t>
            </a:r>
          </a:p>
          <a:p>
            <a:pPr>
              <a:buFont typeface="Wingdings" pitchFamily="2" charset="2"/>
              <a:buChar char="Ø"/>
            </a:pP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Syndromic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8672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ETIOLOGICAL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1389061"/>
            <a:ext cx="3714750" cy="4574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0" y="1389061"/>
            <a:ext cx="4485936" cy="450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404" y="1389061"/>
            <a:ext cx="3634296" cy="1781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1457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SYNDROMIC CLASSIFICATION OF STIs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x-none"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W</a:t>
            </a:r>
            <a:r>
              <a:rPr lang="en-GB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 STI’s are classified as:</a:t>
            </a:r>
            <a:endParaRPr lang="x-none" sz="28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x-none"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Urethral discharge syndrome </a:t>
            </a:r>
          </a:p>
          <a:p>
            <a:pPr>
              <a:buFont typeface="Wingdings" pitchFamily="2" charset="2"/>
              <a:buChar char="Ø"/>
            </a:pPr>
            <a:r>
              <a:rPr lang="x-none"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Vaginal discharge syndrome </a:t>
            </a:r>
          </a:p>
          <a:p>
            <a:pPr>
              <a:buFont typeface="Wingdings" pitchFamily="2" charset="2"/>
              <a:buChar char="Ø"/>
            </a:pPr>
            <a:r>
              <a:rPr lang="x-none"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Lower abdominal pain</a:t>
            </a:r>
          </a:p>
          <a:p>
            <a:pPr>
              <a:buFont typeface="Wingdings" pitchFamily="2" charset="2"/>
              <a:buChar char="Ø"/>
            </a:pPr>
            <a:r>
              <a:rPr lang="x-none"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Genital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x-none"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lcer disease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syndrome</a:t>
            </a:r>
            <a:endParaRPr lang="x-none" sz="28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x-none" sz="28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Anorectal discharge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895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119" y="0"/>
            <a:ext cx="10784265" cy="1018095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762000"/>
            <a:ext cx="11684000" cy="5333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65371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33244-8B4F-4A5F-8A71-81F5124A5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52695DFB-4FB8-4262-9FD2-074776900A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58800" y="1027906"/>
            <a:ext cx="10985499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805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0D743-FA1F-433C-9B4F-FA51726BB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50" y="1612900"/>
            <a:ext cx="11467501" cy="443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631369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1"/>
            <a:ext cx="12192000" cy="685800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URETHRAL DISCHARGE SYNDROME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256" y="570821"/>
            <a:ext cx="11728514" cy="5493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E359CD-9931-CF5C-18CF-676FE4AD22E4}"/>
              </a:ext>
            </a:extLst>
          </p:cNvPr>
          <p:cNvSpPr txBox="1"/>
          <p:nvPr/>
        </p:nvSpPr>
        <p:spPr>
          <a:xfrm>
            <a:off x="2844803" y="6270309"/>
            <a:ext cx="579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WHO GUIDELINE 2021</a:t>
            </a:r>
          </a:p>
        </p:txBody>
      </p:sp>
    </p:spTree>
    <p:extLst>
      <p:ext uri="{BB962C8B-B14F-4D97-AF65-F5344CB8AC3E}">
        <p14:creationId xmlns:p14="http://schemas.microsoft.com/office/powerpoint/2010/main" val="2936147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227CB-43F4-AEF3-C4CD-DB961FA4E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x-none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E4C831-C94F-977C-9676-E35BAC35FB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" y="4"/>
            <a:ext cx="12191999" cy="6857999"/>
          </a:xfrm>
        </p:spPr>
      </p:pic>
    </p:spTree>
    <p:extLst>
      <p:ext uri="{BB962C8B-B14F-4D97-AF65-F5344CB8AC3E}">
        <p14:creationId xmlns:p14="http://schemas.microsoft.com/office/powerpoint/2010/main" val="41649136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01732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WHO RECOMMENDED TREATMENT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6326"/>
            <a:ext cx="11791540" cy="51984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6515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77" y="1184635"/>
            <a:ext cx="110744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5111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316" y="1600206"/>
            <a:ext cx="823336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83" y="21"/>
            <a:ext cx="12097517" cy="642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E359CD-9931-CF5C-18CF-676FE4AD22E4}"/>
              </a:ext>
            </a:extLst>
          </p:cNvPr>
          <p:cNvSpPr txBox="1"/>
          <p:nvPr/>
        </p:nvSpPr>
        <p:spPr>
          <a:xfrm>
            <a:off x="2641603" y="6371664"/>
            <a:ext cx="5796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WHO GUIDELINE 2021</a:t>
            </a:r>
          </a:p>
        </p:txBody>
      </p:sp>
    </p:spTree>
    <p:extLst>
      <p:ext uri="{BB962C8B-B14F-4D97-AF65-F5344CB8AC3E}">
        <p14:creationId xmlns:p14="http://schemas.microsoft.com/office/powerpoint/2010/main" val="5007296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WHO RECOMMENDED TREATMENT </a:t>
            </a:r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1417638"/>
            <a:ext cx="113792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84607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249C-4F74-525C-BC8D-E5AB139C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957" y="37578"/>
            <a:ext cx="8534400" cy="543697"/>
          </a:xfrm>
        </p:spPr>
        <p:txBody>
          <a:bodyPr>
            <a:noAutofit/>
          </a:bodyPr>
          <a:lstStyle/>
          <a:p>
            <a:r>
              <a:rPr lang="x-none" sz="3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TANZANIA TREATMENT GUIDELINE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878405-2B8D-8D6A-3F8C-92845F163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" y="582371"/>
            <a:ext cx="11988796" cy="589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6576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22" y="228600"/>
            <a:ext cx="11785599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87624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76200"/>
            <a:ext cx="10972800" cy="9144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VAGINAL DISCHARGE SYNDROME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0600"/>
            <a:ext cx="118872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643546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A2817A-F181-DCF4-A093-867E64F916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9628" y="1135930"/>
            <a:ext cx="789023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5023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53578"/>
            <a:ext cx="109728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WHO RECOMMENDED TREATMENT</a:t>
            </a:r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685800"/>
            <a:ext cx="11785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54501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234410"/>
            <a:ext cx="10972800" cy="1143000"/>
          </a:xfrm>
        </p:spPr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23900"/>
            <a:ext cx="112776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40972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B10B2-4A2B-4260-A225-C1FFE624B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3" y="21"/>
            <a:ext cx="12192000" cy="64346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VAGINAL DISCHARGE SYNDROME</a:t>
            </a:r>
            <a:endParaRPr lang="x-none" sz="3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A2B1AE-F789-4D1B-8D96-7A630F0C32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85800"/>
            <a:ext cx="12192000" cy="6172200"/>
          </a:xfrm>
        </p:spPr>
      </p:pic>
    </p:spTree>
    <p:extLst>
      <p:ext uri="{BB962C8B-B14F-4D97-AF65-F5344CB8AC3E}">
        <p14:creationId xmlns:p14="http://schemas.microsoft.com/office/powerpoint/2010/main" val="14826472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CD04-EC3B-4026-B6C6-E7F3D74C2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4346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VDS CONT….</a:t>
            </a:r>
            <a:endParaRPr lang="x-none" sz="28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567A8C-F520-42A2-958D-298EB75E63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09600"/>
            <a:ext cx="12192000" cy="6248400"/>
          </a:xfrm>
        </p:spPr>
      </p:pic>
    </p:spTree>
    <p:extLst>
      <p:ext uri="{BB962C8B-B14F-4D97-AF65-F5344CB8AC3E}">
        <p14:creationId xmlns:p14="http://schemas.microsoft.com/office/powerpoint/2010/main" val="34383285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9"/>
            <a:ext cx="11988800" cy="6019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63977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Article review</a:t>
            </a:r>
          </a:p>
        </p:txBody>
      </p:sp>
      <p:sp>
        <p:nvSpPr>
          <p:cNvPr id="1048668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4708526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Study Objective: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determine the antimicrobial susceptibility patterns of Neisseria gonorrhoeae isolates from STI patients in six regions of Tanzania from 2014 to 2016</a:t>
            </a: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Study Methods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 vitro antimicrobial testing of 164 N. gonorrhoeae isolates was conducted using E-Test and agar dilution methods to assess resistance profiles</a:t>
            </a:r>
          </a:p>
        </p:txBody>
      </p:sp>
      <p:sp>
        <p:nvSpPr>
          <p:cNvPr id="104866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1417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Ø"/>
            </a:pP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Findings: </a:t>
            </a:r>
          </a:p>
          <a:p>
            <a:pPr>
              <a:buFont typeface="Wingdings" pitchFamily="2" charset="2"/>
              <a:buChar char="ü"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prevalence of resistant N.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gonorrhoea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to tetracycline, norfloxacin, penicillin and ciprofloxacin were 98.6%, 82.2%, 84.3% and 75.6%, respectively</a:t>
            </a:r>
          </a:p>
          <a:p>
            <a:pPr>
              <a:buFont typeface="Wingdings" pitchFamily="2" charset="2"/>
              <a:buChar char="ü"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overall MDR-NG was 79.9%, and XDR-NG was 3.6%</a:t>
            </a:r>
          </a:p>
          <a:p>
            <a:pPr>
              <a:buFont typeface="Wingdings" pitchFamily="2" charset="2"/>
              <a:buChar char="ü"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None of the isolates was resistant to kanamycin</a:t>
            </a:r>
          </a:p>
          <a:p>
            <a:pPr>
              <a:buFont typeface="Wingdings" pitchFamily="2" charset="2"/>
              <a:buChar char="Ø"/>
            </a:pPr>
            <a:endParaRPr lang="en-US" sz="23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40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 &amp; recommendations:</a:t>
            </a:r>
          </a:p>
          <a:p>
            <a:pPr>
              <a:buFont typeface="Wingdings" pitchFamily="2" charset="2"/>
              <a:buChar char="ü"/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The study highlights alarming levels of antimicrobial resistance in N. </a:t>
            </a:r>
            <a:r>
              <a:rPr lang="en-US" sz="40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gonorrhoea</a:t>
            </a: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, emphasizing the need for robust surveillance and tailored treatment strategies in Tanzania</a:t>
            </a:r>
          </a:p>
        </p:txBody>
      </p:sp>
    </p:spTree>
    <p:extLst>
      <p:ext uri="{BB962C8B-B14F-4D97-AF65-F5344CB8AC3E}">
        <p14:creationId xmlns:p14="http://schemas.microsoft.com/office/powerpoint/2010/main" val="6938706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LOWER ABDOMINAL PAIN (PID)</a:t>
            </a:r>
          </a:p>
        </p:txBody>
      </p:sp>
      <p:pic>
        <p:nvPicPr>
          <p:cNvPr id="1741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1143000"/>
            <a:ext cx="115824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931754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WHO RECOMMENDED TREATMENT</a:t>
            </a:r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066800"/>
            <a:ext cx="1198880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65210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3E86A-578E-787E-0ABD-999F67260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x-none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A45E5A6-0614-77F4-20D6-8A7A8F1A8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0"/>
            <a:ext cx="12192000" cy="585500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740249C-4F74-525C-BC8D-E5AB139C2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76221"/>
            <a:ext cx="10972800" cy="639763"/>
          </a:xfrm>
        </p:spPr>
        <p:txBody>
          <a:bodyPr>
            <a:noAutofit/>
          </a:bodyPr>
          <a:lstStyle/>
          <a:p>
            <a:r>
              <a:rPr lang="x-none" sz="320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TANZANIA TREATMENT GUIDELINE</a:t>
            </a:r>
            <a:endParaRPr lang="x-none" sz="3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9431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75985-9253-4A82-8AE2-8C5E496EE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6212" y="210957"/>
            <a:ext cx="8079581" cy="338667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PID CONT…</a:t>
            </a:r>
            <a:endParaRPr lang="x-none" sz="32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39C402-13A5-4D15-BD7F-E8F2DB64E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723" y="662610"/>
            <a:ext cx="9767244" cy="5815128"/>
          </a:xfrm>
        </p:spPr>
      </p:pic>
    </p:spTree>
    <p:extLst>
      <p:ext uri="{BB962C8B-B14F-4D97-AF65-F5344CB8AC3E}">
        <p14:creationId xmlns:p14="http://schemas.microsoft.com/office/powerpoint/2010/main" val="31374920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00200"/>
            <a:ext cx="11480800" cy="4799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558464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609600" y="44315"/>
            <a:ext cx="10972800" cy="114300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Article review</a:t>
            </a:r>
          </a:p>
        </p:txBody>
      </p:sp>
      <p:sp>
        <p:nvSpPr>
          <p:cNvPr id="1048668" name="Content Placeholder 2"/>
          <p:cNvSpPr>
            <a:spLocks noGrp="1"/>
          </p:cNvSpPr>
          <p:nvPr>
            <p:ph idx="1"/>
          </p:nvPr>
        </p:nvSpPr>
        <p:spPr>
          <a:xfrm>
            <a:off x="419100" y="1187315"/>
            <a:ext cx="10972800" cy="4708526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Study Objective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: To determine whether adding Metronidazole to standard PID treatment (Ceftriaxone + Doxycycline) improves clinical and microbiological outcomes, particularly by enhancing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anaerobic coverage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Study Methods : 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Randomized,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double-blind, placebo-controlled trial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233 women with acute PID Compared: Ceftriaxone (single dose) + doxycycline (14 days)</a:t>
            </a:r>
            <a:b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with </a:t>
            </a:r>
            <a:r>
              <a:rPr lang="en-US" sz="2800" b="1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without metronidazole (14 days)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Primary Outcomes: Short-term clinical improvement (at 3 days) 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Additional outcomes: Microbiological and clinical outcomes at 30 days</a:t>
            </a:r>
          </a:p>
        </p:txBody>
      </p:sp>
      <p:sp>
        <p:nvSpPr>
          <p:cNvPr id="104866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6861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33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Findings: </a:t>
            </a:r>
          </a:p>
          <a:p>
            <a:pPr>
              <a:buFont typeface="Wingdings" pitchFamily="2" charset="2"/>
              <a:buChar char="ü"/>
            </a:pPr>
            <a:r>
              <a:rPr lang="en-US" sz="33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No difference</a:t>
            </a:r>
            <a:r>
              <a:rPr lang="en-US" sz="33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in early clinical improvement (day 3) </a:t>
            </a:r>
          </a:p>
          <a:p>
            <a:pPr>
              <a:buFont typeface="Wingdings" pitchFamily="2" charset="2"/>
              <a:buChar char="ü"/>
            </a:pPr>
            <a:r>
              <a:rPr lang="en-US" sz="33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At 30 days, metronidazole group showed: </a:t>
            </a:r>
          </a:p>
          <a:p>
            <a:pPr lvl="1"/>
            <a:r>
              <a:rPr lang="en-US" sz="33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Lower anaerobic infection</a:t>
            </a:r>
            <a:r>
              <a:rPr lang="en-US" sz="33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(8% </a:t>
            </a:r>
            <a:r>
              <a:rPr lang="en-US" sz="33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33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21%) </a:t>
            </a:r>
          </a:p>
          <a:p>
            <a:pPr lvl="1"/>
            <a:r>
              <a:rPr lang="en-US" sz="33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Reduced Mycoplasma </a:t>
            </a:r>
            <a:r>
              <a:rPr lang="en-US" sz="33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genitalium</a:t>
            </a:r>
            <a:r>
              <a:rPr lang="en-US" sz="33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prevalence (4% </a:t>
            </a:r>
            <a:r>
              <a:rPr lang="en-US" sz="33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33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14%) </a:t>
            </a:r>
          </a:p>
          <a:p>
            <a:pPr lvl="1"/>
            <a:r>
              <a:rPr lang="en-US" sz="33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Less pelvic tenderness (9% </a:t>
            </a:r>
            <a:r>
              <a:rPr lang="en-US" sz="33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en-US" sz="33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20%)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3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Adherence and side effects were similar</a:t>
            </a:r>
            <a:r>
              <a:rPr lang="en-US" sz="33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between groups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5091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Conclusion: 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Adding metronidazole is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safe, well tolerated, and improves microbiological and clinical outcomes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Supports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routine inclusion of metronidazole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in standard PID treatment regimens</a:t>
            </a:r>
          </a:p>
        </p:txBody>
      </p:sp>
    </p:spTree>
    <p:extLst>
      <p:ext uri="{BB962C8B-B14F-4D97-AF65-F5344CB8AC3E}">
        <p14:creationId xmlns:p14="http://schemas.microsoft.com/office/powerpoint/2010/main" val="31700916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75365"/>
            <a:ext cx="10972800" cy="967635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WHAT IS NEW?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2230" y="1050630"/>
            <a:ext cx="10972800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31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WHO is shifting from traditional </a:t>
            </a:r>
            <a:r>
              <a:rPr lang="en-US" sz="31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syndromic</a:t>
            </a:r>
            <a:r>
              <a:rPr lang="en-US" sz="31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management toward etiologic and molecular diagnosis of STIs</a:t>
            </a:r>
          </a:p>
          <a:p>
            <a:pPr>
              <a:buFont typeface="Wingdings" pitchFamily="2" charset="2"/>
              <a:buChar char="Ø"/>
            </a:pPr>
            <a:r>
              <a:rPr lang="en-US" sz="31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Expanded screening for asymptomatic: </a:t>
            </a:r>
          </a:p>
          <a:p>
            <a:pPr>
              <a:buFont typeface="Wingdings" pitchFamily="2" charset="2"/>
              <a:buChar char="ü"/>
            </a:pPr>
            <a:r>
              <a:rPr lang="en-US" sz="31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Gonorrhea </a:t>
            </a:r>
          </a:p>
          <a:p>
            <a:pPr>
              <a:buFont typeface="Wingdings" pitchFamily="2" charset="2"/>
              <a:buChar char="ü"/>
            </a:pPr>
            <a:r>
              <a:rPr lang="en-US" sz="31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Chlamydia </a:t>
            </a:r>
          </a:p>
          <a:p>
            <a:pPr>
              <a:buFont typeface="Wingdings" pitchFamily="2" charset="2"/>
              <a:buChar char="Ø"/>
            </a:pPr>
            <a:r>
              <a:rPr lang="en-US" sz="31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Focus on high-risk groups:  adolescents and young adults, pregnant women,  sex workers, MSM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500" y="5292820"/>
            <a:ext cx="10706100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World Health Organization. WHO guideline on the management of asymptomatic sexually transmitted infections. Geneva: WHO; 2025.</a:t>
            </a:r>
          </a:p>
        </p:txBody>
      </p:sp>
    </p:spTree>
    <p:extLst>
      <p:ext uri="{BB962C8B-B14F-4D97-AF65-F5344CB8AC3E}">
        <p14:creationId xmlns:p14="http://schemas.microsoft.com/office/powerpoint/2010/main" val="8679129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97963"/>
            <a:ext cx="10972800" cy="1143000"/>
          </a:xfrm>
        </p:spPr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Paradigm Shift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721AA5-03FC-D64A-154D-66F44D6F5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242" y="827831"/>
            <a:ext cx="10371825" cy="5221191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8733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WHO RECOMMENDED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231906"/>
            <a:ext cx="1097280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1. Molecular Diagnostics (Gold Standard)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Nucleic Acid Amplification Tests (NAATs) are considered the gold standard for many STIs due to their high sensitivity (86.1%–100%) and specificity (97.1%–100%)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Polymerase Chain Reaction (PCR) 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Multiplex Assays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Near Point of Care Assays</a:t>
            </a:r>
          </a:p>
          <a:p>
            <a:pPr>
              <a:buFont typeface="Wingdings" pitchFamily="2" charset="2"/>
              <a:buChar char="ü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52083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562" y="876822"/>
            <a:ext cx="10830838" cy="524934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2. Rapid Point-of-Care (POC) Tests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WHO emphasizes the use of rapid tests that meet the ASSURED criteria (Affordable, Sensitive, Specific, User-friendly, Rapid/Robust, Equipment-free, and Delivered).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Rapid Syphilis Tests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Rapid HIV Test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Vaginal swab Test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6467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21" y="87682"/>
            <a:ext cx="11603276" cy="5898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27362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458" y="274638"/>
            <a:ext cx="10880942" cy="501976"/>
          </a:xfrm>
        </p:spPr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093" y="1139868"/>
            <a:ext cx="11194094" cy="494872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CRISPR-Based Diagnostics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Ultra-sensitive rapid STI detection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Potential future home-based testing technology</a:t>
            </a:r>
          </a:p>
          <a:p>
            <a:pPr>
              <a:buFont typeface="Wingdings" pitchFamily="2" charset="2"/>
              <a:buChar char="ü"/>
            </a:pPr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4. Self-Testing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Syphilis self-tests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Home STI kits</a:t>
            </a:r>
          </a:p>
          <a:p>
            <a:pPr>
              <a:buFont typeface="Wingdings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Digital-linked testing systems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5396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16" y="0"/>
            <a:ext cx="11624153" cy="5674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366029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52496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ARTICLE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365" y="973905"/>
            <a:ext cx="11594926" cy="533921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Objective: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To assess integration of point-of-care STI screening with HIV, syphilis, and hepatitis B testing in antenatal clinics in Zimbabwe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Methodology: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Mixed-methods study in antenatal care clinics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Between 12 January 2023 and 23 October 2023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Used point-of-care molecular STI testing alongside routine ANC screening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Evaluated feasibility, acceptability, and implementation challenges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2821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1770" y="488516"/>
            <a:ext cx="10730630" cy="4772416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Findings: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Integrated STI screening was feasible and acceptable Improved detection of asymptomatic STIs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Main challenges were staff workload, logistics, and training needs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Conclusion: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Point-of-care molecular STI screening in antenatal care can improve early STI diagnosis and supports shifting from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syndromic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 to etiologic STI management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7801" y="4838700"/>
            <a:ext cx="11467376" cy="11557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pPr algn="l"/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Martin K et al. Integrating point-of-care screening for curable sexually transmitted infections with HIV, syphilis and hepatitis B screening in antenatal care services in Zimbabwe: a mixed-methods process evaluation. BMJ Glob Health. 2025 Dec 5;10(12):e019820.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</a:rPr>
              <a:t>doi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</a:rPr>
              <a:t>: 10.1136/bmjgh-2025-019820. PMID: 41360480; PMCID: PMC12684121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650990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2094019" y="259838"/>
            <a:ext cx="8001000" cy="693162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GONORRHEA</a:t>
            </a:r>
            <a:endParaRPr lang="sw-KE" sz="3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1109707" y="1069157"/>
            <a:ext cx="9969623" cy="5063067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2nd most common bacterial STI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Caused by Gram negative , aerobic intracellular diplococci (Neisseria  gonorrhoeae) affecting mostly the columnar or cuboidal epithelium</a:t>
            </a:r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6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 mostly affected is 15 to 29 .Mostly affect the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cervix, urethra, rectum, throat,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occasionally  the 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eyes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endParaRPr lang="en-CA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sw-KE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28263" y="5184401"/>
            <a:ext cx="10544537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Global progress report on HIV, viral hepatitis and sexually transmitted infections, 2021". Geneva: WHO; 2021.· Link: WHO fact sheets on gonorrhea (published 2023-2024)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021CD-D5A3-C1B9-EE13-0DF76BD52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PATHOGENESIS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712B0DE-2215-272A-F0CF-748C1F5AE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Gonococci attach to the host mucosal cell (by pill and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proteins) within 24-48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hrs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penetrate through and between cells into the sub epithelia space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 response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invasion with neutrophils followed by epithelial sloughing,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formation of submucosal micro abscesses and purulent discharge</a:t>
            </a:r>
          </a:p>
        </p:txBody>
      </p:sp>
    </p:spTree>
    <p:extLst>
      <p:ext uri="{BB962C8B-B14F-4D97-AF65-F5344CB8AC3E}">
        <p14:creationId xmlns:p14="http://schemas.microsoft.com/office/powerpoint/2010/main" val="13308406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79939-CF65-467F-9A79-C2798300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DIAGNOSIS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3F4DBF2-0CC4-02E0-5AA2-8D5F673BFDBE}"/>
              </a:ext>
            </a:extLst>
          </p:cNvPr>
          <p:cNvSpPr txBox="1">
            <a:spLocks/>
          </p:cNvSpPr>
          <p:nvPr/>
        </p:nvSpPr>
        <p:spPr>
          <a:xfrm>
            <a:off x="507492" y="901019"/>
            <a:ext cx="7904988" cy="53473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:</a:t>
            </a:r>
            <a:endParaRPr lang="sw-KE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6523AB6-0DB6-5DC5-5EFF-451873C93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(urine, urethral swab, cervical/ vaginal swab, throat swab, rectal swab, eye swab, blood and synovial fluid)</a:t>
            </a: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Diagnostic methods</a:t>
            </a: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Gram stain and culture </a:t>
            </a:r>
          </a:p>
          <a:p>
            <a:pPr>
              <a:buFont typeface="Wingdings" pitchFamily="2" charset="2"/>
              <a:buChar char="ü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PCR-based testing (NAAT)</a:t>
            </a:r>
            <a:endParaRPr lang="x-none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x-none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37642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5505-AFD3-5C54-3357-19C2793E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TREATMENT(WHO)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94293-E160-AA35-D67A-4B6544B62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4525963"/>
          </a:xfrm>
        </p:spPr>
        <p:txBody>
          <a:bodyPr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3"/>
              </a:buClr>
              <a:buNone/>
              <a:defRPr/>
            </a:pPr>
            <a:r>
              <a:rPr lang="sw-KE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Recommended regimens: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sw-KE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iprofloxacin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500 mg orally, as a single dose </a:t>
            </a:r>
            <a:r>
              <a:rPr lang="sw-KE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Azithromycin, 2 g orally, as a single dose </a:t>
            </a:r>
            <a:r>
              <a:rPr lang="sw-KE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Ceftriaxone, 1gm by IV injection, as a single dose </a:t>
            </a:r>
            <a:r>
              <a:rPr lang="sw-KE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sw-KE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efixime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400 mg orally, as a single dose </a:t>
            </a:r>
            <a:r>
              <a:rPr lang="sw-KE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  <a:p>
            <a:pPr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Spectinomycin, 2 g by intramuscular injection, as a single dose.</a:t>
            </a:r>
            <a:endParaRPr lang="sw-KE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x-none" sz="28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9477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5505-AFD3-5C54-3357-19C2793E4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42" y="-92598"/>
            <a:ext cx="10370917" cy="82180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AMR IN THE MANAGEMENT OF GONORRHEA</a:t>
            </a:r>
            <a:endParaRPr lang="x-none" sz="3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E456A0E-9E3D-24D2-E78E-A90D358005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4240" y="694480"/>
            <a:ext cx="8936053" cy="423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82213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5505-AFD3-5C54-3357-19C2793E4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479" y="11575"/>
            <a:ext cx="109728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AMR IN THE MANAGEMENT OF GONORRHEA</a:t>
            </a:r>
            <a:endParaRPr lang="x-none" sz="3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929B987-0112-68A4-59ED-995B5FEAFE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0577" y="978031"/>
            <a:ext cx="10048783" cy="474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658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5505-AFD3-5C54-3357-19C2793E4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479" y="0"/>
            <a:ext cx="10972800" cy="1143000"/>
          </a:xfrm>
        </p:spPr>
        <p:txBody>
          <a:bodyPr>
            <a:normAutofit/>
          </a:bodyPr>
          <a:lstStyle/>
          <a:p>
            <a:endParaRPr lang="x-none" sz="3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5DDCB63-CE44-F801-3EA3-BF0809D1C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0939" y="928751"/>
            <a:ext cx="9392240" cy="500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8793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5505-AFD3-5C54-3357-19C2793E4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479" y="0"/>
            <a:ext cx="10972800" cy="1143000"/>
          </a:xfrm>
        </p:spPr>
        <p:txBody>
          <a:bodyPr>
            <a:normAutofit/>
          </a:bodyPr>
          <a:lstStyle/>
          <a:p>
            <a:endParaRPr lang="x-none" sz="3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13AA68-2B1A-043C-5B12-61B6AA9E83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2415"/>
          <a:stretch/>
        </p:blipFill>
        <p:spPr>
          <a:xfrm>
            <a:off x="810707" y="1015737"/>
            <a:ext cx="9775596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82434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5505-AFD3-5C54-3357-19C2793E4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479" y="0"/>
            <a:ext cx="10972800" cy="1143000"/>
          </a:xfrm>
        </p:spPr>
        <p:txBody>
          <a:bodyPr>
            <a:normAutofit/>
          </a:bodyPr>
          <a:lstStyle/>
          <a:p>
            <a:endParaRPr lang="x-none" sz="3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FDDA2C-A134-A5D7-DC4D-A5424CC935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987" y="959177"/>
            <a:ext cx="10108386" cy="476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179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5505-AFD3-5C54-3357-19C2793E4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479" y="0"/>
            <a:ext cx="10972800" cy="1143000"/>
          </a:xfrm>
        </p:spPr>
        <p:txBody>
          <a:bodyPr>
            <a:normAutofit/>
          </a:bodyPr>
          <a:lstStyle/>
          <a:p>
            <a:endParaRPr lang="x-none" sz="3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9FAD58F-8034-5156-0D45-0D42F4079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929" y="978031"/>
            <a:ext cx="10730846" cy="473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2961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6978" y="240007"/>
            <a:ext cx="9555510" cy="73158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HOPE IN THE DRUG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047" y="1072675"/>
            <a:ext cx="11750290" cy="37423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FDA approved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gepotidacin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Blujepa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in December 2025 for uncomplicated urogenital gonorrhea</a:t>
            </a: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first new class of oral antibiotic for gonorrhea in over 30 years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Approval based on the EAGLE-1 trial, where a single oral dose of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gepotidacin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was 92.6% effective, matching the current standard of care; critical in the current AMR era.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5747" y="4793637"/>
            <a:ext cx="10880201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Ross JDC et al. Oral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gepotidacin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for the treatment of uncomplicated urogenital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gonorrhoea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(EAGLE-1): a phase 3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randomised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, open-label, non-inferiority,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multicentre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study. Lancet. 2025 May 3;405(10489):1608-1620.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doi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: 10.1016/S0140-6736(25)00628-2.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Epub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2025 Apr 14. PMID: 40245902.</a:t>
            </a:r>
          </a:p>
        </p:txBody>
      </p:sp>
    </p:spTree>
    <p:extLst>
      <p:ext uri="{BB962C8B-B14F-4D97-AF65-F5344CB8AC3E}">
        <p14:creationId xmlns:p14="http://schemas.microsoft.com/office/powerpoint/2010/main" val="3214921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632" y="-92963"/>
            <a:ext cx="9555510" cy="73158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EAGLE-1 TRIAL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661" y="1072675"/>
            <a:ext cx="11632675" cy="427232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2DA8CA-B075-1B64-6EAE-58A805766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34" y="796085"/>
            <a:ext cx="9898144" cy="4822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80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632" y="-92963"/>
            <a:ext cx="9555510" cy="73158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EAGLE-1 TRIAL…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661" y="1072675"/>
            <a:ext cx="11632675" cy="427232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A4D35-CE99-524C-5F62-E0B45BE14D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82"/>
          <a:stretch/>
        </p:blipFill>
        <p:spPr>
          <a:xfrm>
            <a:off x="876692" y="638623"/>
            <a:ext cx="10241959" cy="534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69667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5" y="135133"/>
            <a:ext cx="7729728" cy="731586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SYPHILIS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661" y="1072675"/>
            <a:ext cx="11632675" cy="427232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51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Syphilis is a systemic disease caused by the spirochete T. pallidum </a:t>
            </a:r>
          </a:p>
          <a:p>
            <a:pPr marL="0" indent="0">
              <a:buNone/>
            </a:pPr>
            <a:endParaRPr lang="en-US" sz="51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51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estimates that 8 million adults between the ages 15 and 49 years acquired syphilis in 2024 globally</a:t>
            </a:r>
          </a:p>
          <a:p>
            <a:pPr marL="0" indent="0">
              <a:buNone/>
            </a:pPr>
            <a:endParaRPr lang="en-US" sz="51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51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Syphilis in pregnancy when not treated ,treated late or treated with incorrect antibiotics, results in 50-80% cases of adverse birth outcomes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51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51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congenital or acquired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51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has four stages ;primary, secondary, latent and tertiary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51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Tertiary stage include: </a:t>
            </a:r>
            <a:r>
              <a:rPr lang="en-US" sz="51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gummatous</a:t>
            </a:r>
            <a:r>
              <a:rPr lang="en-US" sz="51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syphilis, cardiovascular syphilis and neurosyphilis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51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62195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5554-3F00-4F9F-75AF-1E2511F47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x-none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tages of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x-none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yphilis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95319-9E02-3BDC-9F4D-E77591D54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-457200" eaLnBrk="1" hangingPunct="1">
              <a:lnSpc>
                <a:spcPct val="90000"/>
              </a:lnSpc>
              <a:buFont typeface="Wingdings" pitchFamily="2" charset="2"/>
              <a:buChar char="Ø"/>
            </a:pPr>
            <a:r>
              <a:rPr lang="en-CA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Syphilis</a:t>
            </a:r>
            <a:endParaRPr lang="en-CA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CA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Incubation period (3 weeks – 3Months) </a:t>
            </a:r>
            <a:r>
              <a:rPr lang="en-CA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maculepapuleulcer-clear</a:t>
            </a:r>
            <a:r>
              <a:rPr lang="en-CA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CA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base,sharp</a:t>
            </a:r>
            <a:r>
              <a:rPr lang="en-CA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margin, painless, firm, non-itchy chancre</a:t>
            </a:r>
          </a:p>
          <a:p>
            <a:pPr marL="457200" lvl="1" indent="-457200" eaLnBrk="1" hangingPunct="1">
              <a:lnSpc>
                <a:spcPct val="90000"/>
              </a:lnSpc>
              <a:buFont typeface="Wingdings" pitchFamily="2" charset="2"/>
              <a:buChar char="ü"/>
            </a:pPr>
            <a:endParaRPr lang="en-CA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Char char="ü"/>
            </a:pPr>
            <a:r>
              <a:rPr lang="en-CA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single/multiple (HIV)</a:t>
            </a:r>
          </a:p>
          <a:p>
            <a:endParaRPr lang="x-none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9408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EBF70-4FA8-4574-0F6C-3AD3D62EE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98174"/>
            <a:ext cx="7729728" cy="1040296"/>
          </a:xfrm>
        </p:spPr>
        <p:txBody>
          <a:bodyPr>
            <a:normAutofit/>
          </a:bodyPr>
          <a:lstStyle/>
          <a:p>
            <a:r>
              <a:rPr lang="x-none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SYPHILIS CHANCRE</a:t>
            </a:r>
          </a:p>
        </p:txBody>
      </p:sp>
      <p:pic>
        <p:nvPicPr>
          <p:cNvPr id="4" name="Picture 2" descr="C:\Users\Dr Faraja\Desktop\Chancre.jpg">
            <a:extLst>
              <a:ext uri="{FF2B5EF4-FFF2-40B4-BE49-F238E27FC236}">
                <a16:creationId xmlns:a16="http://schemas.microsoft.com/office/drawing/2014/main" id="{1EB239D3-9A87-7F1E-91C1-C8F30D02021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450800" y="1168651"/>
            <a:ext cx="8988741" cy="4797287"/>
          </a:xfrm>
          <a:noFill/>
        </p:spPr>
      </p:pic>
    </p:spTree>
    <p:extLst>
      <p:ext uri="{BB962C8B-B14F-4D97-AF65-F5344CB8AC3E}">
        <p14:creationId xmlns:p14="http://schemas.microsoft.com/office/powerpoint/2010/main" val="38651754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C46E4-DBA9-AFCD-E74B-2F9493AF2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0113" y="138834"/>
            <a:ext cx="7729728" cy="518119"/>
          </a:xfrm>
        </p:spPr>
        <p:txBody>
          <a:bodyPr>
            <a:normAutofit fontScale="90000"/>
          </a:bodyPr>
          <a:lstStyle/>
          <a:p>
            <a:endParaRPr lang="x-none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44B89-905F-1164-7E64-151F243B5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19" y="706056"/>
            <a:ext cx="11252501" cy="4988688"/>
          </a:xfrm>
        </p:spPr>
        <p:txBody>
          <a:bodyPr>
            <a:noAutofit/>
          </a:bodyPr>
          <a:lstStyle/>
          <a:p>
            <a:pPr marL="457200" lvl="1" indent="-457200" eaLnBrk="1" hangingPunct="1">
              <a:buFont typeface="Wingdings" pitchFamily="2" charset="2"/>
              <a:buChar char="Ø"/>
            </a:pPr>
            <a:r>
              <a:rPr lang="en-CA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Syphilis</a:t>
            </a:r>
          </a:p>
          <a:p>
            <a:pPr marL="0" lvl="1" indent="0" eaLnBrk="1" hangingPunct="1">
              <a:buNone/>
            </a:pPr>
            <a:r>
              <a:rPr lang="en-CA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Manifests (4– 10 weeks) after primary infection. Involves  skin, mucous membranes and </a:t>
            </a:r>
            <a:r>
              <a:rPr lang="en-CA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lymphnodes</a:t>
            </a:r>
            <a:r>
              <a:rPr lang="en-CA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 eaLnBrk="1" hangingPunct="1">
              <a:buFont typeface="Wingdings" pitchFamily="2" charset="2"/>
              <a:buChar char="ü"/>
            </a:pPr>
            <a:r>
              <a:rPr lang="en-CA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Skin </a:t>
            </a:r>
            <a:r>
              <a:rPr lang="en-CA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lessions</a:t>
            </a:r>
            <a:r>
              <a:rPr lang="en-CA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symmetrical</a:t>
            </a:r>
            <a:r>
              <a:rPr lang="en-CA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,reddish-</a:t>
            </a:r>
            <a:r>
              <a:rPr lang="en-CA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pink,non</a:t>
            </a:r>
            <a:r>
              <a:rPr lang="en-CA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-itchy rash on the trunk and extremities including the palms and </a:t>
            </a:r>
            <a:r>
              <a:rPr lang="en-CA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solesthe</a:t>
            </a:r>
            <a:r>
              <a:rPr lang="en-CA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rash may become </a:t>
            </a:r>
            <a:r>
              <a:rPr lang="en-CA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maculopapular</a:t>
            </a:r>
            <a:r>
              <a:rPr lang="en-CA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/</a:t>
            </a:r>
            <a:r>
              <a:rPr lang="en-CA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pustular</a:t>
            </a:r>
            <a:endParaRPr lang="en-CA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lvl="1" eaLnBrk="1" hangingPunct="1">
              <a:buFont typeface="Wingdings" pitchFamily="2" charset="2"/>
              <a:buChar char="ü"/>
            </a:pPr>
            <a:r>
              <a:rPr lang="en-CA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Mucous membranes</a:t>
            </a:r>
            <a:r>
              <a:rPr lang="en-CA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CA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condyloma latum</a:t>
            </a:r>
            <a:r>
              <a:rPr lang="en-CA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CA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flat, </a:t>
            </a:r>
            <a:r>
              <a:rPr lang="en-CA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broad,whitish</a:t>
            </a:r>
            <a:r>
              <a:rPr lang="en-CA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wart-like lesions</a:t>
            </a: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symptoms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fever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, sore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throat,malaise,weight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loss,hair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loss,headache</a:t>
            </a: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endParaRPr lang="x-none" sz="28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3468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9756" y="274638"/>
            <a:ext cx="10922643" cy="848106"/>
          </a:xfrm>
        </p:spPr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3" descr="download (4).jpg">
            <a:extLst>
              <a:ext uri="{FF2B5EF4-FFF2-40B4-BE49-F238E27FC236}">
                <a16:creationId xmlns:a16="http://schemas.microsoft.com/office/drawing/2014/main" id="{56EA61CB-FC66-6720-041A-A77018068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3458" y="173620"/>
            <a:ext cx="10289558" cy="56194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27080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96D5E-8086-6931-89FF-56F9F5EEC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x-none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ont…..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3234D-326A-9354-37D8-14C8975B6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528" y="1279694"/>
            <a:ext cx="11726944" cy="4525963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Latent Syphilis</a:t>
            </a:r>
          </a:p>
          <a:p>
            <a:pPr>
              <a:buFont typeface="Wingdings 2" pitchFamily="18" charset="2"/>
              <a:buNone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   Having serological proof of infection without symptoms of disease and sub divided as:</a:t>
            </a:r>
          </a:p>
          <a:p>
            <a:pPr>
              <a:buFont typeface="Wingdings" pitchFamily="2" charset="2"/>
              <a:buChar char="ü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	Early latent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( &lt;1 year after secondary syphilis)- may have relapse of   	            symptoms</a:t>
            </a:r>
          </a:p>
          <a:p>
            <a:pPr>
              <a:buFont typeface="Wingdings" pitchFamily="2" charset="2"/>
              <a:buChar char="ü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 Late latent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(&gt;1 year  after secondary syphilis)-usually asymptomatic</a:t>
            </a: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ü"/>
            </a:pPr>
            <a:endParaRPr lang="x-none" sz="28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64616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1820-F44A-9056-6811-559E9783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3320" y="52674"/>
            <a:ext cx="8737545" cy="710199"/>
          </a:xfrm>
        </p:spPr>
        <p:txBody>
          <a:bodyPr>
            <a:normAutofit/>
          </a:bodyPr>
          <a:lstStyle/>
          <a:p>
            <a:r>
              <a:rPr lang="en-GB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x-none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28F42-7F96-522D-3982-F9BE2BFBB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074" y="762873"/>
            <a:ext cx="11008342" cy="5041557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Tertiary Syphilis</a:t>
            </a:r>
          </a:p>
          <a:p>
            <a:pPr marL="0" indent="0">
              <a:buNone/>
            </a:pP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to 15 years after initial infection</a:t>
            </a:r>
          </a:p>
          <a:p>
            <a:pPr>
              <a:buFont typeface="Wingdings 2" pitchFamily="18" charset="2"/>
              <a:buNone/>
            </a:pPr>
            <a:endParaRPr lang="en-US" sz="1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itchFamily="18" charset="2"/>
              <a:buNone/>
            </a:pPr>
            <a:r>
              <a:rPr lang="en-US"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Exists into 3 different forms: </a:t>
            </a:r>
          </a:p>
          <a:p>
            <a:pPr>
              <a:buFont typeface="Wingdings" pitchFamily="2" charset="2"/>
              <a:buChar char="ü"/>
            </a:pPr>
            <a:r>
              <a:rPr lang="en-US" sz="27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Gummatous</a:t>
            </a: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/late benign  syphilis(most common)</a:t>
            </a: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formation of </a:t>
            </a:r>
            <a:r>
              <a:rPr lang="en-US"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chronic </a:t>
            </a:r>
            <a:r>
              <a:rPr lang="en-US" sz="2700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gummas</a:t>
            </a:r>
            <a:r>
              <a:rPr lang="en-US" sz="27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(</a:t>
            </a:r>
            <a:r>
              <a:rPr lang="en-US" sz="27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soft,tumor</a:t>
            </a: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-like balls of inflammation)typically affect skin, bone and liver</a:t>
            </a:r>
            <a:endParaRPr lang="en-US" sz="27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>
              <a:buFont typeface="Wingdings" pitchFamily="2" charset="2"/>
              <a:buChar char="ü"/>
            </a:pP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 neurosyphilis </a:t>
            </a: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CNS, meningitis, </a:t>
            </a:r>
            <a:r>
              <a:rPr lang="en-US" sz="27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tabes</a:t>
            </a: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dorsalis,</a:t>
            </a:r>
          </a:p>
          <a:p>
            <a:pPr>
              <a:buFont typeface="Wingdings" pitchFamily="2" charset="2"/>
              <a:buChar char="ü"/>
            </a:pP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generalized paresis, seizure, dementia, bilateral small pupils </a:t>
            </a:r>
          </a:p>
          <a:p>
            <a:pPr>
              <a:buFont typeface="Wingdings" pitchFamily="2" charset="2"/>
              <a:buChar char="ü"/>
            </a:pP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C</a:t>
            </a: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ardiovascular syphilis</a:t>
            </a: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syphilitic  </a:t>
            </a:r>
            <a:r>
              <a:rPr lang="en-US" sz="27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aortitisaortic</a:t>
            </a:r>
            <a:r>
              <a:rPr lang="en-US" sz="27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aneurysm</a:t>
            </a:r>
            <a:endParaRPr lang="en-US" sz="27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2648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4C0AF-2C08-EAA2-37AE-0E7B336C0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86916"/>
            <a:ext cx="7729728" cy="1000126"/>
          </a:xfrm>
        </p:spPr>
        <p:txBody>
          <a:bodyPr>
            <a:normAutofit/>
          </a:bodyPr>
          <a:lstStyle/>
          <a:p>
            <a:r>
              <a:rPr lang="x-none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TERTIARY SYPHILIS-GUMMAS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C:\Users\user\Downloads\WhatsApp Image 2026-05-19 at 21.15.35(1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263" y="972981"/>
            <a:ext cx="10811237" cy="4684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497433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7C31-E9AF-7494-BDBE-46532D1F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3653" y="-80512"/>
            <a:ext cx="7729728" cy="1188720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B1C5901-BE88-794C-E09D-D6D45E3E4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0939" y="1222244"/>
            <a:ext cx="6895155" cy="4271910"/>
          </a:xfrm>
        </p:spPr>
      </p:pic>
    </p:spTree>
    <p:extLst>
      <p:ext uri="{BB962C8B-B14F-4D97-AF65-F5344CB8AC3E}">
        <p14:creationId xmlns:p14="http://schemas.microsoft.com/office/powerpoint/2010/main" val="12836060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FC5F0-345D-9D0A-E08E-B58D57AF9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142" y="14011"/>
            <a:ext cx="8987716" cy="846137"/>
          </a:xfrm>
        </p:spPr>
        <p:txBody>
          <a:bodyPr/>
          <a:lstStyle/>
          <a:p>
            <a:r>
              <a:rPr lang="x-none" sz="4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 OF SYPHILIS (WHO)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800147-E0D7-BF3D-4FCB-EAF006A3A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02142" y="682906"/>
            <a:ext cx="8987715" cy="5313648"/>
          </a:xfrm>
        </p:spPr>
      </p:pic>
    </p:spTree>
    <p:extLst>
      <p:ext uri="{BB962C8B-B14F-4D97-AF65-F5344CB8AC3E}">
        <p14:creationId xmlns:p14="http://schemas.microsoft.com/office/powerpoint/2010/main" val="7917321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E019-B654-2856-F929-C8CB251A0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1031" y="116069"/>
            <a:ext cx="8125905" cy="914400"/>
          </a:xfrm>
        </p:spPr>
        <p:txBody>
          <a:bodyPr>
            <a:normAutofit/>
          </a:bodyPr>
          <a:lstStyle/>
          <a:p>
            <a:r>
              <a:rPr lang="x-none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PAPILLOMA INFECTION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2A7F2-F42F-C662-0B01-7E5F7124E1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742" y="1030469"/>
            <a:ext cx="10426046" cy="491873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HPV infection is caused by a </a:t>
            </a:r>
            <a:r>
              <a:rPr lang="en-US" sz="2400" i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papillomavirus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DNA virus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the  papillomavirus family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1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HPV infection is limited to the basal cells of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stratified epithelium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only tissue in which they replicate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1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 150 types are known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HPV vaccines can prevent the most common types of infection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x-none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1955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5E26A-9DD1-DCB5-0626-C212C5875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28588"/>
            <a:ext cx="7729728" cy="989385"/>
          </a:xfrm>
        </p:spPr>
        <p:txBody>
          <a:bodyPr/>
          <a:lstStyle/>
          <a:p>
            <a:r>
              <a:rPr lang="x-none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HPV CONT….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EC4CA-1BAC-3868-4769-A3D45092D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x-none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91CCE534-69F4-D3AF-7D3C-3197CEC863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6019841"/>
              </p:ext>
            </p:extLst>
          </p:nvPr>
        </p:nvGraphicFramePr>
        <p:xfrm>
          <a:off x="381000" y="889508"/>
          <a:ext cx="11666456" cy="4929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3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33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7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</a:t>
                      </a:r>
                    </a:p>
                  </a:txBody>
                  <a:tcPr marL="65969" marR="65969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HPV  TYPE</a:t>
                      </a:r>
                    </a:p>
                  </a:txBody>
                  <a:tcPr marL="65969" marR="6596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Common warts(hands/feet)</a:t>
                      </a:r>
                    </a:p>
                  </a:txBody>
                  <a:tcPr marL="65969" marR="65969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2,7,22</a:t>
                      </a:r>
                    </a:p>
                  </a:txBody>
                  <a:tcPr marL="65969" marR="6596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54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Plantar</a:t>
                      </a:r>
                      <a:r>
                        <a:rPr lang="en-US" baseline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warts(soles of </a:t>
                      </a:r>
                      <a:r>
                        <a:rPr lang="en-US" baseline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feet,grow</a:t>
                      </a:r>
                      <a:r>
                        <a:rPr lang="en-US" baseline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inward)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69" marR="65969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1,2,4,63</a:t>
                      </a:r>
                    </a:p>
                  </a:txBody>
                  <a:tcPr marL="65969" marR="6596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Flat</a:t>
                      </a:r>
                      <a:r>
                        <a:rPr lang="en-US" baseline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warts(</a:t>
                      </a:r>
                      <a:r>
                        <a:rPr lang="en-US" baseline="0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arms,face,forehead</a:t>
                      </a:r>
                      <a:r>
                        <a:rPr lang="en-US" baseline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69" marR="65969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3,8,10</a:t>
                      </a:r>
                    </a:p>
                  </a:txBody>
                  <a:tcPr marL="65969" marR="6596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331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Anogenital</a:t>
                      </a:r>
                      <a:r>
                        <a:rPr lang="en-US" baseline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warts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69" marR="65969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6,11,42,44</a:t>
                      </a:r>
                    </a:p>
                  </a:txBody>
                  <a:tcPr marL="65969" marR="6596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7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 dysplasia(lesions)</a:t>
                      </a:r>
                    </a:p>
                  </a:txBody>
                  <a:tcPr marL="65969" marR="65969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6,16,18,31,53,58</a:t>
                      </a:r>
                    </a:p>
                  </a:txBody>
                  <a:tcPr marL="65969" marR="6596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7331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Genital cancers </a:t>
                      </a:r>
                      <a:endParaRPr lang="en-US" b="1" baseline="0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69" marR="65969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16,18</a:t>
                      </a:r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,31,45 (highest risk)</a:t>
                      </a:r>
                    </a:p>
                  </a:txBody>
                  <a:tcPr marL="65969" marR="6596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7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Focal epithelial hyperplasia</a:t>
                      </a:r>
                    </a:p>
                  </a:txBody>
                  <a:tcPr marL="65969" marR="65969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13,32</a:t>
                      </a:r>
                    </a:p>
                  </a:txBody>
                  <a:tcPr marL="65969" marR="65969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7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Mouth </a:t>
                      </a:r>
                      <a:r>
                        <a:rPr lang="en-US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papillomas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69" marR="65969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6,7,11,16,32</a:t>
                      </a:r>
                    </a:p>
                  </a:txBody>
                  <a:tcPr marL="65969" marR="65969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7331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Oropharyngeal</a:t>
                      </a:r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cancer</a:t>
                      </a:r>
                    </a:p>
                  </a:txBody>
                  <a:tcPr marL="65969" marR="65969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65969" marR="65969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7331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Verrucous</a:t>
                      </a:r>
                      <a:r>
                        <a:rPr lang="en-US" baseline="0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cyst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69" marR="65969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65969" marR="65969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733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Laryngeal </a:t>
                      </a:r>
                      <a:r>
                        <a:rPr lang="en-US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papillomatosis</a:t>
                      </a:r>
                      <a:endParaRPr lang="en-US" dirty="0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5969" marR="65969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6,11</a:t>
                      </a:r>
                    </a:p>
                  </a:txBody>
                  <a:tcPr marL="65969" marR="65969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177993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D085-6C84-8C98-4B11-C576F846B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0" y="214314"/>
            <a:ext cx="7389114" cy="903659"/>
          </a:xfrm>
        </p:spPr>
        <p:txBody>
          <a:bodyPr>
            <a:normAutofit/>
          </a:bodyPr>
          <a:lstStyle/>
          <a:p>
            <a:r>
              <a:rPr lang="x-none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PATHOGENESIS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9AD79-FE6D-D2F2-DA9F-82CC3C943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499" y="1048169"/>
            <a:ext cx="10925666" cy="462676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HPV virion infects epithelial tissues (basal cells of stratified epithelium) through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micro-abrasions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4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Virion associates with putative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receptors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such as alpha integrins and laminins</a:t>
            </a:r>
            <a:endParaRPr lang="en-US" sz="2400" u="sng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leading to entry of the virions into basal epithelial cells through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clathrin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-mediated endocytosis and/or caveolin-mediated endocytosis depending on the type of HPV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viral genome</a:t>
            </a:r>
            <a:r>
              <a:rPr lang="en-US" sz="2400" u="sng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transported to the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nucleus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 unknown mechanisms and establishes itself at a copy number of 10-200 viral genomes per cell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sophisticated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transcriptional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cascade then occurs as the host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keratinocyte 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begins to divide and </a:t>
            </a:r>
            <a:r>
              <a:rPr lang="en-US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become increasingly differentiated in the upper layers of the epithelium</a:t>
            </a:r>
          </a:p>
          <a:p>
            <a:endParaRPr lang="x-none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95940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C8184-59A5-836D-983D-A590931BD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170" y="274638"/>
            <a:ext cx="8905006" cy="1143000"/>
          </a:xfrm>
        </p:spPr>
        <p:txBody>
          <a:bodyPr>
            <a:normAutofit/>
          </a:bodyPr>
          <a:lstStyle/>
          <a:p>
            <a:r>
              <a:rPr lang="x-none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SIGNS AND SYMPTOMS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367439-BAC7-DF7B-D7C6-A1716F50C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6997" y="1310352"/>
            <a:ext cx="4609050" cy="45418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78E945-5545-AA5D-2DD7-3B064961D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047" y="1310352"/>
            <a:ext cx="4400129" cy="2286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6358D6-5A2E-2823-E452-98FFD7741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047" y="3596352"/>
            <a:ext cx="4400128" cy="225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26763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B3420-AC99-77B5-4225-EF9F697D3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0961D-663A-0452-92D7-D617587C0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HPV</a:t>
            </a:r>
          </a:p>
          <a:p>
            <a:pPr>
              <a:buFont typeface="Wingdings" pitchFamily="2" charset="2"/>
              <a:buChar char="ü"/>
            </a:pP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 smear</a:t>
            </a:r>
          </a:p>
          <a:p>
            <a:pPr>
              <a:buFont typeface="Wingdings" pitchFamily="2" charset="2"/>
              <a:buChar char="ü"/>
            </a:pP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HPV DNA detection method(PCR,ISH,SBH)</a:t>
            </a:r>
          </a:p>
          <a:p>
            <a:pPr>
              <a:buFont typeface="Wingdings" pitchFamily="2" charset="2"/>
              <a:buChar char="ü"/>
            </a:pP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Biopsy</a:t>
            </a:r>
          </a:p>
          <a:p>
            <a:pPr marL="0" indent="0">
              <a:buNone/>
            </a:pPr>
            <a:endParaRPr lang="x-none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93895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EA5F-A3B7-73B0-5CC7-FED780CC4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7450" y="371476"/>
            <a:ext cx="7503414" cy="971550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RECOMMENDED </a:t>
            </a:r>
            <a:r>
              <a:rPr lang="x-none" sz="320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  <a:r>
              <a:rPr lang="x-none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WHO)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84CBB-833E-86A3-3BEE-B5571BAB4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500188"/>
            <a:ext cx="10991654" cy="4239840"/>
          </a:xfrm>
        </p:spPr>
        <p:txBody>
          <a:bodyPr>
            <a:no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sw-KE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Chemical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Podofilox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0.5% solution or gel applied  twice daily for 3 days, followed by 4 days of no treatment, and the cycle repeated up to 4 times</a:t>
            </a:r>
          </a:p>
          <a:p>
            <a:pPr eaLnBrk="1" hangingPunct="1">
              <a:buFont typeface="Wingdings" pitchFamily="2" charset="2"/>
              <a:buChar char="ü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Imiquimod 5% cream applied with a finger at bedtime, left on overnight, 3 times a week for as long as 16 weeks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w-KE" sz="24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</a:p>
          <a:p>
            <a:pPr>
              <a:buFont typeface="Wingdings" pitchFamily="2" charset="2"/>
              <a:buChar char="ü"/>
            </a:pPr>
            <a:r>
              <a:rPr lang="sw-KE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Cryotherapy with liquid nitrogen, solid carbon dioxide, or a cryoprobe. Applied  every 1-2 weeks</a:t>
            </a:r>
          </a:p>
          <a:p>
            <a:pPr>
              <a:buFont typeface="Wingdings" pitchFamily="2" charset="2"/>
              <a:buChar char="ü"/>
            </a:pPr>
            <a:r>
              <a:rPr lang="sw-KE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Electrosurgery</a:t>
            </a:r>
          </a:p>
          <a:p>
            <a:pPr>
              <a:buFont typeface="Wingdings" pitchFamily="2" charset="2"/>
              <a:buChar char="ü"/>
            </a:pPr>
            <a:r>
              <a:rPr lang="sw-KE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Surgical removal</a:t>
            </a:r>
            <a:endParaRPr lang="x-none" sz="240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x-none" sz="2400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91974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9850F-2DE8-D404-D3BB-0D3426628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x-none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HPV VACCINE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FD200C-1E6C-8CB5-D1E1-8521230D36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047" y="1232766"/>
            <a:ext cx="10708849" cy="451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77451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Hepatitis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07975"/>
            <a:ext cx="109728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Around 65-82 million people in Africa live with chronic HBV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MTCT and Horizontal transmission during early childhood accounts for major transmission in Africa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Tanzania is classified as an intermediate-to-high endemic country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prevalence ~ 6.9%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56719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801" y="416859"/>
            <a:ext cx="8350623" cy="5432611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1152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Article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451" y="1267167"/>
            <a:ext cx="10972800" cy="4708526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Objective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Overall prevalence of HBV infection in Tanzania by reviewing available epidemiological studies</a:t>
            </a:r>
          </a:p>
          <a:p>
            <a:pPr>
              <a:buFont typeface="Wingdings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Study Methods :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Systematic review and meta analysis, HBV infection determined by </a:t>
            </a:r>
            <a:r>
              <a:rPr lang="en-US" sz="2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HBsAg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positivity </a:t>
            </a:r>
          </a:p>
          <a:p>
            <a:pPr>
              <a:buFont typeface="Wingdings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 :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pooled prevalence ~ 6.9%</a:t>
            </a:r>
          </a:p>
          <a:p>
            <a:pPr>
              <a:buFont typeface="Wingdings" pitchFamily="2" charset="2"/>
              <a:buChar char="Ø"/>
            </a:pPr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: </a:t>
            </a: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HBV remains a significant public health problem in Tanzania</a:t>
            </a:r>
            <a:endParaRPr lang="en-US" sz="2800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76001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159" y="121024"/>
            <a:ext cx="10972800" cy="968188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HBV Structure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9446" y="1089212"/>
            <a:ext cx="7288307" cy="476025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971439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36532"/>
          </a:xfrm>
        </p:spPr>
        <p:txBody>
          <a:bodyPr/>
          <a:lstStyle/>
          <a:p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Pathogenesis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7607" y="1082573"/>
            <a:ext cx="7651377" cy="455855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72934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6412" y="274638"/>
            <a:ext cx="8969188" cy="5789986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9688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997"/>
          </a:xfrm>
        </p:spPr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753" y="274637"/>
            <a:ext cx="10354235" cy="560947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55587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4976" y="174812"/>
            <a:ext cx="7570696" cy="5701553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541829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Definitive diagnosis of HBV depends on serological demonstration of the viral markers</a:t>
            </a:r>
          </a:p>
          <a:p>
            <a:pPr marL="0" indent="0">
              <a:buNone/>
            </a:pPr>
            <a:endParaRPr lang="en-US" sz="5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HBsAg,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marker of infection</a:t>
            </a:r>
          </a:p>
          <a:p>
            <a:pPr lvl="1">
              <a:buFont typeface="Wingdings" pitchFamily="2" charset="2"/>
              <a:buChar char="ü"/>
            </a:pPr>
            <a:endParaRPr lang="en-US" sz="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sz="2000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HBeAg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replication of the virus, infectiveness</a:t>
            </a:r>
          </a:p>
          <a:p>
            <a:pPr lvl="1">
              <a:buFont typeface="Wingdings" pitchFamily="2" charset="2"/>
              <a:buChar char="ü"/>
            </a:pPr>
            <a:endParaRPr lang="en-US" sz="3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Anti-HBs,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 recovery and/or immunity to HBV infection</a:t>
            </a:r>
          </a:p>
          <a:p>
            <a:pPr lvl="1">
              <a:buFont typeface="Wingdings" pitchFamily="2" charset="2"/>
              <a:buChar char="ü"/>
            </a:pPr>
            <a:endParaRPr lang="en-US" sz="1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itchFamily="2" charset="2"/>
              <a:buChar char="ü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Anti-</a:t>
            </a:r>
            <a:r>
              <a:rPr lang="en-US" sz="2000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HBe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virus no longer replicating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Anti-HBc IgM,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marker of acute infection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Anti-HBc IgG,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past or chronic infection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HBV DNA, 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replication of virus, more accurate, used mainly for monitoring response to therapy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189565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2282" y="430306"/>
            <a:ext cx="9322555" cy="5647764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19925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74638"/>
            <a:ext cx="10215282" cy="585152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49921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9894" y="274638"/>
            <a:ext cx="9062126" cy="5588280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5918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Acute Hepatitis 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previously healthy adults, recovery occurs &gt; 95%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Antiviral therapy is unnecessary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 antiviral drugs are indicated in fulminant hepatitis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Tenofovir (TDF or TAF)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60409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b="1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858" y="274638"/>
            <a:ext cx="10448365" cy="5601727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60937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201" y="430306"/>
            <a:ext cx="8364070" cy="5486401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929070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5728" y="632012"/>
            <a:ext cx="8928847" cy="5123329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16178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26340" y="389965"/>
            <a:ext cx="7624483" cy="5526742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06369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Immunization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(Hepatitis B Vaccine)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Recombinant subunit vaccine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surface antigen (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HBsAg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used as vaccine candidate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 route over deltoid (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antero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-lateral thigh in infant)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doses are given at 0, 1 and 6 months for adults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6, 10, 14 weeks along with DPT under IVD program</a:t>
            </a:r>
            <a:endParaRPr lang="en-US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95473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Prevention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Marker of Protection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anti-HBsAg antibody titer &gt; 10 IU/ml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5-10% of vaccinated individuals are non and low responders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Protection may last for about 15 years or longer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Booster doses are needed after 5 years, especially high risk group if antibody titer falls below 10 IU/ml</a:t>
            </a:r>
            <a:endParaRPr lang="en-US" b="1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9406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Prevention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Passive Immunization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(HBIG)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Neonates borne to hepatitis B carrier mother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Acutely exposed to HBsAg positive blood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surgeons, nurses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Post-liver transplant patient who needs protection against HBV infection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71400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solidFill>
                <a:schemeClr val="bg2">
                  <a:lumMod val="1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6106" y="126720"/>
            <a:ext cx="9291917" cy="5851525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592678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Prevention </a:t>
            </a:r>
            <a:r>
              <a:rPr lang="en-US" b="1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708526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exposure prophylaxis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Vaccinated + Anti-HBs &gt; 10 IU/ml : No treatment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Vaccinated + Anti-HBs &lt;10 IU/ml : HBIG immediately + 1 booster dose of Hepatitis B vaccine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vaccinated : HBIG immediately + start full vaccine series  (0,1, 6 months)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98171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Hepatitis B vaccination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birth dose coverage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Adult vaccination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Inadequate screening before vaccination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Poor coverage in high risk groups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Lack of post vaccination Antibody test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Vaccine access and supply issues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32A9E5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93050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1029" y="-199944"/>
            <a:ext cx="7389942" cy="116619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PREVENTION OF STIs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395" y="966247"/>
            <a:ext cx="12334973" cy="472556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sexual abstinence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Encouraging health seeking behavior for early attendance, for   screening examination after exposure and early treatment after appearance of signs and symptoms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condom use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Promotion of compliance to treatment</a:t>
            </a:r>
          </a:p>
          <a:p>
            <a:pPr>
              <a:buFont typeface="Wingdings" panose="05000000000000000000" pitchFamily="2" charset="2"/>
              <a:buChar char="Ø"/>
              <a:defRPr/>
            </a:pPr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Male circumcision</a:t>
            </a:r>
          </a:p>
          <a:p>
            <a:endParaRPr lang="en-US" sz="2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33003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1322" y="-76200"/>
            <a:ext cx="8097078" cy="791817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345" y="760344"/>
            <a:ext cx="11814655" cy="533731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Pelvic Inflammatory Disease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05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Menstrual irregularities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Infertility – men and women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1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 cancers– women &amp; men– cervical and rectal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Pregnancy complications – ectopic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pregnancy,pre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-term delivery, spontaneous abortions, PROM and </a:t>
            </a:r>
            <a:r>
              <a:rPr lang="en-US" sz="24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foetal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/neonatal pathologies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Epididymitis</a:t>
            </a: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42190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301657"/>
            <a:ext cx="10972800" cy="1143000"/>
          </a:xfrm>
        </p:spPr>
        <p:txBody>
          <a:bodyPr/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347" y="382965"/>
            <a:ext cx="10972800" cy="477554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6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>
              <a:buFont typeface="Arial" charset="0"/>
              <a:buAutoNum type="arabicPeriod"/>
            </a:pP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Harfouche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 M,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AlMukdad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 S,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Alareeki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 A, Osman AMM, Gottlieb S, Rowley J, Abu-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Raddad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 LJ, Looker KJ. Estimated global and regional incidence and prevalence of herpes simplex virus infections and genital ulcer disease in 2020: mathematical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modelling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 analyses. Sex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Transm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 Infect. 2025 May 19;101(4):214-223.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doi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: 10.1136/sextrans-2024-056307. PMID: 39658199</a:t>
            </a:r>
          </a:p>
          <a:p>
            <a:pPr>
              <a:buFont typeface="Arial" charset="0"/>
              <a:buAutoNum type="arabicPeriod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Bray F,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Ferlay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Soerjomataram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I, Siegel RL, Torre LA,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Jemal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A. Global cancer statistics 2018: GLOBOCAN estimates of incidence and mortality worldwide for 36 cancers in 185 countries. CA Cancer J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2018 Nov;68(6):394-424.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Epub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2018 Sep 12. Erratum in: CA Cancer J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2020 Jul;70(4):313.</a:t>
            </a:r>
          </a:p>
          <a:p>
            <a:pPr>
              <a:buAutoNum type="arabicPeriod"/>
            </a:pP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Michalow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J, Hall L, Rowley J, Anderson RL,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Hayre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Q, Chico RM,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Edun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O, Knight J,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Kuchukhidze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Majaya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E, Reed DM, Stevens O, Walters MK, Peters RP, Cori A,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Boily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MC, Imai-Eaton JW. Prevalence of chlamydia,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gonorrhoea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trichomoniasis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among male and female general populations in sub-Saharan Africa from 2000-2024: A systematic review and meta-regression analysis.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medRxiv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[Preprint]. 2024 Dec 16:2024.12.16.24319070.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10.1101/2024.12.16.24319070. Update in: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EClinicalMedicine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2025 Apr 24;83:103210.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10.1016/j.eclinm.2025.103210. PMID: 39763549; PMCID: PMC11702751.</a:t>
            </a:r>
          </a:p>
          <a:p>
            <a:pPr>
              <a:buAutoNum type="arabicPeriod"/>
            </a:pP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Aboud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Buhalata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SN,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Onduru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OG,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Chiduo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MG,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Kwesigabo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GP,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Mshana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Manjurano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Temu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MM,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Kishamawe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Changalucha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JM. High Prevalence of Sexually Transmitted and Reproductive Tract Infections (STI/RTIs) among Patients Attending STI/Outpatient Department Clinics in Tanzania. Trop Med Infect Dis. 2023 Jan 13;8(1):62.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10.3390/tropicalmed8010062. PMID: 36668969; PMCID: PMC9863565.</a:t>
            </a:r>
          </a:p>
          <a:p>
            <a:pPr>
              <a:buAutoNum type="arabicPeriod"/>
            </a:pP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Mcharo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RD,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Kisinda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Njovu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Mcharo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Mbwilo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Mihale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Komba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B, Andrew E,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Mayaud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Kroidl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Ivanova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O,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Msuya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SE. Prevalence of and risk factors associated with HIV, Herpes Simplex Virus-type 2, Chlamydia trachomatis and Neisseria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gonorrhoeae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infections among 18-24 year old students attending Higher Learning Institutions in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Mbeya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-Tanzania.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One. 2022 May 26;17(5):e0266596. </a:t>
            </a:r>
            <a:r>
              <a:rPr lang="en-US" sz="16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10.1371/journal.pone.0266596. PMID: 35617304; PMCID: PMC9135268.</a:t>
            </a:r>
          </a:p>
          <a:p>
            <a:pPr>
              <a:buAutoNum type="arabicPeriod"/>
            </a:pPr>
            <a:endParaRPr lang="en-US" sz="16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096994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301657"/>
            <a:ext cx="10972800" cy="1143000"/>
          </a:xfrm>
        </p:spPr>
        <p:txBody>
          <a:bodyPr/>
          <a:lstStyle/>
          <a:p>
            <a:r>
              <a:rPr lang="en-US" sz="28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cs typeface="Times New Roman" pitchFamily="18" charset="0"/>
              </a:rPr>
              <a:t>REFERENCES…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481" y="696008"/>
            <a:ext cx="10972800" cy="47755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Michalow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J, Walters MK,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Edun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Wybrant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M, Davies B, Kufa T,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Mathega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Chabata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ST, Cowan FM, Cori A,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Boily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MC, Imai-Eaton JW.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Aetiology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vaginal discharge, urethral discharge, and genital ulcer in sub-Saharan Africa: A systematic review and meta-regression.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Med. 2024 May 20;21(5):e1004385.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10.1371/journal.pmed.1004385. PMID: 38768094; PMCID: PMC11104670.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Aboud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Buhalata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SN,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Onduru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OG,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Chiduo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MG,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Kwesigabo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GP,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Mshana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Manjurano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AM,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Temu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MM,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Kishamawe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Changalucha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JM. Antimicrobial Susceptibility Testing Patterns of Neisseria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gonorrhoeae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from Patients Attending Sexually Transmitted Infections Clinics in Six Regions in Tanzania. Trop Med Infect Dis. 2022 Jun 2;7(6):89.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10.3390/tropicalmed7060089. PMID: 35736968; PMCID: PMC9231259.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Wiesenfeld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HC,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Meyn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LA, Darville T, Macio IS, Hillier SL. A Randomized Controlled Trial of Ceftriaxone and Doxycycline, With or Without Metronidazole, for the Treatment of Acute Pelvic Inflammatory Disease.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Infect Dis. 2021 Apr 8;72(7):1181-1189.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10.1093/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cid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/ciaa101. PMID: 32052831; PMCID: PMC8028096.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 WHO. Guideline for the prevention, diagnosis, care and treatment for people with chronic hepatitis B infection. </a:t>
            </a:r>
            <a:r>
              <a:rPr lang="en-US" sz="1800" dirty="0" err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Geneva:World</a:t>
            </a: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Health Organization; 29March2024.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10. CDC. Viral Hepatitis- Chronic Hepatitis B information and Guidelines- US. Evidence-based overview of HBV surveillance, prevention, monitoring and treatment approaches. 2024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EASL. Clinical Practice Guidelines on the management of hepatitis B virus infection, Journal of Hepatology 2025;83(2):502-583</a:t>
            </a:r>
          </a:p>
          <a:p>
            <a:pPr marL="0" indent="0">
              <a:buNone/>
            </a:pPr>
            <a:endParaRPr lang="en-US" sz="18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95718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301657"/>
            <a:ext cx="10972800" cy="1143000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764" y="488941"/>
            <a:ext cx="8627441" cy="4939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003735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32A9E5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">
    <a:dk1>
      <a:srgbClr val="32A9E5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1742</TotalTime>
  <Words>4354</Words>
  <Application>Microsoft Office PowerPoint</Application>
  <PresentationFormat>Widescreen</PresentationFormat>
  <Paragraphs>493</Paragraphs>
  <Slides>119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25" baseType="lpstr">
      <vt:lpstr>Arial</vt:lpstr>
      <vt:lpstr>Calibri</vt:lpstr>
      <vt:lpstr>Times New Roman</vt:lpstr>
      <vt:lpstr>Wingdings</vt:lpstr>
      <vt:lpstr>Wingdings 2</vt:lpstr>
      <vt:lpstr>1_Office Theme</vt:lpstr>
      <vt:lpstr>SEXUAL TRANSMITTED INFECTIONS(STIs) OTHER THAN HIV  </vt:lpstr>
      <vt:lpstr>OUTLINE</vt:lpstr>
      <vt:lpstr>INTRODUCTION</vt:lpstr>
      <vt:lpstr>PowerPoint Presentation</vt:lpstr>
      <vt:lpstr>PowerPoint Presentation</vt:lpstr>
      <vt:lpstr>EPIDEMIOLOGY</vt:lpstr>
      <vt:lpstr>PowerPoint Presentation</vt:lpstr>
      <vt:lpstr>PowerPoint Presentation</vt:lpstr>
      <vt:lpstr>PowerPoint Presentation</vt:lpstr>
      <vt:lpstr>Article review</vt:lpstr>
      <vt:lpstr>PowerPoint Presentation</vt:lpstr>
      <vt:lpstr>PowerPoint Presentation</vt:lpstr>
      <vt:lpstr>Epidemiology of STI in Tanzania</vt:lpstr>
      <vt:lpstr>Article review</vt:lpstr>
      <vt:lpstr>PowerPoint Presentation</vt:lpstr>
      <vt:lpstr>PowerPoint Presentation</vt:lpstr>
      <vt:lpstr>RISK FACTORS </vt:lpstr>
      <vt:lpstr>PowerPoint Presentation</vt:lpstr>
      <vt:lpstr> Article review</vt:lpstr>
      <vt:lpstr>PowerPoint Presentation</vt:lpstr>
      <vt:lpstr>PowerPoint Presentation</vt:lpstr>
      <vt:lpstr>CLASSIFICATION OF STIs</vt:lpstr>
      <vt:lpstr>ETIOLOGICAL</vt:lpstr>
      <vt:lpstr>SYNDROMIC CLASSIFICATION OF STIs</vt:lpstr>
      <vt:lpstr>PowerPoint Presentation</vt:lpstr>
      <vt:lpstr>PowerPoint Presentation</vt:lpstr>
      <vt:lpstr>PowerPoint Presentation</vt:lpstr>
      <vt:lpstr>URETHRAL DISCHARGE SYNDROME</vt:lpstr>
      <vt:lpstr>PowerPoint Presentation</vt:lpstr>
      <vt:lpstr>WHO RECOMMENDED TREATMENT</vt:lpstr>
      <vt:lpstr>PowerPoint Presentation</vt:lpstr>
      <vt:lpstr>PowerPoint Presentation</vt:lpstr>
      <vt:lpstr>WHO RECOMMENDED TREATMENT </vt:lpstr>
      <vt:lpstr>TANZANIA TREATMENT GUIDELINE</vt:lpstr>
      <vt:lpstr>PowerPoint Presentation</vt:lpstr>
      <vt:lpstr>VAGINAL DISCHARGE SYNDROME</vt:lpstr>
      <vt:lpstr>PowerPoint Presentation</vt:lpstr>
      <vt:lpstr>WHO RECOMMENDED TREATMENT</vt:lpstr>
      <vt:lpstr>PowerPoint Presentation</vt:lpstr>
      <vt:lpstr>VAGINAL DISCHARGE SYNDROME</vt:lpstr>
      <vt:lpstr>VDS CONT….</vt:lpstr>
      <vt:lpstr>PowerPoint Presentation</vt:lpstr>
      <vt:lpstr>Article review</vt:lpstr>
      <vt:lpstr>PowerPoint Presentation</vt:lpstr>
      <vt:lpstr>LOWER ABDOMINAL PAIN (PID)</vt:lpstr>
      <vt:lpstr>WHO RECOMMENDED TREATMENT</vt:lpstr>
      <vt:lpstr>TANZANIA TREATMENT GUIDELINE</vt:lpstr>
      <vt:lpstr>PID CONT…</vt:lpstr>
      <vt:lpstr>PowerPoint Presentation</vt:lpstr>
      <vt:lpstr>Article review</vt:lpstr>
      <vt:lpstr>PowerPoint Presentation</vt:lpstr>
      <vt:lpstr>PowerPoint Presentation</vt:lpstr>
      <vt:lpstr>WHAT IS NEW?</vt:lpstr>
      <vt:lpstr>The Paradigm Shift</vt:lpstr>
      <vt:lpstr>WHO RECOMMENDED TEST</vt:lpstr>
      <vt:lpstr>PowerPoint Presentation</vt:lpstr>
      <vt:lpstr>PowerPoint Presentation</vt:lpstr>
      <vt:lpstr>PowerPoint Presentation</vt:lpstr>
      <vt:lpstr>PowerPoint Presentation</vt:lpstr>
      <vt:lpstr>ARTICLE REVIEW</vt:lpstr>
      <vt:lpstr>PowerPoint Presentation</vt:lpstr>
      <vt:lpstr>GONORRHEA</vt:lpstr>
      <vt:lpstr>PATHOGENESIS</vt:lpstr>
      <vt:lpstr>DIAGNOSIS</vt:lpstr>
      <vt:lpstr>TREATMENT(WHO)</vt:lpstr>
      <vt:lpstr>AMR IN THE MANAGEMENT OF GONORRHEA</vt:lpstr>
      <vt:lpstr>AMR IN THE MANAGEMENT OF GONORRHEA</vt:lpstr>
      <vt:lpstr>PowerPoint Presentation</vt:lpstr>
      <vt:lpstr>PowerPoint Presentation</vt:lpstr>
      <vt:lpstr>PowerPoint Presentation</vt:lpstr>
      <vt:lpstr>PowerPoint Presentation</vt:lpstr>
      <vt:lpstr>NEW HOPE IN THE DRUG PIPELINE</vt:lpstr>
      <vt:lpstr>EAGLE-1 TRIAL</vt:lpstr>
      <vt:lpstr>EAGLE-1 TRIAL…</vt:lpstr>
      <vt:lpstr>SYPHILIS</vt:lpstr>
      <vt:lpstr>Stages of Syphilis</vt:lpstr>
      <vt:lpstr>PRIMARY SYPHILIS CHANCRE</vt:lpstr>
      <vt:lpstr>PowerPoint Presentation</vt:lpstr>
      <vt:lpstr>PowerPoint Presentation</vt:lpstr>
      <vt:lpstr>Cont…..</vt:lpstr>
      <vt:lpstr>Cont….</vt:lpstr>
      <vt:lpstr>TERTIARY SYPHILIS-GUMMAS</vt:lpstr>
      <vt:lpstr>Investigations</vt:lpstr>
      <vt:lpstr>TREATMENT OF SYPHILIS (WHO)</vt:lpstr>
      <vt:lpstr>HUMAN PAPILLOMA INFECTION</vt:lpstr>
      <vt:lpstr>HPV CONT….</vt:lpstr>
      <vt:lpstr>PATHOGENESIS</vt:lpstr>
      <vt:lpstr>SIGNS AND SYMPTOMS</vt:lpstr>
      <vt:lpstr>DIAGNOSIS</vt:lpstr>
      <vt:lpstr>RECOMMENDED TREATMENT( WHO)</vt:lpstr>
      <vt:lpstr>HPV VACCINE</vt:lpstr>
      <vt:lpstr>Hepatitis B</vt:lpstr>
      <vt:lpstr>PowerPoint Presentation</vt:lpstr>
      <vt:lpstr>Article review</vt:lpstr>
      <vt:lpstr>HBV Structure</vt:lpstr>
      <vt:lpstr>Pathogenesis</vt:lpstr>
      <vt:lpstr>PowerPoint Presentation</vt:lpstr>
      <vt:lpstr>PowerPoint Presentation</vt:lpstr>
      <vt:lpstr>PowerPoint Presentation</vt:lpstr>
      <vt:lpstr>Diagnosis</vt:lpstr>
      <vt:lpstr>PowerPoint Presentation</vt:lpstr>
      <vt:lpstr>PowerPoint Presentation</vt:lpstr>
      <vt:lpstr>PowerPoint Presentation</vt:lpstr>
      <vt:lpstr>Treatment</vt:lpstr>
      <vt:lpstr>PowerPoint Presentation</vt:lpstr>
      <vt:lpstr>PowerPoint Presentation</vt:lpstr>
      <vt:lpstr>PowerPoint Presentation</vt:lpstr>
      <vt:lpstr>PowerPoint Presentation</vt:lpstr>
      <vt:lpstr>Prevention</vt:lpstr>
      <vt:lpstr>Prevention Cont…</vt:lpstr>
      <vt:lpstr>Prevention Cont…</vt:lpstr>
      <vt:lpstr>PowerPoint Presentation</vt:lpstr>
      <vt:lpstr>Prevention Cont…</vt:lpstr>
      <vt:lpstr>Challenges in Hepatitis B vaccination</vt:lpstr>
      <vt:lpstr>PREVENTION OF STIs</vt:lpstr>
      <vt:lpstr>COMPLICATIONS</vt:lpstr>
      <vt:lpstr>REFERENCES </vt:lpstr>
      <vt:lpstr>REFERENCES…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HEPATITIS B</dc:title>
  <dc:creator>IDDY</dc:creator>
  <cp:lastModifiedBy>LENOVO</cp:lastModifiedBy>
  <cp:revision>212</cp:revision>
  <dcterms:created xsi:type="dcterms:W3CDTF">2026-03-11T13:09:42Z</dcterms:created>
  <dcterms:modified xsi:type="dcterms:W3CDTF">2026-05-19T21:31:27Z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fffb7ea75c9d4ea5aaf04e324fb9bb75</vt:lpwstr>
  </property>
</Properties>
</file>