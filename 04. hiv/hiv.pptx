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media/image34.jpg" ContentType="image/jpg"/>
  <Override PartName="/ppt/media/image36.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0"/>
  </p:notesMasterIdLst>
  <p:sldIdLst>
    <p:sldId id="256" r:id="rId2"/>
    <p:sldId id="257" r:id="rId3"/>
    <p:sldId id="258" r:id="rId4"/>
    <p:sldId id="259" r:id="rId5"/>
    <p:sldId id="260" r:id="rId6"/>
    <p:sldId id="261" r:id="rId7"/>
    <p:sldId id="264" r:id="rId8"/>
    <p:sldId id="262" r:id="rId9"/>
    <p:sldId id="267" r:id="rId10"/>
    <p:sldId id="263" r:id="rId11"/>
    <p:sldId id="265" r:id="rId12"/>
    <p:sldId id="269" r:id="rId13"/>
    <p:sldId id="273" r:id="rId14"/>
    <p:sldId id="274" r:id="rId15"/>
    <p:sldId id="270" r:id="rId16"/>
    <p:sldId id="272" r:id="rId17"/>
    <p:sldId id="275" r:id="rId18"/>
    <p:sldId id="276" r:id="rId19"/>
    <p:sldId id="277" r:id="rId20"/>
    <p:sldId id="278" r:id="rId21"/>
    <p:sldId id="280" r:id="rId22"/>
    <p:sldId id="279" r:id="rId23"/>
    <p:sldId id="281" r:id="rId24"/>
    <p:sldId id="282" r:id="rId25"/>
    <p:sldId id="283" r:id="rId26"/>
    <p:sldId id="284" r:id="rId27"/>
    <p:sldId id="529" r:id="rId28"/>
    <p:sldId id="530" r:id="rId29"/>
    <p:sldId id="528" r:id="rId30"/>
    <p:sldId id="531" r:id="rId31"/>
    <p:sldId id="532" r:id="rId32"/>
    <p:sldId id="533" r:id="rId33"/>
    <p:sldId id="535" r:id="rId34"/>
    <p:sldId id="534" r:id="rId35"/>
    <p:sldId id="536" r:id="rId36"/>
    <p:sldId id="537" r:id="rId37"/>
    <p:sldId id="1144" r:id="rId38"/>
    <p:sldId id="1145" r:id="rId39"/>
    <p:sldId id="1146" r:id="rId40"/>
    <p:sldId id="539" r:id="rId41"/>
    <p:sldId id="540" r:id="rId42"/>
    <p:sldId id="541" r:id="rId43"/>
    <p:sldId id="548" r:id="rId44"/>
    <p:sldId id="1085" r:id="rId45"/>
    <p:sldId id="1088" r:id="rId46"/>
    <p:sldId id="1089" r:id="rId47"/>
    <p:sldId id="1090" r:id="rId48"/>
    <p:sldId id="1091" r:id="rId49"/>
    <p:sldId id="1087" r:id="rId50"/>
    <p:sldId id="1147" r:id="rId51"/>
    <p:sldId id="1064" r:id="rId52"/>
    <p:sldId id="1095" r:id="rId53"/>
    <p:sldId id="1092" r:id="rId54"/>
    <p:sldId id="1093" r:id="rId55"/>
    <p:sldId id="1094" r:id="rId56"/>
    <p:sldId id="1149" r:id="rId57"/>
    <p:sldId id="1029" r:id="rId58"/>
    <p:sldId id="553" r:id="rId59"/>
    <p:sldId id="556" r:id="rId60"/>
    <p:sldId id="554" r:id="rId61"/>
    <p:sldId id="555" r:id="rId62"/>
    <p:sldId id="557" r:id="rId63"/>
    <p:sldId id="558" r:id="rId64"/>
    <p:sldId id="560" r:id="rId65"/>
    <p:sldId id="667" r:id="rId66"/>
    <p:sldId id="552" r:id="rId67"/>
    <p:sldId id="815" r:id="rId68"/>
    <p:sldId id="816" r:id="rId69"/>
    <p:sldId id="817" r:id="rId70"/>
    <p:sldId id="450" r:id="rId71"/>
    <p:sldId id="860" r:id="rId72"/>
    <p:sldId id="861" r:id="rId73"/>
    <p:sldId id="821" r:id="rId74"/>
    <p:sldId id="654" r:id="rId75"/>
    <p:sldId id="655" r:id="rId76"/>
    <p:sldId id="822" r:id="rId77"/>
    <p:sldId id="827" r:id="rId78"/>
    <p:sldId id="828" r:id="rId79"/>
    <p:sldId id="829" r:id="rId80"/>
    <p:sldId id="830" r:id="rId81"/>
    <p:sldId id="831" r:id="rId82"/>
    <p:sldId id="832" r:id="rId83"/>
    <p:sldId id="853" r:id="rId84"/>
    <p:sldId id="852" r:id="rId85"/>
    <p:sldId id="862" r:id="rId86"/>
    <p:sldId id="833" r:id="rId87"/>
    <p:sldId id="834" r:id="rId88"/>
    <p:sldId id="836" r:id="rId89"/>
    <p:sldId id="823" r:id="rId90"/>
    <p:sldId id="824" r:id="rId91"/>
    <p:sldId id="825" r:id="rId92"/>
    <p:sldId id="826" r:id="rId93"/>
    <p:sldId id="837" r:id="rId94"/>
    <p:sldId id="838" r:id="rId95"/>
    <p:sldId id="839" r:id="rId96"/>
    <p:sldId id="840" r:id="rId97"/>
    <p:sldId id="1150" r:id="rId98"/>
    <p:sldId id="1151" r:id="rId99"/>
    <p:sldId id="1109" r:id="rId100"/>
    <p:sldId id="266" r:id="rId101"/>
    <p:sldId id="1152" r:id="rId102"/>
    <p:sldId id="1153" r:id="rId103"/>
    <p:sldId id="843" r:id="rId104"/>
    <p:sldId id="844" r:id="rId105"/>
    <p:sldId id="1154" r:id="rId106"/>
    <p:sldId id="1155" r:id="rId107"/>
    <p:sldId id="1156" r:id="rId108"/>
    <p:sldId id="268" r:id="rId109"/>
    <p:sldId id="271" r:id="rId110"/>
    <p:sldId id="845" r:id="rId111"/>
    <p:sldId id="847" r:id="rId112"/>
    <p:sldId id="848" r:id="rId113"/>
    <p:sldId id="668" r:id="rId114"/>
    <p:sldId id="665" r:id="rId115"/>
    <p:sldId id="669" r:id="rId116"/>
    <p:sldId id="670" r:id="rId117"/>
    <p:sldId id="859" r:id="rId118"/>
    <p:sldId id="858" r:id="rId1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31" autoAdjust="0"/>
    <p:restoredTop sz="94649" autoAdjust="0"/>
  </p:normalViewPr>
  <p:slideViewPr>
    <p:cSldViewPr snapToGrid="0">
      <p:cViewPr varScale="1">
        <p:scale>
          <a:sx n="87" d="100"/>
          <a:sy n="87" d="100"/>
        </p:scale>
        <p:origin x="64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5615A0-9243-45BD-91E4-3AD774A0FC32}" type="datetimeFigureOut">
              <a:rPr lang="en-US" smtClean="0"/>
              <a:t>4/28/26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20DB84-D217-4BE6-A965-16482A87C749}" type="slidenum">
              <a:rPr lang="en-US" smtClean="0"/>
              <a:t>‹#›</a:t>
            </a:fld>
            <a:endParaRPr lang="en-US"/>
          </a:p>
        </p:txBody>
      </p:sp>
    </p:spTree>
    <p:extLst>
      <p:ext uri="{BB962C8B-B14F-4D97-AF65-F5344CB8AC3E}">
        <p14:creationId xmlns:p14="http://schemas.microsoft.com/office/powerpoint/2010/main" val="108022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base" latinLnBrk="0" hangingPunct="1">
              <a:lnSpc>
                <a:spcPct val="100000"/>
              </a:lnSpc>
              <a:spcBef>
                <a:spcPct val="30000"/>
              </a:spcBef>
              <a:spcAft>
                <a:spcPct val="0"/>
              </a:spcAft>
              <a:buClrTx/>
              <a:buSzTx/>
              <a:buFontTx/>
              <a:buNone/>
              <a:tabLst/>
              <a:defRPr/>
            </a:pPr>
            <a:r>
              <a:rPr lang="en-US" dirty="0">
                <a:solidFill>
                  <a:srgbClr val="000510"/>
                </a:solidFill>
                <a:cs typeface="Times New Roman" pitchFamily="18" charset="0"/>
              </a:rPr>
              <a:t>The presence of HIV 1/2 infections in individuals can be ascertained only through the use of laboratory tests on body fluids such as blood, plasma, etc. </a:t>
            </a:r>
          </a:p>
          <a:p>
            <a:pPr marL="0" marR="0" lvl="0" indent="0" algn="l" defTabSz="457200" rtl="0" eaLnBrk="1" fontAlgn="base" latinLnBrk="0" hangingPunct="1">
              <a:lnSpc>
                <a:spcPct val="100000"/>
              </a:lnSpc>
              <a:spcBef>
                <a:spcPct val="30000"/>
              </a:spcBef>
              <a:spcAft>
                <a:spcPct val="0"/>
              </a:spcAft>
              <a:buClrTx/>
              <a:buSzTx/>
              <a:buFontTx/>
              <a:buNone/>
              <a:tabLst/>
              <a:defRPr/>
            </a:pPr>
            <a:r>
              <a:rPr lang="en-US" dirty="0">
                <a:solidFill>
                  <a:srgbClr val="000510"/>
                </a:solidFill>
                <a:cs typeface="Times New Roman" pitchFamily="18" charset="0"/>
              </a:rPr>
              <a:t>Common tests early approach were ELISA, Western blot ( Confirmatory test ) and PCR </a:t>
            </a:r>
          </a:p>
          <a:p>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pPr/>
              <a:t>44</a:t>
            </a:fld>
            <a:endParaRPr lang="en-US" altLang="en-US"/>
          </a:p>
        </p:txBody>
      </p:sp>
    </p:spTree>
    <p:extLst>
      <p:ext uri="{BB962C8B-B14F-4D97-AF65-F5344CB8AC3E}">
        <p14:creationId xmlns:p14="http://schemas.microsoft.com/office/powerpoint/2010/main" val="2490911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base" latinLnBrk="0" hangingPunct="1">
              <a:lnSpc>
                <a:spcPct val="100000"/>
              </a:lnSpc>
              <a:spcBef>
                <a:spcPct val="30000"/>
              </a:spcBef>
              <a:spcAft>
                <a:spcPct val="0"/>
              </a:spcAft>
              <a:buClrTx/>
              <a:buSzTx/>
              <a:buFontTx/>
              <a:buNone/>
              <a:tabLst/>
              <a:defRPr/>
            </a:pPr>
            <a:r>
              <a:rPr lang="en-GB" dirty="0"/>
              <a:t>The window period differs depending on the type of HIV diagnostic test used</a:t>
            </a:r>
          </a:p>
          <a:p>
            <a:pPr marL="0" marR="0" lvl="0" indent="0" algn="l" defTabSz="457200" rtl="0" eaLnBrk="1" fontAlgn="base" latinLnBrk="0" hangingPunct="1">
              <a:lnSpc>
                <a:spcPct val="100000"/>
              </a:lnSpc>
              <a:spcBef>
                <a:spcPct val="30000"/>
              </a:spcBef>
              <a:spcAft>
                <a:spcPct val="0"/>
              </a:spcAft>
              <a:buClrTx/>
              <a:buSzTx/>
              <a:buFontTx/>
              <a:buNone/>
              <a:tabLst/>
              <a:defRPr/>
            </a:pPr>
            <a:r>
              <a:rPr lang="en-GB" dirty="0"/>
              <a:t>The </a:t>
            </a:r>
            <a:r>
              <a:rPr lang="en-GB" b="1" dirty="0"/>
              <a:t>window period</a:t>
            </a:r>
            <a:r>
              <a:rPr lang="en-GB" dirty="0"/>
              <a:t> is the time between HIV infection and detectability by laboratory tests</a:t>
            </a:r>
          </a:p>
          <a:p>
            <a:endParaRPr lang="en-GB" dirty="0"/>
          </a:p>
          <a:p>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pPr/>
              <a:t>47</a:t>
            </a:fld>
            <a:endParaRPr lang="en-US" altLang="en-US"/>
          </a:p>
        </p:txBody>
      </p:sp>
    </p:spTree>
    <p:extLst>
      <p:ext uri="{BB962C8B-B14F-4D97-AF65-F5344CB8AC3E}">
        <p14:creationId xmlns:p14="http://schemas.microsoft.com/office/powerpoint/2010/main" val="3402189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HIV </a:t>
            </a:r>
            <a:r>
              <a:rPr lang="en-GB" dirty="0" err="1"/>
              <a:t>proviral</a:t>
            </a:r>
            <a:r>
              <a:rPr lang="en-GB" dirty="0"/>
              <a:t> DNA gold standard for  infants </a:t>
            </a:r>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pPr/>
              <a:t>48</a:t>
            </a:fld>
            <a:endParaRPr lang="en-US" altLang="en-US"/>
          </a:p>
        </p:txBody>
      </p:sp>
    </p:spTree>
    <p:extLst>
      <p:ext uri="{BB962C8B-B14F-4D97-AF65-F5344CB8AC3E}">
        <p14:creationId xmlns:p14="http://schemas.microsoft.com/office/powerpoint/2010/main" val="2061838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Due to low prevalence of HIV, it is currently recommended that three rapid reactive tests are required to report a positive  </a:t>
            </a:r>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pPr/>
              <a:t>51</a:t>
            </a:fld>
            <a:endParaRPr lang="en-US" altLang="en-US"/>
          </a:p>
        </p:txBody>
      </p:sp>
    </p:spTree>
    <p:extLst>
      <p:ext uri="{BB962C8B-B14F-4D97-AF65-F5344CB8AC3E}">
        <p14:creationId xmlns:p14="http://schemas.microsoft.com/office/powerpoint/2010/main" val="1564634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base" latinLnBrk="0" hangingPunct="1">
              <a:lnSpc>
                <a:spcPct val="100000"/>
              </a:lnSpc>
              <a:spcBef>
                <a:spcPct val="30000"/>
              </a:spcBef>
              <a:spcAft>
                <a:spcPct val="0"/>
              </a:spcAft>
              <a:buClrTx/>
              <a:buSzTx/>
              <a:buFontTx/>
              <a:buNone/>
              <a:tabLst/>
              <a:defRPr/>
            </a:pPr>
            <a:r>
              <a:rPr lang="en-GB" dirty="0">
                <a:solidFill>
                  <a:srgbClr val="000510"/>
                </a:solidFill>
              </a:rPr>
              <a:t>Dual test of syphilis and HIV is recommended in pregnant women </a:t>
            </a:r>
            <a:endParaRPr lang="en-US" dirty="0">
              <a:solidFill>
                <a:srgbClr val="000510"/>
              </a:solidFill>
            </a:endParaRPr>
          </a:p>
          <a:p>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pPr/>
              <a:t>53</a:t>
            </a:fld>
            <a:endParaRPr lang="en-US" altLang="en-US"/>
          </a:p>
        </p:txBody>
      </p:sp>
    </p:spTree>
    <p:extLst>
      <p:ext uri="{BB962C8B-B14F-4D97-AF65-F5344CB8AC3E}">
        <p14:creationId xmlns:p14="http://schemas.microsoft.com/office/powerpoint/2010/main" val="2196488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PCR tests</a:t>
            </a:r>
            <a:r>
              <a:rPr lang="en-GB" dirty="0"/>
              <a:t> detect </a:t>
            </a:r>
            <a:r>
              <a:rPr lang="en-GB" b="1" dirty="0"/>
              <a:t>viral DNA (</a:t>
            </a:r>
            <a:r>
              <a:rPr lang="en-GB" b="1" dirty="0" err="1"/>
              <a:t>proviral</a:t>
            </a:r>
            <a:r>
              <a:rPr lang="en-GB" b="1" dirty="0"/>
              <a:t> DNA) or RNA</a:t>
            </a:r>
            <a:r>
              <a:rPr lang="en-GB" dirty="0"/>
              <a:t>, not antibodies</a:t>
            </a:r>
          </a:p>
          <a:p>
            <a:r>
              <a:rPr lang="en-GB" b="1" dirty="0"/>
              <a:t>Early Infant Diagnosis (EID)</a:t>
            </a:r>
            <a:r>
              <a:rPr lang="en-GB" dirty="0"/>
              <a:t> is critical to </a:t>
            </a:r>
            <a:r>
              <a:rPr lang="en-GB" b="1" dirty="0"/>
              <a:t>initiate ART early</a:t>
            </a:r>
            <a:r>
              <a:rPr lang="en-GB" dirty="0"/>
              <a:t>, which reduces morbidity and mortality</a:t>
            </a:r>
          </a:p>
          <a:p>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pPr/>
              <a:t>54</a:t>
            </a:fld>
            <a:endParaRPr lang="en-US" altLang="en-US"/>
          </a:p>
        </p:txBody>
      </p:sp>
    </p:spTree>
    <p:extLst>
      <p:ext uri="{BB962C8B-B14F-4D97-AF65-F5344CB8AC3E}">
        <p14:creationId xmlns:p14="http://schemas.microsoft.com/office/powerpoint/2010/main" val="4200488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WHO guideline</a:t>
            </a:r>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pPr/>
              <a:t>55</a:t>
            </a:fld>
            <a:endParaRPr lang="en-US" altLang="en-US"/>
          </a:p>
        </p:txBody>
      </p:sp>
    </p:spTree>
    <p:extLst>
      <p:ext uri="{BB962C8B-B14F-4D97-AF65-F5344CB8AC3E}">
        <p14:creationId xmlns:p14="http://schemas.microsoft.com/office/powerpoint/2010/main" val="429515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sz="1800" b="0" i="1" u="none" strike="noStrike" baseline="0" dirty="0">
                <a:latin typeface="Arial-ItalicMT"/>
              </a:rPr>
              <a:t>For a child who has completely stopped breastfeeding for more</a:t>
            </a:r>
          </a:p>
          <a:p>
            <a:pPr algn="l"/>
            <a:r>
              <a:rPr lang="en-GB" sz="1800" b="0" i="1" u="none" strike="noStrike" baseline="0" dirty="0">
                <a:latin typeface="Arial-ItalicMT"/>
              </a:rPr>
              <a:t>than 12 weeks before undergoing DNA PCR testing, a negative</a:t>
            </a:r>
          </a:p>
          <a:p>
            <a:pPr algn="l"/>
            <a:r>
              <a:rPr lang="en-US" sz="1800" b="0" i="1" u="none" strike="noStrike" baseline="0" dirty="0">
                <a:latin typeface="Arial-ItalicMT"/>
              </a:rPr>
              <a:t>DNA PCR test excludes HIV infection</a:t>
            </a:r>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pPr/>
              <a:t>56</a:t>
            </a:fld>
            <a:endParaRPr lang="en-US" altLang="en-US"/>
          </a:p>
        </p:txBody>
      </p:sp>
    </p:spTree>
    <p:extLst>
      <p:ext uri="{BB962C8B-B14F-4D97-AF65-F5344CB8AC3E}">
        <p14:creationId xmlns:p14="http://schemas.microsoft.com/office/powerpoint/2010/main" val="35283040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C063769B-37E6-5647-E443-A1DACAF0DFE8}"/>
              </a:ext>
            </a:extLst>
          </p:cNvPr>
          <p:cNvSpPr>
            <a:spLocks noGrp="1" noRot="1" noChangeAspect="1" noChangeArrowheads="1" noTextEdit="1"/>
          </p:cNvSpPr>
          <p:nvPr>
            <p:ph type="sldImg"/>
          </p:nvPr>
        </p:nvSpPr>
        <p:spPr>
          <a:ln/>
        </p:spPr>
        <p:txBody>
          <a:bodyPr/>
          <a:lstStyle/>
          <a:p>
            <a:endParaRPr lang="en-US"/>
          </a:p>
        </p:txBody>
      </p:sp>
      <p:sp>
        <p:nvSpPr>
          <p:cNvPr id="19458" name="Rectangle 3">
            <a:extLst>
              <a:ext uri="{FF2B5EF4-FFF2-40B4-BE49-F238E27FC236}">
                <a16:creationId xmlns:a16="http://schemas.microsoft.com/office/drawing/2014/main" id="{9FDFE1F7-BB8E-EA46-28B4-FF31721F38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 </a:t>
            </a:r>
            <a:endParaRPr lang="en-US" altLang="en-US" b="1" dirty="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ART initiation should be offered on the same day to people who are ready to start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People should be encouraged</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but not coerced to start ART immediately and should be supported in making an informed choice regarding when to start ART and what ARV drug regimen to use</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B57B762-D258-BA49-A910-5EA198234A8C}" type="slidenum">
              <a:rPr lang="en-US" smtClean="0"/>
              <a:t>71</a:t>
            </a:fld>
            <a:endParaRPr lang="en-US"/>
          </a:p>
        </p:txBody>
      </p:sp>
    </p:spTree>
    <p:extLst>
      <p:ext uri="{BB962C8B-B14F-4D97-AF65-F5344CB8AC3E}">
        <p14:creationId xmlns:p14="http://schemas.microsoft.com/office/powerpoint/2010/main" val="2906616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57B762-D258-BA49-A910-5EA198234A8C}" type="slidenum">
              <a:rPr lang="en-US" smtClean="0"/>
              <a:t>72</a:t>
            </a:fld>
            <a:endParaRPr lang="en-US"/>
          </a:p>
        </p:txBody>
      </p:sp>
    </p:spTree>
    <p:extLst>
      <p:ext uri="{BB962C8B-B14F-4D97-AF65-F5344CB8AC3E}">
        <p14:creationId xmlns:p14="http://schemas.microsoft.com/office/powerpoint/2010/main" val="2948335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57B762-D258-BA49-A910-5EA198234A8C}" type="slidenum">
              <a:rPr lang="en-US" smtClean="0"/>
              <a:t>74</a:t>
            </a:fld>
            <a:endParaRPr lang="en-US"/>
          </a:p>
        </p:txBody>
      </p:sp>
    </p:spTree>
    <p:extLst>
      <p:ext uri="{BB962C8B-B14F-4D97-AF65-F5344CB8AC3E}">
        <p14:creationId xmlns:p14="http://schemas.microsoft.com/office/powerpoint/2010/main" val="2936937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57B762-D258-BA49-A910-5EA198234A8C}" type="slidenum">
              <a:rPr lang="en-US" smtClean="0"/>
              <a:t>75</a:t>
            </a:fld>
            <a:endParaRPr lang="en-US"/>
          </a:p>
        </p:txBody>
      </p:sp>
    </p:spTree>
    <p:extLst>
      <p:ext uri="{BB962C8B-B14F-4D97-AF65-F5344CB8AC3E}">
        <p14:creationId xmlns:p14="http://schemas.microsoft.com/office/powerpoint/2010/main" val="1001396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4. Clinical Conditions Affecting Absorption</a:t>
            </a:r>
          </a:p>
          <a:p>
            <a:r>
              <a:rPr lang="en-US" dirty="0"/>
              <a:t>Conditions like </a:t>
            </a:r>
            <a:r>
              <a:rPr lang="en-US" dirty="0" err="1"/>
              <a:t>diarrhoeal</a:t>
            </a:r>
            <a:r>
              <a:rPr lang="en-US" dirty="0"/>
              <a:t> illness, </a:t>
            </a:r>
            <a:r>
              <a:rPr lang="en-US" b="1" dirty="0"/>
              <a:t>gastrointestinal malabsorption</a:t>
            </a:r>
            <a:r>
              <a:rPr lang="en-US" dirty="0"/>
              <a:t>, or opportunistic infections (e.g., cryptosporidiosis) can reduce drug uptake.</a:t>
            </a:r>
            <a:br>
              <a:rPr lang="en-US" dirty="0"/>
            </a:br>
            <a:r>
              <a:rPr lang="en-US" dirty="0"/>
              <a:t>These are managed clinically — treat the underlying cause, ensure nutritional support, and adjust ART if needed.</a:t>
            </a:r>
          </a:p>
          <a:p>
            <a:endParaRPr lang="en-US" dirty="0"/>
          </a:p>
        </p:txBody>
      </p:sp>
      <p:sp>
        <p:nvSpPr>
          <p:cNvPr id="4" name="Slide Number Placeholder 3"/>
          <p:cNvSpPr>
            <a:spLocks noGrp="1"/>
          </p:cNvSpPr>
          <p:nvPr>
            <p:ph type="sldNum" sz="quarter" idx="5"/>
          </p:nvPr>
        </p:nvSpPr>
        <p:spPr/>
        <p:txBody>
          <a:bodyPr/>
          <a:lstStyle/>
          <a:p>
            <a:fld id="{7A20DB84-D217-4BE6-A965-16482A87C749}" type="slidenum">
              <a:rPr lang="en-US" smtClean="0"/>
              <a:t>79</a:t>
            </a:fld>
            <a:endParaRPr lang="en-US"/>
          </a:p>
        </p:txBody>
      </p:sp>
    </p:spTree>
    <p:extLst>
      <p:ext uri="{BB962C8B-B14F-4D97-AF65-F5344CB8AC3E}">
        <p14:creationId xmlns:p14="http://schemas.microsoft.com/office/powerpoint/2010/main" val="38498657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t>ApproachDescription</a:t>
            </a:r>
            <a:r>
              <a:rPr lang="en-US" b="1"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Health education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Reminder tools </a:t>
            </a:r>
            <a:r>
              <a:rPr lang="en-US" dirty="0"/>
              <a:t>Use alarms, SMS reminders, pillboxes, or smartphone apps to support daily adherence.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Peer support / treatment buddies </a:t>
            </a:r>
            <a:r>
              <a:rPr lang="en-US" dirty="0"/>
              <a:t>Engage experienced patients or peers to provide guidance, encouragement, and accountability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Side effect management </a:t>
            </a:r>
            <a:r>
              <a:rPr lang="en-US" dirty="0"/>
              <a:t>Educate patients on expected side effects and provide symptomatic treatment to minimize discontinuation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Mental health support </a:t>
            </a:r>
            <a:r>
              <a:rPr lang="en-US" dirty="0"/>
              <a:t>Screen and treat depression, anxiety, or substance use that may interfere with adherence.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Flexible clinic services </a:t>
            </a:r>
            <a:r>
              <a:rPr lang="en-US" dirty="0"/>
              <a:t>Offer convenient appointment schedules, fast-track refills, or community ART delivery to reduce missed doses.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Social support interventions </a:t>
            </a:r>
            <a:r>
              <a:rPr lang="en-US" dirty="0"/>
              <a:t>Encourage disclosure to trusted family/friends, reduce stigma, and strengthen support networks.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Economic support </a:t>
            </a:r>
            <a:r>
              <a:rPr lang="en-US" dirty="0"/>
              <a:t>Provide transport assistance, nutritional support, or linkage to social services if financial barriers exist.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Integration with routine care </a:t>
            </a:r>
            <a:r>
              <a:rPr lang="en-US" dirty="0"/>
              <a:t>Combine ART services with other health services to reduce clinic visits and improve continuity</a:t>
            </a:r>
          </a:p>
          <a:p>
            <a:endParaRPr lang="en-US" dirty="0"/>
          </a:p>
        </p:txBody>
      </p:sp>
      <p:sp>
        <p:nvSpPr>
          <p:cNvPr id="4" name="Slide Number Placeholder 3"/>
          <p:cNvSpPr>
            <a:spLocks noGrp="1"/>
          </p:cNvSpPr>
          <p:nvPr>
            <p:ph type="sldNum" sz="quarter" idx="5"/>
          </p:nvPr>
        </p:nvSpPr>
        <p:spPr/>
        <p:txBody>
          <a:bodyPr/>
          <a:lstStyle/>
          <a:p>
            <a:fld id="{7A20DB84-D217-4BE6-A965-16482A87C749}" type="slidenum">
              <a:rPr lang="en-US" smtClean="0"/>
              <a:t>87</a:t>
            </a:fld>
            <a:endParaRPr lang="en-US"/>
          </a:p>
        </p:txBody>
      </p:sp>
    </p:spTree>
    <p:extLst>
      <p:ext uri="{BB962C8B-B14F-4D97-AF65-F5344CB8AC3E}">
        <p14:creationId xmlns:p14="http://schemas.microsoft.com/office/powerpoint/2010/main" val="4752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en-GB" dirty="0"/>
              <a:t>Primary prevention – prevent HIV acquisition</a:t>
            </a:r>
          </a:p>
          <a:p>
            <a:pPr>
              <a:lnSpc>
                <a:spcPct val="150000"/>
              </a:lnSpc>
            </a:pPr>
            <a:r>
              <a:rPr lang="en-GB" dirty="0"/>
              <a:t>Secondary prevention – early detection and diagnosis</a:t>
            </a:r>
          </a:p>
          <a:p>
            <a:pPr>
              <a:lnSpc>
                <a:spcPct val="150000"/>
              </a:lnSpc>
            </a:pPr>
            <a:r>
              <a:rPr lang="en-GB" dirty="0"/>
              <a:t>Tertiary prevention – reduce complications and transmission through treatment</a:t>
            </a:r>
          </a:p>
          <a:p>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pPr/>
              <a:t>97</a:t>
            </a:fld>
            <a:endParaRPr lang="en-US" altLang="en-US"/>
          </a:p>
        </p:txBody>
      </p:sp>
    </p:spTree>
    <p:extLst>
      <p:ext uri="{BB962C8B-B14F-4D97-AF65-F5344CB8AC3E}">
        <p14:creationId xmlns:p14="http://schemas.microsoft.com/office/powerpoint/2010/main" val="17288291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Addiction treatment also associated with increased adherence to ART among infected individuals</a:t>
            </a:r>
          </a:p>
        </p:txBody>
      </p:sp>
      <p:sp>
        <p:nvSpPr>
          <p:cNvPr id="4" name="Slide Number Placeholder 3"/>
          <p:cNvSpPr>
            <a:spLocks noGrp="1"/>
          </p:cNvSpPr>
          <p:nvPr>
            <p:ph type="sldNum" sz="quarter" idx="5"/>
          </p:nvPr>
        </p:nvSpPr>
        <p:spPr/>
        <p:txBody>
          <a:bodyPr/>
          <a:lstStyle/>
          <a:p>
            <a:fld id="{FB924F92-5D28-9E41-8C1F-E2717F3C1448}" type="slidenum">
              <a:rPr lang="en-US" smtClean="0"/>
              <a:t>100</a:t>
            </a:fld>
            <a:endParaRPr lang="en-US"/>
          </a:p>
        </p:txBody>
      </p:sp>
    </p:spTree>
    <p:extLst>
      <p:ext uri="{BB962C8B-B14F-4D97-AF65-F5344CB8AC3E}">
        <p14:creationId xmlns:p14="http://schemas.microsoft.com/office/powerpoint/2010/main" val="4213293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Tanzania’s HIV prevention guidelines emphasize a </a:t>
            </a:r>
            <a:r>
              <a:rPr lang="en-US" sz="1800" b="1" dirty="0"/>
              <a:t>combination approach</a:t>
            </a:r>
            <a:r>
              <a:rPr lang="en-US" sz="1800" dirty="0"/>
              <a:t>: condom use, voluntary testing, ART for all, PMTCT, harm‑reduction, and male circumcision. The </a:t>
            </a:r>
            <a:r>
              <a:rPr lang="en-US" sz="1800" b="1" dirty="0"/>
              <a:t>new WHO recommendations (2025)</a:t>
            </a:r>
            <a:r>
              <a:rPr lang="en-US" sz="1800" dirty="0"/>
              <a:t> add </a:t>
            </a:r>
            <a:r>
              <a:rPr lang="en-US" sz="1800" b="1" dirty="0"/>
              <a:t>long‑acting injectable PrEP (</a:t>
            </a:r>
            <a:r>
              <a:rPr lang="en-US" sz="1800" b="1" dirty="0" err="1"/>
              <a:t>lenacapavir</a:t>
            </a:r>
            <a:r>
              <a:rPr lang="en-US" sz="1800" b="1" dirty="0"/>
              <a:t>, twice yearly)</a:t>
            </a:r>
            <a:r>
              <a:rPr lang="en-US" sz="1800" dirty="0"/>
              <a:t> as a major innovation alongside oral PrEP and other biomedical strategies.</a:t>
            </a:r>
          </a:p>
          <a:p>
            <a:endParaRPr lang="en-US" dirty="0"/>
          </a:p>
        </p:txBody>
      </p:sp>
      <p:sp>
        <p:nvSpPr>
          <p:cNvPr id="4" name="Slide Number Placeholder 3"/>
          <p:cNvSpPr>
            <a:spLocks noGrp="1"/>
          </p:cNvSpPr>
          <p:nvPr>
            <p:ph type="sldNum" sz="quarter" idx="5"/>
          </p:nvPr>
        </p:nvSpPr>
        <p:spPr/>
        <p:txBody>
          <a:bodyPr/>
          <a:lstStyle/>
          <a:p>
            <a:fld id="{7A20DB84-D217-4BE6-A965-16482A87C749}" type="slidenum">
              <a:rPr lang="en-US" smtClean="0"/>
              <a:t>103</a:t>
            </a:fld>
            <a:endParaRPr lang="en-US"/>
          </a:p>
        </p:txBody>
      </p:sp>
    </p:spTree>
    <p:extLst>
      <p:ext uri="{BB962C8B-B14F-4D97-AF65-F5344CB8AC3E}">
        <p14:creationId xmlns:p14="http://schemas.microsoft.com/office/powerpoint/2010/main" val="44186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F139C-A132-241A-06EC-4D168D7015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5A2F5A-5D54-0167-8159-4C1A939926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376705-D3CD-F791-A874-EA916B8B7296}"/>
              </a:ext>
            </a:extLst>
          </p:cNvPr>
          <p:cNvSpPr>
            <a:spLocks noGrp="1"/>
          </p:cNvSpPr>
          <p:nvPr>
            <p:ph type="dt" sz="half" idx="10"/>
          </p:nvPr>
        </p:nvSpPr>
        <p:spPr/>
        <p:txBody>
          <a:bodyPr/>
          <a:lstStyle/>
          <a:p>
            <a:fld id="{6BAF3976-9831-4663-B4D5-1685C240448E}" type="datetimeFigureOut">
              <a:rPr lang="en-US" smtClean="0"/>
              <a:t>4/28/26</a:t>
            </a:fld>
            <a:endParaRPr lang="en-US"/>
          </a:p>
        </p:txBody>
      </p:sp>
      <p:sp>
        <p:nvSpPr>
          <p:cNvPr id="5" name="Footer Placeholder 4">
            <a:extLst>
              <a:ext uri="{FF2B5EF4-FFF2-40B4-BE49-F238E27FC236}">
                <a16:creationId xmlns:a16="http://schemas.microsoft.com/office/drawing/2014/main" id="{3E705E2F-E2F1-9562-2BB0-1D64727C5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0AEF49-C40F-4294-7B55-1ED2D8BE4F21}"/>
              </a:ext>
            </a:extLst>
          </p:cNvPr>
          <p:cNvSpPr>
            <a:spLocks noGrp="1"/>
          </p:cNvSpPr>
          <p:nvPr>
            <p:ph type="sldNum" sz="quarter" idx="12"/>
          </p:nvPr>
        </p:nvSpPr>
        <p:spPr/>
        <p:txBody>
          <a:bodyPr/>
          <a:lstStyle/>
          <a:p>
            <a:fld id="{022F2048-67F5-4914-BF34-0872F4AE918B}" type="slidenum">
              <a:rPr lang="en-US" smtClean="0"/>
              <a:t>‹#›</a:t>
            </a:fld>
            <a:endParaRPr lang="en-US"/>
          </a:p>
        </p:txBody>
      </p:sp>
    </p:spTree>
    <p:extLst>
      <p:ext uri="{BB962C8B-B14F-4D97-AF65-F5344CB8AC3E}">
        <p14:creationId xmlns:p14="http://schemas.microsoft.com/office/powerpoint/2010/main" val="1911338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7F5A3-6C50-E68A-F5AE-818B7BE081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A05AB0-7431-61BD-DF77-49335F6A6B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3D70A0-4E1C-6F0B-CA9A-C15097AE28AE}"/>
              </a:ext>
            </a:extLst>
          </p:cNvPr>
          <p:cNvSpPr>
            <a:spLocks noGrp="1"/>
          </p:cNvSpPr>
          <p:nvPr>
            <p:ph type="dt" sz="half" idx="10"/>
          </p:nvPr>
        </p:nvSpPr>
        <p:spPr/>
        <p:txBody>
          <a:bodyPr/>
          <a:lstStyle/>
          <a:p>
            <a:fld id="{6BAF3976-9831-4663-B4D5-1685C240448E}" type="datetimeFigureOut">
              <a:rPr lang="en-US" smtClean="0"/>
              <a:t>4/28/26</a:t>
            </a:fld>
            <a:endParaRPr lang="en-US"/>
          </a:p>
        </p:txBody>
      </p:sp>
      <p:sp>
        <p:nvSpPr>
          <p:cNvPr id="5" name="Footer Placeholder 4">
            <a:extLst>
              <a:ext uri="{FF2B5EF4-FFF2-40B4-BE49-F238E27FC236}">
                <a16:creationId xmlns:a16="http://schemas.microsoft.com/office/drawing/2014/main" id="{ADDA8AD7-BE8D-B426-A0EA-C4F4C6D9FB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6A41-F1EA-4195-058F-B395A6743983}"/>
              </a:ext>
            </a:extLst>
          </p:cNvPr>
          <p:cNvSpPr>
            <a:spLocks noGrp="1"/>
          </p:cNvSpPr>
          <p:nvPr>
            <p:ph type="sldNum" sz="quarter" idx="12"/>
          </p:nvPr>
        </p:nvSpPr>
        <p:spPr/>
        <p:txBody>
          <a:bodyPr/>
          <a:lstStyle/>
          <a:p>
            <a:fld id="{022F2048-67F5-4914-BF34-0872F4AE918B}" type="slidenum">
              <a:rPr lang="en-US" smtClean="0"/>
              <a:t>‹#›</a:t>
            </a:fld>
            <a:endParaRPr lang="en-US"/>
          </a:p>
        </p:txBody>
      </p:sp>
    </p:spTree>
    <p:extLst>
      <p:ext uri="{BB962C8B-B14F-4D97-AF65-F5344CB8AC3E}">
        <p14:creationId xmlns:p14="http://schemas.microsoft.com/office/powerpoint/2010/main" val="3352236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9CDF8-807D-76EA-23A0-2CEF8C958B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154414-ECFC-DDB9-6B97-2B64C1088F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B9D02D-371E-EF0F-F1CF-7781E8BB523D}"/>
              </a:ext>
            </a:extLst>
          </p:cNvPr>
          <p:cNvSpPr>
            <a:spLocks noGrp="1"/>
          </p:cNvSpPr>
          <p:nvPr>
            <p:ph type="dt" sz="half" idx="10"/>
          </p:nvPr>
        </p:nvSpPr>
        <p:spPr/>
        <p:txBody>
          <a:bodyPr/>
          <a:lstStyle/>
          <a:p>
            <a:fld id="{6BAF3976-9831-4663-B4D5-1685C240448E}" type="datetimeFigureOut">
              <a:rPr lang="en-US" smtClean="0"/>
              <a:t>4/28/26</a:t>
            </a:fld>
            <a:endParaRPr lang="en-US"/>
          </a:p>
        </p:txBody>
      </p:sp>
      <p:sp>
        <p:nvSpPr>
          <p:cNvPr id="5" name="Footer Placeholder 4">
            <a:extLst>
              <a:ext uri="{FF2B5EF4-FFF2-40B4-BE49-F238E27FC236}">
                <a16:creationId xmlns:a16="http://schemas.microsoft.com/office/drawing/2014/main" id="{0366DDD8-8A42-8166-F157-562CF05F6B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17AAC-B8CC-AF54-1E92-B97D36C5940F}"/>
              </a:ext>
            </a:extLst>
          </p:cNvPr>
          <p:cNvSpPr>
            <a:spLocks noGrp="1"/>
          </p:cNvSpPr>
          <p:nvPr>
            <p:ph type="sldNum" sz="quarter" idx="12"/>
          </p:nvPr>
        </p:nvSpPr>
        <p:spPr/>
        <p:txBody>
          <a:bodyPr/>
          <a:lstStyle/>
          <a:p>
            <a:fld id="{022F2048-67F5-4914-BF34-0872F4AE918B}" type="slidenum">
              <a:rPr lang="en-US" smtClean="0"/>
              <a:t>‹#›</a:t>
            </a:fld>
            <a:endParaRPr lang="en-US"/>
          </a:p>
        </p:txBody>
      </p:sp>
    </p:spTree>
    <p:extLst>
      <p:ext uri="{BB962C8B-B14F-4D97-AF65-F5344CB8AC3E}">
        <p14:creationId xmlns:p14="http://schemas.microsoft.com/office/powerpoint/2010/main" val="1437046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E22B6-1E97-6BD0-2031-10578AFD50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890CAB-38C9-AD48-0AA8-BB384F15E0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DA49EC-F16D-6902-B6CF-F099332A69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8B2CAC-F356-8444-8EA7-C0BE90B60085}"/>
              </a:ext>
            </a:extLst>
          </p:cNvPr>
          <p:cNvSpPr>
            <a:spLocks noGrp="1"/>
          </p:cNvSpPr>
          <p:nvPr>
            <p:ph type="dt" sz="half" idx="10"/>
          </p:nvPr>
        </p:nvSpPr>
        <p:spPr/>
        <p:txBody>
          <a:bodyPr/>
          <a:lstStyle/>
          <a:p>
            <a:fld id="{6BAF3976-9831-4663-B4D5-1685C240448E}" type="datetimeFigureOut">
              <a:rPr lang="en-US" smtClean="0"/>
              <a:t>4/28/26</a:t>
            </a:fld>
            <a:endParaRPr lang="en-US"/>
          </a:p>
        </p:txBody>
      </p:sp>
      <p:sp>
        <p:nvSpPr>
          <p:cNvPr id="6" name="Footer Placeholder 5">
            <a:extLst>
              <a:ext uri="{FF2B5EF4-FFF2-40B4-BE49-F238E27FC236}">
                <a16:creationId xmlns:a16="http://schemas.microsoft.com/office/drawing/2014/main" id="{B777819A-90E0-E166-880E-52CD7CB502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54A3C3-1C9E-AF33-E9F6-AD581CA36B97}"/>
              </a:ext>
            </a:extLst>
          </p:cNvPr>
          <p:cNvSpPr>
            <a:spLocks noGrp="1"/>
          </p:cNvSpPr>
          <p:nvPr>
            <p:ph type="sldNum" sz="quarter" idx="12"/>
          </p:nvPr>
        </p:nvSpPr>
        <p:spPr/>
        <p:txBody>
          <a:bodyPr/>
          <a:lstStyle/>
          <a:p>
            <a:fld id="{022F2048-67F5-4914-BF34-0872F4AE918B}" type="slidenum">
              <a:rPr lang="en-US" smtClean="0"/>
              <a:t>‹#›</a:t>
            </a:fld>
            <a:endParaRPr lang="en-US"/>
          </a:p>
        </p:txBody>
      </p:sp>
    </p:spTree>
    <p:extLst>
      <p:ext uri="{BB962C8B-B14F-4D97-AF65-F5344CB8AC3E}">
        <p14:creationId xmlns:p14="http://schemas.microsoft.com/office/powerpoint/2010/main" val="3114074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92B7E-78F2-6833-106D-5C50A35237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82C32D-C51C-4577-6F20-AC493B7CFB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83BA02-A84F-F2A1-1C98-BDCA4DD581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6A8D11-C958-779A-9FA5-5BC04C158E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8FA4D5-B5BF-B26A-F000-1C8D710CC8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B935A1-13C4-580A-F4BB-D33F5312DD9F}"/>
              </a:ext>
            </a:extLst>
          </p:cNvPr>
          <p:cNvSpPr>
            <a:spLocks noGrp="1"/>
          </p:cNvSpPr>
          <p:nvPr>
            <p:ph type="dt" sz="half" idx="10"/>
          </p:nvPr>
        </p:nvSpPr>
        <p:spPr/>
        <p:txBody>
          <a:bodyPr/>
          <a:lstStyle/>
          <a:p>
            <a:fld id="{6BAF3976-9831-4663-B4D5-1685C240448E}" type="datetimeFigureOut">
              <a:rPr lang="en-US" smtClean="0"/>
              <a:t>4/28/26</a:t>
            </a:fld>
            <a:endParaRPr lang="en-US"/>
          </a:p>
        </p:txBody>
      </p:sp>
      <p:sp>
        <p:nvSpPr>
          <p:cNvPr id="8" name="Footer Placeholder 7">
            <a:extLst>
              <a:ext uri="{FF2B5EF4-FFF2-40B4-BE49-F238E27FC236}">
                <a16:creationId xmlns:a16="http://schemas.microsoft.com/office/drawing/2014/main" id="{36D7E81C-B8B9-657C-131C-81A9E9C1F1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07DCF9-ACFE-3104-C595-2071FC581334}"/>
              </a:ext>
            </a:extLst>
          </p:cNvPr>
          <p:cNvSpPr>
            <a:spLocks noGrp="1"/>
          </p:cNvSpPr>
          <p:nvPr>
            <p:ph type="sldNum" sz="quarter" idx="12"/>
          </p:nvPr>
        </p:nvSpPr>
        <p:spPr/>
        <p:txBody>
          <a:bodyPr/>
          <a:lstStyle/>
          <a:p>
            <a:fld id="{022F2048-67F5-4914-BF34-0872F4AE918B}" type="slidenum">
              <a:rPr lang="en-US" smtClean="0"/>
              <a:t>‹#›</a:t>
            </a:fld>
            <a:endParaRPr lang="en-US"/>
          </a:p>
        </p:txBody>
      </p:sp>
    </p:spTree>
    <p:extLst>
      <p:ext uri="{BB962C8B-B14F-4D97-AF65-F5344CB8AC3E}">
        <p14:creationId xmlns:p14="http://schemas.microsoft.com/office/powerpoint/2010/main" val="3809953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28C6D-A642-D24E-6A06-0A606D4F28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3C54F3-08C8-35D1-229B-C33BDD8957C8}"/>
              </a:ext>
            </a:extLst>
          </p:cNvPr>
          <p:cNvSpPr>
            <a:spLocks noGrp="1"/>
          </p:cNvSpPr>
          <p:nvPr>
            <p:ph type="dt" sz="half" idx="10"/>
          </p:nvPr>
        </p:nvSpPr>
        <p:spPr/>
        <p:txBody>
          <a:bodyPr/>
          <a:lstStyle/>
          <a:p>
            <a:fld id="{6BAF3976-9831-4663-B4D5-1685C240448E}" type="datetimeFigureOut">
              <a:rPr lang="en-US" smtClean="0"/>
              <a:t>4/28/26</a:t>
            </a:fld>
            <a:endParaRPr lang="en-US"/>
          </a:p>
        </p:txBody>
      </p:sp>
      <p:sp>
        <p:nvSpPr>
          <p:cNvPr id="4" name="Footer Placeholder 3">
            <a:extLst>
              <a:ext uri="{FF2B5EF4-FFF2-40B4-BE49-F238E27FC236}">
                <a16:creationId xmlns:a16="http://schemas.microsoft.com/office/drawing/2014/main" id="{EA07EE3D-3754-3D31-E7D4-D6E91A47B9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574FD3-9704-6726-F745-88AF523C3A84}"/>
              </a:ext>
            </a:extLst>
          </p:cNvPr>
          <p:cNvSpPr>
            <a:spLocks noGrp="1"/>
          </p:cNvSpPr>
          <p:nvPr>
            <p:ph type="sldNum" sz="quarter" idx="12"/>
          </p:nvPr>
        </p:nvSpPr>
        <p:spPr/>
        <p:txBody>
          <a:bodyPr/>
          <a:lstStyle/>
          <a:p>
            <a:fld id="{022F2048-67F5-4914-BF34-0872F4AE918B}" type="slidenum">
              <a:rPr lang="en-US" smtClean="0"/>
              <a:t>‹#›</a:t>
            </a:fld>
            <a:endParaRPr lang="en-US"/>
          </a:p>
        </p:txBody>
      </p:sp>
    </p:spTree>
    <p:extLst>
      <p:ext uri="{BB962C8B-B14F-4D97-AF65-F5344CB8AC3E}">
        <p14:creationId xmlns:p14="http://schemas.microsoft.com/office/powerpoint/2010/main" val="1525465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874EAD-162E-B289-79E6-0DFB3A9A5B37}"/>
              </a:ext>
            </a:extLst>
          </p:cNvPr>
          <p:cNvSpPr>
            <a:spLocks noGrp="1"/>
          </p:cNvSpPr>
          <p:nvPr>
            <p:ph type="dt" sz="half" idx="10"/>
          </p:nvPr>
        </p:nvSpPr>
        <p:spPr/>
        <p:txBody>
          <a:bodyPr/>
          <a:lstStyle/>
          <a:p>
            <a:fld id="{6BAF3976-9831-4663-B4D5-1685C240448E}" type="datetimeFigureOut">
              <a:rPr lang="en-US" smtClean="0"/>
              <a:t>4/28/26</a:t>
            </a:fld>
            <a:endParaRPr lang="en-US"/>
          </a:p>
        </p:txBody>
      </p:sp>
      <p:sp>
        <p:nvSpPr>
          <p:cNvPr id="3" name="Footer Placeholder 2">
            <a:extLst>
              <a:ext uri="{FF2B5EF4-FFF2-40B4-BE49-F238E27FC236}">
                <a16:creationId xmlns:a16="http://schemas.microsoft.com/office/drawing/2014/main" id="{5268D5B9-1DDD-482F-4CF4-C451AA974B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D0F0D1-4725-B91C-9172-A8D8E6495F8E}"/>
              </a:ext>
            </a:extLst>
          </p:cNvPr>
          <p:cNvSpPr>
            <a:spLocks noGrp="1"/>
          </p:cNvSpPr>
          <p:nvPr>
            <p:ph type="sldNum" sz="quarter" idx="12"/>
          </p:nvPr>
        </p:nvSpPr>
        <p:spPr/>
        <p:txBody>
          <a:bodyPr/>
          <a:lstStyle/>
          <a:p>
            <a:fld id="{022F2048-67F5-4914-BF34-0872F4AE918B}" type="slidenum">
              <a:rPr lang="en-US" smtClean="0"/>
              <a:t>‹#›</a:t>
            </a:fld>
            <a:endParaRPr lang="en-US"/>
          </a:p>
        </p:txBody>
      </p:sp>
    </p:spTree>
    <p:extLst>
      <p:ext uri="{BB962C8B-B14F-4D97-AF65-F5344CB8AC3E}">
        <p14:creationId xmlns:p14="http://schemas.microsoft.com/office/powerpoint/2010/main" val="382654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AA838-E13F-722A-A6DF-E8DEF13AE7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A154E2-8C8D-C429-A81B-D04C48A56A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36AB4F-87B9-C06F-39F3-DEA36C9C9C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5AF8E4-1E89-DAB2-CA88-4849826C95DD}"/>
              </a:ext>
            </a:extLst>
          </p:cNvPr>
          <p:cNvSpPr>
            <a:spLocks noGrp="1"/>
          </p:cNvSpPr>
          <p:nvPr>
            <p:ph type="dt" sz="half" idx="10"/>
          </p:nvPr>
        </p:nvSpPr>
        <p:spPr/>
        <p:txBody>
          <a:bodyPr/>
          <a:lstStyle/>
          <a:p>
            <a:fld id="{6BAF3976-9831-4663-B4D5-1685C240448E}" type="datetimeFigureOut">
              <a:rPr lang="en-US" smtClean="0"/>
              <a:t>4/28/26</a:t>
            </a:fld>
            <a:endParaRPr lang="en-US"/>
          </a:p>
        </p:txBody>
      </p:sp>
      <p:sp>
        <p:nvSpPr>
          <p:cNvPr id="6" name="Footer Placeholder 5">
            <a:extLst>
              <a:ext uri="{FF2B5EF4-FFF2-40B4-BE49-F238E27FC236}">
                <a16:creationId xmlns:a16="http://schemas.microsoft.com/office/drawing/2014/main" id="{1DE92DD3-707D-2F64-EBCF-08AEDB5759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C8DF25-0A8A-AD8D-89E7-914183CD157D}"/>
              </a:ext>
            </a:extLst>
          </p:cNvPr>
          <p:cNvSpPr>
            <a:spLocks noGrp="1"/>
          </p:cNvSpPr>
          <p:nvPr>
            <p:ph type="sldNum" sz="quarter" idx="12"/>
          </p:nvPr>
        </p:nvSpPr>
        <p:spPr/>
        <p:txBody>
          <a:bodyPr/>
          <a:lstStyle/>
          <a:p>
            <a:fld id="{022F2048-67F5-4914-BF34-0872F4AE918B}" type="slidenum">
              <a:rPr lang="en-US" smtClean="0"/>
              <a:t>‹#›</a:t>
            </a:fld>
            <a:endParaRPr lang="en-US"/>
          </a:p>
        </p:txBody>
      </p:sp>
    </p:spTree>
    <p:extLst>
      <p:ext uri="{BB962C8B-B14F-4D97-AF65-F5344CB8AC3E}">
        <p14:creationId xmlns:p14="http://schemas.microsoft.com/office/powerpoint/2010/main" val="275531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298A1-C160-A0E2-FCDA-B5CED3CB08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601A06-A38F-F627-ED6C-1196D187C0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71B4EF-F862-A7B8-227C-790202A396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E9F3B7-0A61-5353-D389-4526E287940C}"/>
              </a:ext>
            </a:extLst>
          </p:cNvPr>
          <p:cNvSpPr>
            <a:spLocks noGrp="1"/>
          </p:cNvSpPr>
          <p:nvPr>
            <p:ph type="dt" sz="half" idx="10"/>
          </p:nvPr>
        </p:nvSpPr>
        <p:spPr/>
        <p:txBody>
          <a:bodyPr/>
          <a:lstStyle/>
          <a:p>
            <a:fld id="{6BAF3976-9831-4663-B4D5-1685C240448E}" type="datetimeFigureOut">
              <a:rPr lang="en-US" smtClean="0"/>
              <a:t>4/28/26</a:t>
            </a:fld>
            <a:endParaRPr lang="en-US"/>
          </a:p>
        </p:txBody>
      </p:sp>
      <p:sp>
        <p:nvSpPr>
          <p:cNvPr id="6" name="Footer Placeholder 5">
            <a:extLst>
              <a:ext uri="{FF2B5EF4-FFF2-40B4-BE49-F238E27FC236}">
                <a16:creationId xmlns:a16="http://schemas.microsoft.com/office/drawing/2014/main" id="{F151A708-577C-197D-C8D6-82BC816FB8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1471E0-05EC-FA2D-BF99-C5E68F497FA6}"/>
              </a:ext>
            </a:extLst>
          </p:cNvPr>
          <p:cNvSpPr>
            <a:spLocks noGrp="1"/>
          </p:cNvSpPr>
          <p:nvPr>
            <p:ph type="sldNum" sz="quarter" idx="12"/>
          </p:nvPr>
        </p:nvSpPr>
        <p:spPr/>
        <p:txBody>
          <a:bodyPr/>
          <a:lstStyle/>
          <a:p>
            <a:fld id="{022F2048-67F5-4914-BF34-0872F4AE918B}" type="slidenum">
              <a:rPr lang="en-US" smtClean="0"/>
              <a:t>‹#›</a:t>
            </a:fld>
            <a:endParaRPr lang="en-US"/>
          </a:p>
        </p:txBody>
      </p:sp>
    </p:spTree>
    <p:extLst>
      <p:ext uri="{BB962C8B-B14F-4D97-AF65-F5344CB8AC3E}">
        <p14:creationId xmlns:p14="http://schemas.microsoft.com/office/powerpoint/2010/main" val="285388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2F0A8-7F2D-DF1E-BAC5-FF98121BF3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AA654A-BCAB-9FD7-CB35-5208F94791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A9F33F-D248-F57B-0E99-2085E07E2A04}"/>
              </a:ext>
            </a:extLst>
          </p:cNvPr>
          <p:cNvSpPr>
            <a:spLocks noGrp="1"/>
          </p:cNvSpPr>
          <p:nvPr>
            <p:ph type="dt" sz="half" idx="10"/>
          </p:nvPr>
        </p:nvSpPr>
        <p:spPr/>
        <p:txBody>
          <a:bodyPr/>
          <a:lstStyle/>
          <a:p>
            <a:fld id="{6BAF3976-9831-4663-B4D5-1685C240448E}" type="datetimeFigureOut">
              <a:rPr lang="en-US" smtClean="0"/>
              <a:t>4/28/26</a:t>
            </a:fld>
            <a:endParaRPr lang="en-US"/>
          </a:p>
        </p:txBody>
      </p:sp>
      <p:sp>
        <p:nvSpPr>
          <p:cNvPr id="5" name="Footer Placeholder 4">
            <a:extLst>
              <a:ext uri="{FF2B5EF4-FFF2-40B4-BE49-F238E27FC236}">
                <a16:creationId xmlns:a16="http://schemas.microsoft.com/office/drawing/2014/main" id="{C128A890-FC81-8629-622C-171F92D4F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226E19-1CB5-28FB-795D-B3A85251D1B3}"/>
              </a:ext>
            </a:extLst>
          </p:cNvPr>
          <p:cNvSpPr>
            <a:spLocks noGrp="1"/>
          </p:cNvSpPr>
          <p:nvPr>
            <p:ph type="sldNum" sz="quarter" idx="12"/>
          </p:nvPr>
        </p:nvSpPr>
        <p:spPr/>
        <p:txBody>
          <a:bodyPr/>
          <a:lstStyle/>
          <a:p>
            <a:fld id="{022F2048-67F5-4914-BF34-0872F4AE918B}" type="slidenum">
              <a:rPr lang="en-US" smtClean="0"/>
              <a:t>‹#›</a:t>
            </a:fld>
            <a:endParaRPr lang="en-US"/>
          </a:p>
        </p:txBody>
      </p:sp>
    </p:spTree>
    <p:extLst>
      <p:ext uri="{BB962C8B-B14F-4D97-AF65-F5344CB8AC3E}">
        <p14:creationId xmlns:p14="http://schemas.microsoft.com/office/powerpoint/2010/main" val="1068728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A1331A-A07E-65C0-CB2E-B0A89E916C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493514A-FAAC-A374-F07D-3C572ACAE5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43FAAE-0C75-ABE6-59A9-DE68C64B0336}"/>
              </a:ext>
            </a:extLst>
          </p:cNvPr>
          <p:cNvSpPr>
            <a:spLocks noGrp="1"/>
          </p:cNvSpPr>
          <p:nvPr>
            <p:ph type="dt" sz="half" idx="10"/>
          </p:nvPr>
        </p:nvSpPr>
        <p:spPr/>
        <p:txBody>
          <a:bodyPr/>
          <a:lstStyle/>
          <a:p>
            <a:fld id="{6BAF3976-9831-4663-B4D5-1685C240448E}" type="datetimeFigureOut">
              <a:rPr lang="en-US" smtClean="0"/>
              <a:t>4/28/26</a:t>
            </a:fld>
            <a:endParaRPr lang="en-US"/>
          </a:p>
        </p:txBody>
      </p:sp>
      <p:sp>
        <p:nvSpPr>
          <p:cNvPr id="5" name="Footer Placeholder 4">
            <a:extLst>
              <a:ext uri="{FF2B5EF4-FFF2-40B4-BE49-F238E27FC236}">
                <a16:creationId xmlns:a16="http://schemas.microsoft.com/office/drawing/2014/main" id="{924D60CE-FD1F-572C-9F7E-671241F98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54BC16-A203-4167-C857-B451969C8651}"/>
              </a:ext>
            </a:extLst>
          </p:cNvPr>
          <p:cNvSpPr>
            <a:spLocks noGrp="1"/>
          </p:cNvSpPr>
          <p:nvPr>
            <p:ph type="sldNum" sz="quarter" idx="12"/>
          </p:nvPr>
        </p:nvSpPr>
        <p:spPr/>
        <p:txBody>
          <a:bodyPr/>
          <a:lstStyle/>
          <a:p>
            <a:fld id="{022F2048-67F5-4914-BF34-0872F4AE918B}" type="slidenum">
              <a:rPr lang="en-US" smtClean="0"/>
              <a:t>‹#›</a:t>
            </a:fld>
            <a:endParaRPr lang="en-US"/>
          </a:p>
        </p:txBody>
      </p:sp>
    </p:spTree>
    <p:extLst>
      <p:ext uri="{BB962C8B-B14F-4D97-AF65-F5344CB8AC3E}">
        <p14:creationId xmlns:p14="http://schemas.microsoft.com/office/powerpoint/2010/main" val="3831198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F86961-FC81-1611-E90C-8A8B2797BF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5C4B19-8872-EF31-BA64-027350B66A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A89A79-79B6-D662-277C-DF5F1FF13C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AF3976-9831-4663-B4D5-1685C240448E}" type="datetimeFigureOut">
              <a:rPr lang="en-US" smtClean="0"/>
              <a:t>4/28/26</a:t>
            </a:fld>
            <a:endParaRPr lang="en-US"/>
          </a:p>
        </p:txBody>
      </p:sp>
      <p:sp>
        <p:nvSpPr>
          <p:cNvPr id="5" name="Footer Placeholder 4">
            <a:extLst>
              <a:ext uri="{FF2B5EF4-FFF2-40B4-BE49-F238E27FC236}">
                <a16:creationId xmlns:a16="http://schemas.microsoft.com/office/drawing/2014/main" id="{F8572854-67DC-3C86-3FCB-E94E08B922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3B70673-4C8F-B100-B938-21DF4FEA68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F2048-67F5-4914-BF34-0872F4AE918B}" type="slidenum">
              <a:rPr lang="en-US" smtClean="0"/>
              <a:t>‹#›</a:t>
            </a:fld>
            <a:endParaRPr lang="en-US"/>
          </a:p>
        </p:txBody>
      </p:sp>
    </p:spTree>
    <p:extLst>
      <p:ext uri="{BB962C8B-B14F-4D97-AF65-F5344CB8AC3E}">
        <p14:creationId xmlns:p14="http://schemas.microsoft.com/office/powerpoint/2010/main" val="35912993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www.prolacthailand.com/index.php?cmd=content&amp;id=4&amp;cate=3"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EB98B-5D7E-CFA2-6AD6-19A7FC1B2DB2}"/>
              </a:ext>
            </a:extLst>
          </p:cNvPr>
          <p:cNvSpPr>
            <a:spLocks noGrp="1"/>
          </p:cNvSpPr>
          <p:nvPr>
            <p:ph type="ctrTitle"/>
          </p:nvPr>
        </p:nvSpPr>
        <p:spPr>
          <a:xfrm>
            <a:off x="1360097" y="0"/>
            <a:ext cx="10009517" cy="2053088"/>
          </a:xfrm>
        </p:spPr>
        <p:txBody>
          <a:bodyPr>
            <a:normAutofit/>
          </a:bodyPr>
          <a:lstStyle/>
          <a:p>
            <a:r>
              <a:rPr lang="en-US" sz="9600" b="1" dirty="0"/>
              <a:t>HIV/AIDS   </a:t>
            </a:r>
          </a:p>
        </p:txBody>
      </p:sp>
      <p:pic>
        <p:nvPicPr>
          <p:cNvPr id="4" name="Picture 3">
            <a:extLst>
              <a:ext uri="{FF2B5EF4-FFF2-40B4-BE49-F238E27FC236}">
                <a16:creationId xmlns:a16="http://schemas.microsoft.com/office/drawing/2014/main" id="{3BA46FC2-707C-08CC-851E-F0B984AAA859}"/>
              </a:ext>
            </a:extLst>
          </p:cNvPr>
          <p:cNvPicPr>
            <a:picLocks noChangeAspect="1"/>
          </p:cNvPicPr>
          <p:nvPr/>
        </p:nvPicPr>
        <p:blipFill>
          <a:blip r:embed="rId2"/>
          <a:srcRect b="12539"/>
          <a:stretch>
            <a:fillRect/>
          </a:stretch>
        </p:blipFill>
        <p:spPr>
          <a:xfrm>
            <a:off x="89174" y="2587925"/>
            <a:ext cx="4882583" cy="3752489"/>
          </a:xfrm>
          <a:prstGeom prst="rect">
            <a:avLst/>
          </a:prstGeom>
        </p:spPr>
      </p:pic>
      <p:sp>
        <p:nvSpPr>
          <p:cNvPr id="3" name="TextBox 2">
            <a:extLst>
              <a:ext uri="{FF2B5EF4-FFF2-40B4-BE49-F238E27FC236}">
                <a16:creationId xmlns:a16="http://schemas.microsoft.com/office/drawing/2014/main" id="{9C8E1BF3-B414-C7F8-748F-9EE24398786A}"/>
              </a:ext>
            </a:extLst>
          </p:cNvPr>
          <p:cNvSpPr txBox="1"/>
          <p:nvPr/>
        </p:nvSpPr>
        <p:spPr>
          <a:xfrm>
            <a:off x="6488349" y="4075889"/>
            <a:ext cx="4881265" cy="1477328"/>
          </a:xfrm>
          <a:prstGeom prst="rect">
            <a:avLst/>
          </a:prstGeom>
          <a:noFill/>
        </p:spPr>
        <p:txBody>
          <a:bodyPr wrap="square" rtlCol="0">
            <a:spAutoFit/>
          </a:bodyPr>
          <a:lstStyle/>
          <a:p>
            <a:r>
              <a:rPr lang="en-US" dirty="0"/>
              <a:t>Presenters: </a:t>
            </a:r>
          </a:p>
          <a:p>
            <a:pPr marL="342900" indent="-342900">
              <a:buFont typeface="+mj-lt"/>
              <a:buAutoNum type="arabicPeriod"/>
            </a:pPr>
            <a:r>
              <a:rPr lang="en-US" dirty="0"/>
              <a:t>Dr. Subira Mahuna</a:t>
            </a:r>
          </a:p>
          <a:p>
            <a:pPr marL="342900" indent="-342900">
              <a:buFont typeface="+mj-lt"/>
              <a:buAutoNum type="arabicPeriod"/>
            </a:pPr>
            <a:r>
              <a:rPr lang="en-US" dirty="0"/>
              <a:t>Dr Rabieth Issae</a:t>
            </a:r>
          </a:p>
          <a:p>
            <a:pPr marL="342900" indent="-342900">
              <a:buFont typeface="+mj-lt"/>
              <a:buAutoNum type="arabicPeriod"/>
            </a:pPr>
            <a:endParaRPr lang="en-US" dirty="0"/>
          </a:p>
          <a:p>
            <a:r>
              <a:rPr lang="en-US" dirty="0"/>
              <a:t>Facilitator: Prof. Patricia Munseri</a:t>
            </a:r>
          </a:p>
        </p:txBody>
      </p:sp>
    </p:spTree>
    <p:extLst>
      <p:ext uri="{BB962C8B-B14F-4D97-AF65-F5344CB8AC3E}">
        <p14:creationId xmlns:p14="http://schemas.microsoft.com/office/powerpoint/2010/main" val="2718454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1BFAB-DA90-197A-0FE8-235268AACF07}"/>
              </a:ext>
            </a:extLst>
          </p:cNvPr>
          <p:cNvSpPr>
            <a:spLocks noGrp="1"/>
          </p:cNvSpPr>
          <p:nvPr>
            <p:ph type="title"/>
          </p:nvPr>
        </p:nvSpPr>
        <p:spPr/>
        <p:txBody>
          <a:bodyPr/>
          <a:lstStyle/>
          <a:p>
            <a:r>
              <a:rPr lang="en-US" b="1" dirty="0"/>
              <a:t>OUTLINES:</a:t>
            </a:r>
          </a:p>
        </p:txBody>
      </p:sp>
      <p:sp>
        <p:nvSpPr>
          <p:cNvPr id="3" name="Content Placeholder 2">
            <a:extLst>
              <a:ext uri="{FF2B5EF4-FFF2-40B4-BE49-F238E27FC236}">
                <a16:creationId xmlns:a16="http://schemas.microsoft.com/office/drawing/2014/main" id="{40B514EF-8192-C9CD-C6EC-5C2F9C8F0E89}"/>
              </a:ext>
            </a:extLst>
          </p:cNvPr>
          <p:cNvSpPr>
            <a:spLocks noGrp="1"/>
          </p:cNvSpPr>
          <p:nvPr>
            <p:ph idx="1"/>
          </p:nvPr>
        </p:nvSpPr>
        <p:spPr/>
        <p:txBody>
          <a:bodyPr>
            <a:normAutofit/>
          </a:bodyPr>
          <a:lstStyle/>
          <a:p>
            <a:pPr>
              <a:defRPr/>
            </a:pPr>
            <a:r>
              <a:rPr lang="en-US" dirty="0"/>
              <a:t>Introduction</a:t>
            </a:r>
          </a:p>
          <a:p>
            <a:pPr>
              <a:defRPr/>
            </a:pPr>
            <a:r>
              <a:rPr lang="en-US" dirty="0"/>
              <a:t>Epidemiology and risk factors</a:t>
            </a:r>
          </a:p>
          <a:p>
            <a:pPr>
              <a:defRPr/>
            </a:pPr>
            <a:r>
              <a:rPr lang="en-US" dirty="0"/>
              <a:t>Pathogenesis</a:t>
            </a:r>
          </a:p>
          <a:p>
            <a:pPr>
              <a:defRPr/>
            </a:pPr>
            <a:r>
              <a:rPr lang="en-US" dirty="0"/>
              <a:t>Clinical signs and symptoms and complications</a:t>
            </a:r>
          </a:p>
          <a:p>
            <a:pPr>
              <a:defRPr/>
            </a:pPr>
            <a:r>
              <a:rPr lang="en-US" dirty="0"/>
              <a:t>Investigation (how to diagnose)</a:t>
            </a:r>
          </a:p>
          <a:p>
            <a:pPr>
              <a:defRPr/>
            </a:pPr>
            <a:r>
              <a:rPr lang="en-US" dirty="0"/>
              <a:t>Treatment (ART resistance and treatment failure)</a:t>
            </a:r>
          </a:p>
          <a:p>
            <a:pPr>
              <a:defRPr/>
            </a:pPr>
            <a:r>
              <a:rPr lang="en-US"/>
              <a:t>Prevention</a:t>
            </a:r>
            <a:endParaRPr lang="en-US" dirty="0"/>
          </a:p>
          <a:p>
            <a:pPr>
              <a:defRPr/>
            </a:pPr>
            <a:r>
              <a:rPr lang="en-US" dirty="0"/>
              <a:t>HIV &amp; TB</a:t>
            </a:r>
          </a:p>
          <a:p>
            <a:pPr marL="0" indent="0">
              <a:buNone/>
            </a:pPr>
            <a:endParaRPr lang="en-US" dirty="0"/>
          </a:p>
        </p:txBody>
      </p:sp>
    </p:spTree>
    <p:extLst>
      <p:ext uri="{BB962C8B-B14F-4D97-AF65-F5344CB8AC3E}">
        <p14:creationId xmlns:p14="http://schemas.microsoft.com/office/powerpoint/2010/main" val="2207910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E6246-50E4-6CDD-2700-6CDEE24EA651}"/>
              </a:ext>
            </a:extLst>
          </p:cNvPr>
          <p:cNvSpPr>
            <a:spLocks noGrp="1"/>
          </p:cNvSpPr>
          <p:nvPr>
            <p:ph type="title"/>
          </p:nvPr>
        </p:nvSpPr>
        <p:spPr>
          <a:xfrm>
            <a:off x="838200" y="365125"/>
            <a:ext cx="10515600" cy="928837"/>
          </a:xfrm>
        </p:spPr>
        <p:txBody>
          <a:bodyPr/>
          <a:lstStyle/>
          <a:p>
            <a:r>
              <a:rPr lang="en-US" dirty="0"/>
              <a:t>1) </a:t>
            </a:r>
            <a:r>
              <a:rPr lang="en-US" b="1" dirty="0"/>
              <a:t>INTRODUCTION</a:t>
            </a:r>
          </a:p>
        </p:txBody>
      </p:sp>
      <p:sp>
        <p:nvSpPr>
          <p:cNvPr id="3" name="Content Placeholder 2">
            <a:extLst>
              <a:ext uri="{FF2B5EF4-FFF2-40B4-BE49-F238E27FC236}">
                <a16:creationId xmlns:a16="http://schemas.microsoft.com/office/drawing/2014/main" id="{F6D5828E-193B-7A20-2DDA-28C4BF69D82C}"/>
              </a:ext>
            </a:extLst>
          </p:cNvPr>
          <p:cNvSpPr>
            <a:spLocks noGrp="1"/>
          </p:cNvSpPr>
          <p:nvPr>
            <p:ph idx="1"/>
          </p:nvPr>
        </p:nvSpPr>
        <p:spPr>
          <a:xfrm>
            <a:off x="838200" y="1293962"/>
            <a:ext cx="10515600" cy="4883001"/>
          </a:xfrm>
        </p:spPr>
        <p:txBody>
          <a:bodyPr/>
          <a:lstStyle/>
          <a:p>
            <a:r>
              <a:rPr lang="en-US" dirty="0"/>
              <a:t>What is HIV?</a:t>
            </a:r>
          </a:p>
          <a:p>
            <a:pPr marL="0" indent="0">
              <a:buNone/>
            </a:pPr>
            <a:r>
              <a:rPr lang="en-US" b="1" dirty="0"/>
              <a:t>Human Immunodeficiency Virus (HIV)</a:t>
            </a:r>
            <a:r>
              <a:rPr lang="en-US" dirty="0"/>
              <a:t> is a retrovirus that infects immune cells (principally CD4+ T lymphocytes), leading to progressive immune deficiency. </a:t>
            </a:r>
          </a:p>
          <a:p>
            <a:pPr marL="0" indent="0">
              <a:buNone/>
            </a:pPr>
            <a:r>
              <a:rPr lang="en-US" dirty="0"/>
              <a:t>Over time, untreated HIV infection can result in </a:t>
            </a:r>
            <a:r>
              <a:rPr lang="en-US" b="1" dirty="0"/>
              <a:t>Acquired Immunodeficiency Syndrome (AIDS)</a:t>
            </a:r>
            <a:r>
              <a:rPr lang="en-US" dirty="0"/>
              <a:t>, a state characterized by opportunistic infections, malignancies, and severe immunosuppression.</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1410309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511A62-C722-00D0-2341-66FDF74FAF44}"/>
              </a:ext>
            </a:extLst>
          </p:cNvPr>
          <p:cNvSpPr>
            <a:spLocks noGrp="1"/>
          </p:cNvSpPr>
          <p:nvPr>
            <p:ph idx="1"/>
          </p:nvPr>
        </p:nvSpPr>
        <p:spPr>
          <a:xfrm>
            <a:off x="717431" y="488530"/>
            <a:ext cx="10515600" cy="5903643"/>
          </a:xfrm>
        </p:spPr>
        <p:txBody>
          <a:bodyPr/>
          <a:lstStyle/>
          <a:p>
            <a:r>
              <a:rPr lang="en-US" dirty="0"/>
              <a:t>What is AIDS?</a:t>
            </a:r>
          </a:p>
          <a:p>
            <a:pPr marL="0" indent="0">
              <a:buNone/>
            </a:pPr>
            <a:r>
              <a:rPr lang="en-US" b="1" dirty="0"/>
              <a:t>AIDS (Acquired Immunodeficiency Syndrome)</a:t>
            </a:r>
            <a:r>
              <a:rPr lang="en-US" dirty="0"/>
              <a:t> is the </a:t>
            </a:r>
            <a:r>
              <a:rPr lang="en-US" b="1" dirty="0"/>
              <a:t>advanced stage of HIV infection</a:t>
            </a:r>
            <a:r>
              <a:rPr lang="en-US" dirty="0"/>
              <a:t>, characterized by </a:t>
            </a:r>
            <a:r>
              <a:rPr lang="en-US" b="1" dirty="0"/>
              <a:t>severe damage to the immune system</a:t>
            </a:r>
            <a:r>
              <a:rPr lang="en-US" dirty="0"/>
              <a:t>, making the body unable to fight infections and certain cancers.</a:t>
            </a:r>
          </a:p>
          <a:p>
            <a:pPr marL="0" indent="0">
              <a:buNone/>
            </a:pPr>
            <a:r>
              <a:rPr lang="en-US" dirty="0"/>
              <a:t>Not every one with HIV has AIDS</a:t>
            </a:r>
          </a:p>
          <a:p>
            <a:pPr marL="0" indent="0">
              <a:buNone/>
            </a:pPr>
            <a:r>
              <a:rPr lang="en-US" dirty="0"/>
              <a:t>AIDS is the end stage of the disease</a:t>
            </a:r>
          </a:p>
        </p:txBody>
      </p:sp>
    </p:spTree>
    <p:extLst>
      <p:ext uri="{BB962C8B-B14F-4D97-AF65-F5344CB8AC3E}">
        <p14:creationId xmlns:p14="http://schemas.microsoft.com/office/powerpoint/2010/main" val="1306798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BF692-EEB7-C71C-C120-5E0444A0EFF6}"/>
              </a:ext>
            </a:extLst>
          </p:cNvPr>
          <p:cNvSpPr>
            <a:spLocks noGrp="1"/>
          </p:cNvSpPr>
          <p:nvPr>
            <p:ph type="title"/>
          </p:nvPr>
        </p:nvSpPr>
        <p:spPr>
          <a:xfrm>
            <a:off x="838200" y="365125"/>
            <a:ext cx="10515600" cy="756309"/>
          </a:xfrm>
        </p:spPr>
        <p:txBody>
          <a:bodyPr/>
          <a:lstStyle/>
          <a:p>
            <a:r>
              <a:rPr lang="en-US" b="1" dirty="0"/>
              <a:t>Historical background </a:t>
            </a:r>
          </a:p>
        </p:txBody>
      </p:sp>
      <p:sp>
        <p:nvSpPr>
          <p:cNvPr id="3" name="Content Placeholder 2">
            <a:extLst>
              <a:ext uri="{FF2B5EF4-FFF2-40B4-BE49-F238E27FC236}">
                <a16:creationId xmlns:a16="http://schemas.microsoft.com/office/drawing/2014/main" id="{349C9534-AE45-B0A6-DCE1-62E846CDD7EB}"/>
              </a:ext>
            </a:extLst>
          </p:cNvPr>
          <p:cNvSpPr>
            <a:spLocks noGrp="1"/>
          </p:cNvSpPr>
          <p:nvPr>
            <p:ph idx="1"/>
          </p:nvPr>
        </p:nvSpPr>
        <p:spPr>
          <a:xfrm>
            <a:off x="708804" y="1492369"/>
            <a:ext cx="10255369" cy="5124091"/>
          </a:xfrm>
        </p:spPr>
        <p:txBody>
          <a:bodyPr>
            <a:normAutofit/>
          </a:bodyPr>
          <a:lstStyle/>
          <a:p>
            <a:r>
              <a:rPr lang="en-US" dirty="0"/>
              <a:t>HIV/AIDS originated from zoonotic transmission of </a:t>
            </a:r>
            <a:r>
              <a:rPr lang="en-US" b="1" dirty="0"/>
              <a:t>simian immunodeficiency viruses </a:t>
            </a:r>
            <a:r>
              <a:rPr lang="en-US" dirty="0"/>
              <a:t>jumped from primates to humans in Africa in the early 20th century. </a:t>
            </a:r>
          </a:p>
          <a:p>
            <a:r>
              <a:rPr lang="en-US" dirty="0"/>
              <a:t>The disease was first recognized in </a:t>
            </a:r>
            <a:r>
              <a:rPr lang="en-US" b="1" dirty="0"/>
              <a:t>1981</a:t>
            </a:r>
            <a:r>
              <a:rPr lang="en-US" dirty="0"/>
              <a:t> following reports of unusual opportunistic infections and cancers. HIV was identified as the causative agent in </a:t>
            </a:r>
            <a:r>
              <a:rPr lang="en-US" b="1" dirty="0"/>
              <a:t>1983–1984</a:t>
            </a:r>
            <a:r>
              <a:rPr lang="en-US" dirty="0"/>
              <a:t>.</a:t>
            </a:r>
          </a:p>
          <a:p>
            <a:r>
              <a:rPr lang="en-US" dirty="0"/>
              <a:t> Early years were marked by high mortality, stigma, and lack of effective treatment. The introduction of </a:t>
            </a:r>
            <a:r>
              <a:rPr lang="en-US" b="1" dirty="0"/>
              <a:t>ART’s</a:t>
            </a:r>
            <a:r>
              <a:rPr lang="en-US" dirty="0"/>
              <a:t>, especially combination therapy in </a:t>
            </a:r>
            <a:r>
              <a:rPr lang="en-US" b="1" dirty="0"/>
              <a:t>1996</a:t>
            </a:r>
            <a:r>
              <a:rPr lang="en-US" dirty="0"/>
              <a:t>, transformed HIV into a manageable chronic condition.</a:t>
            </a:r>
          </a:p>
          <a:p>
            <a:pPr marL="0" indent="0">
              <a:buNone/>
            </a:pPr>
            <a:endParaRPr lang="en-US" dirty="0"/>
          </a:p>
        </p:txBody>
      </p:sp>
    </p:spTree>
    <p:extLst>
      <p:ext uri="{BB962C8B-B14F-4D97-AF65-F5344CB8AC3E}">
        <p14:creationId xmlns:p14="http://schemas.microsoft.com/office/powerpoint/2010/main" val="429588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544398-4683-2C78-CB42-949B7D1AF0B4}"/>
              </a:ext>
            </a:extLst>
          </p:cNvPr>
          <p:cNvSpPr>
            <a:spLocks noGrp="1"/>
          </p:cNvSpPr>
          <p:nvPr>
            <p:ph idx="1"/>
          </p:nvPr>
        </p:nvSpPr>
        <p:spPr>
          <a:xfrm>
            <a:off x="631166" y="341881"/>
            <a:ext cx="10515600" cy="5998533"/>
          </a:xfrm>
        </p:spPr>
        <p:txBody>
          <a:bodyPr>
            <a:normAutofit lnSpcReduction="10000"/>
          </a:bodyPr>
          <a:lstStyle/>
          <a:p>
            <a:pPr marL="312038" indent="-312038" defTabSz="416051">
              <a:spcBef>
                <a:spcPts val="600"/>
              </a:spcBef>
              <a:defRPr sz="2900"/>
            </a:pPr>
            <a:endParaRPr lang="en-US" sz="3200" b="1" dirty="0"/>
          </a:p>
          <a:p>
            <a:pPr marL="312038" indent="-312038" defTabSz="416051">
              <a:spcBef>
                <a:spcPts val="600"/>
              </a:spcBef>
              <a:defRPr sz="2900"/>
            </a:pPr>
            <a:r>
              <a:rPr lang="en-US" sz="3200" dirty="0"/>
              <a:t>Global initiatives expanded access to treatment and prevention. Today, HIV remains a major public health issue, but early diagnosis, effective ART, and preventive strategies have significantly reduced morbidity, mortality, and transmission.</a:t>
            </a:r>
          </a:p>
          <a:p>
            <a:pPr marL="0" indent="0" defTabSz="416051">
              <a:spcBef>
                <a:spcPts val="600"/>
              </a:spcBef>
              <a:buNone/>
              <a:defRPr sz="2900"/>
            </a:pPr>
            <a:endParaRPr lang="en-US" sz="3200" dirty="0"/>
          </a:p>
          <a:p>
            <a:pPr marL="0" indent="0" defTabSz="416051">
              <a:spcBef>
                <a:spcPts val="600"/>
              </a:spcBef>
              <a:buNone/>
              <a:defRPr sz="2900"/>
            </a:pPr>
            <a:r>
              <a:rPr lang="en-US" sz="3200" b="1" dirty="0"/>
              <a:t>   HIV IN TANZANIA.</a:t>
            </a:r>
          </a:p>
          <a:p>
            <a:pPr defTabSz="416051">
              <a:spcBef>
                <a:spcPts val="600"/>
              </a:spcBef>
              <a:defRPr sz="2900"/>
            </a:pPr>
            <a:r>
              <a:rPr lang="en-US" dirty="0"/>
              <a:t>1</a:t>
            </a:r>
            <a:r>
              <a:rPr lang="en-US" baseline="29802" dirty="0"/>
              <a:t>st</a:t>
            </a:r>
            <a:r>
              <a:rPr lang="en-US" dirty="0"/>
              <a:t> AIDS cases in Tanzania reported in Kagera region in </a:t>
            </a:r>
            <a:r>
              <a:rPr lang="en-US" b="1" dirty="0">
                <a:ea typeface="Trebuchet MS"/>
                <a:cs typeface="Trebuchet MS"/>
                <a:sym typeface="Trebuchet MS"/>
              </a:rPr>
              <a:t>1983</a:t>
            </a:r>
          </a:p>
          <a:p>
            <a:pPr defTabSz="416051">
              <a:spcBef>
                <a:spcPts val="600"/>
              </a:spcBef>
              <a:defRPr sz="2900"/>
            </a:pPr>
            <a:r>
              <a:rPr lang="en-US" dirty="0"/>
              <a:t>By December </a:t>
            </a:r>
            <a:r>
              <a:rPr lang="en-US" b="1" dirty="0">
                <a:ea typeface="Trebuchet MS"/>
                <a:cs typeface="Trebuchet MS"/>
                <a:sym typeface="Trebuchet MS"/>
              </a:rPr>
              <a:t>1985</a:t>
            </a:r>
            <a:r>
              <a:rPr lang="en-US" dirty="0"/>
              <a:t>, 20 regions of Tanzania mainland had reported AIDS cases </a:t>
            </a:r>
          </a:p>
          <a:p>
            <a:pPr defTabSz="416051">
              <a:spcBef>
                <a:spcPts val="600"/>
              </a:spcBef>
              <a:defRPr sz="2900"/>
            </a:pPr>
            <a:r>
              <a:rPr lang="en-US" dirty="0"/>
              <a:t>Since then, progressive increase in the number of cases recorded</a:t>
            </a:r>
          </a:p>
          <a:p>
            <a:pPr defTabSz="416051">
              <a:spcBef>
                <a:spcPts val="600"/>
              </a:spcBef>
              <a:defRPr sz="2900"/>
            </a:pPr>
            <a:r>
              <a:rPr lang="en-US" dirty="0"/>
              <a:t>HIV-1 is the most isolated serotype worldwide/Tanzania, while </a:t>
            </a:r>
            <a:r>
              <a:rPr lang="en-US" i="1" dirty="0"/>
              <a:t>HIV-2 mostly found in West Africa.</a:t>
            </a:r>
            <a:endParaRPr lang="en-US" dirty="0"/>
          </a:p>
          <a:p>
            <a:endParaRPr lang="en-US" dirty="0"/>
          </a:p>
        </p:txBody>
      </p:sp>
    </p:spTree>
    <p:extLst>
      <p:ext uri="{BB962C8B-B14F-4D97-AF65-F5344CB8AC3E}">
        <p14:creationId xmlns:p14="http://schemas.microsoft.com/office/powerpoint/2010/main" val="1863007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C4317-3877-FB61-40F0-7B76EC39A472}"/>
              </a:ext>
            </a:extLst>
          </p:cNvPr>
          <p:cNvSpPr>
            <a:spLocks noGrp="1"/>
          </p:cNvSpPr>
          <p:nvPr>
            <p:ph type="title"/>
          </p:nvPr>
        </p:nvSpPr>
        <p:spPr/>
        <p:txBody>
          <a:bodyPr/>
          <a:lstStyle/>
          <a:p>
            <a:r>
              <a:rPr lang="en-US" b="1" dirty="0"/>
              <a:t>EPIDEMIOLOGY</a:t>
            </a:r>
            <a:endParaRPr lang="en-US" dirty="0"/>
          </a:p>
        </p:txBody>
      </p:sp>
      <p:sp>
        <p:nvSpPr>
          <p:cNvPr id="3" name="Content Placeholder 2">
            <a:extLst>
              <a:ext uri="{FF2B5EF4-FFF2-40B4-BE49-F238E27FC236}">
                <a16:creationId xmlns:a16="http://schemas.microsoft.com/office/drawing/2014/main" id="{D96B234B-C513-D049-6F3A-E1EC80A1BB7B}"/>
              </a:ext>
            </a:extLst>
          </p:cNvPr>
          <p:cNvSpPr>
            <a:spLocks noGrp="1"/>
          </p:cNvSpPr>
          <p:nvPr>
            <p:ph idx="1"/>
          </p:nvPr>
        </p:nvSpPr>
        <p:spPr/>
        <p:txBody>
          <a:bodyPr/>
          <a:lstStyle/>
          <a:p>
            <a:r>
              <a:rPr lang="en-US" b="1" dirty="0"/>
              <a:t>Global burden</a:t>
            </a:r>
            <a:r>
              <a:rPr lang="en-US" dirty="0"/>
              <a:t>: In 2024 there were </a:t>
            </a:r>
            <a:r>
              <a:rPr lang="en-US" b="1" dirty="0"/>
              <a:t>about 40.8 million people living with HIV</a:t>
            </a:r>
            <a:r>
              <a:rPr lang="en-US" dirty="0"/>
              <a:t>, </a:t>
            </a:r>
            <a:r>
              <a:rPr lang="en-US" b="1" dirty="0"/>
              <a:t>~1.3 million new infections</a:t>
            </a:r>
            <a:r>
              <a:rPr lang="en-US" dirty="0"/>
              <a:t>, and </a:t>
            </a:r>
            <a:r>
              <a:rPr lang="en-US" b="1" dirty="0"/>
              <a:t>~630,000 AIDS‑related deaths.</a:t>
            </a:r>
          </a:p>
          <a:p>
            <a:r>
              <a:rPr lang="en-US" dirty="0"/>
              <a:t> Since the start of the epidemic an estimated </a:t>
            </a:r>
            <a:r>
              <a:rPr lang="en-US" b="1" dirty="0"/>
              <a:t>91.4 million people have been infected</a:t>
            </a:r>
            <a:r>
              <a:rPr lang="en-US" dirty="0"/>
              <a:t> and </a:t>
            </a:r>
            <a:r>
              <a:rPr lang="en-US" b="1" dirty="0"/>
              <a:t>44.1 million have died</a:t>
            </a:r>
            <a:r>
              <a:rPr lang="en-US" dirty="0"/>
              <a:t>. </a:t>
            </a:r>
          </a:p>
          <a:p>
            <a:r>
              <a:rPr lang="en-US" dirty="0"/>
              <a:t>These headline numbers show both the scale of the epidemic and the gains from treatment expansion.</a:t>
            </a:r>
          </a:p>
        </p:txBody>
      </p:sp>
    </p:spTree>
    <p:extLst>
      <p:ext uri="{BB962C8B-B14F-4D97-AF65-F5344CB8AC3E}">
        <p14:creationId xmlns:p14="http://schemas.microsoft.com/office/powerpoint/2010/main" val="3779730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2B21FF08-B2E1-4191-2597-1CDF484F2DE5}"/>
              </a:ext>
            </a:extLst>
          </p:cNvPr>
          <p:cNvPicPr>
            <a:picLocks noGrp="1" noChangeAspect="1"/>
          </p:cNvPicPr>
          <p:nvPr>
            <p:ph idx="1"/>
          </p:nvPr>
        </p:nvPicPr>
        <p:blipFill>
          <a:blip r:embed="rId2"/>
          <a:stretch>
            <a:fillRect/>
          </a:stretch>
        </p:blipFill>
        <p:spPr>
          <a:xfrm>
            <a:off x="73638" y="276045"/>
            <a:ext cx="12134064" cy="6003985"/>
          </a:xfrm>
          <a:prstGeom prst="rect">
            <a:avLst/>
          </a:prstGeom>
        </p:spPr>
      </p:pic>
    </p:spTree>
    <p:extLst>
      <p:ext uri="{BB962C8B-B14F-4D97-AF65-F5344CB8AC3E}">
        <p14:creationId xmlns:p14="http://schemas.microsoft.com/office/powerpoint/2010/main" val="2594952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2EC3F4-F55C-0146-53BD-2E5A273CCFAF}"/>
              </a:ext>
            </a:extLst>
          </p:cNvPr>
          <p:cNvSpPr>
            <a:spLocks noGrp="1"/>
          </p:cNvSpPr>
          <p:nvPr>
            <p:ph idx="1"/>
          </p:nvPr>
        </p:nvSpPr>
        <p:spPr>
          <a:xfrm>
            <a:off x="644434" y="444137"/>
            <a:ext cx="10709366" cy="5732826"/>
          </a:xfrm>
        </p:spPr>
        <p:txBody>
          <a:bodyPr/>
          <a:lstStyle/>
          <a:p>
            <a:pPr marL="0" indent="0">
              <a:buNone/>
            </a:pPr>
            <a:r>
              <a:rPr lang="en-US" sz="3600" b="1" dirty="0"/>
              <a:t>HIV Prevalence is Higher in Sub-groups such as;</a:t>
            </a:r>
          </a:p>
          <a:p>
            <a:pPr marL="0" indent="0">
              <a:buNone/>
            </a:pPr>
            <a:endParaRPr lang="en-US" sz="3600" b="1" dirty="0"/>
          </a:p>
          <a:p>
            <a:r>
              <a:rPr lang="en-US" sz="3200" dirty="0"/>
              <a:t>men who have sex with men (MSM) (25%) </a:t>
            </a:r>
            <a:r>
              <a:rPr lang="en-US" sz="3200" i="1" baseline="30000" dirty="0"/>
              <a:t>1</a:t>
            </a:r>
          </a:p>
          <a:p>
            <a:r>
              <a:rPr lang="en-US" sz="3200" dirty="0"/>
              <a:t>In people who inject drugs (PWID) (36%)</a:t>
            </a:r>
            <a:r>
              <a:rPr lang="en-US" sz="3200" i="1" baseline="30000" dirty="0"/>
              <a:t>1</a:t>
            </a:r>
          </a:p>
          <a:p>
            <a:r>
              <a:rPr lang="en-US" sz="3200" dirty="0"/>
              <a:t>Sex workers (26%)</a:t>
            </a:r>
            <a:r>
              <a:rPr lang="en-US" sz="3200" i="1" baseline="30000" dirty="0"/>
              <a:t>1</a:t>
            </a:r>
          </a:p>
          <a:p>
            <a:r>
              <a:rPr lang="en-US" sz="3200" dirty="0"/>
              <a:t>Women are disproportionally more affected, with an HIV prevalence of 6.5% (15-49yrs) versus 3.5% among men aged &gt;15-64years </a:t>
            </a:r>
            <a:r>
              <a:rPr lang="en-US" sz="3200" i="1" baseline="30000" dirty="0"/>
              <a:t>2</a:t>
            </a:r>
          </a:p>
          <a:p>
            <a:r>
              <a:rPr lang="en-US" sz="3200" dirty="0"/>
              <a:t>The prevalence of HIV among young people aged 15-19 &lt;2% </a:t>
            </a:r>
            <a:r>
              <a:rPr lang="en-US" sz="3200" i="1" baseline="30000" dirty="0"/>
              <a:t>2</a:t>
            </a:r>
          </a:p>
          <a:p>
            <a:r>
              <a:rPr lang="en-US" sz="3200" dirty="0"/>
              <a:t>MTCT 6.5% </a:t>
            </a:r>
          </a:p>
          <a:p>
            <a:endParaRPr lang="en-US" dirty="0"/>
          </a:p>
        </p:txBody>
      </p:sp>
      <p:sp>
        <p:nvSpPr>
          <p:cNvPr id="2" name="TextBox 1">
            <a:extLst>
              <a:ext uri="{FF2B5EF4-FFF2-40B4-BE49-F238E27FC236}">
                <a16:creationId xmlns:a16="http://schemas.microsoft.com/office/drawing/2014/main" id="{E9CF0431-3355-882E-4400-819C40CA8082}"/>
              </a:ext>
            </a:extLst>
          </p:cNvPr>
          <p:cNvSpPr txBox="1"/>
          <p:nvPr/>
        </p:nvSpPr>
        <p:spPr>
          <a:xfrm>
            <a:off x="838200" y="6042212"/>
            <a:ext cx="10457328" cy="1015663"/>
          </a:xfrm>
          <a:prstGeom prst="rect">
            <a:avLst/>
          </a:prstGeom>
          <a:noFill/>
        </p:spPr>
        <p:txBody>
          <a:bodyPr wrap="square" rtlCol="0">
            <a:spAutoFit/>
          </a:bodyPr>
          <a:lstStyle/>
          <a:p>
            <a:pPr marL="228600" indent="-228600">
              <a:buAutoNum type="arabicPeriod"/>
            </a:pPr>
            <a:r>
              <a:rPr lang="en-US" sz="1200" i="1" dirty="0">
                <a:latin typeface="Calibri" panose="020F0502020204030204" pitchFamily="34" charset="0"/>
                <a:cs typeface="Calibri" panose="020F0502020204030204" pitchFamily="34" charset="0"/>
              </a:rPr>
              <a:t>Mpondo BCT, Gunda DW, Kilonzo SB. HIV Epidemic in Tanzania: The Possible Role of the Key Populations. AIDS Res Treat. 2017;2017:7089150. </a:t>
            </a:r>
            <a:r>
              <a:rPr lang="en-US" sz="1200" i="1" dirty="0" err="1">
                <a:latin typeface="Calibri" panose="020F0502020204030204" pitchFamily="34" charset="0"/>
                <a:cs typeface="Calibri" panose="020F0502020204030204" pitchFamily="34" charset="0"/>
              </a:rPr>
              <a:t>doi</a:t>
            </a:r>
            <a:r>
              <a:rPr lang="en-US" sz="1200" i="1" dirty="0">
                <a:latin typeface="Calibri" panose="020F0502020204030204" pitchFamily="34" charset="0"/>
                <a:cs typeface="Calibri" panose="020F0502020204030204" pitchFamily="34" charset="0"/>
              </a:rPr>
              <a:t>: 10.1155/2017/7089150. </a:t>
            </a:r>
            <a:r>
              <a:rPr lang="en-US" sz="1200" i="1" dirty="0" err="1">
                <a:latin typeface="Calibri" panose="020F0502020204030204" pitchFamily="34" charset="0"/>
                <a:cs typeface="Calibri" panose="020F0502020204030204" pitchFamily="34" charset="0"/>
              </a:rPr>
              <a:t>Epub</a:t>
            </a:r>
            <a:r>
              <a:rPr lang="en-US" sz="1200" i="1" dirty="0">
                <a:latin typeface="Calibri" panose="020F0502020204030204" pitchFamily="34" charset="0"/>
                <a:cs typeface="Calibri" panose="020F0502020204030204" pitchFamily="34" charset="0"/>
              </a:rPr>
              <a:t> 2017 Aug 17. PMID: 28948049; PMCID: PMC5602645.</a:t>
            </a:r>
          </a:p>
          <a:p>
            <a:pPr marL="228600" indent="-228600">
              <a:buAutoNum type="arabicPeriod"/>
            </a:pPr>
            <a:r>
              <a:rPr lang="en-US" altLang="en-US" sz="1200" i="1" dirty="0">
                <a:solidFill>
                  <a:srgbClr val="000000"/>
                </a:solidFill>
                <a:latin typeface="Calibri" panose="020F0502020204030204" pitchFamily="34" charset="0"/>
                <a:cs typeface="Calibri" panose="020F0502020204030204" pitchFamily="34" charset="0"/>
              </a:rPr>
              <a:t>Tanzania HIV Impact Survey (THIS) 2022–2023: Final Report</a:t>
            </a:r>
            <a:r>
              <a:rPr lang="en-US" altLang="en-US" sz="1200" dirty="0">
                <a:solidFill>
                  <a:srgbClr val="000000"/>
                </a:solidFill>
                <a:latin typeface="Calibri" panose="020F0502020204030204" pitchFamily="34" charset="0"/>
                <a:cs typeface="Calibri" panose="020F0502020204030204" pitchFamily="34" charset="0"/>
              </a:rPr>
              <a:t>. Ministry of Health, 2023.</a:t>
            </a:r>
            <a:endParaRPr lang="en-US" altLang="en-US" sz="1200" dirty="0">
              <a:latin typeface="Calibri" panose="020F0502020204030204" pitchFamily="34" charset="0"/>
              <a:cs typeface="Calibri" panose="020F0502020204030204" pitchFamily="34" charset="0"/>
            </a:endParaRPr>
          </a:p>
          <a:p>
            <a:endParaRPr lang="en-US" sz="1200" i="1" dirty="0">
              <a:latin typeface="Calibri" panose="020F0502020204030204" pitchFamily="34" charset="0"/>
              <a:cs typeface="Calibri" panose="020F0502020204030204" pitchFamily="34" charset="0"/>
            </a:endParaRPr>
          </a:p>
          <a:p>
            <a:endParaRPr lang="en-US" sz="1200"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97924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91DADE-AC12-5CE7-83FA-A2BEEB965102}"/>
              </a:ext>
            </a:extLst>
          </p:cNvPr>
          <p:cNvSpPr>
            <a:spLocks noGrp="1"/>
          </p:cNvSpPr>
          <p:nvPr>
            <p:ph idx="1"/>
          </p:nvPr>
        </p:nvSpPr>
        <p:spPr>
          <a:xfrm>
            <a:off x="665672" y="497156"/>
            <a:ext cx="10515600" cy="5532707"/>
          </a:xfrm>
        </p:spPr>
        <p:txBody>
          <a:bodyPr/>
          <a:lstStyle/>
          <a:p>
            <a:r>
              <a:rPr lang="en-US" b="1" dirty="0"/>
              <a:t>HIV Prevalence in Tanzania (2024)</a:t>
            </a:r>
          </a:p>
          <a:p>
            <a:r>
              <a:rPr lang="en-US" dirty="0"/>
              <a:t>The </a:t>
            </a:r>
            <a:r>
              <a:rPr lang="en-US" b="1" dirty="0"/>
              <a:t>adult HIV prevalence (ages 15–49)</a:t>
            </a:r>
            <a:r>
              <a:rPr lang="en-US" dirty="0"/>
              <a:t> in Tanzania is estimated at about </a:t>
            </a:r>
            <a:r>
              <a:rPr lang="en-US" b="1" dirty="0"/>
              <a:t>4.4%</a:t>
            </a:r>
            <a:r>
              <a:rPr lang="en-US" dirty="0"/>
              <a:t> based on the </a:t>
            </a:r>
            <a:r>
              <a:rPr lang="en-US" b="1" dirty="0"/>
              <a:t>Tanzania HIV Impact Survey (THIS 2022–2023)</a:t>
            </a:r>
            <a:r>
              <a:rPr lang="en-US" dirty="0"/>
              <a:t>, which reflects the most current nationally representative data used through 2024.</a:t>
            </a:r>
          </a:p>
          <a:p>
            <a:pPr lvl="1"/>
            <a:r>
              <a:rPr lang="en-US" dirty="0"/>
              <a:t>This corresponds to </a:t>
            </a:r>
            <a:r>
              <a:rPr lang="en-US" b="1" dirty="0"/>
              <a:t>roughly 1.5–1.7 million adults living with HIV</a:t>
            </a:r>
            <a:r>
              <a:rPr lang="en-US" dirty="0"/>
              <a:t> in the country.</a:t>
            </a:r>
          </a:p>
          <a:p>
            <a:r>
              <a:rPr lang="en-US" b="1" dirty="0"/>
              <a:t>Women</a:t>
            </a:r>
            <a:r>
              <a:rPr lang="en-US" dirty="0"/>
              <a:t> have a </a:t>
            </a:r>
            <a:r>
              <a:rPr lang="en-US" b="1" dirty="0"/>
              <a:t>higher prevalence (~5.6%)</a:t>
            </a:r>
            <a:r>
              <a:rPr lang="en-US" dirty="0"/>
              <a:t> than </a:t>
            </a:r>
            <a:r>
              <a:rPr lang="en-US" b="1" dirty="0"/>
              <a:t>men (~3.0%)</a:t>
            </a:r>
            <a:r>
              <a:rPr lang="en-US" dirty="0"/>
              <a:t> among adults aged 15 and older.</a:t>
            </a:r>
          </a:p>
          <a:p>
            <a:r>
              <a:rPr lang="en-US" dirty="0"/>
              <a:t>The prevalence of ~4.4% represents a </a:t>
            </a:r>
            <a:r>
              <a:rPr lang="en-US" b="1" dirty="0"/>
              <a:t>continued gradual decline</a:t>
            </a:r>
            <a:r>
              <a:rPr lang="en-US" dirty="0"/>
              <a:t> from higher levels seen in past decades (e.g., around 5%–5.1% earlier in the 2010s).</a:t>
            </a:r>
          </a:p>
          <a:p>
            <a:endParaRPr lang="en-US" dirty="0"/>
          </a:p>
        </p:txBody>
      </p:sp>
    </p:spTree>
    <p:extLst>
      <p:ext uri="{BB962C8B-B14F-4D97-AF65-F5344CB8AC3E}">
        <p14:creationId xmlns:p14="http://schemas.microsoft.com/office/powerpoint/2010/main" val="1080294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969708D-32E7-223A-13F1-CCC9B9C98F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25282" y="278674"/>
            <a:ext cx="7961035" cy="6569693"/>
          </a:xfrm>
        </p:spPr>
      </p:pic>
    </p:spTree>
    <p:extLst>
      <p:ext uri="{BB962C8B-B14F-4D97-AF65-F5344CB8AC3E}">
        <p14:creationId xmlns:p14="http://schemas.microsoft.com/office/powerpoint/2010/main" val="1654929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BFCAF-062F-7401-A646-09F532B28941}"/>
              </a:ext>
            </a:extLst>
          </p:cNvPr>
          <p:cNvSpPr>
            <a:spLocks noGrp="1"/>
          </p:cNvSpPr>
          <p:nvPr>
            <p:ph type="title"/>
          </p:nvPr>
        </p:nvSpPr>
        <p:spPr/>
        <p:txBody>
          <a:bodyPr/>
          <a:lstStyle/>
          <a:p>
            <a:r>
              <a:rPr lang="en-US" dirty="0">
                <a:latin typeface="Arial Black" panose="020B0A04020102020204" pitchFamily="34" charset="0"/>
              </a:rPr>
              <a:t>95-95-95 HIV strategies by 2025</a:t>
            </a:r>
            <a:endParaRPr lang="en-US" dirty="0"/>
          </a:p>
        </p:txBody>
      </p:sp>
      <p:sp>
        <p:nvSpPr>
          <p:cNvPr id="3" name="Content Placeholder 2">
            <a:extLst>
              <a:ext uri="{FF2B5EF4-FFF2-40B4-BE49-F238E27FC236}">
                <a16:creationId xmlns:a16="http://schemas.microsoft.com/office/drawing/2014/main" id="{202685BF-4109-9623-F863-230DF92B50F8}"/>
              </a:ext>
            </a:extLst>
          </p:cNvPr>
          <p:cNvSpPr>
            <a:spLocks noGrp="1"/>
          </p:cNvSpPr>
          <p:nvPr>
            <p:ph idx="1"/>
          </p:nvPr>
        </p:nvSpPr>
        <p:spPr/>
        <p:txBody>
          <a:bodyPr>
            <a:normAutofit lnSpcReduction="10000"/>
          </a:bodyPr>
          <a:lstStyle/>
          <a:p>
            <a:r>
              <a:rPr lang="en-US" sz="3200" b="1" dirty="0"/>
              <a:t>WHO, </a:t>
            </a:r>
            <a:r>
              <a:rPr lang="en-US" sz="3200" dirty="0"/>
              <a:t>the Global Fund and UNAIDS all have global HIV strategies that are aligned with the SDG target of ending the HIV epidemic by </a:t>
            </a:r>
            <a:r>
              <a:rPr lang="en-US" sz="3200" b="1" dirty="0"/>
              <a:t>2030</a:t>
            </a:r>
            <a:r>
              <a:rPr lang="en-US" sz="3200" dirty="0"/>
              <a:t>.</a:t>
            </a:r>
          </a:p>
          <a:p>
            <a:r>
              <a:rPr lang="en-US" sz="3200" b="1" dirty="0"/>
              <a:t>By 2025:</a:t>
            </a:r>
          </a:p>
          <a:p>
            <a:pPr>
              <a:buFont typeface="Wingdings" panose="05000000000000000000" pitchFamily="2" charset="2"/>
              <a:buChar char="Ø"/>
            </a:pPr>
            <a:r>
              <a:rPr lang="en-US" b="1" dirty="0"/>
              <a:t>95% </a:t>
            </a:r>
            <a:r>
              <a:rPr lang="en-US" dirty="0"/>
              <a:t>of all people living with HIV (</a:t>
            </a:r>
            <a:r>
              <a:rPr lang="en-US" b="1" dirty="0"/>
              <a:t>PLHIV</a:t>
            </a:r>
            <a:r>
              <a:rPr lang="en-US" dirty="0"/>
              <a:t>) should have a diagnosis, </a:t>
            </a:r>
          </a:p>
          <a:p>
            <a:pPr>
              <a:buFont typeface="Wingdings" panose="05000000000000000000" pitchFamily="2" charset="2"/>
              <a:buChar char="Ø"/>
            </a:pPr>
            <a:r>
              <a:rPr lang="en-US" b="1" dirty="0"/>
              <a:t>95% </a:t>
            </a:r>
            <a:r>
              <a:rPr lang="en-US" dirty="0"/>
              <a:t>of those diagnosed should be taking lifesaving antiretroviral treatment (ART)</a:t>
            </a:r>
          </a:p>
          <a:p>
            <a:pPr>
              <a:buFont typeface="Wingdings" panose="05000000000000000000" pitchFamily="2" charset="2"/>
              <a:buChar char="Ø"/>
            </a:pPr>
            <a:r>
              <a:rPr lang="en-US" b="1" dirty="0"/>
              <a:t>95% </a:t>
            </a:r>
            <a:r>
              <a:rPr lang="en-US" dirty="0"/>
              <a:t>of </a:t>
            </a:r>
            <a:r>
              <a:rPr lang="en-US" b="1" dirty="0"/>
              <a:t>PLHIV</a:t>
            </a:r>
            <a:r>
              <a:rPr lang="en-US" dirty="0"/>
              <a:t> on treatment should achieve a suppressed viral load for the benefit of the person’s health and for reducing onward HIV transmission. </a:t>
            </a:r>
          </a:p>
          <a:p>
            <a:endParaRPr lang="en-US" dirty="0"/>
          </a:p>
        </p:txBody>
      </p:sp>
    </p:spTree>
    <p:extLst>
      <p:ext uri="{BB962C8B-B14F-4D97-AF65-F5344CB8AC3E}">
        <p14:creationId xmlns:p14="http://schemas.microsoft.com/office/powerpoint/2010/main" val="3643695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13CC3-2665-F1EA-0485-F81253502FEA}"/>
              </a:ext>
            </a:extLst>
          </p:cNvPr>
          <p:cNvSpPr>
            <a:spLocks noGrp="1"/>
          </p:cNvSpPr>
          <p:nvPr>
            <p:ph type="title"/>
          </p:nvPr>
        </p:nvSpPr>
        <p:spPr>
          <a:xfrm>
            <a:off x="838200" y="365125"/>
            <a:ext cx="10515600" cy="880201"/>
          </a:xfrm>
        </p:spPr>
        <p:txBody>
          <a:bodyPr/>
          <a:lstStyle/>
          <a:p>
            <a:r>
              <a:rPr lang="en-US" b="1" dirty="0"/>
              <a:t>VIROLOGY</a:t>
            </a:r>
          </a:p>
        </p:txBody>
      </p:sp>
      <p:sp>
        <p:nvSpPr>
          <p:cNvPr id="3" name="Content Placeholder 2">
            <a:extLst>
              <a:ext uri="{FF2B5EF4-FFF2-40B4-BE49-F238E27FC236}">
                <a16:creationId xmlns:a16="http://schemas.microsoft.com/office/drawing/2014/main" id="{7FBC3B86-0A92-94DD-CB79-9ACB794C48A0}"/>
              </a:ext>
            </a:extLst>
          </p:cNvPr>
          <p:cNvSpPr>
            <a:spLocks noGrp="1"/>
          </p:cNvSpPr>
          <p:nvPr>
            <p:ph idx="1"/>
          </p:nvPr>
        </p:nvSpPr>
        <p:spPr>
          <a:xfrm>
            <a:off x="838200" y="1463040"/>
            <a:ext cx="10515600" cy="4713923"/>
          </a:xfrm>
        </p:spPr>
        <p:txBody>
          <a:bodyPr>
            <a:normAutofit/>
          </a:bodyPr>
          <a:lstStyle/>
          <a:p>
            <a:pPr marL="0" indent="0">
              <a:buNone/>
            </a:pPr>
            <a:r>
              <a:rPr lang="en-US" b="1" dirty="0"/>
              <a:t>Classification</a:t>
            </a:r>
          </a:p>
          <a:p>
            <a:pPr marL="342900" lvl="1" indent="-342900">
              <a:defRPr/>
            </a:pPr>
            <a:r>
              <a:rPr lang="en-US" dirty="0"/>
              <a:t>Family</a:t>
            </a:r>
            <a:r>
              <a:rPr lang="en-US" b="1" dirty="0"/>
              <a:t>:</a:t>
            </a:r>
            <a:r>
              <a:rPr lang="en-US" dirty="0"/>
              <a:t> </a:t>
            </a:r>
            <a:r>
              <a:rPr lang="en-US" b="1" dirty="0" err="1"/>
              <a:t>Retroviridae</a:t>
            </a:r>
            <a:endParaRPr lang="en-US" b="1" dirty="0"/>
          </a:p>
          <a:p>
            <a:pPr marL="342900" lvl="1" indent="-342900">
              <a:defRPr/>
            </a:pPr>
            <a:r>
              <a:rPr lang="en-US" b="1" dirty="0"/>
              <a:t>Lentiviruses</a:t>
            </a:r>
            <a:r>
              <a:rPr lang="en-US" dirty="0"/>
              <a:t>: HIV 1 &amp; HIV 2 (</a:t>
            </a:r>
            <a:r>
              <a:rPr lang="en-US" b="1" dirty="0"/>
              <a:t>HIV-1</a:t>
            </a:r>
            <a:r>
              <a:rPr lang="en-US" dirty="0"/>
              <a:t> most common worldwide, </a:t>
            </a:r>
            <a:r>
              <a:rPr lang="en-US" b="1" dirty="0"/>
              <a:t>HIV-2 </a:t>
            </a:r>
            <a:r>
              <a:rPr lang="en-US" dirty="0"/>
              <a:t>West Africa)</a:t>
            </a:r>
          </a:p>
          <a:p>
            <a:pPr>
              <a:defRPr/>
            </a:pPr>
            <a:r>
              <a:rPr lang="en-US" b="1" dirty="0"/>
              <a:t>HIV-1</a:t>
            </a:r>
            <a:r>
              <a:rPr lang="en-US" dirty="0"/>
              <a:t> can be subdivided into:</a:t>
            </a:r>
          </a:p>
          <a:p>
            <a:pPr lvl="1">
              <a:defRPr/>
            </a:pPr>
            <a:r>
              <a:rPr lang="en-US" dirty="0"/>
              <a:t>group </a:t>
            </a:r>
            <a:r>
              <a:rPr lang="en-US" b="1" dirty="0"/>
              <a:t>M </a:t>
            </a:r>
            <a:r>
              <a:rPr lang="en-US" dirty="0"/>
              <a:t>(major)</a:t>
            </a:r>
          </a:p>
          <a:p>
            <a:pPr lvl="1">
              <a:defRPr/>
            </a:pPr>
            <a:r>
              <a:rPr lang="en-US" dirty="0"/>
              <a:t>Group </a:t>
            </a:r>
            <a:r>
              <a:rPr lang="en-US" b="1" dirty="0"/>
              <a:t>O</a:t>
            </a:r>
            <a:r>
              <a:rPr lang="en-US" dirty="0"/>
              <a:t> (outlier)- West-central Africa</a:t>
            </a:r>
          </a:p>
          <a:p>
            <a:pPr lvl="1">
              <a:defRPr/>
            </a:pPr>
            <a:r>
              <a:rPr lang="en-US" dirty="0"/>
              <a:t>Group </a:t>
            </a:r>
            <a:r>
              <a:rPr lang="en-US" b="1" dirty="0"/>
              <a:t>N </a:t>
            </a:r>
            <a:r>
              <a:rPr lang="en-US" dirty="0"/>
              <a:t>&amp; </a:t>
            </a:r>
            <a:r>
              <a:rPr lang="en-US" b="1" dirty="0"/>
              <a:t>P </a:t>
            </a:r>
            <a:r>
              <a:rPr lang="en-US" dirty="0"/>
              <a:t>(new groups)</a:t>
            </a:r>
          </a:p>
          <a:p>
            <a:pPr>
              <a:buClr>
                <a:schemeClr val="tx1"/>
              </a:buClr>
              <a:defRPr/>
            </a:pPr>
            <a:r>
              <a:rPr lang="en-US" b="1" dirty="0"/>
              <a:t>9 </a:t>
            </a:r>
            <a:r>
              <a:rPr lang="en-US" dirty="0"/>
              <a:t>subtypes for group M lettered A-K(subtype C most common worldwide)</a:t>
            </a:r>
          </a:p>
          <a:p>
            <a:endParaRPr lang="en-US" b="1" dirty="0"/>
          </a:p>
        </p:txBody>
      </p:sp>
    </p:spTree>
    <p:extLst>
      <p:ext uri="{BB962C8B-B14F-4D97-AF65-F5344CB8AC3E}">
        <p14:creationId xmlns:p14="http://schemas.microsoft.com/office/powerpoint/2010/main" val="4075465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6C47D-A43E-AAC3-FA7C-8F7186EDBFA6}"/>
              </a:ext>
            </a:extLst>
          </p:cNvPr>
          <p:cNvSpPr>
            <a:spLocks noGrp="1"/>
          </p:cNvSpPr>
          <p:nvPr>
            <p:ph type="title"/>
          </p:nvPr>
        </p:nvSpPr>
        <p:spPr>
          <a:xfrm>
            <a:off x="1227907" y="6217286"/>
            <a:ext cx="4937761" cy="442306"/>
          </a:xfrm>
        </p:spPr>
        <p:txBody>
          <a:bodyPr>
            <a:normAutofit fontScale="90000"/>
          </a:bodyPr>
          <a:lstStyle/>
          <a:p>
            <a:r>
              <a:rPr lang="en-US" altLang="en-US" sz="2000" dirty="0"/>
              <a:t>**circulating recombinant forms     (</a:t>
            </a:r>
            <a:r>
              <a:rPr lang="en-US" altLang="en-US" sz="2000" b="1" dirty="0"/>
              <a:t>CRFs)</a:t>
            </a:r>
            <a:br>
              <a:rPr lang="en-US" altLang="en-US" dirty="0"/>
            </a:br>
            <a:endParaRPr lang="en-US" dirty="0"/>
          </a:p>
        </p:txBody>
      </p:sp>
      <p:pic>
        <p:nvPicPr>
          <p:cNvPr id="4" name="Content Placeholder 3">
            <a:extLst>
              <a:ext uri="{FF2B5EF4-FFF2-40B4-BE49-F238E27FC236}">
                <a16:creationId xmlns:a16="http://schemas.microsoft.com/office/drawing/2014/main" id="{153A2423-F4AF-2EEB-1963-1D6BF8EDA435}"/>
              </a:ext>
            </a:extLst>
          </p:cNvPr>
          <p:cNvPicPr>
            <a:picLocks noGrp="1" noChangeAspect="1"/>
          </p:cNvPicPr>
          <p:nvPr>
            <p:ph idx="1"/>
          </p:nvPr>
        </p:nvPicPr>
        <p:blipFill>
          <a:blip r:embed="rId2"/>
          <a:stretch>
            <a:fillRect/>
          </a:stretch>
        </p:blipFill>
        <p:spPr>
          <a:xfrm>
            <a:off x="1227906" y="563217"/>
            <a:ext cx="9172721" cy="5156095"/>
          </a:xfrm>
          <a:prstGeom prst="rect">
            <a:avLst/>
          </a:prstGeom>
        </p:spPr>
      </p:pic>
    </p:spTree>
    <p:extLst>
      <p:ext uri="{BB962C8B-B14F-4D97-AF65-F5344CB8AC3E}">
        <p14:creationId xmlns:p14="http://schemas.microsoft.com/office/powerpoint/2010/main" val="2409997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2085A-1E01-D824-F8F2-C32622CF09E6}"/>
              </a:ext>
            </a:extLst>
          </p:cNvPr>
          <p:cNvSpPr>
            <a:spLocks noGrp="1"/>
          </p:cNvSpPr>
          <p:nvPr>
            <p:ph type="title"/>
          </p:nvPr>
        </p:nvSpPr>
        <p:spPr>
          <a:xfrm>
            <a:off x="838200" y="365125"/>
            <a:ext cx="10515600" cy="842573"/>
          </a:xfrm>
        </p:spPr>
        <p:txBody>
          <a:bodyPr>
            <a:normAutofit fontScale="90000"/>
          </a:bodyPr>
          <a:lstStyle/>
          <a:p>
            <a:r>
              <a:rPr lang="en-US" b="1" dirty="0"/>
              <a:t>Viral structure:</a:t>
            </a:r>
            <a:br>
              <a:rPr lang="en-US" dirty="0"/>
            </a:br>
            <a:endParaRPr lang="en-US" b="1" dirty="0"/>
          </a:p>
        </p:txBody>
      </p:sp>
      <p:pic>
        <p:nvPicPr>
          <p:cNvPr id="5" name="Picture 4">
            <a:extLst>
              <a:ext uri="{FF2B5EF4-FFF2-40B4-BE49-F238E27FC236}">
                <a16:creationId xmlns:a16="http://schemas.microsoft.com/office/drawing/2014/main" id="{5412B1CC-0172-4227-ACCE-5FFF386356FF}"/>
              </a:ext>
            </a:extLst>
          </p:cNvPr>
          <p:cNvPicPr>
            <a:picLocks noChangeAspect="1"/>
          </p:cNvPicPr>
          <p:nvPr/>
        </p:nvPicPr>
        <p:blipFill>
          <a:blip r:embed="rId2"/>
          <a:srcRect t="2390"/>
          <a:stretch>
            <a:fillRect/>
          </a:stretch>
        </p:blipFill>
        <p:spPr>
          <a:xfrm>
            <a:off x="838200" y="1553996"/>
            <a:ext cx="8521460" cy="4954698"/>
          </a:xfrm>
          <a:prstGeom prst="rect">
            <a:avLst/>
          </a:prstGeom>
        </p:spPr>
      </p:pic>
    </p:spTree>
    <p:extLst>
      <p:ext uri="{BB962C8B-B14F-4D97-AF65-F5344CB8AC3E}">
        <p14:creationId xmlns:p14="http://schemas.microsoft.com/office/powerpoint/2010/main" val="1866360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2DF49-785C-C647-DE60-A477B9859601}"/>
              </a:ext>
            </a:extLst>
          </p:cNvPr>
          <p:cNvSpPr>
            <a:spLocks noGrp="1"/>
          </p:cNvSpPr>
          <p:nvPr>
            <p:ph type="title"/>
          </p:nvPr>
        </p:nvSpPr>
        <p:spPr/>
        <p:txBody>
          <a:bodyPr/>
          <a:lstStyle/>
          <a:p>
            <a:r>
              <a:rPr lang="en-US" b="1" dirty="0"/>
              <a:t>HIV virulence</a:t>
            </a:r>
          </a:p>
        </p:txBody>
      </p:sp>
      <p:sp>
        <p:nvSpPr>
          <p:cNvPr id="3" name="Content Placeholder 2">
            <a:extLst>
              <a:ext uri="{FF2B5EF4-FFF2-40B4-BE49-F238E27FC236}">
                <a16:creationId xmlns:a16="http://schemas.microsoft.com/office/drawing/2014/main" id="{C93200AA-3B1D-CC9D-0FC7-380FC12399F8}"/>
              </a:ext>
            </a:extLst>
          </p:cNvPr>
          <p:cNvSpPr>
            <a:spLocks noGrp="1"/>
          </p:cNvSpPr>
          <p:nvPr>
            <p:ph idx="1"/>
          </p:nvPr>
        </p:nvSpPr>
        <p:spPr/>
        <p:txBody>
          <a:bodyPr/>
          <a:lstStyle/>
          <a:p>
            <a:r>
              <a:rPr lang="en-US" b="1" dirty="0"/>
              <a:t>HIV’s</a:t>
            </a:r>
            <a:r>
              <a:rPr lang="en-US" dirty="0"/>
              <a:t> virulence is driven by a small set of viral </a:t>
            </a:r>
            <a:r>
              <a:rPr lang="en-US" b="1" dirty="0"/>
              <a:t>genes</a:t>
            </a:r>
            <a:r>
              <a:rPr lang="en-US" dirty="0"/>
              <a:t> that encode structural proteins, enzymes, and accessory/regulatory factors that together enable </a:t>
            </a:r>
            <a:r>
              <a:rPr lang="en-US" b="1" dirty="0"/>
              <a:t>entry</a:t>
            </a:r>
            <a:r>
              <a:rPr lang="en-US" dirty="0"/>
              <a:t>, </a:t>
            </a:r>
            <a:r>
              <a:rPr lang="en-US" b="1" dirty="0"/>
              <a:t>replication</a:t>
            </a:r>
            <a:r>
              <a:rPr lang="en-US" dirty="0"/>
              <a:t>, </a:t>
            </a:r>
            <a:r>
              <a:rPr lang="en-US" b="1" dirty="0"/>
              <a:t>immune evasion</a:t>
            </a:r>
            <a:r>
              <a:rPr lang="en-US" dirty="0"/>
              <a:t>, and </a:t>
            </a:r>
            <a:r>
              <a:rPr lang="en-US" b="1" dirty="0"/>
              <a:t>persistence.</a:t>
            </a:r>
          </a:p>
          <a:p>
            <a:r>
              <a:rPr lang="en-US" dirty="0"/>
              <a:t> key genes include </a:t>
            </a:r>
            <a:r>
              <a:rPr lang="en-US" b="1" i="1" dirty="0"/>
              <a:t>gag, pol, env, tat, rev, </a:t>
            </a:r>
            <a:r>
              <a:rPr lang="en-US" b="1" i="1" dirty="0" err="1"/>
              <a:t>nef</a:t>
            </a:r>
            <a:r>
              <a:rPr lang="en-US" b="1" i="1" dirty="0"/>
              <a:t>, </a:t>
            </a:r>
            <a:r>
              <a:rPr lang="en-US" b="1" i="1" dirty="0" err="1"/>
              <a:t>vif</a:t>
            </a:r>
            <a:r>
              <a:rPr lang="en-US" b="1" i="1" dirty="0"/>
              <a:t>, </a:t>
            </a:r>
            <a:r>
              <a:rPr lang="en-US" b="1" i="1" dirty="0" err="1"/>
              <a:t>vpr</a:t>
            </a:r>
            <a:r>
              <a:rPr lang="en-US" b="1" i="1" dirty="0"/>
              <a:t>,</a:t>
            </a:r>
            <a:r>
              <a:rPr lang="en-US" b="1" dirty="0"/>
              <a:t> and </a:t>
            </a:r>
            <a:r>
              <a:rPr lang="en-US" b="1" i="1" dirty="0" err="1"/>
              <a:t>vpu</a:t>
            </a:r>
            <a:r>
              <a:rPr lang="en-US" dirty="0"/>
              <a:t>, each with distinct functions that shape pathogenicity and </a:t>
            </a:r>
            <a:r>
              <a:rPr lang="en-US" b="1" dirty="0"/>
              <a:t>treatment targets</a:t>
            </a:r>
          </a:p>
        </p:txBody>
      </p:sp>
    </p:spTree>
    <p:extLst>
      <p:ext uri="{BB962C8B-B14F-4D97-AF65-F5344CB8AC3E}">
        <p14:creationId xmlns:p14="http://schemas.microsoft.com/office/powerpoint/2010/main" val="347955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56F2B-FEF1-68F6-E2DD-5653CE329A90}"/>
              </a:ext>
            </a:extLst>
          </p:cNvPr>
          <p:cNvSpPr>
            <a:spLocks noGrp="1"/>
          </p:cNvSpPr>
          <p:nvPr>
            <p:ph type="title"/>
          </p:nvPr>
        </p:nvSpPr>
        <p:spPr>
          <a:xfrm>
            <a:off x="838200" y="365126"/>
            <a:ext cx="7529423" cy="1075486"/>
          </a:xfrm>
        </p:spPr>
        <p:txBody>
          <a:bodyPr>
            <a:normAutofit fontScale="90000"/>
          </a:bodyPr>
          <a:lstStyle/>
          <a:p>
            <a:r>
              <a:rPr lang="en-US" b="1" dirty="0"/>
              <a:t>Core structural and enzymatic genes</a:t>
            </a:r>
            <a:br>
              <a:rPr lang="en-US" b="1" dirty="0"/>
            </a:br>
            <a:endParaRPr lang="en-US" dirty="0"/>
          </a:p>
        </p:txBody>
      </p:sp>
      <p:sp>
        <p:nvSpPr>
          <p:cNvPr id="3" name="Content Placeholder 2">
            <a:extLst>
              <a:ext uri="{FF2B5EF4-FFF2-40B4-BE49-F238E27FC236}">
                <a16:creationId xmlns:a16="http://schemas.microsoft.com/office/drawing/2014/main" id="{DB6AD6C7-5DEC-50BF-041A-CA8629B7822B}"/>
              </a:ext>
            </a:extLst>
          </p:cNvPr>
          <p:cNvSpPr>
            <a:spLocks noGrp="1"/>
          </p:cNvSpPr>
          <p:nvPr>
            <p:ph idx="1"/>
          </p:nvPr>
        </p:nvSpPr>
        <p:spPr>
          <a:xfrm>
            <a:off x="838200" y="1440612"/>
            <a:ext cx="10660811" cy="4670066"/>
          </a:xfrm>
        </p:spPr>
        <p:txBody>
          <a:bodyPr>
            <a:normAutofit/>
          </a:bodyPr>
          <a:lstStyle/>
          <a:p>
            <a:r>
              <a:rPr lang="en-US" b="1" dirty="0"/>
              <a:t>Gag-</a:t>
            </a:r>
            <a:r>
              <a:rPr lang="en-US" dirty="0"/>
              <a:t> encodes the structural proteins (matrix </a:t>
            </a:r>
            <a:r>
              <a:rPr lang="en-US" i="1" dirty="0"/>
              <a:t>p17</a:t>
            </a:r>
            <a:r>
              <a:rPr lang="en-US" dirty="0"/>
              <a:t>, capsid </a:t>
            </a:r>
            <a:r>
              <a:rPr lang="en-US" i="1" dirty="0"/>
              <a:t>p24</a:t>
            </a:r>
            <a:r>
              <a:rPr lang="en-US" dirty="0"/>
              <a:t>, nucleocapsid) that form the virion core and are essential for particle assembly and maturation.</a:t>
            </a:r>
          </a:p>
          <a:p>
            <a:r>
              <a:rPr lang="en-US" b="1" dirty="0">
                <a:effectLst/>
              </a:rPr>
              <a:t>Pol-</a:t>
            </a:r>
            <a:r>
              <a:rPr lang="en-US" dirty="0">
                <a:effectLst/>
              </a:rPr>
              <a:t> encodes the viral enzymes </a:t>
            </a:r>
            <a:r>
              <a:rPr lang="en-US" b="1" dirty="0">
                <a:effectLst/>
              </a:rPr>
              <a:t>reverse transcriptase (RT)</a:t>
            </a:r>
            <a:r>
              <a:rPr lang="en-US" dirty="0">
                <a:effectLst/>
              </a:rPr>
              <a:t>, </a:t>
            </a:r>
            <a:r>
              <a:rPr lang="en-US" b="1" dirty="0">
                <a:effectLst/>
              </a:rPr>
              <a:t>integrase (IN)</a:t>
            </a:r>
            <a:r>
              <a:rPr lang="en-US" dirty="0">
                <a:effectLst/>
              </a:rPr>
              <a:t>, and </a:t>
            </a:r>
            <a:r>
              <a:rPr lang="en-US" b="1" dirty="0">
                <a:effectLst/>
              </a:rPr>
              <a:t>protease (PR)</a:t>
            </a:r>
            <a:r>
              <a:rPr lang="en-US" dirty="0">
                <a:effectLst/>
              </a:rPr>
              <a:t>; these are central to replication and are primary </a:t>
            </a:r>
            <a:r>
              <a:rPr lang="en-US" b="1" dirty="0">
                <a:effectLst/>
              </a:rPr>
              <a:t>antiretroviral drug targets</a:t>
            </a:r>
            <a:r>
              <a:rPr lang="en-US" dirty="0">
                <a:effectLst/>
              </a:rPr>
              <a:t> (RT inhibitors, integrase inhibitors, protease inhibitors).</a:t>
            </a:r>
          </a:p>
          <a:p>
            <a:r>
              <a:rPr lang="en-US" b="1" dirty="0">
                <a:effectLst/>
              </a:rPr>
              <a:t>Env-</a:t>
            </a:r>
            <a:r>
              <a:rPr lang="en-US" dirty="0">
                <a:effectLst/>
              </a:rPr>
              <a:t> encodes the envelope glycoprotein precursor </a:t>
            </a:r>
            <a:r>
              <a:rPr lang="en-US" b="1" dirty="0">
                <a:effectLst/>
              </a:rPr>
              <a:t>gp160</a:t>
            </a:r>
            <a:r>
              <a:rPr lang="en-US" dirty="0">
                <a:effectLst/>
              </a:rPr>
              <a:t>, cleaved into </a:t>
            </a:r>
            <a:r>
              <a:rPr lang="en-US" b="1" dirty="0">
                <a:effectLst/>
              </a:rPr>
              <a:t>gp120</a:t>
            </a:r>
            <a:r>
              <a:rPr lang="en-US" dirty="0">
                <a:effectLst/>
              </a:rPr>
              <a:t> (surface subunit) and </a:t>
            </a:r>
            <a:r>
              <a:rPr lang="en-US" b="1" dirty="0">
                <a:effectLst/>
              </a:rPr>
              <a:t>gp41</a:t>
            </a:r>
            <a:r>
              <a:rPr lang="en-US" dirty="0">
                <a:effectLst/>
              </a:rPr>
              <a:t> (transmembrane fusion subunit); </a:t>
            </a:r>
            <a:r>
              <a:rPr lang="en-US" b="1" dirty="0">
                <a:effectLst/>
              </a:rPr>
              <a:t>gp120 binds CD4 and CCR5/CXCR4</a:t>
            </a:r>
            <a:r>
              <a:rPr lang="en-US" dirty="0">
                <a:effectLst/>
              </a:rPr>
              <a:t>, and the </a:t>
            </a:r>
            <a:r>
              <a:rPr lang="en-US" b="1" dirty="0">
                <a:effectLst/>
              </a:rPr>
              <a:t>gp120/gp41 </a:t>
            </a:r>
            <a:r>
              <a:rPr lang="en-US" dirty="0">
                <a:effectLst/>
              </a:rPr>
              <a:t>complex mediates entry and is a major target of neutralizing antibodies</a:t>
            </a:r>
          </a:p>
          <a:p>
            <a:endParaRPr lang="en-US" dirty="0"/>
          </a:p>
        </p:txBody>
      </p:sp>
    </p:spTree>
    <p:extLst>
      <p:ext uri="{BB962C8B-B14F-4D97-AF65-F5344CB8AC3E}">
        <p14:creationId xmlns:p14="http://schemas.microsoft.com/office/powerpoint/2010/main" val="37388255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46122-AC1C-4D54-C8C6-0E4B02826D40}"/>
              </a:ext>
            </a:extLst>
          </p:cNvPr>
          <p:cNvSpPr>
            <a:spLocks noGrp="1"/>
          </p:cNvSpPr>
          <p:nvPr>
            <p:ph type="title"/>
          </p:nvPr>
        </p:nvSpPr>
        <p:spPr>
          <a:xfrm>
            <a:off x="838200" y="365125"/>
            <a:ext cx="10117347" cy="1058233"/>
          </a:xfrm>
        </p:spPr>
        <p:txBody>
          <a:bodyPr>
            <a:normAutofit fontScale="90000"/>
          </a:bodyPr>
          <a:lstStyle/>
          <a:p>
            <a:r>
              <a:rPr lang="en-US" sz="4000" b="1" dirty="0"/>
              <a:t>Regulatory and accessory genes (virulence modulators)</a:t>
            </a:r>
            <a:br>
              <a:rPr lang="en-US" b="1" dirty="0"/>
            </a:br>
            <a:endParaRPr lang="en-US" dirty="0"/>
          </a:p>
        </p:txBody>
      </p:sp>
      <p:sp>
        <p:nvSpPr>
          <p:cNvPr id="3" name="Content Placeholder 2">
            <a:extLst>
              <a:ext uri="{FF2B5EF4-FFF2-40B4-BE49-F238E27FC236}">
                <a16:creationId xmlns:a16="http://schemas.microsoft.com/office/drawing/2014/main" id="{1101D980-81FA-A262-97F1-E73768CFF800}"/>
              </a:ext>
            </a:extLst>
          </p:cNvPr>
          <p:cNvSpPr>
            <a:spLocks noGrp="1"/>
          </p:cNvSpPr>
          <p:nvPr>
            <p:ph idx="1"/>
          </p:nvPr>
        </p:nvSpPr>
        <p:spPr>
          <a:xfrm>
            <a:off x="838200" y="1489194"/>
            <a:ext cx="10515600" cy="4833967"/>
          </a:xfrm>
        </p:spPr>
        <p:txBody>
          <a:bodyPr>
            <a:normAutofit fontScale="85000" lnSpcReduction="10000"/>
          </a:bodyPr>
          <a:lstStyle/>
          <a:p>
            <a:r>
              <a:rPr lang="en-US" b="1" dirty="0"/>
              <a:t>tat</a:t>
            </a:r>
            <a:r>
              <a:rPr lang="en-US" dirty="0"/>
              <a:t>: potent </a:t>
            </a:r>
            <a:r>
              <a:rPr lang="en-US" dirty="0" err="1"/>
              <a:t>transactivator</a:t>
            </a:r>
            <a:r>
              <a:rPr lang="en-US" dirty="0"/>
              <a:t> of viral transcription; increases viral RNA production and thus viral load and pathogenic potential.</a:t>
            </a:r>
          </a:p>
          <a:p>
            <a:r>
              <a:rPr lang="en-US" b="1" dirty="0">
                <a:effectLst/>
              </a:rPr>
              <a:t>rev</a:t>
            </a:r>
            <a:r>
              <a:rPr lang="en-US" dirty="0">
                <a:effectLst/>
              </a:rPr>
              <a:t>: controls nuclear export of </a:t>
            </a:r>
            <a:r>
              <a:rPr lang="en-US" dirty="0" err="1">
                <a:effectLst/>
              </a:rPr>
              <a:t>unspliced</a:t>
            </a:r>
            <a:r>
              <a:rPr lang="en-US" dirty="0">
                <a:effectLst/>
              </a:rPr>
              <a:t>/partially spliced viral RNAs, enabling production of structural proteins and genomic RNA.</a:t>
            </a:r>
          </a:p>
          <a:p>
            <a:r>
              <a:rPr lang="en-US" b="1" dirty="0" err="1">
                <a:effectLst/>
              </a:rPr>
              <a:t>nef</a:t>
            </a:r>
            <a:r>
              <a:rPr lang="en-US" dirty="0">
                <a:effectLst/>
              </a:rPr>
              <a:t>: multifunctional — downregulates CD4 and MHC‑I from the host cell surface, enhances infectivity, and modulates signaling to help immune evasion and persistence.</a:t>
            </a:r>
          </a:p>
          <a:p>
            <a:r>
              <a:rPr lang="en-US" b="1" dirty="0" err="1">
                <a:effectLst/>
              </a:rPr>
              <a:t>vif</a:t>
            </a:r>
            <a:r>
              <a:rPr lang="en-US" dirty="0">
                <a:effectLst/>
              </a:rPr>
              <a:t>: counteracts the host restriction factor </a:t>
            </a:r>
            <a:r>
              <a:rPr lang="en-US" b="1" dirty="0">
                <a:effectLst/>
              </a:rPr>
              <a:t>APOBEC3G</a:t>
            </a:r>
            <a:r>
              <a:rPr lang="en-US" dirty="0">
                <a:effectLst/>
              </a:rPr>
              <a:t> (a cytidine deaminase) that would otherwise hypermutate viral cDNA; without Vif, infectivity drops markedly.</a:t>
            </a:r>
          </a:p>
          <a:p>
            <a:r>
              <a:rPr lang="en-US" b="1" dirty="0" err="1">
                <a:effectLst/>
              </a:rPr>
              <a:t>vpu</a:t>
            </a:r>
            <a:r>
              <a:rPr lang="en-US" dirty="0">
                <a:effectLst/>
              </a:rPr>
              <a:t>: antagonizes </a:t>
            </a:r>
            <a:r>
              <a:rPr lang="en-US" b="1" dirty="0" err="1">
                <a:effectLst/>
              </a:rPr>
              <a:t>tetherin</a:t>
            </a:r>
            <a:r>
              <a:rPr lang="en-US" b="1" dirty="0">
                <a:effectLst/>
              </a:rPr>
              <a:t>/BST2</a:t>
            </a:r>
            <a:r>
              <a:rPr lang="en-US" dirty="0">
                <a:effectLst/>
              </a:rPr>
              <a:t>, allowing release of budding virions from the cell surface; also contributes to CD4 degradation in the ER.</a:t>
            </a:r>
          </a:p>
          <a:p>
            <a:r>
              <a:rPr lang="en-US" b="1" dirty="0" err="1">
                <a:effectLst/>
              </a:rPr>
              <a:t>vpr</a:t>
            </a:r>
            <a:r>
              <a:rPr lang="en-US" dirty="0">
                <a:effectLst/>
              </a:rPr>
              <a:t>: influences nuclear import of the </a:t>
            </a:r>
            <a:r>
              <a:rPr lang="en-US" dirty="0" err="1">
                <a:effectLst/>
              </a:rPr>
              <a:t>preintegration</a:t>
            </a:r>
            <a:r>
              <a:rPr lang="en-US" dirty="0">
                <a:effectLst/>
              </a:rPr>
              <a:t> complex and can induce G2 cell‑cycle arrest, which may favor viral replication in some cell types.</a:t>
            </a:r>
          </a:p>
          <a:p>
            <a:endParaRPr lang="en-US" dirty="0"/>
          </a:p>
        </p:txBody>
      </p:sp>
    </p:spTree>
    <p:extLst>
      <p:ext uri="{BB962C8B-B14F-4D97-AF65-F5344CB8AC3E}">
        <p14:creationId xmlns:p14="http://schemas.microsoft.com/office/powerpoint/2010/main" val="1193804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0A425-FF0E-BA8E-0937-650BA44D8CB6}"/>
              </a:ext>
            </a:extLst>
          </p:cNvPr>
          <p:cNvSpPr>
            <a:spLocks noGrp="1"/>
          </p:cNvSpPr>
          <p:nvPr>
            <p:ph type="title"/>
          </p:nvPr>
        </p:nvSpPr>
        <p:spPr>
          <a:xfrm>
            <a:off x="838200" y="365126"/>
            <a:ext cx="10515600" cy="911584"/>
          </a:xfrm>
        </p:spPr>
        <p:txBody>
          <a:bodyPr/>
          <a:lstStyle/>
          <a:p>
            <a:r>
              <a:rPr lang="en-US" b="1" dirty="0"/>
              <a:t>PATHOGENESIS</a:t>
            </a:r>
          </a:p>
        </p:txBody>
      </p:sp>
      <p:sp>
        <p:nvSpPr>
          <p:cNvPr id="3" name="Content Placeholder 2">
            <a:extLst>
              <a:ext uri="{FF2B5EF4-FFF2-40B4-BE49-F238E27FC236}">
                <a16:creationId xmlns:a16="http://schemas.microsoft.com/office/drawing/2014/main" id="{6CCCE14F-9D0A-44C3-D6EF-6A7FBD61E0FA}"/>
              </a:ext>
            </a:extLst>
          </p:cNvPr>
          <p:cNvSpPr>
            <a:spLocks noGrp="1"/>
          </p:cNvSpPr>
          <p:nvPr>
            <p:ph idx="1"/>
          </p:nvPr>
        </p:nvSpPr>
        <p:spPr>
          <a:xfrm>
            <a:off x="838200" y="1362974"/>
            <a:ext cx="10515600" cy="4813989"/>
          </a:xfrm>
        </p:spPr>
        <p:txBody>
          <a:bodyPr/>
          <a:lstStyle/>
          <a:p>
            <a:r>
              <a:rPr lang="en-US" dirty="0"/>
              <a:t>Viral life cycle steps that cause disease</a:t>
            </a:r>
          </a:p>
          <a:p>
            <a:r>
              <a:rPr lang="en-US" dirty="0"/>
              <a:t> Mechanisms of CD4+ T‑cell loss</a:t>
            </a:r>
          </a:p>
          <a:p>
            <a:r>
              <a:rPr lang="en-US" dirty="0"/>
              <a:t> Immune evasion strategies</a:t>
            </a:r>
          </a:p>
          <a:p>
            <a:r>
              <a:rPr lang="en-US" dirty="0"/>
              <a:t> How these produce clinical immunodeficiency.</a:t>
            </a:r>
          </a:p>
          <a:p>
            <a:pPr marL="0" indent="0">
              <a:buNone/>
            </a:pPr>
            <a:endParaRPr lang="en-US" dirty="0"/>
          </a:p>
        </p:txBody>
      </p:sp>
    </p:spTree>
    <p:extLst>
      <p:ext uri="{BB962C8B-B14F-4D97-AF65-F5344CB8AC3E}">
        <p14:creationId xmlns:p14="http://schemas.microsoft.com/office/powerpoint/2010/main" val="23170228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6D888-5E79-E385-B8CB-BDB0AEDFE329}"/>
              </a:ext>
            </a:extLst>
          </p:cNvPr>
          <p:cNvSpPr>
            <a:spLocks noGrp="1"/>
          </p:cNvSpPr>
          <p:nvPr>
            <p:ph type="title"/>
          </p:nvPr>
        </p:nvSpPr>
        <p:spPr/>
        <p:txBody>
          <a:bodyPr/>
          <a:lstStyle/>
          <a:p>
            <a:r>
              <a:rPr lang="en-US" sz="3600" b="1" dirty="0"/>
              <a:t>Viral life cycle steps that cause disease</a:t>
            </a:r>
            <a:br>
              <a:rPr lang="en-US" dirty="0"/>
            </a:br>
            <a:endParaRPr lang="en-US" dirty="0"/>
          </a:p>
        </p:txBody>
      </p:sp>
      <p:sp>
        <p:nvSpPr>
          <p:cNvPr id="3" name="Content Placeholder 2">
            <a:extLst>
              <a:ext uri="{FF2B5EF4-FFF2-40B4-BE49-F238E27FC236}">
                <a16:creationId xmlns:a16="http://schemas.microsoft.com/office/drawing/2014/main" id="{B0A4E223-ABEA-C7AC-0B7C-903A1F7573D9}"/>
              </a:ext>
            </a:extLst>
          </p:cNvPr>
          <p:cNvSpPr>
            <a:spLocks noGrp="1"/>
          </p:cNvSpPr>
          <p:nvPr>
            <p:ph idx="1"/>
          </p:nvPr>
        </p:nvSpPr>
        <p:spPr>
          <a:xfrm>
            <a:off x="838200" y="1457864"/>
            <a:ext cx="10515600" cy="4719099"/>
          </a:xfrm>
        </p:spPr>
        <p:txBody>
          <a:bodyPr/>
          <a:lstStyle/>
          <a:p>
            <a:r>
              <a:rPr lang="en-GB" dirty="0">
                <a:latin typeface="Times New Roman" panose="02020603050405020304" pitchFamily="18" charset="0"/>
                <a:cs typeface="Times New Roman" panose="02020603050405020304" pitchFamily="18" charset="0"/>
              </a:rPr>
              <a:t>HIV enters the body (e.g. via mucosal lesions or via infection of mucosal/cutaneous immune cells)</a:t>
            </a:r>
            <a:endParaRPr lang="en-US" dirty="0"/>
          </a:p>
          <a:p>
            <a:r>
              <a:rPr lang="en-US" dirty="0"/>
              <a:t>HIV binds to </a:t>
            </a:r>
            <a:r>
              <a:rPr lang="en-US" b="1" dirty="0"/>
              <a:t>CD4</a:t>
            </a:r>
            <a:r>
              <a:rPr lang="en-US" dirty="0"/>
              <a:t> and a co-receptor (CCR5 or CXCR4), fuses with the host cell, and releases its RNA. </a:t>
            </a:r>
          </a:p>
          <a:p>
            <a:r>
              <a:rPr lang="en-US" b="1" dirty="0"/>
              <a:t>Reverse transcriptase</a:t>
            </a:r>
            <a:r>
              <a:rPr lang="en-US" dirty="0"/>
              <a:t> converts viral RNA into DNA, which is integrated into the host genome by </a:t>
            </a:r>
            <a:r>
              <a:rPr lang="en-US" b="1" dirty="0"/>
              <a:t>integrase</a:t>
            </a:r>
            <a:r>
              <a:rPr lang="en-US" dirty="0"/>
              <a:t>. </a:t>
            </a:r>
          </a:p>
          <a:p>
            <a:r>
              <a:rPr lang="en-US" dirty="0"/>
              <a:t>The host cell then transcribes and translates viral proteins.</a:t>
            </a:r>
          </a:p>
          <a:p>
            <a:r>
              <a:rPr lang="en-US" dirty="0"/>
              <a:t> New viral RNA and proteins assemble at the cell membrane, bud from the cell, and </a:t>
            </a:r>
            <a:r>
              <a:rPr lang="en-US" b="1" dirty="0"/>
              <a:t>protease</a:t>
            </a:r>
            <a:r>
              <a:rPr lang="en-US" dirty="0"/>
              <a:t> processes viral proteins to produce mature, infectious virions.</a:t>
            </a:r>
          </a:p>
        </p:txBody>
      </p:sp>
    </p:spTree>
    <p:extLst>
      <p:ext uri="{BB962C8B-B14F-4D97-AF65-F5344CB8AC3E}">
        <p14:creationId xmlns:p14="http://schemas.microsoft.com/office/powerpoint/2010/main" val="26460108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4CE3FB-20CA-F033-362C-AFAAD4F5D4CA}"/>
              </a:ext>
            </a:extLst>
          </p:cNvPr>
          <p:cNvPicPr>
            <a:picLocks noChangeAspect="1"/>
          </p:cNvPicPr>
          <p:nvPr/>
        </p:nvPicPr>
        <p:blipFill>
          <a:blip r:embed="rId2"/>
          <a:stretch>
            <a:fillRect/>
          </a:stretch>
        </p:blipFill>
        <p:spPr>
          <a:xfrm>
            <a:off x="935067" y="681398"/>
            <a:ext cx="9589159" cy="5817346"/>
          </a:xfrm>
          <a:prstGeom prst="rect">
            <a:avLst/>
          </a:prstGeom>
        </p:spPr>
      </p:pic>
    </p:spTree>
    <p:extLst>
      <p:ext uri="{BB962C8B-B14F-4D97-AF65-F5344CB8AC3E}">
        <p14:creationId xmlns:p14="http://schemas.microsoft.com/office/powerpoint/2010/main" val="2131690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39AC-CAF7-410E-ED66-7FB3671CEEE5}"/>
              </a:ext>
            </a:extLst>
          </p:cNvPr>
          <p:cNvSpPr>
            <a:spLocks noGrp="1"/>
          </p:cNvSpPr>
          <p:nvPr>
            <p:ph type="title"/>
          </p:nvPr>
        </p:nvSpPr>
        <p:spPr>
          <a:xfrm>
            <a:off x="838200" y="468644"/>
            <a:ext cx="7201619" cy="920210"/>
          </a:xfrm>
        </p:spPr>
        <p:txBody>
          <a:bodyPr>
            <a:normAutofit fontScale="90000"/>
          </a:bodyPr>
          <a:lstStyle/>
          <a:p>
            <a:r>
              <a:rPr lang="en-US" sz="4000" b="1" dirty="0"/>
              <a:t>CD4⁺ T-cell depletion in HIV</a:t>
            </a:r>
            <a:br>
              <a:rPr lang="en-US" dirty="0"/>
            </a:br>
            <a:endParaRPr lang="en-US" dirty="0"/>
          </a:p>
        </p:txBody>
      </p:sp>
      <p:sp>
        <p:nvSpPr>
          <p:cNvPr id="3" name="Content Placeholder 2">
            <a:extLst>
              <a:ext uri="{FF2B5EF4-FFF2-40B4-BE49-F238E27FC236}">
                <a16:creationId xmlns:a16="http://schemas.microsoft.com/office/drawing/2014/main" id="{7DA9CB5D-1C17-A944-3B3F-FCA5740F3C03}"/>
              </a:ext>
            </a:extLst>
          </p:cNvPr>
          <p:cNvSpPr>
            <a:spLocks noGrp="1"/>
          </p:cNvSpPr>
          <p:nvPr>
            <p:ph idx="1"/>
          </p:nvPr>
        </p:nvSpPr>
        <p:spPr>
          <a:xfrm>
            <a:off x="838200" y="1532327"/>
            <a:ext cx="10515600" cy="4351338"/>
          </a:xfrm>
        </p:spPr>
        <p:txBody>
          <a:bodyPr/>
          <a:lstStyle/>
          <a:p>
            <a:r>
              <a:rPr lang="en-US" sz="3200" dirty="0"/>
              <a:t>HIV causes CD4⁺ T-cell loss through a combination of </a:t>
            </a:r>
            <a:r>
              <a:rPr lang="en-US" sz="3200" b="1" dirty="0"/>
              <a:t>direct viral killing</a:t>
            </a:r>
            <a:r>
              <a:rPr lang="en-US" sz="3200" dirty="0"/>
              <a:t>, </a:t>
            </a:r>
            <a:r>
              <a:rPr lang="en-US" sz="3200" b="1" dirty="0"/>
              <a:t>immune-mediated destruction( CD8, NK cells)</a:t>
            </a:r>
            <a:r>
              <a:rPr lang="en-US" sz="3200" dirty="0"/>
              <a:t>, and </a:t>
            </a:r>
            <a:r>
              <a:rPr lang="en-US" sz="3200" b="1" dirty="0"/>
              <a:t>bystander cell death (</a:t>
            </a:r>
            <a:r>
              <a:rPr lang="en-US" sz="3200" b="1" dirty="0" err="1"/>
              <a:t>pyroptosis</a:t>
            </a:r>
            <a:r>
              <a:rPr lang="en-US" sz="3200" b="1" dirty="0"/>
              <a:t>)</a:t>
            </a:r>
            <a:r>
              <a:rPr lang="en-US" sz="3200" dirty="0"/>
              <a:t>. </a:t>
            </a:r>
          </a:p>
          <a:p>
            <a:r>
              <a:rPr lang="en-US" sz="3200" dirty="0"/>
              <a:t>Ongoing viral replication drives </a:t>
            </a:r>
            <a:r>
              <a:rPr lang="en-US" sz="3200" b="1" dirty="0"/>
              <a:t>chronic immune activation</a:t>
            </a:r>
            <a:r>
              <a:rPr lang="en-US" sz="3200" dirty="0"/>
              <a:t>, leading to exhaustion and apoptosis of T cells. </a:t>
            </a:r>
          </a:p>
          <a:p>
            <a:r>
              <a:rPr lang="en-US" sz="3200" dirty="0"/>
              <a:t>HIV also damages lymphoid tissues (especially </a:t>
            </a:r>
            <a:r>
              <a:rPr lang="en-US" sz="3200" b="1" dirty="0"/>
              <a:t>GALT</a:t>
            </a:r>
            <a:r>
              <a:rPr lang="en-US" sz="3200" dirty="0"/>
              <a:t>) and impairs T-cell regeneration, resulting in a </a:t>
            </a:r>
            <a:r>
              <a:rPr lang="en-US" sz="3200" b="1" dirty="0"/>
              <a:t>progressive decline of CD4⁺ T cells and immune failure</a:t>
            </a:r>
            <a:endParaRPr lang="en-US" sz="3200" dirty="0"/>
          </a:p>
          <a:p>
            <a:endParaRPr lang="en-US" dirty="0"/>
          </a:p>
        </p:txBody>
      </p:sp>
    </p:spTree>
    <p:extLst>
      <p:ext uri="{BB962C8B-B14F-4D97-AF65-F5344CB8AC3E}">
        <p14:creationId xmlns:p14="http://schemas.microsoft.com/office/powerpoint/2010/main" val="16183910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127FF-A81A-7325-24AB-A3B4AE1D8E80}"/>
              </a:ext>
            </a:extLst>
          </p:cNvPr>
          <p:cNvSpPr>
            <a:spLocks noGrp="1"/>
          </p:cNvSpPr>
          <p:nvPr>
            <p:ph type="title"/>
          </p:nvPr>
        </p:nvSpPr>
        <p:spPr>
          <a:xfrm>
            <a:off x="838200" y="365126"/>
            <a:ext cx="10515600" cy="1101366"/>
          </a:xfrm>
        </p:spPr>
        <p:txBody>
          <a:bodyPr>
            <a:normAutofit fontScale="90000"/>
          </a:bodyPr>
          <a:lstStyle/>
          <a:p>
            <a:r>
              <a:rPr lang="en-US" b="1" dirty="0"/>
              <a:t>Immune evasion strategies</a:t>
            </a:r>
            <a:br>
              <a:rPr lang="en-US" dirty="0"/>
            </a:br>
            <a:endParaRPr lang="en-US" dirty="0"/>
          </a:p>
        </p:txBody>
      </p:sp>
      <p:sp>
        <p:nvSpPr>
          <p:cNvPr id="3" name="Content Placeholder 2">
            <a:extLst>
              <a:ext uri="{FF2B5EF4-FFF2-40B4-BE49-F238E27FC236}">
                <a16:creationId xmlns:a16="http://schemas.microsoft.com/office/drawing/2014/main" id="{F7EAB769-4D84-9DB3-2B97-57E1E43E9D5C}"/>
              </a:ext>
            </a:extLst>
          </p:cNvPr>
          <p:cNvSpPr>
            <a:spLocks noGrp="1"/>
          </p:cNvSpPr>
          <p:nvPr>
            <p:ph idx="1"/>
          </p:nvPr>
        </p:nvSpPr>
        <p:spPr>
          <a:xfrm>
            <a:off x="838200" y="1466491"/>
            <a:ext cx="10515600" cy="4744527"/>
          </a:xfrm>
        </p:spPr>
        <p:txBody>
          <a:bodyPr>
            <a:normAutofit/>
          </a:bodyPr>
          <a:lstStyle/>
          <a:p>
            <a:pPr marL="0" indent="0">
              <a:buNone/>
            </a:pPr>
            <a:r>
              <a:rPr lang="en-US" b="1" dirty="0"/>
              <a:t>1. Envelope shielding and receptor masking.</a:t>
            </a:r>
            <a:r>
              <a:rPr lang="en-US" dirty="0"/>
              <a:t> The HIV envelope glycoprotein (</a:t>
            </a:r>
            <a:r>
              <a:rPr lang="en-US" b="1" dirty="0"/>
              <a:t>gp120/gp41</a:t>
            </a:r>
            <a:r>
              <a:rPr lang="en-US" dirty="0"/>
              <a:t>) is heavily glycosylated and adopts conformations that hide conserved neutralizing epitopes, so antibodies have limited access to functionally important sites. This </a:t>
            </a:r>
            <a:r>
              <a:rPr lang="en-US" b="1" dirty="0"/>
              <a:t>glycan shield and conformational masking</a:t>
            </a:r>
            <a:r>
              <a:rPr lang="en-US" dirty="0"/>
              <a:t> reduce neutralization by antibodies and slow effective humoral responses.</a:t>
            </a:r>
          </a:p>
          <a:p>
            <a:pPr marL="0" indent="0">
              <a:buNone/>
            </a:pPr>
            <a:r>
              <a:rPr lang="en-US" b="1" dirty="0"/>
              <a:t>2. High mutation rate and antigenic diversity.</a:t>
            </a:r>
            <a:r>
              <a:rPr lang="en-US" dirty="0"/>
              <a:t> HIV’s error‑prone reverse transcriptase generates rapid sequence variation, producing quasi‑species within a single host. This </a:t>
            </a:r>
            <a:r>
              <a:rPr lang="en-US" b="1" dirty="0"/>
              <a:t>antigenic drift</a:t>
            </a:r>
            <a:r>
              <a:rPr lang="en-US" dirty="0"/>
              <a:t> enables escape from neutralizing antibodies and cytotoxic T‑cell recognition, and it fuels drug resistance when therapy is inconsistent.</a:t>
            </a:r>
          </a:p>
          <a:p>
            <a:endParaRPr lang="en-US" dirty="0"/>
          </a:p>
        </p:txBody>
      </p:sp>
    </p:spTree>
    <p:extLst>
      <p:ext uri="{BB962C8B-B14F-4D97-AF65-F5344CB8AC3E}">
        <p14:creationId xmlns:p14="http://schemas.microsoft.com/office/powerpoint/2010/main" val="8846113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25C7C6-0E41-998C-5DF8-23E45B68EE29}"/>
              </a:ext>
            </a:extLst>
          </p:cNvPr>
          <p:cNvSpPr>
            <a:spLocks noGrp="1"/>
          </p:cNvSpPr>
          <p:nvPr>
            <p:ph idx="1"/>
          </p:nvPr>
        </p:nvSpPr>
        <p:spPr>
          <a:xfrm>
            <a:off x="760563" y="445398"/>
            <a:ext cx="10781580" cy="5291167"/>
          </a:xfrm>
        </p:spPr>
        <p:txBody>
          <a:bodyPr>
            <a:normAutofit lnSpcReduction="10000"/>
          </a:bodyPr>
          <a:lstStyle/>
          <a:p>
            <a:pPr marL="0" indent="0">
              <a:buNone/>
            </a:pPr>
            <a:r>
              <a:rPr lang="en-US" b="1" dirty="0"/>
              <a:t>3. Accessory proteins that disable host defenses.</a:t>
            </a:r>
            <a:r>
              <a:rPr lang="en-US" dirty="0"/>
              <a:t> HIV encodes several small proteins that directly counteract innate and adaptive immune mechanisms: </a:t>
            </a:r>
            <a:r>
              <a:rPr lang="en-US" b="1" dirty="0"/>
              <a:t>Vif</a:t>
            </a:r>
            <a:r>
              <a:rPr lang="en-US" dirty="0"/>
              <a:t> neutralizes APOBEC3 cytidine deaminases that would hypermutate viral cDNA; </a:t>
            </a:r>
            <a:r>
              <a:rPr lang="en-US" b="1" dirty="0" err="1"/>
              <a:t>Vpu</a:t>
            </a:r>
            <a:r>
              <a:rPr lang="en-US" dirty="0"/>
              <a:t> antagonizes </a:t>
            </a:r>
            <a:r>
              <a:rPr lang="en-US" dirty="0" err="1"/>
              <a:t>tetherin</a:t>
            </a:r>
            <a:r>
              <a:rPr lang="en-US" dirty="0"/>
              <a:t>/BST2 to permit virion release; </a:t>
            </a:r>
            <a:r>
              <a:rPr lang="en-US" b="1" dirty="0"/>
              <a:t>Nef</a:t>
            </a:r>
            <a:r>
              <a:rPr lang="en-US" dirty="0"/>
              <a:t> downregulates MHC‑I and CD4 from the cell surface, reducing CTL(CD8) recognition and altering immune signaling. These actions blunt antigen presentation and innate restriction factors, increasing viral survival and spread.</a:t>
            </a:r>
          </a:p>
          <a:p>
            <a:pPr marL="0" indent="0">
              <a:buNone/>
            </a:pPr>
            <a:r>
              <a:rPr lang="en-US" b="1" dirty="0"/>
              <a:t>4. Latency and the long‑lived reservoir.</a:t>
            </a:r>
            <a:r>
              <a:rPr lang="en-US" dirty="0"/>
              <a:t> HIV establishes transcriptionally silent proviruses in resting memory CD4+ T cells and other cell types. These </a:t>
            </a:r>
            <a:r>
              <a:rPr lang="en-US" b="1" dirty="0"/>
              <a:t>latent reservoirs</a:t>
            </a:r>
            <a:r>
              <a:rPr lang="en-US" dirty="0"/>
              <a:t> are invisible to immune surveillance and unaffected by ART (</a:t>
            </a:r>
            <a:r>
              <a:rPr lang="en-US" dirty="0" err="1"/>
              <a:t>i.e.CNS</a:t>
            </a:r>
            <a:r>
              <a:rPr lang="en-US" dirty="0"/>
              <a:t>, Testes, lymphoid follicles), so stopping therapy leads to rapid rebound. Latency is the central barrier to sterilizing cure and a core immune‑evasion strategy.</a:t>
            </a:r>
          </a:p>
          <a:p>
            <a:endParaRPr lang="en-US" dirty="0"/>
          </a:p>
        </p:txBody>
      </p:sp>
    </p:spTree>
    <p:extLst>
      <p:ext uri="{BB962C8B-B14F-4D97-AF65-F5344CB8AC3E}">
        <p14:creationId xmlns:p14="http://schemas.microsoft.com/office/powerpoint/2010/main" val="663320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51442-9541-A676-7D66-99126227761F}"/>
              </a:ext>
            </a:extLst>
          </p:cNvPr>
          <p:cNvSpPr>
            <a:spLocks noGrp="1"/>
          </p:cNvSpPr>
          <p:nvPr>
            <p:ph type="title"/>
          </p:nvPr>
        </p:nvSpPr>
        <p:spPr>
          <a:xfrm>
            <a:off x="838200" y="251169"/>
            <a:ext cx="10143227" cy="835760"/>
          </a:xfrm>
        </p:spPr>
        <p:txBody>
          <a:bodyPr>
            <a:normAutofit fontScale="90000"/>
          </a:bodyPr>
          <a:lstStyle/>
          <a:p>
            <a:r>
              <a:rPr lang="en-US" dirty="0"/>
              <a:t> </a:t>
            </a:r>
            <a:r>
              <a:rPr lang="en-US" sz="4000" b="1" dirty="0"/>
              <a:t>Clinical Progression to AIDS</a:t>
            </a:r>
            <a:br>
              <a:rPr lang="en-US" sz="3600" b="1" dirty="0"/>
            </a:br>
            <a:endParaRPr lang="en-US" sz="3600" b="1" dirty="0"/>
          </a:p>
        </p:txBody>
      </p:sp>
      <p:sp>
        <p:nvSpPr>
          <p:cNvPr id="3" name="Content Placeholder 2">
            <a:extLst>
              <a:ext uri="{FF2B5EF4-FFF2-40B4-BE49-F238E27FC236}">
                <a16:creationId xmlns:a16="http://schemas.microsoft.com/office/drawing/2014/main" id="{2FD341B7-49F2-1146-3505-AE06F17FF268}"/>
              </a:ext>
            </a:extLst>
          </p:cNvPr>
          <p:cNvSpPr>
            <a:spLocks noGrp="1"/>
          </p:cNvSpPr>
          <p:nvPr>
            <p:ph idx="1"/>
          </p:nvPr>
        </p:nvSpPr>
        <p:spPr>
          <a:xfrm>
            <a:off x="838200" y="1343818"/>
            <a:ext cx="10515600" cy="4351338"/>
          </a:xfrm>
        </p:spPr>
        <p:txBody>
          <a:bodyPr/>
          <a:lstStyle/>
          <a:p>
            <a:r>
              <a:rPr lang="en-US" b="1" dirty="0"/>
              <a:t>Threshold:</a:t>
            </a:r>
            <a:r>
              <a:rPr lang="en-US" dirty="0"/>
              <a:t> When CD4+ count falls below ~200 cells/µL, opportunistic infections and cancers emerge.</a:t>
            </a:r>
          </a:p>
          <a:p>
            <a:r>
              <a:rPr lang="en-US" b="1" dirty="0"/>
              <a:t>Opportunistic infections:</a:t>
            </a:r>
            <a:r>
              <a:rPr lang="en-US" dirty="0"/>
              <a:t> Pneumocystis pneumonia, tuberculosis, candidiasis, CMV, toxoplasmosis, cryptococcosis.</a:t>
            </a:r>
          </a:p>
          <a:p>
            <a:r>
              <a:rPr lang="en-US" b="1" dirty="0"/>
              <a:t>Malignancies:</a:t>
            </a:r>
            <a:r>
              <a:rPr lang="en-US" dirty="0"/>
              <a:t> Kaposi’s sarcoma, non‑Hodgkin lymphoma, cervical cancer.</a:t>
            </a:r>
          </a:p>
          <a:p>
            <a:r>
              <a:rPr lang="en-US" b="1" dirty="0"/>
              <a:t>Systemic effects:</a:t>
            </a:r>
            <a:r>
              <a:rPr lang="en-US" dirty="0"/>
              <a:t> Chronic inflammation contributes to cardiovascular disease, neurocognitive decline, and wasting.</a:t>
            </a:r>
          </a:p>
          <a:p>
            <a:endParaRPr lang="en-US" dirty="0"/>
          </a:p>
        </p:txBody>
      </p:sp>
    </p:spTree>
    <p:extLst>
      <p:ext uri="{BB962C8B-B14F-4D97-AF65-F5344CB8AC3E}">
        <p14:creationId xmlns:p14="http://schemas.microsoft.com/office/powerpoint/2010/main" val="41676053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06FEC-248E-E915-1FE1-17F67505B42D}"/>
              </a:ext>
            </a:extLst>
          </p:cNvPr>
          <p:cNvSpPr>
            <a:spLocks noGrp="1"/>
          </p:cNvSpPr>
          <p:nvPr>
            <p:ph type="title"/>
          </p:nvPr>
        </p:nvSpPr>
        <p:spPr>
          <a:xfrm>
            <a:off x="838200" y="18255"/>
            <a:ext cx="10515600" cy="1325563"/>
          </a:xfrm>
        </p:spPr>
        <p:txBody>
          <a:bodyPr/>
          <a:lstStyle/>
          <a:p>
            <a:r>
              <a:rPr lang="en-US" b="1" dirty="0"/>
              <a:t>HOST DEFENCE </a:t>
            </a:r>
          </a:p>
        </p:txBody>
      </p:sp>
      <p:sp>
        <p:nvSpPr>
          <p:cNvPr id="3" name="Content Placeholder 2">
            <a:extLst>
              <a:ext uri="{FF2B5EF4-FFF2-40B4-BE49-F238E27FC236}">
                <a16:creationId xmlns:a16="http://schemas.microsoft.com/office/drawing/2014/main" id="{1BDE7EB2-DA41-7356-23F0-936D057F0E23}"/>
              </a:ext>
            </a:extLst>
          </p:cNvPr>
          <p:cNvSpPr>
            <a:spLocks noGrp="1"/>
          </p:cNvSpPr>
          <p:nvPr>
            <p:ph idx="1"/>
          </p:nvPr>
        </p:nvSpPr>
        <p:spPr>
          <a:xfrm>
            <a:off x="838200" y="1489194"/>
            <a:ext cx="10515600" cy="4825341"/>
          </a:xfrm>
        </p:spPr>
        <p:txBody>
          <a:bodyPr>
            <a:normAutofit/>
          </a:bodyPr>
          <a:lstStyle/>
          <a:p>
            <a:pPr marL="0" indent="0">
              <a:buNone/>
            </a:pPr>
            <a:r>
              <a:rPr lang="en-US" dirty="0"/>
              <a:t>The </a:t>
            </a:r>
            <a:r>
              <a:rPr lang="en-US" b="1" dirty="0"/>
              <a:t>host </a:t>
            </a:r>
            <a:r>
              <a:rPr lang="en-US" b="1" dirty="0" err="1"/>
              <a:t>defence</a:t>
            </a:r>
            <a:r>
              <a:rPr lang="en-US" b="1" dirty="0"/>
              <a:t> system against HIV</a:t>
            </a:r>
            <a:r>
              <a:rPr lang="en-US" dirty="0"/>
              <a:t> is multi‑layered, involving innate barriers, innate immune cells, and adaptive immunity. Despite these </a:t>
            </a:r>
            <a:r>
              <a:rPr lang="en-US" dirty="0" err="1"/>
              <a:t>defences</a:t>
            </a:r>
            <a:r>
              <a:rPr lang="en-US" dirty="0"/>
              <a:t>, HIV has evolved ways to evade or subvert them, which is why infection becomes chronic.</a:t>
            </a:r>
          </a:p>
          <a:p>
            <a:pPr marL="0" indent="0">
              <a:buNone/>
            </a:pPr>
            <a:r>
              <a:rPr lang="en-US" b="1" dirty="0"/>
              <a:t> 1. Physical and Chemical Barriers</a:t>
            </a:r>
          </a:p>
          <a:p>
            <a:r>
              <a:rPr lang="en-US" b="1" dirty="0"/>
              <a:t>Intact skin and mucosa:</a:t>
            </a:r>
            <a:r>
              <a:rPr lang="en-US" dirty="0"/>
              <a:t> Prevent HIV entry; microtears or inflammation increase risk.</a:t>
            </a:r>
          </a:p>
          <a:p>
            <a:r>
              <a:rPr lang="en-US" b="1" dirty="0"/>
              <a:t>Mucosal secretions:</a:t>
            </a:r>
            <a:r>
              <a:rPr lang="en-US" dirty="0"/>
              <a:t> Contain defensins, lactoferrin, and other antimicrobial peptides that can inhibit HIV.</a:t>
            </a:r>
          </a:p>
          <a:p>
            <a:r>
              <a:rPr lang="en-US" b="1" dirty="0"/>
              <a:t>Keratinocytes and epithelial cells:</a:t>
            </a:r>
            <a:r>
              <a:rPr lang="en-US" dirty="0"/>
              <a:t> Release cytokines and chemokines that create an antiviral environment.</a:t>
            </a:r>
          </a:p>
          <a:p>
            <a:endParaRPr lang="en-US" dirty="0"/>
          </a:p>
        </p:txBody>
      </p:sp>
    </p:spTree>
    <p:extLst>
      <p:ext uri="{BB962C8B-B14F-4D97-AF65-F5344CB8AC3E}">
        <p14:creationId xmlns:p14="http://schemas.microsoft.com/office/powerpoint/2010/main" val="18649223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AED137-7FE7-938B-38AA-A56D978DBF84}"/>
              </a:ext>
            </a:extLst>
          </p:cNvPr>
          <p:cNvSpPr>
            <a:spLocks noGrp="1"/>
          </p:cNvSpPr>
          <p:nvPr>
            <p:ph idx="1"/>
          </p:nvPr>
        </p:nvSpPr>
        <p:spPr>
          <a:xfrm>
            <a:off x="665671" y="350507"/>
            <a:ext cx="10919603" cy="6265953"/>
          </a:xfrm>
        </p:spPr>
        <p:txBody>
          <a:bodyPr>
            <a:normAutofit/>
          </a:bodyPr>
          <a:lstStyle/>
          <a:p>
            <a:pPr marL="0" indent="0">
              <a:buNone/>
            </a:pPr>
            <a:r>
              <a:rPr lang="en-US" b="1" dirty="0"/>
              <a:t>2 Innate Immune cells </a:t>
            </a:r>
            <a:r>
              <a:rPr lang="en-US" b="1" dirty="0" err="1"/>
              <a:t>Defences</a:t>
            </a:r>
            <a:endParaRPr lang="en-US" b="1" dirty="0"/>
          </a:p>
          <a:p>
            <a:r>
              <a:rPr lang="en-US" b="1" dirty="0"/>
              <a:t>Langerhans cells (skin/mucosa):</a:t>
            </a:r>
            <a:r>
              <a:rPr lang="en-US" dirty="0"/>
              <a:t> Capture HIV via langerin; can degrade virus in Birbeck granules.</a:t>
            </a:r>
          </a:p>
          <a:p>
            <a:r>
              <a:rPr lang="en-US" b="1" dirty="0"/>
              <a:t>Dendritic cells:</a:t>
            </a:r>
            <a:r>
              <a:rPr lang="en-US" dirty="0"/>
              <a:t> Detect HIV via pattern recognition receptors (TLRs, lectins) and present antigens to T cells.</a:t>
            </a:r>
          </a:p>
          <a:p>
            <a:r>
              <a:rPr lang="en-US" b="1" dirty="0"/>
              <a:t>Macrophages:</a:t>
            </a:r>
            <a:r>
              <a:rPr lang="en-US" dirty="0"/>
              <a:t> Phagocytose HIV, secrete cytokines, and act as antigen‑presenting cells (though they can also become reservoirs).</a:t>
            </a:r>
          </a:p>
          <a:p>
            <a:r>
              <a:rPr lang="en-US" b="1" dirty="0"/>
              <a:t>Natural Killer (NK) cells:</a:t>
            </a:r>
            <a:r>
              <a:rPr lang="en-US" dirty="0"/>
              <a:t> Kill HIV‑infected cells and secrete IFN‑</a:t>
            </a:r>
            <a:r>
              <a:rPr lang="el-GR" dirty="0"/>
              <a:t>γ </a:t>
            </a:r>
            <a:r>
              <a:rPr lang="en-US" dirty="0"/>
              <a:t>to enhance antiviral states.</a:t>
            </a:r>
          </a:p>
          <a:p>
            <a:r>
              <a:rPr lang="en-US" b="1" dirty="0"/>
              <a:t>Restriction factors:</a:t>
            </a:r>
            <a:endParaRPr lang="en-US" dirty="0"/>
          </a:p>
          <a:p>
            <a:pPr lvl="1"/>
            <a:r>
              <a:rPr lang="en-US" b="1" dirty="0"/>
              <a:t>APOBEC3G:</a:t>
            </a:r>
            <a:r>
              <a:rPr lang="en-US" dirty="0"/>
              <a:t> Induces lethal mutations in viral DNA.</a:t>
            </a:r>
          </a:p>
          <a:p>
            <a:pPr lvl="1"/>
            <a:r>
              <a:rPr lang="en-US" b="1" dirty="0" err="1"/>
              <a:t>Tetherin</a:t>
            </a:r>
            <a:r>
              <a:rPr lang="en-US" b="1" dirty="0"/>
              <a:t> (BST2):</a:t>
            </a:r>
            <a:r>
              <a:rPr lang="en-US" dirty="0"/>
              <a:t> Prevents release of budding virions.</a:t>
            </a:r>
          </a:p>
          <a:p>
            <a:pPr lvl="1"/>
            <a:r>
              <a:rPr lang="en-US" b="1" dirty="0"/>
              <a:t>SAMHD1:</a:t>
            </a:r>
            <a:r>
              <a:rPr lang="en-US" dirty="0"/>
              <a:t> Restricts reverse transcription in myeloid cells.</a:t>
            </a:r>
          </a:p>
          <a:p>
            <a:endParaRPr lang="en-US" dirty="0"/>
          </a:p>
        </p:txBody>
      </p:sp>
    </p:spTree>
    <p:extLst>
      <p:ext uri="{BB962C8B-B14F-4D97-AF65-F5344CB8AC3E}">
        <p14:creationId xmlns:p14="http://schemas.microsoft.com/office/powerpoint/2010/main" val="7948612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9AAA59-38E6-001B-E03E-7746B2FDC203}"/>
              </a:ext>
            </a:extLst>
          </p:cNvPr>
          <p:cNvSpPr>
            <a:spLocks noGrp="1"/>
          </p:cNvSpPr>
          <p:nvPr>
            <p:ph idx="1"/>
          </p:nvPr>
        </p:nvSpPr>
        <p:spPr>
          <a:xfrm>
            <a:off x="596661" y="333254"/>
            <a:ext cx="11135264" cy="6188316"/>
          </a:xfrm>
        </p:spPr>
        <p:txBody>
          <a:bodyPr>
            <a:normAutofit/>
          </a:bodyPr>
          <a:lstStyle/>
          <a:p>
            <a:pPr marL="0" indent="0">
              <a:buNone/>
            </a:pPr>
            <a:r>
              <a:rPr lang="en-US" b="1" dirty="0"/>
              <a:t>3. Adaptive Immune </a:t>
            </a:r>
            <a:r>
              <a:rPr lang="en-US" b="1" dirty="0" err="1"/>
              <a:t>Defences</a:t>
            </a:r>
            <a:endParaRPr lang="en-US" b="1" dirty="0"/>
          </a:p>
          <a:p>
            <a:r>
              <a:rPr lang="en-US" b="1" dirty="0"/>
              <a:t>CD8+ Cytotoxic T Lymphocytes (CTLs):</a:t>
            </a:r>
            <a:r>
              <a:rPr lang="en-US" dirty="0"/>
              <a:t> Recognize HIV peptides presented on MHC‑I and kill infected cells.</a:t>
            </a:r>
          </a:p>
          <a:p>
            <a:r>
              <a:rPr lang="en-US" b="1" dirty="0"/>
              <a:t>CD4+ Helper T Cells:</a:t>
            </a:r>
            <a:r>
              <a:rPr lang="en-US" dirty="0"/>
              <a:t> Coordinate immune responses (but are also HIV’s main target).</a:t>
            </a:r>
          </a:p>
          <a:p>
            <a:r>
              <a:rPr lang="en-US" b="1" dirty="0"/>
              <a:t>B cells:</a:t>
            </a:r>
            <a:r>
              <a:rPr lang="en-US" dirty="0"/>
              <a:t> Produce neutralizing antibodies against gp120/gp41; some individuals develop broadly neutralizing antibodies (</a:t>
            </a:r>
            <a:r>
              <a:rPr lang="en-US" dirty="0" err="1"/>
              <a:t>bnAbs</a:t>
            </a:r>
            <a:r>
              <a:rPr lang="en-US" dirty="0"/>
              <a:t>) that target conserved regions of Env.</a:t>
            </a:r>
          </a:p>
          <a:p>
            <a:r>
              <a:rPr lang="en-US" b="1" dirty="0"/>
              <a:t>Memory responses:</a:t>
            </a:r>
            <a:r>
              <a:rPr lang="en-US" dirty="0"/>
              <a:t> Adaptive immunity attempts to control viral load and establish long‑term surveillance.</a:t>
            </a:r>
          </a:p>
          <a:p>
            <a:pPr marL="0" indent="0">
              <a:buNone/>
            </a:pPr>
            <a:endParaRPr lang="en-US" dirty="0"/>
          </a:p>
        </p:txBody>
      </p:sp>
    </p:spTree>
    <p:extLst>
      <p:ext uri="{BB962C8B-B14F-4D97-AF65-F5344CB8AC3E}">
        <p14:creationId xmlns:p14="http://schemas.microsoft.com/office/powerpoint/2010/main" val="3342848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9DA36EB-999E-E20E-4B5A-B5BD8C59F700}"/>
              </a:ext>
            </a:extLst>
          </p:cNvPr>
          <p:cNvPicPr>
            <a:picLocks noGrp="1" noChangeAspect="1"/>
          </p:cNvPicPr>
          <p:nvPr>
            <p:ph idx="1"/>
          </p:nvPr>
        </p:nvPicPr>
        <p:blipFill>
          <a:blip r:embed="rId2"/>
          <a:stretch>
            <a:fillRect/>
          </a:stretch>
        </p:blipFill>
        <p:spPr>
          <a:xfrm>
            <a:off x="828136" y="327803"/>
            <a:ext cx="10157854" cy="6219646"/>
          </a:xfrm>
          <a:prstGeom prst="rect">
            <a:avLst/>
          </a:prstGeom>
        </p:spPr>
      </p:pic>
    </p:spTree>
    <p:extLst>
      <p:ext uri="{BB962C8B-B14F-4D97-AF65-F5344CB8AC3E}">
        <p14:creationId xmlns:p14="http://schemas.microsoft.com/office/powerpoint/2010/main" val="28286240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5240C-5937-C5D2-C0F4-EF43EDC56DF2}"/>
              </a:ext>
            </a:extLst>
          </p:cNvPr>
          <p:cNvSpPr>
            <a:spLocks noGrp="1"/>
          </p:cNvSpPr>
          <p:nvPr>
            <p:ph type="title"/>
          </p:nvPr>
        </p:nvSpPr>
        <p:spPr/>
        <p:txBody>
          <a:bodyPr/>
          <a:lstStyle/>
          <a:p>
            <a:r>
              <a:rPr lang="en-US" b="1" dirty="0"/>
              <a:t>MODE OF TRANSMISSION OF HIV</a:t>
            </a:r>
          </a:p>
        </p:txBody>
      </p:sp>
      <p:pic>
        <p:nvPicPr>
          <p:cNvPr id="4" name="Content Placeholder 3">
            <a:extLst>
              <a:ext uri="{FF2B5EF4-FFF2-40B4-BE49-F238E27FC236}">
                <a16:creationId xmlns:a16="http://schemas.microsoft.com/office/drawing/2014/main" id="{EB8310B4-6267-D578-ADE1-7D5CD69F97A0}"/>
              </a:ext>
            </a:extLst>
          </p:cNvPr>
          <p:cNvPicPr>
            <a:picLocks noGrp="1" noChangeAspect="1"/>
          </p:cNvPicPr>
          <p:nvPr>
            <p:ph idx="1"/>
          </p:nvPr>
        </p:nvPicPr>
        <p:blipFill>
          <a:blip r:embed="rId2"/>
          <a:stretch>
            <a:fillRect/>
          </a:stretch>
        </p:blipFill>
        <p:spPr>
          <a:xfrm>
            <a:off x="669520" y="1595887"/>
            <a:ext cx="10027235" cy="4735902"/>
          </a:xfrm>
          <a:prstGeom prst="rect">
            <a:avLst/>
          </a:prstGeom>
        </p:spPr>
      </p:pic>
    </p:spTree>
    <p:extLst>
      <p:ext uri="{BB962C8B-B14F-4D97-AF65-F5344CB8AC3E}">
        <p14:creationId xmlns:p14="http://schemas.microsoft.com/office/powerpoint/2010/main" val="10775053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5400E-DBFA-BA27-9E09-579870F7AA18}"/>
              </a:ext>
            </a:extLst>
          </p:cNvPr>
          <p:cNvSpPr>
            <a:spLocks noGrp="1"/>
          </p:cNvSpPr>
          <p:nvPr>
            <p:ph type="title"/>
          </p:nvPr>
        </p:nvSpPr>
        <p:spPr/>
        <p:txBody>
          <a:bodyPr/>
          <a:lstStyle/>
          <a:p>
            <a:r>
              <a:rPr lang="en-US" altLang="en-US" b="1" dirty="0"/>
              <a:t>Vulnerable groups</a:t>
            </a:r>
            <a:endParaRPr lang="en-US" b="1" dirty="0"/>
          </a:p>
        </p:txBody>
      </p:sp>
      <p:sp>
        <p:nvSpPr>
          <p:cNvPr id="3" name="Content Placeholder 2">
            <a:extLst>
              <a:ext uri="{FF2B5EF4-FFF2-40B4-BE49-F238E27FC236}">
                <a16:creationId xmlns:a16="http://schemas.microsoft.com/office/drawing/2014/main" id="{BEBDCD23-8B4B-3A26-306B-1BA3E43E238B}"/>
              </a:ext>
            </a:extLst>
          </p:cNvPr>
          <p:cNvSpPr>
            <a:spLocks noGrp="1"/>
          </p:cNvSpPr>
          <p:nvPr>
            <p:ph idx="1"/>
          </p:nvPr>
        </p:nvSpPr>
        <p:spPr/>
        <p:txBody>
          <a:bodyPr>
            <a:normAutofit/>
          </a:bodyPr>
          <a:lstStyle/>
          <a:p>
            <a:r>
              <a:rPr lang="en-US" altLang="en-US" b="1" dirty="0"/>
              <a:t>Adolescent girls and young women (AGYW)</a:t>
            </a:r>
          </a:p>
          <a:p>
            <a:r>
              <a:rPr lang="en-US" altLang="en-US" b="1" dirty="0"/>
              <a:t>Sex workers </a:t>
            </a:r>
          </a:p>
          <a:p>
            <a:r>
              <a:rPr lang="en-US" altLang="en-US" b="1" dirty="0"/>
              <a:t>People who inject drugs (PWID) </a:t>
            </a:r>
          </a:p>
          <a:p>
            <a:r>
              <a:rPr lang="en-US" altLang="en-US" b="1" dirty="0"/>
              <a:t>Prisoners </a:t>
            </a:r>
          </a:p>
          <a:p>
            <a:r>
              <a:rPr lang="en-US" altLang="en-US" b="1" dirty="0"/>
              <a:t>Men who have sex with men (MSM) </a:t>
            </a:r>
          </a:p>
          <a:p>
            <a:r>
              <a:rPr lang="en-US" altLang="en-US" b="1" dirty="0"/>
              <a:t>Transgender people </a:t>
            </a:r>
          </a:p>
          <a:p>
            <a:r>
              <a:rPr lang="en-US" b="1" dirty="0"/>
              <a:t>Infants born to HIV-positive mothers</a:t>
            </a:r>
          </a:p>
        </p:txBody>
      </p:sp>
    </p:spTree>
    <p:extLst>
      <p:ext uri="{BB962C8B-B14F-4D97-AF65-F5344CB8AC3E}">
        <p14:creationId xmlns:p14="http://schemas.microsoft.com/office/powerpoint/2010/main" val="2124231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A0BD4-B9D5-3847-6D8A-C7FA0517C23D}"/>
              </a:ext>
            </a:extLst>
          </p:cNvPr>
          <p:cNvSpPr>
            <a:spLocks noGrp="1"/>
          </p:cNvSpPr>
          <p:nvPr>
            <p:ph type="title"/>
          </p:nvPr>
        </p:nvSpPr>
        <p:spPr/>
        <p:txBody>
          <a:bodyPr/>
          <a:lstStyle/>
          <a:p>
            <a:r>
              <a:rPr lang="en-US" b="1" dirty="0"/>
              <a:t>NATURAL HISTORY OF HIV</a:t>
            </a:r>
          </a:p>
        </p:txBody>
      </p:sp>
      <p:sp>
        <p:nvSpPr>
          <p:cNvPr id="3" name="Content Placeholder 2">
            <a:extLst>
              <a:ext uri="{FF2B5EF4-FFF2-40B4-BE49-F238E27FC236}">
                <a16:creationId xmlns:a16="http://schemas.microsoft.com/office/drawing/2014/main" id="{AA91F97D-465A-3D25-2948-EB19C5B103DF}"/>
              </a:ext>
            </a:extLst>
          </p:cNvPr>
          <p:cNvSpPr>
            <a:spLocks noGrp="1"/>
          </p:cNvSpPr>
          <p:nvPr>
            <p:ph idx="1"/>
          </p:nvPr>
        </p:nvSpPr>
        <p:spPr/>
        <p:txBody>
          <a:bodyPr>
            <a:normAutofit fontScale="92500" lnSpcReduction="10000"/>
          </a:bodyPr>
          <a:lstStyle/>
          <a:p>
            <a:pPr marL="0" indent="0">
              <a:buNone/>
            </a:pPr>
            <a:r>
              <a:rPr lang="en-US" b="1" dirty="0"/>
              <a:t> 1. Acute HIV Infection (Weeks 1–6)</a:t>
            </a:r>
          </a:p>
          <a:p>
            <a:r>
              <a:rPr lang="en-US" b="1" dirty="0"/>
              <a:t>Event:</a:t>
            </a:r>
            <a:r>
              <a:rPr lang="en-US" dirty="0"/>
              <a:t> HIV enters via mucosal surfaces or blood and rapidly infects CD4+ T cells, macrophages, and dendritic cells.</a:t>
            </a:r>
          </a:p>
          <a:p>
            <a:r>
              <a:rPr lang="en-US" b="1" dirty="0"/>
              <a:t>Viremia:</a:t>
            </a:r>
            <a:r>
              <a:rPr lang="en-US" dirty="0"/>
              <a:t> Viral load spikes dramatically; HIV disseminates to lymphoid tissues.</a:t>
            </a:r>
          </a:p>
          <a:p>
            <a:r>
              <a:rPr lang="en-US" b="1" dirty="0"/>
              <a:t>Immune response:</a:t>
            </a:r>
            <a:r>
              <a:rPr lang="en-US" dirty="0"/>
              <a:t> CD8+ cytotoxic T cells and antibodies appear, lowering viral load but not eliminating the virus.</a:t>
            </a:r>
          </a:p>
          <a:p>
            <a:r>
              <a:rPr lang="en-US" b="1" dirty="0"/>
              <a:t>Clinical signs:</a:t>
            </a:r>
            <a:r>
              <a:rPr lang="en-US" dirty="0"/>
              <a:t> Many experience </a:t>
            </a:r>
            <a:r>
              <a:rPr lang="en-US" b="1" dirty="0"/>
              <a:t>acute retroviral syndrome</a:t>
            </a:r>
            <a:r>
              <a:rPr lang="en-US" dirty="0"/>
              <a:t> (flu‑like illness: fever, rash, lymphadenopathy, sore throat).</a:t>
            </a:r>
          </a:p>
          <a:p>
            <a:r>
              <a:rPr lang="en-US" b="1" dirty="0"/>
              <a:t>Key feature:</a:t>
            </a:r>
            <a:r>
              <a:rPr lang="en-US" dirty="0"/>
              <a:t> Massive depletion of CD4+ T cells in gut‑associated lymphoid tissue (GALT).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224916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008705-F6A2-39E5-2056-F4FD4989901C}"/>
              </a:ext>
            </a:extLst>
          </p:cNvPr>
          <p:cNvSpPr>
            <a:spLocks noGrp="1"/>
          </p:cNvSpPr>
          <p:nvPr>
            <p:ph idx="1"/>
          </p:nvPr>
        </p:nvSpPr>
        <p:spPr>
          <a:xfrm>
            <a:off x="838200" y="385012"/>
            <a:ext cx="10515600" cy="5800127"/>
          </a:xfrm>
        </p:spPr>
        <p:txBody>
          <a:bodyPr>
            <a:normAutofit/>
          </a:bodyPr>
          <a:lstStyle/>
          <a:p>
            <a:pPr marL="0" indent="0">
              <a:buNone/>
            </a:pPr>
            <a:r>
              <a:rPr lang="en-US" b="1" dirty="0"/>
              <a:t>2. Clinical Latency / Chronic Infection (Years)</a:t>
            </a:r>
          </a:p>
          <a:p>
            <a:pPr marL="0" indent="0">
              <a:buNone/>
            </a:pPr>
            <a:endParaRPr lang="en-US" b="1" dirty="0"/>
          </a:p>
          <a:p>
            <a:r>
              <a:rPr lang="en-US" b="1" dirty="0"/>
              <a:t>Event:</a:t>
            </a:r>
            <a:r>
              <a:rPr lang="en-US" dirty="0"/>
              <a:t> Viral load stabilizes at a “set‑point” determined by host immunity and viral fitness.</a:t>
            </a:r>
          </a:p>
          <a:p>
            <a:r>
              <a:rPr lang="en-US" b="1" dirty="0"/>
              <a:t>Reservoirs:</a:t>
            </a:r>
            <a:r>
              <a:rPr lang="en-US" dirty="0"/>
              <a:t> Latent infection established in resting memory CD4+ T cells.</a:t>
            </a:r>
          </a:p>
          <a:p>
            <a:r>
              <a:rPr lang="en-US" b="1" dirty="0"/>
              <a:t>Immune activity:</a:t>
            </a:r>
            <a:r>
              <a:rPr lang="en-US" dirty="0"/>
              <a:t> Ongoing replication and immune activation continue silently.</a:t>
            </a:r>
          </a:p>
          <a:p>
            <a:r>
              <a:rPr lang="en-US" b="1" dirty="0"/>
              <a:t>Clinical signs:</a:t>
            </a:r>
            <a:r>
              <a:rPr lang="en-US" dirty="0"/>
              <a:t> Often asymptomatic, but persistent generalized lymphadenopathy may occur.</a:t>
            </a:r>
          </a:p>
          <a:p>
            <a:r>
              <a:rPr lang="en-US" b="1" dirty="0"/>
              <a:t>Duration:</a:t>
            </a:r>
            <a:r>
              <a:rPr lang="en-US" dirty="0"/>
              <a:t> Can last 5–10 years without treatment, shorter if viral set‑point is high.</a:t>
            </a:r>
          </a:p>
          <a:p>
            <a:endParaRPr lang="en-US" dirty="0"/>
          </a:p>
        </p:txBody>
      </p:sp>
    </p:spTree>
    <p:extLst>
      <p:ext uri="{BB962C8B-B14F-4D97-AF65-F5344CB8AC3E}">
        <p14:creationId xmlns:p14="http://schemas.microsoft.com/office/powerpoint/2010/main" val="21851693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D7C7A8-C1BF-E22E-2068-3474300842E1}"/>
              </a:ext>
            </a:extLst>
          </p:cNvPr>
          <p:cNvSpPr>
            <a:spLocks noGrp="1"/>
          </p:cNvSpPr>
          <p:nvPr>
            <p:ph idx="1"/>
          </p:nvPr>
        </p:nvSpPr>
        <p:spPr>
          <a:xfrm>
            <a:off x="769188" y="531661"/>
            <a:ext cx="10712570" cy="5782875"/>
          </a:xfrm>
        </p:spPr>
        <p:txBody>
          <a:bodyPr>
            <a:normAutofit/>
          </a:bodyPr>
          <a:lstStyle/>
          <a:p>
            <a:pPr marL="0" indent="0">
              <a:buNone/>
            </a:pPr>
            <a:r>
              <a:rPr lang="en-US" b="1" dirty="0"/>
              <a:t>3. Progressive Immunodeficiency</a:t>
            </a:r>
          </a:p>
          <a:p>
            <a:pPr marL="0" indent="0">
              <a:buNone/>
            </a:pPr>
            <a:endParaRPr lang="en-US" b="1" dirty="0"/>
          </a:p>
          <a:p>
            <a:r>
              <a:rPr lang="en-US" b="1" dirty="0"/>
              <a:t>Event:</a:t>
            </a:r>
            <a:r>
              <a:rPr lang="en-US" dirty="0"/>
              <a:t> Gradual decline in CD4+ T‑cell count due to direct killing, immune‑mediated destruction, and bystander </a:t>
            </a:r>
            <a:r>
              <a:rPr lang="en-US" dirty="0" err="1"/>
              <a:t>pyroptosis</a:t>
            </a:r>
            <a:r>
              <a:rPr lang="en-US" dirty="0"/>
              <a:t>.</a:t>
            </a:r>
          </a:p>
          <a:p>
            <a:r>
              <a:rPr lang="en-US" b="1" dirty="0"/>
              <a:t>Immune exhaustion:</a:t>
            </a:r>
            <a:r>
              <a:rPr lang="en-US" dirty="0"/>
              <a:t> Chronic activation leads to dysfunction of T cells, B cells, and NK cells.</a:t>
            </a:r>
          </a:p>
          <a:p>
            <a:r>
              <a:rPr lang="en-US" b="1" dirty="0"/>
              <a:t>Clinical signs:</a:t>
            </a:r>
            <a:r>
              <a:rPr lang="en-US" dirty="0"/>
              <a:t> Recurrent infections (oral candidiasis, herpes zoster, bacterial pneumonias), weight loss, chronic diarrhea.</a:t>
            </a:r>
          </a:p>
          <a:p>
            <a:r>
              <a:rPr lang="en-US" b="1" dirty="0"/>
              <a:t>Key marker:</a:t>
            </a:r>
            <a:r>
              <a:rPr lang="en-US" dirty="0"/>
              <a:t> CD4+ count falls below 500 cells/µL, then progressively lower.</a:t>
            </a:r>
          </a:p>
          <a:p>
            <a:pPr marL="0" indent="0">
              <a:buNone/>
            </a:pPr>
            <a:endParaRPr lang="en-US" dirty="0"/>
          </a:p>
        </p:txBody>
      </p:sp>
    </p:spTree>
    <p:extLst>
      <p:ext uri="{BB962C8B-B14F-4D97-AF65-F5344CB8AC3E}">
        <p14:creationId xmlns:p14="http://schemas.microsoft.com/office/powerpoint/2010/main" val="13169715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E1254F-D757-5BEB-29A9-57DB534F93C5}"/>
              </a:ext>
            </a:extLst>
          </p:cNvPr>
          <p:cNvSpPr>
            <a:spLocks noGrp="1"/>
          </p:cNvSpPr>
          <p:nvPr>
            <p:ph idx="1"/>
          </p:nvPr>
        </p:nvSpPr>
        <p:spPr>
          <a:xfrm>
            <a:off x="674298" y="471277"/>
            <a:ext cx="10515600" cy="5834631"/>
          </a:xfrm>
        </p:spPr>
        <p:txBody>
          <a:bodyPr>
            <a:normAutofit/>
          </a:bodyPr>
          <a:lstStyle/>
          <a:p>
            <a:pPr marL="0" indent="0">
              <a:buNone/>
            </a:pPr>
            <a:r>
              <a:rPr lang="en-US" b="1" dirty="0"/>
              <a:t>4. AIDS (Acquired Immunodeficiency Syndrome)</a:t>
            </a:r>
          </a:p>
          <a:p>
            <a:pPr marL="0" indent="0">
              <a:buNone/>
            </a:pPr>
            <a:endParaRPr lang="en-US" b="1" dirty="0"/>
          </a:p>
          <a:p>
            <a:r>
              <a:rPr lang="en-US" b="1" dirty="0"/>
              <a:t>Definition:</a:t>
            </a:r>
            <a:r>
              <a:rPr lang="en-US" dirty="0"/>
              <a:t> CD4+ count &lt;200 cells/µL or presence of AIDS‑defining illnesses.</a:t>
            </a:r>
          </a:p>
          <a:p>
            <a:r>
              <a:rPr lang="en-US" b="1" dirty="0"/>
              <a:t>Opportunistic infections:</a:t>
            </a:r>
            <a:r>
              <a:rPr lang="en-US" dirty="0"/>
              <a:t> Pneumocystis pneumonia, tuberculosis, cryptococcal meningitis, CMV, toxoplasmosis.</a:t>
            </a:r>
          </a:p>
          <a:p>
            <a:r>
              <a:rPr lang="en-US" b="1" dirty="0"/>
              <a:t>Malignancies:</a:t>
            </a:r>
            <a:r>
              <a:rPr lang="en-US" dirty="0"/>
              <a:t> Kaposi’s sarcoma, non‑Hodgkin lymphoma, invasive cervical cancer.</a:t>
            </a:r>
          </a:p>
          <a:p>
            <a:r>
              <a:rPr lang="en-US" b="1" dirty="0"/>
              <a:t>Systemic effects:</a:t>
            </a:r>
            <a:r>
              <a:rPr lang="en-US" dirty="0"/>
              <a:t> Wasting syndrome, neurocognitive decline, cardiovascular and renal complications.</a:t>
            </a:r>
          </a:p>
          <a:p>
            <a:r>
              <a:rPr lang="en-US" b="1" dirty="0"/>
              <a:t>Outcome without treatment:</a:t>
            </a:r>
            <a:r>
              <a:rPr lang="en-US" dirty="0"/>
              <a:t> High mortality within 1–2 years after AIDS onset.</a:t>
            </a:r>
          </a:p>
          <a:p>
            <a:endParaRPr lang="en-US" dirty="0"/>
          </a:p>
        </p:txBody>
      </p:sp>
    </p:spTree>
    <p:extLst>
      <p:ext uri="{BB962C8B-B14F-4D97-AF65-F5344CB8AC3E}">
        <p14:creationId xmlns:p14="http://schemas.microsoft.com/office/powerpoint/2010/main" val="34905308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43D10EE-D296-6290-0BD5-EF45CB52EAFD}"/>
              </a:ext>
            </a:extLst>
          </p:cNvPr>
          <p:cNvPicPr>
            <a:picLocks noGrp="1" noChangeAspect="1"/>
          </p:cNvPicPr>
          <p:nvPr>
            <p:ph idx="1"/>
          </p:nvPr>
        </p:nvPicPr>
        <p:blipFill>
          <a:blip r:embed="rId2"/>
          <a:stretch>
            <a:fillRect/>
          </a:stretch>
        </p:blipFill>
        <p:spPr>
          <a:xfrm>
            <a:off x="1657801" y="669684"/>
            <a:ext cx="8676643" cy="5751375"/>
          </a:xfrm>
          <a:prstGeom prst="rect">
            <a:avLst/>
          </a:prstGeom>
        </p:spPr>
      </p:pic>
    </p:spTree>
    <p:extLst>
      <p:ext uri="{BB962C8B-B14F-4D97-AF65-F5344CB8AC3E}">
        <p14:creationId xmlns:p14="http://schemas.microsoft.com/office/powerpoint/2010/main" val="36972875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81CE2-94C3-86DE-FBAB-A471B92A5CFF}"/>
              </a:ext>
            </a:extLst>
          </p:cNvPr>
          <p:cNvSpPr>
            <a:spLocks noGrp="1"/>
          </p:cNvSpPr>
          <p:nvPr>
            <p:ph type="title"/>
          </p:nvPr>
        </p:nvSpPr>
        <p:spPr/>
        <p:txBody>
          <a:bodyPr/>
          <a:lstStyle/>
          <a:p>
            <a:r>
              <a:rPr lang="en-US" sz="3600" b="1" dirty="0">
                <a:solidFill>
                  <a:schemeClr val="bg2">
                    <a:lumMod val="10000"/>
                  </a:schemeClr>
                </a:solidFill>
              </a:rPr>
              <a:t>HIV PROGRESSORS</a:t>
            </a:r>
          </a:p>
        </p:txBody>
      </p:sp>
      <p:sp>
        <p:nvSpPr>
          <p:cNvPr id="3" name="Content Placeholder 2">
            <a:extLst>
              <a:ext uri="{FF2B5EF4-FFF2-40B4-BE49-F238E27FC236}">
                <a16:creationId xmlns:a16="http://schemas.microsoft.com/office/drawing/2014/main" id="{A93F512B-4839-CADD-EEB9-4231EDB8D0E8}"/>
              </a:ext>
            </a:extLst>
          </p:cNvPr>
          <p:cNvSpPr>
            <a:spLocks noGrp="1"/>
          </p:cNvSpPr>
          <p:nvPr>
            <p:ph idx="1"/>
          </p:nvPr>
        </p:nvSpPr>
        <p:spPr>
          <a:xfrm>
            <a:off x="1981200" y="1254764"/>
            <a:ext cx="8229600" cy="4525963"/>
          </a:xfrm>
        </p:spPr>
        <p:txBody>
          <a:bodyPr/>
          <a:lstStyle/>
          <a:p>
            <a:pPr marL="0" indent="0">
              <a:buNone/>
            </a:pPr>
            <a:r>
              <a:rPr lang="en-US" altLang="en-US" sz="2400" dirty="0">
                <a:solidFill>
                  <a:srgbClr val="000510"/>
                </a:solidFill>
                <a:latin typeface="Arial" panose="020B0604020202020204" pitchFamily="34" charset="0"/>
                <a:cs typeface="Arial" panose="020B0604020202020204" pitchFamily="34" charset="0"/>
              </a:rPr>
              <a:t>Based of the clinical picture, rate of CD4 loss and viral load HIV infected individuals tend to shown four different spectra of disease progression namely:</a:t>
            </a:r>
          </a:p>
          <a:p>
            <a:pPr marL="0" indent="0">
              <a:buNone/>
            </a:pPr>
            <a:endParaRPr lang="en-US" altLang="en-US" sz="2400" dirty="0">
              <a:solidFill>
                <a:srgbClr val="000510"/>
              </a:solidFill>
              <a:latin typeface="Arial" panose="020B0604020202020204" pitchFamily="34" charset="0"/>
              <a:cs typeface="Arial" panose="020B0604020202020204" pitchFamily="34" charset="0"/>
            </a:endParaRPr>
          </a:p>
          <a:p>
            <a:pPr lvl="1"/>
            <a:r>
              <a:rPr lang="en-US" altLang="en-US" dirty="0">
                <a:solidFill>
                  <a:srgbClr val="000510"/>
                </a:solidFill>
                <a:latin typeface="Arial" panose="020B0604020202020204" pitchFamily="34" charset="0"/>
                <a:cs typeface="Arial" panose="020B0604020202020204" pitchFamily="34" charset="0"/>
              </a:rPr>
              <a:t>Typical progressors 7-10yrs   </a:t>
            </a:r>
          </a:p>
          <a:p>
            <a:pPr lvl="1"/>
            <a:r>
              <a:rPr lang="en-US" altLang="en-US" dirty="0">
                <a:solidFill>
                  <a:srgbClr val="000510"/>
                </a:solidFill>
                <a:latin typeface="Arial" panose="020B0604020202020204" pitchFamily="34" charset="0"/>
                <a:cs typeface="Arial" panose="020B0604020202020204" pitchFamily="34" charset="0"/>
              </a:rPr>
              <a:t>Rapid progressors &lt;5ys          </a:t>
            </a:r>
          </a:p>
          <a:p>
            <a:pPr lvl="1"/>
            <a:r>
              <a:rPr lang="en-US" altLang="en-US" dirty="0">
                <a:solidFill>
                  <a:srgbClr val="000510"/>
                </a:solidFill>
                <a:latin typeface="Arial" panose="020B0604020202020204" pitchFamily="34" charset="0"/>
                <a:cs typeface="Arial" panose="020B0604020202020204" pitchFamily="34" charset="0"/>
              </a:rPr>
              <a:t>Slow progressors &gt; 10-15yrs   </a:t>
            </a:r>
          </a:p>
          <a:p>
            <a:pPr lvl="1"/>
            <a:r>
              <a:rPr lang="en-US" altLang="en-US" dirty="0">
                <a:solidFill>
                  <a:srgbClr val="000510"/>
                </a:solidFill>
                <a:latin typeface="Arial" panose="020B0604020202020204" pitchFamily="34" charset="0"/>
                <a:cs typeface="Arial" panose="020B0604020202020204" pitchFamily="34" charset="0"/>
              </a:rPr>
              <a:t> Long-term non-progressors, Normal, stable CD4 &lt;1%</a:t>
            </a:r>
          </a:p>
        </p:txBody>
      </p:sp>
      <p:sp>
        <p:nvSpPr>
          <p:cNvPr id="4" name="Footer Placeholder 3">
            <a:extLst>
              <a:ext uri="{FF2B5EF4-FFF2-40B4-BE49-F238E27FC236}">
                <a16:creationId xmlns:a16="http://schemas.microsoft.com/office/drawing/2014/main" id="{0670EE4A-54A1-B324-6D99-E9A99B65FDD0}"/>
              </a:ext>
            </a:extLst>
          </p:cNvPr>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6803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B9D72-C2B6-E1CD-10D6-0023930B9554}"/>
              </a:ext>
            </a:extLst>
          </p:cNvPr>
          <p:cNvSpPr>
            <a:spLocks noGrp="1"/>
          </p:cNvSpPr>
          <p:nvPr>
            <p:ph type="title"/>
          </p:nvPr>
        </p:nvSpPr>
        <p:spPr>
          <a:xfrm>
            <a:off x="1981200" y="0"/>
            <a:ext cx="8229600" cy="1028700"/>
          </a:xfrm>
        </p:spPr>
        <p:txBody>
          <a:bodyPr/>
          <a:lstStyle/>
          <a:p>
            <a:r>
              <a:rPr lang="en-US" sz="3600" b="1" dirty="0">
                <a:solidFill>
                  <a:schemeClr val="bg2">
                    <a:lumMod val="10000"/>
                  </a:schemeClr>
                </a:solidFill>
              </a:rPr>
              <a:t>TYPES OF HIV PROGRESSORS</a:t>
            </a:r>
          </a:p>
        </p:txBody>
      </p:sp>
      <p:pic>
        <p:nvPicPr>
          <p:cNvPr id="5" name="Content Placeholder 4">
            <a:extLst>
              <a:ext uri="{FF2B5EF4-FFF2-40B4-BE49-F238E27FC236}">
                <a16:creationId xmlns:a16="http://schemas.microsoft.com/office/drawing/2014/main" id="{4EC2ECFA-B5A3-7585-0E85-F92EFBA68704}"/>
              </a:ext>
            </a:extLst>
          </p:cNvPr>
          <p:cNvPicPr>
            <a:picLocks noGrp="1" noChangeAspect="1"/>
          </p:cNvPicPr>
          <p:nvPr>
            <p:ph idx="1"/>
          </p:nvPr>
        </p:nvPicPr>
        <p:blipFill>
          <a:blip r:embed="rId2"/>
          <a:stretch>
            <a:fillRect/>
          </a:stretch>
        </p:blipFill>
        <p:spPr>
          <a:xfrm>
            <a:off x="2667008" y="1114426"/>
            <a:ext cx="7072313" cy="4714874"/>
          </a:xfrm>
          <a:prstGeom prst="rect">
            <a:avLst/>
          </a:prstGeom>
        </p:spPr>
      </p:pic>
      <p:sp>
        <p:nvSpPr>
          <p:cNvPr id="4" name="Footer Placeholder 3">
            <a:extLst>
              <a:ext uri="{FF2B5EF4-FFF2-40B4-BE49-F238E27FC236}">
                <a16:creationId xmlns:a16="http://schemas.microsoft.com/office/drawing/2014/main" id="{0DDBBEA1-AA6C-4183-F686-B5A947711ED0}"/>
              </a:ext>
            </a:extLst>
          </p:cNvPr>
          <p:cNvSpPr>
            <a:spLocks noGrp="1"/>
          </p:cNvSpPr>
          <p:nvPr>
            <p:ph type="ftr" sz="quarter" idx="11"/>
          </p:nvPr>
        </p:nvSpPr>
        <p:spPr>
          <a:xfrm>
            <a:off x="2667008" y="6356367"/>
            <a:ext cx="7072313" cy="365125"/>
          </a:xfrm>
        </p:spPr>
        <p:txBody>
          <a:bodyPr/>
          <a:lstStyle/>
          <a:p>
            <a:pPr>
              <a:defRPr/>
            </a:pPr>
            <a:r>
              <a:rPr lang="en-US" dirty="0">
                <a:solidFill>
                  <a:schemeClr val="bg2">
                    <a:lumMod val="10000"/>
                  </a:schemeClr>
                </a:solidFill>
              </a:rPr>
              <a:t>Downloaded from;- from </a:t>
            </a:r>
            <a:r>
              <a:rPr lang="en-US" dirty="0">
                <a:hlinkClick r:id="rId3"/>
              </a:rPr>
              <a:t>http://www.prolacthailand.com/index.php?cmd=content&amp;id=4&amp;cate=3</a:t>
            </a:r>
            <a:r>
              <a:rPr lang="en-US" dirty="0"/>
              <a:t> </a:t>
            </a:r>
            <a:endParaRPr lang="en-US" dirty="0">
              <a:solidFill>
                <a:schemeClr val="bg2">
                  <a:lumMod val="10000"/>
                </a:schemeClr>
              </a:solidFill>
            </a:endParaRPr>
          </a:p>
        </p:txBody>
      </p:sp>
    </p:spTree>
    <p:extLst>
      <p:ext uri="{BB962C8B-B14F-4D97-AF65-F5344CB8AC3E}">
        <p14:creationId xmlns:p14="http://schemas.microsoft.com/office/powerpoint/2010/main" val="14464098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E0DB0-7C6F-641D-E418-F87E17865C9B}"/>
              </a:ext>
            </a:extLst>
          </p:cNvPr>
          <p:cNvSpPr>
            <a:spLocks noGrp="1"/>
          </p:cNvSpPr>
          <p:nvPr>
            <p:ph type="title"/>
          </p:nvPr>
        </p:nvSpPr>
        <p:spPr>
          <a:xfrm>
            <a:off x="1606194" y="274638"/>
            <a:ext cx="8979612" cy="1143000"/>
          </a:xfrm>
        </p:spPr>
        <p:txBody>
          <a:bodyPr/>
          <a:lstStyle/>
          <a:p>
            <a:r>
              <a:rPr lang="en-US" sz="2800" b="1" dirty="0">
                <a:solidFill>
                  <a:srgbClr val="333333"/>
                </a:solidFill>
                <a:latin typeface="+mn-lt"/>
              </a:rPr>
              <a:t>Potential mechanisms of viral suppression in HIV controllers</a:t>
            </a:r>
            <a:endParaRPr lang="en-US" sz="2800" b="1" dirty="0">
              <a:solidFill>
                <a:schemeClr val="bg2">
                  <a:lumMod val="10000"/>
                </a:schemeClr>
              </a:solidFill>
              <a:latin typeface="+mn-lt"/>
            </a:endParaRPr>
          </a:p>
        </p:txBody>
      </p:sp>
      <p:pic>
        <p:nvPicPr>
          <p:cNvPr id="6" name="Content Placeholder 5">
            <a:extLst>
              <a:ext uri="{FF2B5EF4-FFF2-40B4-BE49-F238E27FC236}">
                <a16:creationId xmlns:a16="http://schemas.microsoft.com/office/drawing/2014/main" id="{4DBEA69E-11C3-C52C-3999-3B86ED153462}"/>
              </a:ext>
            </a:extLst>
          </p:cNvPr>
          <p:cNvPicPr>
            <a:picLocks noGrp="1" noChangeAspect="1"/>
          </p:cNvPicPr>
          <p:nvPr>
            <p:ph idx="1"/>
          </p:nvPr>
        </p:nvPicPr>
        <p:blipFill>
          <a:blip r:embed="rId2"/>
          <a:stretch>
            <a:fillRect/>
          </a:stretch>
        </p:blipFill>
        <p:spPr>
          <a:xfrm>
            <a:off x="1524000" y="1222626"/>
            <a:ext cx="9144000" cy="5133989"/>
          </a:xfrm>
        </p:spPr>
      </p:pic>
      <p:sp>
        <p:nvSpPr>
          <p:cNvPr id="4" name="Footer Placeholder 3">
            <a:extLst>
              <a:ext uri="{FF2B5EF4-FFF2-40B4-BE49-F238E27FC236}">
                <a16:creationId xmlns:a16="http://schemas.microsoft.com/office/drawing/2014/main" id="{55D493B5-FEF5-01DD-7EC6-6CA2162E8DA1}"/>
              </a:ext>
            </a:extLst>
          </p:cNvPr>
          <p:cNvSpPr>
            <a:spLocks noGrp="1"/>
          </p:cNvSpPr>
          <p:nvPr>
            <p:ph type="ftr" sz="quarter" idx="11"/>
          </p:nvPr>
        </p:nvSpPr>
        <p:spPr>
          <a:xfrm>
            <a:off x="1981200" y="6343667"/>
            <a:ext cx="8229600" cy="377825"/>
          </a:xfrm>
        </p:spPr>
        <p:txBody>
          <a:bodyPr/>
          <a:lstStyle/>
          <a:p>
            <a:pPr>
              <a:defRPr/>
            </a:pPr>
            <a:endParaRPr lang="en-US" b="0" i="0" dirty="0">
              <a:solidFill>
                <a:srgbClr val="212121"/>
              </a:solidFill>
              <a:effectLst/>
              <a:latin typeface="Roboto" panose="02000000000000000000" pitchFamily="2" charset="0"/>
            </a:endParaRPr>
          </a:p>
          <a:p>
            <a:pPr>
              <a:defRPr/>
            </a:pPr>
            <a:r>
              <a:rPr lang="en-US" b="0" i="0" dirty="0">
                <a:solidFill>
                  <a:srgbClr val="212121"/>
                </a:solidFill>
                <a:effectLst/>
                <a:latin typeface="Roboto" panose="02000000000000000000" pitchFamily="2" charset="0"/>
              </a:rPr>
              <a:t>Sabin CA, Lundgren JD. The natural history of HIV infection. </a:t>
            </a:r>
            <a:r>
              <a:rPr lang="en-US" b="0" i="0" dirty="0" err="1">
                <a:solidFill>
                  <a:srgbClr val="212121"/>
                </a:solidFill>
                <a:effectLst/>
                <a:latin typeface="Roboto" panose="02000000000000000000" pitchFamily="2" charset="0"/>
              </a:rPr>
              <a:t>Curr</a:t>
            </a:r>
            <a:r>
              <a:rPr lang="en-US" b="0" i="0" dirty="0">
                <a:solidFill>
                  <a:srgbClr val="212121"/>
                </a:solidFill>
                <a:effectLst/>
                <a:latin typeface="Roboto" panose="02000000000000000000" pitchFamily="2" charset="0"/>
              </a:rPr>
              <a:t> </a:t>
            </a:r>
            <a:r>
              <a:rPr lang="en-US" b="0" i="0" dirty="0" err="1">
                <a:solidFill>
                  <a:srgbClr val="212121"/>
                </a:solidFill>
                <a:effectLst/>
                <a:latin typeface="Roboto" panose="02000000000000000000" pitchFamily="2" charset="0"/>
              </a:rPr>
              <a:t>Opin</a:t>
            </a:r>
            <a:r>
              <a:rPr lang="en-US" b="0" i="0" dirty="0">
                <a:solidFill>
                  <a:srgbClr val="212121"/>
                </a:solidFill>
                <a:effectLst/>
                <a:latin typeface="Roboto" panose="02000000000000000000" pitchFamily="2" charset="0"/>
              </a:rPr>
              <a:t> HIV AIDS. 2013 Jul;8(4):311-7. </a:t>
            </a:r>
            <a:r>
              <a:rPr lang="en-US" b="0" i="0" dirty="0" err="1">
                <a:solidFill>
                  <a:srgbClr val="212121"/>
                </a:solidFill>
                <a:effectLst/>
                <a:latin typeface="Roboto" panose="02000000000000000000" pitchFamily="2" charset="0"/>
              </a:rPr>
              <a:t>doi</a:t>
            </a:r>
            <a:r>
              <a:rPr lang="en-US" b="0" i="0" dirty="0">
                <a:solidFill>
                  <a:srgbClr val="212121"/>
                </a:solidFill>
                <a:effectLst/>
                <a:latin typeface="Roboto" panose="02000000000000000000" pitchFamily="2" charset="0"/>
              </a:rPr>
              <a:t>: 10.1097/COH.0b013e328361fa66. PMID: 23698562; PMCID: PMC4196796.</a:t>
            </a:r>
          </a:p>
          <a:p>
            <a:pPr>
              <a:defRPr/>
            </a:pPr>
            <a:endParaRPr lang="en-US" dirty="0"/>
          </a:p>
        </p:txBody>
      </p:sp>
    </p:spTree>
    <p:extLst>
      <p:ext uri="{BB962C8B-B14F-4D97-AF65-F5344CB8AC3E}">
        <p14:creationId xmlns:p14="http://schemas.microsoft.com/office/powerpoint/2010/main" val="39238635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93168-DF17-9031-FBA0-C0219213C465}"/>
              </a:ext>
            </a:extLst>
          </p:cNvPr>
          <p:cNvSpPr>
            <a:spLocks noGrp="1"/>
          </p:cNvSpPr>
          <p:nvPr>
            <p:ph type="title"/>
          </p:nvPr>
        </p:nvSpPr>
        <p:spPr>
          <a:xfrm>
            <a:off x="838200" y="365125"/>
            <a:ext cx="10515600" cy="721803"/>
          </a:xfrm>
        </p:spPr>
        <p:txBody>
          <a:bodyPr/>
          <a:lstStyle/>
          <a:p>
            <a:r>
              <a:rPr lang="en-US" b="1" dirty="0"/>
              <a:t>WHO HIV CLINICAL STAGING</a:t>
            </a:r>
          </a:p>
        </p:txBody>
      </p:sp>
      <p:graphicFrame>
        <p:nvGraphicFramePr>
          <p:cNvPr id="4" name="Content Placeholder 3">
            <a:extLst>
              <a:ext uri="{FF2B5EF4-FFF2-40B4-BE49-F238E27FC236}">
                <a16:creationId xmlns:a16="http://schemas.microsoft.com/office/drawing/2014/main" id="{C94190A7-4A4A-9BA4-033C-6C307B8C2691}"/>
              </a:ext>
            </a:extLst>
          </p:cNvPr>
          <p:cNvGraphicFramePr>
            <a:graphicFrameLocks noGrp="1"/>
          </p:cNvGraphicFramePr>
          <p:nvPr>
            <p:ph idx="1"/>
            <p:extLst>
              <p:ext uri="{D42A27DB-BD31-4B8C-83A1-F6EECF244321}">
                <p14:modId xmlns:p14="http://schemas.microsoft.com/office/powerpoint/2010/main" val="750372636"/>
              </p:ext>
            </p:extLst>
          </p:nvPr>
        </p:nvGraphicFramePr>
        <p:xfrm>
          <a:off x="1014324" y="1497821"/>
          <a:ext cx="10008076" cy="4351338"/>
        </p:xfrm>
        <a:graphic>
          <a:graphicData uri="http://schemas.openxmlformats.org/drawingml/2006/table">
            <a:tbl>
              <a:tblPr/>
              <a:tblGrid>
                <a:gridCol w="2502019">
                  <a:extLst>
                    <a:ext uri="{9D8B030D-6E8A-4147-A177-3AD203B41FA5}">
                      <a16:colId xmlns:a16="http://schemas.microsoft.com/office/drawing/2014/main" val="3055634434"/>
                    </a:ext>
                  </a:extLst>
                </a:gridCol>
                <a:gridCol w="2502019">
                  <a:extLst>
                    <a:ext uri="{9D8B030D-6E8A-4147-A177-3AD203B41FA5}">
                      <a16:colId xmlns:a16="http://schemas.microsoft.com/office/drawing/2014/main" val="456819990"/>
                    </a:ext>
                  </a:extLst>
                </a:gridCol>
                <a:gridCol w="2502019">
                  <a:extLst>
                    <a:ext uri="{9D8B030D-6E8A-4147-A177-3AD203B41FA5}">
                      <a16:colId xmlns:a16="http://schemas.microsoft.com/office/drawing/2014/main" val="2991698068"/>
                    </a:ext>
                  </a:extLst>
                </a:gridCol>
                <a:gridCol w="2502019">
                  <a:extLst>
                    <a:ext uri="{9D8B030D-6E8A-4147-A177-3AD203B41FA5}">
                      <a16:colId xmlns:a16="http://schemas.microsoft.com/office/drawing/2014/main" val="4048499430"/>
                    </a:ext>
                  </a:extLst>
                </a:gridCol>
              </a:tblGrid>
              <a:tr h="609187">
                <a:tc>
                  <a:txBody>
                    <a:bodyPr/>
                    <a:lstStyle/>
                    <a:p>
                      <a:pPr>
                        <a:buNone/>
                      </a:pPr>
                      <a:r>
                        <a:rPr lang="en-US" sz="1700" b="1" dirty="0"/>
                        <a:t>Stage</a:t>
                      </a:r>
                      <a:endParaRPr lang="en-US" sz="1700" dirty="0"/>
                    </a:p>
                  </a:txBody>
                  <a:tcPr marL="87027" marR="87027" marT="43513" marB="43513" anchor="ctr">
                    <a:lnL>
                      <a:noFill/>
                    </a:lnL>
                    <a:lnR>
                      <a:noFill/>
                    </a:lnR>
                    <a:lnT>
                      <a:noFill/>
                    </a:lnT>
                    <a:lnB>
                      <a:noFill/>
                    </a:lnB>
                    <a:noFill/>
                  </a:tcPr>
                </a:tc>
                <a:tc>
                  <a:txBody>
                    <a:bodyPr/>
                    <a:lstStyle/>
                    <a:p>
                      <a:pPr>
                        <a:buNone/>
                      </a:pPr>
                      <a:r>
                        <a:rPr lang="en-US" sz="1700" b="1"/>
                        <a:t>CD4⁺ count (cells/µL)</a:t>
                      </a:r>
                      <a:endParaRPr lang="en-US" sz="1700"/>
                    </a:p>
                  </a:txBody>
                  <a:tcPr marL="87027" marR="87027" marT="43513" marB="43513" anchor="ctr">
                    <a:lnL>
                      <a:noFill/>
                    </a:lnL>
                    <a:lnR>
                      <a:noFill/>
                    </a:lnR>
                    <a:lnT>
                      <a:noFill/>
                    </a:lnT>
                    <a:lnB>
                      <a:noFill/>
                    </a:lnB>
                    <a:noFill/>
                  </a:tcPr>
                </a:tc>
                <a:tc>
                  <a:txBody>
                    <a:bodyPr/>
                    <a:lstStyle/>
                    <a:p>
                      <a:pPr>
                        <a:buNone/>
                      </a:pPr>
                      <a:r>
                        <a:rPr lang="en-US" sz="1700" b="1"/>
                        <a:t>Clinical features</a:t>
                      </a:r>
                      <a:endParaRPr lang="en-US" sz="1700"/>
                    </a:p>
                  </a:txBody>
                  <a:tcPr marL="87027" marR="87027" marT="43513" marB="43513" anchor="ctr">
                    <a:lnL>
                      <a:noFill/>
                    </a:lnL>
                    <a:lnR>
                      <a:noFill/>
                    </a:lnR>
                    <a:lnT>
                      <a:noFill/>
                    </a:lnT>
                    <a:lnB>
                      <a:noFill/>
                    </a:lnB>
                    <a:noFill/>
                  </a:tcPr>
                </a:tc>
                <a:tc>
                  <a:txBody>
                    <a:bodyPr/>
                    <a:lstStyle/>
                    <a:p>
                      <a:pPr>
                        <a:buNone/>
                      </a:pPr>
                      <a:r>
                        <a:rPr lang="en-US" sz="1700" b="1"/>
                        <a:t>Common opportunistic infections / conditions</a:t>
                      </a:r>
                      <a:endParaRPr lang="en-US" sz="1700"/>
                    </a:p>
                  </a:txBody>
                  <a:tcPr marL="87027" marR="87027" marT="43513" marB="43513" anchor="ctr">
                    <a:lnL>
                      <a:noFill/>
                    </a:lnL>
                    <a:lnR>
                      <a:noFill/>
                    </a:lnR>
                    <a:lnT>
                      <a:noFill/>
                    </a:lnT>
                    <a:lnB>
                      <a:noFill/>
                    </a:lnB>
                    <a:noFill/>
                  </a:tcPr>
                </a:tc>
                <a:extLst>
                  <a:ext uri="{0D108BD9-81ED-4DB2-BD59-A6C34878D82A}">
                    <a16:rowId xmlns:a16="http://schemas.microsoft.com/office/drawing/2014/main" val="666185622"/>
                  </a:ext>
                </a:extLst>
              </a:tr>
              <a:tr h="870268">
                <a:tc>
                  <a:txBody>
                    <a:bodyPr/>
                    <a:lstStyle/>
                    <a:p>
                      <a:pPr>
                        <a:buNone/>
                      </a:pPr>
                      <a:r>
                        <a:rPr lang="en-US" sz="1700" b="1"/>
                        <a:t>Stage 1 (Acute HIV)</a:t>
                      </a:r>
                      <a:endParaRPr lang="en-US" sz="1700"/>
                    </a:p>
                  </a:txBody>
                  <a:tcPr marL="87027" marR="87027" marT="43513" marB="43513" anchor="ctr">
                    <a:lnL>
                      <a:noFill/>
                    </a:lnL>
                    <a:lnR>
                      <a:noFill/>
                    </a:lnR>
                    <a:lnT>
                      <a:noFill/>
                    </a:lnT>
                    <a:lnB>
                      <a:noFill/>
                    </a:lnB>
                    <a:noFill/>
                  </a:tcPr>
                </a:tc>
                <a:tc>
                  <a:txBody>
                    <a:bodyPr/>
                    <a:lstStyle/>
                    <a:p>
                      <a:pPr>
                        <a:buNone/>
                      </a:pPr>
                      <a:r>
                        <a:rPr lang="en-US" sz="1700" b="1" dirty="0"/>
                        <a:t>&gt; 500</a:t>
                      </a:r>
                      <a:endParaRPr lang="en-US" sz="1700" dirty="0"/>
                    </a:p>
                  </a:txBody>
                  <a:tcPr marL="87027" marR="87027" marT="43513" marB="43513" anchor="ctr">
                    <a:lnL>
                      <a:noFill/>
                    </a:lnL>
                    <a:lnR>
                      <a:noFill/>
                    </a:lnR>
                    <a:lnT>
                      <a:noFill/>
                    </a:lnT>
                    <a:lnB>
                      <a:noFill/>
                    </a:lnB>
                    <a:noFill/>
                  </a:tcPr>
                </a:tc>
                <a:tc>
                  <a:txBody>
                    <a:bodyPr/>
                    <a:lstStyle/>
                    <a:p>
                      <a:pPr>
                        <a:buNone/>
                      </a:pPr>
                      <a:r>
                        <a:rPr lang="en-US" sz="1700" dirty="0"/>
                        <a:t>Acute retroviral syndrome, lymphadenopathy</a:t>
                      </a:r>
                    </a:p>
                  </a:txBody>
                  <a:tcPr marL="87027" marR="87027" marT="43513" marB="43513" anchor="ctr">
                    <a:lnL>
                      <a:noFill/>
                    </a:lnL>
                    <a:lnR>
                      <a:noFill/>
                    </a:lnR>
                    <a:lnT>
                      <a:noFill/>
                    </a:lnT>
                    <a:lnB>
                      <a:noFill/>
                    </a:lnB>
                    <a:noFill/>
                  </a:tcPr>
                </a:tc>
                <a:tc>
                  <a:txBody>
                    <a:bodyPr/>
                    <a:lstStyle/>
                    <a:p>
                      <a:pPr>
                        <a:buNone/>
                      </a:pPr>
                      <a:r>
                        <a:rPr lang="en-US" sz="1700" dirty="0"/>
                        <a:t>Generalized lymphadenopathy</a:t>
                      </a:r>
                    </a:p>
                  </a:txBody>
                  <a:tcPr marL="87027" marR="87027" marT="43513" marB="43513" anchor="ctr">
                    <a:lnL>
                      <a:noFill/>
                    </a:lnL>
                    <a:lnR>
                      <a:noFill/>
                    </a:lnR>
                    <a:lnT>
                      <a:noFill/>
                    </a:lnT>
                    <a:lnB>
                      <a:noFill/>
                    </a:lnB>
                    <a:noFill/>
                  </a:tcPr>
                </a:tc>
                <a:extLst>
                  <a:ext uri="{0D108BD9-81ED-4DB2-BD59-A6C34878D82A}">
                    <a16:rowId xmlns:a16="http://schemas.microsoft.com/office/drawing/2014/main" val="2193859335"/>
                  </a:ext>
                </a:extLst>
              </a:tr>
              <a:tr h="609187">
                <a:tc>
                  <a:txBody>
                    <a:bodyPr/>
                    <a:lstStyle/>
                    <a:p>
                      <a:pPr>
                        <a:buNone/>
                      </a:pPr>
                      <a:r>
                        <a:rPr lang="en-US" sz="1700" b="1"/>
                        <a:t>Stage 2 (Early / Asymptomatic HIV)</a:t>
                      </a:r>
                      <a:endParaRPr lang="en-US" sz="1700"/>
                    </a:p>
                  </a:txBody>
                  <a:tcPr marL="87027" marR="87027" marT="43513" marB="43513" anchor="ctr">
                    <a:lnL>
                      <a:noFill/>
                    </a:lnL>
                    <a:lnR>
                      <a:noFill/>
                    </a:lnR>
                    <a:lnT>
                      <a:noFill/>
                    </a:lnT>
                    <a:lnB>
                      <a:noFill/>
                    </a:lnB>
                    <a:noFill/>
                  </a:tcPr>
                </a:tc>
                <a:tc>
                  <a:txBody>
                    <a:bodyPr/>
                    <a:lstStyle/>
                    <a:p>
                      <a:pPr>
                        <a:buNone/>
                      </a:pPr>
                      <a:r>
                        <a:rPr lang="en-US" sz="1700" b="1"/>
                        <a:t>350–499</a:t>
                      </a:r>
                      <a:endParaRPr lang="en-US" sz="1700"/>
                    </a:p>
                  </a:txBody>
                  <a:tcPr marL="87027" marR="87027" marT="43513" marB="43513" anchor="ctr">
                    <a:lnL>
                      <a:noFill/>
                    </a:lnL>
                    <a:lnR>
                      <a:noFill/>
                    </a:lnR>
                    <a:lnT>
                      <a:noFill/>
                    </a:lnT>
                    <a:lnB>
                      <a:noFill/>
                    </a:lnB>
                    <a:noFill/>
                  </a:tcPr>
                </a:tc>
                <a:tc>
                  <a:txBody>
                    <a:bodyPr/>
                    <a:lstStyle/>
                    <a:p>
                      <a:pPr>
                        <a:buNone/>
                      </a:pPr>
                      <a:r>
                        <a:rPr lang="en-US" sz="1700"/>
                        <a:t>Often asymptomatic, mild infections</a:t>
                      </a:r>
                    </a:p>
                  </a:txBody>
                  <a:tcPr marL="87027" marR="87027" marT="43513" marB="43513" anchor="ctr">
                    <a:lnL>
                      <a:noFill/>
                    </a:lnL>
                    <a:lnR>
                      <a:noFill/>
                    </a:lnR>
                    <a:lnT>
                      <a:noFill/>
                    </a:lnT>
                    <a:lnB>
                      <a:noFill/>
                    </a:lnB>
                    <a:noFill/>
                  </a:tcPr>
                </a:tc>
                <a:tc>
                  <a:txBody>
                    <a:bodyPr/>
                    <a:lstStyle/>
                    <a:p>
                      <a:pPr>
                        <a:buNone/>
                      </a:pPr>
                      <a:r>
                        <a:rPr lang="en-US" sz="1700"/>
                        <a:t>Herpes zoster, recurrent URIs</a:t>
                      </a:r>
                    </a:p>
                  </a:txBody>
                  <a:tcPr marL="87027" marR="87027" marT="43513" marB="43513" anchor="ctr">
                    <a:lnL>
                      <a:noFill/>
                    </a:lnL>
                    <a:lnR>
                      <a:noFill/>
                    </a:lnR>
                    <a:lnT>
                      <a:noFill/>
                    </a:lnT>
                    <a:lnB>
                      <a:noFill/>
                    </a:lnB>
                    <a:noFill/>
                  </a:tcPr>
                </a:tc>
                <a:extLst>
                  <a:ext uri="{0D108BD9-81ED-4DB2-BD59-A6C34878D82A}">
                    <a16:rowId xmlns:a16="http://schemas.microsoft.com/office/drawing/2014/main" val="2935091473"/>
                  </a:ext>
                </a:extLst>
              </a:tr>
              <a:tr h="870268">
                <a:tc>
                  <a:txBody>
                    <a:bodyPr/>
                    <a:lstStyle/>
                    <a:p>
                      <a:pPr>
                        <a:buNone/>
                      </a:pPr>
                      <a:r>
                        <a:rPr lang="en-US" sz="1700" b="1"/>
                        <a:t>Stage 3 (Symptomatic HIV)</a:t>
                      </a:r>
                      <a:endParaRPr lang="en-US" sz="1700"/>
                    </a:p>
                  </a:txBody>
                  <a:tcPr marL="87027" marR="87027" marT="43513" marB="43513" anchor="ctr">
                    <a:lnL>
                      <a:noFill/>
                    </a:lnL>
                    <a:lnR>
                      <a:noFill/>
                    </a:lnR>
                    <a:lnT>
                      <a:noFill/>
                    </a:lnT>
                    <a:lnB>
                      <a:noFill/>
                    </a:lnB>
                    <a:noFill/>
                  </a:tcPr>
                </a:tc>
                <a:tc>
                  <a:txBody>
                    <a:bodyPr/>
                    <a:lstStyle/>
                    <a:p>
                      <a:pPr>
                        <a:buNone/>
                      </a:pPr>
                      <a:r>
                        <a:rPr lang="en-US" sz="1700" b="1"/>
                        <a:t>200–349</a:t>
                      </a:r>
                      <a:endParaRPr lang="en-US" sz="1700"/>
                    </a:p>
                  </a:txBody>
                  <a:tcPr marL="87027" marR="87027" marT="43513" marB="43513" anchor="ctr">
                    <a:lnL>
                      <a:noFill/>
                    </a:lnL>
                    <a:lnR>
                      <a:noFill/>
                    </a:lnR>
                    <a:lnT>
                      <a:noFill/>
                    </a:lnT>
                    <a:lnB>
                      <a:noFill/>
                    </a:lnB>
                    <a:noFill/>
                  </a:tcPr>
                </a:tc>
                <a:tc>
                  <a:txBody>
                    <a:bodyPr/>
                    <a:lstStyle/>
                    <a:p>
                      <a:pPr>
                        <a:buNone/>
                      </a:pPr>
                      <a:r>
                        <a:rPr lang="en-US" sz="1700"/>
                        <a:t>Weight loss, chronic fever/diarrhea</a:t>
                      </a:r>
                    </a:p>
                  </a:txBody>
                  <a:tcPr marL="87027" marR="87027" marT="43513" marB="43513" anchor="ctr">
                    <a:lnL>
                      <a:noFill/>
                    </a:lnL>
                    <a:lnR>
                      <a:noFill/>
                    </a:lnR>
                    <a:lnT>
                      <a:noFill/>
                    </a:lnT>
                    <a:lnB>
                      <a:noFill/>
                    </a:lnB>
                    <a:noFill/>
                  </a:tcPr>
                </a:tc>
                <a:tc>
                  <a:txBody>
                    <a:bodyPr/>
                    <a:lstStyle/>
                    <a:p>
                      <a:pPr>
                        <a:buNone/>
                      </a:pPr>
                      <a:r>
                        <a:rPr lang="en-US" sz="1700"/>
                        <a:t>Oral candidiasis, TB, oral hairy leukoplakia, bacterial pneumonia</a:t>
                      </a:r>
                    </a:p>
                  </a:txBody>
                  <a:tcPr marL="87027" marR="87027" marT="43513" marB="43513" anchor="ctr">
                    <a:lnL>
                      <a:noFill/>
                    </a:lnL>
                    <a:lnR>
                      <a:noFill/>
                    </a:lnR>
                    <a:lnT>
                      <a:noFill/>
                    </a:lnT>
                    <a:lnB>
                      <a:noFill/>
                    </a:lnB>
                    <a:noFill/>
                  </a:tcPr>
                </a:tc>
                <a:extLst>
                  <a:ext uri="{0D108BD9-81ED-4DB2-BD59-A6C34878D82A}">
                    <a16:rowId xmlns:a16="http://schemas.microsoft.com/office/drawing/2014/main" val="666402653"/>
                  </a:ext>
                </a:extLst>
              </a:tr>
              <a:tr h="1392428">
                <a:tc>
                  <a:txBody>
                    <a:bodyPr/>
                    <a:lstStyle/>
                    <a:p>
                      <a:pPr>
                        <a:buNone/>
                      </a:pPr>
                      <a:r>
                        <a:rPr lang="en-US" sz="1700" b="1"/>
                        <a:t>Stage 4 (AIDS)</a:t>
                      </a:r>
                      <a:endParaRPr lang="en-US" sz="1700"/>
                    </a:p>
                  </a:txBody>
                  <a:tcPr marL="87027" marR="87027" marT="43513" marB="43513" anchor="ctr">
                    <a:lnL>
                      <a:noFill/>
                    </a:lnL>
                    <a:lnR>
                      <a:noFill/>
                    </a:lnR>
                    <a:lnT>
                      <a:noFill/>
                    </a:lnT>
                    <a:lnB>
                      <a:noFill/>
                    </a:lnB>
                    <a:noFill/>
                  </a:tcPr>
                </a:tc>
                <a:tc>
                  <a:txBody>
                    <a:bodyPr/>
                    <a:lstStyle/>
                    <a:p>
                      <a:pPr>
                        <a:buNone/>
                      </a:pPr>
                      <a:r>
                        <a:rPr lang="en-US" sz="1700" b="1"/>
                        <a:t>&lt; 200</a:t>
                      </a:r>
                      <a:endParaRPr lang="en-US" sz="1700"/>
                    </a:p>
                  </a:txBody>
                  <a:tcPr marL="87027" marR="87027" marT="43513" marB="43513" anchor="ctr">
                    <a:lnL>
                      <a:noFill/>
                    </a:lnL>
                    <a:lnR>
                      <a:noFill/>
                    </a:lnR>
                    <a:lnT>
                      <a:noFill/>
                    </a:lnT>
                    <a:lnB>
                      <a:noFill/>
                    </a:lnB>
                    <a:noFill/>
                  </a:tcPr>
                </a:tc>
                <a:tc>
                  <a:txBody>
                    <a:bodyPr/>
                    <a:lstStyle/>
                    <a:p>
                      <a:pPr>
                        <a:buNone/>
                      </a:pPr>
                      <a:r>
                        <a:rPr lang="en-US" sz="1700"/>
                        <a:t>Severe immunodeficiency</a:t>
                      </a:r>
                    </a:p>
                  </a:txBody>
                  <a:tcPr marL="87027" marR="87027" marT="43513" marB="43513" anchor="ctr">
                    <a:lnL>
                      <a:noFill/>
                    </a:lnL>
                    <a:lnR>
                      <a:noFill/>
                    </a:lnR>
                    <a:lnT>
                      <a:noFill/>
                    </a:lnT>
                    <a:lnB>
                      <a:noFill/>
                    </a:lnB>
                    <a:noFill/>
                  </a:tcPr>
                </a:tc>
                <a:tc>
                  <a:txBody>
                    <a:bodyPr/>
                    <a:lstStyle/>
                    <a:p>
                      <a:pPr>
                        <a:buNone/>
                      </a:pPr>
                      <a:r>
                        <a:rPr lang="en-US" sz="1700" dirty="0"/>
                        <a:t>PCP (&lt;200), Toxoplasma encephalitis (&lt;100), Cryptococcal meningitis, CMV retinitis (&lt;50), MAC, Kaposi sarcoma</a:t>
                      </a:r>
                    </a:p>
                  </a:txBody>
                  <a:tcPr marL="87027" marR="87027" marT="43513" marB="43513" anchor="ctr">
                    <a:lnL>
                      <a:noFill/>
                    </a:lnL>
                    <a:lnR>
                      <a:noFill/>
                    </a:lnR>
                    <a:lnT>
                      <a:noFill/>
                    </a:lnT>
                    <a:lnB>
                      <a:noFill/>
                    </a:lnB>
                    <a:noFill/>
                  </a:tcPr>
                </a:tc>
                <a:extLst>
                  <a:ext uri="{0D108BD9-81ED-4DB2-BD59-A6C34878D82A}">
                    <a16:rowId xmlns:a16="http://schemas.microsoft.com/office/drawing/2014/main" val="2950479715"/>
                  </a:ext>
                </a:extLst>
              </a:tr>
            </a:tbl>
          </a:graphicData>
        </a:graphic>
      </p:graphicFrame>
    </p:spTree>
    <p:extLst>
      <p:ext uri="{BB962C8B-B14F-4D97-AF65-F5344CB8AC3E}">
        <p14:creationId xmlns:p14="http://schemas.microsoft.com/office/powerpoint/2010/main" val="32403509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B7372-78BC-80AE-0A31-25C91AEADCBC}"/>
              </a:ext>
            </a:extLst>
          </p:cNvPr>
          <p:cNvSpPr>
            <a:spLocks noGrp="1"/>
          </p:cNvSpPr>
          <p:nvPr>
            <p:ph type="title"/>
          </p:nvPr>
        </p:nvSpPr>
        <p:spPr>
          <a:xfrm>
            <a:off x="838200" y="365125"/>
            <a:ext cx="10515600" cy="842573"/>
          </a:xfrm>
        </p:spPr>
        <p:txBody>
          <a:bodyPr/>
          <a:lstStyle/>
          <a:p>
            <a:r>
              <a:rPr lang="en-US" b="1" dirty="0"/>
              <a:t>COMPLICATIONS OF HIV</a:t>
            </a:r>
          </a:p>
        </p:txBody>
      </p:sp>
      <p:sp>
        <p:nvSpPr>
          <p:cNvPr id="4" name="Rectangle 1">
            <a:extLst>
              <a:ext uri="{FF2B5EF4-FFF2-40B4-BE49-F238E27FC236}">
                <a16:creationId xmlns:a16="http://schemas.microsoft.com/office/drawing/2014/main" id="{D6FCB739-32F6-5FF2-8EFA-72A59AAF3CE3}"/>
              </a:ext>
            </a:extLst>
          </p:cNvPr>
          <p:cNvSpPr>
            <a:spLocks noGrp="1" noChangeArrowheads="1"/>
          </p:cNvSpPr>
          <p:nvPr>
            <p:ph idx="1"/>
          </p:nvPr>
        </p:nvSpPr>
        <p:spPr bwMode="auto">
          <a:xfrm>
            <a:off x="731088" y="1624374"/>
            <a:ext cx="1072982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400" b="1" i="0" u="none" strike="noStrike" cap="none" normalizeH="0" baseline="0" dirty="0">
                <a:ln>
                  <a:noFill/>
                </a:ln>
                <a:solidFill>
                  <a:schemeClr val="tx1"/>
                </a:solidFill>
                <a:effectLst/>
              </a:rPr>
              <a:t>Opportunistic infections (OIs):</a:t>
            </a:r>
            <a:r>
              <a:rPr kumimoji="0" lang="en-US" altLang="en-US" sz="2400" b="0" i="0" u="none" strike="noStrike" cap="none" normalizeH="0" baseline="0" dirty="0">
                <a:ln>
                  <a:noFill/>
                </a:ln>
                <a:solidFill>
                  <a:schemeClr val="tx1"/>
                </a:solidFill>
                <a:effectLst/>
              </a:rPr>
              <a:t> As CD4 counts fall, patients are vulnerable to infections like PCP, TB, cryptococcal meningitis, toxoplasmosis, CMV, and chronic candidiasis.</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400" b="1" i="0" u="none" strike="noStrike" cap="none" normalizeH="0" baseline="0" dirty="0">
                <a:ln>
                  <a:noFill/>
                </a:ln>
                <a:solidFill>
                  <a:schemeClr val="tx1"/>
                </a:solidFill>
                <a:effectLst/>
              </a:rPr>
              <a:t>Malignancies:</a:t>
            </a:r>
            <a:r>
              <a:rPr kumimoji="0" lang="en-US" altLang="en-US" sz="2400" b="0" i="0" u="none" strike="noStrike" cap="none" normalizeH="0" baseline="0" dirty="0">
                <a:ln>
                  <a:noFill/>
                </a:ln>
                <a:solidFill>
                  <a:schemeClr val="tx1"/>
                </a:solidFill>
                <a:effectLst/>
              </a:rPr>
              <a:t> HIV increases risk of cancers such as Kaposi’s sarcoma, non‑Hodgkin lymphoma, and invasive cervical cancer.</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400" b="1" i="0" u="none" strike="noStrike" cap="none" normalizeH="0" baseline="0" dirty="0">
                <a:ln>
                  <a:noFill/>
                </a:ln>
                <a:solidFill>
                  <a:schemeClr val="tx1"/>
                </a:solidFill>
                <a:effectLst/>
              </a:rPr>
              <a:t>Neurologic issues:</a:t>
            </a:r>
            <a:r>
              <a:rPr kumimoji="0" lang="en-US" altLang="en-US" sz="2400" b="0" i="0" u="none" strike="noStrike" cap="none" normalizeH="0" baseline="0" dirty="0">
                <a:ln>
                  <a:noFill/>
                </a:ln>
                <a:solidFill>
                  <a:schemeClr val="tx1"/>
                </a:solidFill>
                <a:effectLst/>
              </a:rPr>
              <a:t> HIV can cause neurocognitive disorders, PML, and peripheral neuropathy.</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400" b="1" i="0" u="none" strike="noStrike" cap="none" normalizeH="0" baseline="0" dirty="0">
                <a:ln>
                  <a:noFill/>
                </a:ln>
                <a:solidFill>
                  <a:schemeClr val="tx1"/>
                </a:solidFill>
                <a:effectLst/>
              </a:rPr>
              <a:t>Cardiovascular disease:</a:t>
            </a:r>
            <a:r>
              <a:rPr kumimoji="0" lang="en-US" altLang="en-US" sz="2400" b="0" i="0" u="none" strike="noStrike" cap="none" normalizeH="0" baseline="0" dirty="0">
                <a:ln>
                  <a:noFill/>
                </a:ln>
                <a:solidFill>
                  <a:schemeClr val="tx1"/>
                </a:solidFill>
                <a:effectLst/>
              </a:rPr>
              <a:t> Chronic inflammation and ART side effects accelerate atherosclerosis, cardiomyopathy, and pulmonary hypertension.</a:t>
            </a: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400" b="1" i="0" u="none" strike="noStrike" cap="none" normalizeH="0" baseline="0" dirty="0">
                <a:ln>
                  <a:noFill/>
                </a:ln>
                <a:solidFill>
                  <a:schemeClr val="tx1"/>
                </a:solidFill>
                <a:effectLst/>
              </a:rPr>
              <a:t>Renal disease:</a:t>
            </a:r>
            <a:r>
              <a:rPr kumimoji="0" lang="en-US" altLang="en-US" sz="2400" b="0" i="0" u="none" strike="noStrike" cap="none" normalizeH="0" baseline="0" dirty="0">
                <a:ln>
                  <a:noFill/>
                </a:ln>
                <a:solidFill>
                  <a:schemeClr val="tx1"/>
                </a:solidFill>
                <a:effectLst/>
              </a:rPr>
              <a:t> HIV‑associated nephropathy and chronic kidney disease are common, especially in African populations.</a:t>
            </a:r>
          </a:p>
        </p:txBody>
      </p:sp>
    </p:spTree>
    <p:extLst>
      <p:ext uri="{BB962C8B-B14F-4D97-AF65-F5344CB8AC3E}">
        <p14:creationId xmlns:p14="http://schemas.microsoft.com/office/powerpoint/2010/main" val="37251233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524FA9-BA28-D90B-4C7A-A881FC352872}"/>
              </a:ext>
            </a:extLst>
          </p:cNvPr>
          <p:cNvSpPr>
            <a:spLocks noGrp="1"/>
          </p:cNvSpPr>
          <p:nvPr>
            <p:ph idx="1"/>
          </p:nvPr>
        </p:nvSpPr>
        <p:spPr>
          <a:xfrm>
            <a:off x="708804" y="661059"/>
            <a:ext cx="10515600" cy="5584466"/>
          </a:xfrm>
        </p:spPr>
        <p:txBody>
          <a:bodyPr/>
          <a:lstStyle/>
          <a:p>
            <a:pPr marL="0" lvl="0" indent="0" eaLnBrk="0" fontAlgn="base" hangingPunct="0">
              <a:lnSpc>
                <a:spcPct val="100000"/>
              </a:lnSpc>
              <a:spcBef>
                <a:spcPct val="0"/>
              </a:spcBef>
              <a:spcAft>
                <a:spcPct val="0"/>
              </a:spcAft>
              <a:buNone/>
            </a:pPr>
            <a:r>
              <a:rPr lang="en-US" altLang="en-US" b="1" dirty="0"/>
              <a:t>6) Hepatic disease:</a:t>
            </a:r>
            <a:r>
              <a:rPr lang="en-US" altLang="en-US" dirty="0"/>
              <a:t> Coinfections with HBV/HCV and drug toxicity lead to liver complications.</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b="1" dirty="0"/>
              <a:t>7) Gastrointestinal problems:</a:t>
            </a:r>
            <a:r>
              <a:rPr lang="en-US" altLang="en-US" dirty="0"/>
              <a:t> Chronic diarrhea, wasting syndrome, and parasitic infections occur in advanced disease.</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b="1" dirty="0"/>
              <a:t>8) Hematologic issues:</a:t>
            </a:r>
            <a:r>
              <a:rPr lang="en-US" altLang="en-US" dirty="0"/>
              <a:t> Anemia, thrombocytopenia, and leukopenia result from HIV, OIs, or ART.</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b="1" dirty="0"/>
              <a:t>9) Dermatologic conditions:</a:t>
            </a:r>
            <a:r>
              <a:rPr lang="en-US" altLang="en-US" dirty="0"/>
              <a:t> Seborrheic dermatitis, herpes zoster, and Kaposi’s sarcoma skin lesions often signal immune suppression</a:t>
            </a:r>
          </a:p>
          <a:p>
            <a:endParaRPr lang="en-US" dirty="0"/>
          </a:p>
        </p:txBody>
      </p:sp>
    </p:spTree>
    <p:extLst>
      <p:ext uri="{BB962C8B-B14F-4D97-AF65-F5344CB8AC3E}">
        <p14:creationId xmlns:p14="http://schemas.microsoft.com/office/powerpoint/2010/main" val="7230192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59C04-81AB-0F97-0BDA-42006E00B471}"/>
              </a:ext>
            </a:extLst>
          </p:cNvPr>
          <p:cNvSpPr>
            <a:spLocks noGrp="1"/>
          </p:cNvSpPr>
          <p:nvPr>
            <p:ph type="title"/>
          </p:nvPr>
        </p:nvSpPr>
        <p:spPr/>
        <p:txBody>
          <a:bodyPr/>
          <a:lstStyle/>
          <a:p>
            <a:r>
              <a:rPr lang="en-US" altLang="en-US" b="1" dirty="0"/>
              <a:t>Guiding Principles for HIV Testing:</a:t>
            </a:r>
            <a:endParaRPr lang="en-US" b="1" dirty="0"/>
          </a:p>
        </p:txBody>
      </p:sp>
      <p:sp>
        <p:nvSpPr>
          <p:cNvPr id="3" name="Content Placeholder 2">
            <a:extLst>
              <a:ext uri="{FF2B5EF4-FFF2-40B4-BE49-F238E27FC236}">
                <a16:creationId xmlns:a16="http://schemas.microsoft.com/office/drawing/2014/main" id="{C16D9A77-1785-EBAE-18BC-BE6A2A209D51}"/>
              </a:ext>
            </a:extLst>
          </p:cNvPr>
          <p:cNvSpPr>
            <a:spLocks noGrp="1"/>
          </p:cNvSpPr>
          <p:nvPr>
            <p:ph idx="1"/>
          </p:nvPr>
        </p:nvSpPr>
        <p:spPr/>
        <p:txBody>
          <a:bodyPr/>
          <a:lstStyle/>
          <a:p>
            <a:pPr marL="0" indent="0">
              <a:buNone/>
            </a:pPr>
            <a:r>
              <a:rPr lang="en-US" altLang="en-US" sz="3600" b="1" dirty="0"/>
              <a:t>Include 3 C’s:</a:t>
            </a:r>
          </a:p>
          <a:p>
            <a:r>
              <a:rPr lang="en-US" altLang="en-US" dirty="0"/>
              <a:t>Confidentiality</a:t>
            </a:r>
          </a:p>
          <a:p>
            <a:pPr marL="0" indent="0">
              <a:buNone/>
            </a:pPr>
            <a:endParaRPr lang="en-US" altLang="en-US" dirty="0"/>
          </a:p>
          <a:p>
            <a:r>
              <a:rPr lang="en-US" altLang="en-US" dirty="0"/>
              <a:t>Consent( informed)</a:t>
            </a:r>
          </a:p>
          <a:p>
            <a:pPr marL="0" indent="0">
              <a:buNone/>
            </a:pPr>
            <a:endParaRPr lang="en-US" altLang="en-US" dirty="0"/>
          </a:p>
          <a:p>
            <a:r>
              <a:rPr lang="en-US" altLang="en-US" dirty="0"/>
              <a:t>Counseling( pre &amp; post-test)</a:t>
            </a:r>
          </a:p>
          <a:p>
            <a:endParaRPr lang="en-US" dirty="0"/>
          </a:p>
        </p:txBody>
      </p:sp>
    </p:spTree>
    <p:extLst>
      <p:ext uri="{BB962C8B-B14F-4D97-AF65-F5344CB8AC3E}">
        <p14:creationId xmlns:p14="http://schemas.microsoft.com/office/powerpoint/2010/main" val="40270403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B3AED-A4DA-48BE-90B4-66EF6E68A2E6}"/>
              </a:ext>
            </a:extLst>
          </p:cNvPr>
          <p:cNvSpPr>
            <a:spLocks noGrp="1"/>
          </p:cNvSpPr>
          <p:nvPr>
            <p:ph type="title"/>
          </p:nvPr>
        </p:nvSpPr>
        <p:spPr>
          <a:xfrm>
            <a:off x="1981200" y="274638"/>
            <a:ext cx="8229600" cy="639762"/>
          </a:xfrm>
        </p:spPr>
        <p:txBody>
          <a:bodyPr/>
          <a:lstStyle/>
          <a:p>
            <a:r>
              <a:rPr lang="en-GB" sz="3200" b="1" dirty="0">
                <a:solidFill>
                  <a:srgbClr val="000510"/>
                </a:solidFill>
              </a:rPr>
              <a:t>HIV diagnostics  and monitoring </a:t>
            </a:r>
            <a:endParaRPr lang="en-US" sz="3200" b="1" dirty="0">
              <a:solidFill>
                <a:srgbClr val="000510"/>
              </a:solidFill>
            </a:endParaRPr>
          </a:p>
        </p:txBody>
      </p:sp>
      <p:sp>
        <p:nvSpPr>
          <p:cNvPr id="3" name="Content Placeholder 2">
            <a:extLst>
              <a:ext uri="{FF2B5EF4-FFF2-40B4-BE49-F238E27FC236}">
                <a16:creationId xmlns:a16="http://schemas.microsoft.com/office/drawing/2014/main" id="{EA844027-F8CE-4910-ADD2-34C90E4D8934}"/>
              </a:ext>
            </a:extLst>
          </p:cNvPr>
          <p:cNvSpPr>
            <a:spLocks noGrp="1"/>
          </p:cNvSpPr>
          <p:nvPr>
            <p:ph idx="1"/>
          </p:nvPr>
        </p:nvSpPr>
        <p:spPr>
          <a:xfrm>
            <a:off x="1877505" y="1053446"/>
            <a:ext cx="8229600" cy="4998562"/>
          </a:xfrm>
        </p:spPr>
        <p:txBody>
          <a:bodyPr/>
          <a:lstStyle/>
          <a:p>
            <a:pPr>
              <a:lnSpc>
                <a:spcPct val="150000"/>
              </a:lnSpc>
            </a:pPr>
            <a:r>
              <a:rPr lang="en-GB" sz="2200" dirty="0">
                <a:solidFill>
                  <a:srgbClr val="000510"/>
                </a:solidFill>
                <a:cs typeface="Times New Roman" pitchFamily="18" charset="0"/>
              </a:rPr>
              <a:t>Initially, relied on centralised testing</a:t>
            </a:r>
          </a:p>
          <a:p>
            <a:pPr marL="811213" indent="0">
              <a:lnSpc>
                <a:spcPct val="150000"/>
              </a:lnSpc>
              <a:buNone/>
            </a:pPr>
            <a:r>
              <a:rPr lang="en-GB" sz="2200" dirty="0">
                <a:solidFill>
                  <a:srgbClr val="000510"/>
                </a:solidFill>
                <a:cs typeface="Times New Roman" pitchFamily="18" charset="0"/>
              </a:rPr>
              <a:t>Common tests used were: ELISA, Western blot (Confirmatory), PCR </a:t>
            </a:r>
          </a:p>
          <a:p>
            <a:pPr marL="811213" indent="0">
              <a:lnSpc>
                <a:spcPct val="150000"/>
              </a:lnSpc>
              <a:buNone/>
            </a:pPr>
            <a:endParaRPr lang="en-GB" sz="2200" dirty="0">
              <a:solidFill>
                <a:srgbClr val="000510"/>
              </a:solidFill>
              <a:cs typeface="Times New Roman" pitchFamily="18" charset="0"/>
            </a:endParaRPr>
          </a:p>
          <a:p>
            <a:pPr>
              <a:lnSpc>
                <a:spcPct val="150000"/>
              </a:lnSpc>
            </a:pPr>
            <a:r>
              <a:rPr lang="en-GB" sz="2200" dirty="0">
                <a:solidFill>
                  <a:srgbClr val="000510"/>
                </a:solidFill>
                <a:cs typeface="Times New Roman" pitchFamily="18" charset="0"/>
              </a:rPr>
              <a:t>Currently endorsing POCT and self-testing</a:t>
            </a:r>
          </a:p>
          <a:p>
            <a:pPr>
              <a:lnSpc>
                <a:spcPct val="150000"/>
              </a:lnSpc>
            </a:pPr>
            <a:r>
              <a:rPr lang="en-GB" sz="2200" dirty="0">
                <a:solidFill>
                  <a:srgbClr val="000510"/>
                </a:solidFill>
                <a:cs typeface="Times New Roman" pitchFamily="18" charset="0"/>
              </a:rPr>
              <a:t>Goal of HIV testing: </a:t>
            </a:r>
          </a:p>
          <a:p>
            <a:pPr marL="1333500" eaLnBrk="0" fontAlgn="base" hangingPunct="0">
              <a:lnSpc>
                <a:spcPct val="100000"/>
              </a:lnSpc>
              <a:spcBef>
                <a:spcPct val="0"/>
              </a:spcBef>
              <a:spcAft>
                <a:spcPct val="0"/>
              </a:spcAft>
            </a:pPr>
            <a:r>
              <a:rPr lang="en-US" altLang="en-US" sz="2200" dirty="0">
                <a:solidFill>
                  <a:srgbClr val="000510"/>
                </a:solidFill>
                <a:cs typeface="Times New Roman" pitchFamily="18" charset="0"/>
              </a:rPr>
              <a:t>Identify infected individuals early</a:t>
            </a:r>
          </a:p>
          <a:p>
            <a:pPr marL="1333500" eaLnBrk="0" fontAlgn="base" hangingPunct="0">
              <a:lnSpc>
                <a:spcPct val="100000"/>
              </a:lnSpc>
              <a:spcBef>
                <a:spcPct val="0"/>
              </a:spcBef>
              <a:spcAft>
                <a:spcPct val="0"/>
              </a:spcAft>
            </a:pPr>
            <a:r>
              <a:rPr lang="en-US" altLang="en-US" sz="2200" dirty="0">
                <a:solidFill>
                  <a:srgbClr val="000510"/>
                </a:solidFill>
                <a:cs typeface="Times New Roman" pitchFamily="18" charset="0"/>
              </a:rPr>
              <a:t>Initiate antiretroviral therapy (ART) to U=U</a:t>
            </a:r>
          </a:p>
          <a:p>
            <a:pPr marL="1333500" eaLnBrk="0" fontAlgn="base" hangingPunct="0">
              <a:lnSpc>
                <a:spcPct val="100000"/>
              </a:lnSpc>
              <a:spcBef>
                <a:spcPct val="0"/>
              </a:spcBef>
              <a:spcAft>
                <a:spcPct val="0"/>
              </a:spcAft>
            </a:pPr>
            <a:r>
              <a:rPr lang="en-US" altLang="en-US" sz="2200" dirty="0">
                <a:solidFill>
                  <a:srgbClr val="000510"/>
                </a:solidFill>
                <a:cs typeface="Times New Roman" pitchFamily="18" charset="0"/>
              </a:rPr>
              <a:t>Prevent transmission </a:t>
            </a:r>
          </a:p>
          <a:p>
            <a:pPr marL="0" indent="0">
              <a:lnSpc>
                <a:spcPct val="150000"/>
              </a:lnSpc>
              <a:buNone/>
            </a:pPr>
            <a:endParaRPr lang="en-GB" sz="2400" dirty="0">
              <a:solidFill>
                <a:srgbClr val="000510"/>
              </a:solidFill>
              <a:cs typeface="Times New Roman" pitchFamily="18" charset="0"/>
            </a:endParaRPr>
          </a:p>
        </p:txBody>
      </p:sp>
    </p:spTree>
    <p:extLst>
      <p:ext uri="{BB962C8B-B14F-4D97-AF65-F5344CB8AC3E}">
        <p14:creationId xmlns:p14="http://schemas.microsoft.com/office/powerpoint/2010/main" val="35564352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BABFB-08DB-463C-92E5-AE76DEFC3B08}"/>
              </a:ext>
            </a:extLst>
          </p:cNvPr>
          <p:cNvSpPr>
            <a:spLocks noGrp="1"/>
          </p:cNvSpPr>
          <p:nvPr>
            <p:ph type="title"/>
          </p:nvPr>
        </p:nvSpPr>
        <p:spPr>
          <a:xfrm>
            <a:off x="1981200" y="274639"/>
            <a:ext cx="8229600" cy="696323"/>
          </a:xfrm>
        </p:spPr>
        <p:txBody>
          <a:bodyPr/>
          <a:lstStyle/>
          <a:p>
            <a:r>
              <a:rPr lang="en-GB" sz="3200" b="1" dirty="0">
                <a:solidFill>
                  <a:srgbClr val="000510"/>
                </a:solidFill>
              </a:rPr>
              <a:t>HIV diagnosis  strategies </a:t>
            </a:r>
            <a:endParaRPr lang="en-US" sz="3200" b="1" dirty="0">
              <a:solidFill>
                <a:srgbClr val="000510"/>
              </a:solidFill>
            </a:endParaRPr>
          </a:p>
        </p:txBody>
      </p:sp>
      <p:sp>
        <p:nvSpPr>
          <p:cNvPr id="3" name="Content Placeholder 2">
            <a:extLst>
              <a:ext uri="{FF2B5EF4-FFF2-40B4-BE49-F238E27FC236}">
                <a16:creationId xmlns:a16="http://schemas.microsoft.com/office/drawing/2014/main" id="{2FA3D13F-6091-4EC0-A9A4-EC09A33FB981}"/>
              </a:ext>
            </a:extLst>
          </p:cNvPr>
          <p:cNvSpPr>
            <a:spLocks noGrp="1"/>
          </p:cNvSpPr>
          <p:nvPr>
            <p:ph idx="1"/>
          </p:nvPr>
        </p:nvSpPr>
        <p:spPr>
          <a:xfrm>
            <a:off x="1981200" y="1400675"/>
            <a:ext cx="8229600" cy="4525963"/>
          </a:xfrm>
        </p:spPr>
        <p:txBody>
          <a:bodyPr/>
          <a:lstStyle/>
          <a:p>
            <a:r>
              <a:rPr lang="en-GB" sz="2200" dirty="0">
                <a:solidFill>
                  <a:srgbClr val="000510"/>
                </a:solidFill>
                <a:cs typeface="Times New Roman" pitchFamily="18" charset="0"/>
              </a:rPr>
              <a:t>Involve the detection of:  </a:t>
            </a:r>
          </a:p>
          <a:p>
            <a:pPr marL="1074738"/>
            <a:r>
              <a:rPr lang="en-GB" sz="2200" dirty="0">
                <a:solidFill>
                  <a:srgbClr val="000510"/>
                </a:solidFill>
                <a:cs typeface="Times New Roman" pitchFamily="18" charset="0"/>
              </a:rPr>
              <a:t>Viral components</a:t>
            </a:r>
          </a:p>
          <a:p>
            <a:pPr marL="1790700"/>
            <a:r>
              <a:rPr lang="en-GB" sz="2200" dirty="0">
                <a:solidFill>
                  <a:srgbClr val="000510"/>
                </a:solidFill>
                <a:cs typeface="Times New Roman" pitchFamily="18" charset="0"/>
              </a:rPr>
              <a:t>Viral proteins ( p24, gp41, </a:t>
            </a:r>
            <a:r>
              <a:rPr lang="en-GB" sz="2200" dirty="0" err="1">
                <a:solidFill>
                  <a:srgbClr val="000510"/>
                </a:solidFill>
                <a:cs typeface="Times New Roman" pitchFamily="18" charset="0"/>
              </a:rPr>
              <a:t>gp</a:t>
            </a:r>
            <a:r>
              <a:rPr lang="en-GB" sz="2200" dirty="0">
                <a:solidFill>
                  <a:srgbClr val="000510"/>
                </a:solidFill>
                <a:cs typeface="Times New Roman" pitchFamily="18" charset="0"/>
              </a:rPr>
              <a:t> 120)</a:t>
            </a:r>
          </a:p>
          <a:p>
            <a:pPr marL="1790700"/>
            <a:r>
              <a:rPr lang="en-GB" sz="2200" dirty="0">
                <a:solidFill>
                  <a:srgbClr val="000510"/>
                </a:solidFill>
                <a:cs typeface="Times New Roman" pitchFamily="18" charset="0"/>
              </a:rPr>
              <a:t>Viral nucleic acid ( RNA and </a:t>
            </a:r>
            <a:r>
              <a:rPr lang="en-GB" sz="2200" dirty="0" err="1">
                <a:solidFill>
                  <a:srgbClr val="000510"/>
                </a:solidFill>
                <a:cs typeface="Times New Roman" pitchFamily="18" charset="0"/>
              </a:rPr>
              <a:t>proviral</a:t>
            </a:r>
            <a:r>
              <a:rPr lang="en-GB" sz="2200" dirty="0">
                <a:solidFill>
                  <a:srgbClr val="000510"/>
                </a:solidFill>
                <a:cs typeface="Times New Roman" pitchFamily="18" charset="0"/>
              </a:rPr>
              <a:t> DNA)</a:t>
            </a:r>
          </a:p>
          <a:p>
            <a:pPr marL="1074738"/>
            <a:r>
              <a:rPr lang="en-GB" sz="2200" dirty="0">
                <a:solidFill>
                  <a:srgbClr val="000510"/>
                </a:solidFill>
                <a:cs typeface="Times New Roman" pitchFamily="18" charset="0"/>
              </a:rPr>
              <a:t>Host immune response products: Abs</a:t>
            </a:r>
          </a:p>
          <a:p>
            <a:pPr marL="731838" indent="0">
              <a:buNone/>
            </a:pPr>
            <a:endParaRPr lang="en-GB" sz="2200" dirty="0">
              <a:solidFill>
                <a:srgbClr val="000510"/>
              </a:solidFill>
              <a:cs typeface="Times New Roman" pitchFamily="18" charset="0"/>
            </a:endParaRPr>
          </a:p>
          <a:p>
            <a:pPr marL="0" indent="263525"/>
            <a:r>
              <a:rPr lang="en-GB" sz="2200" dirty="0">
                <a:solidFill>
                  <a:srgbClr val="000510"/>
                </a:solidFill>
                <a:cs typeface="Times New Roman" pitchFamily="18" charset="0"/>
              </a:rPr>
              <a:t>Depend on:</a:t>
            </a:r>
          </a:p>
          <a:p>
            <a:pPr marL="1790700"/>
            <a:r>
              <a:rPr lang="en-GB" sz="2200" dirty="0">
                <a:solidFill>
                  <a:srgbClr val="000510"/>
                </a:solidFill>
                <a:cs typeface="Times New Roman" pitchFamily="18" charset="0"/>
              </a:rPr>
              <a:t>Age of patient</a:t>
            </a:r>
          </a:p>
          <a:p>
            <a:pPr marL="1790700"/>
            <a:r>
              <a:rPr lang="en-GB" sz="2200" dirty="0">
                <a:solidFill>
                  <a:srgbClr val="000510"/>
                </a:solidFill>
                <a:cs typeface="Times New Roman" pitchFamily="18" charset="0"/>
              </a:rPr>
              <a:t>Stage of infection (early vs late)</a:t>
            </a:r>
          </a:p>
          <a:p>
            <a:pPr marL="1790700"/>
            <a:r>
              <a:rPr lang="en-GB" sz="2200" dirty="0">
                <a:solidFill>
                  <a:srgbClr val="000510"/>
                </a:solidFill>
                <a:cs typeface="Times New Roman" pitchFamily="18" charset="0"/>
              </a:rPr>
              <a:t>Available laboratory technology</a:t>
            </a:r>
          </a:p>
          <a:p>
            <a:pPr marL="1074738"/>
            <a:endParaRPr lang="en-GB" sz="2400" dirty="0">
              <a:solidFill>
                <a:srgbClr val="000510"/>
              </a:solidFill>
              <a:cs typeface="Times New Roman" pitchFamily="18" charset="0"/>
            </a:endParaRPr>
          </a:p>
          <a:p>
            <a:pPr marL="1074738"/>
            <a:endParaRPr lang="en-GB" sz="2400" dirty="0">
              <a:solidFill>
                <a:srgbClr val="000510"/>
              </a:solidFill>
              <a:cs typeface="Times New Roman" pitchFamily="18" charset="0"/>
            </a:endParaRPr>
          </a:p>
          <a:p>
            <a:pPr marL="1074738"/>
            <a:endParaRPr lang="en-GB" sz="2400" dirty="0">
              <a:solidFill>
                <a:srgbClr val="000510"/>
              </a:solidFill>
              <a:cs typeface="Times New Roman" pitchFamily="18" charset="0"/>
            </a:endParaRPr>
          </a:p>
          <a:p>
            <a:pPr marL="0" indent="0">
              <a:buNone/>
            </a:pPr>
            <a:endParaRPr lang="en-US" dirty="0"/>
          </a:p>
        </p:txBody>
      </p:sp>
    </p:spTree>
    <p:extLst>
      <p:ext uri="{BB962C8B-B14F-4D97-AF65-F5344CB8AC3E}">
        <p14:creationId xmlns:p14="http://schemas.microsoft.com/office/powerpoint/2010/main" val="3865669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ED57B59-FA02-4A04-8E8C-A4659B104488}"/>
              </a:ext>
            </a:extLst>
          </p:cNvPr>
          <p:cNvPicPr>
            <a:picLocks noChangeAspect="1"/>
          </p:cNvPicPr>
          <p:nvPr/>
        </p:nvPicPr>
        <p:blipFill rotWithShape="1">
          <a:blip r:embed="rId2"/>
          <a:srcRect t="10703" b="4711"/>
          <a:stretch/>
        </p:blipFill>
        <p:spPr>
          <a:xfrm>
            <a:off x="1800577" y="377392"/>
            <a:ext cx="8418135" cy="5257800"/>
          </a:xfrm>
          <a:prstGeom prst="rect">
            <a:avLst/>
          </a:prstGeom>
        </p:spPr>
      </p:pic>
    </p:spTree>
    <p:extLst>
      <p:ext uri="{BB962C8B-B14F-4D97-AF65-F5344CB8AC3E}">
        <p14:creationId xmlns:p14="http://schemas.microsoft.com/office/powerpoint/2010/main" val="35635670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EACED6C-6B9F-4F28-88FF-13A0B6E65F7E}"/>
              </a:ext>
            </a:extLst>
          </p:cNvPr>
          <p:cNvPicPr>
            <a:picLocks noChangeAspect="1"/>
          </p:cNvPicPr>
          <p:nvPr/>
        </p:nvPicPr>
        <p:blipFill rotWithShape="1">
          <a:blip r:embed="rId3"/>
          <a:srcRect b="3480"/>
          <a:stretch/>
        </p:blipFill>
        <p:spPr>
          <a:xfrm>
            <a:off x="1608841" y="2803"/>
            <a:ext cx="8908330" cy="4210048"/>
          </a:xfrm>
          <a:prstGeom prst="rect">
            <a:avLst/>
          </a:prstGeom>
        </p:spPr>
      </p:pic>
      <p:sp>
        <p:nvSpPr>
          <p:cNvPr id="9" name="TextBox 8">
            <a:extLst>
              <a:ext uri="{FF2B5EF4-FFF2-40B4-BE49-F238E27FC236}">
                <a16:creationId xmlns:a16="http://schemas.microsoft.com/office/drawing/2014/main" id="{E255BEEB-363F-495A-A816-1F499E09159F}"/>
              </a:ext>
            </a:extLst>
          </p:cNvPr>
          <p:cNvSpPr txBox="1"/>
          <p:nvPr/>
        </p:nvSpPr>
        <p:spPr>
          <a:xfrm>
            <a:off x="1797377" y="4647415"/>
            <a:ext cx="8163612" cy="1323439"/>
          </a:xfrm>
          <a:prstGeom prst="rect">
            <a:avLst/>
          </a:prstGeom>
          <a:noFill/>
        </p:spPr>
        <p:txBody>
          <a:bodyPr wrap="square" rtlCol="0">
            <a:spAutoFit/>
          </a:bodyPr>
          <a:lstStyle/>
          <a:p>
            <a:pPr marL="285750" indent="-285750">
              <a:buFont typeface="Arial" panose="020B0604020202020204" pitchFamily="34" charset="0"/>
              <a:buChar char="•"/>
            </a:pPr>
            <a:r>
              <a:rPr lang="en-GB" sz="2000" dirty="0">
                <a:solidFill>
                  <a:srgbClr val="000510"/>
                </a:solidFill>
              </a:rPr>
              <a:t>During the infection, the host may appear asymptomatic</a:t>
            </a:r>
          </a:p>
          <a:p>
            <a:endParaRPr lang="en-GB" sz="2000" dirty="0">
              <a:solidFill>
                <a:srgbClr val="000510"/>
              </a:solidFill>
            </a:endParaRPr>
          </a:p>
          <a:p>
            <a:pPr marL="285750" indent="-285750">
              <a:buFont typeface="Arial" panose="020B0604020202020204" pitchFamily="34" charset="0"/>
              <a:buChar char="•"/>
            </a:pPr>
            <a:r>
              <a:rPr lang="en-GB" sz="2000" dirty="0">
                <a:solidFill>
                  <a:srgbClr val="000510"/>
                </a:solidFill>
              </a:rPr>
              <a:t>Early diagnosis is the only mechanism to halt systemic damage and prevent secondary transmission</a:t>
            </a:r>
            <a:endParaRPr lang="en-US" sz="2000" dirty="0">
              <a:solidFill>
                <a:srgbClr val="000510"/>
              </a:solidFill>
            </a:endParaRPr>
          </a:p>
        </p:txBody>
      </p:sp>
      <p:sp>
        <p:nvSpPr>
          <p:cNvPr id="2" name="TextBox 1">
            <a:extLst>
              <a:ext uri="{FF2B5EF4-FFF2-40B4-BE49-F238E27FC236}">
                <a16:creationId xmlns:a16="http://schemas.microsoft.com/office/drawing/2014/main" id="{AA5C2D75-E780-496C-A403-2852A89FF87D}"/>
              </a:ext>
            </a:extLst>
          </p:cNvPr>
          <p:cNvSpPr txBox="1"/>
          <p:nvPr/>
        </p:nvSpPr>
        <p:spPr>
          <a:xfrm rot="10800000" flipV="1">
            <a:off x="5879184" y="190261"/>
            <a:ext cx="3768291" cy="461665"/>
          </a:xfrm>
          <a:prstGeom prst="rect">
            <a:avLst/>
          </a:prstGeom>
          <a:noFill/>
        </p:spPr>
        <p:txBody>
          <a:bodyPr wrap="square" rtlCol="0">
            <a:spAutoFit/>
          </a:bodyPr>
          <a:lstStyle/>
          <a:p>
            <a:r>
              <a:rPr lang="en-GB" sz="2400" b="1" dirty="0">
                <a:solidFill>
                  <a:srgbClr val="000510"/>
                </a:solidFill>
              </a:rPr>
              <a:t>and window period </a:t>
            </a:r>
            <a:endParaRPr lang="en-US" sz="2400" b="1" dirty="0">
              <a:solidFill>
                <a:srgbClr val="000510"/>
              </a:solidFill>
            </a:endParaRPr>
          </a:p>
        </p:txBody>
      </p:sp>
    </p:spTree>
    <p:extLst>
      <p:ext uri="{BB962C8B-B14F-4D97-AF65-F5344CB8AC3E}">
        <p14:creationId xmlns:p14="http://schemas.microsoft.com/office/powerpoint/2010/main" val="9697946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5ECADDC5-F498-418C-A8EE-C6BAB647E0C0}"/>
              </a:ext>
            </a:extLst>
          </p:cNvPr>
          <p:cNvGraphicFramePr>
            <a:graphicFrameLocks noGrp="1"/>
          </p:cNvGraphicFramePr>
          <p:nvPr/>
        </p:nvGraphicFramePr>
        <p:xfrm>
          <a:off x="1655975" y="1032116"/>
          <a:ext cx="8832918" cy="3635049"/>
        </p:xfrm>
        <a:graphic>
          <a:graphicData uri="http://schemas.openxmlformats.org/drawingml/2006/table">
            <a:tbl>
              <a:tblPr/>
              <a:tblGrid>
                <a:gridCol w="1472153">
                  <a:extLst>
                    <a:ext uri="{9D8B030D-6E8A-4147-A177-3AD203B41FA5}">
                      <a16:colId xmlns:a16="http://schemas.microsoft.com/office/drawing/2014/main" val="2748791732"/>
                    </a:ext>
                  </a:extLst>
                </a:gridCol>
                <a:gridCol w="1629266">
                  <a:extLst>
                    <a:ext uri="{9D8B030D-6E8A-4147-A177-3AD203B41FA5}">
                      <a16:colId xmlns:a16="http://schemas.microsoft.com/office/drawing/2014/main" val="2154010147"/>
                    </a:ext>
                  </a:extLst>
                </a:gridCol>
                <a:gridCol w="1315040">
                  <a:extLst>
                    <a:ext uri="{9D8B030D-6E8A-4147-A177-3AD203B41FA5}">
                      <a16:colId xmlns:a16="http://schemas.microsoft.com/office/drawing/2014/main" val="3526596474"/>
                    </a:ext>
                  </a:extLst>
                </a:gridCol>
                <a:gridCol w="1220770">
                  <a:extLst>
                    <a:ext uri="{9D8B030D-6E8A-4147-A177-3AD203B41FA5}">
                      <a16:colId xmlns:a16="http://schemas.microsoft.com/office/drawing/2014/main" val="3251626435"/>
                    </a:ext>
                  </a:extLst>
                </a:gridCol>
                <a:gridCol w="1329180">
                  <a:extLst>
                    <a:ext uri="{9D8B030D-6E8A-4147-A177-3AD203B41FA5}">
                      <a16:colId xmlns:a16="http://schemas.microsoft.com/office/drawing/2014/main" val="316070781"/>
                    </a:ext>
                  </a:extLst>
                </a:gridCol>
                <a:gridCol w="1866509">
                  <a:extLst>
                    <a:ext uri="{9D8B030D-6E8A-4147-A177-3AD203B41FA5}">
                      <a16:colId xmlns:a16="http://schemas.microsoft.com/office/drawing/2014/main" val="3739768413"/>
                    </a:ext>
                  </a:extLst>
                </a:gridCol>
              </a:tblGrid>
              <a:tr h="273219">
                <a:tc>
                  <a:txBody>
                    <a:bodyPr/>
                    <a:lstStyle/>
                    <a:p>
                      <a:r>
                        <a:rPr lang="en-GB" sz="1400" b="1" dirty="0">
                          <a:solidFill>
                            <a:srgbClr val="000510"/>
                          </a:solidFill>
                        </a:rPr>
                        <a:t>T</a:t>
                      </a:r>
                      <a:r>
                        <a:rPr lang="en-US" sz="1400" b="1" dirty="0">
                          <a:solidFill>
                            <a:srgbClr val="000510"/>
                          </a:solidFill>
                        </a:rPr>
                        <a:t>est type </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GB" sz="1400" b="1" dirty="0">
                          <a:solidFill>
                            <a:srgbClr val="000510"/>
                          </a:solidFill>
                        </a:rPr>
                        <a:t>How it works </a:t>
                      </a:r>
                      <a:endParaRPr lang="en-US" sz="1400" b="1" dirty="0">
                        <a:solidFill>
                          <a:srgbClr val="000510"/>
                        </a:solidFill>
                      </a:endParaRP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400" b="1" dirty="0">
                          <a:solidFill>
                            <a:srgbClr val="000510"/>
                          </a:solidFill>
                        </a:rPr>
                        <a:t>Sensitivity</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400" b="1" dirty="0">
                          <a:solidFill>
                            <a:srgbClr val="000510"/>
                          </a:solidFill>
                        </a:rPr>
                        <a:t>Specificity</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400" b="1" dirty="0">
                          <a:solidFill>
                            <a:srgbClr val="000510"/>
                          </a:solidFill>
                        </a:rPr>
                        <a:t>Window Period</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400" b="1" dirty="0">
                          <a:solidFill>
                            <a:srgbClr val="000510"/>
                          </a:solidFill>
                        </a:rPr>
                        <a:t>Clinical Application</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937694694"/>
                  </a:ext>
                </a:extLst>
              </a:tr>
              <a:tr h="683049">
                <a:tc>
                  <a:txBody>
                    <a:bodyPr/>
                    <a:lstStyle/>
                    <a:p>
                      <a:r>
                        <a:rPr lang="en-US" sz="1400" b="1" dirty="0">
                          <a:solidFill>
                            <a:srgbClr val="000510"/>
                          </a:solidFill>
                        </a:rPr>
                        <a:t>p24 Antigen Test</a:t>
                      </a:r>
                      <a:endParaRPr lang="en-US" sz="1400" dirty="0">
                        <a:solidFill>
                          <a:srgbClr val="000510"/>
                        </a:solidFill>
                      </a:endParaRP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solidFill>
                            <a:srgbClr val="000510"/>
                          </a:solidFill>
                        </a:rPr>
                        <a:t>Detects </a:t>
                      </a:r>
                      <a:r>
                        <a:rPr lang="en-GB" sz="1400" b="1" dirty="0">
                          <a:solidFill>
                            <a:srgbClr val="000510"/>
                          </a:solidFill>
                        </a:rPr>
                        <a:t>p24 capsid protein of HIV virus</a:t>
                      </a:r>
                      <a:r>
                        <a:rPr lang="en-GB" sz="1400" dirty="0">
                          <a:solidFill>
                            <a:srgbClr val="000510"/>
                          </a:solidFill>
                        </a:rPr>
                        <a:t> before antibodies appear</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rgbClr val="000510"/>
                          </a:solidFill>
                        </a:rPr>
                        <a:t>Moderate–high</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rgbClr val="000510"/>
                          </a:solidFill>
                        </a:rPr>
                        <a:t>High</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rgbClr val="000510"/>
                          </a:solidFill>
                        </a:rPr>
                        <a:t>~2 weeks</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solidFill>
                            <a:srgbClr val="000510"/>
                          </a:solidFill>
                        </a:rPr>
                        <a:t>Early infection detection, mainly used as part of 4th generation tests</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0433352"/>
                  </a:ext>
                </a:extLst>
              </a:tr>
              <a:tr h="683049">
                <a:tc>
                  <a:txBody>
                    <a:bodyPr/>
                    <a:lstStyle/>
                    <a:p>
                      <a:r>
                        <a:rPr lang="en-GB" sz="1400" b="1" dirty="0">
                          <a:solidFill>
                            <a:srgbClr val="000510"/>
                          </a:solidFill>
                        </a:rPr>
                        <a:t>HIV RNA PCR (Viral Load Test)</a:t>
                      </a:r>
                      <a:endParaRPr lang="en-GB" sz="1400" dirty="0">
                        <a:solidFill>
                          <a:srgbClr val="000510"/>
                        </a:solidFill>
                      </a:endParaRP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solidFill>
                            <a:srgbClr val="000510"/>
                          </a:solidFill>
                        </a:rPr>
                        <a:t>Detects </a:t>
                      </a:r>
                      <a:r>
                        <a:rPr lang="en-GB" sz="1400" b="1" dirty="0">
                          <a:solidFill>
                            <a:srgbClr val="000510"/>
                          </a:solidFill>
                        </a:rPr>
                        <a:t>viral RNA through nucleic acid amplification (RT-PCR)</a:t>
                      </a:r>
                      <a:endParaRPr lang="en-GB" sz="1400" dirty="0">
                        <a:solidFill>
                          <a:srgbClr val="000510"/>
                        </a:solidFill>
                      </a:endParaRP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rgbClr val="000510"/>
                          </a:solidFill>
                        </a:rPr>
                        <a:t>Extremely high</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rgbClr val="000510"/>
                          </a:solidFill>
                        </a:rPr>
                        <a:t>Extremely high</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rgbClr val="000510"/>
                          </a:solidFill>
                        </a:rPr>
                        <a:t>~10–14 days</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solidFill>
                            <a:srgbClr val="000510"/>
                          </a:solidFill>
                        </a:rPr>
                        <a:t>Early infection detection, treatment monitoring, ART response</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5001331"/>
                  </a:ext>
                </a:extLst>
              </a:tr>
              <a:tr h="683049">
                <a:tc>
                  <a:txBody>
                    <a:bodyPr/>
                    <a:lstStyle/>
                    <a:p>
                      <a:r>
                        <a:rPr lang="en-US" sz="1400" b="1" dirty="0">
                          <a:solidFill>
                            <a:srgbClr val="000510"/>
                          </a:solidFill>
                        </a:rPr>
                        <a:t>HIV DNA PCR</a:t>
                      </a:r>
                      <a:endParaRPr lang="en-US" sz="1400" dirty="0">
                        <a:solidFill>
                          <a:srgbClr val="00051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b="0" kern="1200" dirty="0">
                          <a:solidFill>
                            <a:srgbClr val="000510"/>
                          </a:solidFill>
                          <a:latin typeface="+mn-lt"/>
                          <a:ea typeface="+mn-ea"/>
                          <a:cs typeface="+mn-cs"/>
                        </a:rPr>
                        <a:t>Detects </a:t>
                      </a:r>
                      <a:r>
                        <a:rPr lang="en-GB" sz="1400" b="1" kern="1200" dirty="0" err="1">
                          <a:solidFill>
                            <a:srgbClr val="000510"/>
                          </a:solidFill>
                          <a:latin typeface="+mn-lt"/>
                          <a:ea typeface="+mn-ea"/>
                          <a:cs typeface="+mn-cs"/>
                        </a:rPr>
                        <a:t>proviral</a:t>
                      </a:r>
                      <a:r>
                        <a:rPr lang="en-GB" sz="1400" b="1" kern="1200" dirty="0">
                          <a:solidFill>
                            <a:srgbClr val="000510"/>
                          </a:solidFill>
                          <a:latin typeface="+mn-lt"/>
                          <a:ea typeface="+mn-ea"/>
                          <a:cs typeface="+mn-cs"/>
                        </a:rPr>
                        <a:t> HIV DNA </a:t>
                      </a:r>
                      <a:r>
                        <a:rPr lang="en-GB" sz="1400" b="0" kern="1200" dirty="0">
                          <a:solidFill>
                            <a:srgbClr val="000510"/>
                          </a:solidFill>
                          <a:latin typeface="+mn-lt"/>
                          <a:ea typeface="+mn-ea"/>
                          <a:cs typeface="+mn-cs"/>
                        </a:rPr>
                        <a:t>integrated in host CD4 cells using PCR</a:t>
                      </a:r>
                      <a:endParaRPr lang="en-US" sz="1400" b="0" kern="1200" dirty="0">
                        <a:solidFill>
                          <a:srgbClr val="00051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solidFill>
                            <a:srgbClr val="000510"/>
                          </a:solidFill>
                        </a:rPr>
                        <a:t>Very high</a:t>
                      </a:r>
                      <a:endParaRPr lang="en-US" sz="1400" dirty="0">
                        <a:solidFill>
                          <a:srgbClr val="00051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solidFill>
                            <a:srgbClr val="000510"/>
                          </a:solidFill>
                        </a:rPr>
                        <a:t>Very high</a:t>
                      </a:r>
                      <a:endParaRPr lang="en-US" sz="1400" dirty="0">
                        <a:solidFill>
                          <a:srgbClr val="00051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000510"/>
                          </a:solidFill>
                        </a:rPr>
                        <a:t>~2 weeks</a:t>
                      </a:r>
                    </a:p>
                    <a:p>
                      <a:endParaRPr lang="en-US" sz="1400" dirty="0">
                        <a:solidFill>
                          <a:srgbClr val="00051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solidFill>
                            <a:srgbClr val="000510"/>
                          </a:solidFill>
                        </a:rPr>
                        <a:t>Diagnosis of HIV in infants &lt;18 months</a:t>
                      </a:r>
                      <a:endParaRPr lang="en-US" sz="1400" dirty="0">
                        <a:solidFill>
                          <a:srgbClr val="00051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577051"/>
                  </a:ext>
                </a:extLst>
              </a:tr>
              <a:tr h="601083">
                <a:tc>
                  <a:txBody>
                    <a:bodyPr/>
                    <a:lstStyle/>
                    <a:p>
                      <a:pPr marL="0" algn="l" defTabSz="457200" rtl="0" eaLnBrk="1" latinLnBrk="0" hangingPunct="1"/>
                      <a:r>
                        <a:rPr lang="de-DE" sz="1400" b="1" kern="1200" dirty="0">
                          <a:solidFill>
                            <a:srgbClr val="000510"/>
                          </a:solidFill>
                          <a:latin typeface="+mn-lt"/>
                          <a:ea typeface="+mn-ea"/>
                          <a:cs typeface="+mn-cs"/>
                        </a:rPr>
                        <a:t>4th Generation Ag/Ab ELISA</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457200" rtl="0" eaLnBrk="1" latinLnBrk="0" hangingPunct="1"/>
                      <a:r>
                        <a:rPr lang="en-GB" sz="1400" b="0" kern="1200" dirty="0">
                          <a:solidFill>
                            <a:srgbClr val="000510"/>
                          </a:solidFill>
                          <a:latin typeface="+mn-lt"/>
                          <a:ea typeface="+mn-ea"/>
                          <a:cs typeface="+mn-cs"/>
                        </a:rPr>
                        <a:t>Detects </a:t>
                      </a:r>
                      <a:r>
                        <a:rPr lang="en-GB" sz="1400" b="1" kern="1200" dirty="0">
                          <a:solidFill>
                            <a:srgbClr val="000510"/>
                          </a:solidFill>
                          <a:latin typeface="+mn-lt"/>
                          <a:ea typeface="+mn-ea"/>
                          <a:cs typeface="+mn-cs"/>
                        </a:rPr>
                        <a:t>p24</a:t>
                      </a:r>
                      <a:r>
                        <a:rPr lang="en-GB" sz="1400" b="0" kern="1200" dirty="0">
                          <a:solidFill>
                            <a:srgbClr val="000510"/>
                          </a:solidFill>
                          <a:latin typeface="+mn-lt"/>
                          <a:ea typeface="+mn-ea"/>
                          <a:cs typeface="+mn-cs"/>
                        </a:rPr>
                        <a:t> antigen + HIV a</a:t>
                      </a:r>
                      <a:r>
                        <a:rPr lang="en-GB" sz="1400" b="1" kern="1200" dirty="0">
                          <a:solidFill>
                            <a:srgbClr val="000510"/>
                          </a:solidFill>
                          <a:latin typeface="+mn-lt"/>
                          <a:ea typeface="+mn-ea"/>
                          <a:cs typeface="+mn-cs"/>
                        </a:rPr>
                        <a:t>ntibodie</a:t>
                      </a:r>
                      <a:r>
                        <a:rPr lang="en-GB" sz="1400" b="0" kern="1200" dirty="0">
                          <a:solidFill>
                            <a:srgbClr val="000510"/>
                          </a:solidFill>
                          <a:latin typeface="+mn-lt"/>
                          <a:ea typeface="+mn-ea"/>
                          <a:cs typeface="+mn-cs"/>
                        </a:rPr>
                        <a:t>s simultaneously</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457200" rtl="0" eaLnBrk="1" latinLnBrk="0" hangingPunct="1"/>
                      <a:r>
                        <a:rPr lang="en-US" sz="1400" b="0" kern="1200" dirty="0">
                          <a:solidFill>
                            <a:srgbClr val="000510"/>
                          </a:solidFill>
                          <a:latin typeface="+mn-lt"/>
                          <a:ea typeface="+mn-ea"/>
                          <a:cs typeface="+mn-cs"/>
                        </a:rPr>
                        <a:t>Very high (&gt;99%)</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457200" rtl="0" eaLnBrk="1" latinLnBrk="0" hangingPunct="1"/>
                      <a:r>
                        <a:rPr lang="en-US" sz="1400" b="0" kern="1200" dirty="0">
                          <a:solidFill>
                            <a:srgbClr val="000510"/>
                          </a:solidFill>
                          <a:latin typeface="+mn-lt"/>
                          <a:ea typeface="+mn-ea"/>
                          <a:cs typeface="+mn-cs"/>
                        </a:rPr>
                        <a:t>Very high (&gt;99%)</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457200" rtl="0" eaLnBrk="1" latinLnBrk="0" hangingPunct="1"/>
                      <a:r>
                        <a:rPr lang="en-US" sz="1400" b="0" kern="1200" dirty="0">
                          <a:solidFill>
                            <a:srgbClr val="000510"/>
                          </a:solidFill>
                          <a:latin typeface="+mn-lt"/>
                          <a:ea typeface="+mn-ea"/>
                          <a:cs typeface="+mn-cs"/>
                        </a:rPr>
                        <a:t>~18 days</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457200" rtl="0" eaLnBrk="1" latinLnBrk="0" hangingPunct="1"/>
                      <a:r>
                        <a:rPr lang="en-GB" sz="1400" b="0" kern="1200" dirty="0">
                          <a:solidFill>
                            <a:srgbClr val="000510"/>
                          </a:solidFill>
                          <a:latin typeface="+mn-lt"/>
                          <a:ea typeface="+mn-ea"/>
                          <a:cs typeface="+mn-cs"/>
                        </a:rPr>
                        <a:t>Early diagnosis of acute HIV infection, hospital laboratory screening</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3115750"/>
                  </a:ext>
                </a:extLst>
              </a:tr>
            </a:tbl>
          </a:graphicData>
        </a:graphic>
      </p:graphicFrame>
      <p:sp>
        <p:nvSpPr>
          <p:cNvPr id="2" name="TextBox 1">
            <a:extLst>
              <a:ext uri="{FF2B5EF4-FFF2-40B4-BE49-F238E27FC236}">
                <a16:creationId xmlns:a16="http://schemas.microsoft.com/office/drawing/2014/main" id="{B7A155A3-FFD0-47E1-AEA1-0D1FED36418A}"/>
              </a:ext>
            </a:extLst>
          </p:cNvPr>
          <p:cNvSpPr txBox="1"/>
          <p:nvPr/>
        </p:nvSpPr>
        <p:spPr>
          <a:xfrm rot="10800000" flipV="1">
            <a:off x="1524000" y="136525"/>
            <a:ext cx="8710367" cy="523220"/>
          </a:xfrm>
          <a:prstGeom prst="rect">
            <a:avLst/>
          </a:prstGeom>
          <a:noFill/>
        </p:spPr>
        <p:txBody>
          <a:bodyPr wrap="square" rtlCol="0">
            <a:spAutoFit/>
          </a:bodyPr>
          <a:lstStyle/>
          <a:p>
            <a:r>
              <a:rPr lang="en-GB" sz="2800" b="1" dirty="0">
                <a:solidFill>
                  <a:srgbClr val="000510"/>
                </a:solidFill>
              </a:rPr>
              <a:t>Diagnosis during the acute infection  phase </a:t>
            </a:r>
            <a:endParaRPr lang="en-US" sz="2800" b="1" dirty="0">
              <a:solidFill>
                <a:srgbClr val="000510"/>
              </a:solidFill>
            </a:endParaRPr>
          </a:p>
        </p:txBody>
      </p:sp>
    </p:spTree>
    <p:extLst>
      <p:ext uri="{BB962C8B-B14F-4D97-AF65-F5344CB8AC3E}">
        <p14:creationId xmlns:p14="http://schemas.microsoft.com/office/powerpoint/2010/main" val="10264955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5ECADDC5-F498-418C-A8EE-C6BAB647E0C0}"/>
              </a:ext>
            </a:extLst>
          </p:cNvPr>
          <p:cNvGraphicFramePr>
            <a:graphicFrameLocks noGrp="1"/>
          </p:cNvGraphicFramePr>
          <p:nvPr/>
        </p:nvGraphicFramePr>
        <p:xfrm>
          <a:off x="1655975" y="1277348"/>
          <a:ext cx="8832918" cy="3361830"/>
        </p:xfrm>
        <a:graphic>
          <a:graphicData uri="http://schemas.openxmlformats.org/drawingml/2006/table">
            <a:tbl>
              <a:tblPr/>
              <a:tblGrid>
                <a:gridCol w="1472153">
                  <a:extLst>
                    <a:ext uri="{9D8B030D-6E8A-4147-A177-3AD203B41FA5}">
                      <a16:colId xmlns:a16="http://schemas.microsoft.com/office/drawing/2014/main" val="2748791732"/>
                    </a:ext>
                  </a:extLst>
                </a:gridCol>
                <a:gridCol w="1472153">
                  <a:extLst>
                    <a:ext uri="{9D8B030D-6E8A-4147-A177-3AD203B41FA5}">
                      <a16:colId xmlns:a16="http://schemas.microsoft.com/office/drawing/2014/main" val="2154010147"/>
                    </a:ext>
                  </a:extLst>
                </a:gridCol>
                <a:gridCol w="1472153">
                  <a:extLst>
                    <a:ext uri="{9D8B030D-6E8A-4147-A177-3AD203B41FA5}">
                      <a16:colId xmlns:a16="http://schemas.microsoft.com/office/drawing/2014/main" val="3526596474"/>
                    </a:ext>
                  </a:extLst>
                </a:gridCol>
                <a:gridCol w="1472153">
                  <a:extLst>
                    <a:ext uri="{9D8B030D-6E8A-4147-A177-3AD203B41FA5}">
                      <a16:colId xmlns:a16="http://schemas.microsoft.com/office/drawing/2014/main" val="3251626435"/>
                    </a:ext>
                  </a:extLst>
                </a:gridCol>
                <a:gridCol w="1472153">
                  <a:extLst>
                    <a:ext uri="{9D8B030D-6E8A-4147-A177-3AD203B41FA5}">
                      <a16:colId xmlns:a16="http://schemas.microsoft.com/office/drawing/2014/main" val="316070781"/>
                    </a:ext>
                  </a:extLst>
                </a:gridCol>
                <a:gridCol w="1472153">
                  <a:extLst>
                    <a:ext uri="{9D8B030D-6E8A-4147-A177-3AD203B41FA5}">
                      <a16:colId xmlns:a16="http://schemas.microsoft.com/office/drawing/2014/main" val="3739768413"/>
                    </a:ext>
                  </a:extLst>
                </a:gridCol>
              </a:tblGrid>
              <a:tr h="273219">
                <a:tc>
                  <a:txBody>
                    <a:bodyPr/>
                    <a:lstStyle/>
                    <a:p>
                      <a:r>
                        <a:rPr lang="en-GB" sz="1600" b="1" dirty="0">
                          <a:solidFill>
                            <a:srgbClr val="000510"/>
                          </a:solidFill>
                        </a:rPr>
                        <a:t>T</a:t>
                      </a:r>
                      <a:r>
                        <a:rPr lang="en-US" sz="1600" b="1" dirty="0">
                          <a:solidFill>
                            <a:srgbClr val="000510"/>
                          </a:solidFill>
                        </a:rPr>
                        <a:t>est type </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GB" sz="1600" b="1" dirty="0">
                          <a:solidFill>
                            <a:srgbClr val="000510"/>
                          </a:solidFill>
                        </a:rPr>
                        <a:t>M</a:t>
                      </a:r>
                      <a:r>
                        <a:rPr lang="en-US" sz="1600" b="1" dirty="0">
                          <a:solidFill>
                            <a:srgbClr val="000510"/>
                          </a:solidFill>
                        </a:rPr>
                        <a:t>mechanism</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600" b="1" dirty="0">
                          <a:solidFill>
                            <a:srgbClr val="000510"/>
                          </a:solidFill>
                        </a:rPr>
                        <a:t>Sensitivity</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endParaRPr lang="en-US" sz="1600" b="1" dirty="0">
                        <a:solidFill>
                          <a:srgbClr val="000510"/>
                        </a:solidFill>
                      </a:endParaRPr>
                    </a:p>
                    <a:p>
                      <a:r>
                        <a:rPr lang="en-US" sz="1600" b="1" dirty="0">
                          <a:solidFill>
                            <a:srgbClr val="000510"/>
                          </a:solidFill>
                        </a:rPr>
                        <a:t>Specificity</a:t>
                      </a:r>
                    </a:p>
                    <a:p>
                      <a:endParaRPr lang="en-US" sz="1600" b="1" dirty="0">
                        <a:solidFill>
                          <a:srgbClr val="000510"/>
                        </a:solidFill>
                      </a:endParaRP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600" b="1" dirty="0">
                          <a:solidFill>
                            <a:srgbClr val="000510"/>
                          </a:solidFill>
                        </a:rPr>
                        <a:t>Window Period</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600" b="1" dirty="0">
                          <a:solidFill>
                            <a:srgbClr val="000510"/>
                          </a:solidFill>
                        </a:rPr>
                        <a:t>Clinical Application</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937694694"/>
                  </a:ext>
                </a:extLst>
              </a:tr>
              <a:tr h="765015">
                <a:tc>
                  <a:txBody>
                    <a:bodyPr/>
                    <a:lstStyle/>
                    <a:p>
                      <a:r>
                        <a:rPr lang="en-US" sz="1400" b="1">
                          <a:solidFill>
                            <a:srgbClr val="000510"/>
                          </a:solidFill>
                        </a:rPr>
                        <a:t>Rapid Antibody Tests</a:t>
                      </a:r>
                      <a:endParaRPr lang="en-US" sz="1400">
                        <a:solidFill>
                          <a:srgbClr val="000510"/>
                        </a:solidFill>
                      </a:endParaRP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solidFill>
                            <a:srgbClr val="000510"/>
                          </a:solidFill>
                        </a:rPr>
                        <a:t>Detect </a:t>
                      </a:r>
                      <a:r>
                        <a:rPr lang="en-GB" sz="1400" b="1" dirty="0">
                          <a:solidFill>
                            <a:srgbClr val="000510"/>
                          </a:solidFill>
                        </a:rPr>
                        <a:t>IgG antibodies against HIV-1/2</a:t>
                      </a:r>
                      <a:r>
                        <a:rPr lang="en-GB" sz="1400" dirty="0">
                          <a:solidFill>
                            <a:srgbClr val="000510"/>
                          </a:solidFill>
                        </a:rPr>
                        <a:t> using immunochromatographic lateral flow assays</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solidFill>
                            <a:srgbClr val="000510"/>
                          </a:solidFill>
                        </a:rPr>
                        <a:t>Very high (&gt;99% after window period)</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rgbClr val="000510"/>
                          </a:solidFill>
                        </a:rPr>
                        <a:t>Very high (&gt;99%)</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solidFill>
                            <a:srgbClr val="000510"/>
                          </a:solidFill>
                        </a:rPr>
                        <a:t>~3–12 weeks</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solidFill>
                            <a:srgbClr val="000510"/>
                          </a:solidFill>
                        </a:rPr>
                        <a:t>Routine HIV screening, community testing, VCT clinics, antenatal clinics</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1632210"/>
                  </a:ext>
                </a:extLst>
              </a:tr>
              <a:tr h="846980">
                <a:tc>
                  <a:txBody>
                    <a:bodyPr/>
                    <a:lstStyle/>
                    <a:p>
                      <a:r>
                        <a:rPr lang="en-US" sz="1400" b="1" dirty="0">
                          <a:solidFill>
                            <a:srgbClr val="000510"/>
                          </a:solidFill>
                        </a:rPr>
                        <a:t>3rd Generation ELISA</a:t>
                      </a:r>
                      <a:endParaRPr lang="en-US" sz="1400" dirty="0">
                        <a:solidFill>
                          <a:srgbClr val="000510"/>
                        </a:solidFill>
                      </a:endParaRP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solidFill>
                            <a:srgbClr val="000510"/>
                          </a:solidFill>
                        </a:rPr>
                        <a:t>Detects </a:t>
                      </a:r>
                      <a:r>
                        <a:rPr lang="en-GB" sz="1400" b="1" dirty="0">
                          <a:solidFill>
                            <a:srgbClr val="000510"/>
                          </a:solidFill>
                        </a:rPr>
                        <a:t>IgG and IgM antibodies</a:t>
                      </a:r>
                      <a:r>
                        <a:rPr lang="en-GB" sz="1400" dirty="0">
                          <a:solidFill>
                            <a:srgbClr val="000510"/>
                          </a:solidFill>
                        </a:rPr>
                        <a:t> against HIV using enzyme-linked immunosorbent assay</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solidFill>
                            <a:srgbClr val="000510"/>
                          </a:solidFill>
                        </a:rPr>
                        <a:t>Higher sensitivity than rapid tests</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rgbClr val="000510"/>
                          </a:solidFill>
                        </a:rPr>
                        <a:t>Very high</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rgbClr val="000510"/>
                          </a:solidFill>
                        </a:rPr>
                        <a:t>~3–4 weeks</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solidFill>
                            <a:srgbClr val="000510"/>
                          </a:solidFill>
                        </a:rPr>
                        <a:t>Laboratory confirmation and blood donor screening</a:t>
                      </a:r>
                    </a:p>
                  </a:txBody>
                  <a:tcPr marL="23330" marR="23330" marT="11665" marB="116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9213641"/>
                  </a:ext>
                </a:extLst>
              </a:tr>
            </a:tbl>
          </a:graphicData>
        </a:graphic>
      </p:graphicFrame>
      <p:sp>
        <p:nvSpPr>
          <p:cNvPr id="5" name="TextBox 4">
            <a:extLst>
              <a:ext uri="{FF2B5EF4-FFF2-40B4-BE49-F238E27FC236}">
                <a16:creationId xmlns:a16="http://schemas.microsoft.com/office/drawing/2014/main" id="{54A0EC7C-36D3-4C52-9E77-EC64E3355206}"/>
              </a:ext>
            </a:extLst>
          </p:cNvPr>
          <p:cNvSpPr txBox="1"/>
          <p:nvPr/>
        </p:nvSpPr>
        <p:spPr>
          <a:xfrm rot="10800000" flipV="1">
            <a:off x="1524000" y="205255"/>
            <a:ext cx="8710367" cy="523220"/>
          </a:xfrm>
          <a:prstGeom prst="rect">
            <a:avLst/>
          </a:prstGeom>
          <a:noFill/>
        </p:spPr>
        <p:txBody>
          <a:bodyPr wrap="square" rtlCol="0">
            <a:spAutoFit/>
          </a:bodyPr>
          <a:lstStyle/>
          <a:p>
            <a:r>
              <a:rPr lang="en-GB" sz="2800" b="1" dirty="0">
                <a:solidFill>
                  <a:srgbClr val="000510"/>
                </a:solidFill>
              </a:rPr>
              <a:t>Diagnosis during the established infection  phase   </a:t>
            </a:r>
            <a:endParaRPr lang="en-US" sz="2800" b="1" dirty="0">
              <a:solidFill>
                <a:srgbClr val="000510"/>
              </a:solidFill>
            </a:endParaRPr>
          </a:p>
        </p:txBody>
      </p:sp>
    </p:spTree>
    <p:extLst>
      <p:ext uri="{BB962C8B-B14F-4D97-AF65-F5344CB8AC3E}">
        <p14:creationId xmlns:p14="http://schemas.microsoft.com/office/powerpoint/2010/main" val="33164029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000510"/>
                </a:solidFill>
              </a:rPr>
              <a:t>LABORATORY DIAGNOSIS</a:t>
            </a:r>
            <a:endParaRPr lang="en-US" sz="3600" dirty="0"/>
          </a:p>
        </p:txBody>
      </p:sp>
      <p:pic>
        <p:nvPicPr>
          <p:cNvPr id="6" name="Content Placeholder 5"/>
          <p:cNvPicPr>
            <a:picLocks noGrp="1" noChangeAspect="1"/>
          </p:cNvPicPr>
          <p:nvPr>
            <p:ph idx="1"/>
          </p:nvPr>
        </p:nvPicPr>
        <p:blipFill>
          <a:blip r:embed="rId2"/>
          <a:stretch>
            <a:fillRect/>
          </a:stretch>
        </p:blipFill>
        <p:spPr>
          <a:xfrm>
            <a:off x="1815134" y="1158240"/>
            <a:ext cx="8852866" cy="4409440"/>
          </a:xfrm>
        </p:spPr>
      </p:pic>
    </p:spTree>
    <p:extLst>
      <p:ext uri="{BB962C8B-B14F-4D97-AF65-F5344CB8AC3E}">
        <p14:creationId xmlns:p14="http://schemas.microsoft.com/office/powerpoint/2010/main" val="5608101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47C08C9-A2D1-4B5E-B06D-9B7673153605}"/>
              </a:ext>
            </a:extLst>
          </p:cNvPr>
          <p:cNvSpPr>
            <a:spLocks noGrp="1"/>
          </p:cNvSpPr>
          <p:nvPr>
            <p:ph type="title"/>
          </p:nvPr>
        </p:nvSpPr>
        <p:spPr>
          <a:xfrm>
            <a:off x="1981200" y="136526"/>
            <a:ext cx="8229600" cy="680583"/>
          </a:xfrm>
        </p:spPr>
        <p:txBody>
          <a:bodyPr/>
          <a:lstStyle/>
          <a:p>
            <a:r>
              <a:rPr lang="en-GB" sz="2000" b="1" dirty="0">
                <a:solidFill>
                  <a:srgbClr val="000510"/>
                </a:solidFill>
                <a:latin typeface="Arial" panose="020B0604020202020204" pitchFamily="34" charset="0"/>
                <a:cs typeface="+mn-cs"/>
              </a:rPr>
              <a:t>National HIV testing algorithm for the general population</a:t>
            </a:r>
            <a:endParaRPr lang="en-US" sz="2000" b="1" dirty="0">
              <a:solidFill>
                <a:srgbClr val="000510"/>
              </a:solidFill>
              <a:latin typeface="Arial" panose="020B0604020202020204" pitchFamily="34" charset="0"/>
              <a:cs typeface="+mn-cs"/>
            </a:endParaRPr>
          </a:p>
        </p:txBody>
      </p:sp>
      <p:sp>
        <p:nvSpPr>
          <p:cNvPr id="10" name="TextBox 9">
            <a:extLst>
              <a:ext uri="{FF2B5EF4-FFF2-40B4-BE49-F238E27FC236}">
                <a16:creationId xmlns:a16="http://schemas.microsoft.com/office/drawing/2014/main" id="{8E16BBFA-3033-4909-B180-7290AEEBCB8B}"/>
              </a:ext>
            </a:extLst>
          </p:cNvPr>
          <p:cNvSpPr txBox="1"/>
          <p:nvPr/>
        </p:nvSpPr>
        <p:spPr>
          <a:xfrm>
            <a:off x="2119226" y="1284537"/>
            <a:ext cx="8091574" cy="4154984"/>
          </a:xfrm>
          <a:prstGeom prst="rect">
            <a:avLst/>
          </a:prstGeom>
          <a:noFill/>
        </p:spPr>
        <p:txBody>
          <a:bodyPr wrap="square">
            <a:spAutoFit/>
          </a:bodyPr>
          <a:lstStyle/>
          <a:p>
            <a:pPr eaLnBrk="0" fontAlgn="base" hangingPunct="0">
              <a:spcBef>
                <a:spcPct val="0"/>
              </a:spcBef>
              <a:spcAft>
                <a:spcPct val="0"/>
              </a:spcAft>
              <a:buFontTx/>
              <a:buAutoNum type="arabicPeriod"/>
            </a:pPr>
            <a:r>
              <a:rPr lang="en-US" altLang="en-US" sz="2400" dirty="0">
                <a:solidFill>
                  <a:srgbClr val="303030"/>
                </a:solidFill>
                <a:latin typeface="Google Sans Text"/>
              </a:rPr>
              <a:t>Initial Test: Start with the SD </a:t>
            </a:r>
            <a:r>
              <a:rPr lang="en-US" altLang="en-US" sz="2400" dirty="0" err="1">
                <a:solidFill>
                  <a:srgbClr val="303030"/>
                </a:solidFill>
                <a:latin typeface="Google Sans Text"/>
              </a:rPr>
              <a:t>Bioline</a:t>
            </a:r>
            <a:r>
              <a:rPr lang="en-US" altLang="en-US" sz="2400" dirty="0">
                <a:solidFill>
                  <a:srgbClr val="303030"/>
                </a:solidFill>
                <a:latin typeface="Google Sans Text"/>
              </a:rPr>
              <a:t> </a:t>
            </a:r>
          </a:p>
          <a:p>
            <a:pPr eaLnBrk="0" fontAlgn="base" hangingPunct="0">
              <a:spcBef>
                <a:spcPct val="0"/>
              </a:spcBef>
              <a:spcAft>
                <a:spcPct val="0"/>
              </a:spcAft>
            </a:pPr>
            <a:endParaRPr lang="en-US" altLang="en-US" sz="2400" dirty="0">
              <a:solidFill>
                <a:srgbClr val="303030"/>
              </a:solidFill>
              <a:latin typeface="Google Sans Text"/>
            </a:endParaRPr>
          </a:p>
          <a:p>
            <a:pPr eaLnBrk="0" fontAlgn="base" hangingPunct="0">
              <a:spcBef>
                <a:spcPct val="0"/>
              </a:spcBef>
              <a:spcAft>
                <a:spcPct val="0"/>
              </a:spcAft>
            </a:pPr>
            <a:r>
              <a:rPr lang="en-US" altLang="en-US" sz="2400" dirty="0">
                <a:solidFill>
                  <a:srgbClr val="303030"/>
                </a:solidFill>
                <a:latin typeface="Google Sans Text"/>
              </a:rPr>
              <a:t>2. If positive: perform second test: first response HIV 1- 2</a:t>
            </a:r>
          </a:p>
          <a:p>
            <a:pPr eaLnBrk="0" fontAlgn="base" hangingPunct="0">
              <a:spcBef>
                <a:spcPct val="0"/>
              </a:spcBef>
              <a:spcAft>
                <a:spcPct val="0"/>
              </a:spcAft>
            </a:pPr>
            <a:endParaRPr lang="en-US" altLang="en-US" sz="2400" dirty="0">
              <a:solidFill>
                <a:srgbClr val="303030"/>
              </a:solidFill>
              <a:latin typeface="Google Sans Text"/>
            </a:endParaRPr>
          </a:p>
          <a:p>
            <a:pPr eaLnBrk="0" fontAlgn="base" hangingPunct="0">
              <a:spcBef>
                <a:spcPct val="0"/>
              </a:spcBef>
              <a:spcAft>
                <a:spcPct val="0"/>
              </a:spcAft>
            </a:pPr>
            <a:r>
              <a:rPr lang="en-US" altLang="en-US" sz="2400" dirty="0">
                <a:solidFill>
                  <a:srgbClr val="303030"/>
                </a:solidFill>
                <a:latin typeface="Google Sans Text"/>
              </a:rPr>
              <a:t>3. If reactive confirmation with </a:t>
            </a:r>
            <a:r>
              <a:rPr lang="en-US" altLang="en-US" sz="2400" dirty="0" err="1">
                <a:solidFill>
                  <a:srgbClr val="303030"/>
                </a:solidFill>
                <a:latin typeface="Google Sans Text"/>
              </a:rPr>
              <a:t>Unigold</a:t>
            </a:r>
            <a:r>
              <a:rPr lang="en-US" altLang="en-US" sz="2400" dirty="0">
                <a:solidFill>
                  <a:srgbClr val="303030"/>
                </a:solidFill>
                <a:latin typeface="Google Sans Text"/>
              </a:rPr>
              <a:t> rapid test  </a:t>
            </a:r>
          </a:p>
          <a:p>
            <a:pPr eaLnBrk="0" fontAlgn="base" hangingPunct="0">
              <a:spcBef>
                <a:spcPct val="0"/>
              </a:spcBef>
              <a:spcAft>
                <a:spcPct val="0"/>
              </a:spcAft>
            </a:pPr>
            <a:endParaRPr lang="en-US" altLang="en-US" sz="2400" dirty="0">
              <a:solidFill>
                <a:srgbClr val="303030"/>
              </a:solidFill>
              <a:latin typeface="Google Sans Text"/>
            </a:endParaRPr>
          </a:p>
          <a:p>
            <a:pPr eaLnBrk="0" fontAlgn="base" hangingPunct="0">
              <a:spcBef>
                <a:spcPct val="0"/>
              </a:spcBef>
              <a:spcAft>
                <a:spcPct val="0"/>
              </a:spcAft>
              <a:buFontTx/>
              <a:buAutoNum type="arabicPeriod" startAt="3"/>
            </a:pPr>
            <a:r>
              <a:rPr lang="en-US" altLang="en-US" sz="2400" dirty="0">
                <a:solidFill>
                  <a:srgbClr val="303030"/>
                </a:solidFill>
                <a:latin typeface="Google Sans Text"/>
              </a:rPr>
              <a:t>Final Results:</a:t>
            </a:r>
          </a:p>
          <a:p>
            <a:pPr lvl="1" eaLnBrk="0" fontAlgn="base" hangingPunct="0">
              <a:spcBef>
                <a:spcPct val="0"/>
              </a:spcBef>
              <a:spcAft>
                <a:spcPct val="0"/>
              </a:spcAft>
              <a:buFontTx/>
              <a:buChar char="•"/>
            </a:pPr>
            <a:r>
              <a:rPr lang="en-US" altLang="en-US" sz="2400" dirty="0">
                <a:solidFill>
                  <a:srgbClr val="303030"/>
                </a:solidFill>
                <a:latin typeface="Google Sans Text"/>
              </a:rPr>
              <a:t>If </a:t>
            </a:r>
            <a:r>
              <a:rPr lang="en-US" altLang="en-US" sz="2400" dirty="0" err="1">
                <a:solidFill>
                  <a:srgbClr val="303030"/>
                </a:solidFill>
                <a:latin typeface="Google Sans Text"/>
              </a:rPr>
              <a:t>Unigold</a:t>
            </a:r>
            <a:r>
              <a:rPr lang="en-US" altLang="en-US" sz="2400" dirty="0">
                <a:solidFill>
                  <a:srgbClr val="303030"/>
                </a:solidFill>
                <a:latin typeface="Google Sans Text"/>
              </a:rPr>
              <a:t> is positive (+), the HIV diagnosis is confirmed</a:t>
            </a:r>
          </a:p>
          <a:p>
            <a:pPr lvl="1" eaLnBrk="0" fontAlgn="base" hangingPunct="0">
              <a:spcBef>
                <a:spcPct val="0"/>
              </a:spcBef>
              <a:spcAft>
                <a:spcPct val="0"/>
              </a:spcAft>
            </a:pPr>
            <a:endParaRPr lang="en-US" altLang="en-US" sz="2400" dirty="0">
              <a:solidFill>
                <a:srgbClr val="303030"/>
              </a:solidFill>
              <a:latin typeface="Google Sans Text"/>
            </a:endParaRPr>
          </a:p>
          <a:p>
            <a:pPr lvl="1" eaLnBrk="0" fontAlgn="base" hangingPunct="0">
              <a:spcBef>
                <a:spcPct val="0"/>
              </a:spcBef>
              <a:spcAft>
                <a:spcPct val="0"/>
              </a:spcAft>
              <a:buFontTx/>
              <a:buChar char="•"/>
            </a:pPr>
            <a:r>
              <a:rPr lang="en-US" altLang="en-US" sz="2400" dirty="0">
                <a:solidFill>
                  <a:srgbClr val="303030"/>
                </a:solidFill>
                <a:latin typeface="Google Sans Text"/>
              </a:rPr>
              <a:t>If </a:t>
            </a:r>
            <a:r>
              <a:rPr lang="en-US" altLang="en-US" sz="2400" dirty="0" err="1">
                <a:solidFill>
                  <a:srgbClr val="303030"/>
                </a:solidFill>
                <a:latin typeface="Google Sans Text"/>
              </a:rPr>
              <a:t>Unigold</a:t>
            </a:r>
            <a:r>
              <a:rPr lang="en-US" altLang="en-US" sz="2400" dirty="0">
                <a:solidFill>
                  <a:srgbClr val="303030"/>
                </a:solidFill>
                <a:latin typeface="Google Sans Text"/>
              </a:rPr>
              <a:t> is negative (-), the result is inconclusive and must be further confirmed using an ELISA test</a:t>
            </a:r>
            <a:endParaRPr lang="en-US" sz="2400" dirty="0"/>
          </a:p>
        </p:txBody>
      </p:sp>
    </p:spTree>
    <p:extLst>
      <p:ext uri="{BB962C8B-B14F-4D97-AF65-F5344CB8AC3E}">
        <p14:creationId xmlns:p14="http://schemas.microsoft.com/office/powerpoint/2010/main" val="8107079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DD6AA3D-4493-48CC-BBE9-F18D1CA3AD11}"/>
              </a:ext>
            </a:extLst>
          </p:cNvPr>
          <p:cNvPicPr>
            <a:picLocks noChangeAspect="1"/>
          </p:cNvPicPr>
          <p:nvPr/>
        </p:nvPicPr>
        <p:blipFill>
          <a:blip r:embed="rId2"/>
          <a:stretch>
            <a:fillRect/>
          </a:stretch>
        </p:blipFill>
        <p:spPr>
          <a:xfrm>
            <a:off x="1606194" y="136526"/>
            <a:ext cx="8907694" cy="5867178"/>
          </a:xfrm>
          <a:prstGeom prst="rect">
            <a:avLst/>
          </a:prstGeom>
        </p:spPr>
      </p:pic>
    </p:spTree>
    <p:extLst>
      <p:ext uri="{BB962C8B-B14F-4D97-AF65-F5344CB8AC3E}">
        <p14:creationId xmlns:p14="http://schemas.microsoft.com/office/powerpoint/2010/main" val="94675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47C08C9-A2D1-4B5E-B06D-9B7673153605}"/>
              </a:ext>
            </a:extLst>
          </p:cNvPr>
          <p:cNvSpPr>
            <a:spLocks noGrp="1"/>
          </p:cNvSpPr>
          <p:nvPr>
            <p:ph type="title"/>
          </p:nvPr>
        </p:nvSpPr>
        <p:spPr>
          <a:xfrm>
            <a:off x="1981200" y="-17915"/>
            <a:ext cx="8229600" cy="680583"/>
          </a:xfrm>
        </p:spPr>
        <p:txBody>
          <a:bodyPr/>
          <a:lstStyle/>
          <a:p>
            <a:r>
              <a:rPr lang="en-GB" sz="2000" b="1" dirty="0">
                <a:solidFill>
                  <a:srgbClr val="000510"/>
                </a:solidFill>
                <a:latin typeface="Arial" panose="020B0604020202020204" pitchFamily="34" charset="0"/>
                <a:cs typeface="+mn-cs"/>
              </a:rPr>
              <a:t>National HIV testing algorithm for ANC clients </a:t>
            </a:r>
            <a:endParaRPr lang="en-US" sz="2000" b="1" dirty="0">
              <a:solidFill>
                <a:srgbClr val="000510"/>
              </a:solidFill>
              <a:latin typeface="Arial" panose="020B0604020202020204" pitchFamily="34" charset="0"/>
              <a:cs typeface="+mn-cs"/>
            </a:endParaRPr>
          </a:p>
        </p:txBody>
      </p:sp>
      <p:pic>
        <p:nvPicPr>
          <p:cNvPr id="9" name="Picture 8">
            <a:extLst>
              <a:ext uri="{FF2B5EF4-FFF2-40B4-BE49-F238E27FC236}">
                <a16:creationId xmlns:a16="http://schemas.microsoft.com/office/drawing/2014/main" id="{1509DAC7-CB07-4314-A2A4-84EEB285502F}"/>
              </a:ext>
            </a:extLst>
          </p:cNvPr>
          <p:cNvPicPr>
            <a:picLocks noChangeAspect="1"/>
          </p:cNvPicPr>
          <p:nvPr/>
        </p:nvPicPr>
        <p:blipFill rotWithShape="1">
          <a:blip r:embed="rId3"/>
          <a:srcRect l="3905" t="1986" r="13006"/>
          <a:stretch/>
        </p:blipFill>
        <p:spPr>
          <a:xfrm>
            <a:off x="1821951" y="499423"/>
            <a:ext cx="8661114" cy="5480137"/>
          </a:xfrm>
          <a:prstGeom prst="rect">
            <a:avLst/>
          </a:prstGeom>
        </p:spPr>
      </p:pic>
    </p:spTree>
    <p:extLst>
      <p:ext uri="{BB962C8B-B14F-4D97-AF65-F5344CB8AC3E}">
        <p14:creationId xmlns:p14="http://schemas.microsoft.com/office/powerpoint/2010/main" val="15113469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47C08C9-A2D1-4B5E-B06D-9B7673153605}"/>
              </a:ext>
            </a:extLst>
          </p:cNvPr>
          <p:cNvSpPr>
            <a:spLocks noGrp="1"/>
          </p:cNvSpPr>
          <p:nvPr>
            <p:ph type="title"/>
          </p:nvPr>
        </p:nvSpPr>
        <p:spPr>
          <a:xfrm>
            <a:off x="1858736" y="1"/>
            <a:ext cx="8229600" cy="680583"/>
          </a:xfrm>
        </p:spPr>
        <p:txBody>
          <a:bodyPr/>
          <a:lstStyle/>
          <a:p>
            <a:r>
              <a:rPr lang="en-GB" sz="2000" b="1" dirty="0">
                <a:solidFill>
                  <a:srgbClr val="000510"/>
                </a:solidFill>
                <a:latin typeface="Arial" panose="020B0604020202020204" pitchFamily="34" charset="0"/>
                <a:cs typeface="+mn-cs"/>
              </a:rPr>
              <a:t>National HIV testing algorithm in infants below 18 months  </a:t>
            </a:r>
            <a:endParaRPr lang="en-US" sz="2000" b="1" dirty="0">
              <a:solidFill>
                <a:srgbClr val="000510"/>
              </a:solidFill>
              <a:latin typeface="Arial" panose="020B0604020202020204" pitchFamily="34" charset="0"/>
              <a:cs typeface="+mn-cs"/>
            </a:endParaRPr>
          </a:p>
        </p:txBody>
      </p:sp>
      <p:sp>
        <p:nvSpPr>
          <p:cNvPr id="6" name="Rectangle 5">
            <a:extLst>
              <a:ext uri="{FF2B5EF4-FFF2-40B4-BE49-F238E27FC236}">
                <a16:creationId xmlns:a16="http://schemas.microsoft.com/office/drawing/2014/main" id="{BFA17F91-5E95-4675-9791-5AAFDBA9D53C}"/>
              </a:ext>
            </a:extLst>
          </p:cNvPr>
          <p:cNvSpPr>
            <a:spLocks noChangeArrowheads="1"/>
          </p:cNvSpPr>
          <p:nvPr/>
        </p:nvSpPr>
        <p:spPr bwMode="auto">
          <a:xfrm>
            <a:off x="1698172" y="900596"/>
            <a:ext cx="4155621"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hangingPunct="0">
              <a:buFont typeface="Arial" panose="020B0604020202020204" pitchFamily="34" charset="0"/>
              <a:buChar char="•"/>
            </a:pPr>
            <a:r>
              <a:rPr lang="en-US" altLang="en-US" sz="2000" dirty="0">
                <a:solidFill>
                  <a:srgbClr val="303030"/>
                </a:solidFill>
                <a:latin typeface="Google Sans Text"/>
              </a:rPr>
              <a:t>Maternal IgG antibodies cross the placenta and can persist in the infant for up to 18 months</a:t>
            </a:r>
          </a:p>
          <a:p>
            <a:pPr eaLnBrk="0" hangingPunct="0"/>
            <a:endParaRPr lang="en-US" altLang="en-US" sz="2000" dirty="0">
              <a:solidFill>
                <a:srgbClr val="303030"/>
              </a:solidFill>
              <a:latin typeface="Google Sans Text"/>
            </a:endParaRPr>
          </a:p>
          <a:p>
            <a:pPr marL="285750" indent="-285750" eaLnBrk="0" hangingPunct="0">
              <a:buFont typeface="Arial" panose="020B0604020202020204" pitchFamily="34" charset="0"/>
              <a:buChar char="•"/>
            </a:pPr>
            <a:endParaRPr lang="en-US" altLang="en-US" sz="2000" dirty="0">
              <a:solidFill>
                <a:srgbClr val="303030"/>
              </a:solidFill>
              <a:latin typeface="Google Sans Text"/>
            </a:endParaRPr>
          </a:p>
          <a:p>
            <a:pPr marL="285750" indent="-285750" eaLnBrk="0" hangingPunct="0">
              <a:buFont typeface="Arial" panose="020B0604020202020204" pitchFamily="34" charset="0"/>
              <a:buChar char="•"/>
            </a:pPr>
            <a:r>
              <a:rPr lang="en-US" altLang="en-US" sz="2000" dirty="0">
                <a:solidFill>
                  <a:srgbClr val="303030"/>
                </a:solidFill>
                <a:latin typeface="Google Sans Text"/>
              </a:rPr>
              <a:t>Standard antibody tests cannot distinguish maternal antibodies vs the baby’s own antibodies</a:t>
            </a:r>
          </a:p>
          <a:p>
            <a:pPr eaLnBrk="0" hangingPunct="0"/>
            <a:endParaRPr lang="en-US" altLang="en-US" sz="2000" dirty="0">
              <a:solidFill>
                <a:srgbClr val="303030"/>
              </a:solidFill>
              <a:latin typeface="Google Sans Text"/>
            </a:endParaRPr>
          </a:p>
          <a:p>
            <a:pPr marL="285750" indent="-285750" eaLnBrk="0" hangingPunct="0">
              <a:buFont typeface="Arial" panose="020B0604020202020204" pitchFamily="34" charset="0"/>
              <a:buChar char="•"/>
            </a:pPr>
            <a:endParaRPr lang="en-US" altLang="en-US" sz="2000" dirty="0">
              <a:solidFill>
                <a:srgbClr val="303030"/>
              </a:solidFill>
              <a:latin typeface="Google Sans Text"/>
            </a:endParaRPr>
          </a:p>
          <a:p>
            <a:pPr marL="285750" indent="-285750" eaLnBrk="0" hangingPunct="0">
              <a:buFont typeface="Arial" panose="020B0604020202020204" pitchFamily="34" charset="0"/>
              <a:buChar char="•"/>
            </a:pPr>
            <a:r>
              <a:rPr lang="en-US" altLang="en-US" sz="2000" dirty="0">
                <a:solidFill>
                  <a:srgbClr val="303030"/>
                </a:solidFill>
                <a:latin typeface="Google Sans Text"/>
              </a:rPr>
              <a:t>Therefore, virological tests are required to detect the virus itself in infants</a:t>
            </a:r>
          </a:p>
        </p:txBody>
      </p:sp>
      <p:sp>
        <p:nvSpPr>
          <p:cNvPr id="8" name="Rectangle 7">
            <a:extLst>
              <a:ext uri="{FF2B5EF4-FFF2-40B4-BE49-F238E27FC236}">
                <a16:creationId xmlns:a16="http://schemas.microsoft.com/office/drawing/2014/main" id="{34A51E53-9A2E-40EA-9A2D-F7C9681A6262}"/>
              </a:ext>
            </a:extLst>
          </p:cNvPr>
          <p:cNvSpPr>
            <a:spLocks noChangeArrowheads="1"/>
          </p:cNvSpPr>
          <p:nvPr/>
        </p:nvSpPr>
        <p:spPr bwMode="auto">
          <a:xfrm>
            <a:off x="5973536" y="704595"/>
            <a:ext cx="4316186" cy="5047536"/>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285750" indent="-285750" eaLnBrk="0" hangingPunct="0">
              <a:buFont typeface="Arial" panose="020B0604020202020204" pitchFamily="34" charset="0"/>
              <a:buChar char="•"/>
            </a:pPr>
            <a:r>
              <a:rPr lang="en-US" altLang="en-US" b="1" dirty="0">
                <a:solidFill>
                  <a:srgbClr val="303030"/>
                </a:solidFill>
                <a:latin typeface="Google Sans Text"/>
              </a:rPr>
              <a:t>Less than 6 </a:t>
            </a:r>
            <a:r>
              <a:rPr lang="en-US" altLang="en-US" b="1" dirty="0" err="1">
                <a:solidFill>
                  <a:srgbClr val="303030"/>
                </a:solidFill>
                <a:latin typeface="Google Sans Text"/>
              </a:rPr>
              <a:t>wks</a:t>
            </a:r>
            <a:r>
              <a:rPr lang="en-US" altLang="en-US" b="1" dirty="0">
                <a:solidFill>
                  <a:srgbClr val="303030"/>
                </a:solidFill>
                <a:latin typeface="Google Sans Text"/>
              </a:rPr>
              <a:t>: </a:t>
            </a:r>
          </a:p>
          <a:p>
            <a:pPr marL="538163" indent="-285750" eaLnBrk="0" hangingPunct="0">
              <a:buFont typeface="Arial" panose="020B0604020202020204" pitchFamily="34" charset="0"/>
              <a:buChar char="•"/>
            </a:pPr>
            <a:r>
              <a:rPr lang="en-US" altLang="en-US" dirty="0">
                <a:solidFill>
                  <a:srgbClr val="303030"/>
                </a:solidFill>
                <a:latin typeface="Google Sans Text"/>
              </a:rPr>
              <a:t>Recommended test: HIV DNA PCR</a:t>
            </a:r>
          </a:p>
          <a:p>
            <a:pPr marL="538163" indent="-285750" eaLnBrk="0" hangingPunct="0">
              <a:buFont typeface="Arial" panose="020B0604020202020204" pitchFamily="34" charset="0"/>
              <a:buChar char="•"/>
            </a:pPr>
            <a:r>
              <a:rPr lang="en-GB" dirty="0">
                <a:solidFill>
                  <a:srgbClr val="303030"/>
                </a:solidFill>
                <a:latin typeface="Google Sans Text"/>
              </a:rPr>
              <a:t>Detects viral genetic material directly from blood (DBS or whole blood)</a:t>
            </a:r>
          </a:p>
          <a:p>
            <a:pPr marL="252413" eaLnBrk="0" hangingPunct="0"/>
            <a:endParaRPr lang="en-US" altLang="en-US" dirty="0">
              <a:solidFill>
                <a:srgbClr val="303030"/>
              </a:solidFill>
              <a:latin typeface="Google Sans Text"/>
            </a:endParaRPr>
          </a:p>
          <a:p>
            <a:pPr marL="538163" indent="-285750" eaLnBrk="0" hangingPunct="0">
              <a:buFont typeface="Arial" panose="020B0604020202020204" pitchFamily="34" charset="0"/>
              <a:buChar char="•"/>
            </a:pPr>
            <a:endParaRPr lang="en-US" altLang="en-US" dirty="0">
              <a:solidFill>
                <a:srgbClr val="303030"/>
              </a:solidFill>
              <a:latin typeface="Google Sans Text"/>
            </a:endParaRPr>
          </a:p>
          <a:p>
            <a:pPr marL="285750" indent="-285750" eaLnBrk="0" hangingPunct="0">
              <a:buFont typeface="Arial" panose="020B0604020202020204" pitchFamily="34" charset="0"/>
              <a:buChar char="•"/>
            </a:pPr>
            <a:r>
              <a:rPr lang="en-US" altLang="en-US" b="1" dirty="0">
                <a:solidFill>
                  <a:srgbClr val="303030"/>
                </a:solidFill>
                <a:latin typeface="Google Sans Text"/>
              </a:rPr>
              <a:t>6 to 18 months </a:t>
            </a:r>
          </a:p>
          <a:p>
            <a:pPr marL="628650" indent="-285750" eaLnBrk="0" hangingPunct="0">
              <a:buFont typeface="Arial" panose="020B0604020202020204" pitchFamily="34" charset="0"/>
              <a:buChar char="•"/>
            </a:pPr>
            <a:r>
              <a:rPr lang="en-US" altLang="en-US" dirty="0">
                <a:solidFill>
                  <a:srgbClr val="303030"/>
                </a:solidFill>
                <a:latin typeface="Google Sans Text"/>
              </a:rPr>
              <a:t>Recommended test HIV DNA PCR </a:t>
            </a:r>
          </a:p>
          <a:p>
            <a:pPr marL="628650" indent="-285750" eaLnBrk="0" hangingPunct="0">
              <a:buFont typeface="Arial" panose="020B0604020202020204" pitchFamily="34" charset="0"/>
              <a:buChar char="•"/>
            </a:pPr>
            <a:r>
              <a:rPr lang="en-GB" dirty="0">
                <a:solidFill>
                  <a:srgbClr val="303030"/>
                </a:solidFill>
                <a:latin typeface="Google Sans Text"/>
              </a:rPr>
              <a:t>Can repeat at different intervals to confirm infection</a:t>
            </a:r>
          </a:p>
          <a:p>
            <a:pPr marL="342900" eaLnBrk="0" hangingPunct="0"/>
            <a:endParaRPr lang="en-US" altLang="en-US" dirty="0">
              <a:solidFill>
                <a:srgbClr val="303030"/>
              </a:solidFill>
              <a:latin typeface="Google Sans Text"/>
            </a:endParaRPr>
          </a:p>
          <a:p>
            <a:pPr marL="285750" indent="-285750" eaLnBrk="0" hangingPunct="0">
              <a:buFont typeface="Arial" panose="020B0604020202020204" pitchFamily="34" charset="0"/>
              <a:buChar char="•"/>
            </a:pPr>
            <a:endParaRPr lang="en-US" altLang="en-US" dirty="0">
              <a:solidFill>
                <a:srgbClr val="303030"/>
              </a:solidFill>
              <a:latin typeface="Google Sans Text"/>
            </a:endParaRPr>
          </a:p>
          <a:p>
            <a:pPr marL="285750" indent="-285750" eaLnBrk="0" hangingPunct="0">
              <a:buFont typeface="Arial" panose="020B0604020202020204" pitchFamily="34" charset="0"/>
              <a:buChar char="•"/>
            </a:pPr>
            <a:r>
              <a:rPr lang="en-US" altLang="en-US" b="1" dirty="0">
                <a:solidFill>
                  <a:srgbClr val="303030"/>
                </a:solidFill>
                <a:latin typeface="Google Sans Text"/>
              </a:rPr>
              <a:t>After 18 months </a:t>
            </a:r>
          </a:p>
          <a:p>
            <a:pPr marL="628650" indent="-285750" eaLnBrk="0" hangingPunct="0">
              <a:buFont typeface="Arial" panose="020B0604020202020204" pitchFamily="34" charset="0"/>
              <a:buChar char="•"/>
            </a:pPr>
            <a:r>
              <a:rPr lang="en-US" altLang="en-US" dirty="0">
                <a:solidFill>
                  <a:srgbClr val="303030"/>
                </a:solidFill>
                <a:latin typeface="Google Sans Text"/>
              </a:rPr>
              <a:t>Recommended test: Rapid Ab test or ELISA</a:t>
            </a:r>
          </a:p>
          <a:p>
            <a:pPr marL="628650" indent="-285750" eaLnBrk="0" hangingPunct="0">
              <a:buFont typeface="Arial" panose="020B0604020202020204" pitchFamily="34" charset="0"/>
              <a:buChar char="•"/>
            </a:pPr>
            <a:r>
              <a:rPr lang="en-US" altLang="en-US" dirty="0">
                <a:solidFill>
                  <a:srgbClr val="303030"/>
                </a:solidFill>
                <a:latin typeface="Google Sans Text"/>
              </a:rPr>
              <a:t>Maternal  Abs worn out, Abs test reliable </a:t>
            </a:r>
          </a:p>
          <a:p>
            <a:pPr marL="285750" indent="-285750" eaLnBrk="0" hangingPunct="0">
              <a:buFont typeface="Arial" panose="020B0604020202020204" pitchFamily="34" charset="0"/>
              <a:buChar char="•"/>
            </a:pPr>
            <a:endParaRPr lang="en-US" altLang="en-US" sz="1600" dirty="0">
              <a:solidFill>
                <a:srgbClr val="303030"/>
              </a:solidFill>
              <a:latin typeface="Google Sans Text"/>
            </a:endParaRPr>
          </a:p>
        </p:txBody>
      </p:sp>
    </p:spTree>
    <p:extLst>
      <p:ext uri="{BB962C8B-B14F-4D97-AF65-F5344CB8AC3E}">
        <p14:creationId xmlns:p14="http://schemas.microsoft.com/office/powerpoint/2010/main" val="37204038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2BC705C-4F10-499E-BE69-9DA9D88531FB}"/>
              </a:ext>
            </a:extLst>
          </p:cNvPr>
          <p:cNvPicPr>
            <a:picLocks noChangeAspect="1"/>
          </p:cNvPicPr>
          <p:nvPr/>
        </p:nvPicPr>
        <p:blipFill rotWithShape="1">
          <a:blip r:embed="rId3"/>
          <a:srcRect l="3020" r="12740"/>
          <a:stretch/>
        </p:blipFill>
        <p:spPr>
          <a:xfrm>
            <a:off x="1695450" y="563336"/>
            <a:ext cx="8523514" cy="5233307"/>
          </a:xfrm>
          <a:prstGeom prst="rect">
            <a:avLst/>
          </a:prstGeom>
        </p:spPr>
      </p:pic>
    </p:spTree>
    <p:extLst>
      <p:ext uri="{BB962C8B-B14F-4D97-AF65-F5344CB8AC3E}">
        <p14:creationId xmlns:p14="http://schemas.microsoft.com/office/powerpoint/2010/main" val="302323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2E3BA-764E-4789-9578-701B6DA37F50}"/>
              </a:ext>
            </a:extLst>
          </p:cNvPr>
          <p:cNvSpPr>
            <a:spLocks noGrp="1"/>
          </p:cNvSpPr>
          <p:nvPr>
            <p:ph type="title"/>
          </p:nvPr>
        </p:nvSpPr>
        <p:spPr>
          <a:xfrm>
            <a:off x="1899007" y="-60654"/>
            <a:ext cx="8229600" cy="670584"/>
          </a:xfrm>
        </p:spPr>
        <p:txBody>
          <a:bodyPr/>
          <a:lstStyle/>
          <a:p>
            <a:r>
              <a:rPr lang="en-GB" sz="3200" b="1" dirty="0"/>
              <a:t>Tanzania Algorithm </a:t>
            </a:r>
            <a:endParaRPr lang="en-US" sz="3200" b="1" dirty="0"/>
          </a:p>
        </p:txBody>
      </p:sp>
      <p:sp>
        <p:nvSpPr>
          <p:cNvPr id="3" name="Content Placeholder 2">
            <a:extLst>
              <a:ext uri="{FF2B5EF4-FFF2-40B4-BE49-F238E27FC236}">
                <a16:creationId xmlns:a16="http://schemas.microsoft.com/office/drawing/2014/main" id="{CA3ACE96-09F1-474E-9BC8-78DB34616071}"/>
              </a:ext>
            </a:extLst>
          </p:cNvPr>
          <p:cNvSpPr>
            <a:spLocks noGrp="1"/>
          </p:cNvSpPr>
          <p:nvPr>
            <p:ph idx="1"/>
          </p:nvPr>
        </p:nvSpPr>
        <p:spPr>
          <a:xfrm>
            <a:off x="1816814" y="609931"/>
            <a:ext cx="8229600" cy="5488969"/>
          </a:xfrm>
        </p:spPr>
        <p:txBody>
          <a:bodyPr/>
          <a:lstStyle/>
          <a:p>
            <a:pPr algn="l"/>
            <a:r>
              <a:rPr lang="en-GB" sz="2000" dirty="0">
                <a:latin typeface="ArialMT"/>
              </a:rPr>
              <a:t>Do HIV DNA-PCR at birth to all exposed babies; </a:t>
            </a:r>
          </a:p>
          <a:p>
            <a:pPr lvl="1"/>
            <a:r>
              <a:rPr lang="en-GB" sz="2000" dirty="0">
                <a:latin typeface="ArialMT"/>
              </a:rPr>
              <a:t>if positive, take another sample immediately for DNA PCR confirmatory test </a:t>
            </a:r>
          </a:p>
          <a:p>
            <a:pPr lvl="1"/>
            <a:r>
              <a:rPr lang="en-GB" sz="2000" dirty="0">
                <a:latin typeface="ArialMT"/>
              </a:rPr>
              <a:t>Initiate the child on ART</a:t>
            </a:r>
          </a:p>
          <a:p>
            <a:pPr lvl="1"/>
            <a:endParaRPr lang="en-GB" sz="2000" dirty="0">
              <a:latin typeface="ArialMT"/>
            </a:endParaRPr>
          </a:p>
          <a:p>
            <a:pPr algn="l"/>
            <a:r>
              <a:rPr lang="en-GB" sz="2000" dirty="0">
                <a:latin typeface="ArialMT"/>
              </a:rPr>
              <a:t>Children with negative results for HIV should have DNA-PCR</a:t>
            </a:r>
          </a:p>
          <a:p>
            <a:pPr lvl="1"/>
            <a:r>
              <a:rPr lang="en-GB" sz="2000" dirty="0">
                <a:latin typeface="ArialMT"/>
              </a:rPr>
              <a:t>test at 6 weeks, 9 months of age </a:t>
            </a:r>
          </a:p>
          <a:p>
            <a:pPr algn="l"/>
            <a:r>
              <a:rPr lang="en-GB" sz="2000" dirty="0">
                <a:latin typeface="ArialMT"/>
              </a:rPr>
              <a:t>Another test should be performed</a:t>
            </a:r>
          </a:p>
          <a:p>
            <a:pPr lvl="1"/>
            <a:r>
              <a:rPr lang="en-GB" sz="2000" dirty="0">
                <a:latin typeface="ArialMT"/>
              </a:rPr>
              <a:t>At 12 weeks after cessation of breastfeeding using an antibody test </a:t>
            </a:r>
          </a:p>
          <a:p>
            <a:pPr lvl="1"/>
            <a:r>
              <a:rPr lang="en-GB" sz="2000" dirty="0">
                <a:latin typeface="ArialMT"/>
              </a:rPr>
              <a:t>At 18 months of age, a final rapid antibody test should be done</a:t>
            </a:r>
          </a:p>
          <a:p>
            <a:pPr marL="285750" lvl="1"/>
            <a:endParaRPr lang="en-GB" sz="2000" dirty="0">
              <a:latin typeface="ArialMT"/>
            </a:endParaRPr>
          </a:p>
          <a:p>
            <a:pPr marL="285750" lvl="1"/>
            <a:r>
              <a:rPr lang="en-GB" sz="2000" dirty="0">
                <a:latin typeface="ArialMT"/>
              </a:rPr>
              <a:t>Any results for a child below 18 months of age should be confirmed by DNA-PCR test and initiated on ART if found positive</a:t>
            </a:r>
            <a:endParaRPr lang="en-US" sz="2000" dirty="0"/>
          </a:p>
        </p:txBody>
      </p:sp>
      <p:sp>
        <p:nvSpPr>
          <p:cNvPr id="4" name="Footer Placeholder 3">
            <a:extLst>
              <a:ext uri="{FF2B5EF4-FFF2-40B4-BE49-F238E27FC236}">
                <a16:creationId xmlns:a16="http://schemas.microsoft.com/office/drawing/2014/main" id="{D1F78A77-AF83-4249-B01F-F7C5DB064BE7}"/>
              </a:ext>
            </a:extLst>
          </p:cNvPr>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6823422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000510"/>
                </a:solidFill>
              </a:rPr>
              <a:t>HIV MONITORING</a:t>
            </a:r>
            <a:endParaRPr lang="en-US" sz="3600" dirty="0"/>
          </a:p>
        </p:txBody>
      </p:sp>
      <p:pic>
        <p:nvPicPr>
          <p:cNvPr id="6" name="Content Placeholder 5"/>
          <p:cNvPicPr>
            <a:picLocks noGrp="1" noChangeAspect="1"/>
          </p:cNvPicPr>
          <p:nvPr>
            <p:ph idx="1"/>
          </p:nvPr>
        </p:nvPicPr>
        <p:blipFill>
          <a:blip r:embed="rId2"/>
          <a:stretch>
            <a:fillRect/>
          </a:stretch>
        </p:blipFill>
        <p:spPr>
          <a:xfrm>
            <a:off x="1866900" y="1417638"/>
            <a:ext cx="8583418" cy="4487862"/>
          </a:xfrm>
        </p:spPr>
      </p:pic>
      <p:sp>
        <p:nvSpPr>
          <p:cNvPr id="4" name="Footer Placeholder 3"/>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0599357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76A8D-B436-F4B8-705B-723F0984FBD4}"/>
              </a:ext>
            </a:extLst>
          </p:cNvPr>
          <p:cNvSpPr>
            <a:spLocks noGrp="1"/>
          </p:cNvSpPr>
          <p:nvPr>
            <p:ph type="title"/>
          </p:nvPr>
        </p:nvSpPr>
        <p:spPr>
          <a:xfrm>
            <a:off x="777815" y="0"/>
            <a:ext cx="10515600" cy="1325563"/>
          </a:xfrm>
        </p:spPr>
        <p:txBody>
          <a:bodyPr>
            <a:normAutofit/>
          </a:bodyPr>
          <a:lstStyle/>
          <a:p>
            <a:r>
              <a:rPr lang="en-US" sz="3600" b="1" dirty="0"/>
              <a:t>BASELINE INVESTIGATIONS AFTER DIAGNOSIS OF HIV</a:t>
            </a:r>
          </a:p>
        </p:txBody>
      </p:sp>
      <p:sp>
        <p:nvSpPr>
          <p:cNvPr id="3" name="Content Placeholder 2">
            <a:extLst>
              <a:ext uri="{FF2B5EF4-FFF2-40B4-BE49-F238E27FC236}">
                <a16:creationId xmlns:a16="http://schemas.microsoft.com/office/drawing/2014/main" id="{24A90D23-1AA0-42E6-151E-C9140C0DA6BD}"/>
              </a:ext>
            </a:extLst>
          </p:cNvPr>
          <p:cNvSpPr>
            <a:spLocks noGrp="1"/>
          </p:cNvSpPr>
          <p:nvPr>
            <p:ph idx="1"/>
          </p:nvPr>
        </p:nvSpPr>
        <p:spPr>
          <a:xfrm>
            <a:off x="838199" y="1440611"/>
            <a:ext cx="10738449" cy="5115464"/>
          </a:xfrm>
        </p:spPr>
        <p:txBody>
          <a:bodyPr>
            <a:normAutofit/>
          </a:bodyPr>
          <a:lstStyle/>
          <a:p>
            <a:pPr marL="0" indent="0">
              <a:buNone/>
            </a:pPr>
            <a:r>
              <a:rPr lang="en-US" dirty="0"/>
              <a:t>Before starting </a:t>
            </a:r>
            <a:r>
              <a:rPr lang="en-US" b="1" dirty="0"/>
              <a:t>antiretroviral therapy (ART)</a:t>
            </a:r>
            <a:r>
              <a:rPr lang="en-US" dirty="0"/>
              <a:t>, a structured set of investigations is recommended to establish baseline health, detect co‑infections, and guide safe treatment. Here’s a </a:t>
            </a:r>
            <a:r>
              <a:rPr lang="en-US" b="1" dirty="0"/>
              <a:t>summary hierarchy</a:t>
            </a:r>
            <a:r>
              <a:rPr lang="en-US" dirty="0"/>
              <a:t>:</a:t>
            </a:r>
          </a:p>
          <a:p>
            <a:pPr marL="0" indent="0">
              <a:buNone/>
            </a:pPr>
            <a:r>
              <a:rPr lang="en-US" b="1" dirty="0"/>
              <a:t>1) Baseline HIV‑specific tests</a:t>
            </a:r>
          </a:p>
          <a:p>
            <a:r>
              <a:rPr lang="en-US" b="1" dirty="0"/>
              <a:t>Confirm HIV diagnosis</a:t>
            </a:r>
            <a:r>
              <a:rPr lang="en-US" dirty="0"/>
              <a:t> (two different tests, or PCR if infant).</a:t>
            </a:r>
          </a:p>
          <a:p>
            <a:r>
              <a:rPr lang="en-US" b="1" dirty="0"/>
              <a:t>CD4+ T‑cell count</a:t>
            </a:r>
            <a:r>
              <a:rPr lang="en-US" dirty="0"/>
              <a:t> → assesses immune status and risk of opportunistic infections.</a:t>
            </a:r>
          </a:p>
          <a:p>
            <a:r>
              <a:rPr lang="en-US" b="1" dirty="0"/>
              <a:t>HIV viral load (RNA copies/ml)</a:t>
            </a:r>
            <a:r>
              <a:rPr lang="en-US" dirty="0"/>
              <a:t> → baseline for monitoring ART response.</a:t>
            </a:r>
          </a:p>
          <a:p>
            <a:r>
              <a:rPr lang="en-US" b="1" dirty="0"/>
              <a:t>HIV drug resistance testing</a:t>
            </a:r>
            <a:r>
              <a:rPr lang="en-US" dirty="0"/>
              <a:t> (if available) → guides regimen choice.</a:t>
            </a:r>
          </a:p>
          <a:p>
            <a:endParaRPr lang="en-US" dirty="0"/>
          </a:p>
        </p:txBody>
      </p:sp>
    </p:spTree>
    <p:extLst>
      <p:ext uri="{BB962C8B-B14F-4D97-AF65-F5344CB8AC3E}">
        <p14:creationId xmlns:p14="http://schemas.microsoft.com/office/powerpoint/2010/main" val="30695481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E8F7E4-2F41-EF0C-7AC9-AA29DABD2EF7}"/>
              </a:ext>
            </a:extLst>
          </p:cNvPr>
          <p:cNvSpPr>
            <a:spLocks noGrp="1"/>
          </p:cNvSpPr>
          <p:nvPr>
            <p:ph idx="1"/>
          </p:nvPr>
        </p:nvSpPr>
        <p:spPr>
          <a:xfrm>
            <a:off x="717431" y="324628"/>
            <a:ext cx="10515600" cy="5748368"/>
          </a:xfrm>
        </p:spPr>
        <p:txBody>
          <a:bodyPr/>
          <a:lstStyle/>
          <a:p>
            <a:pPr marL="0" indent="0">
              <a:buNone/>
            </a:pPr>
            <a:r>
              <a:rPr lang="en-US" b="1" dirty="0"/>
              <a:t>2) Screening for Co‑infections</a:t>
            </a:r>
          </a:p>
          <a:p>
            <a:r>
              <a:rPr lang="en-US" b="1" dirty="0"/>
              <a:t>Tuberculosis (TB):</a:t>
            </a:r>
            <a:r>
              <a:rPr lang="en-US" dirty="0"/>
              <a:t> Symptom screen, chest X‑ray, sputum GeneXpert, TB-LAM.</a:t>
            </a:r>
          </a:p>
          <a:p>
            <a:r>
              <a:rPr lang="en-US" b="1" dirty="0"/>
              <a:t>Hepatitis B and C:</a:t>
            </a:r>
            <a:r>
              <a:rPr lang="en-US" dirty="0"/>
              <a:t> HBsAg, anti‑HCV antibody.</a:t>
            </a:r>
          </a:p>
          <a:p>
            <a:r>
              <a:rPr lang="en-US" b="1" dirty="0"/>
              <a:t>Syphilis and other STIs:</a:t>
            </a:r>
            <a:r>
              <a:rPr lang="en-US" dirty="0"/>
              <a:t> VDRL/RPR, clinical exam.</a:t>
            </a:r>
          </a:p>
          <a:p>
            <a:r>
              <a:rPr lang="en-US" b="1" dirty="0"/>
              <a:t>Opportunistic infections:</a:t>
            </a:r>
            <a:r>
              <a:rPr lang="en-US" dirty="0"/>
              <a:t> CD4 &lt;200, Cryptococcal antigen (if CD4 &lt;200), toxoplasma IgG.</a:t>
            </a:r>
          </a:p>
          <a:p>
            <a:pPr marL="0" indent="0">
              <a:buNone/>
            </a:pPr>
            <a:endParaRPr lang="en-US" dirty="0"/>
          </a:p>
        </p:txBody>
      </p:sp>
    </p:spTree>
    <p:extLst>
      <p:ext uri="{BB962C8B-B14F-4D97-AF65-F5344CB8AC3E}">
        <p14:creationId xmlns:p14="http://schemas.microsoft.com/office/powerpoint/2010/main" val="35050781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EED761-B5D9-75AA-5B56-40E9FD5BDFD5}"/>
              </a:ext>
            </a:extLst>
          </p:cNvPr>
          <p:cNvSpPr>
            <a:spLocks noGrp="1"/>
          </p:cNvSpPr>
          <p:nvPr>
            <p:ph idx="1"/>
          </p:nvPr>
        </p:nvSpPr>
        <p:spPr>
          <a:xfrm>
            <a:off x="760563" y="410893"/>
            <a:ext cx="10515600" cy="5549960"/>
          </a:xfrm>
        </p:spPr>
        <p:txBody>
          <a:bodyPr>
            <a:normAutofit/>
          </a:bodyPr>
          <a:lstStyle/>
          <a:p>
            <a:pPr marL="0" indent="0">
              <a:buNone/>
            </a:pPr>
            <a:r>
              <a:rPr lang="en-US" b="1" dirty="0"/>
              <a:t>3) General Health and Safety Labs</a:t>
            </a:r>
          </a:p>
          <a:p>
            <a:r>
              <a:rPr lang="en-US" b="1" dirty="0"/>
              <a:t>Full blood count (FBC):</a:t>
            </a:r>
            <a:r>
              <a:rPr lang="en-US" dirty="0"/>
              <a:t> Detects anemia, leukopenia, thrombocytopenia.</a:t>
            </a:r>
          </a:p>
          <a:p>
            <a:r>
              <a:rPr lang="en-US" b="1" dirty="0"/>
              <a:t>Renal function:</a:t>
            </a:r>
            <a:r>
              <a:rPr lang="en-US" dirty="0"/>
              <a:t> Creatinine, eGFR → important for tenofovir use.</a:t>
            </a:r>
          </a:p>
          <a:p>
            <a:r>
              <a:rPr lang="en-US" b="1" dirty="0"/>
              <a:t>Liver function tests (LFTs):</a:t>
            </a:r>
            <a:r>
              <a:rPr lang="en-US" dirty="0"/>
              <a:t> ALT, AST, bilirubin → monitor hepatotoxicity.</a:t>
            </a:r>
          </a:p>
          <a:p>
            <a:r>
              <a:rPr lang="en-US" b="1" dirty="0"/>
              <a:t>Blood glucose &amp; lipids:</a:t>
            </a:r>
            <a:r>
              <a:rPr lang="en-US" dirty="0"/>
              <a:t> Baseline metabolic profile (especially if protease inhibitors and integrase inhibitors use planned).</a:t>
            </a:r>
          </a:p>
          <a:p>
            <a:r>
              <a:rPr lang="en-US" b="1" dirty="0"/>
              <a:t>Pregnancy test (in women of childbearing age):</a:t>
            </a:r>
            <a:r>
              <a:rPr lang="en-US" dirty="0"/>
              <a:t> Guides regimen choice.</a:t>
            </a:r>
          </a:p>
          <a:p>
            <a:endParaRPr lang="en-US" dirty="0"/>
          </a:p>
        </p:txBody>
      </p:sp>
    </p:spTree>
    <p:extLst>
      <p:ext uri="{BB962C8B-B14F-4D97-AF65-F5344CB8AC3E}">
        <p14:creationId xmlns:p14="http://schemas.microsoft.com/office/powerpoint/2010/main" val="21234015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0E686F-3A5A-749B-0B7D-7BDA438FD722}"/>
              </a:ext>
            </a:extLst>
          </p:cNvPr>
          <p:cNvSpPr>
            <a:spLocks noGrp="1"/>
          </p:cNvSpPr>
          <p:nvPr>
            <p:ph idx="1"/>
          </p:nvPr>
        </p:nvSpPr>
        <p:spPr>
          <a:xfrm>
            <a:off x="691551" y="445397"/>
            <a:ext cx="10515600" cy="5429191"/>
          </a:xfrm>
        </p:spPr>
        <p:txBody>
          <a:bodyPr/>
          <a:lstStyle/>
          <a:p>
            <a:r>
              <a:rPr lang="en-US" b="1" dirty="0"/>
              <a:t>Additional/Contextual Investigations</a:t>
            </a:r>
          </a:p>
          <a:p>
            <a:r>
              <a:rPr lang="en-US" i="1" dirty="0"/>
              <a:t>HLA‑B</a:t>
            </a:r>
            <a:r>
              <a:rPr lang="en-US" dirty="0"/>
              <a:t>5701 testing:* If abacavir considered (risk of hypersensitivity).</a:t>
            </a:r>
          </a:p>
          <a:p>
            <a:r>
              <a:rPr lang="en-US" b="1" dirty="0"/>
              <a:t>G6PD deficiency screen:</a:t>
            </a:r>
            <a:r>
              <a:rPr lang="en-US" dirty="0"/>
              <a:t> If dapsone prophylaxis planned.</a:t>
            </a:r>
          </a:p>
          <a:p>
            <a:r>
              <a:rPr lang="en-US" b="1" dirty="0"/>
              <a:t>Nutritional assessment:</a:t>
            </a:r>
            <a:r>
              <a:rPr lang="en-US" dirty="0"/>
              <a:t> Weight, BMI, baseline for monitoring</a:t>
            </a:r>
          </a:p>
          <a:p>
            <a:endParaRPr lang="en-US" dirty="0"/>
          </a:p>
        </p:txBody>
      </p:sp>
    </p:spTree>
    <p:extLst>
      <p:ext uri="{BB962C8B-B14F-4D97-AF65-F5344CB8AC3E}">
        <p14:creationId xmlns:p14="http://schemas.microsoft.com/office/powerpoint/2010/main" val="37766519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5E286-30EB-530F-5534-F69DDC42C679}"/>
              </a:ext>
            </a:extLst>
          </p:cNvPr>
          <p:cNvSpPr>
            <a:spLocks noGrp="1"/>
          </p:cNvSpPr>
          <p:nvPr>
            <p:ph type="title"/>
          </p:nvPr>
        </p:nvSpPr>
        <p:spPr>
          <a:xfrm>
            <a:off x="838199" y="18255"/>
            <a:ext cx="10515600" cy="1325563"/>
          </a:xfrm>
        </p:spPr>
        <p:txBody>
          <a:bodyPr/>
          <a:lstStyle/>
          <a:p>
            <a:r>
              <a:rPr lang="en-US" b="1" dirty="0"/>
              <a:t>CD4 ALGORITHM</a:t>
            </a:r>
          </a:p>
        </p:txBody>
      </p:sp>
      <p:pic>
        <p:nvPicPr>
          <p:cNvPr id="4" name="Content Placeholder 3">
            <a:extLst>
              <a:ext uri="{FF2B5EF4-FFF2-40B4-BE49-F238E27FC236}">
                <a16:creationId xmlns:a16="http://schemas.microsoft.com/office/drawing/2014/main" id="{ABEE2C18-C037-9144-7277-83AD631CB361}"/>
              </a:ext>
            </a:extLst>
          </p:cNvPr>
          <p:cNvPicPr>
            <a:picLocks noGrp="1" noChangeAspect="1"/>
          </p:cNvPicPr>
          <p:nvPr>
            <p:ph idx="1"/>
          </p:nvPr>
        </p:nvPicPr>
        <p:blipFill>
          <a:blip r:embed="rId2"/>
          <a:stretch>
            <a:fillRect/>
          </a:stretch>
        </p:blipFill>
        <p:spPr>
          <a:xfrm>
            <a:off x="838199" y="1475116"/>
            <a:ext cx="10842208" cy="4761781"/>
          </a:xfrm>
          <a:prstGeom prst="rect">
            <a:avLst/>
          </a:prstGeom>
        </p:spPr>
      </p:pic>
    </p:spTree>
    <p:extLst>
      <p:ext uri="{BB962C8B-B14F-4D97-AF65-F5344CB8AC3E}">
        <p14:creationId xmlns:p14="http://schemas.microsoft.com/office/powerpoint/2010/main" val="39376341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56094-508D-B286-F374-CEC7DB060DB0}"/>
              </a:ext>
            </a:extLst>
          </p:cNvPr>
          <p:cNvSpPr>
            <a:spLocks noGrp="1"/>
          </p:cNvSpPr>
          <p:nvPr>
            <p:ph type="title"/>
          </p:nvPr>
        </p:nvSpPr>
        <p:spPr/>
        <p:txBody>
          <a:bodyPr/>
          <a:lstStyle/>
          <a:p>
            <a:r>
              <a:rPr lang="en-US" b="1" dirty="0"/>
              <a:t>VIRAL LOAD ALGORITHM</a:t>
            </a:r>
          </a:p>
        </p:txBody>
      </p:sp>
      <p:pic>
        <p:nvPicPr>
          <p:cNvPr id="5" name="Content Placeholder 4">
            <a:extLst>
              <a:ext uri="{FF2B5EF4-FFF2-40B4-BE49-F238E27FC236}">
                <a16:creationId xmlns:a16="http://schemas.microsoft.com/office/drawing/2014/main" id="{3B76E2A8-FEB9-9A0A-2FC1-5D01DF1EB0FC}"/>
              </a:ext>
            </a:extLst>
          </p:cNvPr>
          <p:cNvPicPr>
            <a:picLocks noGrp="1" noChangeAspect="1"/>
          </p:cNvPicPr>
          <p:nvPr>
            <p:ph idx="1"/>
          </p:nvPr>
        </p:nvPicPr>
        <p:blipFill>
          <a:blip r:embed="rId2"/>
          <a:stretch>
            <a:fillRect/>
          </a:stretch>
        </p:blipFill>
        <p:spPr>
          <a:xfrm>
            <a:off x="939275" y="1463314"/>
            <a:ext cx="9317533" cy="5271568"/>
          </a:xfrm>
          <a:prstGeom prst="rect">
            <a:avLst/>
          </a:prstGeom>
        </p:spPr>
      </p:pic>
    </p:spTree>
    <p:extLst>
      <p:ext uri="{BB962C8B-B14F-4D97-AF65-F5344CB8AC3E}">
        <p14:creationId xmlns:p14="http://schemas.microsoft.com/office/powerpoint/2010/main" val="33293022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3F324-D992-AE8C-A680-F6498AEAD3F4}"/>
              </a:ext>
            </a:extLst>
          </p:cNvPr>
          <p:cNvSpPr>
            <a:spLocks noGrp="1"/>
          </p:cNvSpPr>
          <p:nvPr>
            <p:ph type="title"/>
          </p:nvPr>
        </p:nvSpPr>
        <p:spPr>
          <a:xfrm>
            <a:off x="923027" y="231002"/>
            <a:ext cx="10515600" cy="1325563"/>
          </a:xfrm>
        </p:spPr>
        <p:txBody>
          <a:bodyPr>
            <a:normAutofit/>
          </a:bodyPr>
          <a:lstStyle/>
          <a:p>
            <a:r>
              <a:rPr lang="en-US" sz="3600" b="1" dirty="0"/>
              <a:t>HVL Monitoring Algorithm for Pregnant and Breastfeeding Mothers </a:t>
            </a:r>
          </a:p>
        </p:txBody>
      </p:sp>
      <p:pic>
        <p:nvPicPr>
          <p:cNvPr id="5" name="Content Placeholder 4">
            <a:extLst>
              <a:ext uri="{FF2B5EF4-FFF2-40B4-BE49-F238E27FC236}">
                <a16:creationId xmlns:a16="http://schemas.microsoft.com/office/drawing/2014/main" id="{7F58FB78-0AA0-920F-DF0D-C4D6EC83F116}"/>
              </a:ext>
            </a:extLst>
          </p:cNvPr>
          <p:cNvPicPr>
            <a:picLocks noGrp="1" noChangeAspect="1"/>
          </p:cNvPicPr>
          <p:nvPr>
            <p:ph idx="1"/>
          </p:nvPr>
        </p:nvPicPr>
        <p:blipFill>
          <a:blip r:embed="rId2"/>
          <a:stretch>
            <a:fillRect/>
          </a:stretch>
        </p:blipFill>
        <p:spPr>
          <a:xfrm>
            <a:off x="923027" y="1470641"/>
            <a:ext cx="9307902" cy="5212016"/>
          </a:xfrm>
          <a:prstGeom prst="rect">
            <a:avLst/>
          </a:prstGeom>
        </p:spPr>
      </p:pic>
    </p:spTree>
    <p:extLst>
      <p:ext uri="{BB962C8B-B14F-4D97-AF65-F5344CB8AC3E}">
        <p14:creationId xmlns:p14="http://schemas.microsoft.com/office/powerpoint/2010/main" val="35747910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86968-C650-2421-2B46-763A11687654}"/>
              </a:ext>
            </a:extLst>
          </p:cNvPr>
          <p:cNvSpPr>
            <a:spLocks noGrp="1"/>
          </p:cNvSpPr>
          <p:nvPr>
            <p:ph type="title"/>
          </p:nvPr>
        </p:nvSpPr>
        <p:spPr/>
        <p:txBody>
          <a:bodyPr/>
          <a:lstStyle/>
          <a:p>
            <a:r>
              <a:rPr lang="en-US" dirty="0"/>
              <a:t>HIV treatment: Paradigm shift</a:t>
            </a:r>
          </a:p>
        </p:txBody>
      </p:sp>
      <p:pic>
        <p:nvPicPr>
          <p:cNvPr id="5" name="Content Placeholder 4">
            <a:extLst>
              <a:ext uri="{FF2B5EF4-FFF2-40B4-BE49-F238E27FC236}">
                <a16:creationId xmlns:a16="http://schemas.microsoft.com/office/drawing/2014/main" id="{E39BDA3A-7883-FD1E-A9A4-6530250E5265}"/>
              </a:ext>
            </a:extLst>
          </p:cNvPr>
          <p:cNvPicPr>
            <a:picLocks noGrp="1" noChangeAspect="1"/>
          </p:cNvPicPr>
          <p:nvPr>
            <p:ph idx="1"/>
          </p:nvPr>
        </p:nvPicPr>
        <p:blipFill>
          <a:blip r:embed="rId2"/>
          <a:stretch>
            <a:fillRect/>
          </a:stretch>
        </p:blipFill>
        <p:spPr>
          <a:xfrm>
            <a:off x="1784350" y="2185194"/>
            <a:ext cx="8623300" cy="3632200"/>
          </a:xfrm>
          <a:prstGeom prst="rect">
            <a:avLst/>
          </a:prstGeom>
        </p:spPr>
      </p:pic>
    </p:spTree>
    <p:extLst>
      <p:ext uri="{BB962C8B-B14F-4D97-AF65-F5344CB8AC3E}">
        <p14:creationId xmlns:p14="http://schemas.microsoft.com/office/powerpoint/2010/main" val="7913107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98CDE-10F3-0627-8267-7D370723CEBE}"/>
              </a:ext>
            </a:extLst>
          </p:cNvPr>
          <p:cNvSpPr>
            <a:spLocks noGrp="1"/>
          </p:cNvSpPr>
          <p:nvPr>
            <p:ph type="title"/>
          </p:nvPr>
        </p:nvSpPr>
        <p:spPr/>
        <p:txBody>
          <a:bodyPr/>
          <a:lstStyle/>
          <a:p>
            <a:r>
              <a:rPr lang="en-US" b="1" dirty="0"/>
              <a:t>TREATMENT OF HIV</a:t>
            </a:r>
          </a:p>
        </p:txBody>
      </p:sp>
      <p:sp>
        <p:nvSpPr>
          <p:cNvPr id="3" name="Content Placeholder 2">
            <a:extLst>
              <a:ext uri="{FF2B5EF4-FFF2-40B4-BE49-F238E27FC236}">
                <a16:creationId xmlns:a16="http://schemas.microsoft.com/office/drawing/2014/main" id="{37A673EE-CF12-CC9F-10D0-E2CDF8F7B001}"/>
              </a:ext>
            </a:extLst>
          </p:cNvPr>
          <p:cNvSpPr>
            <a:spLocks noGrp="1"/>
          </p:cNvSpPr>
          <p:nvPr>
            <p:ph idx="1"/>
          </p:nvPr>
        </p:nvSpPr>
        <p:spPr/>
        <p:txBody>
          <a:bodyPr>
            <a:normAutofit/>
          </a:bodyPr>
          <a:lstStyle/>
          <a:p>
            <a:pPr marL="0" indent="0">
              <a:buNone/>
            </a:pPr>
            <a:r>
              <a:rPr lang="en-US" sz="4000" b="1" dirty="0"/>
              <a:t>Primary Goals:</a:t>
            </a:r>
          </a:p>
          <a:p>
            <a:r>
              <a:rPr lang="en-US" b="1" dirty="0"/>
              <a:t>Maximal and durable viral suppression</a:t>
            </a:r>
            <a:r>
              <a:rPr lang="en-US" dirty="0"/>
              <a:t> (&lt;50 copies/ml).</a:t>
            </a:r>
          </a:p>
          <a:p>
            <a:r>
              <a:rPr lang="en-US" b="1" dirty="0"/>
              <a:t>Restoration/preservation of immune function</a:t>
            </a:r>
            <a:r>
              <a:rPr lang="en-US" dirty="0"/>
              <a:t> (CD4 recovery ≥500 cells/mm³).</a:t>
            </a:r>
          </a:p>
          <a:p>
            <a:r>
              <a:rPr lang="en-US" b="1" dirty="0"/>
              <a:t>Reduction of HIV‑related morbidity and mortality</a:t>
            </a:r>
            <a:r>
              <a:rPr lang="en-US" dirty="0"/>
              <a:t> → improved survival and quality of life.</a:t>
            </a:r>
          </a:p>
          <a:p>
            <a:endParaRPr lang="en-US" dirty="0"/>
          </a:p>
        </p:txBody>
      </p:sp>
    </p:spTree>
    <p:extLst>
      <p:ext uri="{BB962C8B-B14F-4D97-AF65-F5344CB8AC3E}">
        <p14:creationId xmlns:p14="http://schemas.microsoft.com/office/powerpoint/2010/main" val="3270268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D6348E-D6AF-DB8A-24C3-A02FD0018669}"/>
              </a:ext>
            </a:extLst>
          </p:cNvPr>
          <p:cNvSpPr>
            <a:spLocks noGrp="1"/>
          </p:cNvSpPr>
          <p:nvPr>
            <p:ph idx="1"/>
          </p:nvPr>
        </p:nvSpPr>
        <p:spPr>
          <a:xfrm>
            <a:off x="682752" y="417448"/>
            <a:ext cx="10515600" cy="5782183"/>
          </a:xfrm>
        </p:spPr>
        <p:txBody>
          <a:bodyPr>
            <a:normAutofit/>
          </a:bodyPr>
          <a:lstStyle/>
          <a:p>
            <a:pPr marL="0" indent="0">
              <a:buNone/>
            </a:pPr>
            <a:r>
              <a:rPr lang="en-US" sz="4000" b="1" dirty="0"/>
              <a:t>Secondary Goals:</a:t>
            </a:r>
          </a:p>
          <a:p>
            <a:r>
              <a:rPr lang="en-US" dirty="0"/>
              <a:t>Reduce the number of </a:t>
            </a:r>
            <a:r>
              <a:rPr lang="en-US" b="1" dirty="0"/>
              <a:t>unsuppressed individuals</a:t>
            </a:r>
            <a:r>
              <a:rPr lang="en-US" dirty="0"/>
              <a:t>, lowering community transmission.</a:t>
            </a:r>
          </a:p>
          <a:p>
            <a:r>
              <a:rPr lang="en-US" dirty="0"/>
              <a:t>Prevent </a:t>
            </a:r>
            <a:r>
              <a:rPr lang="en-US" b="1" dirty="0"/>
              <a:t>mother‑to‑child transmission</a:t>
            </a:r>
            <a:r>
              <a:rPr lang="en-US" dirty="0"/>
              <a:t> in pregnant and lactating women.</a:t>
            </a:r>
          </a:p>
          <a:p>
            <a:r>
              <a:rPr lang="en-US" dirty="0"/>
              <a:t>Reduce </a:t>
            </a:r>
            <a:r>
              <a:rPr lang="en-US" b="1" dirty="0"/>
              <a:t>transmission in discordant couples</a:t>
            </a:r>
            <a:r>
              <a:rPr lang="en-US" dirty="0"/>
              <a:t> (one partner HIV‑positive, the other negative).</a:t>
            </a:r>
          </a:p>
          <a:p>
            <a:pPr marL="0" indent="0">
              <a:buNone/>
            </a:pPr>
            <a:endParaRPr lang="en-US" dirty="0"/>
          </a:p>
          <a:p>
            <a:pPr marL="0" indent="0">
              <a:buNone/>
            </a:pPr>
            <a:r>
              <a:rPr lang="en-US" dirty="0"/>
              <a:t>👉 </a:t>
            </a:r>
            <a:r>
              <a:rPr lang="en-US" b="1" dirty="0"/>
              <a:t>ART aims to suppress HIV, restore immunity, improve survival, and reduce transmission — but must be lifelong due to viral reservoirs.</a:t>
            </a:r>
            <a:endParaRPr lang="en-US" dirty="0"/>
          </a:p>
          <a:p>
            <a:endParaRPr lang="en-US" dirty="0"/>
          </a:p>
        </p:txBody>
      </p:sp>
    </p:spTree>
    <p:extLst>
      <p:ext uri="{BB962C8B-B14F-4D97-AF65-F5344CB8AC3E}">
        <p14:creationId xmlns:p14="http://schemas.microsoft.com/office/powerpoint/2010/main" val="33532713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EE7B7-209F-F8B8-DB7D-56818176D5A8}"/>
              </a:ext>
            </a:extLst>
          </p:cNvPr>
          <p:cNvSpPr>
            <a:spLocks noGrp="1"/>
          </p:cNvSpPr>
          <p:nvPr>
            <p:ph type="title"/>
          </p:nvPr>
        </p:nvSpPr>
        <p:spPr>
          <a:xfrm>
            <a:off x="838200" y="179482"/>
            <a:ext cx="10515600" cy="501556"/>
          </a:xfrm>
        </p:spPr>
        <p:txBody>
          <a:bodyPr>
            <a:normAutofit/>
          </a:bodyPr>
          <a:lstStyle/>
          <a:p>
            <a:r>
              <a:rPr lang="en-US" sz="2800" b="1" dirty="0"/>
              <a:t>ART’s CLASSES</a:t>
            </a:r>
          </a:p>
        </p:txBody>
      </p:sp>
      <p:graphicFrame>
        <p:nvGraphicFramePr>
          <p:cNvPr id="4" name="Content Placeholder 3">
            <a:extLst>
              <a:ext uri="{FF2B5EF4-FFF2-40B4-BE49-F238E27FC236}">
                <a16:creationId xmlns:a16="http://schemas.microsoft.com/office/drawing/2014/main" id="{B1C5B324-92BE-DC9B-CFE9-31909B2017D8}"/>
              </a:ext>
            </a:extLst>
          </p:cNvPr>
          <p:cNvGraphicFramePr>
            <a:graphicFrameLocks noGrp="1"/>
          </p:cNvGraphicFramePr>
          <p:nvPr>
            <p:ph idx="1"/>
            <p:extLst>
              <p:ext uri="{D42A27DB-BD31-4B8C-83A1-F6EECF244321}">
                <p14:modId xmlns:p14="http://schemas.microsoft.com/office/powerpoint/2010/main" val="2184174106"/>
              </p:ext>
            </p:extLst>
          </p:nvPr>
        </p:nvGraphicFramePr>
        <p:xfrm>
          <a:off x="838200" y="954782"/>
          <a:ext cx="10616184" cy="5723736"/>
        </p:xfrm>
        <a:graphic>
          <a:graphicData uri="http://schemas.openxmlformats.org/drawingml/2006/table">
            <a:tbl>
              <a:tblPr/>
              <a:tblGrid>
                <a:gridCol w="2654046">
                  <a:extLst>
                    <a:ext uri="{9D8B030D-6E8A-4147-A177-3AD203B41FA5}">
                      <a16:colId xmlns:a16="http://schemas.microsoft.com/office/drawing/2014/main" val="2725618626"/>
                    </a:ext>
                  </a:extLst>
                </a:gridCol>
                <a:gridCol w="2654046">
                  <a:extLst>
                    <a:ext uri="{9D8B030D-6E8A-4147-A177-3AD203B41FA5}">
                      <a16:colId xmlns:a16="http://schemas.microsoft.com/office/drawing/2014/main" val="3761279306"/>
                    </a:ext>
                  </a:extLst>
                </a:gridCol>
                <a:gridCol w="2654046">
                  <a:extLst>
                    <a:ext uri="{9D8B030D-6E8A-4147-A177-3AD203B41FA5}">
                      <a16:colId xmlns:a16="http://schemas.microsoft.com/office/drawing/2014/main" val="2457945963"/>
                    </a:ext>
                  </a:extLst>
                </a:gridCol>
                <a:gridCol w="2654046">
                  <a:extLst>
                    <a:ext uri="{9D8B030D-6E8A-4147-A177-3AD203B41FA5}">
                      <a16:colId xmlns:a16="http://schemas.microsoft.com/office/drawing/2014/main" val="4229797579"/>
                    </a:ext>
                  </a:extLst>
                </a:gridCol>
              </a:tblGrid>
              <a:tr h="415343">
                <a:tc>
                  <a:txBody>
                    <a:bodyPr/>
                    <a:lstStyle/>
                    <a:p>
                      <a:pPr>
                        <a:buNone/>
                      </a:pPr>
                      <a:r>
                        <a:rPr lang="en-US" sz="2000" b="1"/>
                        <a:t>Drug Class</a:t>
                      </a:r>
                      <a:endParaRPr lang="en-US" sz="2000"/>
                    </a:p>
                  </a:txBody>
                  <a:tcPr marL="59335" marR="59335" marT="29667" marB="29667" anchor="ctr">
                    <a:lnL>
                      <a:noFill/>
                    </a:lnL>
                    <a:lnR>
                      <a:noFill/>
                    </a:lnR>
                    <a:lnT>
                      <a:noFill/>
                    </a:lnT>
                    <a:lnB>
                      <a:noFill/>
                    </a:lnB>
                    <a:noFill/>
                  </a:tcPr>
                </a:tc>
                <a:tc>
                  <a:txBody>
                    <a:bodyPr/>
                    <a:lstStyle/>
                    <a:p>
                      <a:pPr>
                        <a:buNone/>
                      </a:pPr>
                      <a:r>
                        <a:rPr lang="en-US" sz="2000" b="1"/>
                        <a:t>Abbreviation</a:t>
                      </a:r>
                      <a:endParaRPr lang="en-US" sz="2000"/>
                    </a:p>
                  </a:txBody>
                  <a:tcPr marL="59335" marR="59335" marT="29667" marB="29667" anchor="ctr">
                    <a:lnL>
                      <a:noFill/>
                    </a:lnL>
                    <a:lnR>
                      <a:noFill/>
                    </a:lnR>
                    <a:lnT>
                      <a:noFill/>
                    </a:lnT>
                    <a:lnB>
                      <a:noFill/>
                    </a:lnB>
                    <a:noFill/>
                  </a:tcPr>
                </a:tc>
                <a:tc>
                  <a:txBody>
                    <a:bodyPr/>
                    <a:lstStyle/>
                    <a:p>
                      <a:pPr>
                        <a:buNone/>
                      </a:pPr>
                      <a:r>
                        <a:rPr lang="en-US" sz="2000" b="1"/>
                        <a:t>Mechanism of Action</a:t>
                      </a:r>
                      <a:endParaRPr lang="en-US" sz="2000"/>
                    </a:p>
                  </a:txBody>
                  <a:tcPr marL="59335" marR="59335" marT="29667" marB="29667" anchor="ctr">
                    <a:lnL>
                      <a:noFill/>
                    </a:lnL>
                    <a:lnR>
                      <a:noFill/>
                    </a:lnR>
                    <a:lnT>
                      <a:noFill/>
                    </a:lnT>
                    <a:lnB>
                      <a:noFill/>
                    </a:lnB>
                    <a:noFill/>
                  </a:tcPr>
                </a:tc>
                <a:tc>
                  <a:txBody>
                    <a:bodyPr/>
                    <a:lstStyle/>
                    <a:p>
                      <a:pPr>
                        <a:buNone/>
                      </a:pPr>
                      <a:r>
                        <a:rPr lang="en-US" sz="2000" b="1"/>
                        <a:t>Examples (as per guidelines)</a:t>
                      </a:r>
                      <a:endParaRPr lang="en-US" sz="2000"/>
                    </a:p>
                  </a:txBody>
                  <a:tcPr marL="59335" marR="59335" marT="29667" marB="29667" anchor="ctr">
                    <a:lnL>
                      <a:noFill/>
                    </a:lnL>
                    <a:lnR>
                      <a:noFill/>
                    </a:lnR>
                    <a:lnT>
                      <a:noFill/>
                    </a:lnT>
                    <a:lnB>
                      <a:noFill/>
                    </a:lnB>
                    <a:noFill/>
                  </a:tcPr>
                </a:tc>
                <a:extLst>
                  <a:ext uri="{0D108BD9-81ED-4DB2-BD59-A6C34878D82A}">
                    <a16:rowId xmlns:a16="http://schemas.microsoft.com/office/drawing/2014/main" val="707574291"/>
                  </a:ext>
                </a:extLst>
              </a:tr>
              <a:tr h="949356">
                <a:tc>
                  <a:txBody>
                    <a:bodyPr/>
                    <a:lstStyle/>
                    <a:p>
                      <a:pPr>
                        <a:buNone/>
                      </a:pPr>
                      <a:r>
                        <a:rPr lang="en-US" sz="2000" b="1" dirty="0"/>
                        <a:t>Nucleotide Reverse Transcriptase Inhibitors</a:t>
                      </a:r>
                      <a:endParaRPr lang="en-US" sz="2000" dirty="0"/>
                    </a:p>
                  </a:txBody>
                  <a:tcPr marL="59335" marR="59335" marT="29667" marB="29667" anchor="ctr">
                    <a:lnL>
                      <a:noFill/>
                    </a:lnL>
                    <a:lnR>
                      <a:noFill/>
                    </a:lnR>
                    <a:lnT>
                      <a:noFill/>
                    </a:lnT>
                    <a:lnB>
                      <a:noFill/>
                    </a:lnB>
                    <a:noFill/>
                  </a:tcPr>
                </a:tc>
                <a:tc>
                  <a:txBody>
                    <a:bodyPr/>
                    <a:lstStyle/>
                    <a:p>
                      <a:pPr>
                        <a:buNone/>
                      </a:pPr>
                      <a:r>
                        <a:rPr lang="en-US" sz="2000"/>
                        <a:t>NtRTIs</a:t>
                      </a:r>
                    </a:p>
                  </a:txBody>
                  <a:tcPr marL="59335" marR="59335" marT="29667" marB="29667" anchor="ctr">
                    <a:lnL>
                      <a:noFill/>
                    </a:lnL>
                    <a:lnR>
                      <a:noFill/>
                    </a:lnR>
                    <a:lnT>
                      <a:noFill/>
                    </a:lnT>
                    <a:lnB>
                      <a:noFill/>
                    </a:lnB>
                    <a:noFill/>
                  </a:tcPr>
                </a:tc>
                <a:tc>
                  <a:txBody>
                    <a:bodyPr/>
                    <a:lstStyle/>
                    <a:p>
                      <a:pPr>
                        <a:buNone/>
                      </a:pPr>
                      <a:r>
                        <a:rPr lang="en-US" sz="2000"/>
                        <a:t>Nucleotide analogues that inhibit the HIV reverse transcriptase enzyme, preventing viral DNA synthesis</a:t>
                      </a:r>
                    </a:p>
                  </a:txBody>
                  <a:tcPr marL="59335" marR="59335" marT="29667" marB="29667" anchor="ctr">
                    <a:lnL>
                      <a:noFill/>
                    </a:lnL>
                    <a:lnR>
                      <a:noFill/>
                    </a:lnR>
                    <a:lnT>
                      <a:noFill/>
                    </a:lnT>
                    <a:lnB>
                      <a:noFill/>
                    </a:lnB>
                    <a:noFill/>
                  </a:tcPr>
                </a:tc>
                <a:tc>
                  <a:txBody>
                    <a:bodyPr/>
                    <a:lstStyle/>
                    <a:p>
                      <a:pPr>
                        <a:buNone/>
                      </a:pPr>
                      <a:r>
                        <a:rPr lang="en-US" sz="2000"/>
                        <a:t>Tenofovir disoproxil fumarate (TDF), Tenofovir alafenamide (TAF)</a:t>
                      </a:r>
                    </a:p>
                  </a:txBody>
                  <a:tcPr marL="59335" marR="59335" marT="29667" marB="29667" anchor="ctr">
                    <a:lnL>
                      <a:noFill/>
                    </a:lnL>
                    <a:lnR>
                      <a:noFill/>
                    </a:lnR>
                    <a:lnT>
                      <a:noFill/>
                    </a:lnT>
                    <a:lnB>
                      <a:noFill/>
                    </a:lnB>
                    <a:noFill/>
                  </a:tcPr>
                </a:tc>
                <a:extLst>
                  <a:ext uri="{0D108BD9-81ED-4DB2-BD59-A6C34878D82A}">
                    <a16:rowId xmlns:a16="http://schemas.microsoft.com/office/drawing/2014/main" val="2235525271"/>
                  </a:ext>
                </a:extLst>
              </a:tr>
              <a:tr h="949356">
                <a:tc>
                  <a:txBody>
                    <a:bodyPr/>
                    <a:lstStyle/>
                    <a:p>
                      <a:pPr>
                        <a:buNone/>
                      </a:pPr>
                      <a:r>
                        <a:rPr lang="en-US" sz="2000" b="1"/>
                        <a:t>Nucleoside Reverse Transcriptase Inhibitors</a:t>
                      </a:r>
                      <a:endParaRPr lang="en-US" sz="2000"/>
                    </a:p>
                  </a:txBody>
                  <a:tcPr marL="59335" marR="59335" marT="29667" marB="29667" anchor="ctr">
                    <a:lnL>
                      <a:noFill/>
                    </a:lnL>
                    <a:lnR>
                      <a:noFill/>
                    </a:lnR>
                    <a:lnT>
                      <a:noFill/>
                    </a:lnT>
                    <a:lnB>
                      <a:noFill/>
                    </a:lnB>
                    <a:noFill/>
                  </a:tcPr>
                </a:tc>
                <a:tc>
                  <a:txBody>
                    <a:bodyPr/>
                    <a:lstStyle/>
                    <a:p>
                      <a:pPr>
                        <a:buNone/>
                      </a:pPr>
                      <a:r>
                        <a:rPr lang="en-US" sz="2000"/>
                        <a:t>NRTIs</a:t>
                      </a:r>
                    </a:p>
                  </a:txBody>
                  <a:tcPr marL="59335" marR="59335" marT="29667" marB="29667" anchor="ctr">
                    <a:lnL>
                      <a:noFill/>
                    </a:lnL>
                    <a:lnR>
                      <a:noFill/>
                    </a:lnR>
                    <a:lnT>
                      <a:noFill/>
                    </a:lnT>
                    <a:lnB>
                      <a:noFill/>
                    </a:lnB>
                    <a:noFill/>
                  </a:tcPr>
                </a:tc>
                <a:tc>
                  <a:txBody>
                    <a:bodyPr/>
                    <a:lstStyle/>
                    <a:p>
                      <a:pPr>
                        <a:buNone/>
                      </a:pPr>
                      <a:r>
                        <a:rPr lang="en-US" sz="2000"/>
                        <a:t>Inhibit viral RNA-dependent DNA polymerase (reverse transcriptase); backbone of ART regimens</a:t>
                      </a:r>
                    </a:p>
                  </a:txBody>
                  <a:tcPr marL="59335" marR="59335" marT="29667" marB="29667" anchor="ctr">
                    <a:lnL>
                      <a:noFill/>
                    </a:lnL>
                    <a:lnR>
                      <a:noFill/>
                    </a:lnR>
                    <a:lnT>
                      <a:noFill/>
                    </a:lnT>
                    <a:lnB>
                      <a:noFill/>
                    </a:lnB>
                    <a:noFill/>
                  </a:tcPr>
                </a:tc>
                <a:tc>
                  <a:txBody>
                    <a:bodyPr/>
                    <a:lstStyle/>
                    <a:p>
                      <a:pPr>
                        <a:buNone/>
                      </a:pPr>
                      <a:r>
                        <a:rPr lang="en-US" sz="2000"/>
                        <a:t>Zidovudine (AZT), Lamivudine (3TC), Emtricitabine (FTC), Abacavir (ABC)</a:t>
                      </a:r>
                    </a:p>
                  </a:txBody>
                  <a:tcPr marL="59335" marR="59335" marT="29667" marB="29667" anchor="ctr">
                    <a:lnL>
                      <a:noFill/>
                    </a:lnL>
                    <a:lnR>
                      <a:noFill/>
                    </a:lnR>
                    <a:lnT>
                      <a:noFill/>
                    </a:lnT>
                    <a:lnB>
                      <a:noFill/>
                    </a:lnB>
                    <a:noFill/>
                  </a:tcPr>
                </a:tc>
                <a:extLst>
                  <a:ext uri="{0D108BD9-81ED-4DB2-BD59-A6C34878D82A}">
                    <a16:rowId xmlns:a16="http://schemas.microsoft.com/office/drawing/2014/main" val="3224191671"/>
                  </a:ext>
                </a:extLst>
              </a:tr>
              <a:tr h="1065419">
                <a:tc>
                  <a:txBody>
                    <a:bodyPr/>
                    <a:lstStyle/>
                    <a:p>
                      <a:pPr>
                        <a:buNone/>
                      </a:pPr>
                      <a:r>
                        <a:rPr lang="en-US" sz="2000" b="1"/>
                        <a:t>Non-Nucleoside Reverse Transcriptase Inhibitors</a:t>
                      </a:r>
                      <a:endParaRPr lang="en-US" sz="2000"/>
                    </a:p>
                  </a:txBody>
                  <a:tcPr marL="59335" marR="59335" marT="29667" marB="29667" anchor="ctr">
                    <a:lnL>
                      <a:noFill/>
                    </a:lnL>
                    <a:lnR>
                      <a:noFill/>
                    </a:lnR>
                    <a:lnT>
                      <a:noFill/>
                    </a:lnT>
                    <a:lnB>
                      <a:noFill/>
                    </a:lnB>
                    <a:noFill/>
                  </a:tcPr>
                </a:tc>
                <a:tc>
                  <a:txBody>
                    <a:bodyPr/>
                    <a:lstStyle/>
                    <a:p>
                      <a:pPr>
                        <a:buNone/>
                      </a:pPr>
                      <a:r>
                        <a:rPr lang="en-US" sz="2000" dirty="0"/>
                        <a:t>NNRTIs</a:t>
                      </a:r>
                    </a:p>
                  </a:txBody>
                  <a:tcPr marL="59335" marR="59335" marT="29667" marB="29667" anchor="ctr">
                    <a:lnL>
                      <a:noFill/>
                    </a:lnL>
                    <a:lnR>
                      <a:noFill/>
                    </a:lnR>
                    <a:lnT>
                      <a:noFill/>
                    </a:lnT>
                    <a:lnB>
                      <a:noFill/>
                    </a:lnB>
                    <a:noFill/>
                  </a:tcPr>
                </a:tc>
                <a:tc>
                  <a:txBody>
                    <a:bodyPr/>
                    <a:lstStyle/>
                    <a:p>
                      <a:pPr>
                        <a:buNone/>
                      </a:pPr>
                      <a:r>
                        <a:rPr lang="en-US" sz="2000"/>
                        <a:t>Bind directly to reverse transcriptase enzyme and block viral RNA to DNA transcription (not incorporated into DNA)</a:t>
                      </a:r>
                    </a:p>
                  </a:txBody>
                  <a:tcPr marL="59335" marR="59335" marT="29667" marB="29667" anchor="ctr">
                    <a:lnL>
                      <a:noFill/>
                    </a:lnL>
                    <a:lnR>
                      <a:noFill/>
                    </a:lnR>
                    <a:lnT>
                      <a:noFill/>
                    </a:lnT>
                    <a:lnB>
                      <a:noFill/>
                    </a:lnB>
                    <a:noFill/>
                  </a:tcPr>
                </a:tc>
                <a:tc>
                  <a:txBody>
                    <a:bodyPr/>
                    <a:lstStyle/>
                    <a:p>
                      <a:pPr>
                        <a:buNone/>
                      </a:pPr>
                      <a:r>
                        <a:rPr lang="en-US" sz="2000" b="1" dirty="0"/>
                        <a:t>1st gen:</a:t>
                      </a:r>
                      <a:r>
                        <a:rPr lang="en-US" sz="2000" dirty="0"/>
                        <a:t> Nevirapine (NVP), Efavirenz (EFV) </a:t>
                      </a:r>
                      <a:r>
                        <a:rPr lang="en-US" sz="2000" b="1" dirty="0"/>
                        <a:t>2nd gen:</a:t>
                      </a:r>
                      <a:r>
                        <a:rPr lang="en-US" sz="2000" dirty="0"/>
                        <a:t> Etravirine (ETR)</a:t>
                      </a:r>
                    </a:p>
                  </a:txBody>
                  <a:tcPr marL="59335" marR="59335" marT="29667" marB="29667" anchor="ctr">
                    <a:lnL>
                      <a:noFill/>
                    </a:lnL>
                    <a:lnR>
                      <a:noFill/>
                    </a:lnR>
                    <a:lnT>
                      <a:noFill/>
                    </a:lnT>
                    <a:lnB>
                      <a:noFill/>
                    </a:lnB>
                    <a:noFill/>
                  </a:tcPr>
                </a:tc>
                <a:extLst>
                  <a:ext uri="{0D108BD9-81ED-4DB2-BD59-A6C34878D82A}">
                    <a16:rowId xmlns:a16="http://schemas.microsoft.com/office/drawing/2014/main" val="1536436967"/>
                  </a:ext>
                </a:extLst>
              </a:tr>
            </a:tbl>
          </a:graphicData>
        </a:graphic>
      </p:graphicFrame>
    </p:spTree>
    <p:extLst>
      <p:ext uri="{BB962C8B-B14F-4D97-AF65-F5344CB8AC3E}">
        <p14:creationId xmlns:p14="http://schemas.microsoft.com/office/powerpoint/2010/main" val="5754898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60ED8D8-1100-FDD5-4434-E741741AC2C5}"/>
              </a:ext>
            </a:extLst>
          </p:cNvPr>
          <p:cNvGraphicFramePr>
            <a:graphicFrameLocks noGrp="1"/>
          </p:cNvGraphicFramePr>
          <p:nvPr>
            <p:ph idx="1"/>
            <p:extLst>
              <p:ext uri="{D42A27DB-BD31-4B8C-83A1-F6EECF244321}">
                <p14:modId xmlns:p14="http://schemas.microsoft.com/office/powerpoint/2010/main" val="3459499968"/>
              </p:ext>
            </p:extLst>
          </p:nvPr>
        </p:nvGraphicFramePr>
        <p:xfrm>
          <a:off x="399288" y="301752"/>
          <a:ext cx="11393424" cy="6254496"/>
        </p:xfrm>
        <a:graphic>
          <a:graphicData uri="http://schemas.openxmlformats.org/drawingml/2006/table">
            <a:tbl>
              <a:tblPr/>
              <a:tblGrid>
                <a:gridCol w="2848356">
                  <a:extLst>
                    <a:ext uri="{9D8B030D-6E8A-4147-A177-3AD203B41FA5}">
                      <a16:colId xmlns:a16="http://schemas.microsoft.com/office/drawing/2014/main" val="3431030739"/>
                    </a:ext>
                  </a:extLst>
                </a:gridCol>
                <a:gridCol w="2848356">
                  <a:extLst>
                    <a:ext uri="{9D8B030D-6E8A-4147-A177-3AD203B41FA5}">
                      <a16:colId xmlns:a16="http://schemas.microsoft.com/office/drawing/2014/main" val="2566154096"/>
                    </a:ext>
                  </a:extLst>
                </a:gridCol>
                <a:gridCol w="2848356">
                  <a:extLst>
                    <a:ext uri="{9D8B030D-6E8A-4147-A177-3AD203B41FA5}">
                      <a16:colId xmlns:a16="http://schemas.microsoft.com/office/drawing/2014/main" val="3431358073"/>
                    </a:ext>
                  </a:extLst>
                </a:gridCol>
                <a:gridCol w="2848356">
                  <a:extLst>
                    <a:ext uri="{9D8B030D-6E8A-4147-A177-3AD203B41FA5}">
                      <a16:colId xmlns:a16="http://schemas.microsoft.com/office/drawing/2014/main" val="3539532621"/>
                    </a:ext>
                  </a:extLst>
                </a:gridCol>
              </a:tblGrid>
              <a:tr h="801655">
                <a:tc>
                  <a:txBody>
                    <a:bodyPr/>
                    <a:lstStyle/>
                    <a:p>
                      <a:pPr>
                        <a:buNone/>
                      </a:pPr>
                      <a:r>
                        <a:rPr lang="en-US" sz="2000" b="1"/>
                        <a:t>Drug Class</a:t>
                      </a:r>
                      <a:endParaRPr lang="en-US" sz="2000"/>
                    </a:p>
                  </a:txBody>
                  <a:tcPr marL="43083" marR="43083" marT="21541" marB="21541" anchor="ctr">
                    <a:lnL>
                      <a:noFill/>
                    </a:lnL>
                    <a:lnR>
                      <a:noFill/>
                    </a:lnR>
                    <a:lnT>
                      <a:noFill/>
                    </a:lnT>
                    <a:lnB>
                      <a:noFill/>
                    </a:lnB>
                    <a:noFill/>
                  </a:tcPr>
                </a:tc>
                <a:tc>
                  <a:txBody>
                    <a:bodyPr/>
                    <a:lstStyle/>
                    <a:p>
                      <a:pPr>
                        <a:buNone/>
                      </a:pPr>
                      <a:r>
                        <a:rPr lang="en-US" sz="2000" b="1"/>
                        <a:t>Abbreviation</a:t>
                      </a:r>
                      <a:endParaRPr lang="en-US" sz="2000"/>
                    </a:p>
                  </a:txBody>
                  <a:tcPr marL="43083" marR="43083" marT="21541" marB="21541" anchor="ctr">
                    <a:lnL>
                      <a:noFill/>
                    </a:lnL>
                    <a:lnR>
                      <a:noFill/>
                    </a:lnR>
                    <a:lnT>
                      <a:noFill/>
                    </a:lnT>
                    <a:lnB>
                      <a:noFill/>
                    </a:lnB>
                    <a:noFill/>
                  </a:tcPr>
                </a:tc>
                <a:tc>
                  <a:txBody>
                    <a:bodyPr/>
                    <a:lstStyle/>
                    <a:p>
                      <a:pPr>
                        <a:buNone/>
                      </a:pPr>
                      <a:r>
                        <a:rPr lang="en-US" sz="2000" b="1"/>
                        <a:t>Mechanism of Action</a:t>
                      </a:r>
                      <a:endParaRPr lang="en-US" sz="2000"/>
                    </a:p>
                  </a:txBody>
                  <a:tcPr marL="43083" marR="43083" marT="21541" marB="21541" anchor="ctr">
                    <a:lnL>
                      <a:noFill/>
                    </a:lnL>
                    <a:lnR>
                      <a:noFill/>
                    </a:lnR>
                    <a:lnT>
                      <a:noFill/>
                    </a:lnT>
                    <a:lnB>
                      <a:noFill/>
                    </a:lnB>
                    <a:noFill/>
                  </a:tcPr>
                </a:tc>
                <a:tc>
                  <a:txBody>
                    <a:bodyPr/>
                    <a:lstStyle/>
                    <a:p>
                      <a:pPr>
                        <a:buNone/>
                      </a:pPr>
                      <a:r>
                        <a:rPr lang="en-US" sz="2000" b="1"/>
                        <a:t>Examples (as per guidelines)</a:t>
                      </a:r>
                      <a:endParaRPr lang="en-US" sz="2000"/>
                    </a:p>
                  </a:txBody>
                  <a:tcPr marL="43083" marR="43083" marT="21541" marB="21541" anchor="ctr">
                    <a:lnL>
                      <a:noFill/>
                    </a:lnL>
                    <a:lnR>
                      <a:noFill/>
                    </a:lnR>
                    <a:lnT>
                      <a:noFill/>
                    </a:lnT>
                    <a:lnB>
                      <a:noFill/>
                    </a:lnB>
                    <a:noFill/>
                  </a:tcPr>
                </a:tc>
                <a:extLst>
                  <a:ext uri="{0D108BD9-81ED-4DB2-BD59-A6C34878D82A}">
                    <a16:rowId xmlns:a16="http://schemas.microsoft.com/office/drawing/2014/main" val="3751287316"/>
                  </a:ext>
                </a:extLst>
              </a:tr>
              <a:tr h="1924765">
                <a:tc>
                  <a:txBody>
                    <a:bodyPr/>
                    <a:lstStyle/>
                    <a:p>
                      <a:pPr>
                        <a:buNone/>
                      </a:pPr>
                      <a:r>
                        <a:rPr lang="en-US" sz="2000" b="1" dirty="0"/>
                        <a:t>Protease Inhibitors</a:t>
                      </a:r>
                      <a:endParaRPr lang="en-US" sz="2000" dirty="0"/>
                    </a:p>
                  </a:txBody>
                  <a:tcPr marL="43083" marR="43083" marT="21541" marB="21541" anchor="ctr">
                    <a:lnL>
                      <a:noFill/>
                    </a:lnL>
                    <a:lnR>
                      <a:noFill/>
                    </a:lnR>
                    <a:lnT>
                      <a:noFill/>
                    </a:lnT>
                    <a:lnB>
                      <a:noFill/>
                    </a:lnB>
                    <a:noFill/>
                  </a:tcPr>
                </a:tc>
                <a:tc>
                  <a:txBody>
                    <a:bodyPr/>
                    <a:lstStyle/>
                    <a:p>
                      <a:pPr>
                        <a:buNone/>
                      </a:pPr>
                      <a:r>
                        <a:rPr lang="en-US" sz="2000"/>
                        <a:t>PIs</a:t>
                      </a:r>
                    </a:p>
                  </a:txBody>
                  <a:tcPr marL="43083" marR="43083" marT="21541" marB="21541" anchor="ctr">
                    <a:lnL>
                      <a:noFill/>
                    </a:lnL>
                    <a:lnR>
                      <a:noFill/>
                    </a:lnR>
                    <a:lnT>
                      <a:noFill/>
                    </a:lnT>
                    <a:lnB>
                      <a:noFill/>
                    </a:lnB>
                    <a:noFill/>
                  </a:tcPr>
                </a:tc>
                <a:tc>
                  <a:txBody>
                    <a:bodyPr/>
                    <a:lstStyle/>
                    <a:p>
                      <a:pPr>
                        <a:buNone/>
                      </a:pPr>
                      <a:r>
                        <a:rPr lang="en-US" sz="2000"/>
                        <a:t>Inhibit HIV protease enzyme, preventing maturation of infectious virions; usually boosted with ritonavir</a:t>
                      </a:r>
                    </a:p>
                  </a:txBody>
                  <a:tcPr marL="43083" marR="43083" marT="21541" marB="21541" anchor="ctr">
                    <a:lnL>
                      <a:noFill/>
                    </a:lnL>
                    <a:lnR>
                      <a:noFill/>
                    </a:lnR>
                    <a:lnT>
                      <a:noFill/>
                    </a:lnT>
                    <a:lnB>
                      <a:noFill/>
                    </a:lnB>
                    <a:noFill/>
                  </a:tcPr>
                </a:tc>
                <a:tc>
                  <a:txBody>
                    <a:bodyPr/>
                    <a:lstStyle/>
                    <a:p>
                      <a:pPr>
                        <a:buNone/>
                      </a:pPr>
                      <a:r>
                        <a:rPr lang="en-US" sz="2000" b="1" dirty="0"/>
                        <a:t>1st gen:</a:t>
                      </a:r>
                      <a:r>
                        <a:rPr lang="en-US" sz="2000" dirty="0"/>
                        <a:t> Atazanavir (ATV), Lopinavir (LPV), Ritonavir (RTV – booster) </a:t>
                      </a:r>
                      <a:r>
                        <a:rPr lang="en-US" sz="2000" b="1" dirty="0"/>
                        <a:t>2nd gen:</a:t>
                      </a:r>
                      <a:r>
                        <a:rPr lang="en-US" sz="2000" dirty="0"/>
                        <a:t> Darunavir (DRV)</a:t>
                      </a:r>
                    </a:p>
                  </a:txBody>
                  <a:tcPr marL="43083" marR="43083" marT="21541" marB="21541" anchor="ctr">
                    <a:lnL>
                      <a:noFill/>
                    </a:lnL>
                    <a:lnR>
                      <a:noFill/>
                    </a:lnR>
                    <a:lnT>
                      <a:noFill/>
                    </a:lnT>
                    <a:lnB>
                      <a:noFill/>
                    </a:lnB>
                    <a:noFill/>
                  </a:tcPr>
                </a:tc>
                <a:extLst>
                  <a:ext uri="{0D108BD9-81ED-4DB2-BD59-A6C34878D82A}">
                    <a16:rowId xmlns:a16="http://schemas.microsoft.com/office/drawing/2014/main" val="4263976750"/>
                  </a:ext>
                </a:extLst>
              </a:tr>
              <a:tr h="1550395">
                <a:tc>
                  <a:txBody>
                    <a:bodyPr/>
                    <a:lstStyle/>
                    <a:p>
                      <a:pPr>
                        <a:buNone/>
                      </a:pPr>
                      <a:r>
                        <a:rPr lang="en-US" sz="2000" b="1"/>
                        <a:t>Integrase Strand Transfer Inhibitors</a:t>
                      </a:r>
                      <a:endParaRPr lang="en-US" sz="2000"/>
                    </a:p>
                  </a:txBody>
                  <a:tcPr marL="43083" marR="43083" marT="21541" marB="21541" anchor="ctr">
                    <a:lnL>
                      <a:noFill/>
                    </a:lnL>
                    <a:lnR>
                      <a:noFill/>
                    </a:lnR>
                    <a:lnT>
                      <a:noFill/>
                    </a:lnT>
                    <a:lnB>
                      <a:noFill/>
                    </a:lnB>
                    <a:noFill/>
                  </a:tcPr>
                </a:tc>
                <a:tc>
                  <a:txBody>
                    <a:bodyPr/>
                    <a:lstStyle/>
                    <a:p>
                      <a:pPr>
                        <a:buNone/>
                      </a:pPr>
                      <a:r>
                        <a:rPr lang="en-US" sz="2000"/>
                        <a:t>INSTIs</a:t>
                      </a:r>
                    </a:p>
                  </a:txBody>
                  <a:tcPr marL="43083" marR="43083" marT="21541" marB="21541" anchor="ctr">
                    <a:lnL>
                      <a:noFill/>
                    </a:lnL>
                    <a:lnR>
                      <a:noFill/>
                    </a:lnR>
                    <a:lnT>
                      <a:noFill/>
                    </a:lnT>
                    <a:lnB>
                      <a:noFill/>
                    </a:lnB>
                    <a:noFill/>
                  </a:tcPr>
                </a:tc>
                <a:tc>
                  <a:txBody>
                    <a:bodyPr/>
                    <a:lstStyle/>
                    <a:p>
                      <a:pPr>
                        <a:buNone/>
                      </a:pPr>
                      <a:r>
                        <a:rPr lang="en-US" sz="2000"/>
                        <a:t>Inhibit integrase enzyme, preventing integration of viral DNA into host cell genome</a:t>
                      </a:r>
                    </a:p>
                  </a:txBody>
                  <a:tcPr marL="43083" marR="43083" marT="21541" marB="21541" anchor="ctr">
                    <a:lnL>
                      <a:noFill/>
                    </a:lnL>
                    <a:lnR>
                      <a:noFill/>
                    </a:lnR>
                    <a:lnT>
                      <a:noFill/>
                    </a:lnT>
                    <a:lnB>
                      <a:noFill/>
                    </a:lnB>
                    <a:noFill/>
                  </a:tcPr>
                </a:tc>
                <a:tc>
                  <a:txBody>
                    <a:bodyPr/>
                    <a:lstStyle/>
                    <a:p>
                      <a:pPr>
                        <a:buNone/>
                      </a:pPr>
                      <a:r>
                        <a:rPr lang="en-US" sz="2000"/>
                        <a:t>Dolutegravir (DTG), Raltegravir (RAL)</a:t>
                      </a:r>
                    </a:p>
                  </a:txBody>
                  <a:tcPr marL="43083" marR="43083" marT="21541" marB="21541" anchor="ctr">
                    <a:lnL>
                      <a:noFill/>
                    </a:lnL>
                    <a:lnR>
                      <a:noFill/>
                    </a:lnR>
                    <a:lnT>
                      <a:noFill/>
                    </a:lnT>
                    <a:lnB>
                      <a:noFill/>
                    </a:lnB>
                    <a:noFill/>
                  </a:tcPr>
                </a:tc>
                <a:extLst>
                  <a:ext uri="{0D108BD9-81ED-4DB2-BD59-A6C34878D82A}">
                    <a16:rowId xmlns:a16="http://schemas.microsoft.com/office/drawing/2014/main" val="3372310251"/>
                  </a:ext>
                </a:extLst>
              </a:tr>
              <a:tr h="801655">
                <a:tc>
                  <a:txBody>
                    <a:bodyPr/>
                    <a:lstStyle/>
                    <a:p>
                      <a:pPr>
                        <a:buNone/>
                      </a:pPr>
                      <a:r>
                        <a:rPr lang="en-US" sz="2000" b="1"/>
                        <a:t>Fusion Inhibitors</a:t>
                      </a:r>
                      <a:endParaRPr lang="en-US" sz="2000"/>
                    </a:p>
                  </a:txBody>
                  <a:tcPr marL="43083" marR="43083" marT="21541" marB="21541" anchor="ctr">
                    <a:lnL>
                      <a:noFill/>
                    </a:lnL>
                    <a:lnR>
                      <a:noFill/>
                    </a:lnR>
                    <a:lnT>
                      <a:noFill/>
                    </a:lnT>
                    <a:lnB>
                      <a:noFill/>
                    </a:lnB>
                    <a:noFill/>
                  </a:tcPr>
                </a:tc>
                <a:tc>
                  <a:txBody>
                    <a:bodyPr/>
                    <a:lstStyle/>
                    <a:p>
                      <a:pPr>
                        <a:buNone/>
                      </a:pPr>
                      <a:r>
                        <a:rPr lang="en-US" sz="2000"/>
                        <a:t>—</a:t>
                      </a:r>
                    </a:p>
                  </a:txBody>
                  <a:tcPr marL="43083" marR="43083" marT="21541" marB="21541" anchor="ctr">
                    <a:lnL>
                      <a:noFill/>
                    </a:lnL>
                    <a:lnR>
                      <a:noFill/>
                    </a:lnR>
                    <a:lnT>
                      <a:noFill/>
                    </a:lnT>
                    <a:lnB>
                      <a:noFill/>
                    </a:lnB>
                    <a:noFill/>
                  </a:tcPr>
                </a:tc>
                <a:tc>
                  <a:txBody>
                    <a:bodyPr/>
                    <a:lstStyle/>
                    <a:p>
                      <a:pPr>
                        <a:buNone/>
                      </a:pPr>
                      <a:r>
                        <a:rPr lang="en-US" sz="2000"/>
                        <a:t>Prevent fusion of HIV with host cell membrane</a:t>
                      </a:r>
                    </a:p>
                  </a:txBody>
                  <a:tcPr marL="43083" marR="43083" marT="21541" marB="21541" anchor="ctr">
                    <a:lnL>
                      <a:noFill/>
                    </a:lnL>
                    <a:lnR>
                      <a:noFill/>
                    </a:lnR>
                    <a:lnT>
                      <a:noFill/>
                    </a:lnT>
                    <a:lnB>
                      <a:noFill/>
                    </a:lnB>
                    <a:noFill/>
                  </a:tcPr>
                </a:tc>
                <a:tc>
                  <a:txBody>
                    <a:bodyPr/>
                    <a:lstStyle/>
                    <a:p>
                      <a:pPr>
                        <a:buNone/>
                      </a:pPr>
                      <a:r>
                        <a:rPr lang="en-US" sz="2000" dirty="0"/>
                        <a:t>Enfuvirtide (ENF)</a:t>
                      </a:r>
                    </a:p>
                  </a:txBody>
                  <a:tcPr marL="43083" marR="43083" marT="21541" marB="21541" anchor="ctr">
                    <a:lnL>
                      <a:noFill/>
                    </a:lnL>
                    <a:lnR>
                      <a:noFill/>
                    </a:lnR>
                    <a:lnT>
                      <a:noFill/>
                    </a:lnT>
                    <a:lnB>
                      <a:noFill/>
                    </a:lnB>
                    <a:noFill/>
                  </a:tcPr>
                </a:tc>
                <a:extLst>
                  <a:ext uri="{0D108BD9-81ED-4DB2-BD59-A6C34878D82A}">
                    <a16:rowId xmlns:a16="http://schemas.microsoft.com/office/drawing/2014/main" val="3208982206"/>
                  </a:ext>
                </a:extLst>
              </a:tr>
              <a:tr h="1176026">
                <a:tc>
                  <a:txBody>
                    <a:bodyPr/>
                    <a:lstStyle/>
                    <a:p>
                      <a:pPr>
                        <a:buNone/>
                      </a:pPr>
                      <a:r>
                        <a:rPr lang="en-US" sz="2000" b="1"/>
                        <a:t>CCR5 (Chemokine Receptor) Inhibitors</a:t>
                      </a:r>
                      <a:endParaRPr lang="en-US" sz="2000"/>
                    </a:p>
                  </a:txBody>
                  <a:tcPr marL="43083" marR="43083" marT="21541" marB="21541" anchor="ctr">
                    <a:lnL>
                      <a:noFill/>
                    </a:lnL>
                    <a:lnR>
                      <a:noFill/>
                    </a:lnR>
                    <a:lnT>
                      <a:noFill/>
                    </a:lnT>
                    <a:lnB>
                      <a:noFill/>
                    </a:lnB>
                    <a:noFill/>
                  </a:tcPr>
                </a:tc>
                <a:tc>
                  <a:txBody>
                    <a:bodyPr/>
                    <a:lstStyle/>
                    <a:p>
                      <a:pPr>
                        <a:buNone/>
                      </a:pPr>
                      <a:r>
                        <a:rPr lang="en-US" sz="2000"/>
                        <a:t>—</a:t>
                      </a:r>
                    </a:p>
                  </a:txBody>
                  <a:tcPr marL="43083" marR="43083" marT="21541" marB="21541" anchor="ctr">
                    <a:lnL>
                      <a:noFill/>
                    </a:lnL>
                    <a:lnR>
                      <a:noFill/>
                    </a:lnR>
                    <a:lnT>
                      <a:noFill/>
                    </a:lnT>
                    <a:lnB>
                      <a:noFill/>
                    </a:lnB>
                    <a:noFill/>
                  </a:tcPr>
                </a:tc>
                <a:tc>
                  <a:txBody>
                    <a:bodyPr/>
                    <a:lstStyle/>
                    <a:p>
                      <a:pPr>
                        <a:buNone/>
                      </a:pPr>
                      <a:r>
                        <a:rPr lang="en-US" sz="2000"/>
                        <a:t>Block CCR5 co-receptor, preventing HIV entry into host cells</a:t>
                      </a:r>
                    </a:p>
                  </a:txBody>
                  <a:tcPr marL="43083" marR="43083" marT="21541" marB="21541" anchor="ctr">
                    <a:lnL>
                      <a:noFill/>
                    </a:lnL>
                    <a:lnR>
                      <a:noFill/>
                    </a:lnR>
                    <a:lnT>
                      <a:noFill/>
                    </a:lnT>
                    <a:lnB>
                      <a:noFill/>
                    </a:lnB>
                    <a:noFill/>
                  </a:tcPr>
                </a:tc>
                <a:tc>
                  <a:txBody>
                    <a:bodyPr/>
                    <a:lstStyle/>
                    <a:p>
                      <a:pPr>
                        <a:buNone/>
                      </a:pPr>
                      <a:r>
                        <a:rPr lang="en-US" sz="2000" dirty="0"/>
                        <a:t>Maraviroc</a:t>
                      </a:r>
                    </a:p>
                  </a:txBody>
                  <a:tcPr marL="43083" marR="43083" marT="21541" marB="21541" anchor="ctr">
                    <a:lnL>
                      <a:noFill/>
                    </a:lnL>
                    <a:lnR>
                      <a:noFill/>
                    </a:lnR>
                    <a:lnT>
                      <a:noFill/>
                    </a:lnT>
                    <a:lnB>
                      <a:noFill/>
                    </a:lnB>
                    <a:noFill/>
                  </a:tcPr>
                </a:tc>
                <a:extLst>
                  <a:ext uri="{0D108BD9-81ED-4DB2-BD59-A6C34878D82A}">
                    <a16:rowId xmlns:a16="http://schemas.microsoft.com/office/drawing/2014/main" val="410181338"/>
                  </a:ext>
                </a:extLst>
              </a:tr>
            </a:tbl>
          </a:graphicData>
        </a:graphic>
      </p:graphicFrame>
    </p:spTree>
    <p:extLst>
      <p:ext uri="{BB962C8B-B14F-4D97-AF65-F5344CB8AC3E}">
        <p14:creationId xmlns:p14="http://schemas.microsoft.com/office/powerpoint/2010/main" val="19775637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3" name="Picture 20" descr="ART_boxes">
            <a:extLst>
              <a:ext uri="{FF2B5EF4-FFF2-40B4-BE49-F238E27FC236}">
                <a16:creationId xmlns:a16="http://schemas.microsoft.com/office/drawing/2014/main" id="{7338F5CF-B079-FC01-202A-5D45CAB65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709" b="23543"/>
          <a:stretch>
            <a:fillRect/>
          </a:stretch>
        </p:blipFill>
        <p:spPr bwMode="auto">
          <a:xfrm>
            <a:off x="1524000" y="1219200"/>
            <a:ext cx="91440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4" name="Rectangle 21">
            <a:extLst>
              <a:ext uri="{FF2B5EF4-FFF2-40B4-BE49-F238E27FC236}">
                <a16:creationId xmlns:a16="http://schemas.microsoft.com/office/drawing/2014/main" id="{D92A15B0-A4B4-4FD0-F9A0-D023CA8DC47D}"/>
              </a:ext>
            </a:extLst>
          </p:cNvPr>
          <p:cNvSpPr>
            <a:spLocks noGrp="1" noChangeArrowheads="1"/>
          </p:cNvSpPr>
          <p:nvPr>
            <p:ph type="title"/>
          </p:nvPr>
        </p:nvSpPr>
        <p:spPr>
          <a:xfrm>
            <a:off x="838200" y="152400"/>
            <a:ext cx="10515600" cy="914402"/>
          </a:xfrm>
          <a:noFill/>
        </p:spPr>
        <p:txBody>
          <a:bodyPr>
            <a:normAutofit/>
          </a:bodyPr>
          <a:lstStyle/>
          <a:p>
            <a:pPr eaLnBrk="1" hangingPunct="1"/>
            <a:r>
              <a:rPr lang="en-GB" altLang="en-US" sz="4000" b="1" dirty="0">
                <a:latin typeface="+mn-lt"/>
              </a:rPr>
              <a:t>Where ARVs Work in HIV Lifecycle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3C5F8-88B8-A46B-9D1C-367EFDA32447}"/>
              </a:ext>
            </a:extLst>
          </p:cNvPr>
          <p:cNvSpPr>
            <a:spLocks noGrp="1"/>
          </p:cNvSpPr>
          <p:nvPr>
            <p:ph type="title"/>
          </p:nvPr>
        </p:nvSpPr>
        <p:spPr/>
        <p:txBody>
          <a:bodyPr/>
          <a:lstStyle/>
          <a:p>
            <a:r>
              <a:rPr lang="en-US" dirty="0"/>
              <a:t>When to start ART?</a:t>
            </a:r>
          </a:p>
        </p:txBody>
      </p:sp>
      <p:sp>
        <p:nvSpPr>
          <p:cNvPr id="3" name="Content Placeholder 2">
            <a:extLst>
              <a:ext uri="{FF2B5EF4-FFF2-40B4-BE49-F238E27FC236}">
                <a16:creationId xmlns:a16="http://schemas.microsoft.com/office/drawing/2014/main" id="{B9187C91-DB81-D3D1-C3E1-A7C2A762D3CB}"/>
              </a:ext>
            </a:extLst>
          </p:cNvPr>
          <p:cNvSpPr>
            <a:spLocks noGrp="1"/>
          </p:cNvSpPr>
          <p:nvPr>
            <p:ph idx="1"/>
          </p:nvPr>
        </p:nvSpPr>
        <p:spPr/>
        <p:txBody>
          <a:bodyPr>
            <a:normAutofit/>
          </a:bodyPr>
          <a:lstStyle/>
          <a:p>
            <a:r>
              <a:rPr lang="en-US" sz="2000" dirty="0"/>
              <a:t>Most major international and local guidelines now strongly recommend </a:t>
            </a:r>
            <a:r>
              <a:rPr lang="en-US" sz="2000" b="1" dirty="0">
                <a:solidFill>
                  <a:srgbClr val="FF0000"/>
                </a:solidFill>
              </a:rPr>
              <a:t>rapid initiation</a:t>
            </a:r>
            <a:r>
              <a:rPr lang="en-US" sz="2000" dirty="0"/>
              <a:t> of Antiretroviral Therapy (ART)</a:t>
            </a:r>
          </a:p>
          <a:p>
            <a:endParaRPr lang="en-US" sz="2000" dirty="0"/>
          </a:p>
          <a:p>
            <a:r>
              <a:rPr lang="en-US" sz="2000" dirty="0"/>
              <a:t>Which is defined as starting treatment within 7 days of diagnosis, and ideally on the same day.</a:t>
            </a:r>
          </a:p>
          <a:p>
            <a:endParaRPr lang="en-US" sz="2000" dirty="0"/>
          </a:p>
          <a:p>
            <a:r>
              <a:rPr lang="en-US" sz="2000" dirty="0"/>
              <a:t>Studies have demonstrated overall benefit in early initiation of ART vs deferred ART initiation</a:t>
            </a:r>
            <a:r>
              <a:rPr lang="en-US" sz="2000" i="1" baseline="30000" dirty="0"/>
              <a:t> 1</a:t>
            </a:r>
          </a:p>
          <a:p>
            <a:endParaRPr lang="en-US" sz="2000" dirty="0"/>
          </a:p>
          <a:p>
            <a:r>
              <a:rPr lang="en-US" sz="2000" dirty="0"/>
              <a:t>While no major guideline "rejects" rapid initiation as a general policy</a:t>
            </a:r>
          </a:p>
          <a:p>
            <a:endParaRPr lang="en-US" sz="2000" dirty="0"/>
          </a:p>
          <a:p>
            <a:r>
              <a:rPr lang="en-US" sz="2000" dirty="0"/>
              <a:t>They all mandate a </a:t>
            </a:r>
            <a:r>
              <a:rPr lang="en-US" sz="2000" b="1" dirty="0">
                <a:solidFill>
                  <a:srgbClr val="FF0000"/>
                </a:solidFill>
              </a:rPr>
              <a:t>delay</a:t>
            </a:r>
            <a:r>
              <a:rPr lang="en-US" sz="2000" dirty="0"/>
              <a:t> in the presence of certain opportunistic infections (OIs) to prevent </a:t>
            </a:r>
            <a:r>
              <a:rPr lang="en-US" sz="2000" b="1" dirty="0">
                <a:solidFill>
                  <a:srgbClr val="FF0000"/>
                </a:solidFill>
              </a:rPr>
              <a:t>Immune Reconstitution Inflammatory Syndrome (IRIS)</a:t>
            </a:r>
          </a:p>
          <a:p>
            <a:pPr marL="0" indent="0">
              <a:buNone/>
            </a:pPr>
            <a:endParaRPr lang="en-US" sz="2000" dirty="0"/>
          </a:p>
          <a:p>
            <a:endParaRPr lang="en-US" sz="2000" dirty="0"/>
          </a:p>
        </p:txBody>
      </p:sp>
      <p:sp>
        <p:nvSpPr>
          <p:cNvPr id="4" name="TextBox 3">
            <a:extLst>
              <a:ext uri="{FF2B5EF4-FFF2-40B4-BE49-F238E27FC236}">
                <a16:creationId xmlns:a16="http://schemas.microsoft.com/office/drawing/2014/main" id="{D84C1D8D-1476-D264-63CB-4A5E35601140}"/>
              </a:ext>
            </a:extLst>
          </p:cNvPr>
          <p:cNvSpPr txBox="1"/>
          <p:nvPr/>
        </p:nvSpPr>
        <p:spPr>
          <a:xfrm>
            <a:off x="1034716" y="6176963"/>
            <a:ext cx="10756231" cy="461665"/>
          </a:xfrm>
          <a:prstGeom prst="rect">
            <a:avLst/>
          </a:prstGeom>
          <a:noFill/>
        </p:spPr>
        <p:txBody>
          <a:bodyPr wrap="square" rtlCol="0">
            <a:spAutoFit/>
          </a:bodyPr>
          <a:lstStyle/>
          <a:p>
            <a:r>
              <a:rPr lang="en-US" sz="1200" i="1" dirty="0"/>
              <a:t>1. INSIGHT START Study Group, Lundgren JD, Babiker AG, et al. Initiation of Antiretroviral Therapy in Early Asymptomatic HIV Infection. N Engl J Med. 2015;373(9):795-807. doi:10.1056/NEJMoa1506816</a:t>
            </a:r>
          </a:p>
        </p:txBody>
      </p:sp>
    </p:spTree>
    <p:extLst>
      <p:ext uri="{BB962C8B-B14F-4D97-AF65-F5344CB8AC3E}">
        <p14:creationId xmlns:p14="http://schemas.microsoft.com/office/powerpoint/2010/main" val="41779690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5DEA4-51CF-D231-D37B-4223FD3B6B4A}"/>
              </a:ext>
            </a:extLst>
          </p:cNvPr>
          <p:cNvSpPr>
            <a:spLocks noGrp="1"/>
          </p:cNvSpPr>
          <p:nvPr>
            <p:ph type="title"/>
          </p:nvPr>
        </p:nvSpPr>
        <p:spPr>
          <a:xfrm>
            <a:off x="838200" y="356633"/>
            <a:ext cx="10515600" cy="1325563"/>
          </a:xfrm>
        </p:spPr>
        <p:txBody>
          <a:bodyPr/>
          <a:lstStyle/>
          <a:p>
            <a:r>
              <a:rPr lang="en-US" dirty="0"/>
              <a:t>What ART to start?</a:t>
            </a:r>
          </a:p>
        </p:txBody>
      </p:sp>
      <p:sp>
        <p:nvSpPr>
          <p:cNvPr id="3" name="Content Placeholder 2">
            <a:extLst>
              <a:ext uri="{FF2B5EF4-FFF2-40B4-BE49-F238E27FC236}">
                <a16:creationId xmlns:a16="http://schemas.microsoft.com/office/drawing/2014/main" id="{51B6BB64-1BD7-238F-54FF-33FABD59DB12}"/>
              </a:ext>
            </a:extLst>
          </p:cNvPr>
          <p:cNvSpPr>
            <a:spLocks noGrp="1"/>
          </p:cNvSpPr>
          <p:nvPr>
            <p:ph idx="1"/>
          </p:nvPr>
        </p:nvSpPr>
        <p:spPr>
          <a:xfrm>
            <a:off x="838200" y="1989241"/>
            <a:ext cx="10515600" cy="4351338"/>
          </a:xfrm>
        </p:spPr>
        <p:txBody>
          <a:bodyPr>
            <a:noAutofit/>
          </a:bodyPr>
          <a:lstStyle/>
          <a:p>
            <a:pPr marL="657225" marR="335915" indent="-556260">
              <a:lnSpc>
                <a:spcPts val="3470"/>
              </a:lnSpc>
              <a:spcBef>
                <a:spcPts val="305"/>
              </a:spcBef>
              <a:tabLst>
                <a:tab pos="652780" algn="l"/>
              </a:tabLst>
            </a:pPr>
            <a:r>
              <a:rPr lang="en-US" sz="2000" b="1" spc="-20" dirty="0">
                <a:solidFill>
                  <a:srgbClr val="1C2634"/>
                </a:solidFill>
              </a:rPr>
              <a:t>Preferred</a:t>
            </a:r>
            <a:r>
              <a:rPr lang="en-US" sz="2000" b="1" spc="-140" dirty="0">
                <a:solidFill>
                  <a:srgbClr val="1C2634"/>
                </a:solidFill>
              </a:rPr>
              <a:t> </a:t>
            </a:r>
            <a:r>
              <a:rPr lang="en-US" sz="2000" b="1" spc="-135" dirty="0">
                <a:solidFill>
                  <a:srgbClr val="1C2634"/>
                </a:solidFill>
              </a:rPr>
              <a:t>Regimen:</a:t>
            </a:r>
            <a:r>
              <a:rPr lang="en-US" sz="2000" b="1" spc="-95" dirty="0">
                <a:solidFill>
                  <a:srgbClr val="1C2634"/>
                </a:solidFill>
              </a:rPr>
              <a:t> </a:t>
            </a:r>
            <a:r>
              <a:rPr lang="en-US" sz="2000" spc="-125" dirty="0">
                <a:solidFill>
                  <a:srgbClr val="343D4D"/>
                </a:solidFill>
              </a:rPr>
              <a:t>DTG</a:t>
            </a:r>
            <a:r>
              <a:rPr lang="en-US" sz="2000" spc="-145" dirty="0">
                <a:solidFill>
                  <a:srgbClr val="343D4D"/>
                </a:solidFill>
              </a:rPr>
              <a:t> </a:t>
            </a:r>
            <a:r>
              <a:rPr lang="en-US" sz="2000" spc="140" dirty="0">
                <a:solidFill>
                  <a:srgbClr val="343D4D"/>
                </a:solidFill>
              </a:rPr>
              <a:t>+</a:t>
            </a:r>
            <a:r>
              <a:rPr lang="en-US" sz="2000" spc="-195" dirty="0">
                <a:solidFill>
                  <a:srgbClr val="343D4D"/>
                </a:solidFill>
              </a:rPr>
              <a:t> </a:t>
            </a:r>
            <a:r>
              <a:rPr lang="en-US" sz="2000" spc="120" dirty="0">
                <a:solidFill>
                  <a:srgbClr val="343D4D"/>
                </a:solidFill>
              </a:rPr>
              <a:t>2</a:t>
            </a:r>
            <a:r>
              <a:rPr lang="en-US" sz="2000" spc="-180" dirty="0">
                <a:solidFill>
                  <a:srgbClr val="343D4D"/>
                </a:solidFill>
              </a:rPr>
              <a:t> </a:t>
            </a:r>
            <a:r>
              <a:rPr lang="en-US" sz="2000" spc="-55" dirty="0" err="1">
                <a:solidFill>
                  <a:srgbClr val="343D4D"/>
                </a:solidFill>
              </a:rPr>
              <a:t>NRTls</a:t>
            </a:r>
            <a:r>
              <a:rPr lang="en-US" sz="2000" spc="-110" dirty="0">
                <a:solidFill>
                  <a:srgbClr val="343D4D"/>
                </a:solidFill>
              </a:rPr>
              <a:t> </a:t>
            </a:r>
            <a:r>
              <a:rPr lang="en-US" sz="2000" spc="-45" dirty="0">
                <a:solidFill>
                  <a:srgbClr val="343D4D"/>
                </a:solidFill>
              </a:rPr>
              <a:t>remains</a:t>
            </a:r>
            <a:r>
              <a:rPr lang="en-US" sz="2000" spc="-75" dirty="0">
                <a:solidFill>
                  <a:srgbClr val="343D4D"/>
                </a:solidFill>
              </a:rPr>
              <a:t> </a:t>
            </a:r>
            <a:r>
              <a:rPr lang="en-US" sz="2000" spc="50" dirty="0">
                <a:solidFill>
                  <a:srgbClr val="343D4D"/>
                </a:solidFill>
              </a:rPr>
              <a:t>the</a:t>
            </a:r>
            <a:r>
              <a:rPr lang="en-US" sz="2000" spc="-280" dirty="0">
                <a:solidFill>
                  <a:srgbClr val="343D4D"/>
                </a:solidFill>
              </a:rPr>
              <a:t> </a:t>
            </a:r>
            <a:r>
              <a:rPr lang="en-US" sz="2000" spc="-10" dirty="0">
                <a:solidFill>
                  <a:srgbClr val="343D4D"/>
                </a:solidFill>
              </a:rPr>
              <a:t>preferred </a:t>
            </a:r>
            <a:r>
              <a:rPr lang="en-US" sz="2000" dirty="0">
                <a:solidFill>
                  <a:srgbClr val="343D4D"/>
                </a:solidFill>
              </a:rPr>
              <a:t>first-line</a:t>
            </a:r>
            <a:r>
              <a:rPr lang="en-US" sz="2000" spc="45" dirty="0">
                <a:solidFill>
                  <a:srgbClr val="343D4D"/>
                </a:solidFill>
              </a:rPr>
              <a:t> </a:t>
            </a:r>
            <a:r>
              <a:rPr lang="en-US" sz="2000" spc="-110" dirty="0">
                <a:solidFill>
                  <a:srgbClr val="343D4D"/>
                </a:solidFill>
              </a:rPr>
              <a:t>ART</a:t>
            </a:r>
            <a:r>
              <a:rPr lang="en-US" sz="2000" spc="15" dirty="0">
                <a:solidFill>
                  <a:srgbClr val="343D4D"/>
                </a:solidFill>
              </a:rPr>
              <a:t> </a:t>
            </a:r>
            <a:r>
              <a:rPr lang="en-US" sz="2000" spc="-10" dirty="0">
                <a:solidFill>
                  <a:srgbClr val="343D4D"/>
                </a:solidFill>
              </a:rPr>
              <a:t>globally. </a:t>
            </a:r>
            <a:r>
              <a:rPr lang="en-US" sz="2000" i="1" spc="-10" baseline="30000" dirty="0">
                <a:solidFill>
                  <a:srgbClr val="343D4D"/>
                </a:solidFill>
              </a:rPr>
              <a:t>1, 2</a:t>
            </a:r>
            <a:endParaRPr lang="en-US" sz="2000" i="1" baseline="30000" dirty="0"/>
          </a:p>
          <a:p>
            <a:pPr marL="655320" marR="106680" indent="-554355">
              <a:lnSpc>
                <a:spcPct val="112200"/>
              </a:lnSpc>
              <a:spcBef>
                <a:spcPts val="1630"/>
              </a:spcBef>
              <a:tabLst>
                <a:tab pos="652780" algn="l"/>
              </a:tabLst>
            </a:pPr>
            <a:r>
              <a:rPr lang="en-US" sz="2000" b="1" spc="-95" dirty="0">
                <a:solidFill>
                  <a:srgbClr val="1C2634"/>
                </a:solidFill>
              </a:rPr>
              <a:t>Efficacy:</a:t>
            </a:r>
            <a:r>
              <a:rPr lang="en-US" sz="2000" b="1" spc="-140" dirty="0">
                <a:solidFill>
                  <a:srgbClr val="1C2634"/>
                </a:solidFill>
              </a:rPr>
              <a:t> </a:t>
            </a:r>
            <a:r>
              <a:rPr lang="en-US" sz="2000" spc="-10" dirty="0">
                <a:solidFill>
                  <a:srgbClr val="343D4D"/>
                </a:solidFill>
              </a:rPr>
              <a:t>Superior</a:t>
            </a:r>
            <a:r>
              <a:rPr lang="en-US" sz="2000" dirty="0">
                <a:solidFill>
                  <a:srgbClr val="343D4D"/>
                </a:solidFill>
              </a:rPr>
              <a:t> viral</a:t>
            </a:r>
            <a:r>
              <a:rPr lang="en-US" sz="2000" spc="-155" dirty="0">
                <a:solidFill>
                  <a:srgbClr val="343D4D"/>
                </a:solidFill>
              </a:rPr>
              <a:t> </a:t>
            </a:r>
            <a:r>
              <a:rPr lang="en-US" sz="2000" spc="-45" dirty="0">
                <a:solidFill>
                  <a:srgbClr val="343D4D"/>
                </a:solidFill>
              </a:rPr>
              <a:t>suppression</a:t>
            </a:r>
            <a:r>
              <a:rPr lang="en-US" sz="2000" spc="-100" dirty="0">
                <a:solidFill>
                  <a:srgbClr val="343D4D"/>
                </a:solidFill>
              </a:rPr>
              <a:t> </a:t>
            </a:r>
            <a:r>
              <a:rPr lang="en-US" sz="2000" spc="-65" dirty="0">
                <a:solidFill>
                  <a:srgbClr val="343D4D"/>
                </a:solidFill>
              </a:rPr>
              <a:t>compared </a:t>
            </a:r>
            <a:r>
              <a:rPr lang="en-US" sz="2000" dirty="0">
                <a:solidFill>
                  <a:srgbClr val="343D4D"/>
                </a:solidFill>
              </a:rPr>
              <a:t>to</a:t>
            </a:r>
            <a:r>
              <a:rPr lang="en-US" sz="2000" spc="130" dirty="0">
                <a:solidFill>
                  <a:srgbClr val="343D4D"/>
                </a:solidFill>
              </a:rPr>
              <a:t> </a:t>
            </a:r>
            <a:r>
              <a:rPr lang="en-US" sz="2000" spc="-110" dirty="0">
                <a:solidFill>
                  <a:srgbClr val="343D4D"/>
                </a:solidFill>
              </a:rPr>
              <a:t>EFV-</a:t>
            </a:r>
            <a:r>
              <a:rPr lang="en-US" sz="2000" spc="-10" dirty="0">
                <a:solidFill>
                  <a:srgbClr val="343D4D"/>
                </a:solidFill>
              </a:rPr>
              <a:t>based regimens.</a:t>
            </a:r>
            <a:r>
              <a:rPr lang="en-US" sz="2000" i="1" spc="-10" baseline="30000" dirty="0">
                <a:solidFill>
                  <a:srgbClr val="343D4D"/>
                </a:solidFill>
              </a:rPr>
              <a:t>2</a:t>
            </a:r>
            <a:endParaRPr lang="en-US" sz="2000" i="1" baseline="30000" dirty="0"/>
          </a:p>
          <a:p>
            <a:pPr marL="655320" marR="106680" indent="-554355">
              <a:lnSpc>
                <a:spcPct val="113999"/>
              </a:lnSpc>
              <a:spcBef>
                <a:spcPts val="1770"/>
              </a:spcBef>
              <a:tabLst>
                <a:tab pos="650875" algn="l"/>
              </a:tabLst>
            </a:pPr>
            <a:r>
              <a:rPr lang="en-US" sz="2000" b="1" dirty="0">
                <a:solidFill>
                  <a:srgbClr val="1C2634"/>
                </a:solidFill>
              </a:rPr>
              <a:t>Genetic</a:t>
            </a:r>
            <a:r>
              <a:rPr lang="en-US" sz="2000" b="1" spc="75" dirty="0">
                <a:solidFill>
                  <a:srgbClr val="1C2634"/>
                </a:solidFill>
              </a:rPr>
              <a:t> </a:t>
            </a:r>
            <a:r>
              <a:rPr lang="en-US" sz="2000" b="1" dirty="0">
                <a:solidFill>
                  <a:srgbClr val="1C2634"/>
                </a:solidFill>
              </a:rPr>
              <a:t>Barrier</a:t>
            </a:r>
            <a:r>
              <a:rPr lang="en-US" sz="2000" dirty="0">
                <a:solidFill>
                  <a:srgbClr val="1C2634"/>
                </a:solidFill>
              </a:rPr>
              <a:t>:</a:t>
            </a:r>
            <a:r>
              <a:rPr lang="en-US" sz="2000" spc="-145" dirty="0">
                <a:solidFill>
                  <a:srgbClr val="1C2634"/>
                </a:solidFill>
              </a:rPr>
              <a:t> </a:t>
            </a:r>
            <a:r>
              <a:rPr lang="en-US" sz="2000" dirty="0">
                <a:solidFill>
                  <a:srgbClr val="343D4D"/>
                </a:solidFill>
              </a:rPr>
              <a:t>High</a:t>
            </a:r>
            <a:r>
              <a:rPr lang="en-US" sz="2000" spc="-204" dirty="0">
                <a:solidFill>
                  <a:srgbClr val="343D4D"/>
                </a:solidFill>
              </a:rPr>
              <a:t> </a:t>
            </a:r>
            <a:r>
              <a:rPr lang="en-US" sz="2000" dirty="0">
                <a:solidFill>
                  <a:srgbClr val="343D4D"/>
                </a:solidFill>
              </a:rPr>
              <a:t>barrier</a:t>
            </a:r>
            <a:r>
              <a:rPr lang="en-US" sz="2000" spc="55" dirty="0">
                <a:solidFill>
                  <a:srgbClr val="343D4D"/>
                </a:solidFill>
              </a:rPr>
              <a:t> </a:t>
            </a:r>
            <a:r>
              <a:rPr lang="en-US" sz="2000" dirty="0">
                <a:solidFill>
                  <a:srgbClr val="343D4D"/>
                </a:solidFill>
              </a:rPr>
              <a:t>to</a:t>
            </a:r>
            <a:r>
              <a:rPr lang="en-US" sz="2000" spc="35" dirty="0">
                <a:solidFill>
                  <a:srgbClr val="343D4D"/>
                </a:solidFill>
              </a:rPr>
              <a:t> </a:t>
            </a:r>
            <a:r>
              <a:rPr lang="en-US" sz="2000" spc="-50" dirty="0">
                <a:solidFill>
                  <a:srgbClr val="343D4D"/>
                </a:solidFill>
              </a:rPr>
              <a:t>resistance</a:t>
            </a:r>
            <a:r>
              <a:rPr lang="en-US" sz="2000" spc="-15" dirty="0">
                <a:solidFill>
                  <a:srgbClr val="343D4D"/>
                </a:solidFill>
              </a:rPr>
              <a:t> </a:t>
            </a:r>
            <a:r>
              <a:rPr lang="en-US" sz="2000" spc="-45" dirty="0">
                <a:solidFill>
                  <a:srgbClr val="343D4D"/>
                </a:solidFill>
              </a:rPr>
              <a:t>minimizes</a:t>
            </a:r>
            <a:r>
              <a:rPr lang="en-US" sz="2000" spc="20" dirty="0">
                <a:solidFill>
                  <a:srgbClr val="343D4D"/>
                </a:solidFill>
              </a:rPr>
              <a:t> </a:t>
            </a:r>
            <a:r>
              <a:rPr lang="en-US" sz="2000" spc="-10" dirty="0">
                <a:solidFill>
                  <a:srgbClr val="343D4D"/>
                </a:solidFill>
              </a:rPr>
              <a:t>failure risks.</a:t>
            </a:r>
            <a:endParaRPr lang="en-US" sz="2000" dirty="0"/>
          </a:p>
          <a:p>
            <a:pPr marL="659765" marR="499745" indent="-566420">
              <a:lnSpc>
                <a:spcPct val="112200"/>
              </a:lnSpc>
              <a:spcBef>
                <a:spcPts val="1770"/>
              </a:spcBef>
              <a:tabLst>
                <a:tab pos="652780" algn="l"/>
              </a:tabLst>
            </a:pPr>
            <a:r>
              <a:rPr lang="en-US" sz="2000" b="1" dirty="0">
                <a:solidFill>
                  <a:srgbClr val="1C2634"/>
                </a:solidFill>
              </a:rPr>
              <a:t>Tolerability</a:t>
            </a:r>
            <a:r>
              <a:rPr lang="en-US" sz="2000" dirty="0">
                <a:solidFill>
                  <a:srgbClr val="1C2634"/>
                </a:solidFill>
              </a:rPr>
              <a:t>:</a:t>
            </a:r>
            <a:r>
              <a:rPr lang="en-US" sz="2000" spc="-70" dirty="0">
                <a:solidFill>
                  <a:srgbClr val="1C2634"/>
                </a:solidFill>
              </a:rPr>
              <a:t> </a:t>
            </a:r>
            <a:r>
              <a:rPr lang="en-US" sz="2000" spc="-120" dirty="0">
                <a:solidFill>
                  <a:srgbClr val="343D4D"/>
                </a:solidFill>
              </a:rPr>
              <a:t>Reduced</a:t>
            </a:r>
            <a:r>
              <a:rPr lang="en-US" sz="2000" dirty="0">
                <a:solidFill>
                  <a:srgbClr val="343D4D"/>
                </a:solidFill>
              </a:rPr>
              <a:t> </a:t>
            </a:r>
            <a:r>
              <a:rPr lang="en-US" sz="2000" spc="-90" dirty="0">
                <a:solidFill>
                  <a:srgbClr val="343D4D"/>
                </a:solidFill>
              </a:rPr>
              <a:t>CNS</a:t>
            </a:r>
            <a:r>
              <a:rPr lang="en-US" sz="2000" spc="-95" dirty="0">
                <a:solidFill>
                  <a:srgbClr val="343D4D"/>
                </a:solidFill>
              </a:rPr>
              <a:t> </a:t>
            </a:r>
            <a:r>
              <a:rPr lang="en-US" sz="2000" spc="-55" dirty="0">
                <a:solidFill>
                  <a:srgbClr val="343D4D"/>
                </a:solidFill>
              </a:rPr>
              <a:t>side</a:t>
            </a:r>
            <a:r>
              <a:rPr lang="en-US" sz="2000" spc="-180" dirty="0">
                <a:solidFill>
                  <a:srgbClr val="343D4D"/>
                </a:solidFill>
              </a:rPr>
              <a:t> </a:t>
            </a:r>
            <a:r>
              <a:rPr lang="en-US" sz="2000" dirty="0">
                <a:solidFill>
                  <a:srgbClr val="343D4D"/>
                </a:solidFill>
              </a:rPr>
              <a:t>effects</a:t>
            </a:r>
            <a:r>
              <a:rPr lang="en-US" sz="2000" spc="-45" dirty="0">
                <a:solidFill>
                  <a:srgbClr val="343D4D"/>
                </a:solidFill>
              </a:rPr>
              <a:t> </a:t>
            </a:r>
            <a:r>
              <a:rPr lang="en-US" sz="2000" spc="-65" dirty="0">
                <a:solidFill>
                  <a:srgbClr val="343D4D"/>
                </a:solidFill>
              </a:rPr>
              <a:t>compared</a:t>
            </a:r>
            <a:r>
              <a:rPr lang="en-US" sz="2000" spc="-40" dirty="0">
                <a:solidFill>
                  <a:srgbClr val="343D4D"/>
                </a:solidFill>
              </a:rPr>
              <a:t> </a:t>
            </a:r>
            <a:r>
              <a:rPr lang="en-US" sz="2000" dirty="0">
                <a:solidFill>
                  <a:srgbClr val="343D4D"/>
                </a:solidFill>
              </a:rPr>
              <a:t>to</a:t>
            </a:r>
            <a:r>
              <a:rPr lang="en-US" sz="2000" spc="150" dirty="0">
                <a:solidFill>
                  <a:srgbClr val="343D4D"/>
                </a:solidFill>
              </a:rPr>
              <a:t> </a:t>
            </a:r>
            <a:r>
              <a:rPr lang="en-US" sz="2000" spc="-10" dirty="0">
                <a:solidFill>
                  <a:srgbClr val="343D4D"/>
                </a:solidFill>
              </a:rPr>
              <a:t>older </a:t>
            </a:r>
            <a:r>
              <a:rPr lang="en-US" sz="2000" spc="-50" dirty="0">
                <a:solidFill>
                  <a:srgbClr val="343D4D"/>
                </a:solidFill>
              </a:rPr>
              <a:t>NNRTI</a:t>
            </a:r>
            <a:r>
              <a:rPr lang="en-US" sz="2000" spc="-95" dirty="0">
                <a:solidFill>
                  <a:srgbClr val="343D4D"/>
                </a:solidFill>
              </a:rPr>
              <a:t> </a:t>
            </a:r>
            <a:r>
              <a:rPr lang="en-US" sz="2000" spc="-10" dirty="0">
                <a:solidFill>
                  <a:srgbClr val="343D4D"/>
                </a:solidFill>
              </a:rPr>
              <a:t>options.</a:t>
            </a:r>
            <a:r>
              <a:rPr lang="en-US" sz="2000" i="1" spc="-10" baseline="30000" dirty="0">
                <a:solidFill>
                  <a:srgbClr val="343D4D"/>
                </a:solidFill>
              </a:rPr>
              <a:t>2</a:t>
            </a:r>
            <a:endParaRPr lang="en-US" sz="2000" i="1" baseline="30000" dirty="0"/>
          </a:p>
          <a:p>
            <a:pPr marL="654685" marR="254000" indent="-554355">
              <a:lnSpc>
                <a:spcPct val="112200"/>
              </a:lnSpc>
              <a:spcBef>
                <a:spcPts val="1835"/>
              </a:spcBef>
              <a:tabLst>
                <a:tab pos="650240" algn="l"/>
              </a:tabLst>
            </a:pPr>
            <a:r>
              <a:rPr lang="en-US" sz="2000" spc="-45" dirty="0">
                <a:solidFill>
                  <a:srgbClr val="343D4D"/>
                </a:solidFill>
              </a:rPr>
              <a:t>Suitable</a:t>
            </a:r>
            <a:r>
              <a:rPr lang="en-US" sz="2000" spc="-25" dirty="0">
                <a:solidFill>
                  <a:srgbClr val="343D4D"/>
                </a:solidFill>
              </a:rPr>
              <a:t> </a:t>
            </a:r>
            <a:r>
              <a:rPr lang="en-US" sz="2000" spc="-75" dirty="0">
                <a:solidFill>
                  <a:srgbClr val="343D4D"/>
                </a:solidFill>
              </a:rPr>
              <a:t>across</a:t>
            </a:r>
            <a:r>
              <a:rPr lang="en-US" sz="2000" spc="50" dirty="0">
                <a:solidFill>
                  <a:srgbClr val="343D4D"/>
                </a:solidFill>
              </a:rPr>
              <a:t> </a:t>
            </a:r>
            <a:r>
              <a:rPr lang="en-US" sz="2000" spc="-30" dirty="0">
                <a:solidFill>
                  <a:srgbClr val="343D4D"/>
                </a:solidFill>
              </a:rPr>
              <a:t>adults,</a:t>
            </a:r>
            <a:r>
              <a:rPr lang="en-US" sz="2000" spc="-160" dirty="0">
                <a:solidFill>
                  <a:srgbClr val="343D4D"/>
                </a:solidFill>
              </a:rPr>
              <a:t> </a:t>
            </a:r>
            <a:r>
              <a:rPr lang="en-US" sz="2000" spc="-10" dirty="0">
                <a:solidFill>
                  <a:srgbClr val="343D4D"/>
                </a:solidFill>
              </a:rPr>
              <a:t>children</a:t>
            </a:r>
            <a:r>
              <a:rPr lang="en-US" sz="2000" spc="-25" dirty="0">
                <a:solidFill>
                  <a:srgbClr val="343D4D"/>
                </a:solidFill>
              </a:rPr>
              <a:t> </a:t>
            </a:r>
            <a:r>
              <a:rPr lang="en-US" sz="2000" spc="-20" dirty="0">
                <a:solidFill>
                  <a:srgbClr val="343D4D"/>
                </a:solidFill>
              </a:rPr>
              <a:t>(3kg+),</a:t>
            </a:r>
            <a:r>
              <a:rPr lang="en-US" sz="2000" spc="-345" dirty="0">
                <a:solidFill>
                  <a:srgbClr val="343D4D"/>
                </a:solidFill>
              </a:rPr>
              <a:t> </a:t>
            </a:r>
            <a:r>
              <a:rPr lang="en-US" sz="2000" spc="-25" dirty="0">
                <a:solidFill>
                  <a:srgbClr val="343D4D"/>
                </a:solidFill>
              </a:rPr>
              <a:t>and </a:t>
            </a:r>
            <a:r>
              <a:rPr lang="en-US" sz="2000" spc="-20" dirty="0">
                <a:solidFill>
                  <a:srgbClr val="343D4D"/>
                </a:solidFill>
              </a:rPr>
              <a:t>pregnant</a:t>
            </a:r>
            <a:r>
              <a:rPr lang="en-US" sz="2000" spc="-110" dirty="0">
                <a:solidFill>
                  <a:srgbClr val="343D4D"/>
                </a:solidFill>
              </a:rPr>
              <a:t> </a:t>
            </a:r>
            <a:r>
              <a:rPr lang="en-US" sz="2000" spc="-10" dirty="0">
                <a:solidFill>
                  <a:srgbClr val="343D4D"/>
                </a:solidFill>
              </a:rPr>
              <a:t>women.</a:t>
            </a:r>
            <a:endParaRPr lang="en-US" sz="2000" dirty="0"/>
          </a:p>
          <a:p>
            <a:pPr marL="655320" marR="587375" indent="-554355">
              <a:lnSpc>
                <a:spcPct val="112200"/>
              </a:lnSpc>
              <a:spcBef>
                <a:spcPts val="1830"/>
              </a:spcBef>
              <a:tabLst>
                <a:tab pos="652780" algn="l"/>
              </a:tabLst>
            </a:pPr>
            <a:r>
              <a:rPr lang="en-US" sz="2000" b="1" spc="-10" dirty="0">
                <a:solidFill>
                  <a:srgbClr val="1C2634"/>
                </a:solidFill>
              </a:rPr>
              <a:t>TB</a:t>
            </a:r>
            <a:r>
              <a:rPr lang="en-US" sz="2000" b="1" spc="-235" dirty="0">
                <a:solidFill>
                  <a:srgbClr val="1C2634"/>
                </a:solidFill>
              </a:rPr>
              <a:t> </a:t>
            </a:r>
            <a:r>
              <a:rPr lang="en-US" sz="2000" b="1" spc="50" dirty="0">
                <a:solidFill>
                  <a:srgbClr val="1C2634"/>
                </a:solidFill>
              </a:rPr>
              <a:t>Context</a:t>
            </a:r>
            <a:r>
              <a:rPr lang="en-US" sz="2000" spc="50" dirty="0">
                <a:solidFill>
                  <a:srgbClr val="1C2634"/>
                </a:solidFill>
              </a:rPr>
              <a:t>:</a:t>
            </a:r>
            <a:r>
              <a:rPr lang="en-US" sz="2000" spc="-130" dirty="0">
                <a:solidFill>
                  <a:srgbClr val="1C2634"/>
                </a:solidFill>
              </a:rPr>
              <a:t> </a:t>
            </a:r>
            <a:r>
              <a:rPr lang="en-US" sz="2000" spc="-60" dirty="0">
                <a:solidFill>
                  <a:srgbClr val="343D4D"/>
                </a:solidFill>
              </a:rPr>
              <a:t>Requires </a:t>
            </a:r>
            <a:r>
              <a:rPr lang="en-US" sz="2000" dirty="0">
                <a:solidFill>
                  <a:srgbClr val="343D4D"/>
                </a:solidFill>
              </a:rPr>
              <a:t>twice-daily</a:t>
            </a:r>
            <a:r>
              <a:rPr lang="en-US" sz="2000" spc="-35" dirty="0">
                <a:solidFill>
                  <a:srgbClr val="343D4D"/>
                </a:solidFill>
              </a:rPr>
              <a:t> dosing</a:t>
            </a:r>
            <a:r>
              <a:rPr lang="en-US" sz="2000" spc="-235" dirty="0">
                <a:solidFill>
                  <a:srgbClr val="343D4D"/>
                </a:solidFill>
              </a:rPr>
              <a:t> </a:t>
            </a:r>
            <a:r>
              <a:rPr lang="en-US" sz="2000" spc="-25" dirty="0">
                <a:solidFill>
                  <a:srgbClr val="343D4D"/>
                </a:solidFill>
              </a:rPr>
              <a:t>when</a:t>
            </a:r>
            <a:r>
              <a:rPr lang="en-US" sz="2000" spc="-225" dirty="0">
                <a:solidFill>
                  <a:srgbClr val="343D4D"/>
                </a:solidFill>
              </a:rPr>
              <a:t> </a:t>
            </a:r>
            <a:r>
              <a:rPr lang="en-US" sz="2000" spc="-80" dirty="0">
                <a:solidFill>
                  <a:srgbClr val="343D4D"/>
                </a:solidFill>
              </a:rPr>
              <a:t>used</a:t>
            </a:r>
            <a:r>
              <a:rPr lang="en-US" sz="2000" spc="-155" dirty="0">
                <a:solidFill>
                  <a:srgbClr val="343D4D"/>
                </a:solidFill>
              </a:rPr>
              <a:t> </a:t>
            </a:r>
            <a:r>
              <a:rPr lang="en-US" sz="2000" spc="60" dirty="0">
                <a:solidFill>
                  <a:srgbClr val="343D4D"/>
                </a:solidFill>
              </a:rPr>
              <a:t>with </a:t>
            </a:r>
            <a:r>
              <a:rPr lang="en-US" sz="2000" spc="-10" dirty="0">
                <a:solidFill>
                  <a:srgbClr val="343D4D"/>
                </a:solidFill>
              </a:rPr>
              <a:t>rifampicin.</a:t>
            </a:r>
            <a:endParaRPr lang="en-US" sz="2000" dirty="0"/>
          </a:p>
          <a:p>
            <a:endParaRPr lang="en-US" sz="2000" dirty="0"/>
          </a:p>
        </p:txBody>
      </p:sp>
      <p:sp>
        <p:nvSpPr>
          <p:cNvPr id="5" name="TextBox 4">
            <a:extLst>
              <a:ext uri="{FF2B5EF4-FFF2-40B4-BE49-F238E27FC236}">
                <a16:creationId xmlns:a16="http://schemas.microsoft.com/office/drawing/2014/main" id="{EE204511-6B10-907D-D8E7-BA818438EF7B}"/>
              </a:ext>
            </a:extLst>
          </p:cNvPr>
          <p:cNvSpPr txBox="1"/>
          <p:nvPr/>
        </p:nvSpPr>
        <p:spPr>
          <a:xfrm>
            <a:off x="267629" y="6802244"/>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5A94B609-53A6-6E5F-582C-845CE6A38976}"/>
              </a:ext>
            </a:extLst>
          </p:cNvPr>
          <p:cNvSpPr txBox="1"/>
          <p:nvPr/>
        </p:nvSpPr>
        <p:spPr>
          <a:xfrm>
            <a:off x="766481" y="5739683"/>
            <a:ext cx="10158663" cy="907941"/>
          </a:xfrm>
          <a:prstGeom prst="rect">
            <a:avLst/>
          </a:prstGeom>
          <a:noFill/>
        </p:spPr>
        <p:txBody>
          <a:bodyPr wrap="square" rtlCol="0">
            <a:spAutoFit/>
          </a:bodyPr>
          <a:lstStyle/>
          <a:p>
            <a:pPr marL="249555" indent="-228600">
              <a:lnSpc>
                <a:spcPct val="100000"/>
              </a:lnSpc>
              <a:spcBef>
                <a:spcPts val="635"/>
              </a:spcBef>
              <a:buAutoNum type="arabicPeriod"/>
            </a:pPr>
            <a:r>
              <a:rPr lang="en-US" sz="1200" i="1" spc="-65" dirty="0">
                <a:solidFill>
                  <a:srgbClr val="0C0F1A"/>
                </a:solidFill>
                <a:latin typeface="Calibri" panose="020F0502020204030204" pitchFamily="34" charset="0"/>
                <a:cs typeface="Calibri" panose="020F0502020204030204" pitchFamily="34" charset="0"/>
              </a:rPr>
              <a:t>ADVANCE</a:t>
            </a:r>
            <a:r>
              <a:rPr lang="en-US" sz="1200" i="1" spc="-25" dirty="0">
                <a:solidFill>
                  <a:srgbClr val="0C0F1A"/>
                </a:solidFill>
                <a:latin typeface="Calibri" panose="020F0502020204030204" pitchFamily="34" charset="0"/>
                <a:cs typeface="Calibri" panose="020F0502020204030204" pitchFamily="34" charset="0"/>
              </a:rPr>
              <a:t> study. </a:t>
            </a:r>
            <a:r>
              <a:rPr lang="en-US" sz="1200" i="1" dirty="0">
                <a:latin typeface="Calibri" panose="020F0502020204030204" pitchFamily="34" charset="0"/>
                <a:cs typeface="Calibri" panose="020F0502020204030204" pitchFamily="34" charset="0"/>
              </a:rPr>
              <a:t>Venter WDF, Moorhouse M, Sokhela S, et al. Dolutegravir plus Two Different Prodrugs of Tenofovir to Treat HIV. N Engl J Med. 2019;381(9):803-815. doi:10.1056/NEJMoa1902824 </a:t>
            </a:r>
          </a:p>
          <a:p>
            <a:pPr marL="249555" indent="-228600">
              <a:lnSpc>
                <a:spcPct val="100000"/>
              </a:lnSpc>
              <a:spcBef>
                <a:spcPts val="635"/>
              </a:spcBef>
              <a:buAutoNum type="arabicPeriod"/>
            </a:pPr>
            <a:r>
              <a:rPr lang="en-US" sz="1200" i="1" dirty="0">
                <a:latin typeface="Calibri" panose="020F0502020204030204" pitchFamily="34" charset="0"/>
                <a:cs typeface="Calibri" panose="020F0502020204030204" pitchFamily="34" charset="0"/>
              </a:rPr>
              <a:t>SINGLE study. Walmsley SL, Antela A, </a:t>
            </a:r>
            <a:r>
              <a:rPr lang="en-US" sz="1200" i="1" dirty="0" err="1">
                <a:latin typeface="Calibri" panose="020F0502020204030204" pitchFamily="34" charset="0"/>
                <a:cs typeface="Calibri" panose="020F0502020204030204" pitchFamily="34" charset="0"/>
              </a:rPr>
              <a:t>Clumeck</a:t>
            </a:r>
            <a:r>
              <a:rPr lang="en-US" sz="1200" i="1" dirty="0">
                <a:latin typeface="Calibri" panose="020F0502020204030204" pitchFamily="34" charset="0"/>
                <a:cs typeface="Calibri" panose="020F0502020204030204" pitchFamily="34" charset="0"/>
              </a:rPr>
              <a:t> N, et al. Dolutegravir plus abacavir-lamivudine for the treatment of HIV-1 infection. N Engl J Med. 2013;369(19):1807-1818. doi:10.1056/NEJMoa1215541</a:t>
            </a:r>
          </a:p>
        </p:txBody>
      </p:sp>
      <p:sp>
        <p:nvSpPr>
          <p:cNvPr id="4" name="Rectangle 1">
            <a:extLst>
              <a:ext uri="{FF2B5EF4-FFF2-40B4-BE49-F238E27FC236}">
                <a16:creationId xmlns:a16="http://schemas.microsoft.com/office/drawing/2014/main" id="{EB064BCC-C77B-5DC6-F889-01F23EEE3B5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65933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3FCD5-0A94-DC94-5E97-418B07026ED9}"/>
              </a:ext>
            </a:extLst>
          </p:cNvPr>
          <p:cNvSpPr>
            <a:spLocks noGrp="1"/>
          </p:cNvSpPr>
          <p:nvPr>
            <p:ph type="title"/>
          </p:nvPr>
        </p:nvSpPr>
        <p:spPr/>
        <p:txBody>
          <a:bodyPr/>
          <a:lstStyle/>
          <a:p>
            <a:r>
              <a:rPr lang="en-US" b="1" dirty="0"/>
              <a:t>Table</a:t>
            </a:r>
            <a:r>
              <a:rPr lang="en-US" dirty="0"/>
              <a:t> of standard </a:t>
            </a:r>
            <a:r>
              <a:rPr lang="en-US" b="1" dirty="0"/>
              <a:t>ART combination</a:t>
            </a:r>
            <a:endParaRPr lang="en-US" dirty="0"/>
          </a:p>
        </p:txBody>
      </p:sp>
      <p:pic>
        <p:nvPicPr>
          <p:cNvPr id="5" name="Content Placeholder 4">
            <a:extLst>
              <a:ext uri="{FF2B5EF4-FFF2-40B4-BE49-F238E27FC236}">
                <a16:creationId xmlns:a16="http://schemas.microsoft.com/office/drawing/2014/main" id="{2D108DDC-C944-4848-7EC5-E5A4849F8F41}"/>
              </a:ext>
            </a:extLst>
          </p:cNvPr>
          <p:cNvPicPr>
            <a:picLocks noGrp="1" noChangeAspect="1"/>
          </p:cNvPicPr>
          <p:nvPr>
            <p:ph idx="1"/>
          </p:nvPr>
        </p:nvPicPr>
        <p:blipFill>
          <a:blip r:embed="rId2"/>
          <a:stretch>
            <a:fillRect/>
          </a:stretch>
        </p:blipFill>
        <p:spPr>
          <a:xfrm>
            <a:off x="838200" y="1896269"/>
            <a:ext cx="10515600" cy="4210050"/>
          </a:xfrm>
          <a:prstGeom prst="rect">
            <a:avLst/>
          </a:prstGeom>
        </p:spPr>
      </p:pic>
    </p:spTree>
    <p:extLst>
      <p:ext uri="{BB962C8B-B14F-4D97-AF65-F5344CB8AC3E}">
        <p14:creationId xmlns:p14="http://schemas.microsoft.com/office/powerpoint/2010/main" val="13149074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755A0-8E50-3242-429E-289E5D9FA11D}"/>
              </a:ext>
            </a:extLst>
          </p:cNvPr>
          <p:cNvSpPr>
            <a:spLocks noGrp="1"/>
          </p:cNvSpPr>
          <p:nvPr>
            <p:ph type="title"/>
          </p:nvPr>
        </p:nvSpPr>
        <p:spPr>
          <a:xfrm>
            <a:off x="838200" y="-225242"/>
            <a:ext cx="10515600" cy="1325563"/>
          </a:xfrm>
        </p:spPr>
        <p:txBody>
          <a:bodyPr/>
          <a:lstStyle/>
          <a:p>
            <a:r>
              <a:rPr lang="en-US" dirty="0"/>
              <a:t>New Frontiers</a:t>
            </a:r>
          </a:p>
        </p:txBody>
      </p:sp>
      <p:sp>
        <p:nvSpPr>
          <p:cNvPr id="4" name="TextBox 3">
            <a:extLst>
              <a:ext uri="{FF2B5EF4-FFF2-40B4-BE49-F238E27FC236}">
                <a16:creationId xmlns:a16="http://schemas.microsoft.com/office/drawing/2014/main" id="{2B929832-EABF-8A89-EC02-CF20B9BAF00F}"/>
              </a:ext>
            </a:extLst>
          </p:cNvPr>
          <p:cNvSpPr txBox="1"/>
          <p:nvPr/>
        </p:nvSpPr>
        <p:spPr>
          <a:xfrm>
            <a:off x="838200" y="5556590"/>
            <a:ext cx="9999921" cy="1384995"/>
          </a:xfrm>
          <a:prstGeom prst="rect">
            <a:avLst/>
          </a:prstGeom>
          <a:noFill/>
        </p:spPr>
        <p:txBody>
          <a:bodyPr wrap="square" rtlCol="0">
            <a:spAutoFit/>
          </a:bodyPr>
          <a:lstStyle/>
          <a:p>
            <a:pPr marL="228600" indent="-228600">
              <a:buAutoNum type="arabicPeriod"/>
            </a:pPr>
            <a:r>
              <a:rPr lang="en-US" sz="1200" i="1" dirty="0">
                <a:latin typeface="Calibri" panose="020F0502020204030204" pitchFamily="34" charset="0"/>
                <a:cs typeface="Calibri" panose="020F0502020204030204" pitchFamily="34" charset="0"/>
              </a:rPr>
              <a:t>Cahn P, Madero JS, Arribas JR, et al. Dolutegravir plus lamivudine versus dolutegravir plus tenofovir disoproxil fumarate and emtricitabine in antiretroviral-naive adults with HIV-1 infection (GEMINI-1 and GEMINI-2): week 48 results from two multicenter, double-blind, randomized, non-inferiority, phase 3 trials. Lancet. 2019;393(10167):143-155. doi:10.1016/S0140-6736(18)32462-0</a:t>
            </a:r>
          </a:p>
          <a:p>
            <a:pPr marL="228600" indent="-228600">
              <a:buAutoNum type="arabicPeriod"/>
            </a:pPr>
            <a:endParaRPr lang="en-US" sz="1200" i="1" dirty="0">
              <a:latin typeface="Calibri" panose="020F0502020204030204" pitchFamily="34" charset="0"/>
              <a:cs typeface="Calibri" panose="020F0502020204030204" pitchFamily="34" charset="0"/>
            </a:endParaRPr>
          </a:p>
          <a:p>
            <a:pPr marL="228600" indent="-228600">
              <a:buAutoNum type="arabicPeriod"/>
            </a:pPr>
            <a:r>
              <a:rPr lang="en-US" sz="1200" i="1" dirty="0" err="1">
                <a:latin typeface="Calibri" panose="020F0502020204030204" pitchFamily="34" charset="0"/>
                <a:cs typeface="Calibri" panose="020F0502020204030204" pitchFamily="34" charset="0"/>
              </a:rPr>
              <a:t>Osiyemi</a:t>
            </a:r>
            <a:r>
              <a:rPr lang="en-US" sz="1200" i="1" dirty="0">
                <a:latin typeface="Calibri" panose="020F0502020204030204" pitchFamily="34" charset="0"/>
                <a:cs typeface="Calibri" panose="020F0502020204030204" pitchFamily="34" charset="0"/>
              </a:rPr>
              <a:t> O, De Wit S, Ajana F, et al. Efficacy and Safety of Switching to Dolutegravir/Lamivudine Versus Continuing a Tenofovir Alafenamide-Based 3- or 4-Drug Regimen for Maintenance of Virologic Suppression in Adults Living With Human Immunodeficiency Virus Type 1: Results Through Week 144 From the Phase 3, Noninferiority TANGO Randomized Trial. Clin Infect Dis. 2022;75(6):975-986. doi:10.1093/</a:t>
            </a:r>
            <a:r>
              <a:rPr lang="en-US" sz="1200" i="1" dirty="0" err="1">
                <a:latin typeface="Calibri" panose="020F0502020204030204" pitchFamily="34" charset="0"/>
                <a:cs typeface="Calibri" panose="020F0502020204030204" pitchFamily="34" charset="0"/>
              </a:rPr>
              <a:t>cid</a:t>
            </a:r>
            <a:r>
              <a:rPr lang="en-US" sz="1200" i="1" dirty="0">
                <a:latin typeface="Calibri" panose="020F0502020204030204" pitchFamily="34" charset="0"/>
                <a:cs typeface="Calibri" panose="020F0502020204030204" pitchFamily="34" charset="0"/>
              </a:rPr>
              <a:t>/ciac036</a:t>
            </a:r>
          </a:p>
        </p:txBody>
      </p:sp>
      <p:pic>
        <p:nvPicPr>
          <p:cNvPr id="8" name="Content Placeholder 7">
            <a:extLst>
              <a:ext uri="{FF2B5EF4-FFF2-40B4-BE49-F238E27FC236}">
                <a16:creationId xmlns:a16="http://schemas.microsoft.com/office/drawing/2014/main" id="{91C23D6B-7612-751C-2516-3B093FAA38B4}"/>
              </a:ext>
            </a:extLst>
          </p:cNvPr>
          <p:cNvPicPr>
            <a:picLocks noGrp="1" noChangeAspect="1"/>
          </p:cNvPicPr>
          <p:nvPr>
            <p:ph idx="1"/>
          </p:nvPr>
        </p:nvPicPr>
        <p:blipFill>
          <a:blip r:embed="rId3"/>
          <a:stretch>
            <a:fillRect/>
          </a:stretch>
        </p:blipFill>
        <p:spPr>
          <a:xfrm>
            <a:off x="1931998" y="735795"/>
            <a:ext cx="8328003" cy="4820795"/>
          </a:xfrm>
          <a:prstGeom prst="rect">
            <a:avLst/>
          </a:prstGeom>
        </p:spPr>
      </p:pic>
    </p:spTree>
    <p:extLst>
      <p:ext uri="{BB962C8B-B14F-4D97-AF65-F5344CB8AC3E}">
        <p14:creationId xmlns:p14="http://schemas.microsoft.com/office/powerpoint/2010/main" val="16673523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FC33D-D868-C187-6FC3-6A8DFD2C324A}"/>
              </a:ext>
            </a:extLst>
          </p:cNvPr>
          <p:cNvSpPr>
            <a:spLocks noGrp="1"/>
          </p:cNvSpPr>
          <p:nvPr>
            <p:ph type="title"/>
          </p:nvPr>
        </p:nvSpPr>
        <p:spPr>
          <a:xfrm>
            <a:off x="838200" y="18255"/>
            <a:ext cx="10515600" cy="1325563"/>
          </a:xfrm>
        </p:spPr>
        <p:txBody>
          <a:bodyPr/>
          <a:lstStyle/>
          <a:p>
            <a:r>
              <a:rPr lang="en-US" dirty="0"/>
              <a:t>Long-Acting Injectables(LAI)</a:t>
            </a:r>
          </a:p>
        </p:txBody>
      </p:sp>
      <p:sp>
        <p:nvSpPr>
          <p:cNvPr id="3" name="Content Placeholder 2">
            <a:extLst>
              <a:ext uri="{FF2B5EF4-FFF2-40B4-BE49-F238E27FC236}">
                <a16:creationId xmlns:a16="http://schemas.microsoft.com/office/drawing/2014/main" id="{2087992D-413A-D5D7-DD93-6CCBC7D97F8C}"/>
              </a:ext>
            </a:extLst>
          </p:cNvPr>
          <p:cNvSpPr>
            <a:spLocks noGrp="1"/>
          </p:cNvSpPr>
          <p:nvPr>
            <p:ph idx="1"/>
          </p:nvPr>
        </p:nvSpPr>
        <p:spPr>
          <a:xfrm>
            <a:off x="838200" y="1253331"/>
            <a:ext cx="10515600" cy="4351338"/>
          </a:xfrm>
        </p:spPr>
        <p:txBody>
          <a:bodyPr>
            <a:normAutofit/>
          </a:bodyPr>
          <a:lstStyle/>
          <a:p>
            <a:r>
              <a:rPr lang="en-US" sz="2000" dirty="0"/>
              <a:t>Regimen: Cabotegravir(INSTI) + Rilpivirine(NNRTI) injected IM every 2 months.</a:t>
            </a:r>
          </a:p>
          <a:p>
            <a:r>
              <a:rPr lang="en-US" sz="2000" dirty="0"/>
              <a:t>Indication: For stable suppressed patients who face “pill fatigue” or stigma</a:t>
            </a:r>
          </a:p>
        </p:txBody>
      </p:sp>
      <p:sp>
        <p:nvSpPr>
          <p:cNvPr id="4" name="TextBox 3">
            <a:extLst>
              <a:ext uri="{FF2B5EF4-FFF2-40B4-BE49-F238E27FC236}">
                <a16:creationId xmlns:a16="http://schemas.microsoft.com/office/drawing/2014/main" id="{D24B2E4E-D4B4-998B-BAE2-823D69DE5999}"/>
              </a:ext>
            </a:extLst>
          </p:cNvPr>
          <p:cNvSpPr txBox="1"/>
          <p:nvPr/>
        </p:nvSpPr>
        <p:spPr>
          <a:xfrm>
            <a:off x="838200" y="6378080"/>
            <a:ext cx="11632018" cy="461665"/>
          </a:xfrm>
          <a:prstGeom prst="rect">
            <a:avLst/>
          </a:prstGeom>
          <a:noFill/>
        </p:spPr>
        <p:txBody>
          <a:bodyPr wrap="square" rtlCol="0">
            <a:spAutoFit/>
          </a:bodyPr>
          <a:lstStyle/>
          <a:p>
            <a:r>
              <a:rPr lang="en-US" sz="1200" i="1" dirty="0"/>
              <a:t>Orkin C, Arasteh K, </a:t>
            </a:r>
            <a:r>
              <a:rPr lang="en-US" sz="1200" i="1" dirty="0" err="1"/>
              <a:t>Górgolas</a:t>
            </a:r>
            <a:r>
              <a:rPr lang="en-US" sz="1200" i="1" dirty="0"/>
              <a:t> Hernández-Mora M, et al. Long-Acting Cabotegravir and Rilpivirine after Oral Induction for HIV-1 Infection. N Engl J Med. 2020;382(12):1124-1135. doi:10.1056/NEJMoa1909512</a:t>
            </a:r>
            <a:endParaRPr lang="en-US" sz="1200" i="1" dirty="0">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1737E357-7CC1-73A5-3094-D9E3AA318275}"/>
              </a:ext>
            </a:extLst>
          </p:cNvPr>
          <p:cNvPicPr>
            <a:picLocks noChangeAspect="1"/>
          </p:cNvPicPr>
          <p:nvPr/>
        </p:nvPicPr>
        <p:blipFill>
          <a:blip r:embed="rId3"/>
          <a:stretch>
            <a:fillRect/>
          </a:stretch>
        </p:blipFill>
        <p:spPr>
          <a:xfrm>
            <a:off x="891686" y="2396093"/>
            <a:ext cx="10408628" cy="3562191"/>
          </a:xfrm>
          <a:prstGeom prst="rect">
            <a:avLst/>
          </a:prstGeom>
        </p:spPr>
      </p:pic>
    </p:spTree>
    <p:extLst>
      <p:ext uri="{BB962C8B-B14F-4D97-AF65-F5344CB8AC3E}">
        <p14:creationId xmlns:p14="http://schemas.microsoft.com/office/powerpoint/2010/main" val="36716903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1CA00-1D32-80F7-6075-1E65A3D660F2}"/>
              </a:ext>
            </a:extLst>
          </p:cNvPr>
          <p:cNvSpPr>
            <a:spLocks noGrp="1"/>
          </p:cNvSpPr>
          <p:nvPr>
            <p:ph type="title"/>
          </p:nvPr>
        </p:nvSpPr>
        <p:spPr>
          <a:xfrm>
            <a:off x="838200" y="18255"/>
            <a:ext cx="10515600" cy="1325563"/>
          </a:xfrm>
        </p:spPr>
        <p:txBody>
          <a:bodyPr/>
          <a:lstStyle/>
          <a:p>
            <a:r>
              <a:rPr lang="en-US" b="1" dirty="0"/>
              <a:t>Changing Antiretroviral Therapy</a:t>
            </a:r>
          </a:p>
        </p:txBody>
      </p:sp>
      <p:sp>
        <p:nvSpPr>
          <p:cNvPr id="3" name="Content Placeholder 2">
            <a:extLst>
              <a:ext uri="{FF2B5EF4-FFF2-40B4-BE49-F238E27FC236}">
                <a16:creationId xmlns:a16="http://schemas.microsoft.com/office/drawing/2014/main" id="{D18D70FD-50A8-D7AD-C21F-13640B69240A}"/>
              </a:ext>
            </a:extLst>
          </p:cNvPr>
          <p:cNvSpPr>
            <a:spLocks noGrp="1"/>
          </p:cNvSpPr>
          <p:nvPr>
            <p:ph idx="1"/>
          </p:nvPr>
        </p:nvSpPr>
        <p:spPr>
          <a:xfrm>
            <a:off x="838200" y="1253330"/>
            <a:ext cx="10515600" cy="5258305"/>
          </a:xfrm>
        </p:spPr>
        <p:txBody>
          <a:bodyPr/>
          <a:lstStyle/>
          <a:p>
            <a:pPr marL="0" indent="0">
              <a:buNone/>
            </a:pPr>
            <a:r>
              <a:rPr lang="en-US" dirty="0"/>
              <a:t>There are multiple reasons that may prompt the need to change antiretroviral therapy.</a:t>
            </a:r>
          </a:p>
          <a:p>
            <a:r>
              <a:rPr lang="en-US" dirty="0"/>
              <a:t> These can be grouped into two major categories: </a:t>
            </a:r>
          </a:p>
          <a:p>
            <a:pPr marL="514350" indent="-514350">
              <a:buFont typeface="+mj-lt"/>
              <a:buAutoNum type="arabicParenR"/>
            </a:pPr>
            <a:r>
              <a:rPr lang="en-US" b="1" dirty="0"/>
              <a:t>Treatment failure </a:t>
            </a:r>
          </a:p>
          <a:p>
            <a:pPr marL="514350" indent="-514350">
              <a:buFont typeface="+mj-lt"/>
              <a:buAutoNum type="arabicParenR"/>
            </a:pPr>
            <a:r>
              <a:rPr lang="en-US" b="1" dirty="0"/>
              <a:t>Drug specific adverse events (toxicity) </a:t>
            </a:r>
          </a:p>
          <a:p>
            <a:pPr marL="0" indent="0">
              <a:buNone/>
            </a:pPr>
            <a:r>
              <a:rPr lang="en-US" dirty="0"/>
              <a:t>When changing treatment, the following should be observed:</a:t>
            </a:r>
          </a:p>
          <a:p>
            <a:pPr marL="0" indent="0">
              <a:buNone/>
            </a:pPr>
            <a:r>
              <a:rPr lang="en-US" b="1" dirty="0"/>
              <a:t>If</a:t>
            </a:r>
            <a:r>
              <a:rPr lang="en-US" dirty="0"/>
              <a:t> changing due to treatment failure, change should be personalized</a:t>
            </a:r>
          </a:p>
          <a:p>
            <a:pPr marL="0" indent="0">
              <a:buNone/>
            </a:pPr>
            <a:r>
              <a:rPr lang="en-US" dirty="0"/>
              <a:t> </a:t>
            </a:r>
            <a:r>
              <a:rPr lang="en-US" b="1" dirty="0"/>
              <a:t>If</a:t>
            </a:r>
            <a:r>
              <a:rPr lang="en-US" dirty="0"/>
              <a:t> changing due to toxicity, Change only the drug suspected to be causing the problem.</a:t>
            </a:r>
          </a:p>
          <a:p>
            <a:pPr marL="0" indent="0">
              <a:buNone/>
            </a:pPr>
            <a:endParaRPr lang="en-US" dirty="0"/>
          </a:p>
        </p:txBody>
      </p:sp>
    </p:spTree>
    <p:extLst>
      <p:ext uri="{BB962C8B-B14F-4D97-AF65-F5344CB8AC3E}">
        <p14:creationId xmlns:p14="http://schemas.microsoft.com/office/powerpoint/2010/main" val="20227923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D91DA-C177-116B-2C67-838F5F6A8DC1}"/>
              </a:ext>
            </a:extLst>
          </p:cNvPr>
          <p:cNvSpPr>
            <a:spLocks noGrp="1"/>
          </p:cNvSpPr>
          <p:nvPr>
            <p:ph type="title"/>
          </p:nvPr>
        </p:nvSpPr>
        <p:spPr/>
        <p:txBody>
          <a:bodyPr/>
          <a:lstStyle/>
          <a:p>
            <a:r>
              <a:rPr lang="en-US" b="1" dirty="0"/>
              <a:t>TREATMENT FAILURE AND RESISTANCE</a:t>
            </a:r>
          </a:p>
        </p:txBody>
      </p:sp>
      <p:sp>
        <p:nvSpPr>
          <p:cNvPr id="3" name="Content Placeholder 2">
            <a:extLst>
              <a:ext uri="{FF2B5EF4-FFF2-40B4-BE49-F238E27FC236}">
                <a16:creationId xmlns:a16="http://schemas.microsoft.com/office/drawing/2014/main" id="{2CEAC139-987A-1CC2-788B-35D2221128F3}"/>
              </a:ext>
            </a:extLst>
          </p:cNvPr>
          <p:cNvSpPr>
            <a:spLocks noGrp="1"/>
          </p:cNvSpPr>
          <p:nvPr>
            <p:ph idx="1"/>
          </p:nvPr>
        </p:nvSpPr>
        <p:spPr/>
        <p:txBody>
          <a:bodyPr/>
          <a:lstStyle/>
          <a:p>
            <a:pPr marL="0" indent="0">
              <a:buNone/>
            </a:pPr>
            <a:r>
              <a:rPr lang="en-US" b="1" dirty="0"/>
              <a:t>Treatment failure</a:t>
            </a:r>
            <a:r>
              <a:rPr lang="en-US" dirty="0"/>
              <a:t>: Is a failure to achieve or maintain viral suppression after ≥ 6month of ART </a:t>
            </a:r>
          </a:p>
          <a:p>
            <a:pPr marL="0" indent="0">
              <a:buNone/>
            </a:pPr>
            <a:r>
              <a:rPr lang="en-US" b="1" dirty="0"/>
              <a:t>3 Types:</a:t>
            </a:r>
          </a:p>
          <a:p>
            <a:pPr marL="514350" indent="-514350">
              <a:buFont typeface="+mj-lt"/>
              <a:buAutoNum type="arabicParenR"/>
            </a:pPr>
            <a:r>
              <a:rPr lang="en-US" dirty="0"/>
              <a:t>Virological failure</a:t>
            </a:r>
          </a:p>
          <a:p>
            <a:pPr marL="514350" indent="-514350">
              <a:buFont typeface="+mj-lt"/>
              <a:buAutoNum type="arabicParenR"/>
            </a:pPr>
            <a:r>
              <a:rPr lang="en-US" dirty="0"/>
              <a:t>Immunological failure</a:t>
            </a:r>
          </a:p>
          <a:p>
            <a:pPr marL="514350" indent="-514350">
              <a:buFont typeface="+mj-lt"/>
              <a:buAutoNum type="arabicParenR"/>
            </a:pPr>
            <a:r>
              <a:rPr lang="en-US" dirty="0"/>
              <a:t>Clinical failure</a:t>
            </a:r>
          </a:p>
          <a:p>
            <a:pPr marL="514350" indent="-514350">
              <a:buFont typeface="+mj-lt"/>
              <a:buAutoNum type="arabicParenR"/>
            </a:pPr>
            <a:endParaRPr lang="en-US" dirty="0"/>
          </a:p>
          <a:p>
            <a:pPr marL="0" indent="0">
              <a:buNone/>
            </a:pPr>
            <a:endParaRPr lang="en-US" dirty="0"/>
          </a:p>
          <a:p>
            <a:endParaRPr lang="en-US" dirty="0"/>
          </a:p>
          <a:p>
            <a:pPr marL="0" indent="0">
              <a:buNone/>
            </a:pPr>
            <a:endParaRPr lang="en-US" dirty="0"/>
          </a:p>
        </p:txBody>
      </p:sp>
    </p:spTree>
    <p:extLst>
      <p:ext uri="{BB962C8B-B14F-4D97-AF65-F5344CB8AC3E}">
        <p14:creationId xmlns:p14="http://schemas.microsoft.com/office/powerpoint/2010/main" val="42297967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E426393-5A8F-D10F-A6A1-99B4E2E209F9}"/>
              </a:ext>
            </a:extLst>
          </p:cNvPr>
          <p:cNvPicPr>
            <a:picLocks noGrp="1" noChangeAspect="1"/>
          </p:cNvPicPr>
          <p:nvPr>
            <p:ph idx="1"/>
          </p:nvPr>
        </p:nvPicPr>
        <p:blipFill>
          <a:blip r:embed="rId2"/>
          <a:stretch>
            <a:fillRect/>
          </a:stretch>
        </p:blipFill>
        <p:spPr>
          <a:xfrm>
            <a:off x="397163" y="152193"/>
            <a:ext cx="8672945" cy="6553613"/>
          </a:xfrm>
          <a:prstGeom prst="rect">
            <a:avLst/>
          </a:prstGeom>
        </p:spPr>
      </p:pic>
    </p:spTree>
    <p:extLst>
      <p:ext uri="{BB962C8B-B14F-4D97-AF65-F5344CB8AC3E}">
        <p14:creationId xmlns:p14="http://schemas.microsoft.com/office/powerpoint/2010/main" val="26124013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D744D2-3ECC-1470-D428-FA71FE2657F7}"/>
              </a:ext>
            </a:extLst>
          </p:cNvPr>
          <p:cNvSpPr>
            <a:spLocks noGrp="1"/>
          </p:cNvSpPr>
          <p:nvPr>
            <p:ph idx="1"/>
          </p:nvPr>
        </p:nvSpPr>
        <p:spPr>
          <a:xfrm>
            <a:off x="625763" y="393987"/>
            <a:ext cx="10515600" cy="5831321"/>
          </a:xfrm>
        </p:spPr>
        <p:txBody>
          <a:bodyPr/>
          <a:lstStyle/>
          <a:p>
            <a:pPr marL="0" indent="0">
              <a:buNone/>
            </a:pPr>
            <a:r>
              <a:rPr lang="en-GB" sz="3600" dirty="0"/>
              <a:t>Causes of </a:t>
            </a:r>
            <a:r>
              <a:rPr lang="en-GB" sz="3600" b="1" dirty="0"/>
              <a:t>treatment failure </a:t>
            </a:r>
            <a:r>
              <a:rPr lang="en-GB" sz="3600" dirty="0"/>
              <a:t>include:</a:t>
            </a:r>
          </a:p>
          <a:p>
            <a:pPr marL="0" indent="0">
              <a:buNone/>
            </a:pPr>
            <a:endParaRPr lang="en-GB" sz="3600" dirty="0"/>
          </a:p>
          <a:p>
            <a:pPr marL="1200150" lvl="1" indent="-742950">
              <a:lnSpc>
                <a:spcPct val="150000"/>
              </a:lnSpc>
              <a:buFont typeface="+mj-lt"/>
              <a:buAutoNum type="arabicPeriod"/>
            </a:pPr>
            <a:r>
              <a:rPr lang="en-GB" sz="3600" dirty="0"/>
              <a:t>Drug resistance.</a:t>
            </a:r>
          </a:p>
          <a:p>
            <a:pPr marL="1200150" lvl="1" indent="-742950">
              <a:lnSpc>
                <a:spcPct val="150000"/>
              </a:lnSpc>
              <a:buFont typeface="+mj-lt"/>
              <a:buAutoNum type="arabicPeriod"/>
            </a:pPr>
            <a:r>
              <a:rPr lang="en-GB" sz="3600" dirty="0"/>
              <a:t>Lack of adherence.</a:t>
            </a:r>
          </a:p>
          <a:p>
            <a:pPr marL="1200150" lvl="1" indent="-742950">
              <a:lnSpc>
                <a:spcPct val="150000"/>
              </a:lnSpc>
              <a:buFont typeface="+mj-lt"/>
              <a:buAutoNum type="arabicPeriod"/>
            </a:pPr>
            <a:r>
              <a:rPr lang="en-GB" sz="3600" dirty="0"/>
              <a:t>Drug-drug interactions.</a:t>
            </a:r>
          </a:p>
          <a:p>
            <a:endParaRPr lang="en-US" dirty="0"/>
          </a:p>
        </p:txBody>
      </p:sp>
    </p:spTree>
    <p:extLst>
      <p:ext uri="{BB962C8B-B14F-4D97-AF65-F5344CB8AC3E}">
        <p14:creationId xmlns:p14="http://schemas.microsoft.com/office/powerpoint/2010/main" val="26410390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65845-B0C6-8D0C-22F2-0D44F685D1AF}"/>
              </a:ext>
            </a:extLst>
          </p:cNvPr>
          <p:cNvSpPr>
            <a:spLocks noGrp="1"/>
          </p:cNvSpPr>
          <p:nvPr>
            <p:ph type="title"/>
          </p:nvPr>
        </p:nvSpPr>
        <p:spPr>
          <a:xfrm>
            <a:off x="838200" y="365126"/>
            <a:ext cx="10515600" cy="918730"/>
          </a:xfrm>
        </p:spPr>
        <p:txBody>
          <a:bodyPr>
            <a:normAutofit fontScale="90000"/>
          </a:bodyPr>
          <a:lstStyle/>
          <a:p>
            <a:pPr marL="1200150" marR="0" lvl="1" indent="-742950" defTabSz="914400" rtl="0" eaLnBrk="1" fontAlgn="auto" latinLnBrk="0" hangingPunct="1">
              <a:lnSpc>
                <a:spcPct val="150000"/>
              </a:lnSpc>
              <a:spcBef>
                <a:spcPts val="500"/>
              </a:spcBef>
              <a:spcAft>
                <a:spcPts val="0"/>
              </a:spcAft>
              <a:tabLst/>
              <a:defRPr/>
            </a:pPr>
            <a:r>
              <a:rPr kumimoji="0" lang="en-GB" sz="4000" b="1" i="0" u="none" strike="noStrike" kern="1200" cap="none" spc="0" normalizeH="0" baseline="0" noProof="0" dirty="0">
                <a:ln>
                  <a:noFill/>
                </a:ln>
                <a:solidFill>
                  <a:prstClr val="black"/>
                </a:solidFill>
                <a:effectLst/>
                <a:uLnTx/>
                <a:uFillTx/>
                <a:latin typeface="Calibri" panose="020F0502020204030204"/>
                <a:ea typeface="+mn-ea"/>
                <a:cs typeface="+mn-cs"/>
              </a:rPr>
              <a:t>1. DRUG RESISTANCE</a:t>
            </a:r>
            <a:br>
              <a:rPr kumimoji="0" lang="en-GB" sz="3600" b="0" i="0" u="none" strike="noStrike" kern="1200" cap="none" spc="0" normalizeH="0" baseline="0" noProof="0" dirty="0">
                <a:ln>
                  <a:noFill/>
                </a:ln>
                <a:solidFill>
                  <a:prstClr val="black"/>
                </a:solidFill>
                <a:effectLst/>
                <a:uLnTx/>
                <a:uFillTx/>
                <a:latin typeface="Calibri" panose="020F0502020204030204"/>
                <a:ea typeface="+mn-ea"/>
                <a:cs typeface="+mn-cs"/>
              </a:rPr>
            </a:br>
            <a:endParaRPr lang="en-US" dirty="0"/>
          </a:p>
        </p:txBody>
      </p:sp>
      <p:sp>
        <p:nvSpPr>
          <p:cNvPr id="3" name="Content Placeholder 2">
            <a:extLst>
              <a:ext uri="{FF2B5EF4-FFF2-40B4-BE49-F238E27FC236}">
                <a16:creationId xmlns:a16="http://schemas.microsoft.com/office/drawing/2014/main" id="{EE3CD607-D281-A47F-9FE9-A06B77C4605D}"/>
              </a:ext>
            </a:extLst>
          </p:cNvPr>
          <p:cNvSpPr>
            <a:spLocks noGrp="1"/>
          </p:cNvSpPr>
          <p:nvPr>
            <p:ph idx="1"/>
          </p:nvPr>
        </p:nvSpPr>
        <p:spPr>
          <a:xfrm>
            <a:off x="838200" y="1283855"/>
            <a:ext cx="10515600" cy="5440217"/>
          </a:xfrm>
        </p:spPr>
        <p:txBody>
          <a:bodyPr>
            <a:normAutofit fontScale="92500" lnSpcReduction="10000"/>
          </a:bodyPr>
          <a:lstStyle/>
          <a:p>
            <a:pPr marL="0" indent="0">
              <a:buNone/>
            </a:pPr>
            <a:r>
              <a:rPr lang="en-US" b="1" dirty="0"/>
              <a:t>Definition</a:t>
            </a:r>
          </a:p>
          <a:p>
            <a:pPr marL="0" indent="0">
              <a:buNone/>
            </a:pPr>
            <a:r>
              <a:rPr lang="en-US" dirty="0"/>
              <a:t>HIV drug resistance is the </a:t>
            </a:r>
            <a:r>
              <a:rPr lang="en-US" b="1" dirty="0"/>
              <a:t>ability of HIV to replicate despite the presence of antiretroviral drugs</a:t>
            </a:r>
            <a:r>
              <a:rPr lang="en-US" dirty="0"/>
              <a:t>, due to </a:t>
            </a:r>
            <a:r>
              <a:rPr lang="en-US" b="1" dirty="0"/>
              <a:t>viral genetic mutations</a:t>
            </a:r>
            <a:r>
              <a:rPr lang="en-US" dirty="0"/>
              <a:t> that reduce drug effectiveness.</a:t>
            </a:r>
            <a:br>
              <a:rPr lang="en-US" dirty="0"/>
            </a:br>
            <a:endParaRPr lang="en-US" dirty="0"/>
          </a:p>
          <a:p>
            <a:pPr marL="0" indent="0">
              <a:buNone/>
            </a:pPr>
            <a:r>
              <a:rPr lang="en-US" b="1" dirty="0"/>
              <a:t>Types of HIV Drug Resistance</a:t>
            </a:r>
          </a:p>
          <a:p>
            <a:pPr marL="0" indent="0">
              <a:buNone/>
            </a:pPr>
            <a:r>
              <a:rPr lang="en-US" b="1" dirty="0"/>
              <a:t>1. Primary (Transmitted) resistance</a:t>
            </a:r>
          </a:p>
          <a:p>
            <a:r>
              <a:rPr lang="en-US" dirty="0"/>
              <a:t>Occurs when a person is </a:t>
            </a:r>
            <a:r>
              <a:rPr lang="en-US" b="1" dirty="0"/>
              <a:t>infected with an already drug-resistant HIV strain</a:t>
            </a:r>
            <a:endParaRPr lang="en-US" dirty="0"/>
          </a:p>
          <a:p>
            <a:r>
              <a:rPr lang="en-US" dirty="0"/>
              <a:t>Seen in ART-naïve individuals</a:t>
            </a:r>
          </a:p>
          <a:p>
            <a:pPr marL="0" indent="0">
              <a:buNone/>
            </a:pPr>
            <a:r>
              <a:rPr lang="en-US" b="1" dirty="0"/>
              <a:t>2. Secondary (Acquired) resistance</a:t>
            </a:r>
          </a:p>
          <a:p>
            <a:r>
              <a:rPr lang="en-US" dirty="0"/>
              <a:t>Develops </a:t>
            </a:r>
            <a:r>
              <a:rPr lang="en-US" b="1" dirty="0"/>
              <a:t>after ART initiation</a:t>
            </a:r>
            <a:endParaRPr lang="en-US" dirty="0"/>
          </a:p>
          <a:p>
            <a:r>
              <a:rPr lang="en-US" dirty="0"/>
              <a:t>Most common form in Tanzania</a:t>
            </a:r>
          </a:p>
          <a:p>
            <a:r>
              <a:rPr lang="en-US" dirty="0"/>
              <a:t>Usually due to </a:t>
            </a:r>
            <a:r>
              <a:rPr lang="en-US" b="1" dirty="0"/>
              <a:t>poor adherence</a:t>
            </a:r>
            <a:r>
              <a:rPr lang="en-US" dirty="0"/>
              <a:t> or </a:t>
            </a:r>
            <a:r>
              <a:rPr lang="en-US" b="1" dirty="0"/>
              <a:t>treatment interruptions</a:t>
            </a:r>
            <a:endParaRPr lang="en-US" dirty="0"/>
          </a:p>
          <a:p>
            <a:endParaRPr lang="en-US" dirty="0"/>
          </a:p>
        </p:txBody>
      </p:sp>
    </p:spTree>
    <p:extLst>
      <p:ext uri="{BB962C8B-B14F-4D97-AF65-F5344CB8AC3E}">
        <p14:creationId xmlns:p14="http://schemas.microsoft.com/office/powerpoint/2010/main" val="28051073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BDCEC6-388F-0053-624B-9F8CEEBC4824}"/>
              </a:ext>
            </a:extLst>
          </p:cNvPr>
          <p:cNvSpPr>
            <a:spLocks noGrp="1"/>
          </p:cNvSpPr>
          <p:nvPr>
            <p:ph idx="1"/>
          </p:nvPr>
        </p:nvSpPr>
        <p:spPr>
          <a:xfrm>
            <a:off x="653472" y="430934"/>
            <a:ext cx="10515600" cy="5859030"/>
          </a:xfrm>
        </p:spPr>
        <p:txBody>
          <a:bodyPr/>
          <a:lstStyle/>
          <a:p>
            <a:pPr marL="0" indent="0">
              <a:buNone/>
            </a:pPr>
            <a:r>
              <a:rPr lang="en-US" b="1" dirty="0"/>
              <a:t>2. Patterns in Tanzania</a:t>
            </a:r>
          </a:p>
          <a:p>
            <a:r>
              <a:rPr lang="en-US" b="1" dirty="0"/>
              <a:t>NNRTI resistance</a:t>
            </a:r>
            <a:r>
              <a:rPr lang="en-US" dirty="0"/>
              <a:t> is most common (especially to Efavirenz and Nevirapine).</a:t>
            </a:r>
          </a:p>
          <a:p>
            <a:r>
              <a:rPr lang="en-US" b="1" dirty="0"/>
              <a:t>NRTI resistance</a:t>
            </a:r>
            <a:r>
              <a:rPr lang="en-US" dirty="0"/>
              <a:t> (AZT, 3TC, TDF) emerges with poor adherence or prolonged exposure.</a:t>
            </a:r>
          </a:p>
          <a:p>
            <a:r>
              <a:rPr lang="en-US" b="1" dirty="0"/>
              <a:t>PI resistance</a:t>
            </a:r>
            <a:r>
              <a:rPr lang="en-US" dirty="0"/>
              <a:t> is less frequent due to </a:t>
            </a:r>
            <a:r>
              <a:rPr lang="en-US" b="1" dirty="0"/>
              <a:t>high genetic barrier</a:t>
            </a:r>
            <a:r>
              <a:rPr lang="en-US" dirty="0"/>
              <a:t>, but can occur with poor adherence to boosted PI regimens.</a:t>
            </a:r>
          </a:p>
          <a:p>
            <a:r>
              <a:rPr lang="en-US" b="1" dirty="0"/>
              <a:t>INSTI resistance</a:t>
            </a:r>
            <a:r>
              <a:rPr lang="en-US" dirty="0"/>
              <a:t> (Dolutegravir, </a:t>
            </a:r>
            <a:r>
              <a:rPr lang="en-US" dirty="0" err="1"/>
              <a:t>Raltegravir</a:t>
            </a:r>
            <a:r>
              <a:rPr lang="en-US" dirty="0"/>
              <a:t>) is rare but possible if adherence is poor</a:t>
            </a:r>
          </a:p>
          <a:p>
            <a:endParaRPr lang="en-US" dirty="0"/>
          </a:p>
        </p:txBody>
      </p:sp>
    </p:spTree>
    <p:extLst>
      <p:ext uri="{BB962C8B-B14F-4D97-AF65-F5344CB8AC3E}">
        <p14:creationId xmlns:p14="http://schemas.microsoft.com/office/powerpoint/2010/main" val="29401834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D9F37E-4293-49FA-51F3-8970EBE32D0A}"/>
              </a:ext>
            </a:extLst>
          </p:cNvPr>
          <p:cNvSpPr>
            <a:spLocks noGrp="1"/>
          </p:cNvSpPr>
          <p:nvPr>
            <p:ph idx="1"/>
          </p:nvPr>
        </p:nvSpPr>
        <p:spPr>
          <a:xfrm>
            <a:off x="616528" y="366279"/>
            <a:ext cx="10515600" cy="6154593"/>
          </a:xfrm>
        </p:spPr>
        <p:txBody>
          <a:bodyPr>
            <a:normAutofit/>
          </a:bodyPr>
          <a:lstStyle/>
          <a:p>
            <a:pPr marL="0" indent="0">
              <a:buNone/>
            </a:pPr>
            <a:r>
              <a:rPr lang="en-US" sz="4000" b="1" dirty="0"/>
              <a:t>Factors Leading to Resistance</a:t>
            </a:r>
          </a:p>
          <a:p>
            <a:r>
              <a:rPr lang="en-US" b="1" dirty="0"/>
              <a:t>Poor adherence</a:t>
            </a:r>
            <a:r>
              <a:rPr lang="en-US" dirty="0"/>
              <a:t> (missed doses, treatment interruptions).</a:t>
            </a:r>
          </a:p>
          <a:p>
            <a:r>
              <a:rPr lang="en-US" b="1" dirty="0"/>
              <a:t>Drug stock‑outs or supply interruptions</a:t>
            </a:r>
            <a:r>
              <a:rPr lang="en-US" dirty="0"/>
              <a:t> in health facilities.</a:t>
            </a:r>
          </a:p>
          <a:p>
            <a:r>
              <a:rPr lang="en-US" b="1" dirty="0"/>
              <a:t>Use of suboptimal regimens</a:t>
            </a:r>
            <a:r>
              <a:rPr lang="en-US" dirty="0"/>
              <a:t> (e.g., mono‑therapy, outdated NNRTI‑based regimens).</a:t>
            </a:r>
          </a:p>
          <a:p>
            <a:r>
              <a:rPr lang="en-US" b="1" dirty="0"/>
              <a:t>Delayed switching</a:t>
            </a:r>
            <a:r>
              <a:rPr lang="en-US" dirty="0"/>
              <a:t> after virologic failure.</a:t>
            </a:r>
          </a:p>
          <a:p>
            <a:r>
              <a:rPr lang="en-US" b="1" dirty="0"/>
              <a:t>High baseline viral load</a:t>
            </a:r>
            <a:r>
              <a:rPr lang="en-US" dirty="0"/>
              <a:t> before ART initiation.</a:t>
            </a:r>
          </a:p>
          <a:p>
            <a:r>
              <a:rPr lang="en-US" b="1" dirty="0"/>
              <a:t>Co‑infections</a:t>
            </a:r>
            <a:r>
              <a:rPr lang="en-US" dirty="0"/>
              <a:t> (TB, HBV, HCV) complicating treatment.</a:t>
            </a:r>
          </a:p>
          <a:p>
            <a:r>
              <a:rPr lang="en-US" b="1" dirty="0"/>
              <a:t>Drug interactions</a:t>
            </a:r>
            <a:r>
              <a:rPr lang="en-US" dirty="0"/>
              <a:t> reducing ARV levels.</a:t>
            </a:r>
          </a:p>
          <a:p>
            <a:r>
              <a:rPr lang="en-US" b="1" dirty="0"/>
              <a:t>Pregnancy and breastfeeding interruptions</a:t>
            </a:r>
            <a:r>
              <a:rPr lang="en-US" dirty="0"/>
              <a:t> if ART is not maintained.</a:t>
            </a:r>
          </a:p>
          <a:p>
            <a:r>
              <a:rPr lang="en-US" b="1" dirty="0"/>
              <a:t>Pediatric challenges</a:t>
            </a:r>
            <a:r>
              <a:rPr lang="en-US" dirty="0"/>
              <a:t> (liquid formulations, dosing errors).</a:t>
            </a:r>
          </a:p>
          <a:p>
            <a:endParaRPr lang="en-US" dirty="0"/>
          </a:p>
        </p:txBody>
      </p:sp>
    </p:spTree>
    <p:extLst>
      <p:ext uri="{BB962C8B-B14F-4D97-AF65-F5344CB8AC3E}">
        <p14:creationId xmlns:p14="http://schemas.microsoft.com/office/powerpoint/2010/main" val="21933081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DF09C77-D59E-9A94-58C7-113FFA3B24BE}"/>
              </a:ext>
            </a:extLst>
          </p:cNvPr>
          <p:cNvPicPr>
            <a:picLocks noGrp="1" noChangeAspect="1"/>
          </p:cNvPicPr>
          <p:nvPr>
            <p:ph idx="1"/>
          </p:nvPr>
        </p:nvPicPr>
        <p:blipFill>
          <a:blip r:embed="rId2"/>
          <a:stretch>
            <a:fillRect/>
          </a:stretch>
        </p:blipFill>
        <p:spPr>
          <a:xfrm>
            <a:off x="396812" y="492774"/>
            <a:ext cx="11217891" cy="5140273"/>
          </a:xfrm>
          <a:prstGeom prst="rect">
            <a:avLst/>
          </a:prstGeom>
        </p:spPr>
      </p:pic>
    </p:spTree>
    <p:extLst>
      <p:ext uri="{BB962C8B-B14F-4D97-AF65-F5344CB8AC3E}">
        <p14:creationId xmlns:p14="http://schemas.microsoft.com/office/powerpoint/2010/main" val="228559283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FCA11C-5940-70EE-ED27-412B1DE32519}"/>
              </a:ext>
            </a:extLst>
          </p:cNvPr>
          <p:cNvSpPr>
            <a:spLocks noGrp="1"/>
          </p:cNvSpPr>
          <p:nvPr>
            <p:ph idx="1"/>
          </p:nvPr>
        </p:nvSpPr>
        <p:spPr>
          <a:xfrm>
            <a:off x="450012" y="402266"/>
            <a:ext cx="11100758" cy="6041665"/>
          </a:xfrm>
        </p:spPr>
        <p:txBody>
          <a:bodyPr>
            <a:normAutofit fontScale="85000" lnSpcReduction="20000"/>
          </a:bodyPr>
          <a:lstStyle/>
          <a:p>
            <a:pPr marL="0" indent="0">
              <a:buNone/>
            </a:pPr>
            <a:endParaRPr lang="en-US" dirty="0"/>
          </a:p>
          <a:p>
            <a:pPr marL="0" indent="0">
              <a:buNone/>
            </a:pPr>
            <a:r>
              <a:rPr lang="en-US" dirty="0"/>
              <a:t>HIV Drug Resistance in Suspected Virological Failure – North-Western Tanzania</a:t>
            </a:r>
          </a:p>
          <a:p>
            <a:pPr marL="0" indent="0">
              <a:buNone/>
            </a:pPr>
            <a:r>
              <a:rPr lang="en-US" dirty="0"/>
              <a:t>Study Design</a:t>
            </a:r>
          </a:p>
          <a:p>
            <a:pPr marL="0" indent="0">
              <a:buNone/>
            </a:pPr>
            <a:r>
              <a:rPr lang="en-US" dirty="0"/>
              <a:t>• 	Cross-sectional study (2013–2017), 326 patients</a:t>
            </a:r>
          </a:p>
          <a:p>
            <a:pPr marL="0" indent="0">
              <a:buNone/>
            </a:pPr>
            <a:r>
              <a:rPr lang="en-US" dirty="0"/>
              <a:t>• 	Suspected failure: single viral load &gt;1000 copies/mL</a:t>
            </a:r>
          </a:p>
          <a:p>
            <a:pPr marL="0" indent="0">
              <a:buNone/>
            </a:pPr>
            <a:r>
              <a:rPr lang="en-US" dirty="0"/>
              <a:t>• 	Genotyping of protease &amp; RT regions</a:t>
            </a:r>
          </a:p>
          <a:p>
            <a:pPr marL="0" indent="0">
              <a:buNone/>
            </a:pPr>
            <a:r>
              <a:rPr lang="en-US" dirty="0"/>
              <a:t>Key Findings</a:t>
            </a:r>
          </a:p>
          <a:p>
            <a:pPr marL="0" indent="0">
              <a:buNone/>
            </a:pPr>
            <a:r>
              <a:rPr lang="en-US" dirty="0"/>
              <a:t>• 	20.2% had suspected virological failure</a:t>
            </a:r>
          </a:p>
          <a:p>
            <a:pPr marL="0" indent="0">
              <a:buNone/>
            </a:pPr>
            <a:r>
              <a:rPr lang="en-US" dirty="0"/>
              <a:t>• 	85.7% of genotyped patients had ≥1 major resistance mutation</a:t>
            </a:r>
          </a:p>
          <a:p>
            <a:pPr marL="0" indent="0">
              <a:buNone/>
            </a:pPr>
            <a:r>
              <a:rPr lang="en-US" dirty="0"/>
              <a:t>• 	Common mutations: M184V (75%), T215Y (41%), K103N (39%), G190A (29%)</a:t>
            </a:r>
          </a:p>
          <a:p>
            <a:pPr marL="0" indent="0">
              <a:buNone/>
            </a:pPr>
            <a:r>
              <a:rPr lang="en-US" dirty="0"/>
              <a:t>• 	High-level resistance to NRTIs &amp; NNRTIs; no PI resistance detected</a:t>
            </a:r>
          </a:p>
          <a:p>
            <a:pPr marL="0" indent="0">
              <a:buNone/>
            </a:pPr>
            <a:r>
              <a:rPr lang="en-US" dirty="0"/>
              <a:t>• 	Subtypes: A1 (36%), C (34%), D (27%)</a:t>
            </a:r>
          </a:p>
          <a:p>
            <a:pPr marL="0" indent="0">
              <a:buNone/>
            </a:pPr>
            <a:r>
              <a:rPr lang="en-US" dirty="0"/>
              <a:t>Conclusion / Message</a:t>
            </a:r>
          </a:p>
          <a:p>
            <a:pPr marL="0" indent="0">
              <a:buNone/>
            </a:pPr>
            <a:r>
              <a:rPr lang="en-US" dirty="0"/>
              <a:t>• 	A single high viral load &gt;1000 copies/mL strongly predicts resistance mutations.</a:t>
            </a:r>
          </a:p>
          <a:p>
            <a:pPr marL="0" indent="0">
              <a:buNone/>
            </a:pPr>
            <a:r>
              <a:rPr lang="en-US" dirty="0"/>
              <a:t>• 	Suggests earlier switching to second-line regimens could prevent delays and improve outcomes.</a:t>
            </a:r>
          </a:p>
          <a:p>
            <a:endParaRPr lang="en-US" dirty="0"/>
          </a:p>
        </p:txBody>
      </p:sp>
    </p:spTree>
    <p:extLst>
      <p:ext uri="{BB962C8B-B14F-4D97-AF65-F5344CB8AC3E}">
        <p14:creationId xmlns:p14="http://schemas.microsoft.com/office/powerpoint/2010/main" val="389980354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6" name="Google Shape;86;p13"/>
          <p:cNvSpPr txBox="1"/>
          <p:nvPr/>
        </p:nvSpPr>
        <p:spPr>
          <a:xfrm>
            <a:off x="771525" y="109485"/>
            <a:ext cx="11181397" cy="947952"/>
          </a:xfrm>
          <a:prstGeom prst="rect">
            <a:avLst/>
          </a:prstGeom>
          <a:noFill/>
          <a:ln>
            <a:noFill/>
          </a:ln>
        </p:spPr>
        <p:txBody>
          <a:bodyPr spcFirstLastPara="1" wrap="square" lIns="0" tIns="0" rIns="0" bIns="0" anchor="t" anchorCtr="0">
            <a:spAutoFit/>
          </a:bodyPr>
          <a:lstStyle/>
          <a:p>
            <a:pPr marL="0" marR="0" lvl="0" indent="0" algn="l" rtl="0">
              <a:lnSpc>
                <a:spcPct val="139968"/>
              </a:lnSpc>
              <a:spcBef>
                <a:spcPts val="0"/>
              </a:spcBef>
              <a:spcAft>
                <a:spcPts val="0"/>
              </a:spcAft>
              <a:buNone/>
            </a:pPr>
            <a:r>
              <a:rPr lang="en-US" sz="4400" i="0" u="none" strike="noStrike" cap="none" dirty="0">
                <a:solidFill>
                  <a:srgbClr val="000000"/>
                </a:solidFill>
                <a:latin typeface="Calibri" panose="020F0502020204030204" pitchFamily="34" charset="0"/>
                <a:ea typeface="Inter ExtraBold"/>
                <a:cs typeface="Calibri" panose="020F0502020204030204" pitchFamily="34" charset="0"/>
                <a:sym typeface="Inter ExtraBold"/>
              </a:rPr>
              <a:t>ART SWITCHING &amp; NRTI RECYCLING</a:t>
            </a:r>
            <a:endParaRPr sz="4400" dirty="0">
              <a:latin typeface="Calibri" panose="020F0502020204030204" pitchFamily="34" charset="0"/>
              <a:cs typeface="Calibri" panose="020F0502020204030204" pitchFamily="34" charset="0"/>
            </a:endParaRPr>
          </a:p>
        </p:txBody>
      </p:sp>
      <p:sp>
        <p:nvSpPr>
          <p:cNvPr id="90" name="Google Shape;90;p13"/>
          <p:cNvSpPr txBox="1"/>
          <p:nvPr/>
        </p:nvSpPr>
        <p:spPr>
          <a:xfrm>
            <a:off x="771525" y="6271593"/>
            <a:ext cx="11438631" cy="517065"/>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i="1" u="none" strike="noStrike" cap="none" dirty="0">
                <a:solidFill>
                  <a:srgbClr val="000000"/>
                </a:solidFill>
                <a:latin typeface="Calibri" panose="020F0502020204030204" pitchFamily="34" charset="0"/>
                <a:ea typeface="Inter"/>
                <a:cs typeface="Calibri" panose="020F0502020204030204" pitchFamily="34" charset="0"/>
                <a:sym typeface="Inter"/>
              </a:rPr>
              <a:t>1. </a:t>
            </a:r>
            <a:r>
              <a:rPr lang="en-US" sz="1200" b="1" i="1" u="none" strike="noStrike" cap="none" dirty="0">
                <a:solidFill>
                  <a:srgbClr val="000000"/>
                </a:solidFill>
                <a:latin typeface="Calibri" panose="020F0502020204030204" pitchFamily="34" charset="0"/>
                <a:ea typeface="Inter"/>
                <a:cs typeface="Calibri" panose="020F0502020204030204" pitchFamily="34" charset="0"/>
                <a:sym typeface="Inter"/>
              </a:rPr>
              <a:t>The NADIA Trial:</a:t>
            </a:r>
            <a:r>
              <a:rPr lang="en-US" sz="1200" b="0" i="1" u="none" strike="noStrike" cap="none" dirty="0">
                <a:solidFill>
                  <a:srgbClr val="000000"/>
                </a:solidFill>
                <a:latin typeface="Calibri" panose="020F0502020204030204" pitchFamily="34" charset="0"/>
                <a:ea typeface="Inter"/>
                <a:cs typeface="Calibri" panose="020F0502020204030204" pitchFamily="34" charset="0"/>
                <a:sym typeface="Inter"/>
              </a:rPr>
              <a:t> Demonstrated that Tenofovir (TDF) maintains efficacy in 2nd-line regimens even in the presence of predicted M184V/V resistance mutations.</a:t>
            </a:r>
          </a:p>
          <a:p>
            <a:pPr>
              <a:lnSpc>
                <a:spcPct val="139916"/>
              </a:lnSpc>
            </a:pPr>
            <a:r>
              <a:rPr lang="en-US" sz="1200" i="1" dirty="0">
                <a:solidFill>
                  <a:srgbClr val="000000"/>
                </a:solidFill>
                <a:latin typeface="Calibri" panose="020F0502020204030204" pitchFamily="34" charset="0"/>
                <a:ea typeface="Inter SemiBold"/>
                <a:cs typeface="Calibri" panose="020F0502020204030204" pitchFamily="34" charset="0"/>
                <a:sym typeface="Inter SemiBold"/>
              </a:rPr>
              <a:t>Paton et al., NEJM 2021 (NADIA)</a:t>
            </a:r>
          </a:p>
        </p:txBody>
      </p:sp>
      <p:sp>
        <p:nvSpPr>
          <p:cNvPr id="94" name="Google Shape;94;p13"/>
          <p:cNvSpPr txBox="1"/>
          <p:nvPr/>
        </p:nvSpPr>
        <p:spPr>
          <a:xfrm>
            <a:off x="7570440" y="5054054"/>
            <a:ext cx="3592800" cy="2154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endParaRPr/>
          </a:p>
        </p:txBody>
      </p:sp>
      <p:sp>
        <p:nvSpPr>
          <p:cNvPr id="100" name="Google Shape;100;p13"/>
          <p:cNvSpPr txBox="1"/>
          <p:nvPr/>
        </p:nvSpPr>
        <p:spPr>
          <a:xfrm>
            <a:off x="85645" y="646360"/>
            <a:ext cx="148104" cy="1750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endParaRPr/>
          </a:p>
        </p:txBody>
      </p:sp>
      <p:sp>
        <p:nvSpPr>
          <p:cNvPr id="101" name="Google Shape;101;p13"/>
          <p:cNvSpPr txBox="1"/>
          <p:nvPr/>
        </p:nvSpPr>
        <p:spPr>
          <a:xfrm>
            <a:off x="771525" y="3166000"/>
            <a:ext cx="152400" cy="2154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endParaRPr/>
          </a:p>
        </p:txBody>
      </p:sp>
      <p:sp>
        <p:nvSpPr>
          <p:cNvPr id="102" name="Google Shape;102;p13"/>
          <p:cNvSpPr txBox="1"/>
          <p:nvPr/>
        </p:nvSpPr>
        <p:spPr>
          <a:xfrm>
            <a:off x="771525" y="3649712"/>
            <a:ext cx="152400" cy="2154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endParaRPr/>
          </a:p>
        </p:txBody>
      </p:sp>
      <p:sp>
        <p:nvSpPr>
          <p:cNvPr id="2" name="TextBox 1">
            <a:extLst>
              <a:ext uri="{FF2B5EF4-FFF2-40B4-BE49-F238E27FC236}">
                <a16:creationId xmlns:a16="http://schemas.microsoft.com/office/drawing/2014/main" id="{EE979873-E860-0401-4A17-E009EE1378B8}"/>
              </a:ext>
            </a:extLst>
          </p:cNvPr>
          <p:cNvSpPr txBox="1"/>
          <p:nvPr/>
        </p:nvSpPr>
        <p:spPr>
          <a:xfrm>
            <a:off x="771525" y="1030563"/>
            <a:ext cx="10798683" cy="5079339"/>
          </a:xfrm>
          <a:prstGeom prst="rect">
            <a:avLst/>
          </a:prstGeom>
          <a:noFill/>
        </p:spPr>
        <p:txBody>
          <a:bodyPr wrap="square" rtlCol="0">
            <a:spAutoFit/>
          </a:bodyPr>
          <a:lstStyle/>
          <a:p>
            <a:pPr>
              <a:lnSpc>
                <a:spcPct val="139916"/>
              </a:lnSpc>
            </a:pPr>
            <a:r>
              <a:rPr lang="en-US" sz="2000" b="1" dirty="0">
                <a:solidFill>
                  <a:srgbClr val="000000"/>
                </a:solidFill>
                <a:latin typeface="Calibri" panose="020F0502020204030204" pitchFamily="34" charset="0"/>
                <a:ea typeface="Inter ExtraBold"/>
                <a:cs typeface="Calibri" panose="020F0502020204030204" pitchFamily="34" charset="0"/>
                <a:sym typeface="Inter ExtraBold"/>
              </a:rPr>
              <a:t>GUIDING PRINCIPLES FOR SWITCHING</a:t>
            </a:r>
            <a:endParaRPr lang="en-US" sz="2000" b="1" dirty="0">
              <a:solidFill>
                <a:srgbClr val="000000"/>
              </a:solidFill>
              <a:latin typeface="Calibri" panose="020F0502020204030204" pitchFamily="34" charset="0"/>
              <a:ea typeface="Inter"/>
              <a:cs typeface="Calibri" panose="020F0502020204030204" pitchFamily="34" charset="0"/>
              <a:sym typeface="Inter"/>
            </a:endParaRPr>
          </a:p>
          <a:p>
            <a:pPr marL="342900" lvl="0" indent="-342900">
              <a:lnSpc>
                <a:spcPct val="139916"/>
              </a:lnSpc>
              <a:buFont typeface="Arial" panose="020B0604020202020204" pitchFamily="34" charset="0"/>
              <a:buChar char="•"/>
            </a:pPr>
            <a:r>
              <a:rPr lang="en-US" sz="2000" b="1" dirty="0">
                <a:solidFill>
                  <a:srgbClr val="000000"/>
                </a:solidFill>
                <a:latin typeface="Calibri" panose="020F0502020204030204" pitchFamily="34" charset="0"/>
                <a:ea typeface="Inter"/>
                <a:cs typeface="Calibri" panose="020F0502020204030204" pitchFamily="34" charset="0"/>
                <a:sym typeface="Inter"/>
              </a:rPr>
              <a:t>Virological Failure </a:t>
            </a:r>
          </a:p>
          <a:p>
            <a:pPr lvl="1">
              <a:lnSpc>
                <a:spcPct val="139916"/>
              </a:lnSpc>
            </a:pPr>
            <a:r>
              <a:rPr lang="en-US" sz="2000" b="1" dirty="0">
                <a:solidFill>
                  <a:srgbClr val="000000"/>
                </a:solidFill>
                <a:latin typeface="Calibri" panose="020F0502020204030204" pitchFamily="34" charset="0"/>
                <a:ea typeface="Inter"/>
                <a:cs typeface="Calibri" panose="020F0502020204030204" pitchFamily="34" charset="0"/>
                <a:sym typeface="Inter"/>
              </a:rPr>
              <a:t>Definition: </a:t>
            </a:r>
            <a:r>
              <a:rPr lang="en-US" sz="2000" dirty="0">
                <a:solidFill>
                  <a:srgbClr val="000000"/>
                </a:solidFill>
                <a:latin typeface="Calibri" panose="020F0502020204030204" pitchFamily="34" charset="0"/>
                <a:ea typeface="Inter"/>
                <a:cs typeface="Calibri" panose="020F0502020204030204" pitchFamily="34" charset="0"/>
                <a:sym typeface="Inter"/>
              </a:rPr>
              <a:t>Two consecutive viral load (VL) measurements ≥ 1000 copies/mL after 3 months of enhanced adherence counseling (EAC).</a:t>
            </a:r>
          </a:p>
          <a:p>
            <a:pPr lvl="1">
              <a:lnSpc>
                <a:spcPct val="139916"/>
              </a:lnSpc>
            </a:pPr>
            <a:endParaRPr lang="en-US" sz="2000" dirty="0">
              <a:solidFill>
                <a:srgbClr val="000000"/>
              </a:solidFill>
              <a:latin typeface="Calibri" panose="020F0502020204030204" pitchFamily="34" charset="0"/>
              <a:ea typeface="Inter"/>
              <a:cs typeface="Calibri" panose="020F0502020204030204" pitchFamily="34" charset="0"/>
              <a:sym typeface="Inter"/>
            </a:endParaRPr>
          </a:p>
          <a:p>
            <a:pPr marL="342900" indent="-342900">
              <a:lnSpc>
                <a:spcPct val="139916"/>
              </a:lnSpc>
              <a:buFont typeface="Arial" panose="020B0604020202020204" pitchFamily="34" charset="0"/>
              <a:buChar char="•"/>
            </a:pPr>
            <a:r>
              <a:rPr lang="en-US" sz="2000" b="1" dirty="0">
                <a:solidFill>
                  <a:srgbClr val="000000"/>
                </a:solidFill>
                <a:latin typeface="Calibri" panose="020F0502020204030204" pitchFamily="34" charset="0"/>
                <a:ea typeface="Inter"/>
                <a:cs typeface="Calibri" panose="020F0502020204030204" pitchFamily="34" charset="0"/>
                <a:sym typeface="Inter"/>
              </a:rPr>
              <a:t>The "Recycling" Strategy</a:t>
            </a:r>
          </a:p>
          <a:p>
            <a:pPr lvl="1">
              <a:lnSpc>
                <a:spcPct val="139916"/>
              </a:lnSpc>
            </a:pPr>
            <a:r>
              <a:rPr lang="en-US" sz="2000" dirty="0">
                <a:solidFill>
                  <a:srgbClr val="000000"/>
                </a:solidFill>
                <a:latin typeface="Calibri" panose="020F0502020204030204" pitchFamily="34" charset="0"/>
                <a:ea typeface="Inter"/>
                <a:cs typeface="Calibri" panose="020F0502020204030204" pitchFamily="34" charset="0"/>
                <a:sym typeface="Inter"/>
              </a:rPr>
              <a:t>WHO 2026 maintains that NRTIs (TDF or ABC) can be "recycled" in second-line regimens when switching from an NNRTI-based first-line to a DTG-based or PI-based second-line. </a:t>
            </a:r>
            <a:r>
              <a:rPr lang="en-US" sz="2000" baseline="30000" dirty="0">
                <a:solidFill>
                  <a:srgbClr val="000000"/>
                </a:solidFill>
                <a:latin typeface="Calibri" panose="020F0502020204030204" pitchFamily="34" charset="0"/>
                <a:ea typeface="Inter"/>
                <a:cs typeface="Calibri" panose="020F0502020204030204" pitchFamily="34" charset="0"/>
                <a:sym typeface="Inter"/>
              </a:rPr>
              <a:t>1</a:t>
            </a:r>
          </a:p>
          <a:p>
            <a:pPr lvl="1">
              <a:lnSpc>
                <a:spcPct val="139916"/>
              </a:lnSpc>
            </a:pPr>
            <a:endParaRPr lang="en-US" sz="2000" baseline="30000" dirty="0">
              <a:solidFill>
                <a:srgbClr val="000000"/>
              </a:solidFill>
              <a:latin typeface="Calibri" panose="020F0502020204030204" pitchFamily="34" charset="0"/>
              <a:ea typeface="Inter"/>
              <a:cs typeface="Calibri" panose="020F0502020204030204" pitchFamily="34" charset="0"/>
              <a:sym typeface="Inter"/>
            </a:endParaRPr>
          </a:p>
          <a:p>
            <a:pPr marL="342900" indent="-342900">
              <a:lnSpc>
                <a:spcPct val="139916"/>
              </a:lnSpc>
              <a:buFont typeface="Arial" panose="020B0604020202020204" pitchFamily="34" charset="0"/>
              <a:buChar char="•"/>
            </a:pPr>
            <a:r>
              <a:rPr lang="en-US" sz="2000" b="1" dirty="0">
                <a:solidFill>
                  <a:srgbClr val="000000"/>
                </a:solidFill>
                <a:latin typeface="Calibri" panose="020F0502020204030204" pitchFamily="34" charset="0"/>
                <a:ea typeface="Inter"/>
                <a:cs typeface="Calibri" panose="020F0502020204030204" pitchFamily="34" charset="0"/>
                <a:sym typeface="Inter"/>
              </a:rPr>
              <a:t>Integrase-Inhibitor (INSTI) Exception</a:t>
            </a:r>
          </a:p>
          <a:p>
            <a:pPr lvl="1">
              <a:lnSpc>
                <a:spcPct val="139916"/>
              </a:lnSpc>
            </a:pPr>
            <a:r>
              <a:rPr lang="en-US" sz="2000" dirty="0">
                <a:solidFill>
                  <a:srgbClr val="000000"/>
                </a:solidFill>
                <a:latin typeface="Calibri" panose="020F0502020204030204" pitchFamily="34" charset="0"/>
                <a:ea typeface="Inter"/>
                <a:cs typeface="Calibri" panose="020F0502020204030204" pitchFamily="34" charset="0"/>
                <a:sym typeface="Inter"/>
              </a:rPr>
              <a:t>If failing a 1st-line DTG regimen, switching requires a resistance-guided choice, usually a Protease Inhibitor (DRV/r) with a new NRTI backbone (e.g., AZT).</a:t>
            </a:r>
            <a:endParaRPr lang="en-US" sz="2000" dirty="0">
              <a:latin typeface="Calibri" panose="020F0502020204030204" pitchFamily="34" charset="0"/>
              <a:cs typeface="Calibri" panose="020F0502020204030204"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A3970-7B81-6C7A-2795-B0F98524D3A0}"/>
              </a:ext>
            </a:extLst>
          </p:cNvPr>
          <p:cNvSpPr>
            <a:spLocks noGrp="1"/>
          </p:cNvSpPr>
          <p:nvPr>
            <p:ph type="title"/>
          </p:nvPr>
        </p:nvSpPr>
        <p:spPr>
          <a:xfrm>
            <a:off x="729673" y="866881"/>
            <a:ext cx="10624127" cy="1220538"/>
          </a:xfrm>
        </p:spPr>
        <p:txBody>
          <a:bodyPr>
            <a:normAutofit fontScale="90000"/>
          </a:bodyPr>
          <a:lstStyle/>
          <a:p>
            <a:r>
              <a:rPr lang="en-GB" b="1" dirty="0"/>
              <a:t>2. LACK OF ADHERENCE</a:t>
            </a:r>
            <a:br>
              <a:rPr lang="en-GB" b="1" dirty="0"/>
            </a:br>
            <a:br>
              <a:rPr lang="en-GB" b="1" dirty="0"/>
            </a:br>
            <a:r>
              <a:rPr lang="en-US" sz="2700" b="1" dirty="0">
                <a:latin typeface="+mn-lt"/>
              </a:rPr>
              <a:t>Adherence</a:t>
            </a:r>
            <a:r>
              <a:rPr lang="en-US" sz="2700" dirty="0">
                <a:latin typeface="+mn-lt"/>
              </a:rPr>
              <a:t> means sticking firmly to treatment regimen by taking the right medicine, with the right dose, at the right time, in the right frequency, in the right way every day and exactly as agreed between healthcare providers, clients and care givers.</a:t>
            </a:r>
            <a:br>
              <a:rPr lang="en-GB" dirty="0"/>
            </a:br>
            <a:endParaRPr lang="en-US" dirty="0"/>
          </a:p>
        </p:txBody>
      </p:sp>
      <p:graphicFrame>
        <p:nvGraphicFramePr>
          <p:cNvPr id="4" name="Content Placeholder 3">
            <a:extLst>
              <a:ext uri="{FF2B5EF4-FFF2-40B4-BE49-F238E27FC236}">
                <a16:creationId xmlns:a16="http://schemas.microsoft.com/office/drawing/2014/main" id="{E60741E3-E8E5-DAC1-A097-5B983E1E3275}"/>
              </a:ext>
            </a:extLst>
          </p:cNvPr>
          <p:cNvGraphicFramePr>
            <a:graphicFrameLocks noGrp="1"/>
          </p:cNvGraphicFramePr>
          <p:nvPr>
            <p:ph idx="1"/>
          </p:nvPr>
        </p:nvGraphicFramePr>
        <p:xfrm>
          <a:off x="838200" y="2429164"/>
          <a:ext cx="10515600" cy="3561955"/>
        </p:xfrm>
        <a:graphic>
          <a:graphicData uri="http://schemas.openxmlformats.org/drawingml/2006/table">
            <a:tbl>
              <a:tblPr/>
              <a:tblGrid>
                <a:gridCol w="2671618">
                  <a:extLst>
                    <a:ext uri="{9D8B030D-6E8A-4147-A177-3AD203B41FA5}">
                      <a16:colId xmlns:a16="http://schemas.microsoft.com/office/drawing/2014/main" val="3279901069"/>
                    </a:ext>
                  </a:extLst>
                </a:gridCol>
                <a:gridCol w="7843982">
                  <a:extLst>
                    <a:ext uri="{9D8B030D-6E8A-4147-A177-3AD203B41FA5}">
                      <a16:colId xmlns:a16="http://schemas.microsoft.com/office/drawing/2014/main" val="829022036"/>
                    </a:ext>
                  </a:extLst>
                </a:gridCol>
              </a:tblGrid>
              <a:tr h="494716">
                <a:tc>
                  <a:txBody>
                    <a:bodyPr/>
                    <a:lstStyle/>
                    <a:p>
                      <a:pPr>
                        <a:buNone/>
                      </a:pPr>
                      <a:r>
                        <a:rPr lang="en-US" sz="2400" b="1"/>
                        <a:t>Category</a:t>
                      </a:r>
                      <a:endParaRPr 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b="1"/>
                        <a:t>Key Causes of Poor Adherence</a:t>
                      </a:r>
                      <a:endParaRPr 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535947"/>
                  </a:ext>
                </a:extLst>
              </a:tr>
              <a:tr h="890489">
                <a:tc>
                  <a:txBody>
                    <a:bodyPr/>
                    <a:lstStyle/>
                    <a:p>
                      <a:pPr>
                        <a:buNone/>
                      </a:pPr>
                      <a:r>
                        <a:rPr lang="en-US" sz="2400" b="1" dirty="0"/>
                        <a:t>Social</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a:t>Stigma &amp; discrimination; lack of support; non‑disclosure; peer pressure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0822778"/>
                  </a:ext>
                </a:extLst>
              </a:tr>
              <a:tr h="890489">
                <a:tc>
                  <a:txBody>
                    <a:bodyPr/>
                    <a:lstStyle/>
                    <a:p>
                      <a:pPr>
                        <a:buNone/>
                      </a:pPr>
                      <a:r>
                        <a:rPr lang="en-US" sz="2400" b="1" dirty="0"/>
                        <a:t>Economic</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dirty="0"/>
                        <a:t>Poverty; transport cost; food insecurity; competing financial priorities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8218524"/>
                  </a:ext>
                </a:extLst>
              </a:tr>
              <a:tr h="1286261">
                <a:tc>
                  <a:txBody>
                    <a:bodyPr/>
                    <a:lstStyle/>
                    <a:p>
                      <a:pPr>
                        <a:buNone/>
                      </a:pPr>
                      <a:r>
                        <a:rPr lang="en-US" sz="2400" b="1"/>
                        <a:t>Behavioral</a:t>
                      </a:r>
                      <a:endParaRPr 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dirty="0"/>
                        <a:t>Alcohol/substance use; forgetfulness; low ART knowledge; depression; feeling well; side effects; use of traditional medicines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9230452"/>
                  </a:ext>
                </a:extLst>
              </a:tr>
            </a:tbl>
          </a:graphicData>
        </a:graphic>
      </p:graphicFrame>
    </p:spTree>
    <p:extLst>
      <p:ext uri="{BB962C8B-B14F-4D97-AF65-F5344CB8AC3E}">
        <p14:creationId xmlns:p14="http://schemas.microsoft.com/office/powerpoint/2010/main" val="188314667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5FFA7F3-A649-287D-71F7-120F2A2150BC}"/>
              </a:ext>
            </a:extLst>
          </p:cNvPr>
          <p:cNvSpPr>
            <a:spLocks noGrp="1" noChangeArrowheads="1"/>
          </p:cNvSpPr>
          <p:nvPr>
            <p:ph idx="1"/>
          </p:nvPr>
        </p:nvSpPr>
        <p:spPr bwMode="auto">
          <a:xfrm>
            <a:off x="551872" y="370318"/>
            <a:ext cx="105156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Stigma + poverty + lack of support</a:t>
            </a:r>
            <a:r>
              <a:rPr kumimoji="0" lang="en-US" altLang="en-US" sz="2400" b="0" i="0" u="none" strike="noStrike" cap="none" normalizeH="0" baseline="0" dirty="0">
                <a:ln>
                  <a:noFill/>
                </a:ln>
                <a:solidFill>
                  <a:schemeClr val="tx1"/>
                </a:solidFill>
                <a:effectLst/>
              </a:rPr>
              <a:t> are the biggest social and economic drivers.</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Behavioral factors</a:t>
            </a:r>
            <a:r>
              <a:rPr kumimoji="0" lang="en-US" altLang="en-US" sz="2400" b="0" i="0" u="none" strike="noStrike" cap="none" normalizeH="0" baseline="0" dirty="0">
                <a:ln>
                  <a:noFill/>
                </a:ln>
                <a:solidFill>
                  <a:schemeClr val="tx1"/>
                </a:solidFill>
                <a:effectLst/>
              </a:rPr>
              <a:t> like substance use and knowledge gaps critically reduce daily adherence.</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Interventions must target </a:t>
            </a:r>
            <a:r>
              <a:rPr kumimoji="0" lang="en-US" altLang="en-US" sz="2400" b="1" i="0" u="none" strike="noStrike" cap="none" normalizeH="0" baseline="0" dirty="0">
                <a:ln>
                  <a:noFill/>
                </a:ln>
                <a:solidFill>
                  <a:schemeClr val="tx1"/>
                </a:solidFill>
                <a:effectLst/>
              </a:rPr>
              <a:t>community, economic support, and counseling</a:t>
            </a:r>
            <a:r>
              <a:rPr kumimoji="0" lang="en-US" altLang="en-US" sz="2400" b="0" i="0" u="none" strike="noStrike" cap="none" normalizeH="0" baseline="0" dirty="0">
                <a:ln>
                  <a:noFill/>
                </a:ln>
                <a:solidFill>
                  <a:schemeClr val="tx1"/>
                </a:solidFill>
                <a:effectLst/>
              </a:rPr>
              <a:t> to improve outcomes.</a:t>
            </a:r>
          </a:p>
          <a:p>
            <a:pPr marR="0" lvl="0" algn="l" defTabSz="914400" rtl="0" eaLnBrk="0" fontAlgn="base" latinLnBrk="0" hangingPunct="0">
              <a:lnSpc>
                <a:spcPct val="100000"/>
              </a:lnSpc>
              <a:spcBef>
                <a:spcPct val="0"/>
              </a:spcBef>
              <a:spcAft>
                <a:spcPct val="0"/>
              </a:spcAft>
              <a:buClrTx/>
              <a:buSzTx/>
              <a:tabLst/>
            </a:pPr>
            <a:endParaRPr lang="en-US" altLang="en-US" sz="2400" dirty="0"/>
          </a:p>
          <a:p>
            <a:pPr lvl="0" eaLnBrk="0" fontAlgn="base" hangingPunct="0">
              <a:lnSpc>
                <a:spcPct val="100000"/>
              </a:lnSpc>
              <a:spcBef>
                <a:spcPct val="0"/>
              </a:spcBef>
              <a:spcAft>
                <a:spcPct val="0"/>
              </a:spcAft>
            </a:pPr>
            <a:r>
              <a:rPr lang="en-US" sz="2400" dirty="0"/>
              <a:t>Adherence level of </a:t>
            </a:r>
            <a:r>
              <a:rPr lang="en-US" sz="2400" b="1" dirty="0"/>
              <a:t>&gt;95% </a:t>
            </a:r>
            <a:r>
              <a:rPr lang="en-US" sz="2400" dirty="0"/>
              <a:t>is needed to maximize the benefits of ART. However, achieving such high rates over a long period of time is a challenge. Therefore, to improve adherence, different approaches should be sought and tailored to the patient’s lifestyle through proper counselling and health education.</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3658536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3FA93-3839-B33A-2A64-DA28B0229C3D}"/>
              </a:ext>
            </a:extLst>
          </p:cNvPr>
          <p:cNvSpPr>
            <a:spLocks noGrp="1"/>
          </p:cNvSpPr>
          <p:nvPr>
            <p:ph type="title"/>
          </p:nvPr>
        </p:nvSpPr>
        <p:spPr>
          <a:xfrm>
            <a:off x="838200" y="254290"/>
            <a:ext cx="8721436" cy="826365"/>
          </a:xfrm>
        </p:spPr>
        <p:txBody>
          <a:bodyPr>
            <a:normAutofit fontScale="90000"/>
          </a:bodyPr>
          <a:lstStyle/>
          <a:p>
            <a:r>
              <a:rPr lang="en-GB" b="1" dirty="0"/>
              <a:t>3.</a:t>
            </a:r>
            <a:r>
              <a:rPr lang="en-GB" b="1" dirty="0">
                <a:latin typeface="+mn-lt"/>
              </a:rPr>
              <a:t> DRUG-DRUG INTERACTIONS</a:t>
            </a:r>
            <a:br>
              <a:rPr lang="en-GB" dirty="0"/>
            </a:br>
            <a:endParaRPr lang="en-US" dirty="0"/>
          </a:p>
        </p:txBody>
      </p:sp>
      <p:sp>
        <p:nvSpPr>
          <p:cNvPr id="4" name="Rectangle 1">
            <a:extLst>
              <a:ext uri="{FF2B5EF4-FFF2-40B4-BE49-F238E27FC236}">
                <a16:creationId xmlns:a16="http://schemas.microsoft.com/office/drawing/2014/main" id="{69AEF0E3-0E07-B8FB-204A-D5EAA2BBF05E}"/>
              </a:ext>
            </a:extLst>
          </p:cNvPr>
          <p:cNvSpPr>
            <a:spLocks noGrp="1" noChangeArrowheads="1"/>
          </p:cNvSpPr>
          <p:nvPr>
            <p:ph idx="1"/>
          </p:nvPr>
        </p:nvSpPr>
        <p:spPr bwMode="auto">
          <a:xfrm>
            <a:off x="817418" y="502024"/>
            <a:ext cx="10411691" cy="572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ART drugs can interact with other medications, affecting </a:t>
            </a:r>
            <a:r>
              <a:rPr kumimoji="0" lang="en-US" altLang="en-US" sz="2400" b="1" i="0" u="none" strike="noStrike" cap="none" normalizeH="0" baseline="0" dirty="0">
                <a:ln>
                  <a:noFill/>
                </a:ln>
                <a:solidFill>
                  <a:schemeClr val="tx1"/>
                </a:solidFill>
                <a:effectLst/>
              </a:rPr>
              <a:t>absorption, metabolism, and efficacy</a:t>
            </a:r>
            <a:r>
              <a:rPr kumimoji="0" lang="en-US" altLang="en-US" sz="2400" b="0" i="0" u="none" strike="noStrike" cap="none" normalizeH="0" baseline="0" dirty="0">
                <a:ln>
                  <a:noFill/>
                </a:ln>
                <a:solidFill>
                  <a:schemeClr val="tx1"/>
                </a:solidFill>
                <a:effectLst/>
              </a:rPr>
              <a:t>, potentially leading to </a:t>
            </a:r>
            <a:r>
              <a:rPr kumimoji="0" lang="en-US" altLang="en-US" sz="2400" b="1" i="0" u="none" strike="noStrike" cap="none" normalizeH="0" baseline="0" dirty="0">
                <a:ln>
                  <a:noFill/>
                </a:ln>
                <a:solidFill>
                  <a:schemeClr val="tx1"/>
                </a:solidFill>
                <a:effectLst/>
              </a:rPr>
              <a:t>treatment failure</a:t>
            </a:r>
            <a:r>
              <a:rPr kumimoji="0" lang="en-US" altLang="en-US" sz="2400" b="0" i="0" u="none" strike="noStrike" cap="none" normalizeH="0" baseline="0" dirty="0">
                <a:ln>
                  <a:noFill/>
                </a:ln>
                <a:solidFill>
                  <a:schemeClr val="tx1"/>
                </a:solidFill>
                <a:effectLst/>
              </a:rPr>
              <a:t> or </a:t>
            </a:r>
            <a:r>
              <a:rPr kumimoji="0" lang="en-US" altLang="en-US" sz="2400" b="1" i="0" u="none" strike="noStrike" cap="none" normalizeH="0" baseline="0" dirty="0">
                <a:ln>
                  <a:noFill/>
                </a:ln>
                <a:solidFill>
                  <a:schemeClr val="tx1"/>
                </a:solidFill>
                <a:effectLst/>
              </a:rPr>
              <a:t>toxicity</a:t>
            </a:r>
            <a:r>
              <a:rPr kumimoji="0" lang="en-US" altLang="en-US" sz="2400" b="0" i="0" u="none" strike="noStrike" cap="none" normalizeH="0" baseline="0" dirty="0">
                <a:ln>
                  <a:noFill/>
                </a:ln>
                <a:solidFill>
                  <a:schemeClr val="tx1"/>
                </a:solidFill>
                <a:effectLst/>
              </a:rPr>
              <a:t>.</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Always </a:t>
            </a:r>
            <a:r>
              <a:rPr kumimoji="0" lang="en-US" altLang="en-US" sz="2400" b="1" i="0" u="none" strike="noStrike" cap="none" normalizeH="0" baseline="0" dirty="0">
                <a:ln>
                  <a:noFill/>
                </a:ln>
                <a:solidFill>
                  <a:schemeClr val="tx1"/>
                </a:solidFill>
                <a:effectLst/>
              </a:rPr>
              <a:t>review all meds and supplements</a:t>
            </a:r>
            <a:r>
              <a:rPr kumimoji="0" lang="en-US" altLang="en-US" sz="2400" b="0" i="0" u="none" strike="noStrike" cap="none" normalizeH="0" baseline="0" dirty="0">
                <a:ln>
                  <a:noFill/>
                </a:ln>
                <a:solidFill>
                  <a:schemeClr val="tx1"/>
                </a:solidFill>
                <a:effectLst/>
              </a:rPr>
              <a:t> before starting ART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F18030D2-9158-EA3F-D45D-854B2CF7B85A}"/>
              </a:ext>
            </a:extLst>
          </p:cNvPr>
          <p:cNvGraphicFramePr>
            <a:graphicFrameLocks noGrp="1"/>
          </p:cNvGraphicFramePr>
          <p:nvPr/>
        </p:nvGraphicFramePr>
        <p:xfrm>
          <a:off x="838200" y="2586182"/>
          <a:ext cx="10688781" cy="4022979"/>
        </p:xfrm>
        <a:graphic>
          <a:graphicData uri="http://schemas.openxmlformats.org/drawingml/2006/table">
            <a:tbl>
              <a:tblPr/>
              <a:tblGrid>
                <a:gridCol w="3170382">
                  <a:extLst>
                    <a:ext uri="{9D8B030D-6E8A-4147-A177-3AD203B41FA5}">
                      <a16:colId xmlns:a16="http://schemas.microsoft.com/office/drawing/2014/main" val="1160987022"/>
                    </a:ext>
                  </a:extLst>
                </a:gridCol>
                <a:gridCol w="3955472">
                  <a:extLst>
                    <a:ext uri="{9D8B030D-6E8A-4147-A177-3AD203B41FA5}">
                      <a16:colId xmlns:a16="http://schemas.microsoft.com/office/drawing/2014/main" val="3565898558"/>
                    </a:ext>
                  </a:extLst>
                </a:gridCol>
                <a:gridCol w="3562927">
                  <a:extLst>
                    <a:ext uri="{9D8B030D-6E8A-4147-A177-3AD203B41FA5}">
                      <a16:colId xmlns:a16="http://schemas.microsoft.com/office/drawing/2014/main" val="3183859136"/>
                    </a:ext>
                  </a:extLst>
                </a:gridCol>
              </a:tblGrid>
              <a:tr h="514689">
                <a:tc>
                  <a:txBody>
                    <a:bodyPr/>
                    <a:lstStyle/>
                    <a:p>
                      <a:pPr>
                        <a:buNone/>
                      </a:pPr>
                      <a:r>
                        <a:rPr lang="en-US" sz="2000" b="1" dirty="0">
                          <a:latin typeface="+mn-lt"/>
                        </a:rPr>
                        <a:t>ART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b="1" dirty="0">
                          <a:latin typeface="+mn-lt"/>
                        </a:rPr>
                        <a:t>Common Interactions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b="1" dirty="0">
                          <a:latin typeface="+mn-lt"/>
                        </a:rPr>
                        <a:t>Effect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7259103"/>
                  </a:ext>
                </a:extLst>
              </a:tr>
              <a:tr h="900705">
                <a:tc>
                  <a:txBody>
                    <a:bodyPr/>
                    <a:lstStyle/>
                    <a:p>
                      <a:pPr>
                        <a:buNone/>
                      </a:pPr>
                      <a:r>
                        <a:rPr lang="en-US" sz="2000" b="1" dirty="0">
                          <a:latin typeface="+mn-lt"/>
                        </a:rPr>
                        <a:t>NNRTIs</a:t>
                      </a:r>
                      <a:r>
                        <a:rPr lang="en-US" sz="2000" dirty="0">
                          <a:latin typeface="+mn-lt"/>
                        </a:rPr>
                        <a:t> (e.g., efavirenz, nevirapine)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mn-lt"/>
                        </a:rPr>
                        <a:t>Rifampicin (TB treatment), anticonvulsants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latin typeface="+mn-lt"/>
                        </a:rPr>
                        <a:t>Can </a:t>
                      </a:r>
                      <a:r>
                        <a:rPr lang="en-US" sz="2000" b="1" dirty="0">
                          <a:latin typeface="+mn-lt"/>
                        </a:rPr>
                        <a:t>reduce NNRTI levels</a:t>
                      </a:r>
                      <a:r>
                        <a:rPr lang="en-US" sz="2000" dirty="0">
                          <a:latin typeface="+mn-lt"/>
                        </a:rPr>
                        <a:t> → risk of treatment failure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4894629"/>
                  </a:ext>
                </a:extLst>
              </a:tr>
              <a:tr h="900705">
                <a:tc>
                  <a:txBody>
                    <a:bodyPr/>
                    <a:lstStyle/>
                    <a:p>
                      <a:pPr>
                        <a:buNone/>
                      </a:pPr>
                      <a:r>
                        <a:rPr lang="pt-BR" sz="2000" b="1">
                          <a:latin typeface="+mn-lt"/>
                        </a:rPr>
                        <a:t>PIs</a:t>
                      </a:r>
                      <a:r>
                        <a:rPr lang="pt-BR" sz="2000">
                          <a:latin typeface="+mn-lt"/>
                        </a:rPr>
                        <a:t> (e.g., lopinavir/ritonavir)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mn-lt"/>
                        </a:rPr>
                        <a:t>Rifampicin, statins, some antifungals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mn-lt"/>
                        </a:rPr>
                        <a:t>May </a:t>
                      </a:r>
                      <a:r>
                        <a:rPr lang="en-US" sz="2000" b="1">
                          <a:latin typeface="+mn-lt"/>
                        </a:rPr>
                        <a:t>increase or decrease PI levels</a:t>
                      </a:r>
                      <a:r>
                        <a:rPr lang="en-US" sz="2000">
                          <a:latin typeface="+mn-lt"/>
                        </a:rPr>
                        <a:t>; careful dose adjustment needed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543067"/>
                  </a:ext>
                </a:extLst>
              </a:tr>
              <a:tr h="900705">
                <a:tc>
                  <a:txBody>
                    <a:bodyPr/>
                    <a:lstStyle/>
                    <a:p>
                      <a:pPr>
                        <a:buNone/>
                      </a:pPr>
                      <a:r>
                        <a:rPr lang="en-US" sz="2000" b="1">
                          <a:latin typeface="+mn-lt"/>
                        </a:rPr>
                        <a:t>Integrase Inhibitors</a:t>
                      </a:r>
                      <a:r>
                        <a:rPr lang="en-US" sz="2000">
                          <a:latin typeface="+mn-lt"/>
                        </a:rPr>
                        <a:t> (e.g., dolutegravir)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r-FR" sz="2000">
                          <a:latin typeface="+mn-lt"/>
                        </a:rPr>
                        <a:t>Rifampicin, polyvalent cations (Ca, Mg, 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mn-lt"/>
                        </a:rPr>
                        <a:t>Reduced absorption; </a:t>
                      </a:r>
                      <a:r>
                        <a:rPr lang="en-US" sz="2000" b="1">
                          <a:latin typeface="+mn-lt"/>
                        </a:rPr>
                        <a:t>separate from cations by ≥2 hrs</a:t>
                      </a:r>
                      <a:endParaRPr lang="en-US" sz="200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8646127"/>
                  </a:ext>
                </a:extLst>
              </a:tr>
              <a:tr h="514689">
                <a:tc>
                  <a:txBody>
                    <a:bodyPr/>
                    <a:lstStyle/>
                    <a:p>
                      <a:pPr>
                        <a:buNone/>
                      </a:pPr>
                      <a:r>
                        <a:rPr lang="en-US" sz="2000" b="1">
                          <a:latin typeface="+mn-lt"/>
                        </a:rPr>
                        <a:t>NRTIs</a:t>
                      </a:r>
                      <a:r>
                        <a:rPr lang="en-US" sz="2000">
                          <a:latin typeface="+mn-lt"/>
                        </a:rPr>
                        <a:t> (e.g., tenofovir, lamivudine)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mn-lt"/>
                        </a:rPr>
                        <a:t>Some nephrotoxic drugs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latin typeface="+mn-lt"/>
                        </a:rPr>
                        <a:t>Increased risk of </a:t>
                      </a:r>
                      <a:r>
                        <a:rPr lang="en-US" sz="2000" b="1" dirty="0">
                          <a:latin typeface="+mn-lt"/>
                        </a:rPr>
                        <a:t>renal toxicity</a:t>
                      </a:r>
                      <a:endParaRPr lang="en-US" sz="20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243048"/>
                  </a:ext>
                </a:extLst>
              </a:tr>
            </a:tbl>
          </a:graphicData>
        </a:graphic>
      </p:graphicFrame>
    </p:spTree>
    <p:extLst>
      <p:ext uri="{BB962C8B-B14F-4D97-AF65-F5344CB8AC3E}">
        <p14:creationId xmlns:p14="http://schemas.microsoft.com/office/powerpoint/2010/main" val="34177874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04E48-831D-2D73-BE32-2D99C812155B}"/>
              </a:ext>
            </a:extLst>
          </p:cNvPr>
          <p:cNvSpPr>
            <a:spLocks noGrp="1"/>
          </p:cNvSpPr>
          <p:nvPr>
            <p:ph type="title"/>
          </p:nvPr>
        </p:nvSpPr>
        <p:spPr>
          <a:xfrm>
            <a:off x="838200" y="69561"/>
            <a:ext cx="10515600" cy="1048039"/>
          </a:xfrm>
        </p:spPr>
        <p:txBody>
          <a:bodyPr>
            <a:normAutofit fontScale="90000"/>
          </a:bodyPr>
          <a:lstStyle/>
          <a:p>
            <a:r>
              <a:rPr lang="en-US" b="1" dirty="0"/>
              <a:t>Drug specific adverse events (toxicity) </a:t>
            </a:r>
            <a:br>
              <a:rPr lang="en-US" b="1" dirty="0"/>
            </a:br>
            <a:endParaRPr lang="en-US" dirty="0"/>
          </a:p>
        </p:txBody>
      </p:sp>
      <p:graphicFrame>
        <p:nvGraphicFramePr>
          <p:cNvPr id="4" name="Content Placeholder 3">
            <a:extLst>
              <a:ext uri="{FF2B5EF4-FFF2-40B4-BE49-F238E27FC236}">
                <a16:creationId xmlns:a16="http://schemas.microsoft.com/office/drawing/2014/main" id="{75341113-1F13-A58A-D046-4365C1425A08}"/>
              </a:ext>
            </a:extLst>
          </p:cNvPr>
          <p:cNvGraphicFramePr>
            <a:graphicFrameLocks noGrp="1"/>
          </p:cNvGraphicFramePr>
          <p:nvPr>
            <p:ph idx="1"/>
            <p:extLst>
              <p:ext uri="{D42A27DB-BD31-4B8C-83A1-F6EECF244321}">
                <p14:modId xmlns:p14="http://schemas.microsoft.com/office/powerpoint/2010/main" val="2773963115"/>
              </p:ext>
            </p:extLst>
          </p:nvPr>
        </p:nvGraphicFramePr>
        <p:xfrm>
          <a:off x="974436" y="903733"/>
          <a:ext cx="10515600" cy="5432412"/>
        </p:xfrm>
        <a:graphic>
          <a:graphicData uri="http://schemas.openxmlformats.org/drawingml/2006/table">
            <a:tbl>
              <a:tblPr/>
              <a:tblGrid>
                <a:gridCol w="1315634">
                  <a:extLst>
                    <a:ext uri="{9D8B030D-6E8A-4147-A177-3AD203B41FA5}">
                      <a16:colId xmlns:a16="http://schemas.microsoft.com/office/drawing/2014/main" val="3936349677"/>
                    </a:ext>
                  </a:extLst>
                </a:gridCol>
                <a:gridCol w="3942166">
                  <a:extLst>
                    <a:ext uri="{9D8B030D-6E8A-4147-A177-3AD203B41FA5}">
                      <a16:colId xmlns:a16="http://schemas.microsoft.com/office/drawing/2014/main" val="631765675"/>
                    </a:ext>
                  </a:extLst>
                </a:gridCol>
                <a:gridCol w="2628900">
                  <a:extLst>
                    <a:ext uri="{9D8B030D-6E8A-4147-A177-3AD203B41FA5}">
                      <a16:colId xmlns:a16="http://schemas.microsoft.com/office/drawing/2014/main" val="702850714"/>
                    </a:ext>
                  </a:extLst>
                </a:gridCol>
                <a:gridCol w="2628900">
                  <a:extLst>
                    <a:ext uri="{9D8B030D-6E8A-4147-A177-3AD203B41FA5}">
                      <a16:colId xmlns:a16="http://schemas.microsoft.com/office/drawing/2014/main" val="3826811726"/>
                    </a:ext>
                  </a:extLst>
                </a:gridCol>
              </a:tblGrid>
              <a:tr h="383733">
                <a:tc>
                  <a:txBody>
                    <a:bodyPr/>
                    <a:lstStyle/>
                    <a:p>
                      <a:pPr>
                        <a:buNone/>
                      </a:pPr>
                      <a:r>
                        <a:rPr lang="en-US" sz="2000" b="1"/>
                        <a:t>ARV</a:t>
                      </a:r>
                      <a:endParaRPr lang="en-US" sz="2000"/>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b="1"/>
                        <a:t>Major toxicities</a:t>
                      </a:r>
                      <a:endParaRPr lang="en-US" sz="2000"/>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b="1"/>
                        <a:t>Risk factors</a:t>
                      </a:r>
                      <a:endParaRPr lang="en-US" sz="2000"/>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b="1"/>
                        <a:t>Suggested management</a:t>
                      </a:r>
                      <a:endParaRPr lang="en-US" sz="2000"/>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2425743"/>
                  </a:ext>
                </a:extLst>
              </a:tr>
              <a:tr h="2477151">
                <a:tc>
                  <a:txBody>
                    <a:bodyPr/>
                    <a:lstStyle/>
                    <a:p>
                      <a:pPr>
                        <a:buNone/>
                      </a:pPr>
                      <a:r>
                        <a:rPr lang="en-US" sz="2000" b="1"/>
                        <a:t>TDF</a:t>
                      </a:r>
                      <a:endParaRPr lang="en-US" sz="2000"/>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 Renal tubular dysfunction / Fanconi syndrome • ↓ Bone mineral density • Lactic acidosis, hepatic steatosis • Hepatitis B flare on stopping</a:t>
                      </a:r>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Renal disease • Older age • BMI &lt;18.5 / weight &lt;50 kg • Diabetes, hypertension • Nephrotoxic drugs / boosted PI • Osteoporosis risk</a:t>
                      </a:r>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If 1st line → switch to </a:t>
                      </a:r>
                      <a:r>
                        <a:rPr lang="en-US" sz="2000" b="1"/>
                        <a:t>ABC</a:t>
                      </a:r>
                      <a:r>
                        <a:rPr lang="en-US" sz="2000"/>
                        <a:t> • If 2nd line → switch to </a:t>
                      </a:r>
                      <a:r>
                        <a:rPr lang="en-US" sz="2000" b="1"/>
                        <a:t>AZT or ABC</a:t>
                      </a:r>
                      <a:r>
                        <a:rPr lang="en-US" sz="2000"/>
                        <a:t> • Avoid abrupt stop in HBV</a:t>
                      </a:r>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8023772"/>
                  </a:ext>
                </a:extLst>
              </a:tr>
              <a:tr h="1081539">
                <a:tc>
                  <a:txBody>
                    <a:bodyPr/>
                    <a:lstStyle/>
                    <a:p>
                      <a:pPr>
                        <a:buNone/>
                      </a:pPr>
                      <a:r>
                        <a:rPr lang="en-US" sz="2000" b="1"/>
                        <a:t>ABC</a:t>
                      </a:r>
                      <a:endParaRPr lang="en-US" sz="2000"/>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Hypersensitivity reaction</a:t>
                      </a:r>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a:t>
                      </a:r>
                      <a:r>
                        <a:rPr lang="en-US" sz="2000" b="1"/>
                        <a:t>HLA-B*5701 positive</a:t>
                      </a:r>
                      <a:endParaRPr lang="en-US" sz="2000"/>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Stop permanently • Substitute with </a:t>
                      </a:r>
                      <a:r>
                        <a:rPr lang="en-US" sz="2000" b="1"/>
                        <a:t>TDF or AZT</a:t>
                      </a:r>
                      <a:endParaRPr lang="en-US" sz="2000"/>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8271865"/>
                  </a:ext>
                </a:extLst>
              </a:tr>
              <a:tr h="1489989">
                <a:tc>
                  <a:txBody>
                    <a:bodyPr/>
                    <a:lstStyle/>
                    <a:p>
                      <a:pPr>
                        <a:buNone/>
                      </a:pPr>
                      <a:r>
                        <a:rPr lang="en-US" sz="2000" b="1"/>
                        <a:t>AZT</a:t>
                      </a:r>
                      <a:endParaRPr lang="en-US" sz="2000"/>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Anaemia, neutropaenia • Myopathy • Lipoatrophy / lipodystrophy • Lactic acidosis</a:t>
                      </a:r>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 Baseline </a:t>
                      </a:r>
                      <a:r>
                        <a:rPr lang="en-US" sz="2000" dirty="0" err="1"/>
                        <a:t>anaemia</a:t>
                      </a:r>
                      <a:r>
                        <a:rPr lang="en-US" sz="2000" dirty="0"/>
                        <a:t> • CD4 ≤200 cells/mm³ • BMI &gt;25 • Prolonged NRTI use</a:t>
                      </a:r>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 Substitute with </a:t>
                      </a:r>
                      <a:r>
                        <a:rPr lang="en-US" sz="2000" b="1" dirty="0"/>
                        <a:t>ABC</a:t>
                      </a:r>
                      <a:endParaRPr lang="en-US" sz="2000" dirty="0"/>
                    </a:p>
                  </a:txBody>
                  <a:tcPr marL="30427" marR="30427" marT="15214" marB="15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0131366"/>
                  </a:ext>
                </a:extLst>
              </a:tr>
            </a:tbl>
          </a:graphicData>
        </a:graphic>
      </p:graphicFrame>
    </p:spTree>
    <p:extLst>
      <p:ext uri="{BB962C8B-B14F-4D97-AF65-F5344CB8AC3E}">
        <p14:creationId xmlns:p14="http://schemas.microsoft.com/office/powerpoint/2010/main" val="416232317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EF7AF564-DD59-9FD8-9F22-233D988C90B6}"/>
              </a:ext>
            </a:extLst>
          </p:cNvPr>
          <p:cNvGraphicFramePr>
            <a:graphicFrameLocks noGrp="1"/>
          </p:cNvGraphicFramePr>
          <p:nvPr>
            <p:ph idx="1"/>
            <p:extLst>
              <p:ext uri="{D42A27DB-BD31-4B8C-83A1-F6EECF244321}">
                <p14:modId xmlns:p14="http://schemas.microsoft.com/office/powerpoint/2010/main" val="423962647"/>
              </p:ext>
            </p:extLst>
          </p:nvPr>
        </p:nvGraphicFramePr>
        <p:xfrm>
          <a:off x="554182" y="403225"/>
          <a:ext cx="11139056" cy="6155682"/>
        </p:xfrm>
        <a:graphic>
          <a:graphicData uri="http://schemas.openxmlformats.org/drawingml/2006/table">
            <a:tbl>
              <a:tblPr/>
              <a:tblGrid>
                <a:gridCol w="1062182">
                  <a:extLst>
                    <a:ext uri="{9D8B030D-6E8A-4147-A177-3AD203B41FA5}">
                      <a16:colId xmlns:a16="http://schemas.microsoft.com/office/drawing/2014/main" val="1713773525"/>
                    </a:ext>
                  </a:extLst>
                </a:gridCol>
                <a:gridCol w="4507346">
                  <a:extLst>
                    <a:ext uri="{9D8B030D-6E8A-4147-A177-3AD203B41FA5}">
                      <a16:colId xmlns:a16="http://schemas.microsoft.com/office/drawing/2014/main" val="1790345441"/>
                    </a:ext>
                  </a:extLst>
                </a:gridCol>
                <a:gridCol w="2784764">
                  <a:extLst>
                    <a:ext uri="{9D8B030D-6E8A-4147-A177-3AD203B41FA5}">
                      <a16:colId xmlns:a16="http://schemas.microsoft.com/office/drawing/2014/main" val="4225612766"/>
                    </a:ext>
                  </a:extLst>
                </a:gridCol>
                <a:gridCol w="2784764">
                  <a:extLst>
                    <a:ext uri="{9D8B030D-6E8A-4147-A177-3AD203B41FA5}">
                      <a16:colId xmlns:a16="http://schemas.microsoft.com/office/drawing/2014/main" val="514131426"/>
                    </a:ext>
                  </a:extLst>
                </a:gridCol>
              </a:tblGrid>
              <a:tr h="550036">
                <a:tc>
                  <a:txBody>
                    <a:bodyPr/>
                    <a:lstStyle/>
                    <a:p>
                      <a:pPr>
                        <a:buNone/>
                      </a:pPr>
                      <a:r>
                        <a:rPr lang="en-US" sz="2000" b="1"/>
                        <a:t>ARV</a:t>
                      </a:r>
                      <a:endParaRPr lang="en-US" sz="200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b="1"/>
                        <a:t>Major toxicities</a:t>
                      </a:r>
                      <a:endParaRPr lang="en-US" sz="200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b="1"/>
                        <a:t>Risk factors</a:t>
                      </a:r>
                      <a:endParaRPr lang="en-US" sz="200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b="1"/>
                        <a:t>Suggested management</a:t>
                      </a:r>
                      <a:endParaRPr lang="en-US" sz="200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5238273"/>
                  </a:ext>
                </a:extLst>
              </a:tr>
              <a:tr h="1577503">
                <a:tc>
                  <a:txBody>
                    <a:bodyPr/>
                    <a:lstStyle/>
                    <a:p>
                      <a:pPr>
                        <a:buNone/>
                      </a:pPr>
                      <a:r>
                        <a:rPr lang="en-US" sz="2000" b="1"/>
                        <a:t>EFV</a:t>
                      </a:r>
                      <a:endParaRPr lang="en-US" sz="200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 CNS toxicity (dizziness, insomnia, abnormal dreams) • Psychiatric symptoms • Seizures • Hepatotoxicity • Severe rash / hypersensitivity • </a:t>
                      </a:r>
                      <a:r>
                        <a:rPr lang="en-US" sz="2000" dirty="0" err="1"/>
                        <a:t>Gynaecomastia</a:t>
                      </a:r>
                      <a:endParaRPr lang="en-US" sz="2000" dirty="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Mental illness • Daytime dosing • Seizure disorder • Liver disease / HBV / HCV</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 Dose at bedtime • Reduce to </a:t>
                      </a:r>
                      <a:r>
                        <a:rPr lang="en-US" sz="2000" b="1" dirty="0"/>
                        <a:t>EFV 400 mg</a:t>
                      </a:r>
                      <a:r>
                        <a:rPr lang="en-US" sz="2000" dirty="0"/>
                        <a:t> or switch to </a:t>
                      </a:r>
                      <a:r>
                        <a:rPr lang="en-US" sz="2000" b="1" dirty="0"/>
                        <a:t>DTG</a:t>
                      </a:r>
                      <a:r>
                        <a:rPr lang="en-US" sz="2000" dirty="0"/>
                        <a:t> • Severe → switch class</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8816684"/>
                  </a:ext>
                </a:extLst>
              </a:tr>
              <a:tr h="895908">
                <a:tc>
                  <a:txBody>
                    <a:bodyPr/>
                    <a:lstStyle/>
                    <a:p>
                      <a:pPr>
                        <a:buNone/>
                      </a:pPr>
                      <a:r>
                        <a:rPr lang="en-US" sz="2000" b="1"/>
                        <a:t>NVP</a:t>
                      </a:r>
                      <a:endParaRPr lang="en-US" sz="200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Hepatotoxicity • Severe skin rash / SJS • Hypersensitivity</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 Liver disease • HBV / HCV • Hepatotoxic drugs • High CD4 (&gt;250 women, &gt;400 men)</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 Mild → switch to </a:t>
                      </a:r>
                      <a:r>
                        <a:rPr lang="en-US" sz="2000" b="1" dirty="0"/>
                        <a:t>EFV</a:t>
                      </a:r>
                      <a:r>
                        <a:rPr lang="en-US" sz="2000" dirty="0"/>
                        <a:t> • Severe / &lt;3 yrs → switch to </a:t>
                      </a:r>
                      <a:r>
                        <a:rPr lang="en-US" sz="2000" b="1" dirty="0"/>
                        <a:t>INSTI or PI</a:t>
                      </a:r>
                      <a:endParaRPr lang="en-US" sz="2000" dirty="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8624339"/>
                  </a:ext>
                </a:extLst>
              </a:tr>
              <a:tr h="1449560">
                <a:tc>
                  <a:txBody>
                    <a:bodyPr/>
                    <a:lstStyle/>
                    <a:p>
                      <a:pPr>
                        <a:buNone/>
                      </a:pPr>
                      <a:r>
                        <a:rPr lang="en-US" sz="2000" b="1"/>
                        <a:t>LPV/r</a:t>
                      </a:r>
                      <a:endParaRPr lang="en-US" sz="200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 Hepatotoxicity • Pancreatitis • </a:t>
                      </a:r>
                      <a:r>
                        <a:rPr lang="en-US" sz="2000" dirty="0" err="1"/>
                        <a:t>Dyslipidaemia</a:t>
                      </a:r>
                      <a:r>
                        <a:rPr lang="en-US" sz="2000" dirty="0"/>
                        <a:t> / metabolic syndrome • Lipoatrophy • Severe diarrhea, prematurity</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 Liver disease • HBV / HCV • Advanced HIV</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 Replace with </a:t>
                      </a:r>
                      <a:r>
                        <a:rPr lang="en-US" sz="2000" b="1" dirty="0"/>
                        <a:t>ATV/r</a:t>
                      </a:r>
                      <a:endParaRPr lang="en-US" sz="2000" dirty="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8583965"/>
                  </a:ext>
                </a:extLst>
              </a:tr>
              <a:tr h="1333483">
                <a:tc>
                  <a:txBody>
                    <a:bodyPr/>
                    <a:lstStyle/>
                    <a:p>
                      <a:pPr>
                        <a:buNone/>
                      </a:pPr>
                      <a:r>
                        <a:rPr lang="en-US" sz="2000" b="1"/>
                        <a:t>ATV/r</a:t>
                      </a:r>
                      <a:endParaRPr lang="en-US" sz="200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Indirect hyperbilirubinaemia (jaundice) • Nephrolithiasis • Prematurity</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Liver disease • HBV / HCV</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 Usually continue • Severe jaundice + ↑ transaminases → switch to </a:t>
                      </a:r>
                      <a:r>
                        <a:rPr lang="en-US" sz="2000" b="1" dirty="0"/>
                        <a:t>LPV/r</a:t>
                      </a:r>
                      <a:endParaRPr lang="en-US" sz="2000" dirty="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8298656"/>
                  </a:ext>
                </a:extLst>
              </a:tr>
            </a:tbl>
          </a:graphicData>
        </a:graphic>
      </p:graphicFrame>
    </p:spTree>
    <p:extLst>
      <p:ext uri="{BB962C8B-B14F-4D97-AF65-F5344CB8AC3E}">
        <p14:creationId xmlns:p14="http://schemas.microsoft.com/office/powerpoint/2010/main" val="26738300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168C80A-EB88-ACF9-E6E3-8B457DFE7195}"/>
              </a:ext>
            </a:extLst>
          </p:cNvPr>
          <p:cNvGraphicFramePr>
            <a:graphicFrameLocks noGrp="1"/>
          </p:cNvGraphicFramePr>
          <p:nvPr>
            <p:ph idx="1"/>
            <p:extLst>
              <p:ext uri="{D42A27DB-BD31-4B8C-83A1-F6EECF244321}">
                <p14:modId xmlns:p14="http://schemas.microsoft.com/office/powerpoint/2010/main" val="2893883374"/>
              </p:ext>
            </p:extLst>
          </p:nvPr>
        </p:nvGraphicFramePr>
        <p:xfrm>
          <a:off x="736665" y="346730"/>
          <a:ext cx="10577880" cy="6155669"/>
        </p:xfrm>
        <a:graphic>
          <a:graphicData uri="http://schemas.openxmlformats.org/drawingml/2006/table">
            <a:tbl>
              <a:tblPr/>
              <a:tblGrid>
                <a:gridCol w="1286099">
                  <a:extLst>
                    <a:ext uri="{9D8B030D-6E8A-4147-A177-3AD203B41FA5}">
                      <a16:colId xmlns:a16="http://schemas.microsoft.com/office/drawing/2014/main" val="494444690"/>
                    </a:ext>
                  </a:extLst>
                </a:gridCol>
                <a:gridCol w="4002841">
                  <a:extLst>
                    <a:ext uri="{9D8B030D-6E8A-4147-A177-3AD203B41FA5}">
                      <a16:colId xmlns:a16="http://schemas.microsoft.com/office/drawing/2014/main" val="2995747157"/>
                    </a:ext>
                  </a:extLst>
                </a:gridCol>
                <a:gridCol w="2508795">
                  <a:extLst>
                    <a:ext uri="{9D8B030D-6E8A-4147-A177-3AD203B41FA5}">
                      <a16:colId xmlns:a16="http://schemas.microsoft.com/office/drawing/2014/main" val="1039427813"/>
                    </a:ext>
                  </a:extLst>
                </a:gridCol>
                <a:gridCol w="2780145">
                  <a:extLst>
                    <a:ext uri="{9D8B030D-6E8A-4147-A177-3AD203B41FA5}">
                      <a16:colId xmlns:a16="http://schemas.microsoft.com/office/drawing/2014/main" val="1923531912"/>
                    </a:ext>
                  </a:extLst>
                </a:gridCol>
              </a:tblGrid>
              <a:tr h="464577">
                <a:tc>
                  <a:txBody>
                    <a:bodyPr/>
                    <a:lstStyle/>
                    <a:p>
                      <a:pPr>
                        <a:buNone/>
                      </a:pPr>
                      <a:r>
                        <a:rPr lang="en-US" sz="2000" b="1"/>
                        <a:t>ARV</a:t>
                      </a:r>
                      <a:endParaRPr lang="en-US" sz="200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b="1"/>
                        <a:t>Major toxicities</a:t>
                      </a:r>
                      <a:endParaRPr lang="en-US" sz="200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b="1"/>
                        <a:t>Risk factors</a:t>
                      </a:r>
                      <a:endParaRPr lang="en-US" sz="200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b="1"/>
                        <a:t>Suggested management</a:t>
                      </a:r>
                      <a:endParaRPr lang="en-US" sz="200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9798464"/>
                  </a:ext>
                </a:extLst>
              </a:tr>
              <a:tr h="1509882">
                <a:tc>
                  <a:txBody>
                    <a:bodyPr/>
                    <a:lstStyle/>
                    <a:p>
                      <a:pPr>
                        <a:buNone/>
                      </a:pPr>
                      <a:r>
                        <a:rPr lang="en-US" sz="2000" b="1" dirty="0"/>
                        <a:t>DTG</a:t>
                      </a:r>
                      <a:endParaRPr lang="en-US" sz="2000" dirty="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 Cholesterol • Mild ↑ liver enzymes • ↑ Creatinine • Insomnia, headache</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Dyslipidaemia • Diabetes • Hypertension</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 Monitor lipids &amp; LFTs • Symptomatic treatment</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3259595"/>
                  </a:ext>
                </a:extLst>
              </a:tr>
              <a:tr h="1509882">
                <a:tc>
                  <a:txBody>
                    <a:bodyPr/>
                    <a:lstStyle/>
                    <a:p>
                      <a:pPr>
                        <a:buNone/>
                      </a:pPr>
                      <a:r>
                        <a:rPr lang="en-US" sz="2000" b="1" dirty="0"/>
                        <a:t>ETR</a:t>
                      </a:r>
                      <a:endParaRPr lang="en-US" sz="2000" dirty="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Rash, nausea • ↑ Lipids • GI upset, fatigue • Rare: severe rash, neuropathy, renal failure</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None known</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Monitor severity • Symptomatic treatment</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685044"/>
                  </a:ext>
                </a:extLst>
              </a:tr>
              <a:tr h="1509882">
                <a:tc>
                  <a:txBody>
                    <a:bodyPr/>
                    <a:lstStyle/>
                    <a:p>
                      <a:pPr>
                        <a:buNone/>
                      </a:pPr>
                      <a:r>
                        <a:rPr lang="en-US" sz="2000" b="1"/>
                        <a:t>RAL</a:t>
                      </a:r>
                      <a:endParaRPr lang="en-US" sz="200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 Cholesterol, glucose, AST, bilirubin • Rash, fatigue, dizziness, insomnia</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Dyslipidaemia • Diabetes • Hypertension</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Severe toxicity → switch to </a:t>
                      </a:r>
                      <a:r>
                        <a:rPr lang="en-US" sz="2000" b="1"/>
                        <a:t>DTG</a:t>
                      </a:r>
                      <a:r>
                        <a:rPr lang="en-US" sz="2000"/>
                        <a:t> (&gt;12 yrs)</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7369824"/>
                  </a:ext>
                </a:extLst>
              </a:tr>
              <a:tr h="1161446">
                <a:tc>
                  <a:txBody>
                    <a:bodyPr/>
                    <a:lstStyle/>
                    <a:p>
                      <a:pPr>
                        <a:buNone/>
                      </a:pPr>
                      <a:r>
                        <a:rPr lang="en-US" sz="2000" b="1"/>
                        <a:t>DRV/r</a:t>
                      </a:r>
                      <a:endParaRPr lang="en-US" sz="2000"/>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 Cholesterol &amp; triglycerides • Diarrhea, headache, rash, nausea</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 Dyslipidaemia</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 Monitor • Symptomatic treatment</a:t>
                      </a:r>
                    </a:p>
                  </a:txBody>
                  <a:tcPr marL="25901" marR="25901" marT="12950" marB="129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4091267"/>
                  </a:ext>
                </a:extLst>
              </a:tr>
            </a:tbl>
          </a:graphicData>
        </a:graphic>
      </p:graphicFrame>
    </p:spTree>
    <p:extLst>
      <p:ext uri="{BB962C8B-B14F-4D97-AF65-F5344CB8AC3E}">
        <p14:creationId xmlns:p14="http://schemas.microsoft.com/office/powerpoint/2010/main" val="7572805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B1646-E0FD-1ECC-A530-9677DC486410}"/>
              </a:ext>
            </a:extLst>
          </p:cNvPr>
          <p:cNvSpPr>
            <a:spLocks noGrp="1"/>
          </p:cNvSpPr>
          <p:nvPr>
            <p:ph type="title"/>
          </p:nvPr>
        </p:nvSpPr>
        <p:spPr/>
        <p:txBody>
          <a:bodyPr/>
          <a:lstStyle/>
          <a:p>
            <a:r>
              <a:rPr lang="en-US" b="1" dirty="0"/>
              <a:t>Memorizing ART’s Toxicity</a:t>
            </a:r>
          </a:p>
        </p:txBody>
      </p:sp>
      <p:sp>
        <p:nvSpPr>
          <p:cNvPr id="7" name="Rectangle 1">
            <a:extLst>
              <a:ext uri="{FF2B5EF4-FFF2-40B4-BE49-F238E27FC236}">
                <a16:creationId xmlns:a16="http://schemas.microsoft.com/office/drawing/2014/main" id="{38809DB7-0549-7F0E-6F2B-CDD7B0096564}"/>
              </a:ext>
            </a:extLst>
          </p:cNvPr>
          <p:cNvSpPr>
            <a:spLocks noGrp="1" noChangeArrowheads="1"/>
          </p:cNvSpPr>
          <p:nvPr>
            <p:ph idx="1"/>
          </p:nvPr>
        </p:nvSpPr>
        <p:spPr bwMode="auto">
          <a:xfrm>
            <a:off x="838200" y="2158726"/>
            <a:ext cx="743758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rPr>
              <a:t>TDF → kidney &amp; bone</a:t>
            </a:r>
            <a:endParaRPr kumimoji="0" lang="en-US"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rPr>
              <a:t>ABC → hypersensitivity</a:t>
            </a:r>
            <a:endParaRPr kumimoji="0" lang="en-US"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rPr>
              <a:t>AZT → </a:t>
            </a:r>
            <a:r>
              <a:rPr kumimoji="0" lang="en-US" altLang="en-US" sz="3200" b="1" i="0" u="none" strike="noStrike" cap="none" normalizeH="0" baseline="0" dirty="0" err="1">
                <a:ln>
                  <a:noFill/>
                </a:ln>
                <a:solidFill>
                  <a:schemeClr val="tx1"/>
                </a:solidFill>
                <a:effectLst/>
              </a:rPr>
              <a:t>anaemia</a:t>
            </a:r>
            <a:endParaRPr kumimoji="0" lang="en-US"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rPr>
              <a:t>EFV → CNS</a:t>
            </a:r>
            <a:endParaRPr kumimoji="0" lang="en-US"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rPr>
              <a:t>NVP → liver &amp; skin</a:t>
            </a:r>
            <a:endParaRPr kumimoji="0" lang="en-US"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rPr>
              <a:t>PI → metabolic</a:t>
            </a:r>
            <a:endParaRPr kumimoji="0" lang="en-US"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rPr>
              <a:t>DTG → lipids &amp; creatinine</a:t>
            </a:r>
            <a:endParaRPr kumimoji="0" lang="en-US" altLang="en-US"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7708363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A0A60-5B86-516D-4D57-EB1BC915614B}"/>
              </a:ext>
            </a:extLst>
          </p:cNvPr>
          <p:cNvSpPr>
            <a:spLocks noGrp="1"/>
          </p:cNvSpPr>
          <p:nvPr>
            <p:ph type="title"/>
          </p:nvPr>
        </p:nvSpPr>
        <p:spPr>
          <a:xfrm>
            <a:off x="838201" y="365125"/>
            <a:ext cx="9626600" cy="1149639"/>
          </a:xfrm>
        </p:spPr>
        <p:txBody>
          <a:bodyPr>
            <a:normAutofit fontScale="90000"/>
          </a:bodyPr>
          <a:lstStyle/>
          <a:p>
            <a:r>
              <a:rPr lang="en-US" sz="4000" b="1" dirty="0">
                <a:latin typeface="+mn-lt"/>
              </a:rPr>
              <a:t>Immune Reconstitution Inflammatory Syndrome (IRIS)</a:t>
            </a:r>
            <a:br>
              <a:rPr lang="en-US" b="1" dirty="0"/>
            </a:br>
            <a:endParaRPr lang="en-US" dirty="0"/>
          </a:p>
        </p:txBody>
      </p:sp>
      <p:sp>
        <p:nvSpPr>
          <p:cNvPr id="3" name="Content Placeholder 2">
            <a:extLst>
              <a:ext uri="{FF2B5EF4-FFF2-40B4-BE49-F238E27FC236}">
                <a16:creationId xmlns:a16="http://schemas.microsoft.com/office/drawing/2014/main" id="{36A951FA-18B5-A730-B543-394BAD507229}"/>
              </a:ext>
            </a:extLst>
          </p:cNvPr>
          <p:cNvSpPr>
            <a:spLocks noGrp="1"/>
          </p:cNvSpPr>
          <p:nvPr>
            <p:ph idx="1"/>
          </p:nvPr>
        </p:nvSpPr>
        <p:spPr>
          <a:xfrm>
            <a:off x="838199" y="1514763"/>
            <a:ext cx="10515600" cy="4812145"/>
          </a:xfrm>
        </p:spPr>
        <p:txBody>
          <a:bodyPr>
            <a:normAutofit fontScale="77500" lnSpcReduction="20000"/>
          </a:bodyPr>
          <a:lstStyle/>
          <a:p>
            <a:pPr marL="0" indent="0">
              <a:buNone/>
            </a:pPr>
            <a:r>
              <a:rPr lang="en-US" sz="4200" b="1" dirty="0"/>
              <a:t>Definition:</a:t>
            </a:r>
          </a:p>
          <a:p>
            <a:r>
              <a:rPr lang="en-US" sz="3600" dirty="0"/>
              <a:t>IRIS is the </a:t>
            </a:r>
            <a:r>
              <a:rPr lang="en-US" sz="3600" b="1" dirty="0"/>
              <a:t>worsening or unmasking of opportunistic infections (OIs), malignancies, or autoimmune conditions</a:t>
            </a:r>
            <a:r>
              <a:rPr lang="en-US" sz="3600" dirty="0"/>
              <a:t> after starting ART due to </a:t>
            </a:r>
            <a:r>
              <a:rPr lang="en-US" sz="3600" b="1" dirty="0"/>
              <a:t>immune system recovery</a:t>
            </a:r>
            <a:r>
              <a:rPr lang="en-US" sz="3600" dirty="0"/>
              <a:t>.</a:t>
            </a:r>
          </a:p>
          <a:p>
            <a:pPr marL="0" indent="0">
              <a:buNone/>
            </a:pPr>
            <a:br>
              <a:rPr lang="en-US" dirty="0"/>
            </a:br>
            <a:endParaRPr lang="en-US" dirty="0"/>
          </a:p>
          <a:p>
            <a:pPr marL="0" indent="0">
              <a:buNone/>
            </a:pPr>
            <a:r>
              <a:rPr lang="en-US" sz="3600" b="1" dirty="0"/>
              <a:t>Who is at Risk?</a:t>
            </a:r>
          </a:p>
          <a:p>
            <a:r>
              <a:rPr lang="en-US" sz="3600" dirty="0"/>
              <a:t>Treatment-naïve patients</a:t>
            </a:r>
          </a:p>
          <a:p>
            <a:r>
              <a:rPr lang="en-US" sz="3600" dirty="0"/>
              <a:t>Advanced HIV (CD4 &lt;50 cells/mm³)</a:t>
            </a:r>
          </a:p>
          <a:p>
            <a:r>
              <a:rPr lang="en-US" sz="3600" dirty="0"/>
              <a:t>Undiagnosed/untreated OIs or malignancies</a:t>
            </a:r>
          </a:p>
          <a:p>
            <a:r>
              <a:rPr lang="en-US" sz="3600" dirty="0"/>
              <a:t>ART started </a:t>
            </a:r>
            <a:r>
              <a:rPr lang="en-US" sz="3600" b="1" dirty="0"/>
              <a:t>before or shortly after OI treatment</a:t>
            </a:r>
            <a:endParaRPr lang="en-US" sz="3600" dirty="0"/>
          </a:p>
          <a:p>
            <a:r>
              <a:rPr lang="en-US" sz="3600" dirty="0"/>
              <a:t>Rapid viral suppression (e.g., with Dolutegravir)</a:t>
            </a:r>
          </a:p>
          <a:p>
            <a:endParaRPr lang="en-US" dirty="0"/>
          </a:p>
        </p:txBody>
      </p:sp>
    </p:spTree>
    <p:extLst>
      <p:ext uri="{BB962C8B-B14F-4D97-AF65-F5344CB8AC3E}">
        <p14:creationId xmlns:p14="http://schemas.microsoft.com/office/powerpoint/2010/main" val="178491744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6DC7003-70EE-9CBD-B7FF-22A0AD89540E}"/>
              </a:ext>
            </a:extLst>
          </p:cNvPr>
          <p:cNvSpPr>
            <a:spLocks noGrp="1"/>
          </p:cNvSpPr>
          <p:nvPr>
            <p:ph idx="1"/>
          </p:nvPr>
        </p:nvSpPr>
        <p:spPr>
          <a:xfrm>
            <a:off x="691140" y="357188"/>
            <a:ext cx="10515600" cy="6126739"/>
          </a:xfrm>
        </p:spPr>
        <p:txBody>
          <a:bodyPr>
            <a:normAutofit/>
          </a:bodyPr>
          <a:lstStyle/>
          <a:p>
            <a:pPr marL="0" indent="0">
              <a:buNone/>
            </a:pPr>
            <a:r>
              <a:rPr lang="en-US" b="1" dirty="0"/>
              <a:t>Common Features:</a:t>
            </a:r>
          </a:p>
          <a:p>
            <a:r>
              <a:rPr lang="en-US" dirty="0"/>
              <a:t>Fever, LN enlargement, Worsening pulmonary or CNS lesions, New or worsening uveitis/retinitis</a:t>
            </a:r>
          </a:p>
          <a:p>
            <a:r>
              <a:rPr lang="en-US" dirty="0"/>
              <a:t>May unmask hepatitis B/C infections</a:t>
            </a:r>
          </a:p>
          <a:p>
            <a:pPr marL="0" indent="0">
              <a:buNone/>
            </a:pPr>
            <a:r>
              <a:rPr lang="en-US" sz="2400" b="1" dirty="0"/>
              <a:t>Diagnosis:</a:t>
            </a:r>
          </a:p>
          <a:p>
            <a:r>
              <a:rPr lang="en-US" sz="2400" b="1" dirty="0"/>
              <a:t>Major criteria:</a:t>
            </a:r>
            <a:endParaRPr lang="en-US" sz="2400" dirty="0"/>
          </a:p>
          <a:p>
            <a:pPr lvl="1"/>
            <a:r>
              <a:rPr lang="en-US" dirty="0"/>
              <a:t>Typical OI/malignancy presentation during ART response (inflammation, lesion enlargement, organ dysfunction)</a:t>
            </a:r>
          </a:p>
          <a:p>
            <a:pPr lvl="1"/>
            <a:r>
              <a:rPr lang="en-US" dirty="0"/>
              <a:t>Drop in HIV viral load &gt;1 log₁₀ (if measured)</a:t>
            </a:r>
          </a:p>
          <a:p>
            <a:r>
              <a:rPr lang="en-US" sz="2400" b="1" dirty="0"/>
              <a:t>Minor criteria:</a:t>
            </a:r>
            <a:endParaRPr lang="en-US" sz="2400" dirty="0"/>
          </a:p>
          <a:p>
            <a:pPr lvl="1"/>
            <a:r>
              <a:rPr lang="en-US" dirty="0"/>
              <a:t>Increased CD4 count</a:t>
            </a:r>
          </a:p>
          <a:p>
            <a:pPr lvl="1"/>
            <a:r>
              <a:rPr lang="en-US" dirty="0"/>
              <a:t>Increased pathogen-specific immune response (e.g., PPD conversion)</a:t>
            </a:r>
          </a:p>
          <a:p>
            <a:pPr lvl="1"/>
            <a:r>
              <a:rPr lang="en-US" dirty="0"/>
              <a:t>Spontaneous resolution of disease while continuing ART</a:t>
            </a:r>
          </a:p>
          <a:p>
            <a:pPr marL="0" indent="0">
              <a:buNone/>
            </a:pPr>
            <a:r>
              <a:rPr lang="en-US" sz="2400" b="1" dirty="0"/>
              <a:t>Diagnosis:</a:t>
            </a:r>
            <a:r>
              <a:rPr lang="en-US" sz="2400" dirty="0"/>
              <a:t> Both major criteria </a:t>
            </a:r>
            <a:r>
              <a:rPr lang="en-US" sz="2400" b="1" dirty="0"/>
              <a:t>or</a:t>
            </a:r>
            <a:r>
              <a:rPr lang="en-US" sz="2400" dirty="0"/>
              <a:t> Major A + 2 minor criteria</a:t>
            </a:r>
          </a:p>
          <a:p>
            <a:endParaRPr lang="en-US" dirty="0"/>
          </a:p>
        </p:txBody>
      </p:sp>
    </p:spTree>
    <p:extLst>
      <p:ext uri="{BB962C8B-B14F-4D97-AF65-F5344CB8AC3E}">
        <p14:creationId xmlns:p14="http://schemas.microsoft.com/office/powerpoint/2010/main" val="40433671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7573F9-C996-C9D2-370B-200FA72576EB}"/>
              </a:ext>
            </a:extLst>
          </p:cNvPr>
          <p:cNvSpPr>
            <a:spLocks noGrp="1"/>
          </p:cNvSpPr>
          <p:nvPr>
            <p:ph idx="1"/>
          </p:nvPr>
        </p:nvSpPr>
        <p:spPr>
          <a:xfrm>
            <a:off x="635000" y="357042"/>
            <a:ext cx="10515600" cy="6052993"/>
          </a:xfrm>
        </p:spPr>
        <p:txBody>
          <a:bodyPr>
            <a:normAutofit fontScale="92500" lnSpcReduction="20000"/>
          </a:bodyPr>
          <a:lstStyle/>
          <a:p>
            <a:pPr marL="0" indent="0">
              <a:buNone/>
            </a:pPr>
            <a:r>
              <a:rPr lang="en-US" sz="3900" b="1" dirty="0"/>
              <a:t>Management:</a:t>
            </a:r>
          </a:p>
          <a:p>
            <a:pPr marL="0" indent="0">
              <a:buNone/>
            </a:pPr>
            <a:r>
              <a:rPr lang="en-US" b="1" dirty="0"/>
              <a:t>1. Mild to Moderate IRIS:</a:t>
            </a:r>
            <a:endParaRPr lang="en-US" dirty="0"/>
          </a:p>
          <a:p>
            <a:r>
              <a:rPr lang="en-US" dirty="0"/>
              <a:t>Reassure patient</a:t>
            </a:r>
          </a:p>
          <a:p>
            <a:r>
              <a:rPr lang="en-US" b="1" dirty="0"/>
              <a:t>Do not stop ART</a:t>
            </a:r>
            <a:endParaRPr lang="en-US" dirty="0"/>
          </a:p>
          <a:p>
            <a:r>
              <a:rPr lang="en-US" dirty="0"/>
              <a:t>Treat underlying OI/malignancy</a:t>
            </a:r>
          </a:p>
          <a:p>
            <a:pPr marL="0" indent="0">
              <a:buNone/>
            </a:pPr>
            <a:endParaRPr lang="en-US" dirty="0"/>
          </a:p>
          <a:p>
            <a:pPr marL="0" indent="0">
              <a:buNone/>
            </a:pPr>
            <a:r>
              <a:rPr lang="en-US" b="1" dirty="0"/>
              <a:t>2. Severe/Life-threatening IRIS:</a:t>
            </a:r>
            <a:endParaRPr lang="en-US" dirty="0"/>
          </a:p>
          <a:p>
            <a:r>
              <a:rPr lang="en-US" dirty="0"/>
              <a:t>Reassure patient</a:t>
            </a:r>
          </a:p>
          <a:p>
            <a:r>
              <a:rPr lang="en-US" dirty="0"/>
              <a:t>Temporarily </a:t>
            </a:r>
            <a:r>
              <a:rPr lang="en-US" b="1" dirty="0"/>
              <a:t>stop ART</a:t>
            </a:r>
            <a:endParaRPr lang="en-US" dirty="0"/>
          </a:p>
          <a:p>
            <a:r>
              <a:rPr lang="en-US" b="1" dirty="0"/>
              <a:t>High-dose Prednisolone</a:t>
            </a:r>
            <a:r>
              <a:rPr lang="en-US" dirty="0"/>
              <a:t> 1 mg/kg for 4 weeks, then taper</a:t>
            </a:r>
          </a:p>
          <a:p>
            <a:r>
              <a:rPr lang="en-US" dirty="0"/>
              <a:t>Treat underlying OI/malignancy</a:t>
            </a:r>
          </a:p>
          <a:p>
            <a:r>
              <a:rPr lang="en-US" dirty="0"/>
              <a:t>Supportive care: fluids, oxygen, fever management</a:t>
            </a:r>
          </a:p>
          <a:p>
            <a:r>
              <a:rPr lang="en-US" dirty="0"/>
              <a:t>Restart ART when stable</a:t>
            </a:r>
          </a:p>
          <a:p>
            <a:pPr marL="0" indent="0">
              <a:buNone/>
            </a:pPr>
            <a:r>
              <a:rPr lang="en-US" b="1" dirty="0"/>
              <a:t>Important:</a:t>
            </a:r>
            <a:r>
              <a:rPr lang="en-US" dirty="0"/>
              <a:t> Rule out </a:t>
            </a:r>
            <a:r>
              <a:rPr lang="en-US" b="1" dirty="0" err="1"/>
              <a:t>Strongyloides</a:t>
            </a:r>
            <a:r>
              <a:rPr lang="en-US" b="1" dirty="0"/>
              <a:t> infection</a:t>
            </a:r>
            <a:r>
              <a:rPr lang="en-US" dirty="0"/>
              <a:t> before steroids to prevent disseminated infection.</a:t>
            </a:r>
          </a:p>
          <a:p>
            <a:endParaRPr lang="en-US" dirty="0"/>
          </a:p>
        </p:txBody>
      </p:sp>
    </p:spTree>
    <p:extLst>
      <p:ext uri="{BB962C8B-B14F-4D97-AF65-F5344CB8AC3E}">
        <p14:creationId xmlns:p14="http://schemas.microsoft.com/office/powerpoint/2010/main" val="49787867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34E55-55DE-76AA-C24B-E86F8BE20ABF}"/>
              </a:ext>
            </a:extLst>
          </p:cNvPr>
          <p:cNvSpPr>
            <a:spLocks noGrp="1"/>
          </p:cNvSpPr>
          <p:nvPr>
            <p:ph type="title"/>
          </p:nvPr>
        </p:nvSpPr>
        <p:spPr>
          <a:xfrm>
            <a:off x="838200" y="0"/>
            <a:ext cx="10125364" cy="748145"/>
          </a:xfrm>
        </p:spPr>
        <p:txBody>
          <a:bodyPr>
            <a:noAutofit/>
          </a:bodyPr>
          <a:lstStyle/>
          <a:p>
            <a:r>
              <a:rPr lang="en-US" sz="3600" b="1" dirty="0">
                <a:latin typeface="+mn-lt"/>
              </a:rPr>
              <a:t>PROGNOSIS IN PLHIV </a:t>
            </a:r>
          </a:p>
        </p:txBody>
      </p:sp>
      <p:sp>
        <p:nvSpPr>
          <p:cNvPr id="3" name="Content Placeholder 2">
            <a:extLst>
              <a:ext uri="{FF2B5EF4-FFF2-40B4-BE49-F238E27FC236}">
                <a16:creationId xmlns:a16="http://schemas.microsoft.com/office/drawing/2014/main" id="{15A54017-52DD-73B8-9BF9-31EA5D5E34C4}"/>
              </a:ext>
            </a:extLst>
          </p:cNvPr>
          <p:cNvSpPr>
            <a:spLocks noGrp="1"/>
          </p:cNvSpPr>
          <p:nvPr>
            <p:ph idx="1"/>
          </p:nvPr>
        </p:nvSpPr>
        <p:spPr>
          <a:xfrm>
            <a:off x="902855" y="883515"/>
            <a:ext cx="10515600" cy="5655830"/>
          </a:xfrm>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sz="2400" b="1" dirty="0"/>
          </a:p>
          <a:p>
            <a:endParaRPr lang="en-US" sz="2400" b="1" dirty="0"/>
          </a:p>
          <a:p>
            <a:r>
              <a:rPr lang="en-US" sz="2400" b="1" dirty="0"/>
              <a:t>Key Point:</a:t>
            </a:r>
            <a:r>
              <a:rPr lang="en-US" sz="2400" dirty="0"/>
              <a:t> Prognosis improves with </a:t>
            </a:r>
            <a:r>
              <a:rPr lang="en-US" sz="2400" b="1" dirty="0"/>
              <a:t>early diagnosis, effective ART, viral suppression, adherence, and management of OIs and comorbidities</a:t>
            </a:r>
            <a:r>
              <a:rPr lang="en-US" sz="2400" dirty="0"/>
              <a:t>.</a:t>
            </a:r>
          </a:p>
        </p:txBody>
      </p:sp>
      <p:graphicFrame>
        <p:nvGraphicFramePr>
          <p:cNvPr id="5" name="Table 4">
            <a:extLst>
              <a:ext uri="{FF2B5EF4-FFF2-40B4-BE49-F238E27FC236}">
                <a16:creationId xmlns:a16="http://schemas.microsoft.com/office/drawing/2014/main" id="{69DB26A7-5BD1-ACA5-E6D5-86AE8C2B0911}"/>
              </a:ext>
            </a:extLst>
          </p:cNvPr>
          <p:cNvGraphicFramePr>
            <a:graphicFrameLocks noGrp="1"/>
          </p:cNvGraphicFramePr>
          <p:nvPr>
            <p:extLst>
              <p:ext uri="{D42A27DB-BD31-4B8C-83A1-F6EECF244321}">
                <p14:modId xmlns:p14="http://schemas.microsoft.com/office/powerpoint/2010/main" val="2981247003"/>
              </p:ext>
            </p:extLst>
          </p:nvPr>
        </p:nvGraphicFramePr>
        <p:xfrm>
          <a:off x="838200" y="883515"/>
          <a:ext cx="10125363" cy="4480560"/>
        </p:xfrm>
        <a:graphic>
          <a:graphicData uri="http://schemas.openxmlformats.org/drawingml/2006/table">
            <a:tbl>
              <a:tblPr/>
              <a:tblGrid>
                <a:gridCol w="3052728">
                  <a:extLst>
                    <a:ext uri="{9D8B030D-6E8A-4147-A177-3AD203B41FA5}">
                      <a16:colId xmlns:a16="http://schemas.microsoft.com/office/drawing/2014/main" val="4050293937"/>
                    </a:ext>
                  </a:extLst>
                </a:gridCol>
                <a:gridCol w="3130547">
                  <a:extLst>
                    <a:ext uri="{9D8B030D-6E8A-4147-A177-3AD203B41FA5}">
                      <a16:colId xmlns:a16="http://schemas.microsoft.com/office/drawing/2014/main" val="332737949"/>
                    </a:ext>
                  </a:extLst>
                </a:gridCol>
                <a:gridCol w="3942088">
                  <a:extLst>
                    <a:ext uri="{9D8B030D-6E8A-4147-A177-3AD203B41FA5}">
                      <a16:colId xmlns:a16="http://schemas.microsoft.com/office/drawing/2014/main" val="397932935"/>
                    </a:ext>
                  </a:extLst>
                </a:gridCol>
              </a:tblGrid>
              <a:tr h="392948">
                <a:tc>
                  <a:txBody>
                    <a:bodyPr/>
                    <a:lstStyle/>
                    <a:p>
                      <a:pPr>
                        <a:buNone/>
                      </a:pPr>
                      <a:r>
                        <a:rPr lang="en-US" sz="2000" b="1"/>
                        <a:t>Factor</a:t>
                      </a:r>
                      <a:endParaRPr 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b="1"/>
                        <a:t>Good Prognosis</a:t>
                      </a:r>
                      <a:endParaRPr 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b="1"/>
                        <a:t>Poor Prognosis</a:t>
                      </a:r>
                      <a:endParaRPr 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6578775"/>
                  </a:ext>
                </a:extLst>
              </a:tr>
              <a:tr h="392948">
                <a:tc>
                  <a:txBody>
                    <a:bodyPr/>
                    <a:lstStyle/>
                    <a:p>
                      <a:pPr>
                        <a:buNone/>
                      </a:pPr>
                      <a:r>
                        <a:rPr lang="en-US" sz="2000" b="1"/>
                        <a:t>CD4 Count</a:t>
                      </a:r>
                      <a:endParaRPr 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&gt;500 cells/mm³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&lt;200 cells/mm³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6886964"/>
                  </a:ext>
                </a:extLst>
              </a:tr>
              <a:tr h="392948">
                <a:tc>
                  <a:txBody>
                    <a:bodyPr/>
                    <a:lstStyle/>
                    <a:p>
                      <a:pPr>
                        <a:buNone/>
                      </a:pPr>
                      <a:r>
                        <a:rPr lang="en-US" sz="2000" b="1"/>
                        <a:t>Viral Load</a:t>
                      </a:r>
                      <a:endParaRPr 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Suppressed/Low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High baseline or unsuppressed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71285"/>
                  </a:ext>
                </a:extLst>
              </a:tr>
              <a:tr h="392948">
                <a:tc>
                  <a:txBody>
                    <a:bodyPr/>
                    <a:lstStyle/>
                    <a:p>
                      <a:pPr>
                        <a:buNone/>
                      </a:pPr>
                      <a:r>
                        <a:rPr lang="en-US" sz="2000" b="1" dirty="0"/>
                        <a:t>Stage of Disease (WHO)</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Early stages (1–2)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Advanced stages (3–4)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7784283"/>
                  </a:ext>
                </a:extLst>
              </a:tr>
              <a:tr h="392948">
                <a:tc>
                  <a:txBody>
                    <a:bodyPr/>
                    <a:lstStyle/>
                    <a:p>
                      <a:pPr>
                        <a:buNone/>
                      </a:pPr>
                      <a:r>
                        <a:rPr lang="en-US" sz="2000" b="1"/>
                        <a:t>ART Adherence</a:t>
                      </a:r>
                      <a:endParaRPr 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Good adherence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Poor adherence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150913"/>
                  </a:ext>
                </a:extLst>
              </a:tr>
              <a:tr h="695216">
                <a:tc>
                  <a:txBody>
                    <a:bodyPr/>
                    <a:lstStyle/>
                    <a:p>
                      <a:pPr>
                        <a:buNone/>
                      </a:pPr>
                      <a:r>
                        <a:rPr lang="en-US" sz="2000" b="1" dirty="0"/>
                        <a:t>Opportunistic Infections / Malignancies</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None or well-treated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Recurrent/severe or untreated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0773390"/>
                  </a:ext>
                </a:extLst>
              </a:tr>
              <a:tr h="392948">
                <a:tc>
                  <a:txBody>
                    <a:bodyPr/>
                    <a:lstStyle/>
                    <a:p>
                      <a:pPr>
                        <a:buNone/>
                      </a:pPr>
                      <a:r>
                        <a:rPr lang="en-US" sz="2000" b="1" dirty="0"/>
                        <a:t>Treatment Timing</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Early ART initiation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Delayed 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5680784"/>
                  </a:ext>
                </a:extLst>
              </a:tr>
              <a:tr h="695216">
                <a:tc>
                  <a:txBody>
                    <a:bodyPr/>
                    <a:lstStyle/>
                    <a:p>
                      <a:pPr>
                        <a:buNone/>
                      </a:pPr>
                      <a:r>
                        <a:rPr lang="en-US" sz="2000" b="1"/>
                        <a:t>Comorbidities / Nutrition</a:t>
                      </a:r>
                      <a:endParaRPr 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Well-nourished, no severe comorbidities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Malnutrition, TB, hepatitis, chronic illnesses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9632899"/>
                  </a:ext>
                </a:extLst>
              </a:tr>
              <a:tr h="392948">
                <a:tc>
                  <a:txBody>
                    <a:bodyPr/>
                    <a:lstStyle/>
                    <a:p>
                      <a:pPr>
                        <a:buNone/>
                      </a:pPr>
                      <a:r>
                        <a:rPr lang="en-US" sz="2000" b="1" dirty="0"/>
                        <a:t>Overall Life Expectancy</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Near-normal with 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Reduced without effective treatment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7136817"/>
                  </a:ext>
                </a:extLst>
              </a:tr>
            </a:tbl>
          </a:graphicData>
        </a:graphic>
      </p:graphicFrame>
    </p:spTree>
    <p:extLst>
      <p:ext uri="{BB962C8B-B14F-4D97-AF65-F5344CB8AC3E}">
        <p14:creationId xmlns:p14="http://schemas.microsoft.com/office/powerpoint/2010/main" val="89140156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lstStyle/>
          <a:p>
            <a:pPr algn="ctr"/>
            <a:r>
              <a:rPr sz="3200" b="1" dirty="0"/>
              <a:t>Overview of HIV Prevention</a:t>
            </a:r>
          </a:p>
        </p:txBody>
      </p:sp>
      <p:sp>
        <p:nvSpPr>
          <p:cNvPr id="3" name="Content Placeholder 2"/>
          <p:cNvSpPr>
            <a:spLocks noGrp="1"/>
          </p:cNvSpPr>
          <p:nvPr>
            <p:ph idx="1"/>
          </p:nvPr>
        </p:nvSpPr>
        <p:spPr>
          <a:xfrm>
            <a:off x="1888732" y="1086493"/>
            <a:ext cx="8229600" cy="4525963"/>
          </a:xfrm>
        </p:spPr>
        <p:txBody>
          <a:bodyPr>
            <a:normAutofit/>
          </a:bodyPr>
          <a:lstStyle/>
          <a:p>
            <a:pPr>
              <a:lnSpc>
                <a:spcPct val="150000"/>
              </a:lnSpc>
            </a:pPr>
            <a:r>
              <a:rPr b="1" dirty="0"/>
              <a:t>Aim</a:t>
            </a:r>
            <a:r>
              <a:rPr dirty="0"/>
              <a:t>: </a:t>
            </a:r>
            <a:r>
              <a:rPr lang="en-US" dirty="0"/>
              <a:t>R</a:t>
            </a:r>
            <a:r>
              <a:rPr dirty="0"/>
              <a:t>educe new HIV infections and transmission</a:t>
            </a:r>
            <a:endParaRPr lang="en-GB" dirty="0"/>
          </a:p>
          <a:p>
            <a:pPr>
              <a:lnSpc>
                <a:spcPct val="150000"/>
              </a:lnSpc>
            </a:pPr>
            <a:r>
              <a:rPr lang="en-GB" dirty="0"/>
              <a:t>Strategies</a:t>
            </a:r>
            <a:endParaRPr dirty="0"/>
          </a:p>
          <a:p>
            <a:pPr lvl="1">
              <a:lnSpc>
                <a:spcPct val="150000"/>
              </a:lnSpc>
            </a:pPr>
            <a:r>
              <a:rPr dirty="0"/>
              <a:t>Combination prevention approach</a:t>
            </a:r>
          </a:p>
          <a:p>
            <a:pPr lvl="1">
              <a:lnSpc>
                <a:spcPct val="150000"/>
              </a:lnSpc>
            </a:pPr>
            <a:r>
              <a:rPr dirty="0"/>
              <a:t>Includes behavioral</a:t>
            </a:r>
            <a:r>
              <a:rPr lang="en-US" dirty="0"/>
              <a:t> </a:t>
            </a:r>
            <a:r>
              <a:rPr dirty="0"/>
              <a:t>and </a:t>
            </a:r>
            <a:r>
              <a:rPr lang="en-US" dirty="0"/>
              <a:t>biomedical</a:t>
            </a:r>
            <a:r>
              <a:rPr dirty="0"/>
              <a:t> strategies</a:t>
            </a:r>
          </a:p>
          <a:p>
            <a:pPr lvl="1">
              <a:lnSpc>
                <a:spcPct val="150000"/>
              </a:lnSpc>
            </a:pPr>
            <a:r>
              <a:rPr dirty="0"/>
              <a:t>Targets both general and high‑risk populations</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3200" b="1" dirty="0"/>
              <a:t>Behavioral Prevention Strategies</a:t>
            </a:r>
          </a:p>
        </p:txBody>
      </p:sp>
      <p:sp>
        <p:nvSpPr>
          <p:cNvPr id="3" name="Content Placeholder 2"/>
          <p:cNvSpPr>
            <a:spLocks noGrp="1"/>
          </p:cNvSpPr>
          <p:nvPr>
            <p:ph idx="1"/>
          </p:nvPr>
        </p:nvSpPr>
        <p:spPr/>
        <p:txBody>
          <a:bodyPr>
            <a:normAutofit/>
          </a:bodyPr>
          <a:lstStyle/>
          <a:p>
            <a:pPr>
              <a:lnSpc>
                <a:spcPct val="150000"/>
              </a:lnSpc>
            </a:pPr>
            <a:r>
              <a:rPr lang="en-US" dirty="0"/>
              <a:t>Delay of sexual debut</a:t>
            </a:r>
          </a:p>
          <a:p>
            <a:pPr>
              <a:lnSpc>
                <a:spcPct val="150000"/>
              </a:lnSpc>
            </a:pPr>
            <a:r>
              <a:rPr dirty="0"/>
              <a:t>Comprehensive sexual health education</a:t>
            </a:r>
            <a:endParaRPr lang="en-US" dirty="0"/>
          </a:p>
          <a:p>
            <a:pPr>
              <a:lnSpc>
                <a:spcPct val="150000"/>
              </a:lnSpc>
            </a:pPr>
            <a:r>
              <a:rPr lang="en-US" dirty="0"/>
              <a:t>Reduction of multiple sexual partners</a:t>
            </a:r>
            <a:endParaRPr dirty="0"/>
          </a:p>
          <a:p>
            <a:pPr>
              <a:lnSpc>
                <a:spcPct val="150000"/>
              </a:lnSpc>
            </a:pPr>
            <a:r>
              <a:rPr dirty="0"/>
              <a:t>Consistent condom use</a:t>
            </a:r>
          </a:p>
          <a:p>
            <a:pPr>
              <a:lnSpc>
                <a:spcPct val="150000"/>
              </a:lnSpc>
            </a:pPr>
            <a:r>
              <a:rPr dirty="0"/>
              <a:t>Risk‑reduction </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4B2BAB-07A4-5D75-A847-123204EA53E3}"/>
              </a:ext>
            </a:extLst>
          </p:cNvPr>
          <p:cNvSpPr>
            <a:spLocks noChangeArrowheads="1"/>
          </p:cNvSpPr>
          <p:nvPr/>
        </p:nvSpPr>
        <p:spPr bwMode="auto">
          <a:xfrm>
            <a:off x="1524000" y="890202"/>
            <a:ext cx="17697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hangingPunct="0"/>
            <a:r>
              <a:rPr lang="en-US" altLang="en-US" sz="1350">
                <a:solidFill>
                  <a:srgbClr val="000000"/>
                </a:solidFill>
              </a:rPr>
              <a:t> </a:t>
            </a:r>
            <a:endParaRPr lang="en-US" altLang="en-US" sz="1350"/>
          </a:p>
        </p:txBody>
      </p:sp>
      <p:pic>
        <p:nvPicPr>
          <p:cNvPr id="6" name="Picture 2">
            <a:extLst>
              <a:ext uri="{FF2B5EF4-FFF2-40B4-BE49-F238E27FC236}">
                <a16:creationId xmlns:a16="http://schemas.microsoft.com/office/drawing/2014/main" id="{ADA19678-6A6D-AF4B-2CD9-07ED1A4ADCBE}"/>
              </a:ext>
            </a:extLst>
          </p:cNvPr>
          <p:cNvPicPr>
            <a:picLocks noChangeAspect="1"/>
          </p:cNvPicPr>
          <p:nvPr/>
        </p:nvPicPr>
        <p:blipFill>
          <a:blip r:embed="rId2"/>
          <a:srcRect b="4184"/>
          <a:stretch>
            <a:fillRect/>
          </a:stretch>
        </p:blipFill>
        <p:spPr>
          <a:xfrm>
            <a:off x="1524001" y="857250"/>
            <a:ext cx="9144000" cy="5143500"/>
          </a:xfrm>
          <a:prstGeom prst="rect">
            <a:avLst/>
          </a:prstGeom>
        </p:spPr>
      </p:pic>
    </p:spTree>
    <p:extLst>
      <p:ext uri="{BB962C8B-B14F-4D97-AF65-F5344CB8AC3E}">
        <p14:creationId xmlns:p14="http://schemas.microsoft.com/office/powerpoint/2010/main" val="103494611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D85723A2-8727-4452-B3F3-23303EBEE292}"/>
              </a:ext>
            </a:extLst>
          </p:cNvPr>
          <p:cNvPicPr>
            <a:picLocks noChangeAspect="1"/>
          </p:cNvPicPr>
          <p:nvPr/>
        </p:nvPicPr>
        <p:blipFill>
          <a:blip r:embed="rId3"/>
          <a:srcRect b="12667"/>
          <a:stretch>
            <a:fillRect/>
          </a:stretch>
        </p:blipFill>
        <p:spPr>
          <a:xfrm>
            <a:off x="1524000" y="857250"/>
            <a:ext cx="9144000" cy="4644342"/>
          </a:xfrm>
          <a:prstGeom prst="rect">
            <a:avLst/>
          </a:prstGeom>
        </p:spPr>
      </p:pic>
    </p:spTree>
    <p:extLst>
      <p:ext uri="{BB962C8B-B14F-4D97-AF65-F5344CB8AC3E}">
        <p14:creationId xmlns:p14="http://schemas.microsoft.com/office/powerpoint/2010/main" val="116672963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3200" b="1" dirty="0"/>
              <a:t>Biomedical Prevention Strategies</a:t>
            </a:r>
          </a:p>
        </p:txBody>
      </p:sp>
      <p:sp>
        <p:nvSpPr>
          <p:cNvPr id="3" name="Content Placeholder 2"/>
          <p:cNvSpPr>
            <a:spLocks noGrp="1"/>
          </p:cNvSpPr>
          <p:nvPr>
            <p:ph idx="1"/>
          </p:nvPr>
        </p:nvSpPr>
        <p:spPr>
          <a:xfrm>
            <a:off x="1981200" y="1343347"/>
            <a:ext cx="8229600" cy="4525963"/>
          </a:xfrm>
        </p:spPr>
        <p:txBody>
          <a:bodyPr>
            <a:normAutofit/>
          </a:bodyPr>
          <a:lstStyle/>
          <a:p>
            <a:pPr>
              <a:lnSpc>
                <a:spcPct val="150000"/>
              </a:lnSpc>
            </a:pPr>
            <a:r>
              <a:rPr sz="2400" dirty="0"/>
              <a:t>Pre‑Exposure Prophylaxis (</a:t>
            </a:r>
            <a:r>
              <a:rPr sz="2400" dirty="0" err="1"/>
              <a:t>PrEP</a:t>
            </a:r>
            <a:r>
              <a:rPr sz="2400" dirty="0"/>
              <a:t>)</a:t>
            </a:r>
          </a:p>
          <a:p>
            <a:pPr>
              <a:lnSpc>
                <a:spcPct val="150000"/>
              </a:lnSpc>
            </a:pPr>
            <a:r>
              <a:rPr sz="2400" dirty="0"/>
              <a:t>Post‑Exposure Prophylaxis (PEP)</a:t>
            </a:r>
          </a:p>
          <a:p>
            <a:pPr>
              <a:lnSpc>
                <a:spcPct val="150000"/>
              </a:lnSpc>
            </a:pPr>
            <a:r>
              <a:rPr sz="2400" dirty="0"/>
              <a:t>Voluntary Medical Male Circumcision (VMMC)</a:t>
            </a:r>
            <a:endParaRPr lang="en-US" sz="2400" dirty="0"/>
          </a:p>
          <a:p>
            <a:pPr>
              <a:lnSpc>
                <a:spcPct val="150000"/>
              </a:lnSpc>
            </a:pPr>
            <a:r>
              <a:rPr lang="en-US" sz="2400" dirty="0"/>
              <a:t>STI management</a:t>
            </a:r>
            <a:endParaRPr sz="2400" dirty="0"/>
          </a:p>
          <a:p>
            <a:pPr>
              <a:lnSpc>
                <a:spcPct val="150000"/>
              </a:lnSpc>
            </a:pPr>
            <a:r>
              <a:rPr sz="2400" dirty="0"/>
              <a:t>Treatment as Prevention (</a:t>
            </a:r>
            <a:r>
              <a:rPr sz="2400" dirty="0" err="1"/>
              <a:t>TasP</a:t>
            </a:r>
            <a:r>
              <a:rPr sz="2400" dirty="0"/>
              <a:t>)</a:t>
            </a:r>
            <a:endParaRPr lang="en-US" sz="2400" dirty="0"/>
          </a:p>
          <a:p>
            <a:pPr marL="0" indent="0">
              <a:lnSpc>
                <a:spcPct val="150000"/>
              </a:lnSpc>
              <a:buNone/>
            </a:pPr>
            <a:endParaRPr lang="en-US" dirty="0"/>
          </a:p>
          <a:p>
            <a:pPr>
              <a:lnSpc>
                <a:spcPct val="150000"/>
              </a:lnSpc>
            </a:pPr>
            <a:endParaRPr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DA4B40C9-7A48-0CB0-2713-D59A956C1622}"/>
              </a:ext>
            </a:extLst>
          </p:cNvPr>
          <p:cNvPicPr>
            <a:picLocks noChangeAspect="1"/>
          </p:cNvPicPr>
          <p:nvPr/>
        </p:nvPicPr>
        <p:blipFill>
          <a:blip r:embed="rId2"/>
          <a:srcRect b="4686"/>
          <a:stretch>
            <a:fillRect/>
          </a:stretch>
        </p:blipFill>
        <p:spPr>
          <a:xfrm>
            <a:off x="1524000" y="857251"/>
            <a:ext cx="9144000" cy="5143500"/>
          </a:xfrm>
          <a:prstGeom prst="rect">
            <a:avLst/>
          </a:prstGeom>
        </p:spPr>
      </p:pic>
    </p:spTree>
    <p:extLst>
      <p:ext uri="{BB962C8B-B14F-4D97-AF65-F5344CB8AC3E}">
        <p14:creationId xmlns:p14="http://schemas.microsoft.com/office/powerpoint/2010/main" val="43277472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49E53-7AC8-1FFB-EB67-DB4D2D2A4243}"/>
              </a:ext>
            </a:extLst>
          </p:cNvPr>
          <p:cNvSpPr>
            <a:spLocks noGrp="1"/>
          </p:cNvSpPr>
          <p:nvPr>
            <p:ph type="title"/>
          </p:nvPr>
        </p:nvSpPr>
        <p:spPr>
          <a:xfrm>
            <a:off x="838200" y="203199"/>
            <a:ext cx="10291618" cy="955675"/>
          </a:xfrm>
        </p:spPr>
        <p:txBody>
          <a:bodyPr>
            <a:normAutofit fontScale="90000"/>
          </a:bodyPr>
          <a:lstStyle/>
          <a:p>
            <a:r>
              <a:rPr lang="en-US" sz="4000" b="1" dirty="0">
                <a:latin typeface="+mn-lt"/>
              </a:rPr>
              <a:t>Pre‑Exposure Prophylaxis (PrEP) (TRUVADA TDF/FTC)</a:t>
            </a:r>
            <a:endParaRPr lang="en-US" sz="4000" dirty="0">
              <a:latin typeface="+mn-lt"/>
            </a:endParaRPr>
          </a:p>
        </p:txBody>
      </p:sp>
      <p:sp>
        <p:nvSpPr>
          <p:cNvPr id="3" name="Content Placeholder 2">
            <a:extLst>
              <a:ext uri="{FF2B5EF4-FFF2-40B4-BE49-F238E27FC236}">
                <a16:creationId xmlns:a16="http://schemas.microsoft.com/office/drawing/2014/main" id="{C723D583-64AD-18B0-43FD-A2221F63BF8B}"/>
              </a:ext>
            </a:extLst>
          </p:cNvPr>
          <p:cNvSpPr>
            <a:spLocks noGrp="1"/>
          </p:cNvSpPr>
          <p:nvPr>
            <p:ph idx="1"/>
          </p:nvPr>
        </p:nvSpPr>
        <p:spPr>
          <a:xfrm>
            <a:off x="838200" y="1158873"/>
            <a:ext cx="10515600" cy="5495927"/>
          </a:xfrm>
        </p:spPr>
        <p:txBody>
          <a:bodyPr>
            <a:normAutofit fontScale="92500" lnSpcReduction="20000"/>
          </a:bodyPr>
          <a:lstStyle/>
          <a:p>
            <a:pPr marL="0" indent="0">
              <a:buNone/>
            </a:pPr>
            <a:r>
              <a:rPr lang="en-US" b="1" dirty="0"/>
              <a:t>Prerequisites before starting PrEP:</a:t>
            </a:r>
          </a:p>
          <a:p>
            <a:pPr marL="0" indent="0">
              <a:buNone/>
            </a:pPr>
            <a:endParaRPr lang="en-US" dirty="0"/>
          </a:p>
          <a:p>
            <a:r>
              <a:rPr lang="en-US" b="1" dirty="0"/>
              <a:t>Confirmed HIV‑negative status</a:t>
            </a:r>
            <a:r>
              <a:rPr lang="en-US" dirty="0"/>
              <a:t> (rapid test before initiation).</a:t>
            </a:r>
          </a:p>
          <a:p>
            <a:r>
              <a:rPr lang="en-US" b="1" dirty="0"/>
              <a:t>High risk of HIV exposure</a:t>
            </a:r>
            <a:r>
              <a:rPr lang="en-US" dirty="0"/>
              <a:t> (e.g., serodiscordant couples, sex workers, MSM, people who inject drugs, adolescent girls/young women in high‑burden areas).</a:t>
            </a:r>
          </a:p>
          <a:p>
            <a:r>
              <a:rPr lang="en-US" b="1" dirty="0"/>
              <a:t>Normal renal function</a:t>
            </a:r>
            <a:r>
              <a:rPr lang="en-US" dirty="0"/>
              <a:t> (baseline creatinine/eGFR before TDF‑based PrEP).</a:t>
            </a:r>
          </a:p>
          <a:p>
            <a:r>
              <a:rPr lang="en-US" b="1" dirty="0"/>
              <a:t>No contraindications to PrEP drugs</a:t>
            </a:r>
            <a:r>
              <a:rPr lang="en-US" dirty="0"/>
              <a:t> (e.g., severe kidney disease).</a:t>
            </a:r>
          </a:p>
          <a:p>
            <a:r>
              <a:rPr lang="en-US" b="1" dirty="0"/>
              <a:t>Counseling and informed consent</a:t>
            </a:r>
            <a:r>
              <a:rPr lang="en-US" dirty="0"/>
              <a:t> (understanding adherence, side effects, and follow‑up).</a:t>
            </a:r>
          </a:p>
          <a:p>
            <a:r>
              <a:rPr lang="en-US" b="1" dirty="0"/>
              <a:t>Baseline tests recommended:</a:t>
            </a:r>
            <a:endParaRPr lang="en-US" dirty="0"/>
          </a:p>
          <a:p>
            <a:pPr lvl="1"/>
            <a:r>
              <a:rPr lang="en-US" dirty="0"/>
              <a:t>HIV test, Hepatitis B surface antigen (HBsAg),Creatinine/eGFR, Pregnancy test (for women of childbearing age)</a:t>
            </a:r>
          </a:p>
          <a:p>
            <a:r>
              <a:rPr lang="en-US" b="1" dirty="0"/>
              <a:t>Follow‑up:</a:t>
            </a:r>
            <a:r>
              <a:rPr lang="en-US" dirty="0"/>
              <a:t> HIV test every 3 months, renal monitoring every 6–12 months</a:t>
            </a:r>
          </a:p>
          <a:p>
            <a:endParaRPr lang="en-US" dirty="0"/>
          </a:p>
        </p:txBody>
      </p:sp>
    </p:spTree>
    <p:extLst>
      <p:ext uri="{BB962C8B-B14F-4D97-AF65-F5344CB8AC3E}">
        <p14:creationId xmlns:p14="http://schemas.microsoft.com/office/powerpoint/2010/main" val="217540881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E58C2-D5DE-DC8F-ACD8-FE24E7A01DE7}"/>
              </a:ext>
            </a:extLst>
          </p:cNvPr>
          <p:cNvSpPr>
            <a:spLocks noGrp="1"/>
          </p:cNvSpPr>
          <p:nvPr>
            <p:ph type="title"/>
          </p:nvPr>
        </p:nvSpPr>
        <p:spPr>
          <a:xfrm>
            <a:off x="838200" y="161925"/>
            <a:ext cx="9903691" cy="1048039"/>
          </a:xfrm>
        </p:spPr>
        <p:txBody>
          <a:bodyPr>
            <a:normAutofit/>
          </a:bodyPr>
          <a:lstStyle/>
          <a:p>
            <a:r>
              <a:rPr lang="en-US" sz="4000" b="1" dirty="0">
                <a:latin typeface="+mn-lt"/>
              </a:rPr>
              <a:t>Post‑Exposure Prophylaxis (PEP) (TLD)</a:t>
            </a:r>
            <a:endParaRPr lang="en-US" sz="4000" dirty="0">
              <a:latin typeface="+mn-lt"/>
            </a:endParaRPr>
          </a:p>
        </p:txBody>
      </p:sp>
      <p:sp>
        <p:nvSpPr>
          <p:cNvPr id="3" name="Content Placeholder 2">
            <a:extLst>
              <a:ext uri="{FF2B5EF4-FFF2-40B4-BE49-F238E27FC236}">
                <a16:creationId xmlns:a16="http://schemas.microsoft.com/office/drawing/2014/main" id="{97533EF1-19CC-1DC0-456F-9F6FA09516BF}"/>
              </a:ext>
            </a:extLst>
          </p:cNvPr>
          <p:cNvSpPr>
            <a:spLocks noGrp="1"/>
          </p:cNvSpPr>
          <p:nvPr>
            <p:ph idx="1"/>
          </p:nvPr>
        </p:nvSpPr>
        <p:spPr>
          <a:xfrm>
            <a:off x="838200" y="1209964"/>
            <a:ext cx="10515600" cy="5184414"/>
          </a:xfrm>
        </p:spPr>
        <p:txBody>
          <a:bodyPr>
            <a:normAutofit fontScale="92500" lnSpcReduction="10000"/>
          </a:bodyPr>
          <a:lstStyle/>
          <a:p>
            <a:pPr marL="0" indent="0">
              <a:buNone/>
            </a:pPr>
            <a:r>
              <a:rPr lang="en-US" b="1" dirty="0"/>
              <a:t>Prerequisites before starting PEP:</a:t>
            </a:r>
          </a:p>
          <a:p>
            <a:pPr marL="0" indent="0">
              <a:buNone/>
            </a:pPr>
            <a:endParaRPr lang="en-US" dirty="0"/>
          </a:p>
          <a:p>
            <a:r>
              <a:rPr lang="en-US" b="1" dirty="0"/>
              <a:t>Recent high‑risk exposure</a:t>
            </a:r>
            <a:r>
              <a:rPr lang="en-US" dirty="0"/>
              <a:t> (sexual, occupational, needle‑stick, blood exposure).</a:t>
            </a:r>
          </a:p>
          <a:p>
            <a:r>
              <a:rPr lang="en-US" b="1" dirty="0"/>
              <a:t>Presentation within 72 hours</a:t>
            </a:r>
            <a:r>
              <a:rPr lang="en-US" dirty="0"/>
              <a:t> of exposure (critical window).</a:t>
            </a:r>
          </a:p>
          <a:p>
            <a:r>
              <a:rPr lang="en-US" b="1" dirty="0"/>
              <a:t>Baseline HIV test</a:t>
            </a:r>
            <a:r>
              <a:rPr lang="en-US" dirty="0"/>
              <a:t> (to exclude pre‑existing infection).</a:t>
            </a:r>
          </a:p>
          <a:p>
            <a:r>
              <a:rPr lang="en-US" b="1" dirty="0"/>
              <a:t>Assessment of exposure type and source risk</a:t>
            </a:r>
            <a:r>
              <a:rPr lang="en-US" dirty="0"/>
              <a:t> (HIV status of source if known).</a:t>
            </a:r>
          </a:p>
          <a:p>
            <a:r>
              <a:rPr lang="en-US" b="1" dirty="0"/>
              <a:t>Baseline labs (if available):</a:t>
            </a:r>
            <a:r>
              <a:rPr lang="en-US" dirty="0"/>
              <a:t> renal and liver function, pregnancy test.</a:t>
            </a:r>
          </a:p>
          <a:p>
            <a:r>
              <a:rPr lang="en-US" b="1" dirty="0"/>
              <a:t>Counseling:</a:t>
            </a:r>
            <a:r>
              <a:rPr lang="en-US" dirty="0"/>
              <a:t> importance of adherence to 28‑day regimen, side effects, follow‑up testing.</a:t>
            </a:r>
          </a:p>
          <a:p>
            <a:r>
              <a:rPr lang="en-US" b="1" dirty="0"/>
              <a:t>Follow‑up HIV testing:</a:t>
            </a:r>
            <a:r>
              <a:rPr lang="en-US" dirty="0"/>
              <a:t> at 6 weeks, 3 months, and 6 months post‑exposure</a:t>
            </a:r>
          </a:p>
          <a:p>
            <a:endParaRPr lang="en-US" dirty="0"/>
          </a:p>
        </p:txBody>
      </p:sp>
    </p:spTree>
    <p:extLst>
      <p:ext uri="{BB962C8B-B14F-4D97-AF65-F5344CB8AC3E}">
        <p14:creationId xmlns:p14="http://schemas.microsoft.com/office/powerpoint/2010/main" val="41160897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C7A8BAC9-FA79-FA43-309B-91F7E315A05D}"/>
              </a:ext>
            </a:extLst>
          </p:cNvPr>
          <p:cNvPicPr>
            <a:picLocks noChangeAspect="1"/>
          </p:cNvPicPr>
          <p:nvPr/>
        </p:nvPicPr>
        <p:blipFill>
          <a:blip r:embed="rId2"/>
          <a:srcRect b="2644"/>
          <a:stretch>
            <a:fillRect/>
          </a:stretch>
        </p:blipFill>
        <p:spPr>
          <a:xfrm>
            <a:off x="2098965" y="1628180"/>
            <a:ext cx="7779326" cy="4375871"/>
          </a:xfrm>
          <a:prstGeom prst="rect">
            <a:avLst/>
          </a:prstGeom>
        </p:spPr>
      </p:pic>
      <p:sp>
        <p:nvSpPr>
          <p:cNvPr id="3" name="Title 2">
            <a:extLst>
              <a:ext uri="{FF2B5EF4-FFF2-40B4-BE49-F238E27FC236}">
                <a16:creationId xmlns:a16="http://schemas.microsoft.com/office/drawing/2014/main" id="{40CC6DF9-6CAE-463A-8F97-A50FA058DB35}"/>
              </a:ext>
            </a:extLst>
          </p:cNvPr>
          <p:cNvSpPr>
            <a:spLocks noGrp="1"/>
          </p:cNvSpPr>
          <p:nvPr>
            <p:ph type="title"/>
          </p:nvPr>
        </p:nvSpPr>
        <p:spPr>
          <a:xfrm>
            <a:off x="1952499" y="524551"/>
            <a:ext cx="8287003" cy="994172"/>
          </a:xfrm>
        </p:spPr>
        <p:txBody>
          <a:bodyPr>
            <a:noAutofit/>
          </a:bodyPr>
          <a:lstStyle/>
          <a:p>
            <a:pPr algn="ctr"/>
            <a:r>
              <a:rPr lang="en-GB" sz="3200" b="1" dirty="0"/>
              <a:t>Voluntary Medical Male Circumcision (VMMC)</a:t>
            </a:r>
            <a:br>
              <a:rPr lang="en-GB" sz="3200" b="1" dirty="0"/>
            </a:br>
            <a:endParaRPr lang="en-US" sz="3200" b="1" dirty="0"/>
          </a:p>
        </p:txBody>
      </p:sp>
    </p:spTree>
    <p:extLst>
      <p:ext uri="{BB962C8B-B14F-4D97-AF65-F5344CB8AC3E}">
        <p14:creationId xmlns:p14="http://schemas.microsoft.com/office/powerpoint/2010/main" val="302993047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0CD2C0D-0B34-4F6D-9F5D-FBF9B7019CE0}"/>
              </a:ext>
            </a:extLst>
          </p:cNvPr>
          <p:cNvPicPr>
            <a:picLocks noChangeAspect="1"/>
          </p:cNvPicPr>
          <p:nvPr/>
        </p:nvPicPr>
        <p:blipFill>
          <a:blip r:embed="rId2"/>
          <a:srcRect b="2644"/>
          <a:stretch>
            <a:fillRect/>
          </a:stretch>
        </p:blipFill>
        <p:spPr>
          <a:xfrm>
            <a:off x="1524000" y="857250"/>
            <a:ext cx="9144000" cy="5143500"/>
          </a:xfrm>
          <a:prstGeom prst="rect">
            <a:avLst/>
          </a:prstGeom>
        </p:spPr>
      </p:pic>
    </p:spTree>
    <p:extLst>
      <p:ext uri="{BB962C8B-B14F-4D97-AF65-F5344CB8AC3E}">
        <p14:creationId xmlns:p14="http://schemas.microsoft.com/office/powerpoint/2010/main" val="296100471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529639" y="857215"/>
            <a:ext cx="9132725" cy="5100627"/>
          </a:xfrm>
          <a:prstGeom prst="rect">
            <a:avLst/>
          </a:prstGeom>
        </p:spPr>
      </p:pic>
      <p:sp>
        <p:nvSpPr>
          <p:cNvPr id="5" name="object 5"/>
          <p:cNvSpPr txBox="1"/>
          <p:nvPr/>
        </p:nvSpPr>
        <p:spPr>
          <a:xfrm>
            <a:off x="7348960" y="4038255"/>
            <a:ext cx="3203294" cy="905880"/>
          </a:xfrm>
          <a:prstGeom prst="rect">
            <a:avLst/>
          </a:prstGeom>
          <a:solidFill>
            <a:srgbClr val="EBEFF3"/>
          </a:solidFill>
        </p:spPr>
        <p:txBody>
          <a:bodyPr vert="horz" wrap="square" lIns="0" tIns="59617" rIns="0" bIns="0" rtlCol="0">
            <a:spAutoFit/>
          </a:bodyPr>
          <a:lstStyle/>
          <a:p>
            <a:pPr marL="105915">
              <a:spcBef>
                <a:spcPts val="470"/>
              </a:spcBef>
              <a:tabLst>
                <a:tab pos="1544331" algn="l"/>
              </a:tabLst>
            </a:pPr>
            <a:r>
              <a:rPr sz="1448" b="1" spc="-25" dirty="0">
                <a:solidFill>
                  <a:srgbClr val="353636"/>
                </a:solidFill>
                <a:latin typeface="Calibri"/>
                <a:cs typeface="Calibri"/>
              </a:rPr>
              <a:t>PARTNER</a:t>
            </a:r>
            <a:r>
              <a:rPr sz="1448" b="1" spc="-30" dirty="0">
                <a:solidFill>
                  <a:srgbClr val="353636"/>
                </a:solidFill>
                <a:latin typeface="Calibri"/>
                <a:cs typeface="Calibri"/>
              </a:rPr>
              <a:t> </a:t>
            </a:r>
            <a:r>
              <a:rPr sz="1448" b="1" spc="-10" dirty="0">
                <a:solidFill>
                  <a:srgbClr val="353636"/>
                </a:solidFill>
                <a:latin typeface="Calibri"/>
                <a:cs typeface="Calibri"/>
              </a:rPr>
              <a:t>Study:</a:t>
            </a:r>
            <a:r>
              <a:rPr lang="en-US" sz="1448" b="1" spc="-10" dirty="0">
                <a:solidFill>
                  <a:srgbClr val="353636"/>
                </a:solidFill>
                <a:latin typeface="Calibri"/>
                <a:cs typeface="Calibri"/>
              </a:rPr>
              <a:t> </a:t>
            </a:r>
            <a:r>
              <a:rPr sz="2172" b="1" baseline="1915" dirty="0">
                <a:solidFill>
                  <a:srgbClr val="444546"/>
                </a:solidFill>
                <a:latin typeface="Calibri"/>
                <a:cs typeface="Calibri"/>
              </a:rPr>
              <a:t>Zero</a:t>
            </a:r>
            <a:r>
              <a:rPr sz="2172" b="1" spc="-22" baseline="1915" dirty="0">
                <a:solidFill>
                  <a:srgbClr val="444546"/>
                </a:solidFill>
                <a:latin typeface="Calibri"/>
                <a:cs typeface="Calibri"/>
              </a:rPr>
              <a:t> </a:t>
            </a:r>
            <a:r>
              <a:rPr sz="2172" b="1" spc="-15" baseline="1915" dirty="0">
                <a:solidFill>
                  <a:srgbClr val="444546"/>
                </a:solidFill>
                <a:latin typeface="Calibri"/>
                <a:cs typeface="Calibri"/>
              </a:rPr>
              <a:t>linked</a:t>
            </a:r>
            <a:r>
              <a:rPr lang="en-US" sz="2172" spc="-15" baseline="1915" dirty="0">
                <a:latin typeface="Calibri"/>
                <a:cs typeface="Calibri"/>
              </a:rPr>
              <a:t> </a:t>
            </a:r>
            <a:r>
              <a:rPr sz="1349" b="1" dirty="0">
                <a:solidFill>
                  <a:srgbClr val="464749"/>
                </a:solidFill>
                <a:latin typeface="Calibri"/>
                <a:cs typeface="Calibri"/>
              </a:rPr>
              <a:t>transmissions</a:t>
            </a:r>
            <a:r>
              <a:rPr sz="1349" b="1" spc="90" dirty="0">
                <a:solidFill>
                  <a:srgbClr val="464749"/>
                </a:solidFill>
                <a:latin typeface="Calibri"/>
                <a:cs typeface="Calibri"/>
              </a:rPr>
              <a:t> </a:t>
            </a:r>
            <a:r>
              <a:rPr sz="1349" b="1" dirty="0">
                <a:solidFill>
                  <a:srgbClr val="464749"/>
                </a:solidFill>
                <a:latin typeface="Calibri"/>
                <a:cs typeface="Calibri"/>
              </a:rPr>
              <a:t>recorded</a:t>
            </a:r>
            <a:r>
              <a:rPr sz="1349" b="1" spc="125" dirty="0">
                <a:solidFill>
                  <a:srgbClr val="464749"/>
                </a:solidFill>
                <a:latin typeface="Calibri"/>
                <a:cs typeface="Calibri"/>
              </a:rPr>
              <a:t> </a:t>
            </a:r>
            <a:r>
              <a:rPr sz="1349" b="1" dirty="0">
                <a:solidFill>
                  <a:srgbClr val="464749"/>
                </a:solidFill>
                <a:latin typeface="Calibri"/>
                <a:cs typeface="Calibri"/>
              </a:rPr>
              <a:t>over</a:t>
            </a:r>
            <a:r>
              <a:rPr sz="1349" b="1" spc="75" dirty="0">
                <a:solidFill>
                  <a:srgbClr val="464749"/>
                </a:solidFill>
                <a:latin typeface="Calibri"/>
                <a:cs typeface="Calibri"/>
              </a:rPr>
              <a:t> </a:t>
            </a:r>
            <a:r>
              <a:rPr sz="1349" b="1" spc="-50" dirty="0">
                <a:solidFill>
                  <a:srgbClr val="464749"/>
                </a:solidFill>
                <a:latin typeface="Calibri"/>
                <a:cs typeface="Calibri"/>
              </a:rPr>
              <a:t>7 </a:t>
            </a:r>
            <a:r>
              <a:rPr sz="1349" b="1" dirty="0">
                <a:solidFill>
                  <a:srgbClr val="464749"/>
                </a:solidFill>
                <a:latin typeface="Calibri"/>
                <a:cs typeface="Calibri"/>
              </a:rPr>
              <a:t>6,000</a:t>
            </a:r>
            <a:r>
              <a:rPr sz="1349" b="1" spc="80" dirty="0">
                <a:solidFill>
                  <a:srgbClr val="464749"/>
                </a:solidFill>
                <a:latin typeface="Calibri"/>
                <a:cs typeface="Calibri"/>
              </a:rPr>
              <a:t> </a:t>
            </a:r>
            <a:r>
              <a:rPr sz="1349" b="1" dirty="0">
                <a:solidFill>
                  <a:srgbClr val="464749"/>
                </a:solidFill>
                <a:latin typeface="Calibri"/>
                <a:cs typeface="Calibri"/>
              </a:rPr>
              <a:t>condomless</a:t>
            </a:r>
            <a:r>
              <a:rPr sz="1349" b="1" spc="85" dirty="0">
                <a:solidFill>
                  <a:srgbClr val="464749"/>
                </a:solidFill>
                <a:latin typeface="Calibri"/>
                <a:cs typeface="Calibri"/>
              </a:rPr>
              <a:t> </a:t>
            </a:r>
            <a:r>
              <a:rPr sz="1349" b="1" dirty="0">
                <a:solidFill>
                  <a:srgbClr val="464749"/>
                </a:solidFill>
                <a:latin typeface="Calibri"/>
                <a:cs typeface="Calibri"/>
              </a:rPr>
              <a:t>sex</a:t>
            </a:r>
            <a:r>
              <a:rPr sz="1349" b="1" spc="70" dirty="0">
                <a:solidFill>
                  <a:srgbClr val="464749"/>
                </a:solidFill>
                <a:latin typeface="Calibri"/>
                <a:cs typeface="Calibri"/>
              </a:rPr>
              <a:t> </a:t>
            </a:r>
            <a:r>
              <a:rPr sz="1349" b="1" dirty="0">
                <a:solidFill>
                  <a:srgbClr val="464749"/>
                </a:solidFill>
                <a:latin typeface="Calibri"/>
                <a:cs typeface="Calibri"/>
              </a:rPr>
              <a:t>acts</a:t>
            </a:r>
            <a:r>
              <a:rPr sz="1349" b="1" spc="85" dirty="0">
                <a:solidFill>
                  <a:srgbClr val="464749"/>
                </a:solidFill>
                <a:latin typeface="Calibri"/>
                <a:cs typeface="Calibri"/>
              </a:rPr>
              <a:t> </a:t>
            </a:r>
            <a:r>
              <a:rPr sz="1349" b="1" spc="-50" dirty="0">
                <a:solidFill>
                  <a:srgbClr val="464749"/>
                </a:solidFill>
                <a:latin typeface="Calibri"/>
                <a:cs typeface="Calibri"/>
              </a:rPr>
              <a:t>w</a:t>
            </a:r>
            <a:r>
              <a:rPr sz="1349" b="1" dirty="0">
                <a:solidFill>
                  <a:srgbClr val="464749"/>
                </a:solidFill>
                <a:latin typeface="Calibri"/>
                <a:cs typeface="Calibri"/>
              </a:rPr>
              <a:t>hen</a:t>
            </a:r>
            <a:r>
              <a:rPr sz="1349" b="1" spc="90" dirty="0">
                <a:solidFill>
                  <a:srgbClr val="464749"/>
                </a:solidFill>
                <a:latin typeface="Calibri"/>
                <a:cs typeface="Calibri"/>
              </a:rPr>
              <a:t> </a:t>
            </a:r>
            <a:r>
              <a:rPr sz="1349" b="1" dirty="0">
                <a:solidFill>
                  <a:srgbClr val="464749"/>
                </a:solidFill>
                <a:latin typeface="Calibri"/>
                <a:cs typeface="Calibri"/>
              </a:rPr>
              <a:t>the</a:t>
            </a:r>
            <a:r>
              <a:rPr sz="1349" b="1" spc="65" dirty="0">
                <a:solidFill>
                  <a:srgbClr val="464749"/>
                </a:solidFill>
                <a:latin typeface="Calibri"/>
                <a:cs typeface="Calibri"/>
              </a:rPr>
              <a:t> </a:t>
            </a:r>
            <a:r>
              <a:rPr sz="1349" b="1" dirty="0">
                <a:solidFill>
                  <a:srgbClr val="464749"/>
                </a:solidFill>
                <a:latin typeface="Calibri"/>
                <a:cs typeface="Calibri"/>
              </a:rPr>
              <a:t>partner</a:t>
            </a:r>
            <a:r>
              <a:rPr sz="1349" b="1" spc="45" dirty="0">
                <a:solidFill>
                  <a:srgbClr val="464749"/>
                </a:solidFill>
                <a:latin typeface="Calibri"/>
                <a:cs typeface="Calibri"/>
              </a:rPr>
              <a:t> </a:t>
            </a:r>
            <a:r>
              <a:rPr sz="1349" b="1" dirty="0">
                <a:solidFill>
                  <a:srgbClr val="464749"/>
                </a:solidFill>
                <a:latin typeface="Calibri"/>
                <a:cs typeface="Calibri"/>
              </a:rPr>
              <a:t>living</a:t>
            </a:r>
            <a:r>
              <a:rPr sz="1349" b="1" spc="30" dirty="0">
                <a:solidFill>
                  <a:srgbClr val="464749"/>
                </a:solidFill>
                <a:latin typeface="Calibri"/>
                <a:cs typeface="Calibri"/>
              </a:rPr>
              <a:t> </a:t>
            </a:r>
            <a:r>
              <a:rPr sz="1349" b="1" dirty="0">
                <a:solidFill>
                  <a:srgbClr val="464749"/>
                </a:solidFill>
                <a:latin typeface="Calibri"/>
                <a:cs typeface="Calibri"/>
              </a:rPr>
              <a:t>with</a:t>
            </a:r>
            <a:r>
              <a:rPr sz="1349" b="1" spc="95" dirty="0">
                <a:solidFill>
                  <a:srgbClr val="464749"/>
                </a:solidFill>
                <a:latin typeface="Calibri"/>
                <a:cs typeface="Calibri"/>
              </a:rPr>
              <a:t> </a:t>
            </a:r>
            <a:r>
              <a:rPr sz="1349" b="1" dirty="0">
                <a:solidFill>
                  <a:srgbClr val="464749"/>
                </a:solidFill>
                <a:latin typeface="Calibri"/>
                <a:cs typeface="Calibri"/>
              </a:rPr>
              <a:t>HIV</a:t>
            </a:r>
            <a:r>
              <a:rPr sz="1349" b="1" spc="85" dirty="0">
                <a:solidFill>
                  <a:srgbClr val="464749"/>
                </a:solidFill>
                <a:latin typeface="Calibri"/>
                <a:cs typeface="Calibri"/>
              </a:rPr>
              <a:t> </a:t>
            </a:r>
            <a:r>
              <a:rPr sz="1349" b="1" spc="-50" dirty="0">
                <a:solidFill>
                  <a:srgbClr val="464749"/>
                </a:solidFill>
                <a:latin typeface="Calibri"/>
                <a:cs typeface="Calibri"/>
              </a:rPr>
              <a:t>w</a:t>
            </a:r>
            <a:r>
              <a:rPr sz="1349" b="1" dirty="0">
                <a:solidFill>
                  <a:srgbClr val="464749"/>
                </a:solidFill>
                <a:latin typeface="Calibri"/>
                <a:cs typeface="Calibri"/>
              </a:rPr>
              <a:t>as</a:t>
            </a:r>
            <a:r>
              <a:rPr lang="en-US" sz="1349" b="1" spc="85" dirty="0">
                <a:solidFill>
                  <a:srgbClr val="464749"/>
                </a:solidFill>
                <a:latin typeface="Calibri"/>
                <a:cs typeface="Calibri"/>
              </a:rPr>
              <a:t> </a:t>
            </a:r>
            <a:r>
              <a:rPr sz="1349" b="1" dirty="0">
                <a:solidFill>
                  <a:srgbClr val="464749"/>
                </a:solidFill>
                <a:latin typeface="Calibri"/>
                <a:cs typeface="Calibri"/>
              </a:rPr>
              <a:t>virologically</a:t>
            </a:r>
            <a:r>
              <a:rPr sz="1349" b="1" spc="55" dirty="0">
                <a:solidFill>
                  <a:srgbClr val="464749"/>
                </a:solidFill>
                <a:latin typeface="Calibri"/>
                <a:cs typeface="Calibri"/>
              </a:rPr>
              <a:t> </a:t>
            </a:r>
            <a:r>
              <a:rPr sz="1349" b="1" spc="-10" dirty="0">
                <a:solidFill>
                  <a:srgbClr val="464749"/>
                </a:solidFill>
                <a:latin typeface="Calibri"/>
                <a:cs typeface="Calibri"/>
              </a:rPr>
              <a:t>suppressed.</a:t>
            </a:r>
            <a:endParaRPr sz="1349" dirty="0">
              <a:latin typeface="Calibri"/>
              <a:cs typeface="Calibri"/>
            </a:endParaRPr>
          </a:p>
        </p:txBody>
      </p:sp>
      <p:sp>
        <p:nvSpPr>
          <p:cNvPr id="6" name="object 6"/>
          <p:cNvSpPr txBox="1"/>
          <p:nvPr/>
        </p:nvSpPr>
        <p:spPr>
          <a:xfrm>
            <a:off x="7348960" y="2667154"/>
            <a:ext cx="3203293" cy="738607"/>
          </a:xfrm>
          <a:prstGeom prst="rect">
            <a:avLst/>
          </a:prstGeom>
          <a:solidFill>
            <a:srgbClr val="EDF1F5"/>
          </a:solidFill>
        </p:spPr>
        <p:txBody>
          <a:bodyPr vert="horz" wrap="square" lIns="0" tIns="45664" rIns="0" bIns="0" rtlCol="0">
            <a:spAutoFit/>
          </a:bodyPr>
          <a:lstStyle/>
          <a:p>
            <a:pPr marL="100841" marR="492155" indent="6342">
              <a:lnSpc>
                <a:spcPct val="104500"/>
              </a:lnSpc>
              <a:spcBef>
                <a:spcPts val="359"/>
              </a:spcBef>
              <a:tabLst>
                <a:tab pos="1549405" algn="l"/>
              </a:tabLst>
            </a:pPr>
            <a:r>
              <a:rPr sz="1349" b="1" dirty="0">
                <a:solidFill>
                  <a:srgbClr val="343535"/>
                </a:solidFill>
                <a:latin typeface="Calibri"/>
                <a:cs typeface="Calibri"/>
              </a:rPr>
              <a:t>HPTN</a:t>
            </a:r>
            <a:r>
              <a:rPr sz="1349" b="1" spc="40" dirty="0">
                <a:solidFill>
                  <a:srgbClr val="343535"/>
                </a:solidFill>
                <a:latin typeface="Calibri"/>
                <a:cs typeface="Calibri"/>
              </a:rPr>
              <a:t> </a:t>
            </a:r>
            <a:r>
              <a:rPr sz="1349" b="1" dirty="0">
                <a:solidFill>
                  <a:srgbClr val="343535"/>
                </a:solidFill>
                <a:latin typeface="Calibri"/>
                <a:cs typeface="Calibri"/>
              </a:rPr>
              <a:t>052</a:t>
            </a:r>
            <a:r>
              <a:rPr sz="1349" b="1" spc="35" dirty="0">
                <a:solidFill>
                  <a:srgbClr val="343535"/>
                </a:solidFill>
                <a:latin typeface="Calibri"/>
                <a:cs typeface="Calibri"/>
              </a:rPr>
              <a:t> </a:t>
            </a:r>
            <a:r>
              <a:rPr sz="1349" b="1" spc="-10" dirty="0">
                <a:solidFill>
                  <a:srgbClr val="343535"/>
                </a:solidFill>
                <a:latin typeface="Calibri"/>
                <a:cs typeface="Calibri"/>
              </a:rPr>
              <a:t>Study:</a:t>
            </a:r>
            <a:r>
              <a:rPr lang="en-US" sz="1349" b="1" spc="-10" dirty="0">
                <a:solidFill>
                  <a:srgbClr val="343535"/>
                </a:solidFill>
                <a:latin typeface="Calibri"/>
                <a:cs typeface="Calibri"/>
              </a:rPr>
              <a:t> </a:t>
            </a:r>
            <a:r>
              <a:rPr sz="1448" b="1" dirty="0">
                <a:solidFill>
                  <a:srgbClr val="494A4D"/>
                </a:solidFill>
                <a:latin typeface="Calibri"/>
                <a:cs typeface="Calibri"/>
              </a:rPr>
              <a:t>93%</a:t>
            </a:r>
            <a:r>
              <a:rPr sz="1448" b="1" spc="-10" dirty="0">
                <a:solidFill>
                  <a:srgbClr val="494A4D"/>
                </a:solidFill>
                <a:latin typeface="Calibri"/>
                <a:cs typeface="Calibri"/>
              </a:rPr>
              <a:t> </a:t>
            </a:r>
            <a:r>
              <a:rPr sz="1448" b="1" spc="-20" dirty="0">
                <a:solidFill>
                  <a:srgbClr val="494A4D"/>
                </a:solidFill>
                <a:latin typeface="Calibri"/>
                <a:cs typeface="Calibri"/>
              </a:rPr>
              <a:t>risk</a:t>
            </a:r>
            <a:r>
              <a:rPr lang="en-US" sz="1448" b="1" spc="-20" dirty="0">
                <a:solidFill>
                  <a:srgbClr val="494A4D"/>
                </a:solidFill>
                <a:latin typeface="Calibri"/>
                <a:cs typeface="Calibri"/>
              </a:rPr>
              <a:t> </a:t>
            </a:r>
            <a:r>
              <a:rPr sz="1448" b="1" spc="-20" dirty="0">
                <a:solidFill>
                  <a:srgbClr val="4A4B4D"/>
                </a:solidFill>
                <a:latin typeface="Calibri"/>
                <a:cs typeface="Calibri"/>
              </a:rPr>
              <a:t>reduction</a:t>
            </a:r>
            <a:r>
              <a:rPr sz="1448" b="1" spc="-45" dirty="0">
                <a:solidFill>
                  <a:srgbClr val="4A4B4D"/>
                </a:solidFill>
                <a:latin typeface="Calibri"/>
                <a:cs typeface="Calibri"/>
              </a:rPr>
              <a:t> </a:t>
            </a:r>
            <a:r>
              <a:rPr sz="1448" b="1" dirty="0">
                <a:solidFill>
                  <a:srgbClr val="4A4B4D"/>
                </a:solidFill>
                <a:latin typeface="Calibri"/>
                <a:cs typeface="Calibri"/>
              </a:rPr>
              <a:t>with</a:t>
            </a:r>
            <a:r>
              <a:rPr sz="1448" b="1" spc="-45" dirty="0">
                <a:solidFill>
                  <a:srgbClr val="4A4B4D"/>
                </a:solidFill>
                <a:latin typeface="Calibri"/>
                <a:cs typeface="Calibri"/>
              </a:rPr>
              <a:t> </a:t>
            </a:r>
            <a:r>
              <a:rPr sz="1448" b="1" spc="-10" dirty="0">
                <a:solidFill>
                  <a:srgbClr val="4A4B4D"/>
                </a:solidFill>
                <a:latin typeface="Calibri"/>
                <a:cs typeface="Calibri"/>
              </a:rPr>
              <a:t>early</a:t>
            </a:r>
            <a:r>
              <a:rPr sz="1448" b="1" spc="-25" dirty="0">
                <a:solidFill>
                  <a:srgbClr val="4A4B4D"/>
                </a:solidFill>
                <a:latin typeface="Calibri"/>
                <a:cs typeface="Calibri"/>
              </a:rPr>
              <a:t> </a:t>
            </a:r>
            <a:r>
              <a:rPr sz="1448" b="1" dirty="0">
                <a:solidFill>
                  <a:srgbClr val="4A4B4D"/>
                </a:solidFill>
                <a:latin typeface="Calibri"/>
                <a:cs typeface="Calibri"/>
              </a:rPr>
              <a:t>ART</a:t>
            </a:r>
            <a:r>
              <a:rPr sz="1448" b="1" spc="-55" dirty="0">
                <a:solidFill>
                  <a:srgbClr val="4A4B4D"/>
                </a:solidFill>
                <a:latin typeface="Calibri"/>
                <a:cs typeface="Calibri"/>
              </a:rPr>
              <a:t> </a:t>
            </a:r>
            <a:r>
              <a:rPr sz="1448" b="1" spc="-50" dirty="0">
                <a:solidFill>
                  <a:srgbClr val="4A4B4D"/>
                </a:solidFill>
                <a:latin typeface="Calibri"/>
                <a:cs typeface="Calibri"/>
              </a:rPr>
              <a:t>i</a:t>
            </a:r>
            <a:r>
              <a:rPr sz="1448" b="1" spc="-10" dirty="0">
                <a:solidFill>
                  <a:srgbClr val="4A4B4D"/>
                </a:solidFill>
                <a:latin typeface="Calibri"/>
                <a:cs typeface="Calibri"/>
              </a:rPr>
              <a:t>nitiation</a:t>
            </a:r>
            <a:r>
              <a:rPr sz="1448" b="1" spc="-65" dirty="0">
                <a:solidFill>
                  <a:srgbClr val="4A4B4D"/>
                </a:solidFill>
                <a:latin typeface="Calibri"/>
                <a:cs typeface="Calibri"/>
              </a:rPr>
              <a:t> </a:t>
            </a:r>
            <a:r>
              <a:rPr sz="1448" b="1" spc="-10" dirty="0">
                <a:solidFill>
                  <a:srgbClr val="4A4B4D"/>
                </a:solidFill>
                <a:latin typeface="Calibri"/>
                <a:cs typeface="Calibri"/>
              </a:rPr>
              <a:t>among</a:t>
            </a:r>
            <a:r>
              <a:rPr sz="1448" b="1" spc="-45" dirty="0">
                <a:solidFill>
                  <a:srgbClr val="4A4B4D"/>
                </a:solidFill>
                <a:latin typeface="Calibri"/>
                <a:cs typeface="Calibri"/>
              </a:rPr>
              <a:t> </a:t>
            </a:r>
            <a:r>
              <a:rPr sz="1448" b="1" spc="-20" dirty="0">
                <a:solidFill>
                  <a:srgbClr val="4A4B4D"/>
                </a:solidFill>
                <a:latin typeface="Calibri"/>
                <a:cs typeface="Calibri"/>
              </a:rPr>
              <a:t>1,763 </a:t>
            </a:r>
            <a:r>
              <a:rPr lang="en-US" sz="1448" b="1" spc="-20" dirty="0">
                <a:solidFill>
                  <a:srgbClr val="4A4B4D"/>
                </a:solidFill>
                <a:latin typeface="Calibri"/>
                <a:cs typeface="Calibri"/>
              </a:rPr>
              <a:t> </a:t>
            </a:r>
            <a:r>
              <a:rPr sz="1448" b="1" spc="-50" dirty="0">
                <a:solidFill>
                  <a:srgbClr val="4A4B4D"/>
                </a:solidFill>
                <a:latin typeface="Calibri"/>
                <a:cs typeface="Calibri"/>
              </a:rPr>
              <a:t>Sero discordant</a:t>
            </a:r>
            <a:r>
              <a:rPr sz="1448" b="1" spc="-5" dirty="0">
                <a:solidFill>
                  <a:srgbClr val="4A4B4D"/>
                </a:solidFill>
                <a:latin typeface="Calibri"/>
                <a:cs typeface="Calibri"/>
              </a:rPr>
              <a:t> </a:t>
            </a:r>
            <a:r>
              <a:rPr sz="1448" b="1" spc="-10" dirty="0">
                <a:solidFill>
                  <a:srgbClr val="4A4B4D"/>
                </a:solidFill>
                <a:latin typeface="Calibri"/>
                <a:cs typeface="Calibri"/>
              </a:rPr>
              <a:t>couples.</a:t>
            </a:r>
            <a:endParaRPr sz="1448" dirty="0">
              <a:latin typeface="Calibri"/>
              <a:cs typeface="Calibri"/>
            </a:endParaRPr>
          </a:p>
        </p:txBody>
      </p:sp>
      <p:grpSp>
        <p:nvGrpSpPr>
          <p:cNvPr id="7" name="object 7"/>
          <p:cNvGrpSpPr/>
          <p:nvPr/>
        </p:nvGrpSpPr>
        <p:grpSpPr>
          <a:xfrm>
            <a:off x="2278052" y="1502836"/>
            <a:ext cx="7944717" cy="3436854"/>
            <a:chOff x="713231" y="677227"/>
            <a:chExt cx="8183880" cy="3798570"/>
          </a:xfrm>
        </p:grpSpPr>
        <p:pic>
          <p:nvPicPr>
            <p:cNvPr id="8" name="object 8"/>
            <p:cNvPicPr/>
            <p:nvPr/>
          </p:nvPicPr>
          <p:blipFill>
            <a:blip r:embed="rId3" cstate="print"/>
            <a:stretch>
              <a:fillRect/>
            </a:stretch>
          </p:blipFill>
          <p:spPr>
            <a:xfrm>
              <a:off x="8823960" y="677227"/>
              <a:ext cx="73150" cy="1217231"/>
            </a:xfrm>
            <a:prstGeom prst="rect">
              <a:avLst/>
            </a:prstGeom>
          </p:spPr>
        </p:pic>
        <p:pic>
          <p:nvPicPr>
            <p:cNvPr id="9" name="object 9"/>
            <p:cNvPicPr/>
            <p:nvPr/>
          </p:nvPicPr>
          <p:blipFill>
            <a:blip r:embed="rId4" cstate="print"/>
            <a:stretch>
              <a:fillRect/>
            </a:stretch>
          </p:blipFill>
          <p:spPr>
            <a:xfrm>
              <a:off x="713231" y="1592490"/>
              <a:ext cx="4983480" cy="2882900"/>
            </a:xfrm>
            <a:prstGeom prst="rect">
              <a:avLst/>
            </a:prstGeom>
          </p:spPr>
        </p:pic>
        <p:pic>
          <p:nvPicPr>
            <p:cNvPr id="10" name="object 10"/>
            <p:cNvPicPr/>
            <p:nvPr/>
          </p:nvPicPr>
          <p:blipFill>
            <a:blip r:embed="rId5" cstate="print"/>
            <a:stretch>
              <a:fillRect/>
            </a:stretch>
          </p:blipFill>
          <p:spPr>
            <a:xfrm>
              <a:off x="2962655" y="2745689"/>
              <a:ext cx="329183" cy="338632"/>
            </a:xfrm>
            <a:prstGeom prst="rect">
              <a:avLst/>
            </a:prstGeom>
          </p:spPr>
        </p:pic>
      </p:grpSp>
      <p:sp>
        <p:nvSpPr>
          <p:cNvPr id="11" name="object 11"/>
          <p:cNvSpPr txBox="1"/>
          <p:nvPr/>
        </p:nvSpPr>
        <p:spPr>
          <a:xfrm>
            <a:off x="4513375" y="5304165"/>
            <a:ext cx="473760" cy="277941"/>
          </a:xfrm>
          <a:prstGeom prst="rect">
            <a:avLst/>
          </a:prstGeom>
        </p:spPr>
        <p:txBody>
          <a:bodyPr vert="horz" wrap="square" lIns="0" tIns="16490" rIns="0" bIns="0" rtlCol="0">
            <a:spAutoFit/>
          </a:bodyPr>
          <a:lstStyle/>
          <a:p>
            <a:pPr marL="12685">
              <a:spcBef>
                <a:spcPts val="130"/>
              </a:spcBef>
            </a:pPr>
            <a:r>
              <a:rPr sz="1698" b="1" spc="-20" dirty="0">
                <a:solidFill>
                  <a:srgbClr val="3C3D3E"/>
                </a:solidFill>
                <a:latin typeface="Calibri"/>
                <a:cs typeface="Calibri"/>
              </a:rPr>
              <a:t>Time</a:t>
            </a:r>
            <a:endParaRPr sz="1698" dirty="0">
              <a:latin typeface="Calibri"/>
              <a:cs typeface="Calibri"/>
            </a:endParaRPr>
          </a:p>
        </p:txBody>
      </p:sp>
      <p:sp>
        <p:nvSpPr>
          <p:cNvPr id="12" name="object 12"/>
          <p:cNvSpPr txBox="1"/>
          <p:nvPr/>
        </p:nvSpPr>
        <p:spPr>
          <a:xfrm>
            <a:off x="2024367" y="3086484"/>
            <a:ext cx="233975" cy="952593"/>
          </a:xfrm>
          <a:prstGeom prst="rect">
            <a:avLst/>
          </a:prstGeom>
        </p:spPr>
        <p:txBody>
          <a:bodyPr vert="vert270" wrap="square" lIns="0" tIns="0" rIns="0" bIns="0" rtlCol="0">
            <a:spAutoFit/>
          </a:bodyPr>
          <a:lstStyle/>
          <a:p>
            <a:pPr marL="12685">
              <a:lnSpc>
                <a:spcPts val="1808"/>
              </a:lnSpc>
            </a:pPr>
            <a:r>
              <a:rPr sz="1798" b="1" dirty="0">
                <a:solidFill>
                  <a:srgbClr val="3E3E3E"/>
                </a:solidFill>
                <a:latin typeface="Calibri"/>
                <a:cs typeface="Calibri"/>
              </a:rPr>
              <a:t>Viral</a:t>
            </a:r>
            <a:r>
              <a:rPr sz="1798" b="1" spc="-75" dirty="0">
                <a:solidFill>
                  <a:srgbClr val="3E3E3E"/>
                </a:solidFill>
                <a:latin typeface="Calibri"/>
                <a:cs typeface="Calibri"/>
              </a:rPr>
              <a:t> </a:t>
            </a:r>
            <a:r>
              <a:rPr sz="1798" b="1" spc="-20" dirty="0">
                <a:solidFill>
                  <a:srgbClr val="3E3E3E"/>
                </a:solidFill>
                <a:latin typeface="Calibri"/>
                <a:cs typeface="Calibri"/>
              </a:rPr>
              <a:t>Load</a:t>
            </a:r>
            <a:endParaRPr sz="1798" dirty="0">
              <a:latin typeface="Calibri"/>
              <a:cs typeface="Calibri"/>
            </a:endParaRPr>
          </a:p>
        </p:txBody>
      </p:sp>
      <p:sp>
        <p:nvSpPr>
          <p:cNvPr id="13" name="object 13"/>
          <p:cNvSpPr txBox="1"/>
          <p:nvPr/>
        </p:nvSpPr>
        <p:spPr>
          <a:xfrm>
            <a:off x="3692392" y="4877843"/>
            <a:ext cx="1858256" cy="432959"/>
          </a:xfrm>
          <a:prstGeom prst="rect">
            <a:avLst/>
          </a:prstGeom>
        </p:spPr>
        <p:txBody>
          <a:bodyPr vert="horz" wrap="square" lIns="0" tIns="35516" rIns="0" bIns="0" rtlCol="0">
            <a:spAutoFit/>
          </a:bodyPr>
          <a:lstStyle/>
          <a:p>
            <a:pPr marL="12685">
              <a:spcBef>
                <a:spcPts val="280"/>
              </a:spcBef>
            </a:pPr>
            <a:r>
              <a:rPr sz="1349" b="1" dirty="0">
                <a:solidFill>
                  <a:srgbClr val="505151"/>
                </a:solidFill>
                <a:latin typeface="Calibri"/>
                <a:cs typeface="Calibri"/>
              </a:rPr>
              <a:t>&lt;1,000</a:t>
            </a:r>
            <a:r>
              <a:rPr sz="1349" b="1" spc="-10" dirty="0">
                <a:solidFill>
                  <a:srgbClr val="505151"/>
                </a:solidFill>
                <a:latin typeface="Calibri"/>
                <a:cs typeface="Calibri"/>
              </a:rPr>
              <a:t> copies/mL</a:t>
            </a:r>
            <a:endParaRPr sz="1349" dirty="0">
              <a:latin typeface="Calibri"/>
              <a:cs typeface="Calibri"/>
            </a:endParaRPr>
          </a:p>
          <a:p>
            <a:pPr marL="12685">
              <a:spcBef>
                <a:spcPts val="140"/>
              </a:spcBef>
            </a:pPr>
            <a:r>
              <a:rPr sz="1148" b="1" dirty="0">
                <a:solidFill>
                  <a:srgbClr val="575858"/>
                </a:solidFill>
                <a:latin typeface="Calibri"/>
                <a:cs typeface="Calibri"/>
              </a:rPr>
              <a:t>(The</a:t>
            </a:r>
            <a:r>
              <a:rPr sz="1148" b="1" spc="80" dirty="0">
                <a:solidFill>
                  <a:srgbClr val="575858"/>
                </a:solidFill>
                <a:latin typeface="Calibri"/>
                <a:cs typeface="Calibri"/>
              </a:rPr>
              <a:t> </a:t>
            </a:r>
            <a:r>
              <a:rPr sz="1148" b="1" dirty="0">
                <a:solidFill>
                  <a:srgbClr val="575858"/>
                </a:solidFill>
                <a:latin typeface="Calibri"/>
                <a:cs typeface="Calibri"/>
              </a:rPr>
              <a:t>Transmission</a:t>
            </a:r>
            <a:r>
              <a:rPr sz="1148" b="1" spc="114" dirty="0">
                <a:solidFill>
                  <a:srgbClr val="575858"/>
                </a:solidFill>
                <a:latin typeface="Calibri"/>
                <a:cs typeface="Calibri"/>
              </a:rPr>
              <a:t> </a:t>
            </a:r>
            <a:r>
              <a:rPr sz="1148" b="1" spc="-10" dirty="0">
                <a:solidFill>
                  <a:srgbClr val="575858"/>
                </a:solidFill>
                <a:latin typeface="Calibri"/>
                <a:cs typeface="Calibri"/>
              </a:rPr>
              <a:t>Threshold)</a:t>
            </a:r>
            <a:endParaRPr sz="1148" dirty="0">
              <a:latin typeface="Calibri"/>
              <a:cs typeface="Calibri"/>
            </a:endParaRPr>
          </a:p>
        </p:txBody>
      </p:sp>
      <p:sp>
        <p:nvSpPr>
          <p:cNvPr id="14" name="object 14"/>
          <p:cNvSpPr txBox="1"/>
          <p:nvPr/>
        </p:nvSpPr>
        <p:spPr>
          <a:xfrm>
            <a:off x="4818940" y="3318901"/>
            <a:ext cx="1226576" cy="267685"/>
          </a:xfrm>
          <a:prstGeom prst="rect">
            <a:avLst/>
          </a:prstGeom>
        </p:spPr>
        <p:txBody>
          <a:bodyPr vert="horz" wrap="square" lIns="0" tIns="13953" rIns="0" bIns="0" rtlCol="0">
            <a:spAutoFit/>
          </a:bodyPr>
          <a:lstStyle/>
          <a:p>
            <a:pPr marL="12685">
              <a:spcBef>
                <a:spcPts val="110"/>
              </a:spcBef>
            </a:pPr>
            <a:r>
              <a:rPr sz="1648" b="1" dirty="0">
                <a:solidFill>
                  <a:srgbClr val="404141"/>
                </a:solidFill>
                <a:latin typeface="Calibri"/>
                <a:cs typeface="Calibri"/>
              </a:rPr>
              <a:t>ART</a:t>
            </a:r>
            <a:r>
              <a:rPr sz="1648" b="1" spc="35" dirty="0">
                <a:solidFill>
                  <a:srgbClr val="404141"/>
                </a:solidFill>
                <a:latin typeface="Calibri"/>
                <a:cs typeface="Calibri"/>
              </a:rPr>
              <a:t> </a:t>
            </a:r>
            <a:r>
              <a:rPr sz="1648" b="1" spc="-10" dirty="0">
                <a:solidFill>
                  <a:srgbClr val="404141"/>
                </a:solidFill>
                <a:latin typeface="Calibri"/>
                <a:cs typeface="Calibri"/>
              </a:rPr>
              <a:t>Initiation</a:t>
            </a:r>
            <a:endParaRPr sz="1648">
              <a:latin typeface="Calibri"/>
              <a:cs typeface="Calibri"/>
            </a:endParaRPr>
          </a:p>
        </p:txBody>
      </p:sp>
      <p:sp>
        <p:nvSpPr>
          <p:cNvPr id="15" name="object 15"/>
          <p:cNvSpPr txBox="1"/>
          <p:nvPr/>
        </p:nvSpPr>
        <p:spPr>
          <a:xfrm>
            <a:off x="2141344" y="5582569"/>
            <a:ext cx="8236886" cy="338517"/>
          </a:xfrm>
          <a:prstGeom prst="rect">
            <a:avLst/>
          </a:prstGeom>
        </p:spPr>
        <p:txBody>
          <a:bodyPr vert="horz" wrap="square" lIns="0" tIns="30443" rIns="0" bIns="0" rtlCol="0">
            <a:spAutoFit/>
          </a:bodyPr>
          <a:lstStyle/>
          <a:p>
            <a:pPr marL="12685" marR="5074" indent="9513">
              <a:lnSpc>
                <a:spcPts val="2437"/>
              </a:lnSpc>
              <a:spcBef>
                <a:spcPts val="240"/>
              </a:spcBef>
              <a:tabLst>
                <a:tab pos="4742713" algn="l"/>
              </a:tabLst>
            </a:pPr>
            <a:r>
              <a:rPr sz="2098" dirty="0">
                <a:solidFill>
                  <a:srgbClr val="383939"/>
                </a:solidFill>
                <a:latin typeface="Calibri"/>
                <a:cs typeface="Calibri"/>
              </a:rPr>
              <a:t>Stable</a:t>
            </a:r>
            <a:r>
              <a:rPr sz="2098" spc="-70" dirty="0">
                <a:solidFill>
                  <a:srgbClr val="383939"/>
                </a:solidFill>
                <a:latin typeface="Calibri"/>
                <a:cs typeface="Calibri"/>
              </a:rPr>
              <a:t> </a:t>
            </a:r>
            <a:r>
              <a:rPr sz="2098" dirty="0">
                <a:solidFill>
                  <a:srgbClr val="383939"/>
                </a:solidFill>
                <a:latin typeface="Calibri"/>
                <a:cs typeface="Calibri"/>
              </a:rPr>
              <a:t>viral</a:t>
            </a:r>
            <a:r>
              <a:rPr sz="2098" spc="-40" dirty="0">
                <a:solidFill>
                  <a:srgbClr val="383939"/>
                </a:solidFill>
                <a:latin typeface="Calibri"/>
                <a:cs typeface="Calibri"/>
              </a:rPr>
              <a:t> </a:t>
            </a:r>
            <a:r>
              <a:rPr sz="2098" spc="-10" dirty="0">
                <a:solidFill>
                  <a:srgbClr val="383939"/>
                </a:solidFill>
                <a:latin typeface="Calibri"/>
                <a:cs typeface="Calibri"/>
              </a:rPr>
              <a:t>suppression</a:t>
            </a:r>
            <a:r>
              <a:rPr lang="en-US" sz="2098" spc="-10" dirty="0">
                <a:solidFill>
                  <a:srgbClr val="383939"/>
                </a:solidFill>
                <a:latin typeface="Calibri"/>
                <a:cs typeface="Calibri"/>
              </a:rPr>
              <a:t> </a:t>
            </a:r>
            <a:r>
              <a:rPr sz="2098" spc="-25" dirty="0">
                <a:solidFill>
                  <a:srgbClr val="363737"/>
                </a:solidFill>
                <a:latin typeface="Calibri"/>
                <a:cs typeface="Calibri"/>
              </a:rPr>
              <a:t>demonstrates</a:t>
            </a:r>
            <a:r>
              <a:rPr sz="2098" spc="5" dirty="0">
                <a:solidFill>
                  <a:srgbClr val="363737"/>
                </a:solidFill>
                <a:latin typeface="Calibri"/>
                <a:cs typeface="Calibri"/>
              </a:rPr>
              <a:t> </a:t>
            </a:r>
            <a:r>
              <a:rPr sz="2098" spc="-20" dirty="0">
                <a:solidFill>
                  <a:srgbClr val="363737"/>
                </a:solidFill>
                <a:latin typeface="Calibri"/>
                <a:cs typeface="Calibri"/>
              </a:rPr>
              <a:t>zero</a:t>
            </a:r>
            <a:r>
              <a:rPr sz="2098" spc="-60" dirty="0">
                <a:solidFill>
                  <a:srgbClr val="363737"/>
                </a:solidFill>
                <a:latin typeface="Calibri"/>
                <a:cs typeface="Calibri"/>
              </a:rPr>
              <a:t> </a:t>
            </a:r>
            <a:r>
              <a:rPr sz="2098" dirty="0">
                <a:solidFill>
                  <a:srgbClr val="363737"/>
                </a:solidFill>
                <a:latin typeface="Calibri"/>
                <a:cs typeface="Calibri"/>
              </a:rPr>
              <a:t>risk</a:t>
            </a:r>
            <a:r>
              <a:rPr sz="2098" spc="-75" dirty="0">
                <a:solidFill>
                  <a:srgbClr val="363737"/>
                </a:solidFill>
                <a:latin typeface="Calibri"/>
                <a:cs typeface="Calibri"/>
              </a:rPr>
              <a:t> </a:t>
            </a:r>
            <a:r>
              <a:rPr sz="2098" dirty="0">
                <a:solidFill>
                  <a:srgbClr val="363737"/>
                </a:solidFill>
                <a:latin typeface="Calibri"/>
                <a:cs typeface="Calibri"/>
              </a:rPr>
              <a:t>of</a:t>
            </a:r>
            <a:r>
              <a:rPr sz="2098" spc="-30" dirty="0">
                <a:solidFill>
                  <a:srgbClr val="363737"/>
                </a:solidFill>
                <a:latin typeface="Calibri"/>
                <a:cs typeface="Calibri"/>
              </a:rPr>
              <a:t> </a:t>
            </a:r>
            <a:r>
              <a:rPr sz="2098" spc="-20" dirty="0">
                <a:solidFill>
                  <a:srgbClr val="363737"/>
                </a:solidFill>
                <a:latin typeface="Calibri"/>
                <a:cs typeface="Calibri"/>
              </a:rPr>
              <a:t>linked</a:t>
            </a:r>
            <a:r>
              <a:rPr sz="2098" spc="-55" dirty="0">
                <a:solidFill>
                  <a:srgbClr val="363737"/>
                </a:solidFill>
                <a:latin typeface="Calibri"/>
                <a:cs typeface="Calibri"/>
              </a:rPr>
              <a:t> </a:t>
            </a:r>
            <a:r>
              <a:rPr sz="2098" dirty="0">
                <a:solidFill>
                  <a:srgbClr val="363737"/>
                </a:solidFill>
                <a:latin typeface="Calibri"/>
                <a:cs typeface="Calibri"/>
              </a:rPr>
              <a:t>H</a:t>
            </a:r>
            <a:r>
              <a:rPr lang="en-US" sz="2098" dirty="0">
                <a:solidFill>
                  <a:srgbClr val="363737"/>
                </a:solidFill>
                <a:latin typeface="Calibri"/>
                <a:cs typeface="Calibri"/>
              </a:rPr>
              <a:t>I</a:t>
            </a:r>
            <a:r>
              <a:rPr sz="2098" dirty="0">
                <a:solidFill>
                  <a:srgbClr val="363737"/>
                </a:solidFill>
                <a:latin typeface="Calibri"/>
                <a:cs typeface="Calibri"/>
              </a:rPr>
              <a:t>V</a:t>
            </a:r>
            <a:r>
              <a:rPr sz="2098" spc="-25" dirty="0">
                <a:solidFill>
                  <a:srgbClr val="363737"/>
                </a:solidFill>
                <a:latin typeface="Calibri"/>
                <a:cs typeface="Calibri"/>
              </a:rPr>
              <a:t> </a:t>
            </a:r>
            <a:r>
              <a:rPr sz="2098" spc="-10" dirty="0">
                <a:solidFill>
                  <a:srgbClr val="363737"/>
                </a:solidFill>
                <a:latin typeface="Calibri"/>
                <a:cs typeface="Calibri"/>
              </a:rPr>
              <a:t>transmission.</a:t>
            </a:r>
            <a:endParaRPr sz="2098" dirty="0">
              <a:latin typeface="Calibri"/>
              <a:cs typeface="Calibri"/>
            </a:endParaRPr>
          </a:p>
        </p:txBody>
      </p:sp>
      <p:sp>
        <p:nvSpPr>
          <p:cNvPr id="16" name="object 16"/>
          <p:cNvSpPr txBox="1">
            <a:spLocks noGrp="1"/>
          </p:cNvSpPr>
          <p:nvPr>
            <p:ph type="title"/>
          </p:nvPr>
        </p:nvSpPr>
        <p:spPr>
          <a:xfrm>
            <a:off x="1524000" y="1042048"/>
            <a:ext cx="9144000" cy="620925"/>
          </a:xfrm>
          <a:prstGeom prst="rect">
            <a:avLst/>
          </a:prstGeom>
        </p:spPr>
        <p:txBody>
          <a:bodyPr vert="horz" wrap="square" lIns="0" tIns="11416" rIns="0" bIns="0" numCol="1" rtlCol="0" anchor="ctr" anchorCtr="0" compatLnSpc="1">
            <a:prstTxWarp prst="textNoShape">
              <a:avLst/>
            </a:prstTxWarp>
            <a:spAutoFit/>
          </a:bodyPr>
          <a:lstStyle/>
          <a:p>
            <a:pPr marL="12685">
              <a:spcBef>
                <a:spcPts val="90"/>
              </a:spcBef>
            </a:pPr>
            <a:r>
              <a:rPr spc="-40" dirty="0">
                <a:solidFill>
                  <a:srgbClr val="3C3C3D"/>
                </a:solidFill>
              </a:rPr>
              <a:t>Treatment</a:t>
            </a:r>
            <a:r>
              <a:rPr spc="-75" dirty="0">
                <a:solidFill>
                  <a:srgbClr val="3C3C3D"/>
                </a:solidFill>
              </a:rPr>
              <a:t> </a:t>
            </a:r>
            <a:r>
              <a:rPr dirty="0">
                <a:solidFill>
                  <a:srgbClr val="3C3C3D"/>
                </a:solidFill>
              </a:rPr>
              <a:t>as</a:t>
            </a:r>
            <a:r>
              <a:rPr spc="-45" dirty="0">
                <a:solidFill>
                  <a:srgbClr val="3C3C3D"/>
                </a:solidFill>
              </a:rPr>
              <a:t> </a:t>
            </a:r>
            <a:r>
              <a:rPr spc="-20" dirty="0">
                <a:solidFill>
                  <a:srgbClr val="3C3C3D"/>
                </a:solidFill>
              </a:rPr>
              <a:t>Prevention</a:t>
            </a:r>
            <a:r>
              <a:rPr spc="-40" dirty="0">
                <a:solidFill>
                  <a:srgbClr val="3C3C3D"/>
                </a:solidFill>
              </a:rPr>
              <a:t> (</a:t>
            </a:r>
            <a:r>
              <a:rPr lang="en-US" spc="-40" dirty="0" err="1">
                <a:solidFill>
                  <a:srgbClr val="3C3C3D"/>
                </a:solidFill>
              </a:rPr>
              <a:t>TasP</a:t>
            </a:r>
            <a:r>
              <a:rPr spc="-40" dirty="0">
                <a:solidFill>
                  <a:srgbClr val="3C3C3D"/>
                </a:solidFill>
              </a:rPr>
              <a:t>)</a:t>
            </a:r>
            <a:endParaRPr dirty="0"/>
          </a:p>
        </p:txBody>
      </p:sp>
      <p:sp>
        <p:nvSpPr>
          <p:cNvPr id="18" name="TextBox 17">
            <a:extLst>
              <a:ext uri="{FF2B5EF4-FFF2-40B4-BE49-F238E27FC236}">
                <a16:creationId xmlns:a16="http://schemas.microsoft.com/office/drawing/2014/main" id="{ED70F747-4DC8-D347-BE7B-9729E9813AD6}"/>
              </a:ext>
            </a:extLst>
          </p:cNvPr>
          <p:cNvSpPr txBox="1"/>
          <p:nvPr/>
        </p:nvSpPr>
        <p:spPr>
          <a:xfrm>
            <a:off x="1540914" y="1822233"/>
            <a:ext cx="9132725" cy="738664"/>
          </a:xfrm>
          <a:prstGeom prst="rect">
            <a:avLst/>
          </a:prstGeom>
          <a:noFill/>
        </p:spPr>
        <p:txBody>
          <a:bodyPr wrap="square" rtlCol="0">
            <a:spAutoFit/>
          </a:bodyPr>
          <a:lstStyle/>
          <a:p>
            <a:pPr algn="ctr"/>
            <a:r>
              <a:rPr lang="en-US" sz="2100" b="1" dirty="0">
                <a:solidFill>
                  <a:srgbClr val="2A2A2A"/>
                </a:solidFill>
                <a:cs typeface="Calibri"/>
              </a:rPr>
              <a:t>Undetectable</a:t>
            </a:r>
            <a:r>
              <a:rPr lang="en-US" sz="2100" b="1" spc="20" dirty="0">
                <a:solidFill>
                  <a:srgbClr val="2A2A2A"/>
                </a:solidFill>
                <a:cs typeface="Calibri"/>
              </a:rPr>
              <a:t> </a:t>
            </a:r>
            <a:r>
              <a:rPr lang="en-US" sz="2100" b="1" dirty="0">
                <a:solidFill>
                  <a:srgbClr val="2A2A2A"/>
                </a:solidFill>
                <a:cs typeface="Calibri"/>
              </a:rPr>
              <a:t>=</a:t>
            </a:r>
            <a:r>
              <a:rPr lang="en-US" sz="2100" b="1" spc="114" dirty="0">
                <a:solidFill>
                  <a:srgbClr val="2A2A2A"/>
                </a:solidFill>
                <a:cs typeface="Calibri"/>
              </a:rPr>
              <a:t> </a:t>
            </a:r>
            <a:r>
              <a:rPr lang="en-US" sz="2100" b="1" dirty="0" err="1">
                <a:solidFill>
                  <a:srgbClr val="2A2A2A"/>
                </a:solidFill>
                <a:cs typeface="Calibri"/>
              </a:rPr>
              <a:t>Untransmittable</a:t>
            </a:r>
            <a:r>
              <a:rPr lang="en-US" sz="2100" b="1" spc="100" dirty="0">
                <a:solidFill>
                  <a:srgbClr val="2A2A2A"/>
                </a:solidFill>
                <a:cs typeface="Calibri"/>
              </a:rPr>
              <a:t> </a:t>
            </a:r>
            <a:r>
              <a:rPr lang="en-US" sz="2100" b="1" spc="-10" dirty="0">
                <a:solidFill>
                  <a:srgbClr val="2A2A2A"/>
                </a:solidFill>
                <a:cs typeface="Calibri"/>
              </a:rPr>
              <a:t>(U=U)</a:t>
            </a:r>
          </a:p>
          <a:p>
            <a:pPr algn="ctr"/>
            <a:endParaRPr lang="en-US" sz="21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0146" y="303212"/>
            <a:ext cx="6858000" cy="857250"/>
          </a:xfrm>
        </p:spPr>
        <p:txBody>
          <a:bodyPr>
            <a:noAutofit/>
          </a:bodyPr>
          <a:lstStyle/>
          <a:p>
            <a:pPr algn="ctr"/>
            <a:r>
              <a:rPr sz="3200" b="1" dirty="0"/>
              <a:t>Prevention of Mother‑to‑Child Transmission (PMTCT</a:t>
            </a:r>
            <a:r>
              <a:rPr sz="3200" dirty="0"/>
              <a:t>)</a:t>
            </a:r>
          </a:p>
        </p:txBody>
      </p:sp>
      <p:sp>
        <p:nvSpPr>
          <p:cNvPr id="3" name="Content Placeholder 2"/>
          <p:cNvSpPr>
            <a:spLocks noGrp="1"/>
          </p:cNvSpPr>
          <p:nvPr>
            <p:ph idx="1"/>
          </p:nvPr>
        </p:nvSpPr>
        <p:spPr>
          <a:xfrm>
            <a:off x="1981200" y="1291976"/>
            <a:ext cx="8229600" cy="4525963"/>
          </a:xfrm>
        </p:spPr>
        <p:txBody>
          <a:bodyPr>
            <a:normAutofit/>
          </a:bodyPr>
          <a:lstStyle/>
          <a:p>
            <a:pPr>
              <a:lnSpc>
                <a:spcPct val="150000"/>
              </a:lnSpc>
            </a:pPr>
            <a:r>
              <a:rPr sz="2400" dirty="0"/>
              <a:t>Transmission may occur during pregnancy, delivery, or breastfeeding</a:t>
            </a:r>
          </a:p>
          <a:p>
            <a:pPr>
              <a:lnSpc>
                <a:spcPct val="150000"/>
              </a:lnSpc>
            </a:pPr>
            <a:r>
              <a:rPr lang="en-US" sz="2400" dirty="0"/>
              <a:t>Strategies</a:t>
            </a:r>
          </a:p>
          <a:p>
            <a:pPr lvl="1">
              <a:lnSpc>
                <a:spcPct val="150000"/>
              </a:lnSpc>
            </a:pPr>
            <a:r>
              <a:rPr dirty="0"/>
              <a:t>Antenatal HIV testing</a:t>
            </a:r>
          </a:p>
          <a:p>
            <a:pPr lvl="1">
              <a:lnSpc>
                <a:spcPct val="150000"/>
              </a:lnSpc>
            </a:pPr>
            <a:r>
              <a:rPr dirty="0"/>
              <a:t>Maternal antiretroviral therapy</a:t>
            </a:r>
          </a:p>
          <a:p>
            <a:pPr lvl="1">
              <a:lnSpc>
                <a:spcPct val="150000"/>
              </a:lnSpc>
            </a:pPr>
            <a:r>
              <a:rPr dirty="0"/>
              <a:t>Infant prophylaxis and early diagnosis</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shield&#10;&#10;AI-generated content may be incorrect.">
            <a:extLst>
              <a:ext uri="{FF2B5EF4-FFF2-40B4-BE49-F238E27FC236}">
                <a16:creationId xmlns:a16="http://schemas.microsoft.com/office/drawing/2014/main" id="{B15AE8BC-759E-E69E-8263-75AD447AB341}"/>
              </a:ext>
            </a:extLst>
          </p:cNvPr>
          <p:cNvPicPr>
            <a:picLocks noGrp="1" noChangeAspect="1"/>
          </p:cNvPicPr>
          <p:nvPr>
            <p:ph idx="1"/>
          </p:nvPr>
        </p:nvPicPr>
        <p:blipFill>
          <a:blip r:embed="rId2"/>
          <a:stretch>
            <a:fillRect/>
          </a:stretch>
        </p:blipFill>
        <p:spPr>
          <a:xfrm>
            <a:off x="1524000" y="857250"/>
            <a:ext cx="9144000" cy="5143500"/>
          </a:xfrm>
          <a:prstGeom prst="rect">
            <a:avLst/>
          </a:prstGeom>
        </p:spPr>
      </p:pic>
    </p:spTree>
    <p:extLst>
      <p:ext uri="{BB962C8B-B14F-4D97-AF65-F5344CB8AC3E}">
        <p14:creationId xmlns:p14="http://schemas.microsoft.com/office/powerpoint/2010/main" val="6746527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A540C-6462-081F-4313-66C11B5E7B9A}"/>
              </a:ext>
            </a:extLst>
          </p:cNvPr>
          <p:cNvSpPr>
            <a:spLocks noGrp="1"/>
          </p:cNvSpPr>
          <p:nvPr>
            <p:ph type="title"/>
          </p:nvPr>
        </p:nvSpPr>
        <p:spPr>
          <a:xfrm>
            <a:off x="838200" y="365125"/>
            <a:ext cx="10515600" cy="1057275"/>
          </a:xfrm>
        </p:spPr>
        <p:txBody>
          <a:bodyPr/>
          <a:lstStyle/>
          <a:p>
            <a:r>
              <a:rPr lang="en-US" b="1" dirty="0">
                <a:latin typeface="+mn-lt"/>
              </a:rPr>
              <a:t>TB &amp; HIV CO-INFECTION</a:t>
            </a:r>
          </a:p>
        </p:txBody>
      </p:sp>
      <p:sp>
        <p:nvSpPr>
          <p:cNvPr id="4" name="Rectangle 1">
            <a:extLst>
              <a:ext uri="{FF2B5EF4-FFF2-40B4-BE49-F238E27FC236}">
                <a16:creationId xmlns:a16="http://schemas.microsoft.com/office/drawing/2014/main" id="{87D4FE90-430F-9976-4CEA-ADE55B46B77A}"/>
              </a:ext>
            </a:extLst>
          </p:cNvPr>
          <p:cNvSpPr>
            <a:spLocks noGrp="1" noChangeArrowheads="1"/>
          </p:cNvSpPr>
          <p:nvPr>
            <p:ph idx="1"/>
          </p:nvPr>
        </p:nvSpPr>
        <p:spPr bwMode="auto">
          <a:xfrm>
            <a:off x="736600" y="1805698"/>
            <a:ext cx="1127289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HIV fuels the TB epidemic worldwide.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High prevalence of HIV among TB patients.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In Tanzania, </a:t>
            </a:r>
            <a:r>
              <a:rPr kumimoji="0" lang="en-US" altLang="en-US" b="1" i="0" u="none" strike="noStrike" cap="none" normalizeH="0" baseline="0" dirty="0">
                <a:ln>
                  <a:noFill/>
                </a:ln>
                <a:solidFill>
                  <a:schemeClr val="tx1"/>
                </a:solidFill>
                <a:effectLst/>
              </a:rPr>
              <a:t>~50% of TB patients are co‑infected with HIV</a:t>
            </a:r>
            <a:r>
              <a:rPr kumimoji="0" lang="en-US" altLang="en-US" b="0" i="0" u="none" strike="noStrike" cap="none" normalizeH="0" baseline="0" dirty="0">
                <a:ln>
                  <a:noFill/>
                </a:ln>
                <a:solidFill>
                  <a:schemeClr val="tx1"/>
                </a:solidFill>
                <a:effectLst/>
              </a:rPr>
              <a:t> (NTLP estimate).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Among PLHIV, </a:t>
            </a:r>
            <a:r>
              <a:rPr kumimoji="0" lang="en-US" altLang="en-US" b="1" i="0" u="none" strike="noStrike" cap="none" normalizeH="0" baseline="0" dirty="0">
                <a:ln>
                  <a:noFill/>
                </a:ln>
                <a:solidFill>
                  <a:schemeClr val="tx1"/>
                </a:solidFill>
                <a:effectLst/>
              </a:rPr>
              <a:t>5–10% develop TB</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TB is the </a:t>
            </a:r>
            <a:r>
              <a:rPr kumimoji="0" lang="en-US" altLang="en-US" b="1" i="0" u="none" strike="noStrike" cap="none" normalizeH="0" baseline="0" dirty="0">
                <a:ln>
                  <a:noFill/>
                </a:ln>
                <a:solidFill>
                  <a:schemeClr val="tx1"/>
                </a:solidFill>
                <a:effectLst/>
              </a:rPr>
              <a:t>leading cause of death</a:t>
            </a:r>
            <a:r>
              <a:rPr kumimoji="0" lang="en-US" altLang="en-US" b="0" i="0" u="none" strike="noStrike" cap="none" normalizeH="0" baseline="0" dirty="0">
                <a:ln>
                  <a:noFill/>
                </a:ln>
                <a:solidFill>
                  <a:schemeClr val="tx1"/>
                </a:solidFill>
                <a:effectLst/>
              </a:rPr>
              <a:t> in people living with HIV</a:t>
            </a:r>
          </a:p>
        </p:txBody>
      </p:sp>
    </p:spTree>
    <p:extLst>
      <p:ext uri="{BB962C8B-B14F-4D97-AF65-F5344CB8AC3E}">
        <p14:creationId xmlns:p14="http://schemas.microsoft.com/office/powerpoint/2010/main" val="409227614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71234-EFE4-5AC7-A5ED-2122CCB7A233}"/>
              </a:ext>
            </a:extLst>
          </p:cNvPr>
          <p:cNvSpPr>
            <a:spLocks noGrp="1"/>
          </p:cNvSpPr>
          <p:nvPr>
            <p:ph type="title"/>
          </p:nvPr>
        </p:nvSpPr>
        <p:spPr>
          <a:xfrm>
            <a:off x="838200" y="365126"/>
            <a:ext cx="10515600" cy="992620"/>
          </a:xfrm>
        </p:spPr>
        <p:txBody>
          <a:bodyPr>
            <a:normAutofit fontScale="90000"/>
          </a:bodyPr>
          <a:lstStyle/>
          <a:p>
            <a:r>
              <a:rPr lang="en-US" b="1" dirty="0">
                <a:latin typeface="+mn-lt"/>
              </a:rPr>
              <a:t>TB/HIV Interaction</a:t>
            </a:r>
            <a:br>
              <a:rPr lang="en-US" dirty="0"/>
            </a:br>
            <a:endParaRPr lang="en-US" dirty="0"/>
          </a:p>
        </p:txBody>
      </p:sp>
      <p:sp>
        <p:nvSpPr>
          <p:cNvPr id="3" name="Content Placeholder 2">
            <a:extLst>
              <a:ext uri="{FF2B5EF4-FFF2-40B4-BE49-F238E27FC236}">
                <a16:creationId xmlns:a16="http://schemas.microsoft.com/office/drawing/2014/main" id="{F68D227D-6105-52CF-1CAE-80AC9E0F9F41}"/>
              </a:ext>
            </a:extLst>
          </p:cNvPr>
          <p:cNvSpPr>
            <a:spLocks noGrp="1"/>
          </p:cNvSpPr>
          <p:nvPr>
            <p:ph idx="1"/>
          </p:nvPr>
        </p:nvSpPr>
        <p:spPr>
          <a:xfrm>
            <a:off x="838200" y="1511588"/>
            <a:ext cx="10515600" cy="4351338"/>
          </a:xfrm>
        </p:spPr>
        <p:txBody>
          <a:bodyPr>
            <a:normAutofit/>
          </a:bodyPr>
          <a:lstStyle/>
          <a:p>
            <a:pPr marL="0" indent="0">
              <a:buNone/>
            </a:pPr>
            <a:r>
              <a:rPr lang="en-US" b="1" dirty="0"/>
              <a:t>Impact of HIV on TB:</a:t>
            </a:r>
            <a:endParaRPr lang="en-US" dirty="0"/>
          </a:p>
          <a:p>
            <a:pPr lvl="0"/>
            <a:r>
              <a:rPr lang="en-US" dirty="0"/>
              <a:t>HIV is the strongest known risk factor for developing TB.</a:t>
            </a:r>
          </a:p>
          <a:p>
            <a:pPr lvl="0"/>
            <a:r>
              <a:rPr lang="en-US" dirty="0"/>
              <a:t>HIV accelerates progression from latent TB infection to active TB.</a:t>
            </a:r>
          </a:p>
          <a:p>
            <a:pPr lvl="0"/>
            <a:r>
              <a:rPr lang="en-US" dirty="0"/>
              <a:t>HIV increases the risk of recurrent TB after previous treatment.</a:t>
            </a:r>
          </a:p>
          <a:p>
            <a:pPr lvl="0"/>
            <a:r>
              <a:rPr lang="en-US" dirty="0"/>
              <a:t>HIV weakens immune responses (especially CD4⁺ T cells), making TB harder to control.</a:t>
            </a:r>
          </a:p>
          <a:p>
            <a:pPr lvl="0"/>
            <a:r>
              <a:rPr lang="en-US" dirty="0"/>
              <a:t>HIV can alter TB presentation, leading to atypical or extrapulmonary TB.</a:t>
            </a:r>
          </a:p>
          <a:p>
            <a:endParaRPr lang="en-US" dirty="0"/>
          </a:p>
        </p:txBody>
      </p:sp>
    </p:spTree>
    <p:extLst>
      <p:ext uri="{BB962C8B-B14F-4D97-AF65-F5344CB8AC3E}">
        <p14:creationId xmlns:p14="http://schemas.microsoft.com/office/powerpoint/2010/main" val="110640451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B66ED-1869-F4AF-4497-4498760F31D8}"/>
              </a:ext>
            </a:extLst>
          </p:cNvPr>
          <p:cNvSpPr>
            <a:spLocks noGrp="1"/>
          </p:cNvSpPr>
          <p:nvPr>
            <p:ph type="title"/>
          </p:nvPr>
        </p:nvSpPr>
        <p:spPr>
          <a:xfrm>
            <a:off x="838200" y="277091"/>
            <a:ext cx="10975110" cy="807892"/>
          </a:xfrm>
        </p:spPr>
        <p:txBody>
          <a:bodyPr>
            <a:normAutofit fontScale="90000"/>
          </a:bodyPr>
          <a:lstStyle/>
          <a:p>
            <a:r>
              <a:rPr lang="en-US" b="1" dirty="0">
                <a:latin typeface="+mn-lt"/>
              </a:rPr>
              <a:t>Impact of TB on HIV</a:t>
            </a:r>
            <a:br>
              <a:rPr lang="en-US" dirty="0"/>
            </a:br>
            <a:endParaRPr lang="en-US" dirty="0"/>
          </a:p>
        </p:txBody>
      </p:sp>
      <p:sp>
        <p:nvSpPr>
          <p:cNvPr id="3" name="Content Placeholder 2">
            <a:extLst>
              <a:ext uri="{FF2B5EF4-FFF2-40B4-BE49-F238E27FC236}">
                <a16:creationId xmlns:a16="http://schemas.microsoft.com/office/drawing/2014/main" id="{33211FEE-FAD9-5031-B34A-20CE5394E24D}"/>
              </a:ext>
            </a:extLst>
          </p:cNvPr>
          <p:cNvSpPr>
            <a:spLocks noGrp="1"/>
          </p:cNvSpPr>
          <p:nvPr>
            <p:ph idx="1"/>
          </p:nvPr>
        </p:nvSpPr>
        <p:spPr>
          <a:xfrm>
            <a:off x="838200" y="1084982"/>
            <a:ext cx="10515600" cy="5306581"/>
          </a:xfrm>
        </p:spPr>
        <p:txBody>
          <a:bodyPr>
            <a:normAutofit fontScale="85000" lnSpcReduction="10000"/>
          </a:bodyPr>
          <a:lstStyle/>
          <a:p>
            <a:pPr lvl="0"/>
            <a:r>
              <a:rPr lang="en-US" dirty="0"/>
              <a:t>TB is the most common opportunistic infection in people living with HIV (PLHIV).</a:t>
            </a:r>
          </a:p>
          <a:p>
            <a:pPr lvl="0"/>
            <a:r>
              <a:rPr lang="en-US" dirty="0"/>
              <a:t>TB infection accelerates HIV disease progression by increasing viral replication and immune activation.</a:t>
            </a:r>
          </a:p>
          <a:p>
            <a:pPr lvl="0"/>
            <a:r>
              <a:rPr lang="en-US" dirty="0"/>
              <a:t>TB is a leading cause of death among PLHIV globally.</a:t>
            </a:r>
          </a:p>
          <a:p>
            <a:pPr lvl="0"/>
            <a:r>
              <a:rPr lang="en-US" dirty="0"/>
              <a:t>TB treatment can interact with ART, complicating management (e.g., rifampicin reduces levels of some antiretroviral drugs).</a:t>
            </a:r>
          </a:p>
          <a:p>
            <a:pPr lvl="0"/>
            <a:r>
              <a:rPr lang="en-US" dirty="0"/>
              <a:t>Co-infection increases risk of immune reconstitution inflammatory syndrome (IRIS) when ART is initiated.</a:t>
            </a:r>
          </a:p>
          <a:p>
            <a:pPr marL="0" lvl="0" indent="0">
              <a:buNone/>
            </a:pPr>
            <a:endParaRPr lang="en-US" dirty="0"/>
          </a:p>
          <a:p>
            <a:pPr marL="0" indent="0">
              <a:buNone/>
            </a:pPr>
            <a:r>
              <a:rPr lang="en-US" b="1" dirty="0"/>
              <a:t>Key Points for Clinical Practice:</a:t>
            </a:r>
            <a:endParaRPr lang="en-US" dirty="0"/>
          </a:p>
          <a:p>
            <a:pPr lvl="0"/>
            <a:r>
              <a:rPr lang="en-US" dirty="0"/>
              <a:t>Early TB screening in PLHIV is critical.</a:t>
            </a:r>
          </a:p>
          <a:p>
            <a:pPr lvl="0"/>
            <a:r>
              <a:rPr lang="en-US" dirty="0"/>
              <a:t>ART initiation improves TB outcomes and reduces TB incidence in HIV patients.</a:t>
            </a:r>
          </a:p>
          <a:p>
            <a:pPr lvl="0"/>
            <a:r>
              <a:rPr lang="en-US" dirty="0"/>
              <a:t>Integrated TB/HIV care improves survival and reduces morbidity.</a:t>
            </a:r>
          </a:p>
          <a:p>
            <a:pPr marL="0" indent="0">
              <a:buNone/>
            </a:pPr>
            <a:endParaRPr lang="en-US" dirty="0"/>
          </a:p>
          <a:p>
            <a:endParaRPr lang="en-US" dirty="0"/>
          </a:p>
        </p:txBody>
      </p:sp>
    </p:spTree>
    <p:extLst>
      <p:ext uri="{BB962C8B-B14F-4D97-AF65-F5344CB8AC3E}">
        <p14:creationId xmlns:p14="http://schemas.microsoft.com/office/powerpoint/2010/main" val="120621124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EACD2-B8E9-7C14-E8BB-B5D9E5F802F5}"/>
              </a:ext>
            </a:extLst>
          </p:cNvPr>
          <p:cNvSpPr>
            <a:spLocks noGrp="1"/>
          </p:cNvSpPr>
          <p:nvPr>
            <p:ph type="title"/>
          </p:nvPr>
        </p:nvSpPr>
        <p:spPr/>
        <p:txBody>
          <a:bodyPr/>
          <a:lstStyle/>
          <a:p>
            <a:r>
              <a:rPr lang="en-US" dirty="0"/>
              <a:t>TPT</a:t>
            </a:r>
          </a:p>
        </p:txBody>
      </p:sp>
      <p:sp>
        <p:nvSpPr>
          <p:cNvPr id="6" name="TextBox 5">
            <a:extLst>
              <a:ext uri="{FF2B5EF4-FFF2-40B4-BE49-F238E27FC236}">
                <a16:creationId xmlns:a16="http://schemas.microsoft.com/office/drawing/2014/main" id="{80C3251F-882E-4A57-9C3D-7FF936E0A4CA}"/>
              </a:ext>
            </a:extLst>
          </p:cNvPr>
          <p:cNvSpPr txBox="1"/>
          <p:nvPr/>
        </p:nvSpPr>
        <p:spPr>
          <a:xfrm>
            <a:off x="838200" y="1690062"/>
            <a:ext cx="10515600" cy="5016758"/>
          </a:xfrm>
          <a:prstGeom prst="rect">
            <a:avLst/>
          </a:prstGeom>
          <a:noFill/>
        </p:spPr>
        <p:txBody>
          <a:bodyPr wrap="square" rtlCol="0">
            <a:spAutoFit/>
          </a:bodyPr>
          <a:lstStyle/>
          <a:p>
            <a:pPr marL="342900" lvl="0" indent="-342900" eaLnBrk="0" fontAlgn="base" hangingPunct="0">
              <a:spcBef>
                <a:spcPct val="0"/>
              </a:spcBef>
              <a:spcAft>
                <a:spcPct val="0"/>
              </a:spcAft>
              <a:buFont typeface="Arial" panose="020B0604020202020204" pitchFamily="34" charset="0"/>
              <a:buChar char="•"/>
            </a:pPr>
            <a:endParaRPr lang="en-US" altLang="en-US" sz="2000" dirty="0">
              <a:latin typeface="Calibri" panose="020F0502020204030204" pitchFamily="34" charset="0"/>
              <a:cs typeface="Calibri" panose="020F0502020204030204" pitchFamily="34"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Calibri" panose="020F0502020204030204" pitchFamily="34" charset="0"/>
                <a:cs typeface="Calibri" panose="020F0502020204030204" pitchFamily="34" charset="0"/>
              </a:rPr>
              <a:t>For adults and adolescents living with HIV, three months of weekly isoniazid and rifapentine (3HP) is the suggested preferred shorter-course regimen.</a:t>
            </a:r>
          </a:p>
          <a:p>
            <a:pPr marL="342900" lvl="0" indent="-342900" eaLnBrk="0" fontAlgn="base" hangingPunct="0">
              <a:spcBef>
                <a:spcPct val="0"/>
              </a:spcBef>
              <a:spcAft>
                <a:spcPct val="0"/>
              </a:spcAft>
              <a:buFont typeface="Arial" panose="020B0604020202020204" pitchFamily="34" charset="0"/>
              <a:buChar char="•"/>
            </a:pPr>
            <a:endParaRPr lang="en-US" altLang="en-US" sz="2000" dirty="0">
              <a:latin typeface="Calibri" panose="020F0502020204030204" pitchFamily="34" charset="0"/>
              <a:cs typeface="Calibri" panose="020F0502020204030204" pitchFamily="34"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Calibri" panose="020F0502020204030204" pitchFamily="34" charset="0"/>
                <a:cs typeface="Calibri" panose="020F0502020204030204" pitchFamily="34" charset="0"/>
              </a:rPr>
              <a:t>Six or nine months of daily isoniazid (6H/9H) remain effective alternative options, though they are associated with lower completion rates and higher toxicity.</a:t>
            </a:r>
          </a:p>
          <a:p>
            <a:pPr marL="342900" lvl="0" indent="-342900" eaLnBrk="0" fontAlgn="base" hangingPunct="0">
              <a:spcBef>
                <a:spcPct val="0"/>
              </a:spcBef>
              <a:spcAft>
                <a:spcPct val="0"/>
              </a:spcAft>
              <a:buFont typeface="Arial" panose="020B0604020202020204" pitchFamily="34" charset="0"/>
              <a:buChar char="•"/>
            </a:pPr>
            <a:endParaRPr lang="en-US" altLang="en-US" sz="2000" dirty="0">
              <a:latin typeface="Calibri" panose="020F0502020204030204" pitchFamily="34" charset="0"/>
              <a:cs typeface="Calibri" panose="020F0502020204030204" pitchFamily="34"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Calibri" panose="020F0502020204030204" pitchFamily="34" charset="0"/>
                <a:cs typeface="Calibri" panose="020F0502020204030204" pitchFamily="34" charset="0"/>
              </a:rPr>
              <a:t>Other WHO-recommended options include 1HP (one month of daily isoniazid and rifapentine), 3HR (three months of daily isoniazid and rifampicin), and 4R (four months of daily rifampicin) based on programmatic needs or clinical contraindications.</a:t>
            </a:r>
          </a:p>
          <a:p>
            <a:pPr marL="342900" lvl="0" indent="-342900" eaLnBrk="0" fontAlgn="base" hangingPunct="0">
              <a:spcBef>
                <a:spcPct val="0"/>
              </a:spcBef>
              <a:spcAft>
                <a:spcPct val="0"/>
              </a:spcAft>
              <a:buFont typeface="Arial" panose="020B0604020202020204" pitchFamily="34" charset="0"/>
              <a:buChar char="•"/>
            </a:pPr>
            <a:endParaRPr lang="en-US" altLang="en-US" sz="2000" dirty="0">
              <a:latin typeface="Calibri" panose="020F0502020204030204" pitchFamily="34" charset="0"/>
              <a:cs typeface="Calibri" panose="020F0502020204030204" pitchFamily="34" charset="0"/>
            </a:endParaRPr>
          </a:p>
          <a:p>
            <a:pPr marL="342900" indent="-342900" eaLnBrk="0" fontAlgn="base" hangingPunct="0">
              <a:spcBef>
                <a:spcPct val="0"/>
              </a:spcBef>
              <a:spcAft>
                <a:spcPct val="0"/>
              </a:spcAft>
              <a:buFont typeface="Arial" panose="020B0604020202020204" pitchFamily="34" charset="0"/>
              <a:buChar char="•"/>
            </a:pPr>
            <a:r>
              <a:rPr lang="en-US" altLang="en-US" sz="2000" dirty="0">
                <a:latin typeface="Calibri" panose="020F0502020204030204" pitchFamily="34" charset="0"/>
                <a:cs typeface="Calibri" panose="020F0502020204030204" pitchFamily="34" charset="0"/>
              </a:rPr>
              <a:t>The 3HP regimen is compatible with once-daily DTG without requiring dose adjustments, which simplifies its implementation</a:t>
            </a:r>
          </a:p>
          <a:p>
            <a:pPr marL="342900" indent="-342900" eaLnBrk="0" fontAlgn="base" hangingPunct="0">
              <a:spcBef>
                <a:spcPct val="0"/>
              </a:spcBef>
              <a:spcAft>
                <a:spcPct val="0"/>
              </a:spcAft>
              <a:buFont typeface="Arial" panose="020B0604020202020204" pitchFamily="34" charset="0"/>
              <a:buChar char="•"/>
            </a:pPr>
            <a:endParaRPr lang="en-US" altLang="en-US" sz="2000" dirty="0">
              <a:latin typeface="Calibri" panose="020F0502020204030204" pitchFamily="34" charset="0"/>
              <a:cs typeface="Calibri" panose="020F0502020204030204" pitchFamily="34" charset="0"/>
            </a:endParaRPr>
          </a:p>
          <a:p>
            <a:pPr marL="342900" indent="-342900" eaLnBrk="0" fontAlgn="base" hangingPunct="0">
              <a:spcBef>
                <a:spcPct val="0"/>
              </a:spcBef>
              <a:spcAft>
                <a:spcPct val="0"/>
              </a:spcAft>
              <a:buFont typeface="Arial" panose="020B0604020202020204" pitchFamily="34" charset="0"/>
              <a:buChar char="•"/>
            </a:pPr>
            <a:r>
              <a:rPr lang="en-US" sz="2000" dirty="0">
                <a:latin typeface="Calibri" panose="020F0502020204030204" pitchFamily="34" charset="0"/>
                <a:cs typeface="Calibri" panose="020F0502020204030204" pitchFamily="34" charset="0"/>
              </a:rPr>
              <a:t>Regimens containing rifampicin (such as 3HR) and 1HP require doubling the DTG dose to 50 mg twice daily</a:t>
            </a:r>
            <a:endParaRPr lang="en-US" alt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675930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4224"/>
          </a:xfrm>
        </p:spPr>
        <p:txBody>
          <a:bodyPr/>
          <a:lstStyle/>
          <a:p>
            <a:r>
              <a:rPr lang="en-US" dirty="0"/>
              <a:t>Metabolic Health Risk with Modern ART</a:t>
            </a:r>
          </a:p>
        </p:txBody>
      </p:sp>
      <p:sp>
        <p:nvSpPr>
          <p:cNvPr id="3" name="Content Placeholder 2"/>
          <p:cNvSpPr>
            <a:spLocks noGrp="1"/>
          </p:cNvSpPr>
          <p:nvPr>
            <p:ph idx="1"/>
          </p:nvPr>
        </p:nvSpPr>
        <p:spPr>
          <a:xfrm>
            <a:off x="838200" y="1319351"/>
            <a:ext cx="10515600" cy="4857612"/>
          </a:xfrm>
        </p:spPr>
        <p:txBody>
          <a:bodyPr>
            <a:normAutofit fontScale="92500" lnSpcReduction="10000"/>
          </a:bodyPr>
          <a:lstStyle/>
          <a:p>
            <a:pPr eaLnBrk="0" fontAlgn="base" hangingPunct="0">
              <a:lnSpc>
                <a:spcPct val="100000"/>
              </a:lnSpc>
              <a:spcBef>
                <a:spcPct val="0"/>
              </a:spcBef>
              <a:spcAft>
                <a:spcPct val="0"/>
              </a:spcAft>
            </a:pPr>
            <a:endParaRPr lang="en-US" altLang="en-US" sz="2000" dirty="0"/>
          </a:p>
          <a:p>
            <a:pPr eaLnBrk="0" fontAlgn="base" hangingPunct="0">
              <a:lnSpc>
                <a:spcPct val="100000"/>
              </a:lnSpc>
              <a:spcBef>
                <a:spcPct val="0"/>
              </a:spcBef>
              <a:spcAft>
                <a:spcPct val="0"/>
              </a:spcAft>
            </a:pPr>
            <a:r>
              <a:rPr lang="en-US" altLang="en-US" sz="2000" dirty="0"/>
              <a:t>There is a significant association between body weight gain and the use of </a:t>
            </a:r>
            <a:r>
              <a:rPr lang="en-US" altLang="en-US" sz="2000" b="1" dirty="0"/>
              <a:t>Integrase Strand Transfer Inhibitors (INSTIs)</a:t>
            </a:r>
            <a:r>
              <a:rPr lang="en-US" altLang="en-US" sz="2000" dirty="0"/>
              <a:t>, particularly </a:t>
            </a:r>
            <a:r>
              <a:rPr lang="en-US" altLang="en-US" sz="2000" b="1" dirty="0"/>
              <a:t>dolutegravir (DTG)</a:t>
            </a:r>
            <a:r>
              <a:rPr lang="en-US" altLang="en-US" sz="2000" dirty="0"/>
              <a:t>, and </a:t>
            </a:r>
            <a:r>
              <a:rPr lang="en-US" altLang="en-US" sz="2000" b="1" dirty="0"/>
              <a:t>Tenofovir Alafenamide (TAF)</a:t>
            </a:r>
            <a:r>
              <a:rPr lang="en-US" altLang="en-US" sz="2000" dirty="0"/>
              <a:t>.</a:t>
            </a:r>
          </a:p>
          <a:p>
            <a:pPr marL="0" lvl="0" indent="0" eaLnBrk="0" fontAlgn="base" hangingPunct="0">
              <a:lnSpc>
                <a:spcPct val="100000"/>
              </a:lnSpc>
              <a:spcBef>
                <a:spcPct val="0"/>
              </a:spcBef>
              <a:spcAft>
                <a:spcPct val="0"/>
              </a:spcAft>
              <a:buFontTx/>
              <a:buChar char="•"/>
            </a:pPr>
            <a:endParaRPr lang="en-US" altLang="en-US" sz="2000" dirty="0"/>
          </a:p>
          <a:p>
            <a:pPr eaLnBrk="0" fontAlgn="base" hangingPunct="0">
              <a:lnSpc>
                <a:spcPct val="100000"/>
              </a:lnSpc>
              <a:spcBef>
                <a:spcPct val="0"/>
              </a:spcBef>
              <a:spcAft>
                <a:spcPct val="0"/>
              </a:spcAft>
            </a:pPr>
            <a:r>
              <a:rPr lang="en-US" altLang="en-US" sz="2000" dirty="0"/>
              <a:t>Boosted </a:t>
            </a:r>
            <a:r>
              <a:rPr lang="en-US" altLang="en-US" sz="2000" b="1" dirty="0"/>
              <a:t>Protease Inhibitors (PIs)</a:t>
            </a:r>
            <a:r>
              <a:rPr lang="en-US" altLang="en-US" sz="2000" dirty="0"/>
              <a:t> and TAF are linked to an increased risk of dyslipidemia, requiring careful management in patients with existing cardiovascular risk factors.</a:t>
            </a:r>
          </a:p>
          <a:p>
            <a:pPr eaLnBrk="0" fontAlgn="base" hangingPunct="0">
              <a:lnSpc>
                <a:spcPct val="100000"/>
              </a:lnSpc>
              <a:spcBef>
                <a:spcPct val="0"/>
              </a:spcBef>
              <a:spcAft>
                <a:spcPct val="0"/>
              </a:spcAft>
            </a:pPr>
            <a:endParaRPr lang="en-US" altLang="en-US" sz="2000" dirty="0"/>
          </a:p>
          <a:p>
            <a:pPr eaLnBrk="0" fontAlgn="base" hangingPunct="0">
              <a:lnSpc>
                <a:spcPct val="100000"/>
              </a:lnSpc>
              <a:spcBef>
                <a:spcPct val="0"/>
              </a:spcBef>
              <a:spcAft>
                <a:spcPct val="0"/>
              </a:spcAft>
            </a:pPr>
            <a:r>
              <a:rPr lang="en-US" altLang="en-US" sz="2000" dirty="0"/>
              <a:t>Physicians should regularly monitor </a:t>
            </a:r>
            <a:r>
              <a:rPr lang="en-US" altLang="en-US" sz="2000" b="1" dirty="0"/>
              <a:t>weight, BMI, blood pressure, glucose, and lipids</a:t>
            </a:r>
            <a:r>
              <a:rPr lang="en-US" altLang="en-US" sz="2000" dirty="0"/>
              <a:t> to evaluate the metabolic consequences of these ART regimens</a:t>
            </a:r>
          </a:p>
          <a:p>
            <a:pPr eaLnBrk="0" fontAlgn="base" hangingPunct="0">
              <a:lnSpc>
                <a:spcPct val="100000"/>
              </a:lnSpc>
              <a:spcBef>
                <a:spcPct val="0"/>
              </a:spcBef>
              <a:spcAft>
                <a:spcPct val="0"/>
              </a:spcAft>
            </a:pPr>
            <a:endParaRPr lang="en-US" altLang="en-US" sz="2000" dirty="0"/>
          </a:p>
          <a:p>
            <a:r>
              <a:rPr lang="en-US" sz="2000" dirty="0"/>
              <a:t>WHO Guideline updates suggests:</a:t>
            </a:r>
          </a:p>
          <a:p>
            <a:pPr lvl="1"/>
            <a:r>
              <a:rPr lang="en-US" sz="1600" b="1" dirty="0"/>
              <a:t>All PLHIV ≥40 years → consider statin</a:t>
            </a:r>
            <a:r>
              <a:rPr lang="en-US" sz="1600" dirty="0"/>
              <a:t>, even with low risk</a:t>
            </a:r>
          </a:p>
          <a:p>
            <a:pPr lvl="1"/>
            <a:r>
              <a:rPr lang="en-US" sz="1600" dirty="0"/>
              <a:t>Prioritize those with </a:t>
            </a:r>
            <a:r>
              <a:rPr lang="en-US" sz="1600" b="1" dirty="0"/>
              <a:t>≥5% risk</a:t>
            </a:r>
            <a:r>
              <a:rPr lang="en-US" sz="1600" dirty="0"/>
              <a:t>  </a:t>
            </a:r>
          </a:p>
          <a:p>
            <a:pPr lvl="1"/>
            <a:endParaRPr lang="en-US" sz="1600" dirty="0"/>
          </a:p>
          <a:p>
            <a:r>
              <a:rPr lang="en-US" sz="2000" dirty="0"/>
              <a:t>This reflects:</a:t>
            </a:r>
          </a:p>
          <a:p>
            <a:pPr lvl="1"/>
            <a:r>
              <a:rPr lang="en-US" sz="1600" dirty="0"/>
              <a:t>HIV itself increases CVD risk (~2× higher)</a:t>
            </a:r>
          </a:p>
          <a:p>
            <a:pPr lvl="1"/>
            <a:r>
              <a:rPr lang="en-US" sz="1600" dirty="0"/>
              <a:t>Traditional calculators </a:t>
            </a:r>
            <a:r>
              <a:rPr lang="en-US" sz="1600" b="1" dirty="0"/>
              <a:t>underestimate risk in PLH</a:t>
            </a:r>
            <a:endParaRPr lang="en-US" sz="1600" dirty="0"/>
          </a:p>
          <a:p>
            <a:pPr eaLnBrk="0" fontAlgn="base" hangingPunct="0">
              <a:lnSpc>
                <a:spcPct val="100000"/>
              </a:lnSpc>
              <a:spcBef>
                <a:spcPct val="0"/>
              </a:spcBef>
              <a:spcAft>
                <a:spcPct val="0"/>
              </a:spcAft>
            </a:pPr>
            <a:endParaRPr lang="en-US" altLang="en-US" sz="2000" dirty="0"/>
          </a:p>
          <a:p>
            <a:pPr marL="0" indent="0" eaLnBrk="0" fontAlgn="base" hangingPunct="0">
              <a:lnSpc>
                <a:spcPct val="100000"/>
              </a:lnSpc>
              <a:spcBef>
                <a:spcPct val="0"/>
              </a:spcBef>
              <a:spcAft>
                <a:spcPct val="0"/>
              </a:spcAft>
              <a:buNone/>
            </a:pPr>
            <a:endParaRPr lang="en-US" altLang="en-US" sz="2000" dirty="0"/>
          </a:p>
        </p:txBody>
      </p:sp>
      <p:sp>
        <p:nvSpPr>
          <p:cNvPr id="6" name="TextBox 5">
            <a:extLst>
              <a:ext uri="{FF2B5EF4-FFF2-40B4-BE49-F238E27FC236}">
                <a16:creationId xmlns:a16="http://schemas.microsoft.com/office/drawing/2014/main" id="{55991E57-567D-F334-B67B-A958BD1FEFE1}"/>
              </a:ext>
            </a:extLst>
          </p:cNvPr>
          <p:cNvSpPr txBox="1"/>
          <p:nvPr/>
        </p:nvSpPr>
        <p:spPr>
          <a:xfrm>
            <a:off x="731520" y="6211669"/>
            <a:ext cx="10622280" cy="461665"/>
          </a:xfrm>
          <a:prstGeom prst="rect">
            <a:avLst/>
          </a:prstGeom>
          <a:noFill/>
        </p:spPr>
        <p:txBody>
          <a:bodyPr wrap="square" rtlCol="0">
            <a:spAutoFit/>
          </a:bodyPr>
          <a:lstStyle/>
          <a:p>
            <a:r>
              <a:rPr lang="en-US" sz="1200" i="1" dirty="0">
                <a:latin typeface="Calibri" panose="020F0502020204030204" pitchFamily="34" charset="0"/>
                <a:cs typeface="Calibri" panose="020F0502020204030204" pitchFamily="34" charset="0"/>
              </a:rPr>
              <a:t>The REPRIEVE study found that a daily statins reduces the risk of major adverse cardiovascular events(MACE) by 35% in PLHIV with low to moderate traditional risk score.</a:t>
            </a:r>
          </a:p>
          <a:p>
            <a:endParaRPr lang="en-US" sz="1200"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9834358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01831-B60D-B02A-61B2-EB0F9F57BBF9}"/>
              </a:ext>
            </a:extLst>
          </p:cNvPr>
          <p:cNvSpPr>
            <a:spLocks noGrp="1"/>
          </p:cNvSpPr>
          <p:nvPr>
            <p:ph type="title"/>
          </p:nvPr>
        </p:nvSpPr>
        <p:spPr/>
        <p:txBody>
          <a:bodyPr/>
          <a:lstStyle/>
          <a:p>
            <a:r>
              <a:rPr lang="en-US" dirty="0"/>
              <a:t>When to Start Statins in PLHIV </a:t>
            </a:r>
            <a:r>
              <a:rPr lang="en-US" sz="2400" dirty="0"/>
              <a:t>(WHO-aligned updates)</a:t>
            </a:r>
            <a:endParaRPr lang="en-US" dirty="0"/>
          </a:p>
        </p:txBody>
      </p:sp>
      <p:sp>
        <p:nvSpPr>
          <p:cNvPr id="3" name="Content Placeholder 2">
            <a:extLst>
              <a:ext uri="{FF2B5EF4-FFF2-40B4-BE49-F238E27FC236}">
                <a16:creationId xmlns:a16="http://schemas.microsoft.com/office/drawing/2014/main" id="{594205FD-D6F4-FAAB-4F3C-CAB4002A73D5}"/>
              </a:ext>
            </a:extLst>
          </p:cNvPr>
          <p:cNvSpPr>
            <a:spLocks noGrp="1"/>
          </p:cNvSpPr>
          <p:nvPr>
            <p:ph idx="1"/>
          </p:nvPr>
        </p:nvSpPr>
        <p:spPr/>
        <p:txBody>
          <a:bodyPr>
            <a:noAutofit/>
          </a:bodyPr>
          <a:lstStyle/>
          <a:p>
            <a:r>
              <a:rPr lang="en-US" sz="2000" b="1" dirty="0"/>
              <a:t>Age ≥40 years on ART</a:t>
            </a:r>
            <a:endParaRPr lang="en-US" sz="2000" dirty="0"/>
          </a:p>
          <a:p>
            <a:pPr lvl="1"/>
            <a:r>
              <a:rPr lang="en-US" sz="2000" dirty="0">
                <a:latin typeface="Calibri" panose="020F0502020204030204" pitchFamily="34" charset="0"/>
                <a:cs typeface="Calibri" panose="020F0502020204030204" pitchFamily="34" charset="0"/>
              </a:rPr>
              <a:t>Start statin if </a:t>
            </a:r>
            <a:r>
              <a:rPr lang="en-US" sz="2000" b="1" dirty="0">
                <a:latin typeface="Calibri" panose="020F0502020204030204" pitchFamily="34" charset="0"/>
                <a:cs typeface="Calibri" panose="020F0502020204030204" pitchFamily="34" charset="0"/>
              </a:rPr>
              <a:t>10-year ASCVD risk ≥5%</a:t>
            </a:r>
            <a:endParaRPr lang="en-US" sz="2000" dirty="0">
              <a:latin typeface="Calibri" panose="020F0502020204030204" pitchFamily="34" charset="0"/>
              <a:cs typeface="Calibri" panose="020F0502020204030204" pitchFamily="34" charset="0"/>
            </a:endParaRPr>
          </a:p>
          <a:p>
            <a:pPr lvl="1"/>
            <a:r>
              <a:rPr lang="en-US" sz="2000" dirty="0">
                <a:latin typeface="Calibri" panose="020F0502020204030204" pitchFamily="34" charset="0"/>
                <a:cs typeface="Calibri" panose="020F0502020204030204" pitchFamily="34" charset="0"/>
              </a:rPr>
              <a:t>Use </a:t>
            </a:r>
            <a:r>
              <a:rPr lang="en-US" sz="2000" b="1" dirty="0">
                <a:latin typeface="Calibri" panose="020F0502020204030204" pitchFamily="34" charset="0"/>
                <a:cs typeface="Calibri" panose="020F0502020204030204" pitchFamily="34" charset="0"/>
              </a:rPr>
              <a:t>moderate-intensity statin</a:t>
            </a:r>
            <a:endParaRPr lang="en-US" sz="2000" dirty="0">
              <a:latin typeface="Calibri" panose="020F0502020204030204" pitchFamily="34" charset="0"/>
              <a:cs typeface="Calibri" panose="020F0502020204030204" pitchFamily="34" charset="0"/>
            </a:endParaRPr>
          </a:p>
          <a:p>
            <a:r>
              <a:rPr lang="en-US" sz="2000" b="1" dirty="0"/>
              <a:t>ASCVD risk &lt;5%</a:t>
            </a:r>
            <a:endParaRPr lang="en-US" sz="2000" dirty="0"/>
          </a:p>
          <a:p>
            <a:pPr lvl="1"/>
            <a:r>
              <a:rPr lang="en-US" sz="2000" b="1" dirty="0">
                <a:latin typeface="Calibri" panose="020F0502020204030204" pitchFamily="34" charset="0"/>
                <a:cs typeface="Calibri" panose="020F0502020204030204" pitchFamily="34" charset="0"/>
              </a:rPr>
              <a:t>Consider statin</a:t>
            </a:r>
            <a:r>
              <a:rPr lang="en-US" sz="2000" dirty="0">
                <a:latin typeface="Calibri" panose="020F0502020204030204" pitchFamily="34" charset="0"/>
                <a:cs typeface="Calibri" panose="020F0502020204030204" pitchFamily="34" charset="0"/>
              </a:rPr>
              <a:t> if HIV-related risk enhancers:</a:t>
            </a:r>
          </a:p>
          <a:p>
            <a:pPr lvl="2"/>
            <a:r>
              <a:rPr lang="en-US" dirty="0">
                <a:latin typeface="Calibri" panose="020F0502020204030204" pitchFamily="34" charset="0"/>
                <a:cs typeface="Calibri" panose="020F0502020204030204" pitchFamily="34" charset="0"/>
              </a:rPr>
              <a:t>Long duration of HIV</a:t>
            </a:r>
          </a:p>
          <a:p>
            <a:pPr lvl="2"/>
            <a:r>
              <a:rPr lang="en-US" dirty="0">
                <a:latin typeface="Calibri" panose="020F0502020204030204" pitchFamily="34" charset="0"/>
                <a:cs typeface="Calibri" panose="020F0502020204030204" pitchFamily="34" charset="0"/>
              </a:rPr>
              <a:t>Low CD4 (&lt;350)</a:t>
            </a:r>
          </a:p>
          <a:p>
            <a:pPr lvl="2"/>
            <a:r>
              <a:rPr lang="en-US" dirty="0">
                <a:latin typeface="Calibri" panose="020F0502020204030204" pitchFamily="34" charset="0"/>
                <a:cs typeface="Calibri" panose="020F0502020204030204" pitchFamily="34" charset="0"/>
              </a:rPr>
              <a:t>Prior viremia / poor adherence</a:t>
            </a:r>
          </a:p>
          <a:p>
            <a:pPr lvl="2"/>
            <a:r>
              <a:rPr lang="en-US" dirty="0">
                <a:latin typeface="Calibri" panose="020F0502020204030204" pitchFamily="34" charset="0"/>
                <a:cs typeface="Calibri" panose="020F0502020204030204" pitchFamily="34" charset="0"/>
              </a:rPr>
              <a:t>Hepatitis C coinfection</a:t>
            </a:r>
          </a:p>
          <a:p>
            <a:r>
              <a:rPr lang="en-US" sz="2000" b="1" dirty="0"/>
              <a:t>High-risk groups (treat regardless of HIV)</a:t>
            </a:r>
            <a:endParaRPr lang="en-US" sz="2000" dirty="0"/>
          </a:p>
          <a:p>
            <a:pPr lvl="1"/>
            <a:r>
              <a:rPr lang="en-US" sz="2000" dirty="0">
                <a:latin typeface="Calibri" panose="020F0502020204030204" pitchFamily="34" charset="0"/>
                <a:cs typeface="Calibri" panose="020F0502020204030204" pitchFamily="34" charset="0"/>
              </a:rPr>
              <a:t>ASCVD risk ≥20% → </a:t>
            </a:r>
            <a:r>
              <a:rPr lang="en-US" sz="2000" b="1" dirty="0">
                <a:latin typeface="Calibri" panose="020F0502020204030204" pitchFamily="34" charset="0"/>
                <a:cs typeface="Calibri" panose="020F0502020204030204" pitchFamily="34" charset="0"/>
              </a:rPr>
              <a:t>high-intensity statin</a:t>
            </a:r>
            <a:endParaRPr lang="en-US" sz="2000" dirty="0">
              <a:latin typeface="Calibri" panose="020F0502020204030204" pitchFamily="34" charset="0"/>
              <a:cs typeface="Calibri" panose="020F0502020204030204" pitchFamily="34" charset="0"/>
            </a:endParaRPr>
          </a:p>
          <a:p>
            <a:pPr lvl="1"/>
            <a:r>
              <a:rPr lang="en-US" sz="2000" dirty="0">
                <a:latin typeface="Calibri" panose="020F0502020204030204" pitchFamily="34" charset="0"/>
                <a:cs typeface="Calibri" panose="020F0502020204030204" pitchFamily="34" charset="0"/>
              </a:rPr>
              <a:t>LDL ≥4.9 mmol/L (≥190 mg/dL)</a:t>
            </a:r>
          </a:p>
          <a:p>
            <a:pPr lvl="1"/>
            <a:r>
              <a:rPr lang="en-US" sz="2000" dirty="0">
                <a:latin typeface="Calibri" panose="020F0502020204030204" pitchFamily="34" charset="0"/>
                <a:cs typeface="Calibri" panose="020F0502020204030204" pitchFamily="34" charset="0"/>
              </a:rPr>
              <a:t>Diabetes (age 40–75)</a:t>
            </a:r>
          </a:p>
          <a:p>
            <a:endParaRPr lang="en-US" sz="2000" dirty="0"/>
          </a:p>
        </p:txBody>
      </p:sp>
    </p:spTree>
    <p:extLst>
      <p:ext uri="{BB962C8B-B14F-4D97-AF65-F5344CB8AC3E}">
        <p14:creationId xmlns:p14="http://schemas.microsoft.com/office/powerpoint/2010/main" val="382489873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FB595-6799-CD11-854F-7423E672371D}"/>
              </a:ext>
            </a:extLst>
          </p:cNvPr>
          <p:cNvSpPr>
            <a:spLocks noGrp="1"/>
          </p:cNvSpPr>
          <p:nvPr>
            <p:ph type="title"/>
          </p:nvPr>
        </p:nvSpPr>
        <p:spPr/>
        <p:txBody>
          <a:bodyPr/>
          <a:lstStyle/>
          <a:p>
            <a:r>
              <a:rPr lang="en-US" dirty="0"/>
              <a:t>Statin therapy in PLHIV </a:t>
            </a:r>
            <a:r>
              <a:rPr lang="en-US" dirty="0" err="1"/>
              <a:t>cont</a:t>
            </a:r>
            <a:r>
              <a:rPr lang="en-US" dirty="0"/>
              <a:t>…</a:t>
            </a:r>
          </a:p>
        </p:txBody>
      </p:sp>
      <p:sp>
        <p:nvSpPr>
          <p:cNvPr id="3" name="Content Placeholder 2">
            <a:extLst>
              <a:ext uri="{FF2B5EF4-FFF2-40B4-BE49-F238E27FC236}">
                <a16:creationId xmlns:a16="http://schemas.microsoft.com/office/drawing/2014/main" id="{DEAF00E5-82B9-D9D6-C29D-A1AA36D068F7}"/>
              </a:ext>
            </a:extLst>
          </p:cNvPr>
          <p:cNvSpPr>
            <a:spLocks noGrp="1"/>
          </p:cNvSpPr>
          <p:nvPr>
            <p:ph idx="1"/>
          </p:nvPr>
        </p:nvSpPr>
        <p:spPr/>
        <p:txBody>
          <a:bodyPr>
            <a:normAutofit/>
          </a:bodyPr>
          <a:lstStyle/>
          <a:p>
            <a:r>
              <a:rPr lang="en-US" sz="2000" b="1" dirty="0"/>
              <a:t>Age &lt;40 years</a:t>
            </a:r>
            <a:endParaRPr lang="en-US" sz="2000" dirty="0"/>
          </a:p>
          <a:p>
            <a:pPr lvl="1"/>
            <a:r>
              <a:rPr lang="en-US" sz="2000" dirty="0">
                <a:latin typeface="Calibri" panose="020F0502020204030204" pitchFamily="34" charset="0"/>
                <a:cs typeface="Calibri" panose="020F0502020204030204" pitchFamily="34" charset="0"/>
              </a:rPr>
              <a:t>No routine statin use</a:t>
            </a:r>
          </a:p>
          <a:p>
            <a:pPr lvl="1"/>
            <a:r>
              <a:rPr lang="en-US" sz="2000" dirty="0">
                <a:latin typeface="Calibri" panose="020F0502020204030204" pitchFamily="34" charset="0"/>
                <a:cs typeface="Calibri" panose="020F0502020204030204" pitchFamily="34" charset="0"/>
              </a:rPr>
              <a:t>Focus on </a:t>
            </a:r>
            <a:r>
              <a:rPr lang="en-US" sz="2000" b="1" dirty="0">
                <a:latin typeface="Calibri" panose="020F0502020204030204" pitchFamily="34" charset="0"/>
                <a:cs typeface="Calibri" panose="020F0502020204030204" pitchFamily="34" charset="0"/>
              </a:rPr>
              <a:t>lifestyle &amp; risk factor control</a:t>
            </a:r>
          </a:p>
          <a:p>
            <a:pPr lvl="1"/>
            <a:endParaRPr lang="en-US" sz="2000" dirty="0">
              <a:latin typeface="Calibri" panose="020F0502020204030204" pitchFamily="34" charset="0"/>
              <a:cs typeface="Calibri" panose="020F0502020204030204" pitchFamily="34" charset="0"/>
            </a:endParaRPr>
          </a:p>
          <a:p>
            <a:r>
              <a:rPr lang="en-US" sz="2000" b="1" dirty="0"/>
              <a:t>Drug interactions with ART</a:t>
            </a:r>
            <a:endParaRPr lang="en-US" sz="2000" dirty="0"/>
          </a:p>
          <a:p>
            <a:pPr lvl="1"/>
            <a:r>
              <a:rPr lang="en-US" sz="2000" dirty="0">
                <a:latin typeface="Calibri" panose="020F0502020204030204" pitchFamily="34" charset="0"/>
                <a:cs typeface="Calibri" panose="020F0502020204030204" pitchFamily="34" charset="0"/>
              </a:rPr>
              <a:t>Avoid: Simvastatin, Lovastatin (with boosted PI)</a:t>
            </a:r>
          </a:p>
          <a:p>
            <a:pPr lvl="1"/>
            <a:r>
              <a:rPr lang="en-US" sz="2000" dirty="0">
                <a:latin typeface="Calibri" panose="020F0502020204030204" pitchFamily="34" charset="0"/>
                <a:cs typeface="Calibri" panose="020F0502020204030204" pitchFamily="34" charset="0"/>
              </a:rPr>
              <a:t>Preferred:</a:t>
            </a:r>
          </a:p>
          <a:p>
            <a:pPr lvl="2"/>
            <a:r>
              <a:rPr lang="en-US" dirty="0" err="1">
                <a:latin typeface="Calibri" panose="020F0502020204030204" pitchFamily="34" charset="0"/>
                <a:cs typeface="Calibri" panose="020F0502020204030204" pitchFamily="34" charset="0"/>
              </a:rPr>
              <a:t>Pitavastatin</a:t>
            </a:r>
            <a:r>
              <a:rPr lang="en-US" dirty="0">
                <a:latin typeface="Calibri" panose="020F0502020204030204" pitchFamily="34" charset="0"/>
                <a:cs typeface="Calibri" panose="020F0502020204030204" pitchFamily="34" charset="0"/>
              </a:rPr>
              <a:t> (least interactions)</a:t>
            </a:r>
          </a:p>
          <a:p>
            <a:pPr lvl="2"/>
            <a:r>
              <a:rPr lang="en-US" dirty="0">
                <a:latin typeface="Calibri" panose="020F0502020204030204" pitchFamily="34" charset="0"/>
                <a:cs typeface="Calibri" panose="020F0502020204030204" pitchFamily="34" charset="0"/>
              </a:rPr>
              <a:t>Atorvastatin / Rosuvastatin (dose-adjust)</a:t>
            </a:r>
          </a:p>
          <a:p>
            <a:endParaRPr lang="en-US" sz="2000" dirty="0"/>
          </a:p>
        </p:txBody>
      </p:sp>
    </p:spTree>
    <p:extLst>
      <p:ext uri="{BB962C8B-B14F-4D97-AF65-F5344CB8AC3E}">
        <p14:creationId xmlns:p14="http://schemas.microsoft.com/office/powerpoint/2010/main" val="395960820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25619-50F6-CD2A-E5F5-53461F9FC4DD}"/>
              </a:ext>
            </a:extLst>
          </p:cNvPr>
          <p:cNvSpPr>
            <a:spLocks noGrp="1"/>
          </p:cNvSpPr>
          <p:nvPr>
            <p:ph type="title"/>
          </p:nvPr>
        </p:nvSpPr>
        <p:spPr/>
        <p:txBody>
          <a:bodyPr/>
          <a:lstStyle/>
          <a:p>
            <a:r>
              <a:rPr lang="en-US" b="1" dirty="0"/>
              <a:t>Reference:</a:t>
            </a:r>
          </a:p>
        </p:txBody>
      </p:sp>
      <p:sp>
        <p:nvSpPr>
          <p:cNvPr id="3" name="Content Placeholder 2">
            <a:extLst>
              <a:ext uri="{FF2B5EF4-FFF2-40B4-BE49-F238E27FC236}">
                <a16:creationId xmlns:a16="http://schemas.microsoft.com/office/drawing/2014/main" id="{6FABEAD4-B146-C545-E4DF-350F3955B0E1}"/>
              </a:ext>
            </a:extLst>
          </p:cNvPr>
          <p:cNvSpPr>
            <a:spLocks noGrp="1"/>
          </p:cNvSpPr>
          <p:nvPr>
            <p:ph idx="1"/>
          </p:nvPr>
        </p:nvSpPr>
        <p:spPr/>
        <p:txBody>
          <a:bodyPr>
            <a:normAutofit/>
          </a:bodyPr>
          <a:lstStyle/>
          <a:p>
            <a:pPr marL="342900" lvl="0" indent="-342900" eaLnBrk="0" fontAlgn="base" hangingPunct="0">
              <a:lnSpc>
                <a:spcPct val="100000"/>
              </a:lnSpc>
              <a:spcBef>
                <a:spcPct val="0"/>
              </a:spcBef>
              <a:spcAft>
                <a:spcPct val="0"/>
              </a:spcAft>
              <a:buFont typeface="+mj-lt"/>
              <a:buAutoNum type="arabicPeriod"/>
            </a:pPr>
            <a:r>
              <a:rPr lang="en-US" altLang="en-US" sz="1600" b="1" dirty="0">
                <a:solidFill>
                  <a:srgbClr val="000000"/>
                </a:solidFill>
                <a:latin typeface="Calibri" panose="020F0502020204030204" pitchFamily="34" charset="0"/>
                <a:cs typeface="Calibri" panose="020F0502020204030204" pitchFamily="34" charset="0"/>
              </a:rPr>
              <a:t>WHO Consolidated Guidelines (2021)</a:t>
            </a:r>
            <a:r>
              <a:rPr lang="en-US" altLang="en-US" sz="1600" dirty="0">
                <a:solidFill>
                  <a:srgbClr val="000000"/>
                </a:solidFill>
                <a:latin typeface="Calibri" panose="020F0502020204030204" pitchFamily="34" charset="0"/>
                <a:cs typeface="Calibri" panose="020F0502020204030204" pitchFamily="34" charset="0"/>
              </a:rPr>
              <a:t>: World Health Organization. </a:t>
            </a:r>
            <a:r>
              <a:rPr lang="en-US" altLang="en-US" sz="1600" i="1" dirty="0">
                <a:solidFill>
                  <a:srgbClr val="000000"/>
                </a:solidFill>
                <a:latin typeface="Calibri" panose="020F0502020204030204" pitchFamily="34" charset="0"/>
                <a:cs typeface="Calibri" panose="020F0502020204030204" pitchFamily="34" charset="0"/>
              </a:rPr>
              <a:t>Consolidated guidelines on HIV prevention, testing, treatment, service delivery and monitoring: recommendations for a public health approach</a:t>
            </a:r>
            <a:r>
              <a:rPr lang="en-US" altLang="en-US" sz="1600" dirty="0">
                <a:solidFill>
                  <a:srgbClr val="000000"/>
                </a:solidFill>
                <a:latin typeface="Calibri" panose="020F0502020204030204" pitchFamily="34" charset="0"/>
                <a:cs typeface="Calibri" panose="020F0502020204030204" pitchFamily="34" charset="0"/>
              </a:rPr>
              <a:t>. Geneva: World Health Organization; 2021. ISBN 978-92-4-003159-3.</a:t>
            </a:r>
          </a:p>
          <a:p>
            <a:pPr marL="342900" lvl="0" indent="-342900" eaLnBrk="0" fontAlgn="base" hangingPunct="0">
              <a:lnSpc>
                <a:spcPct val="100000"/>
              </a:lnSpc>
              <a:spcBef>
                <a:spcPct val="0"/>
              </a:spcBef>
              <a:spcAft>
                <a:spcPct val="0"/>
              </a:spcAft>
              <a:buFont typeface="+mj-lt"/>
              <a:buAutoNum type="arabicPeriod"/>
            </a:pPr>
            <a:endParaRPr lang="en-US" altLang="en-US" sz="1600" dirty="0">
              <a:solidFill>
                <a:srgbClr val="000000"/>
              </a:solidFill>
              <a:latin typeface="Calibri" panose="020F0502020204030204" pitchFamily="34" charset="0"/>
              <a:cs typeface="Calibri" panose="020F0502020204030204" pitchFamily="34" charset="0"/>
            </a:endParaRPr>
          </a:p>
          <a:p>
            <a:pPr marL="342900" lvl="0" indent="-342900" eaLnBrk="0" fontAlgn="base" hangingPunct="0">
              <a:lnSpc>
                <a:spcPct val="100000"/>
              </a:lnSpc>
              <a:spcBef>
                <a:spcPct val="0"/>
              </a:spcBef>
              <a:spcAft>
                <a:spcPct val="0"/>
              </a:spcAft>
              <a:buFont typeface="+mj-lt"/>
              <a:buAutoNum type="arabicPeriod"/>
            </a:pPr>
            <a:r>
              <a:rPr lang="en-US" altLang="en-US" sz="1600" b="1" dirty="0">
                <a:solidFill>
                  <a:srgbClr val="000000"/>
                </a:solidFill>
                <a:latin typeface="Calibri" panose="020F0502020204030204" pitchFamily="34" charset="0"/>
                <a:cs typeface="Calibri" panose="020F0502020204030204" pitchFamily="34" charset="0"/>
              </a:rPr>
              <a:t>WHO Updated Recommendations (2025)</a:t>
            </a:r>
            <a:r>
              <a:rPr lang="en-US" altLang="en-US" sz="1600" dirty="0">
                <a:solidFill>
                  <a:srgbClr val="000000"/>
                </a:solidFill>
                <a:latin typeface="Calibri" panose="020F0502020204030204" pitchFamily="34" charset="0"/>
                <a:cs typeface="Calibri" panose="020F0502020204030204" pitchFamily="34" charset="0"/>
              </a:rPr>
              <a:t>: World Health Organization. </a:t>
            </a:r>
            <a:r>
              <a:rPr lang="en-US" altLang="en-US" sz="1600" i="1" dirty="0">
                <a:solidFill>
                  <a:srgbClr val="000000"/>
                </a:solidFill>
                <a:latin typeface="Calibri" panose="020F0502020204030204" pitchFamily="34" charset="0"/>
                <a:cs typeface="Calibri" panose="020F0502020204030204" pitchFamily="34" charset="0"/>
              </a:rPr>
              <a:t>WHO updated recommendations on HIV clinical management: recommendations for a public health approach</a:t>
            </a:r>
            <a:r>
              <a:rPr lang="en-US" altLang="en-US" sz="1600" dirty="0">
                <a:solidFill>
                  <a:srgbClr val="000000"/>
                </a:solidFill>
                <a:latin typeface="Calibri" panose="020F0502020204030204" pitchFamily="34" charset="0"/>
                <a:cs typeface="Calibri" panose="020F0502020204030204" pitchFamily="34" charset="0"/>
              </a:rPr>
              <a:t>. Geneva: World Health Organization; 2025. ISBN 978-92-4-011946-8.</a:t>
            </a:r>
          </a:p>
          <a:p>
            <a:pPr marL="342900" lvl="0" indent="-342900" eaLnBrk="0" fontAlgn="base" hangingPunct="0">
              <a:lnSpc>
                <a:spcPct val="100000"/>
              </a:lnSpc>
              <a:spcBef>
                <a:spcPct val="0"/>
              </a:spcBef>
              <a:spcAft>
                <a:spcPct val="0"/>
              </a:spcAft>
              <a:buFont typeface="+mj-lt"/>
              <a:buAutoNum type="arabicPeriod"/>
            </a:pPr>
            <a:endParaRPr lang="en-US" altLang="en-US" sz="1600" dirty="0">
              <a:latin typeface="Calibri" panose="020F0502020204030204" pitchFamily="34" charset="0"/>
              <a:cs typeface="Calibri" panose="020F0502020204030204" pitchFamily="34" charset="0"/>
            </a:endParaRPr>
          </a:p>
          <a:p>
            <a:pPr marL="342900" indent="-342900">
              <a:buFont typeface="+mj-lt"/>
              <a:buAutoNum type="arabicPeriod"/>
            </a:pPr>
            <a:r>
              <a:rPr lang="en-US" sz="1600" dirty="0">
                <a:latin typeface="Calibri" panose="020F0502020204030204" pitchFamily="34" charset="0"/>
                <a:cs typeface="Calibri" panose="020F0502020204030204" pitchFamily="34" charset="0"/>
              </a:rPr>
              <a:t>NATIONAL GUIDELINES FOR THE MANAGEMENT OF HIV AND AIDS </a:t>
            </a:r>
          </a:p>
          <a:p>
            <a:pPr marL="342900" indent="-342900">
              <a:buFont typeface="+mj-lt"/>
              <a:buAutoNum type="arabicPeriod"/>
            </a:pPr>
            <a:endParaRPr lang="en-US" sz="1600" dirty="0">
              <a:latin typeface="Calibri" panose="020F0502020204030204" pitchFamily="34" charset="0"/>
              <a:cs typeface="Calibri" panose="020F0502020204030204" pitchFamily="34" charset="0"/>
            </a:endParaRPr>
          </a:p>
          <a:p>
            <a:pPr marL="342900" indent="-342900">
              <a:buFont typeface="+mj-lt"/>
              <a:buAutoNum type="arabicPeriod"/>
            </a:pPr>
            <a:r>
              <a:rPr lang="en-US" sz="1600" dirty="0">
                <a:latin typeface="Calibri" panose="020F0502020204030204" pitchFamily="34" charset="0"/>
                <a:cs typeface="Calibri" panose="020F0502020204030204" pitchFamily="34" charset="0"/>
              </a:rPr>
              <a:t>Mandell, Douglas, and Bennett’s Infectious Disease ESSENTIALS</a:t>
            </a:r>
          </a:p>
          <a:p>
            <a:pPr marL="342900" indent="-342900">
              <a:buFont typeface="+mj-lt"/>
              <a:buAutoNum type="arabicPeriod"/>
            </a:pPr>
            <a:endParaRPr lang="en-US" sz="1600" dirty="0">
              <a:latin typeface="Calibri" panose="020F0502020204030204" pitchFamily="34" charset="0"/>
              <a:cs typeface="Calibri" panose="020F0502020204030204" pitchFamily="34" charset="0"/>
            </a:endParaRPr>
          </a:p>
          <a:p>
            <a:pPr marL="342900" indent="-342900">
              <a:buFont typeface="+mj-lt"/>
              <a:buAutoNum type="arabicPeriod"/>
            </a:pPr>
            <a:r>
              <a:rPr lang="en-US" sz="1600" dirty="0" err="1">
                <a:latin typeface="Calibri" panose="020F0502020204030204" pitchFamily="34" charset="0"/>
                <a:cs typeface="Calibri" panose="020F0502020204030204" pitchFamily="34" charset="0"/>
              </a:rPr>
              <a:t>UpTodate</a:t>
            </a:r>
            <a:endParaRPr 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7203360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AFE9DC8-B07C-42A5-8C3D-B969AB85F9B9}"/>
              </a:ext>
            </a:extLst>
          </p:cNvPr>
          <p:cNvPicPr>
            <a:picLocks noGrp="1" noChangeAspect="1"/>
          </p:cNvPicPr>
          <p:nvPr>
            <p:ph idx="1"/>
          </p:nvPr>
        </p:nvPicPr>
        <p:blipFill>
          <a:blip r:embed="rId2"/>
          <a:stretch>
            <a:fillRect/>
          </a:stretch>
        </p:blipFill>
        <p:spPr>
          <a:xfrm>
            <a:off x="1798787" y="549470"/>
            <a:ext cx="5982240" cy="5982240"/>
          </a:xfrm>
          <a:prstGeom prst="rect">
            <a:avLst/>
          </a:prstGeom>
        </p:spPr>
      </p:pic>
    </p:spTree>
    <p:extLst>
      <p:ext uri="{BB962C8B-B14F-4D97-AF65-F5344CB8AC3E}">
        <p14:creationId xmlns:p14="http://schemas.microsoft.com/office/powerpoint/2010/main" val="8495386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5531</TotalTime>
  <Words>8431</Words>
  <Application>Microsoft Macintosh PowerPoint</Application>
  <PresentationFormat>Widescreen</PresentationFormat>
  <Paragraphs>909</Paragraphs>
  <Slides>118</Slides>
  <Notes>19</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118</vt:i4>
      </vt:variant>
    </vt:vector>
  </HeadingPairs>
  <TitlesOfParts>
    <vt:vector size="130" baseType="lpstr">
      <vt:lpstr>Arial</vt:lpstr>
      <vt:lpstr>Arial Black</vt:lpstr>
      <vt:lpstr>Arial-ItalicMT</vt:lpstr>
      <vt:lpstr>ArialMT</vt:lpstr>
      <vt:lpstr>Calibri</vt:lpstr>
      <vt:lpstr>Calibri Light</vt:lpstr>
      <vt:lpstr>Google Sans Text</vt:lpstr>
      <vt:lpstr>Roboto</vt:lpstr>
      <vt:lpstr>Times New Roman</vt:lpstr>
      <vt:lpstr>Trebuchet MS</vt:lpstr>
      <vt:lpstr>Wingdings</vt:lpstr>
      <vt:lpstr>Office Theme</vt:lpstr>
      <vt:lpstr>HIV/AIDS   </vt:lpstr>
      <vt:lpstr>OUTLINES:</vt:lpstr>
      <vt:lpstr>1) INTRODUCTION</vt:lpstr>
      <vt:lpstr>PowerPoint Presentation</vt:lpstr>
      <vt:lpstr>Historical background </vt:lpstr>
      <vt:lpstr>PowerPoint Presentation</vt:lpstr>
      <vt:lpstr>EPIDEMIOLOGY</vt:lpstr>
      <vt:lpstr>PowerPoint Presentation</vt:lpstr>
      <vt:lpstr>PowerPoint Presentation</vt:lpstr>
      <vt:lpstr>PowerPoint Presentation</vt:lpstr>
      <vt:lpstr>PowerPoint Presentation</vt:lpstr>
      <vt:lpstr>95-95-95 HIV strategies by 2025</vt:lpstr>
      <vt:lpstr>VIROLOGY</vt:lpstr>
      <vt:lpstr>**circulating recombinant forms     (CRFs) </vt:lpstr>
      <vt:lpstr>Viral structure: </vt:lpstr>
      <vt:lpstr>HIV virulence</vt:lpstr>
      <vt:lpstr>Core structural and enzymatic genes </vt:lpstr>
      <vt:lpstr>Regulatory and accessory genes (virulence modulators) </vt:lpstr>
      <vt:lpstr>PATHOGENESIS</vt:lpstr>
      <vt:lpstr>Viral life cycle steps that cause disease </vt:lpstr>
      <vt:lpstr>PowerPoint Presentation</vt:lpstr>
      <vt:lpstr>CD4⁺ T-cell depletion in HIV </vt:lpstr>
      <vt:lpstr>Immune evasion strategies </vt:lpstr>
      <vt:lpstr>PowerPoint Presentation</vt:lpstr>
      <vt:lpstr> Clinical Progression to AIDS </vt:lpstr>
      <vt:lpstr>HOST DEFENCE </vt:lpstr>
      <vt:lpstr>PowerPoint Presentation</vt:lpstr>
      <vt:lpstr>PowerPoint Presentation</vt:lpstr>
      <vt:lpstr>PowerPoint Presentation</vt:lpstr>
      <vt:lpstr>MODE OF TRANSMISSION OF HIV</vt:lpstr>
      <vt:lpstr>Vulnerable groups</vt:lpstr>
      <vt:lpstr>NATURAL HISTORY OF HIV</vt:lpstr>
      <vt:lpstr>PowerPoint Presentation</vt:lpstr>
      <vt:lpstr>PowerPoint Presentation</vt:lpstr>
      <vt:lpstr>PowerPoint Presentation</vt:lpstr>
      <vt:lpstr>PowerPoint Presentation</vt:lpstr>
      <vt:lpstr>HIV PROGRESSORS</vt:lpstr>
      <vt:lpstr>TYPES OF HIV PROGRESSORS</vt:lpstr>
      <vt:lpstr>Potential mechanisms of viral suppression in HIV controllers</vt:lpstr>
      <vt:lpstr>WHO HIV CLINICAL STAGING</vt:lpstr>
      <vt:lpstr>COMPLICATIONS OF HIV</vt:lpstr>
      <vt:lpstr>PowerPoint Presentation</vt:lpstr>
      <vt:lpstr>Guiding Principles for HIV Testing:</vt:lpstr>
      <vt:lpstr>HIV diagnostics  and monitoring </vt:lpstr>
      <vt:lpstr>HIV diagnosis  strategies </vt:lpstr>
      <vt:lpstr>PowerPoint Presentation</vt:lpstr>
      <vt:lpstr>PowerPoint Presentation</vt:lpstr>
      <vt:lpstr>PowerPoint Presentation</vt:lpstr>
      <vt:lpstr>PowerPoint Presentation</vt:lpstr>
      <vt:lpstr>LABORATORY DIAGNOSIS</vt:lpstr>
      <vt:lpstr>National HIV testing algorithm for the general population</vt:lpstr>
      <vt:lpstr>PowerPoint Presentation</vt:lpstr>
      <vt:lpstr>National HIV testing algorithm for ANC clients </vt:lpstr>
      <vt:lpstr>National HIV testing algorithm in infants below 18 months  </vt:lpstr>
      <vt:lpstr>PowerPoint Presentation</vt:lpstr>
      <vt:lpstr>Tanzania Algorithm </vt:lpstr>
      <vt:lpstr>HIV MONITORING</vt:lpstr>
      <vt:lpstr>BASELINE INVESTIGATIONS AFTER DIAGNOSIS OF HIV</vt:lpstr>
      <vt:lpstr>PowerPoint Presentation</vt:lpstr>
      <vt:lpstr>PowerPoint Presentation</vt:lpstr>
      <vt:lpstr>PowerPoint Presentation</vt:lpstr>
      <vt:lpstr>CD4 ALGORITHM</vt:lpstr>
      <vt:lpstr>VIRAL LOAD ALGORITHM</vt:lpstr>
      <vt:lpstr>HVL Monitoring Algorithm for Pregnant and Breastfeeding Mothers </vt:lpstr>
      <vt:lpstr>HIV treatment: Paradigm shift</vt:lpstr>
      <vt:lpstr>TREATMENT OF HIV</vt:lpstr>
      <vt:lpstr>PowerPoint Presentation</vt:lpstr>
      <vt:lpstr>ART’s CLASSES</vt:lpstr>
      <vt:lpstr>PowerPoint Presentation</vt:lpstr>
      <vt:lpstr>Where ARVs Work in HIV Lifecycle</vt:lpstr>
      <vt:lpstr>When to start ART?</vt:lpstr>
      <vt:lpstr>What ART to start?</vt:lpstr>
      <vt:lpstr>Table of standard ART combination</vt:lpstr>
      <vt:lpstr>New Frontiers</vt:lpstr>
      <vt:lpstr>Long-Acting Injectables(LAI)</vt:lpstr>
      <vt:lpstr>Changing Antiretroviral Therapy</vt:lpstr>
      <vt:lpstr>TREATMENT FAILURE AND RESISTANCE</vt:lpstr>
      <vt:lpstr>PowerPoint Presentation</vt:lpstr>
      <vt:lpstr>PowerPoint Presentation</vt:lpstr>
      <vt:lpstr>1. DRUG RESISTANCE </vt:lpstr>
      <vt:lpstr>PowerPoint Presentation</vt:lpstr>
      <vt:lpstr>PowerPoint Presentation</vt:lpstr>
      <vt:lpstr>PowerPoint Presentation</vt:lpstr>
      <vt:lpstr>PowerPoint Presentation</vt:lpstr>
      <vt:lpstr>PowerPoint Presentation</vt:lpstr>
      <vt:lpstr>2. LACK OF ADHERENCE  Adherence means sticking firmly to treatment regimen by taking the right medicine, with the right dose, at the right time, in the right frequency, in the right way every day and exactly as agreed between healthcare providers, clients and care givers. </vt:lpstr>
      <vt:lpstr>PowerPoint Presentation</vt:lpstr>
      <vt:lpstr>3. DRUG-DRUG INTERACTIONS </vt:lpstr>
      <vt:lpstr>Drug specific adverse events (toxicity)  </vt:lpstr>
      <vt:lpstr>PowerPoint Presentation</vt:lpstr>
      <vt:lpstr>PowerPoint Presentation</vt:lpstr>
      <vt:lpstr>Memorizing ART’s Toxicity</vt:lpstr>
      <vt:lpstr>Immune Reconstitution Inflammatory Syndrome (IRIS) </vt:lpstr>
      <vt:lpstr>PowerPoint Presentation</vt:lpstr>
      <vt:lpstr>PowerPoint Presentation</vt:lpstr>
      <vt:lpstr>PROGNOSIS IN PLHIV </vt:lpstr>
      <vt:lpstr>Overview of HIV Prevention</vt:lpstr>
      <vt:lpstr>Behavioral Prevention Strategies</vt:lpstr>
      <vt:lpstr>PowerPoint Presentation</vt:lpstr>
      <vt:lpstr>PowerPoint Presentation</vt:lpstr>
      <vt:lpstr>Biomedical Prevention Strategies</vt:lpstr>
      <vt:lpstr>PowerPoint Presentation</vt:lpstr>
      <vt:lpstr>Pre‑Exposure Prophylaxis (PrEP) (TRUVADA TDF/FTC)</vt:lpstr>
      <vt:lpstr>Post‑Exposure Prophylaxis (PEP) (TLD)</vt:lpstr>
      <vt:lpstr>Voluntary Medical Male Circumcision (VMMC) </vt:lpstr>
      <vt:lpstr>PowerPoint Presentation</vt:lpstr>
      <vt:lpstr>Treatment as Prevention (TasP)</vt:lpstr>
      <vt:lpstr>Prevention of Mother‑to‑Child Transmission (PMTCT)</vt:lpstr>
      <vt:lpstr>PowerPoint Presentation</vt:lpstr>
      <vt:lpstr>TB &amp; HIV CO-INFECTION</vt:lpstr>
      <vt:lpstr>TB/HIV Interaction </vt:lpstr>
      <vt:lpstr>Impact of TB on HIV </vt:lpstr>
      <vt:lpstr>TPT</vt:lpstr>
      <vt:lpstr>Metabolic Health Risk with Modern ART</vt:lpstr>
      <vt:lpstr>When to Start Statins in PLHIV (WHO-aligned updates)</vt:lpstr>
      <vt:lpstr>Statin therapy in PLHIV cont…</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Amini Dimosso</dc:creator>
  <cp:lastModifiedBy>Rabieth Issae</cp:lastModifiedBy>
  <cp:revision>62</cp:revision>
  <dcterms:created xsi:type="dcterms:W3CDTF">2025-12-19T08:13:45Z</dcterms:created>
  <dcterms:modified xsi:type="dcterms:W3CDTF">2026-04-29T10:47:41Z</dcterms:modified>
</cp:coreProperties>
</file>