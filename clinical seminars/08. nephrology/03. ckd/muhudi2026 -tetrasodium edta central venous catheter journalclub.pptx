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7"/>
  </p:notesMasterIdLst>
  <p:sldIdLst>
    <p:sldId id="373" r:id="rId3"/>
    <p:sldId id="351" r:id="rId4"/>
    <p:sldId id="374" r:id="rId5"/>
    <p:sldId id="353" r:id="rId6"/>
    <p:sldId id="354" r:id="rId7"/>
    <p:sldId id="355" r:id="rId8"/>
    <p:sldId id="356" r:id="rId9"/>
    <p:sldId id="357" r:id="rId10"/>
    <p:sldId id="358" r:id="rId11"/>
    <p:sldId id="359" r:id="rId12"/>
    <p:sldId id="360" r:id="rId13"/>
    <p:sldId id="361" r:id="rId14"/>
    <p:sldId id="371" r:id="rId15"/>
    <p:sldId id="364" r:id="rId16"/>
    <p:sldId id="372" r:id="rId17"/>
    <p:sldId id="369" r:id="rId18"/>
    <p:sldId id="370" r:id="rId19"/>
    <p:sldId id="367" r:id="rId20"/>
    <p:sldId id="368" r:id="rId21"/>
    <p:sldId id="256" r:id="rId22"/>
    <p:sldId id="257" r:id="rId23"/>
    <p:sldId id="259" r:id="rId24"/>
    <p:sldId id="260" r:id="rId25"/>
    <p:sldId id="261" r:id="rId26"/>
    <p:sldId id="333" r:id="rId27"/>
    <p:sldId id="266" r:id="rId28"/>
    <p:sldId id="279" r:id="rId29"/>
    <p:sldId id="273" r:id="rId30"/>
    <p:sldId id="274" r:id="rId31"/>
    <p:sldId id="275" r:id="rId32"/>
    <p:sldId id="271" r:id="rId33"/>
    <p:sldId id="270" r:id="rId34"/>
    <p:sldId id="272" r:id="rId35"/>
    <p:sldId id="276" r:id="rId36"/>
    <p:sldId id="277" r:id="rId37"/>
    <p:sldId id="332" r:id="rId38"/>
    <p:sldId id="281" r:id="rId39"/>
    <p:sldId id="263" r:id="rId40"/>
    <p:sldId id="283" r:id="rId41"/>
    <p:sldId id="284" r:id="rId42"/>
    <p:sldId id="285" r:id="rId43"/>
    <p:sldId id="286" r:id="rId44"/>
    <p:sldId id="287" r:id="rId45"/>
    <p:sldId id="288" r:id="rId46"/>
    <p:sldId id="308" r:id="rId47"/>
    <p:sldId id="264" r:id="rId48"/>
    <p:sldId id="289" r:id="rId49"/>
    <p:sldId id="290" r:id="rId50"/>
    <p:sldId id="291" r:id="rId51"/>
    <p:sldId id="292" r:id="rId52"/>
    <p:sldId id="293" r:id="rId53"/>
    <p:sldId id="294" r:id="rId54"/>
    <p:sldId id="295" r:id="rId55"/>
    <p:sldId id="296" r:id="rId56"/>
    <p:sldId id="297" r:id="rId57"/>
    <p:sldId id="298" r:id="rId58"/>
    <p:sldId id="299" r:id="rId59"/>
    <p:sldId id="300" r:id="rId60"/>
    <p:sldId id="301" r:id="rId61"/>
    <p:sldId id="302" r:id="rId62"/>
    <p:sldId id="303" r:id="rId63"/>
    <p:sldId id="304" r:id="rId64"/>
    <p:sldId id="305" r:id="rId65"/>
    <p:sldId id="307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8168" autoAdjust="0"/>
  </p:normalViewPr>
  <p:slideViewPr>
    <p:cSldViewPr snapToGrid="0">
      <p:cViewPr varScale="1">
        <p:scale>
          <a:sx n="53" d="100"/>
          <a:sy n="53" d="100"/>
        </p:scale>
        <p:origin x="13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21C0F4-D0E9-4C98-AACA-F32CEB9652ED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E413A5-C65E-45A9-834D-666B24EEEB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4294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Thrombolytic use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Catheter removal due to occlusion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070BB-A264-4EA7-BF50-A0520A187E5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0896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defined by the Centers for Disease Control and Prevention (CDC) National Healthcare Safety Network as the isolation of a pathogen from a blood culture in a patient who had an intravenous (IV) central line on the event day or one day before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requires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Concordant Catheter Tip culture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Time to Positivity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blood culture ratio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dirty="0">
                <a:cs typeface="Times New Roman" panose="02020603050405020304" pitchFamily="18" charset="0"/>
              </a:rPr>
              <a:t>CVAD Colonization defined as growth of &lt;15 CFU from 5cm segment of removed catheter tip by semi quantitative culture or growth of &gt;10^2 from catheter tip by quantitative techniques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070BB-A264-4EA7-BF50-A0520A187E5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9949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413A5-C65E-45A9-834D-666B24EEEB8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593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 based Prospective study conducted at </a:t>
            </a:r>
            <a:r>
              <a:rPr 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Mediheal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Hospital and </a:t>
            </a:r>
            <a:r>
              <a:rPr 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Ferility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centre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Kenya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size were 183 participants of the patients admitted  ICUs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KCMC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total of 286 patients were analyzed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070BB-A264-4EA7-BF50-A0520A187E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1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BAKI NA MOJA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A070BB-A264-4EA7-BF50-A0520A187E5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22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E413A5-C65E-45A9-834D-666B24EEEB8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267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CF1C1A-F30A-4D93-840B-CA2364DCD95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3002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B0558-5E2F-DAFB-A94A-C9CA8F747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94092-4361-3E69-29B3-6360B0DE8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115E6-9228-A52B-DCDB-0A50F99A5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727CF-A222-9A65-F33D-2BDD72E516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CF1C1A-F30A-4D93-840B-CA2364DCD95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0109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A070BB-A264-4EA7-BF50-A0520A187E5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387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dirty="0">
                <a:latin typeface="+mn-lt"/>
              </a:rPr>
              <a:t>The planned sample size was approximately 1524 patients;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latin typeface="+mn-lt"/>
              </a:rPr>
              <a:t>Randomization schedule was generated by a statistician and concealed from those involved in intervention delivery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latin typeface="+mn-lt"/>
              </a:rPr>
              <a:t>Randomization occurred at the ICU/hospital level (cluster randomization) and same ICU as used as control and intervention and crossed over after 3.5 months </a:t>
            </a:r>
            <a:r>
              <a:rPr lang="en-GB" dirty="0">
                <a:latin typeface="+mn-lt"/>
              </a:rPr>
              <a:t>maintaining blinding and reducing selection bias</a:t>
            </a:r>
            <a:r>
              <a:rPr lang="en-GB" sz="1200" dirty="0">
                <a:latin typeface="+mn-lt"/>
              </a:rPr>
              <a:t>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413A5-C65E-45A9-834D-666B24EEEB81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03169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All CVAD types were eligible, including single-, double-, triple-, and quadruple-lumen central venous catheters; tunnelled and non-tunnelled catheters; dialysis lines; </a:t>
            </a:r>
            <a:r>
              <a:rPr lang="en-GB" sz="1200" dirty="0" err="1"/>
              <a:t>trialysis</a:t>
            </a:r>
            <a:r>
              <a:rPr lang="en-GB" sz="1200" dirty="0"/>
              <a:t> catheters; implanted vascular access devices; and peripherally inserted central catheters (PICCs).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E413A5-C65E-45A9-834D-666B24EEEB8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8719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AA5-E642-FE8C-1C3B-1786C0FB7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2E55B3-62D5-2236-6E35-9F141A2B6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09E8A4-C008-707B-3267-8FE7DE926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One participant was excluded because they were co-enrolled in a competing study</a:t>
            </a:r>
            <a:r>
              <a:rPr lang="en-GB" dirty="0"/>
              <a:t>, but the competing study is </a:t>
            </a:r>
            <a:r>
              <a:rPr lang="en-GB" b="1" dirty="0"/>
              <a:t>not named</a:t>
            </a:r>
            <a:r>
              <a:rPr lang="en-GB" dirty="0"/>
              <a:t>. The participating centres were: Royal Columbian Hospital </a:t>
            </a:r>
          </a:p>
          <a:p>
            <a:r>
              <a:rPr lang="en-GB" dirty="0"/>
              <a:t>Surrey Memorial Hospital </a:t>
            </a:r>
          </a:p>
          <a:p>
            <a:r>
              <a:rPr lang="en-GB" dirty="0"/>
              <a:t>Nanaimo Regional General Hospital </a:t>
            </a:r>
          </a:p>
          <a:p>
            <a:r>
              <a:rPr lang="en-GB" dirty="0"/>
              <a:t>Royal Jubilee Hospital </a:t>
            </a:r>
          </a:p>
          <a:p>
            <a:r>
              <a:rPr lang="en-GB" dirty="0"/>
              <a:t>St. Boniface Hospital </a:t>
            </a:r>
          </a:p>
          <a:p>
            <a:r>
              <a:rPr lang="en-GB" dirty="0"/>
              <a:t>Burnaby </a:t>
            </a:r>
            <a:r>
              <a:rPr lang="en-GB" dirty="0" err="1"/>
              <a:t>Hospita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C98A6-3942-3077-07D6-090109BA16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E413A5-C65E-45A9-834D-666B24EEEB8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73846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All eligible patients in participating ICUs during each period were approached, with efforts made to integrate the protocol into routine ICU workflows.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E413A5-C65E-45A9-834D-666B24EEEB8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2699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CVAD indicates central venous access device. Blue shading represents usual care; purple shading represents 4%tetrasodium EDTA. 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 cluster period was followed by a 1-month follow-up period during which </a:t>
            </a:r>
            <a:r>
              <a:rPr lang="en-GB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enrollment</a:t>
            </a: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ceased in order to maximize the number of patients fulfilling 1 study condition only.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E413A5-C65E-45A9-834D-666B24EEEB8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66259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Prefilled, identical, masked syringes containing 2.5 mL of 4% t-EDTA were then instilled into inactive lumens.</a:t>
            </a:r>
          </a:p>
          <a:p>
            <a:r>
              <a:rPr lang="en-GB" dirty="0"/>
              <a:t>Inactive lumens (ports not actively in use) are "locked" by injecting prefilled syringes of 4% t-EDTA. For </a:t>
            </a:r>
            <a:r>
              <a:rPr lang="en-GB" dirty="0" err="1"/>
              <a:t>hemodialysis</a:t>
            </a:r>
            <a:r>
              <a:rPr lang="en-GB" dirty="0"/>
              <a:t> and </a:t>
            </a:r>
            <a:r>
              <a:rPr lang="en-GB" dirty="0" err="1"/>
              <a:t>trialysis</a:t>
            </a:r>
            <a:r>
              <a:rPr lang="en-GB" dirty="0"/>
              <a:t> lumens, the exact volume instilled is tailored to the specific port volume of the catheter to ensure the lumen is filled without pushing the solution into the patient's systemic circulation.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E413A5-C65E-45A9-834D-666B24EEEB8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97846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58CD1-BD1F-AAAD-353F-CC2DE276E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B051E0-8365-F7DC-DDF7-635C27D00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D5A9D1-1563-F75A-BE7E-F0E8293E6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Citrate acts as a local anticoagulant by chelating calcium and is the standard, preferred locking solution for dialysis access to prevent clotting and reduce infections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E74E2-943E-6260-69A5-E71EE8181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E413A5-C65E-45A9-834D-666B24EEEB8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96954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The planned sample size was 1524 participants, giving 80% power at a two-sided α=.05 to detect a 30% relative reduction in the primary composite event rate, using simulation based on baseline complication rates from an observational period.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E413A5-C65E-45A9-834D-666B24EEEB8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51008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participants with at least 1 CVAD lock during their ICU stay were included in the intention-to-treat population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E413A5-C65E-45A9-834D-666B24EEEB8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36559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Adjusted for age, sex, immunocompromised status, and baseline antimicrobial/anticoagulant therapy.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E413A5-C65E-45A9-834D-666B24EEEB8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79518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(International Council for Harmonization Good Clinical Practice regulations)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err="1"/>
              <a:t>AThe</a:t>
            </a:r>
            <a:r>
              <a:rPr lang="en-GB" dirty="0"/>
              <a:t> study protocol was approved by harmonized review by the Simon Fraser University, Fraser Health Authority, and Island Health Authority research ethics boards (H20-01458) and the University of Manitoba Biomedical Research Ethics Board (HS25325) and Research Review Committee.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E413A5-C65E-45A9-834D-666B24EEEB8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12200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The sponsor had no role in study design, data collection, analysis, manuscript preparation, or publication decisions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413A5-C65E-45A9-834D-666B24EEEB81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79407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Ineligible due to age, </a:t>
            </a:r>
            <a:r>
              <a:rPr lang="en-GB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absence of CVAD, no CVAD locking events</a:t>
            </a: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or decline to receive blood products. </a:t>
            </a:r>
            <a:r>
              <a:rPr lang="en-GB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Postrandomization</a:t>
            </a: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exclusions were due to withdrawal of consent (1) and</a:t>
            </a:r>
          </a:p>
          <a:p>
            <a:r>
              <a:rPr lang="en-GB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coenrollment</a:t>
            </a: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a competing study</a:t>
            </a:r>
          </a:p>
          <a:p>
            <a:r>
              <a:rPr lang="en-GB" b="1" dirty="0"/>
              <a:t>Unit:</a:t>
            </a:r>
            <a:r>
              <a:rPr lang="en-GB" dirty="0"/>
              <a:t> Randomization occurred at the ICU/hospital level (cluster randomization). </a:t>
            </a:r>
            <a:r>
              <a:rPr lang="en-GB" b="1" dirty="0"/>
              <a:t>Method:</a:t>
            </a:r>
            <a:r>
              <a:rPr lang="en-GB" dirty="0"/>
              <a:t> Randomization schedule was generated by a statistician and concealed from those involved in intervention delivery.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413A5-C65E-45A9-834D-666B24EEEB81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96783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413A5-C65E-45A9-834D-666B24EEEB81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80465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Absolute rate difference( unadjusted);The intervention reduced the incidence by 6.85events per 1000catheter days compare to control</a:t>
            </a:r>
          </a:p>
          <a:p>
            <a:r>
              <a:rPr lang="en-US" dirty="0"/>
              <a:t>Rate ratio; the intervention group had 0.68 times the rate of events compare to control</a:t>
            </a:r>
          </a:p>
          <a:p>
            <a:r>
              <a:rPr lang="en-US" dirty="0"/>
              <a:t>Meaning; there was 32% relative reduction in incidence rate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FDF93-A2CE-4B8D-BF10-31F414566BDD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2802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ALTEPLASE=34%</a:t>
            </a:r>
          </a:p>
          <a:p>
            <a:r>
              <a:rPr lang="en-US" dirty="0"/>
              <a:t>CLABSI=26%</a:t>
            </a:r>
          </a:p>
          <a:p>
            <a:r>
              <a:rPr lang="en-US" dirty="0"/>
              <a:t>OCCLUSION =39%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413A5-C65E-45A9-834D-666B24EEEB81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6579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ThisFOREST</a:t>
            </a:r>
            <a:r>
              <a:rPr lang="en-US" dirty="0"/>
              <a:t> PLOT WHICH displays a sub group analysis of a primary outcomes, with effect measure used being Rate ration (RR) WITH 95% confidence interval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Patients with ≥80% adherence to t-EDTA locks had a </a:t>
            </a:r>
            <a:r>
              <a:rPr lang="en-US" b="1" dirty="0"/>
              <a:t>34% lower incidence of the primary outcome compared with control</a:t>
            </a:r>
          </a:p>
          <a:p>
            <a:pPr marL="0" indent="0">
              <a:buNone/>
            </a:pPr>
            <a:r>
              <a:rPr lang="en-US" b="1" dirty="0"/>
              <a:t>Patient with an indwelling </a:t>
            </a:r>
            <a:r>
              <a:rPr lang="en-US" b="1" dirty="0" err="1"/>
              <a:t>cather</a:t>
            </a:r>
            <a:r>
              <a:rPr lang="en-US" b="1" dirty="0"/>
              <a:t> days more than 7 days has 46% lower incidence of the primary outcome compared to the control</a:t>
            </a:r>
          </a:p>
          <a:p>
            <a:pPr marL="0" indent="0">
              <a:buNone/>
            </a:pPr>
            <a:r>
              <a:rPr lang="en-US" b="1" dirty="0"/>
              <a:t>Cvad-84%</a:t>
            </a:r>
          </a:p>
          <a:p>
            <a:pPr marL="0" indent="0">
              <a:buNone/>
            </a:pPr>
            <a:r>
              <a:rPr lang="en-US" dirty="0"/>
              <a:t>Hemodialysis catheter suggests that the outcome was </a:t>
            </a:r>
            <a:r>
              <a:rPr lang="en-US" b="1" dirty="0"/>
              <a:t>about three times more likely in the t-EDTA group than in the control group</a:t>
            </a:r>
            <a:r>
              <a:rPr lang="en-US" dirty="0"/>
              <a:t>, meaning the </a:t>
            </a:r>
            <a:r>
              <a:rPr lang="en-US" b="1" dirty="0"/>
              <a:t>point estimate favors the control</a:t>
            </a:r>
            <a:r>
              <a:rPr lang="en-US" dirty="0"/>
              <a:t> in this subgroup</a:t>
            </a:r>
          </a:p>
          <a:p>
            <a:pPr marL="0" indent="0">
              <a:buNone/>
            </a:pPr>
            <a:r>
              <a:rPr lang="en-US" dirty="0"/>
              <a:t>Conclusively; the trial demonstrates a statistically significant benefit for 4% t-EDTA. The subgroup analysis suggests this effect is driven by patient with high treatment </a:t>
            </a:r>
            <a:r>
              <a:rPr lang="en-US" dirty="0" err="1"/>
              <a:t>adheherence</a:t>
            </a:r>
            <a:r>
              <a:rPr lang="en-US" dirty="0"/>
              <a:t>, longer catheter duration(&gt;7days)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413A5-C65E-45A9-834D-666B24EEEB81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91509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protective effect of t-EDTA locking was also more pronounced in patients who experienced stronger adherence to study protocol, as exemplified by the ≥80% adherence and PP groups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413A5-C65E-45A9-834D-666B24EEEB81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9741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HENCE LEADIMG TO DECEREASE ON CLABIS AND CATHTER OCCLUSION</a:t>
            </a:r>
          </a:p>
          <a:p>
            <a:pPr marL="228600" indent="-228600">
              <a:buAutoNum type="arabicPeriod"/>
            </a:pPr>
            <a:r>
              <a:rPr lang="en-US" dirty="0">
                <a:latin typeface="Aptos" panose="02110004020202020204"/>
              </a:rPr>
              <a:t>care during which nurses spend more time managing occluded central lines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FDF93-A2CE-4B8D-BF10-31F414566BDD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641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planned sample size of 1524 , although 1468 patients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FDF93-A2CE-4B8D-BF10-31F414566BDD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5218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Regression analysis with covariate adjustment</a:t>
            </a:r>
            <a:r>
              <a:rPr lang="en-US" dirty="0"/>
              <a:t> is a statistical method used to </a:t>
            </a:r>
            <a:r>
              <a:rPr lang="en-US" b="1" dirty="0"/>
              <a:t>compare outcomes between groups while controlling for other factors (covariates) that could influence the result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FDF93-A2CE-4B8D-BF10-31F414566BDD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65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ptos" panose="02110004020202020204"/>
                <a:cs typeface="Times New Roman" panose="02020603050405020304" pitchFamily="18" charset="0"/>
              </a:rPr>
              <a:t>and necessitates further evaluation in larger studies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FDF93-A2CE-4B8D-BF10-31F414566BDD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97624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Aptos" panose="02110004020202020204"/>
                <a:cs typeface="Times New Roman" panose="02020603050405020304" pitchFamily="18" charset="0"/>
              </a:rPr>
              <a:t>, so later ward or outpatient CVAD complications were not measured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413A5-C65E-45A9-834D-666B24EEEB81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01125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Difficulties in operationalizing the protocol to its fullest extent were compounded by issues such as a shortage of nursing staff, post-COVID burnout, and study fatigue</a:t>
            </a:r>
          </a:p>
          <a:p>
            <a:r>
              <a:rPr lang="en-US" b="0" i="0" dirty="0">
                <a:effectLst/>
                <a:latin typeface="Nunito Sans" pitchFamily="2" charset="0"/>
              </a:rPr>
              <a:t>The per-protocol and adherence analyses are biologically coherent but not protected by </a:t>
            </a:r>
            <a:r>
              <a:rPr lang="en-US" b="0" i="0" dirty="0" err="1">
                <a:effectLst/>
                <a:latin typeface="Nunito Sans" pitchFamily="2" charset="0"/>
              </a:rPr>
              <a:t>randomisation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FDF93-A2CE-4B8D-BF10-31F414566BDD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430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effectLst/>
                <a:latin typeface="Nunito Sans" pitchFamily="2" charset="0"/>
              </a:rPr>
              <a:t>no funder role in design, conduct, analysis, interpretation, or publication decision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413A5-C65E-45A9-834D-666B24EEEB81}" type="slidenum">
              <a:rPr lang="en-GB" smtClean="0"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87357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413A5-C65E-45A9-834D-666B24EEEB81}" type="slidenum">
              <a:rPr lang="en-GB" smtClean="0"/>
              <a:t>63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0648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78344-27B4-DC01-497D-7328F45F6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F5C87-FE9C-8AA3-561F-017FFEBF04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4DC58-F3DC-CD84-8E4C-930F6D92B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A2D47-01D6-4A08-A2E5-86738C35F5D1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EF5B7-9CC1-5A7C-EE52-D52500D42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3412-5722-2534-8AD9-9A0FF79DC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1038E-6D79-471B-AACD-79C8C9C543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571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8FE05-07B3-C9D4-7015-2C2D2BC79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BF369-3851-C6C0-8655-879551111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buFont typeface="Courier New" panose="02070309020205020404" pitchFamily="49" charset="0"/>
              <a:buChar char="o"/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F3B67-C477-E472-94B5-4A36BE2B5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A2D47-01D6-4A08-A2E5-86738C35F5D1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DD8FF-BC8D-D5FF-EE00-C788E5B20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AEF20-AAC5-7C02-E184-A5D1BB958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1038E-6D79-471B-AACD-79C8C9C543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9555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FC5DB-C523-3CDE-28D2-CCE14CF36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9E392-CA2D-6397-2D20-F236ACAC2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5938D-3672-48D7-D324-C000E0EBD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A2D47-01D6-4A08-A2E5-86738C35F5D1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48168-88E4-7F06-461F-5E1D82329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BAF66-98D2-3D71-59B9-2C2062A23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1038E-6D79-471B-AACD-79C8C9C543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0601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D51E4-2E9A-A9C7-DF4C-1CC13DA75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F5A7A-3E48-7BAA-B34F-8F8C2C7AC3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50D3C9-36EE-5F7C-D642-E84AEBF95D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C1A76-CE5A-073C-8700-F04EE36CE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A2D47-01D6-4A08-A2E5-86738C35F5D1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4686B5-5FE8-C4AC-75CC-965F33B50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9C9EE-F542-23FA-66CD-D6875CB47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1038E-6D79-471B-AACD-79C8C9C543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24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D0254-3D8D-D032-2F48-3DA3BA933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64DBB-F2B7-1008-385F-40B78A82A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E8358F-B91F-DBA3-924D-E0EDBF615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96BB69-7A7B-C278-5891-F86646BD37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7E708C-3871-FA10-8AA9-3D92776525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1ECECB-E504-983A-5D52-CB7BAB247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A2D47-01D6-4A08-A2E5-86738C35F5D1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D4B1A8-4F53-E000-61E2-15FF6369E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DCB00C-A96F-5BEA-37C1-1389FB47F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1038E-6D79-471B-AACD-79C8C9C543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5402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B8FEF-31A1-B67A-7601-864BFB2A5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B5DA45-91C1-6151-E486-131FD9EB6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A2D47-01D6-4A08-A2E5-86738C35F5D1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112A6-943A-B4D9-1084-3995BF56C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ABB649-3E58-5738-0A0C-943CEA74B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1038E-6D79-471B-AACD-79C8C9C543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6654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874735-FAE3-11A7-58BE-9E743D2BA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A2D47-01D6-4A08-A2E5-86738C35F5D1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6FDF8B-A228-63ED-9139-ADDB0C328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0A3C3-E81A-EECF-73A6-D53FFCA82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1038E-6D79-471B-AACD-79C8C9C543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8430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41C82-E969-9B25-2A8A-3AFEA431C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1E559-8D8D-0824-4331-DEAE06104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20CDB5-A42C-53C6-3301-9F3B62E49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33207-0D17-0A04-9564-21FF892F7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A2D47-01D6-4A08-A2E5-86738C35F5D1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2D35B-394B-235F-5EEF-80D4ED463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1D584-8EAD-8CFA-6A45-1721597C9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1038E-6D79-471B-AACD-79C8C9C543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9753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F626B-E179-79E5-A5F2-972F2B0D8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A2F3FF-CA7B-4E24-B86A-C08382B1BC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14043-89A6-FDC9-9D6C-EA3B94DEE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575A8-5ADC-8C53-CB67-FC8BE231B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A2D47-01D6-4A08-A2E5-86738C35F5D1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2AC7F-F485-74DC-C612-F2180C085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51C33-2F3C-3DE9-0C2B-CF550A717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1038E-6D79-471B-AACD-79C8C9C543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9438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63226-6449-1C86-8B9B-DDBB58D01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716EA3-8D50-DA3B-C2D1-0916320868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99AF8-AA81-410A-76E0-92CD13B10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A2D47-01D6-4A08-A2E5-86738C35F5D1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47102-7ABD-DE80-1D2F-CF75D4F86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7BDB8-0058-6983-CA81-992C4C181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1038E-6D79-471B-AACD-79C8C9C543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5358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722855-8F72-E71C-4491-4853C36A28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8BD24F-8FFB-819D-FCAF-4FD18A3E4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44C6B-E366-C6B3-7F6B-1644F5A52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A2D47-01D6-4A08-A2E5-86738C35F5D1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71A67-485A-6B17-DF4D-72321CAD5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6822A-CC7E-4AF4-1F0E-A81580974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1038E-6D79-471B-AACD-79C8C9C543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7797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B8EAF8-6347-4D28-BBF8-A7A25010F22B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2007C6-DA5A-408C-8559-9E4BEEF7AAE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58422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B8EAF8-6347-4D28-BBF8-A7A25010F22B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2007C6-DA5A-408C-8559-9E4BEEF7AAE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5264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5EEDC2-A64F-F741-57E9-A4D24A564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64086-7300-90B9-2469-8090AE7BF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55CBA-034D-2DCA-7C3B-1E603B89BA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5A2D47-01D6-4A08-A2E5-86738C35F5D1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2547F-1668-6207-0F99-5302B289A9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52818-A450-712C-8067-F9B959B106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1038E-6D79-471B-AACD-79C8C9C543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214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Courier New" panose="02070309020205020404" pitchFamily="49" charset="0"/>
        <a:buChar char="o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8EAF8-6347-4D28-BBF8-A7A25010F22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007C6-DA5A-408C-8559-9E4BEEF7A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920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ptos Display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Courier New" panose="02070309020205020404" pitchFamily="49" charset="0"/>
        <a:buChar char="o"/>
        <a:defRPr sz="2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F4355-36B0-426B-B09D-4079158BD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7696" y="281115"/>
            <a:ext cx="9144000" cy="2387600"/>
          </a:xfrm>
        </p:spPr>
        <p:txBody>
          <a:bodyPr>
            <a:normAutofit/>
          </a:bodyPr>
          <a:lstStyle/>
          <a:p>
            <a:r>
              <a:rPr lang="en-US" sz="7200" b="1" dirty="0">
                <a:latin typeface="Aptos" panose="020B0004020202020204" pitchFamily="34" charset="0"/>
                <a:cs typeface="Times New Roman" panose="02020603050405020304" charset="0"/>
              </a:rPr>
              <a:t>JOURNAL CLUB PRESENTATION</a:t>
            </a:r>
            <a:endParaRPr lang="LID4096" sz="7200" dirty="0"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281441-A612-08ED-3D9D-10903E85D6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0728" y="3609475"/>
            <a:ext cx="4983640" cy="296741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800" b="1" dirty="0">
                <a:latin typeface="Aptos" panose="020B0004020202020204"/>
                <a:cs typeface="Times New Roman" panose="02020603050405020304" charset="0"/>
              </a:rPr>
              <a:t>PRESENTERS:</a:t>
            </a:r>
            <a:endParaRPr lang="en-US" sz="2800" dirty="0">
              <a:latin typeface="Aptos" panose="020B0004020202020204"/>
              <a:cs typeface="Times New Roman" panose="02020603050405020304" charset="0"/>
            </a:endParaRPr>
          </a:p>
          <a:p>
            <a:pPr marL="457200" indent="-457200" algn="just">
              <a:buAutoNum type="arabicPeriod"/>
            </a:pPr>
            <a:r>
              <a:rPr lang="en-US" sz="2800" dirty="0">
                <a:latin typeface="Aptos" panose="020B0004020202020204"/>
                <a:cs typeface="Times New Roman" panose="02020603050405020304" charset="0"/>
              </a:rPr>
              <a:t>DR. MUHUDI YASINI</a:t>
            </a:r>
          </a:p>
          <a:p>
            <a:pPr marL="457200" indent="-457200" algn="just">
              <a:buAutoNum type="arabicPeriod"/>
            </a:pPr>
            <a:r>
              <a:rPr lang="en-US" sz="2800" dirty="0">
                <a:latin typeface="Aptos" panose="020B0004020202020204"/>
                <a:cs typeface="Times New Roman" panose="02020603050405020304" charset="0"/>
              </a:rPr>
              <a:t>DR. ALLAN MUNISI </a:t>
            </a:r>
          </a:p>
          <a:p>
            <a:pPr marL="457200" indent="-457200" algn="just">
              <a:buAutoNum type="arabicPeriod"/>
            </a:pPr>
            <a:r>
              <a:rPr lang="en-US" sz="2800" dirty="0">
                <a:latin typeface="Aptos" panose="020B0004020202020204"/>
                <a:cs typeface="Times New Roman" panose="02020603050405020304" charset="0"/>
              </a:rPr>
              <a:t>DR. VIOLET WILBARD</a:t>
            </a:r>
          </a:p>
          <a:p>
            <a:endParaRPr lang="LID4096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5674FD-7BF9-C9F4-810B-4DCBB20159C1}"/>
              </a:ext>
            </a:extLst>
          </p:cNvPr>
          <p:cNvSpPr txBox="1"/>
          <p:nvPr/>
        </p:nvSpPr>
        <p:spPr>
          <a:xfrm>
            <a:off x="8299383" y="5905929"/>
            <a:ext cx="3517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cs typeface="Times New Roman" panose="02020603050405020304" pitchFamily="18" charset="0"/>
              </a:rPr>
              <a:t>DATE: 17</a:t>
            </a:r>
            <a:r>
              <a:rPr kumimoji="0" lang="en-US" sz="2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cs typeface="Times New Roman" panose="02020603050405020304" pitchFamily="18" charset="0"/>
              </a:rPr>
              <a:t>TH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cs typeface="Times New Roman" panose="02020603050405020304" pitchFamily="18" charset="0"/>
              </a:rPr>
              <a:t> JULY  2026</a:t>
            </a:r>
            <a:endParaRPr kumimoji="0" lang="LID4096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899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F5E571-37FE-E0BE-8780-90A6F1BCC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4549"/>
          </a:xfrm>
        </p:spPr>
        <p:txBody>
          <a:bodyPr>
            <a:normAutofit/>
          </a:bodyPr>
          <a:lstStyle/>
          <a:p>
            <a:pPr algn="r"/>
            <a:r>
              <a:rPr lang="en-US" sz="2800" b="1" dirty="0"/>
              <a:t>May 2026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D565E89-8675-3902-C00A-78F0E17503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780" y="1174458"/>
            <a:ext cx="11828477" cy="5574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740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54761-3B11-B04C-2921-8C48E6853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268"/>
            <a:ext cx="10515600" cy="1325563"/>
          </a:xfrm>
        </p:spPr>
        <p:txBody>
          <a:bodyPr/>
          <a:lstStyle/>
          <a:p>
            <a:r>
              <a:rPr lang="en-GB" dirty="0">
                <a:latin typeface="Aptos" panose="020B0004020202020204"/>
              </a:rPr>
              <a:t>BACKGROUND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F3D28-ABE3-CEBD-D7CA-EEA72B6C6A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8442" y="1365836"/>
            <a:ext cx="6629400" cy="5010901"/>
          </a:xfrm>
        </p:spPr>
        <p:txBody>
          <a:bodyPr>
            <a:normAutofit lnSpcReduction="10000"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CVAD is an indwelling device inserted into a large, central vein (most commonly the internal jugular, subclavian or femoral)</a:t>
            </a:r>
          </a:p>
          <a:p>
            <a:r>
              <a:rPr lang="en-US" dirty="0"/>
              <a:t>The catheter tip is positioned in the </a:t>
            </a:r>
            <a:r>
              <a:rPr lang="en-US" b="1" dirty="0"/>
              <a:t>superior vena cava (SVC), inferior vena cava (IVC), or right atrium</a:t>
            </a:r>
            <a:r>
              <a:rPr lang="en-US" dirty="0"/>
              <a:t> for reliable central venous access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B64AF5-5A26-21CC-2EAE-E16F5841295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79103" y="1305670"/>
            <a:ext cx="4816642" cy="501090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2DE9F6-B72D-3F0A-CC4E-3C48F7CEC977}"/>
              </a:ext>
            </a:extLst>
          </p:cNvPr>
          <p:cNvSpPr txBox="1"/>
          <p:nvPr/>
        </p:nvSpPr>
        <p:spPr>
          <a:xfrm>
            <a:off x="266700" y="6432150"/>
            <a:ext cx="116586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  <a:cs typeface="Times New Roman" panose="02020603050405020304" pitchFamily="18" charset="0"/>
              </a:rPr>
              <a:t>WHO 2026 Guidelines for prevention of BSI and other infections associated with use of intravascular catheter</a:t>
            </a:r>
            <a:endParaRPr lang="en-GB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837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612" y="1242906"/>
            <a:ext cx="10364775" cy="557106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12800" y="375920"/>
            <a:ext cx="104655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latin typeface="Aptos" panose="020B0004020202020204"/>
              </a:rPr>
              <a:t>BACKGROUND</a:t>
            </a:r>
            <a:endParaRPr lang="en-US" sz="4400" b="1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121263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/>
                <a:cs typeface="Times New Roman" panose="02020603050405020304" pitchFamily="18" charset="0"/>
              </a:rPr>
              <a:t>COMPLICATIONS OF CVAD</a:t>
            </a:r>
            <a:endParaRPr lang="en-US" dirty="0">
              <a:latin typeface="Aptos" panose="020B000402020202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cs typeface="Times New Roman" panose="02020603050405020304" pitchFamily="18" charset="0"/>
              </a:rPr>
              <a:t>Clinically important complications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cs typeface="Times New Roman" panose="02020603050405020304" pitchFamily="18" charset="0"/>
              </a:rPr>
              <a:t>CLABSI/CRBSI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cs typeface="Times New Roman" panose="02020603050405020304" pitchFamily="18" charset="0"/>
              </a:rPr>
              <a:t>Catheter occlusion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cs typeface="Times New Roman" panose="02020603050405020304" pitchFamily="18" charset="0"/>
              </a:rPr>
              <a:t>Catheter colonization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cs typeface="Times New Roman" panose="02020603050405020304" pitchFamily="18" charset="0"/>
              </a:rPr>
              <a:t>Catheter-associated venous thrombosis</a:t>
            </a:r>
          </a:p>
        </p:txBody>
      </p:sp>
    </p:spTree>
    <p:extLst>
      <p:ext uri="{BB962C8B-B14F-4D97-AF65-F5344CB8AC3E}">
        <p14:creationId xmlns:p14="http://schemas.microsoft.com/office/powerpoint/2010/main" val="507573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/>
                <a:cs typeface="Times New Roman" panose="02020603050405020304" pitchFamily="18" charset="0"/>
              </a:rPr>
              <a:t>COMPLICATIONS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>
                <a:latin typeface="Aptos" panose="020B0004020202020204"/>
                <a:cs typeface="Times New Roman" panose="02020603050405020304" pitchFamily="18" charset="0"/>
              </a:rPr>
              <a:t>OF CVAD</a:t>
            </a:r>
            <a:endParaRPr lang="en-US" dirty="0">
              <a:latin typeface="Aptos" panose="020B000402020202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CLABSI: Laboratory-confirmed bloodstream infection in a patient with a CVAD in place for &gt;48 hours, with no other identifiable source</a:t>
            </a:r>
          </a:p>
          <a:p>
            <a:r>
              <a:rPr lang="en-US" dirty="0"/>
              <a:t>CRBSI: Bloodstream infection microbiologically confirmed to originate from the catheter</a:t>
            </a:r>
          </a:p>
          <a:p>
            <a:r>
              <a:rPr lang="en-US" dirty="0"/>
              <a:t>Catheter colonization: Significant microbial growth on the catheter tip, indicating catheter contamination without necessarily causing bloodstream infection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900" y="5831458"/>
            <a:ext cx="11654047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" panose="020B0004020202020204" pitchFamily="34" charset="0"/>
                <a:cs typeface="Aparajita" panose="020B0502040204020203" pitchFamily="18" charset="0"/>
              </a:rPr>
              <a:t>1.WHO 2026 Guidelines for prevention of BSI and other infections associated with use of intravascular catheter</a:t>
            </a:r>
          </a:p>
          <a:p>
            <a:r>
              <a:rPr lang="en-US" sz="1400" dirty="0">
                <a:latin typeface="Aptos" panose="020B0004020202020204" pitchFamily="34" charset="0"/>
                <a:cs typeface="Aparajita" panose="020B0502040204020203" pitchFamily="18" charset="0"/>
              </a:rPr>
              <a:t>2.Mermel, L. A., </a:t>
            </a:r>
            <a:r>
              <a:rPr lang="en-US" sz="1400" dirty="0" err="1">
                <a:latin typeface="Aptos" panose="020B0004020202020204" pitchFamily="34" charset="0"/>
                <a:cs typeface="Aparajita" panose="020B0502040204020203" pitchFamily="18" charset="0"/>
              </a:rPr>
              <a:t>Allon</a:t>
            </a:r>
            <a:r>
              <a:rPr lang="en-US" sz="1400" dirty="0">
                <a:latin typeface="Aptos" panose="020B0004020202020204" pitchFamily="34" charset="0"/>
                <a:cs typeface="Aparajita" panose="020B0502040204020203" pitchFamily="18" charset="0"/>
              </a:rPr>
              <a:t>, et al. (2009). Clinical Practice Guidelines for the Diagnosis and Management of Intravascular Catheter-Related Infection: 2009 Update by the Infectious Diseases Society of America. </a:t>
            </a:r>
            <a:r>
              <a:rPr lang="en-US" sz="1400" i="1" dirty="0">
                <a:latin typeface="Aptos" panose="020B0004020202020204" pitchFamily="34" charset="0"/>
                <a:cs typeface="Aparajita" panose="020B0502040204020203" pitchFamily="18" charset="0"/>
              </a:rPr>
              <a:t>Clinical Infectious Diseases</a:t>
            </a:r>
            <a:r>
              <a:rPr lang="en-US" sz="1400" dirty="0">
                <a:latin typeface="Aptos" panose="020B0004020202020204" pitchFamily="34" charset="0"/>
                <a:cs typeface="Aparajita" panose="020B0502040204020203" pitchFamily="18" charset="0"/>
              </a:rPr>
              <a:t>, </a:t>
            </a:r>
            <a:r>
              <a:rPr lang="en-US" sz="1400" i="1" dirty="0">
                <a:latin typeface="Aptos" panose="020B0004020202020204" pitchFamily="34" charset="0"/>
                <a:cs typeface="Aparajita" panose="020B0502040204020203" pitchFamily="18" charset="0"/>
              </a:rPr>
              <a:t>49</a:t>
            </a:r>
            <a:r>
              <a:rPr lang="en-US" sz="1400" dirty="0">
                <a:latin typeface="Aptos" panose="020B0004020202020204" pitchFamily="34" charset="0"/>
                <a:cs typeface="Aparajita" panose="020B0502040204020203" pitchFamily="18" charset="0"/>
              </a:rPr>
              <a:t>(1), 1–45</a:t>
            </a:r>
          </a:p>
        </p:txBody>
      </p:sp>
    </p:spTree>
    <p:extLst>
      <p:ext uri="{BB962C8B-B14F-4D97-AF65-F5344CB8AC3E}">
        <p14:creationId xmlns:p14="http://schemas.microsoft.com/office/powerpoint/2010/main" val="3231759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  <a:latin typeface="Aptos" panose="020B0004020202020204"/>
                <a:cs typeface="Times New Roman" panose="02020603050405020304" pitchFamily="18" charset="0"/>
              </a:rPr>
              <a:t>EPIDEMIOLOGY</a:t>
            </a:r>
            <a:endParaRPr lang="en-US" dirty="0">
              <a:latin typeface="Aptos" panose="020B000402020202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8168"/>
            <a:ext cx="10515600" cy="458879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cs typeface="Times New Roman" panose="02020603050405020304" pitchFamily="18" charset="0"/>
              </a:rPr>
              <a:t>A 2018 meta-analysis on </a:t>
            </a:r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Complication and Failures of CVADs in Adult Critical Care Settings</a:t>
            </a:r>
            <a:r>
              <a:rPr lang="en-US" dirty="0">
                <a:cs typeface="Times New Roman" panose="02020603050405020304" pitchFamily="18" charset="0"/>
              </a:rPr>
              <a:t> reported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cs typeface="Times New Roman" panose="02020603050405020304" pitchFamily="18" charset="0"/>
              </a:rPr>
              <a:t>CLABSI: 4.59 per 1000 catheter-days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cs typeface="Times New Roman" panose="02020603050405020304" pitchFamily="18" charset="0"/>
              </a:rPr>
              <a:t>Catheter-associated venous thrombosis: 8.34 per 1000 catheter-days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cs typeface="Times New Roman" panose="02020603050405020304" pitchFamily="18" charset="0"/>
              </a:rPr>
              <a:t>Catheter occlusion affects between 4% and 22% of all CVADs in adult ICUs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5900" y="6288660"/>
            <a:ext cx="11654047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400" dirty="0">
                <a:solidFill>
                  <a:prstClr val="black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Takashima, M., </a:t>
            </a:r>
            <a:r>
              <a:rPr lang="en-US" sz="1400" dirty="0" err="1">
                <a:solidFill>
                  <a:prstClr val="black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Schults</a:t>
            </a:r>
            <a:r>
              <a:rPr lang="en-US" sz="1400" dirty="0">
                <a:solidFill>
                  <a:prstClr val="black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, J., </a:t>
            </a:r>
            <a:r>
              <a:rPr lang="en-US" sz="1400" dirty="0" err="1">
                <a:solidFill>
                  <a:prstClr val="black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Mihala</a:t>
            </a:r>
            <a:r>
              <a:rPr lang="en-US" sz="1400" dirty="0">
                <a:solidFill>
                  <a:prstClr val="black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, G., Corley, A., &amp; Ullman, A. (2018). Complication and Failures of Central Vascular Access Device in Adult Critical Care Settings*. </a:t>
            </a:r>
            <a:r>
              <a:rPr lang="en-US" sz="1400" i="1" dirty="0">
                <a:solidFill>
                  <a:prstClr val="black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Critical Care Medicine</a:t>
            </a:r>
            <a:r>
              <a:rPr lang="en-US" sz="1400" dirty="0">
                <a:solidFill>
                  <a:prstClr val="black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solidFill>
                  <a:prstClr val="black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46</a:t>
            </a:r>
            <a:r>
              <a:rPr lang="en-US" sz="1400" dirty="0">
                <a:solidFill>
                  <a:prstClr val="black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(12), 1998–2009</a:t>
            </a:r>
          </a:p>
        </p:txBody>
      </p:sp>
    </p:spTree>
    <p:extLst>
      <p:ext uri="{BB962C8B-B14F-4D97-AF65-F5344CB8AC3E}">
        <p14:creationId xmlns:p14="http://schemas.microsoft.com/office/powerpoint/2010/main" val="274545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  <a:latin typeface="Aptos" panose="020B0004020202020204"/>
                <a:cs typeface="Times New Roman" panose="02020603050405020304" pitchFamily="18" charset="0"/>
              </a:rPr>
              <a:t>EPIDEMIOLOGY</a:t>
            </a:r>
            <a:endParaRPr lang="en-US" dirty="0">
              <a:latin typeface="Aptos" panose="020B000402020202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8735"/>
            <a:ext cx="10515600" cy="4351338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Hospital based study done in Kenya determine the rate of CLABSI among the patient admitted in ICU for duration of 1 year revealed;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CLABSI: 13.4 per 1000 central-line days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In Tanzania, study done among patient undergoing hemodialysis at KCMC revealed;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56.6% of studied population developed CRBSI 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15900" y="5831458"/>
            <a:ext cx="11654047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400" dirty="0">
                <a:solidFill>
                  <a:prstClr val="black"/>
                </a:solidFill>
                <a:latin typeface="Aptos" panose="020B0004020202020204" pitchFamily="34" charset="0"/>
              </a:rPr>
              <a:t>1.Costantine, A. R., </a:t>
            </a:r>
            <a:r>
              <a:rPr lang="en-US" sz="1400" dirty="0" err="1">
                <a:solidFill>
                  <a:prstClr val="black"/>
                </a:solidFill>
                <a:latin typeface="Aptos" panose="020B0004020202020204" pitchFamily="34" charset="0"/>
              </a:rPr>
              <a:t>Urasa</a:t>
            </a:r>
            <a:r>
              <a:rPr lang="en-US" sz="1400" dirty="0">
                <a:solidFill>
                  <a:prstClr val="black"/>
                </a:solidFill>
                <a:latin typeface="Aptos" panose="020B0004020202020204" pitchFamily="34" charset="0"/>
              </a:rPr>
              <a:t>, S. J., et al. (2025). Catheter‐Related Bloodstream Infections Among Hemodialysis Patients in Northern Tanzania: Insights From a Single‐Centre Retrospective Study. </a:t>
            </a:r>
            <a:r>
              <a:rPr lang="en-US" sz="1400" i="1" dirty="0">
                <a:solidFill>
                  <a:prstClr val="black"/>
                </a:solidFill>
                <a:latin typeface="Aptos" panose="020B0004020202020204" pitchFamily="34" charset="0"/>
              </a:rPr>
              <a:t>Health Science Reports</a:t>
            </a:r>
            <a:r>
              <a:rPr lang="en-US" sz="1400" dirty="0">
                <a:solidFill>
                  <a:prstClr val="black"/>
                </a:solidFill>
                <a:latin typeface="Aptos" panose="020B0004020202020204" pitchFamily="34" charset="0"/>
              </a:rPr>
              <a:t>, </a:t>
            </a:r>
            <a:r>
              <a:rPr lang="en-US" sz="1400" i="1" dirty="0">
                <a:solidFill>
                  <a:prstClr val="black"/>
                </a:solidFill>
                <a:latin typeface="Aptos" panose="020B0004020202020204" pitchFamily="34" charset="0"/>
              </a:rPr>
              <a:t>8</a:t>
            </a:r>
            <a:r>
              <a:rPr lang="en-US" sz="1400" dirty="0">
                <a:solidFill>
                  <a:prstClr val="black"/>
                </a:solidFill>
                <a:latin typeface="Aptos" panose="020B0004020202020204" pitchFamily="34" charset="0"/>
              </a:rPr>
              <a:t>(1), e70338</a:t>
            </a:r>
          </a:p>
          <a:p>
            <a:pPr lvl="0">
              <a:defRPr/>
            </a:pPr>
            <a:r>
              <a:rPr lang="en-US" sz="1400" dirty="0">
                <a:solidFill>
                  <a:prstClr val="black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2.Mishra, D. K., </a:t>
            </a:r>
            <a:r>
              <a:rPr lang="en-US" sz="1400" dirty="0" err="1">
                <a:solidFill>
                  <a:prstClr val="black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Shamanna</a:t>
            </a:r>
            <a:r>
              <a:rPr lang="en-US" sz="1400" dirty="0">
                <a:solidFill>
                  <a:prstClr val="black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, B. R., </a:t>
            </a:r>
            <a:r>
              <a:rPr lang="en-US" sz="1400" dirty="0" err="1">
                <a:solidFill>
                  <a:prstClr val="black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Busakhala</a:t>
            </a:r>
            <a:r>
              <a:rPr lang="en-US" sz="1400" dirty="0">
                <a:solidFill>
                  <a:prstClr val="black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, N., Singh, G., &amp; </a:t>
            </a:r>
            <a:r>
              <a:rPr lang="en-US" sz="1400" dirty="0" err="1">
                <a:solidFill>
                  <a:prstClr val="black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Ojala</a:t>
            </a:r>
            <a:r>
              <a:rPr lang="en-US" sz="1400" dirty="0">
                <a:solidFill>
                  <a:prstClr val="black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, L. (2023). </a:t>
            </a:r>
            <a:r>
              <a:rPr lang="en-US" sz="1400" i="1" dirty="0">
                <a:solidFill>
                  <a:prstClr val="black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Incidence and Risk Factors of Central Line Associated Blood Stream Infections in Private Healthcare Setting in Western Kenya</a:t>
            </a:r>
            <a:r>
              <a:rPr lang="en-US" sz="1400" dirty="0">
                <a:solidFill>
                  <a:prstClr val="black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400" i="1" dirty="0">
                <a:solidFill>
                  <a:prstClr val="black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8</a:t>
            </a:r>
            <a:r>
              <a:rPr lang="en-US" sz="1400" dirty="0">
                <a:solidFill>
                  <a:prstClr val="black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(9)</a:t>
            </a:r>
          </a:p>
        </p:txBody>
      </p:sp>
    </p:spTree>
    <p:extLst>
      <p:ext uri="{BB962C8B-B14F-4D97-AF65-F5344CB8AC3E}">
        <p14:creationId xmlns:p14="http://schemas.microsoft.com/office/powerpoint/2010/main" val="3272409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365125"/>
            <a:ext cx="10873740" cy="1325563"/>
          </a:xfrm>
        </p:spPr>
        <p:txBody>
          <a:bodyPr/>
          <a:lstStyle/>
          <a:p>
            <a:r>
              <a:rPr lang="en-US" dirty="0">
                <a:latin typeface="Aptos" panose="020B0004020202020204"/>
                <a:cs typeface="Times New Roman" panose="02020603050405020304" pitchFamily="18" charset="0"/>
              </a:rPr>
              <a:t>PATHOGENESIS CVAD’S COMPLICATIONS</a:t>
            </a:r>
            <a:endParaRPr lang="en-US" dirty="0">
              <a:latin typeface="Aptos" panose="020B0004020202020204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47770" y="1825625"/>
            <a:ext cx="88964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015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5"/>
            <a:ext cx="10896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ptos" panose="020B0004020202020204"/>
                <a:cs typeface="Times New Roman" panose="02020603050405020304" pitchFamily="18" charset="0"/>
              </a:rPr>
              <a:t>PREVENTION OF CVAD COMPLICATIONS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5978"/>
            <a:ext cx="10515600" cy="534202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CVAD complication prevention requires a multimodal approach throughout the catheter lifecycle—from insertion to removal</a:t>
            </a:r>
          </a:p>
          <a:p>
            <a:pPr>
              <a:lnSpc>
                <a:spcPct val="150000"/>
              </a:lnSpc>
            </a:pPr>
            <a:r>
              <a:rPr lang="en-US" dirty="0"/>
              <a:t>Optimal catheter maintenance is the cornerstone of preventing infection and occlusion</a:t>
            </a:r>
          </a:p>
          <a:p>
            <a:pPr>
              <a:lnSpc>
                <a:spcPct val="150000"/>
              </a:lnSpc>
            </a:pPr>
            <a:r>
              <a:rPr lang="en-US" dirty="0"/>
              <a:t>Key maintenance strategies: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Strict hand hygiene and aseptic technique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Standardized flushing and locking protocols</a:t>
            </a:r>
          </a:p>
        </p:txBody>
      </p:sp>
    </p:spTree>
    <p:extLst>
      <p:ext uri="{BB962C8B-B14F-4D97-AF65-F5344CB8AC3E}">
        <p14:creationId xmlns:p14="http://schemas.microsoft.com/office/powerpoint/2010/main" val="2257919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/>
                <a:cs typeface="Times New Roman" panose="02020603050405020304" pitchFamily="18" charset="0"/>
              </a:rPr>
              <a:t>LOCKING PROTOCOL FOR CVAD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4487"/>
            <a:ext cx="10515600" cy="4732476"/>
          </a:xfrm>
        </p:spPr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Locking</a:t>
            </a:r>
            <a:r>
              <a:rPr lang="en-US" dirty="0">
                <a:cs typeface="Times New Roman" panose="02020603050405020304" pitchFamily="18" charset="0"/>
              </a:rPr>
              <a:t> is the process of instilling a small volume of solution into the catheter lumen after flushing while it is not in use</a:t>
            </a:r>
          </a:p>
          <a:p>
            <a:r>
              <a:rPr lang="en-US" dirty="0"/>
              <a:t>Lock solutions have evolved from simple anticoagulation → multifunctional prevention of catheter occlusion and infection</a:t>
            </a:r>
            <a:endParaRPr lang="en-US" dirty="0"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Normal saline (</a:t>
            </a:r>
            <a:r>
              <a:rPr lang="en-US" dirty="0" err="1">
                <a:cs typeface="Times New Roman" panose="02020603050405020304" pitchFamily="18" charset="0"/>
              </a:rPr>
              <a:t>NaCl</a:t>
            </a:r>
            <a:r>
              <a:rPr lang="en-US" dirty="0">
                <a:cs typeface="Times New Roman" panose="02020603050405020304" pitchFamily="18" charset="0"/>
              </a:rPr>
              <a:t> 0.9%)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Heparin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Citrate (4% VS 46.7%)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4% tetra-sodium EDTA (t-EDTA)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900" y="6306790"/>
            <a:ext cx="11658600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 err="1">
                <a:latin typeface="Aptos" panose="020B0004020202020204" pitchFamily="34" charset="0"/>
                <a:cs typeface="Times New Roman" panose="02020603050405020304" pitchFamily="18" charset="0"/>
              </a:rPr>
              <a:t>Ornowska</a:t>
            </a: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, M., </a:t>
            </a:r>
            <a:r>
              <a:rPr lang="en-US" sz="1400" dirty="0" err="1">
                <a:latin typeface="Aptos" panose="020B0004020202020204" pitchFamily="34" charset="0"/>
                <a:cs typeface="Times New Roman" panose="02020603050405020304" pitchFamily="18" charset="0"/>
              </a:rPr>
              <a:t>Smithman</a:t>
            </a: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, J., &amp; Reynolds, S. (2023). Locking solutions for prevention of central venous access device complications in the adult critical care population: A systematic review. </a:t>
            </a:r>
            <a:r>
              <a:rPr lang="en-US" sz="1400" i="1" dirty="0">
                <a:latin typeface="Aptos" panose="020B0004020202020204" pitchFamily="34" charset="0"/>
                <a:cs typeface="Times New Roman" panose="02020603050405020304" pitchFamily="18" charset="0"/>
              </a:rPr>
              <a:t>PLOS ONE</a:t>
            </a: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latin typeface="Aptos" panose="020B0004020202020204" pitchFamily="34" charset="0"/>
                <a:cs typeface="Times New Roman" panose="02020603050405020304" pitchFamily="18" charset="0"/>
              </a:rPr>
              <a:t>18</a:t>
            </a: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(10), e0289938. https://doi.org/10.1371/journal.pone.0289938</a:t>
            </a:r>
          </a:p>
        </p:txBody>
      </p:sp>
    </p:spTree>
    <p:extLst>
      <p:ext uri="{BB962C8B-B14F-4D97-AF65-F5344CB8AC3E}">
        <p14:creationId xmlns:p14="http://schemas.microsoft.com/office/powerpoint/2010/main" val="2582702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/>
                <a:cs typeface="Times New Roman" panose="02020603050405020304" pitchFamily="18" charset="0"/>
              </a:rPr>
              <a:t>4% TETRASODIUM EDTA</a:t>
            </a:r>
            <a:endParaRPr lang="en-US" dirty="0">
              <a:latin typeface="Aptos" panose="020B0004020202020204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030" y="1350086"/>
            <a:ext cx="11488050" cy="5497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8307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422" y="494950"/>
            <a:ext cx="10515600" cy="860178"/>
          </a:xfrm>
        </p:spPr>
        <p:txBody>
          <a:bodyPr/>
          <a:lstStyle/>
          <a:p>
            <a:r>
              <a:rPr lang="en-US" dirty="0">
                <a:latin typeface="Aptos" panose="020B0004020202020204"/>
              </a:rPr>
              <a:t>LITERATURE REVIEW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0412325"/>
              </p:ext>
            </p:extLst>
          </p:nvPr>
        </p:nvGraphicFramePr>
        <p:xfrm>
          <a:off x="171450" y="1349873"/>
          <a:ext cx="11910060" cy="5351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8715">
                <a:tc>
                  <a:txBody>
                    <a:bodyPr/>
                    <a:lstStyle/>
                    <a:p>
                      <a:r>
                        <a:rPr lang="en-US" sz="23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STUDY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STUDY DESIGNS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SAMPLE</a:t>
                      </a:r>
                      <a:r>
                        <a:rPr lang="en-US" sz="2300" baseline="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 SIZE</a:t>
                      </a:r>
                      <a:endParaRPr lang="en-US" sz="2300" dirty="0"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lang="en-US" sz="2300" baseline="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 FINDINGS</a:t>
                      </a:r>
                      <a:endParaRPr lang="en-US" sz="2300" dirty="0"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GAPS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904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b="0" dirty="0">
                          <a:latin typeface="Aptos" panose="020B0004020202020204"/>
                        </a:rPr>
                        <a:t>Efficacy of T-EDTA catheter lock solution in home parenteral nutrition patients: A quality improvement evaluation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300" b="0" dirty="0">
                        <a:latin typeface="Aptos" panose="020B0004020202020204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b="1" dirty="0">
                          <a:latin typeface="Aptos" panose="020B0004020202020204"/>
                        </a:rPr>
                        <a:t>Hill J et al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b="1" dirty="0">
                          <a:latin typeface="Aptos" panose="020B0004020202020204"/>
                        </a:rP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>
                          <a:latin typeface="Aptos" panose="020B0004020202020204"/>
                        </a:rPr>
                        <a:t>Quasi-experimental pre–post intervention quality improvement study</a:t>
                      </a:r>
                      <a:endParaRPr lang="en-US" sz="2300" dirty="0">
                        <a:latin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300" b="0" dirty="0">
                          <a:latin typeface="Aptos" panose="020B0004020202020204"/>
                        </a:rPr>
                        <a:t>105 recruited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300" b="0" dirty="0">
                          <a:latin typeface="Aptos" panose="020B0004020202020204"/>
                        </a:rPr>
                        <a:t>22 eligible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300" b="0" dirty="0">
                          <a:latin typeface="Aptos" panose="020B0004020202020204"/>
                        </a:rPr>
                        <a:t>20 completed</a:t>
                      </a:r>
                      <a:endParaRPr lang="en-US" sz="2300" b="0" baseline="0" dirty="0">
                        <a:latin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2300" b="0" dirty="0">
                          <a:latin typeface="Aptos" panose="020B0004020202020204"/>
                        </a:rPr>
                        <a:t>Rate</a:t>
                      </a:r>
                      <a:r>
                        <a:rPr lang="en-US" sz="2300" b="0" baseline="0" dirty="0">
                          <a:latin typeface="Aptos" panose="020B0004020202020204"/>
                        </a:rPr>
                        <a:t> of CLABSI</a:t>
                      </a:r>
                      <a:endParaRPr lang="en-US" sz="2300" b="0" dirty="0">
                        <a:latin typeface="Aptos" panose="020B0004020202020204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300" b="0" dirty="0">
                          <a:latin typeface="Aptos" panose="020B0004020202020204"/>
                        </a:rPr>
                        <a:t>Before EDTA</a:t>
                      </a:r>
                      <a:r>
                        <a:rPr lang="en-US" sz="2300" b="1" dirty="0">
                          <a:latin typeface="Aptos" panose="020B0004020202020204"/>
                        </a:rPr>
                        <a:t>:</a:t>
                      </a:r>
                      <a:r>
                        <a:rPr lang="en-US" sz="2300" dirty="0">
                          <a:latin typeface="Aptos" panose="020B0004020202020204"/>
                        </a:rPr>
                        <a:t> 1.918 infections/1000 catheter days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300" b="0" dirty="0">
                          <a:latin typeface="Aptos" panose="020B0004020202020204"/>
                        </a:rPr>
                        <a:t>After EDTA: </a:t>
                      </a:r>
                      <a:r>
                        <a:rPr lang="en-US" sz="2300" dirty="0">
                          <a:latin typeface="Aptos" panose="020B0004020202020204"/>
                        </a:rPr>
                        <a:t>0.563 infections/1000 catheter days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300" b="0" dirty="0">
                          <a:latin typeface="Aptos" panose="020B0004020202020204"/>
                          <a:cs typeface="Times New Roman" panose="02020603050405020304" pitchFamily="18" charset="0"/>
                        </a:rPr>
                        <a:t>No catheter occlusion event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300" b="0" dirty="0">
                          <a:latin typeface="Aptos" panose="020B0004020202020204"/>
                          <a:cs typeface="Times New Roman" panose="02020603050405020304" pitchFamily="18" charset="0"/>
                        </a:rPr>
                        <a:t>Fewer catheter replacement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300" b="0" dirty="0">
                        <a:latin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300" baseline="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Small ample size</a:t>
                      </a:r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300" baseline="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Non randomization</a:t>
                      </a:r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300" baseline="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Single center study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8145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46453"/>
            <a:ext cx="10515600" cy="742950"/>
          </a:xfrm>
        </p:spPr>
        <p:txBody>
          <a:bodyPr/>
          <a:lstStyle/>
          <a:p>
            <a:r>
              <a:rPr lang="en-US" dirty="0">
                <a:latin typeface="Aptos" panose="020B0004020202020204"/>
              </a:rPr>
              <a:t>LITERATURE REVIEW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6809205"/>
              </p:ext>
            </p:extLst>
          </p:nvPr>
        </p:nvGraphicFramePr>
        <p:xfrm>
          <a:off x="164850" y="1265448"/>
          <a:ext cx="11915391" cy="5501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1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82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663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6461">
                <a:tc>
                  <a:txBody>
                    <a:bodyPr/>
                    <a:lstStyle/>
                    <a:p>
                      <a:r>
                        <a:rPr lang="en-US" sz="23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STUDY</a:t>
                      </a:r>
                      <a:r>
                        <a:rPr lang="en-US" sz="2300" dirty="0">
                          <a:latin typeface="Aptos" panose="020B00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STUDY DESIGNS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SAMPLE</a:t>
                      </a:r>
                      <a:r>
                        <a:rPr lang="en-US" sz="2300" baseline="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 SIZE</a:t>
                      </a:r>
                      <a:endParaRPr lang="en-US" sz="2300" dirty="0"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lang="en-US" sz="2300" baseline="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 FINDINGS</a:t>
                      </a:r>
                      <a:endParaRPr lang="en-US" sz="2300" dirty="0"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GAPS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4651">
                <a:tc>
                  <a:txBody>
                    <a:bodyPr/>
                    <a:lstStyle/>
                    <a:p>
                      <a:r>
                        <a:rPr lang="en-US" sz="23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Role of EDTA lock solution in preventing catheter-related bloodstream infections or central line-associated bloodstream infections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b="1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Chakraborty S</a:t>
                      </a:r>
                      <a:r>
                        <a:rPr lang="en-US" sz="2300" b="1" baseline="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, et al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A systematic review and meta-analysis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b="1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8 studies</a:t>
                      </a:r>
                      <a:r>
                        <a:rPr lang="en-US" sz="23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r>
                        <a:rPr lang="en-US" sz="2300" b="1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828 total patients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300" b="1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403</a:t>
                      </a:r>
                      <a:r>
                        <a:rPr lang="en-US" sz="23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 received EDTA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300" b="1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425</a:t>
                      </a:r>
                      <a:r>
                        <a:rPr lang="en-US" sz="23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 received control lock solutions</a:t>
                      </a:r>
                    </a:p>
                    <a:p>
                      <a:endParaRPr lang="en-US" sz="2300" baseline="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23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EDTA lock solutions reduced the risk of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3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CRBSI</a:t>
                      </a:r>
                      <a:r>
                        <a:rPr lang="en-US" sz="2300" baseline="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 by 82%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300" baseline="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catheter colonization</a:t>
                      </a:r>
                      <a:r>
                        <a:rPr lang="en-US" sz="23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 by 89%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3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As</a:t>
                      </a:r>
                      <a:r>
                        <a:rPr lang="en-US" sz="2300" baseline="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compared with standard lock solutions</a:t>
                      </a:r>
                      <a:endParaRPr lang="en-US" sz="2300" baseline="0" dirty="0"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300" baseline="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Few studies with small sample size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300" baseline="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Lack of generalizability to ICU patient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2300" baseline="0" dirty="0"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6538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49B5F-9FB2-4BB6-63CC-28804E1AA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27F64-9FC5-4A7E-BD09-74989C11E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0343"/>
            <a:ext cx="10515600" cy="742950"/>
          </a:xfrm>
        </p:spPr>
        <p:txBody>
          <a:bodyPr/>
          <a:lstStyle/>
          <a:p>
            <a:r>
              <a:rPr lang="en-US" dirty="0">
                <a:latin typeface="Aptos" panose="020B0004020202020204"/>
              </a:rPr>
              <a:t>LITERATURE REVIEW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140EE34-7F33-8139-3572-6507F5E2D5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1115347"/>
              </p:ext>
            </p:extLst>
          </p:nvPr>
        </p:nvGraphicFramePr>
        <p:xfrm>
          <a:off x="276610" y="1318858"/>
          <a:ext cx="11671550" cy="5407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6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7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2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57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097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41818">
                <a:tc>
                  <a:txBody>
                    <a:bodyPr/>
                    <a:lstStyle/>
                    <a:p>
                      <a:r>
                        <a:rPr lang="en-US" sz="23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STUDY</a:t>
                      </a:r>
                      <a:r>
                        <a:rPr lang="en-US" sz="2300" dirty="0">
                          <a:latin typeface="Aptos" panose="020B00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STUDY DESIGNS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SAMPLE</a:t>
                      </a:r>
                      <a:r>
                        <a:rPr lang="en-US" sz="2300" baseline="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 SIZE</a:t>
                      </a:r>
                      <a:endParaRPr lang="en-US" sz="2300" dirty="0"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lang="en-US" sz="2300" baseline="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 FINDINGS</a:t>
                      </a:r>
                      <a:endParaRPr lang="en-US" sz="2300" dirty="0"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GAPS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244">
                <a:tc>
                  <a:txBody>
                    <a:bodyPr/>
                    <a:lstStyle/>
                    <a:p>
                      <a:r>
                        <a:rPr lang="en-US" sz="2300" baseline="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Evaluation of Tetra-sodium EDTA as a Catheter Lock Solution in Home Parenteral Nutrition Patients: Acceptability, Ease of Use, and Safety</a:t>
                      </a:r>
                    </a:p>
                    <a:p>
                      <a:endParaRPr lang="en-US" sz="2300" baseline="0" dirty="0"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b="1" baseline="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Lina Saucedo al 2025</a:t>
                      </a:r>
                    </a:p>
                    <a:p>
                      <a:endParaRPr lang="en-US" sz="2300" baseline="0" dirty="0"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Prospective, open-label, single-center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21 Recruited and 14 completed</a:t>
                      </a:r>
                      <a:r>
                        <a:rPr lang="en-US" sz="2300" baseline="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 study</a:t>
                      </a:r>
                      <a:endParaRPr lang="en-US" sz="2300" dirty="0"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300" baseline="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No CRBSI event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300" baseline="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No serious adverse effect reported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300" baseline="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t-EDTA was feasible and acceptable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3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Small</a:t>
                      </a:r>
                      <a:r>
                        <a:rPr lang="en-US" sz="2300" baseline="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Sample</a:t>
                      </a:r>
                      <a:r>
                        <a:rPr lang="en-US" sz="2300" baseline="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 size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300" baseline="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Short follow up period</a:t>
                      </a:r>
                      <a:endParaRPr lang="en-US" sz="2300" dirty="0"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1528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/>
                <a:cs typeface="Times New Roman" panose="02020603050405020304" pitchFamily="18" charset="0"/>
              </a:rPr>
              <a:t>PROBLEM STATEMENT </a:t>
            </a:r>
            <a:endParaRPr lang="en-US" dirty="0">
              <a:latin typeface="Aptos" panose="020B000402020202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CVAD occlusion interrupts treatment and often necessitates alteplase or catheter replacement</a:t>
            </a:r>
          </a:p>
          <a:p>
            <a:r>
              <a:rPr lang="en-US" dirty="0"/>
              <a:t>CLABSI causes significant morbidity, mortality, and healthcare costs</a:t>
            </a:r>
          </a:p>
          <a:p>
            <a:r>
              <a:rPr lang="en-US" dirty="0"/>
              <a:t>Antibiotic locks may prevent infection but contribute to antimicrobial resistance</a:t>
            </a:r>
          </a:p>
          <a:p>
            <a:r>
              <a:rPr lang="en-US" dirty="0"/>
              <a:t>The trial investigated whether t-EDTA could safely reduce both occlusion and infection as a practical, routine ICU catheter lock solution</a:t>
            </a:r>
          </a:p>
        </p:txBody>
      </p:sp>
    </p:spTree>
    <p:extLst>
      <p:ext uri="{BB962C8B-B14F-4D97-AF65-F5344CB8AC3E}">
        <p14:creationId xmlns:p14="http://schemas.microsoft.com/office/powerpoint/2010/main" val="3330075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  <a:latin typeface="Aptos" panose="020B0004020202020204"/>
                <a:cs typeface="Times New Roman" panose="02020603050405020304" pitchFamily="18" charset="0"/>
              </a:rPr>
              <a:t>RATIONALE</a:t>
            </a:r>
            <a:endParaRPr lang="en-US" dirty="0">
              <a:latin typeface="Aptos" panose="020B000402020202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2958"/>
            <a:ext cx="10515600" cy="491205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Most ICU patients require a CVAD for life-saving therapies</a:t>
            </a:r>
          </a:p>
          <a:p>
            <a:pPr>
              <a:lnSpc>
                <a:spcPct val="150000"/>
              </a:lnSpc>
            </a:pPr>
            <a:r>
              <a:rPr lang="en-US" dirty="0"/>
              <a:t>CVAD complications are common and worsen patient outcomes</a:t>
            </a:r>
          </a:p>
          <a:p>
            <a:pPr>
              <a:lnSpc>
                <a:spcPct val="150000"/>
              </a:lnSpc>
            </a:pPr>
            <a:r>
              <a:rPr lang="en-US" dirty="0"/>
              <a:t>Current lock solutions do not adequately prevent both thrombosis and infection</a:t>
            </a:r>
          </a:p>
          <a:p>
            <a:pPr>
              <a:lnSpc>
                <a:spcPct val="150000"/>
              </a:lnSpc>
            </a:pPr>
            <a:r>
              <a:rPr lang="en-US" dirty="0"/>
              <a:t>Trial evaluated whether t-EDTA reduces lock-modifiable CVAD complications, preserves catheter patency, and improves outcomes in critically ill patients</a:t>
            </a:r>
          </a:p>
        </p:txBody>
      </p:sp>
    </p:spTree>
    <p:extLst>
      <p:ext uri="{BB962C8B-B14F-4D97-AF65-F5344CB8AC3E}">
        <p14:creationId xmlns:p14="http://schemas.microsoft.com/office/powerpoint/2010/main" val="17287528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/>
                <a:cs typeface="Times New Roman" panose="02020603050405020304" pitchFamily="18" charset="0"/>
              </a:rP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cs typeface="Times New Roman" panose="02020603050405020304" pitchFamily="18" charset="0"/>
              </a:rPr>
              <a:t>Primary objective</a:t>
            </a:r>
          </a:p>
          <a:p>
            <a:pPr>
              <a:lnSpc>
                <a:spcPct val="150000"/>
              </a:lnSpc>
            </a:pPr>
            <a:r>
              <a:rPr lang="en-US" dirty="0">
                <a:cs typeface="Times New Roman" panose="02020603050405020304" pitchFamily="18" charset="0"/>
              </a:rPr>
              <a:t>To compare the incidence of CLABSI, catheter occlusions requiring replacement and alteplase use in critical care patient with CVAD’s locked with 4% t-EDTA versus critical care patient with CVAD’s locked with standard of care solution</a:t>
            </a:r>
          </a:p>
        </p:txBody>
      </p:sp>
    </p:spTree>
    <p:extLst>
      <p:ext uri="{BB962C8B-B14F-4D97-AF65-F5344CB8AC3E}">
        <p14:creationId xmlns:p14="http://schemas.microsoft.com/office/powerpoint/2010/main" val="1576977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/>
                <a:cs typeface="Times New Roman" panose="02020603050405020304" pitchFamily="18" charset="0"/>
              </a:rPr>
              <a:t>RESEARCH OBJECTIVES</a:t>
            </a:r>
            <a:endParaRPr lang="en-US" dirty="0">
              <a:latin typeface="Aptos" panose="020B000402020202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500" b="1" dirty="0">
                <a:cs typeface="Times New Roman" panose="02020603050405020304" pitchFamily="18" charset="0"/>
              </a:rPr>
              <a:t>Secondary Objectives </a:t>
            </a:r>
          </a:p>
          <a:p>
            <a:r>
              <a:rPr lang="en-US" dirty="0">
                <a:cs typeface="Times New Roman" panose="02020603050405020304" pitchFamily="18" charset="0"/>
              </a:rPr>
              <a:t>To determine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Incidence rate of confirmed CLABSI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Incidence rate of Catheter occlusion requiring removal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Incidence rate of catheter obstruction requiring alteplase use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Direct cost related to alteplase use for catheter occlusion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Incidence rate of catheter-associated venous thrombosis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Incidence rate of catheter colonization</a:t>
            </a:r>
          </a:p>
          <a:p>
            <a:pPr lvl="1"/>
            <a:r>
              <a:rPr lang="en-GB" dirty="0">
                <a:latin typeface="Aptos" panose="02110004020202020204"/>
              </a:rPr>
              <a:t>ICU length of stay and mortality</a:t>
            </a:r>
          </a:p>
          <a:p>
            <a:pPr lvl="1"/>
            <a:endParaRPr lang="en-US" dirty="0"/>
          </a:p>
          <a:p>
            <a:pPr lvl="1"/>
            <a:endParaRPr lang="en-US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1283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B97CC-0A14-F50B-7FC5-ADB1971F5F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latin typeface="Aptos" panose="020B0004020202020204"/>
              </a:rPr>
              <a:t>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B12307-691C-21E7-1630-CFC262630D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63598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9AD95-8153-3D46-31E0-AC9A5B34F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3181"/>
            <a:ext cx="10515600" cy="859668"/>
          </a:xfrm>
        </p:spPr>
        <p:txBody>
          <a:bodyPr/>
          <a:lstStyle/>
          <a:p>
            <a:r>
              <a:rPr lang="en-GB" dirty="0">
                <a:latin typeface="Aptos" panose="02110004020202020204"/>
              </a:rPr>
              <a:t>METHODOLOGY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F6184DA3-242C-9DE9-922E-3961DB904F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41680" y="953177"/>
            <a:ext cx="10594504" cy="591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8708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34125-E6EB-7ED0-D7C1-00F0D4F1C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" panose="02110004020202020204"/>
              </a:rPr>
              <a:t>METHODOLOGY: INCLUSION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E8FA7-9AE7-B4AE-4ADA-C9391D372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Adults older than 18 years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Admitted to a critical care unit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Had a CVAD in place with at least one lumen not in use</a:t>
            </a:r>
          </a:p>
        </p:txBody>
      </p:sp>
    </p:spTree>
    <p:extLst>
      <p:ext uri="{BB962C8B-B14F-4D97-AF65-F5344CB8AC3E}">
        <p14:creationId xmlns:p14="http://schemas.microsoft.com/office/powerpoint/2010/main" val="23603113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93BDF-D7FE-CC92-D7CF-CE2D5B995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D258-2B23-5C87-E485-8EF1F85DC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" panose="02110004020202020204"/>
              </a:rPr>
              <a:t>METHODOLOGY: EXCLUSION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FF85C-AA4E-9D13-60DB-B6473714F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554" y="1567719"/>
            <a:ext cx="10615246" cy="455172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Known sensitivity or allergy to t-EDTA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Confirmed or suspected pregnancy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Refusal by the patient, treating physician, or temporary decision-maker.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Patients currently enrolled in any other research study that may confound the primary outcome measure</a:t>
            </a:r>
          </a:p>
        </p:txBody>
      </p:sp>
    </p:spTree>
    <p:extLst>
      <p:ext uri="{BB962C8B-B14F-4D97-AF65-F5344CB8AC3E}">
        <p14:creationId xmlns:p14="http://schemas.microsoft.com/office/powerpoint/2010/main" val="6015221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6A9D3-7038-1CDB-F76F-3215404E8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" panose="02110004020202020204"/>
              </a:rPr>
              <a:t>RECRUIMENT STRATERGY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35E81-1D56-F52F-F999-91AC15C1D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dirty="0">
                <a:latin typeface="Aptos" panose="02110004020202020204"/>
              </a:rPr>
              <a:t>Patients were screened within the first 48 hours of ICU admission </a:t>
            </a:r>
          </a:p>
          <a:p>
            <a:pPr>
              <a:lnSpc>
                <a:spcPct val="150000"/>
              </a:lnSpc>
            </a:pPr>
            <a:r>
              <a:rPr lang="en-GB" sz="2800" dirty="0">
                <a:latin typeface="Aptos" panose="02110004020202020204"/>
              </a:rPr>
              <a:t>All eligible patients in participating ICUs during each period were approached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Enrolment ran for over two years, with extra sites added to offset slow initial recruitment worsened by the COVID-19 pandemic</a:t>
            </a:r>
            <a:endParaRPr lang="en-GB" sz="2800" dirty="0"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5932021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6E591-9A34-7E98-4467-AC43E051C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75B6A-146F-2960-FCCC-00AC33E0C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" panose="02110004020202020204"/>
              </a:rPr>
              <a:t>CLUSTER RANDOMIZATION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AD5CE51-DE0C-53F2-46FE-84D3F74845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37552" y="1283516"/>
            <a:ext cx="10388812" cy="557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8652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90BCE-7B8C-C41E-A950-6B12FD0D0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" panose="02110004020202020204"/>
              </a:rPr>
              <a:t>STUDY PROCEDURE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5C87E38-0315-40A9-EE44-D1912ABDCE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3493" b="3842"/>
          <a:stretch>
            <a:fillRect/>
          </a:stretch>
        </p:blipFill>
        <p:spPr>
          <a:xfrm>
            <a:off x="671522" y="1436917"/>
            <a:ext cx="11014711" cy="538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2089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7C745-5194-F50E-3696-2A49DBDD7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41027-B5A5-B494-2B51-49564D923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" panose="02110004020202020204"/>
              </a:rPr>
              <a:t>STUDY PROCEDURE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4100F9A-3C28-80BA-DBEF-27A56C75E8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3842" b="2619"/>
          <a:stretch>
            <a:fillRect/>
          </a:stretch>
        </p:blipFill>
        <p:spPr>
          <a:xfrm>
            <a:off x="703385" y="1246621"/>
            <a:ext cx="10748178" cy="561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9983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4D3E8-DB0D-71D3-F930-1652E0930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" panose="02110004020202020204"/>
              </a:rPr>
              <a:t>PRIMARY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920AD-03BF-4BA1-C7C6-E9296C981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A composite of CVAD-associated bloodstream infection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Catheter occlusion needing alteplase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Catheter removal due to occlusion, measured per 1000 catheter-days</a:t>
            </a:r>
          </a:p>
          <a:p>
            <a:pPr>
              <a:lnSpc>
                <a:spcPct val="150000"/>
              </a:lnSpc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6184667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D9D26-EAEC-4E27-FAB1-A8CF271EE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" panose="02110004020202020204"/>
              </a:rPr>
              <a:t>SECONDARY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6FA1F-D71A-D866-5227-A296A2F06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Included each component of the primary composite separately and 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Thrombosis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Colonization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ICU length of stay and mortality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7323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B2398-8342-DA8E-3A26-BE8E18CCA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" panose="02110004020202020204"/>
              </a:rPr>
              <a:t>FOLLOW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F28E3-CDCB-02D7-16DF-D3379F75D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Participants were assessed throughout ICU admission until ICU discharge, death, or the end of the treatment maintenance period, whichever occurred first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There was no planned post-ICU or post-hospital follow-up for the clinical outcome assessment</a:t>
            </a:r>
          </a:p>
        </p:txBody>
      </p:sp>
    </p:spTree>
    <p:extLst>
      <p:ext uri="{BB962C8B-B14F-4D97-AF65-F5344CB8AC3E}">
        <p14:creationId xmlns:p14="http://schemas.microsoft.com/office/powerpoint/2010/main" val="40061728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7C0EA-A68C-17C6-B11D-CB1153C48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" panose="02110004020202020204"/>
              </a:rPr>
              <a:t>STATISTICAL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020A3-3EAE-5AB5-F1D1-8422F1B6B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Data analysed using SAS v9.4 and R v4.4.2 (</a:t>
            </a:r>
            <a:r>
              <a:rPr lang="en-GB" dirty="0" err="1">
                <a:latin typeface="Aptos" panose="02110004020202020204"/>
              </a:rPr>
              <a:t>glmm</a:t>
            </a:r>
            <a:r>
              <a:rPr lang="en-GB" dirty="0">
                <a:latin typeface="Aptos" panose="02110004020202020204"/>
              </a:rPr>
              <a:t> TMB package)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Designed to provide 80% power at α = 0.05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Sample size based on simulation to detect a 30% relative reduction in the primary composite outcome using baseline complication rates</a:t>
            </a:r>
          </a:p>
        </p:txBody>
      </p:sp>
    </p:spTree>
    <p:extLst>
      <p:ext uri="{BB962C8B-B14F-4D97-AF65-F5344CB8AC3E}">
        <p14:creationId xmlns:p14="http://schemas.microsoft.com/office/powerpoint/2010/main" val="20561399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A7475-5A19-F6D5-3C73-116A4A2BB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" panose="02110004020202020204"/>
              </a:rPr>
              <a:t>STATISTICAL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DBAE2-A4EF-05F6-495E-48BDAC401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Primary analysis: Intention-to-treat (ITT) including all participants with ≥1 CVAD lock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Negative binomial regression used to account for over-dispersed count data and adjusted for: 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Treatment period, study site , patient demographics and relevant clinical covariates</a:t>
            </a:r>
          </a:p>
        </p:txBody>
      </p:sp>
    </p:spTree>
    <p:extLst>
      <p:ext uri="{BB962C8B-B14F-4D97-AF65-F5344CB8AC3E}">
        <p14:creationId xmlns:p14="http://schemas.microsoft.com/office/powerpoint/2010/main" val="37657234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BEB9F-71C0-9729-53BD-4A41F88D7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" panose="02110004020202020204"/>
              </a:rPr>
              <a:t>STATISTICAL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467FE-F847-9599-E175-9B9F06431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Results reported as Incidence Rate Ratios (IRRs) with 95% Confidence Intervals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Both Intention to treat and Per-protocol analyses were performed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Negative binomial mixed-effects model using: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Catheter-days as offset 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Random intercept for study site</a:t>
            </a:r>
          </a:p>
          <a:p>
            <a:pPr marL="0" indent="0">
              <a:lnSpc>
                <a:spcPct val="150000"/>
              </a:lnSpc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19551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25E35-0015-1350-EC14-E519FCCE3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" panose="02110004020202020204"/>
              </a:rPr>
              <a:t>ETHICAL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DB75B-EED1-78C3-4CB5-9C961D223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273"/>
            <a:ext cx="10515600" cy="476274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dirty="0"/>
              <a:t> </a:t>
            </a:r>
            <a:r>
              <a:rPr lang="en-GB" dirty="0">
                <a:latin typeface="Aptos" panose="02110004020202020204"/>
              </a:rPr>
              <a:t>Conducted according to: 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ICH-GCP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Declaration of Helsinki 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CONSORT guidelines 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Ethics approval obtained from all participating institutional review boards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Waiver of informed consent approved where appropriate</a:t>
            </a:r>
          </a:p>
        </p:txBody>
      </p:sp>
    </p:spTree>
    <p:extLst>
      <p:ext uri="{BB962C8B-B14F-4D97-AF65-F5344CB8AC3E}">
        <p14:creationId xmlns:p14="http://schemas.microsoft.com/office/powerpoint/2010/main" val="41686899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FC244-9FA7-F3E6-FB0B-ABB66627B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" panose="02110004020202020204"/>
              </a:rPr>
              <a:t>FUNDING AND CONFLICT OF INTEREST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52473-D6F9-F1B7-45C1-38416E6DD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Funded by Sterile Care Inc. which supplied the investigational 4% t-EDTA solution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Some investigators reported personal fees, research grants, or unpaid leadership roles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Aptos" panose="02110004020202020204"/>
              </a:rPr>
              <a:t>Remaining authors declared no conflicts of interest</a:t>
            </a:r>
          </a:p>
          <a:p>
            <a:pPr marL="0" indent="0">
              <a:lnSpc>
                <a:spcPct val="150000"/>
              </a:lnSpc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0802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D9A72-5C37-047B-8B5A-C6CD5F087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A6636-B358-9DA3-5BBF-7AC3767F73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latin typeface="Aptos" panose="020B0004020202020204"/>
              </a:rPr>
              <a:t>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42A31A-3070-8779-55C3-972F84A917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08695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025A7519-236A-9727-9D76-63D4EE27B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19" y="538844"/>
            <a:ext cx="11756638" cy="584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0103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32912-54E5-4301-5ADA-401331B58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" panose="02110004020202020204"/>
              </a:rPr>
              <a:t>TRIAL FLOW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4F1A97-8785-6761-FF8F-F10DE8BB11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37857" y="1238489"/>
            <a:ext cx="8892330" cy="559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5808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DEF7B8E-0318-7FAD-5B35-139EA5E7E6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898" y="0"/>
            <a:ext cx="12022112" cy="6730583"/>
          </a:xfr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DA1B2A7-C5DF-96BF-0CCD-FDD279A61A5E}"/>
              </a:ext>
            </a:extLst>
          </p:cNvPr>
          <p:cNvSpPr txBox="1"/>
          <p:nvPr/>
        </p:nvSpPr>
        <p:spPr>
          <a:xfrm>
            <a:off x="169888" y="1236689"/>
            <a:ext cx="11557416" cy="13940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780E09-6014-3A07-4DB3-F9FD5B4544CC}"/>
              </a:ext>
            </a:extLst>
          </p:cNvPr>
          <p:cNvSpPr txBox="1"/>
          <p:nvPr/>
        </p:nvSpPr>
        <p:spPr>
          <a:xfrm>
            <a:off x="169888" y="5392711"/>
            <a:ext cx="11557416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42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A25D2-4568-3569-3FA8-0141F30D0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931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ptos" panose="02110004020202020204"/>
              </a:rPr>
              <a:t>Baseline and CVAD characteristics </a:t>
            </a:r>
            <a:endParaRPr lang="en-US" b="1" dirty="0">
              <a:latin typeface="Aptos" panose="02110004020202020204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00C383-AFCE-4698-BF88-4CAA95F929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872" y="1064302"/>
            <a:ext cx="11692327" cy="5636301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FA795E-92ED-A100-EEB9-DAAFEB2B0045}"/>
              </a:ext>
            </a:extLst>
          </p:cNvPr>
          <p:cNvSpPr txBox="1"/>
          <p:nvPr/>
        </p:nvSpPr>
        <p:spPr>
          <a:xfrm>
            <a:off x="603504" y="1426464"/>
            <a:ext cx="10332720" cy="8595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25E9F1-8193-C44A-846E-F30AB029817E}"/>
              </a:ext>
            </a:extLst>
          </p:cNvPr>
          <p:cNvSpPr txBox="1"/>
          <p:nvPr/>
        </p:nvSpPr>
        <p:spPr>
          <a:xfrm>
            <a:off x="603504" y="4462272"/>
            <a:ext cx="10332720" cy="5669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687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B211B-FE5F-82A7-B794-A3D6257AC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428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ptos" panose="02110004020202020204"/>
              </a:rPr>
              <a:t>Baseline and CVAD characteristics </a:t>
            </a:r>
            <a:endParaRPr lang="en-US" b="1" dirty="0">
              <a:latin typeface="Aptos" panose="02110004020202020204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BA3ACE-1BDC-FDAF-6DF0-C719DBD68B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9862" y="899410"/>
            <a:ext cx="11602387" cy="595859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E10AB2-3200-4AC8-6A80-7B36CB0A281B}"/>
              </a:ext>
            </a:extLst>
          </p:cNvPr>
          <p:cNvSpPr txBox="1"/>
          <p:nvPr/>
        </p:nvSpPr>
        <p:spPr>
          <a:xfrm>
            <a:off x="524655" y="899409"/>
            <a:ext cx="11107712" cy="8394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75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7A8407-0C86-278E-0ABA-299F9DD25F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3049846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0F69FC-7293-F669-4FCB-F8C0D4444E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9843" y="201168"/>
            <a:ext cx="11377534" cy="629170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D1B7BA-17E4-6326-4041-AD4F280F9439}"/>
              </a:ext>
            </a:extLst>
          </p:cNvPr>
          <p:cNvSpPr txBox="1"/>
          <p:nvPr/>
        </p:nvSpPr>
        <p:spPr>
          <a:xfrm>
            <a:off x="239843" y="2139696"/>
            <a:ext cx="11377534" cy="9509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BDE224-4871-5352-CB49-D3A20C3933B5}"/>
              </a:ext>
            </a:extLst>
          </p:cNvPr>
          <p:cNvSpPr txBox="1"/>
          <p:nvPr/>
        </p:nvSpPr>
        <p:spPr>
          <a:xfrm>
            <a:off x="239843" y="1042416"/>
            <a:ext cx="11377534" cy="9509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4CD15A-D86A-F7EE-D535-3A2677D4A819}"/>
              </a:ext>
            </a:extLst>
          </p:cNvPr>
          <p:cNvSpPr txBox="1"/>
          <p:nvPr/>
        </p:nvSpPr>
        <p:spPr>
          <a:xfrm>
            <a:off x="239843" y="3090672"/>
            <a:ext cx="11377534" cy="11521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549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FC848F-299A-6955-719A-DC07B4E8DB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7371" y="164892"/>
            <a:ext cx="11797258" cy="5816183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6D9279-6A8F-5C70-D72F-7CF009BDC2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244" y="5981075"/>
            <a:ext cx="2824484" cy="6116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FD0D99B-433A-1515-6626-FA6364E6C89F}"/>
              </a:ext>
            </a:extLst>
          </p:cNvPr>
          <p:cNvSpPr txBox="1"/>
          <p:nvPr/>
        </p:nvSpPr>
        <p:spPr>
          <a:xfrm>
            <a:off x="197371" y="1409075"/>
            <a:ext cx="11270104" cy="8844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FD91CD-66F1-1A09-1BDD-56FE3B8D8A2D}"/>
              </a:ext>
            </a:extLst>
          </p:cNvPr>
          <p:cNvSpPr txBox="1"/>
          <p:nvPr/>
        </p:nvSpPr>
        <p:spPr>
          <a:xfrm>
            <a:off x="197371" y="2293494"/>
            <a:ext cx="11270104" cy="6895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E1CE5B-5FCE-C8C5-9133-1ACE5DC1C9AE}"/>
              </a:ext>
            </a:extLst>
          </p:cNvPr>
          <p:cNvSpPr txBox="1"/>
          <p:nvPr/>
        </p:nvSpPr>
        <p:spPr>
          <a:xfrm>
            <a:off x="197371" y="4407108"/>
            <a:ext cx="11270104" cy="5342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F5FA40-B7AA-0DB5-7A79-916985223650}"/>
              </a:ext>
            </a:extLst>
          </p:cNvPr>
          <p:cNvSpPr txBox="1"/>
          <p:nvPr/>
        </p:nvSpPr>
        <p:spPr>
          <a:xfrm>
            <a:off x="402336" y="5760720"/>
            <a:ext cx="11065139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72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59C31-FC33-7833-44FD-FDD44C2A4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110004020202020204"/>
              </a:rPr>
              <a:t>PER PROTOCOL ANALYSIS RESULT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F39E0-28D3-1048-AA2F-6473BE449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ptos" panose="02110004020202020204"/>
              </a:rPr>
              <a:t>Incidence rate  of the primary outcome in the per-protocol (PP) group (n=953) </a:t>
            </a:r>
          </a:p>
          <a:p>
            <a:r>
              <a:rPr lang="en-US" dirty="0">
                <a:latin typeface="Aptos" panose="02110004020202020204"/>
              </a:rPr>
              <a:t>Were </a:t>
            </a:r>
            <a:r>
              <a:rPr lang="en-US" b="1" dirty="0">
                <a:latin typeface="Aptos" panose="02110004020202020204"/>
              </a:rPr>
              <a:t>11.52</a:t>
            </a:r>
            <a:r>
              <a:rPr lang="en-US" dirty="0">
                <a:latin typeface="Aptos" panose="02110004020202020204"/>
              </a:rPr>
              <a:t> and </a:t>
            </a:r>
            <a:r>
              <a:rPr lang="en-US" b="1" dirty="0">
                <a:latin typeface="Aptos" panose="02110004020202020204"/>
              </a:rPr>
              <a:t>4.0 </a:t>
            </a:r>
            <a:r>
              <a:rPr lang="en-US" dirty="0">
                <a:latin typeface="Aptos" panose="02110004020202020204"/>
              </a:rPr>
              <a:t>per 1000 Cather days  </a:t>
            </a:r>
            <a:r>
              <a:rPr lang="en-US" b="1" dirty="0">
                <a:latin typeface="Aptos" panose="02110004020202020204"/>
              </a:rPr>
              <a:t>in the control </a:t>
            </a:r>
            <a:r>
              <a:rPr lang="en-US" dirty="0">
                <a:latin typeface="Aptos" panose="02110004020202020204"/>
              </a:rPr>
              <a:t>and </a:t>
            </a:r>
            <a:r>
              <a:rPr lang="en-US" b="1" dirty="0">
                <a:latin typeface="Aptos" panose="02110004020202020204"/>
              </a:rPr>
              <a:t>t-EDTA groups</a:t>
            </a:r>
            <a:r>
              <a:rPr lang="en-US" dirty="0">
                <a:latin typeface="Aptos" panose="02110004020202020204"/>
              </a:rPr>
              <a:t>, respectively, indicating a </a:t>
            </a:r>
            <a:r>
              <a:rPr lang="en-US" b="1" dirty="0">
                <a:latin typeface="Aptos" panose="02110004020202020204"/>
              </a:rPr>
              <a:t>65% risk reduction </a:t>
            </a:r>
            <a:r>
              <a:rPr lang="en-US" dirty="0">
                <a:latin typeface="Aptos" panose="02110004020202020204"/>
              </a:rPr>
              <a:t>(RR = 0.35  [95% CI: 0.15-0.76]</a:t>
            </a:r>
          </a:p>
        </p:txBody>
      </p:sp>
    </p:spTree>
    <p:extLst>
      <p:ext uri="{BB962C8B-B14F-4D97-AF65-F5344CB8AC3E}">
        <p14:creationId xmlns:p14="http://schemas.microsoft.com/office/powerpoint/2010/main" val="41550889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4E336-3C71-F80F-2C42-201897817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110004020202020204"/>
              </a:rPr>
              <a:t>DISCUSSION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76E9A-C618-3687-D229-047A51AAC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ptos" panose="02110004020202020204"/>
                <a:cs typeface="Times New Roman" panose="02020603050405020304" pitchFamily="18" charset="0"/>
              </a:rPr>
              <a:t>This trial  shows that the use of 4% t-EDTA as a CVAD locking fluid in ICU patients led to a reduction in CVAD complications, mainly by  decreasing catheter occlusion needing thrombolytic therapy(alteplase)</a:t>
            </a:r>
            <a:endParaRPr lang="en-US" b="0" i="0" dirty="0">
              <a:effectLst/>
              <a:latin typeface="Aptos" panose="02110004020202020204"/>
              <a:cs typeface="Times New Roman" panose="02020603050405020304" pitchFamily="18" charset="0"/>
            </a:endParaRPr>
          </a:p>
          <a:p>
            <a:r>
              <a:rPr lang="en-US" dirty="0">
                <a:latin typeface="Aptos" panose="02110004020202020204"/>
                <a:cs typeface="Times New Roman" panose="02020603050405020304" pitchFamily="18" charset="0"/>
              </a:rPr>
              <a:t>The impact on infection and thrombosis remains unclear in this population </a:t>
            </a:r>
          </a:p>
        </p:txBody>
      </p:sp>
    </p:spTree>
    <p:extLst>
      <p:ext uri="{BB962C8B-B14F-4D97-AF65-F5344CB8AC3E}">
        <p14:creationId xmlns:p14="http://schemas.microsoft.com/office/powerpoint/2010/main" val="41981407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8BC55-6F5B-27C0-D777-A4F90FE3A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110004020202020204"/>
              </a:rPr>
              <a:t>DISCUSSION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B88E0-4A42-1318-7DE5-5DEA8D0E4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ptos" panose="02110004020202020204"/>
              </a:rPr>
              <a:t>This result is biologically plausible owing to the potent chelation ability of t-EDTA to reduce biofilm and thrombus formation</a:t>
            </a:r>
          </a:p>
          <a:p>
            <a:pPr marL="0" indent="0">
              <a:buNone/>
            </a:pPr>
            <a:endParaRPr lang="en-US" dirty="0">
              <a:latin typeface="Aptos" panose="02110004020202020204"/>
            </a:endParaRPr>
          </a:p>
          <a:p>
            <a:r>
              <a:rPr lang="en-US" dirty="0">
                <a:latin typeface="Aptos" panose="02110004020202020204"/>
              </a:rPr>
              <a:t>Also, the observed reduction in alteplase is clinically meaningful as it represents decreased interruption in clinical care</a:t>
            </a:r>
          </a:p>
        </p:txBody>
      </p:sp>
    </p:spTree>
    <p:extLst>
      <p:ext uri="{BB962C8B-B14F-4D97-AF65-F5344CB8AC3E}">
        <p14:creationId xmlns:p14="http://schemas.microsoft.com/office/powerpoint/2010/main" val="15231005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968A8-72FD-3E99-DA4B-2D1C8617B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110004020202020204"/>
              </a:rPr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ECF73-90AE-1EE7-38AF-214B4511A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ptos" panose="02110004020202020204"/>
                <a:cs typeface="Times New Roman" panose="02020603050405020304" pitchFamily="18" charset="0"/>
              </a:rPr>
              <a:t>Patient receiving hemodialysis had no improvement in the primary composite outcome with the use of 4% t-EDTA</a:t>
            </a:r>
          </a:p>
          <a:p>
            <a:r>
              <a:rPr lang="en-US" dirty="0">
                <a:latin typeface="Aptos" panose="02110004020202020204"/>
                <a:cs typeface="Times New Roman" panose="02020603050405020304" pitchFamily="18" charset="0"/>
              </a:rPr>
              <a:t>But the hemodialysis catheters included only 10%, underscoring the need for a future adequately powered study </a:t>
            </a:r>
          </a:p>
          <a:p>
            <a:r>
              <a:rPr lang="en-US" dirty="0">
                <a:latin typeface="Aptos" panose="02110004020202020204"/>
                <a:cs typeface="Times New Roman" panose="02020603050405020304" pitchFamily="18" charset="0"/>
              </a:rPr>
              <a:t>No adverse events, serious adverse events, or hypocalcemia related to t-EDTA or control locking fluid were reported</a:t>
            </a:r>
          </a:p>
          <a:p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2006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CB12D-E9FE-4B43-6115-ACB4F7819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110004020202020204"/>
              </a:rPr>
              <a:t>DISCUSSION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A354E-655F-C172-8970-49B11ACB6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811"/>
            <a:ext cx="10515600" cy="51061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Aptos" panose="02110004020202020204"/>
                <a:cs typeface="Times New Roman" panose="02020603050405020304" pitchFamily="18" charset="0"/>
              </a:rPr>
              <a:t>STRENGTH: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ptos" panose="02110004020202020204"/>
                <a:cs typeface="Times New Roman" panose="02020603050405020304" pitchFamily="18" charset="0"/>
              </a:rPr>
              <a:t>Large pragmatic adult ICU trial addressing a common bedside device-management problem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ptos" panose="02110004020202020204"/>
                <a:cs typeface="Times New Roman" panose="02020603050405020304" pitchFamily="18" charset="0"/>
              </a:rPr>
              <a:t>Triple-blind design with identical masked syringes</a:t>
            </a:r>
            <a:endParaRPr lang="en-US" dirty="0">
              <a:latin typeface="Aptos" panose="02110004020202020204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ptos" panose="02110004020202020204"/>
                <a:cs typeface="Times New Roman" panose="02020603050405020304" pitchFamily="18" charset="0"/>
              </a:rPr>
              <a:t>Inclusion of multiple CVAD types and both tertiary and community hospitals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latin typeface="Aptos" panose="02110004020202020204"/>
                <a:cs typeface="Times New Roman" panose="02020603050405020304" pitchFamily="18" charset="0"/>
              </a:rPr>
              <a:t>The study protocol was integrated into existing ICU procedures, increasing the external validity of the results  </a:t>
            </a:r>
            <a:endParaRPr lang="en-US" b="0" i="0" dirty="0">
              <a:effectLst/>
              <a:latin typeface="Aptos" panose="0211000402020202020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0641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73382-EE4E-34D0-C96B-F76E1851E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110004020202020204"/>
              </a:rPr>
              <a:t>DISCUSSION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7899A-3C10-D236-E586-90D881A05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411"/>
            <a:ext cx="10515600" cy="5402178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b="1" dirty="0">
                <a:latin typeface="Aptos" panose="02110004020202020204"/>
                <a:cs typeface="Times New Roman" panose="02020603050405020304" pitchFamily="18" charset="0"/>
              </a:rPr>
              <a:t>LIMITATION:</a:t>
            </a:r>
            <a:endParaRPr lang="en-US" dirty="0">
              <a:latin typeface="Aptos" panose="02110004020202020204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ptos" panose="02110004020202020204"/>
                <a:cs typeface="Times New Roman" panose="02020603050405020304" pitchFamily="18" charset="0"/>
              </a:rPr>
              <a:t>The trial did not reach its planned sample size, although it reached 96% of the target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ptos" panose="02110004020202020204"/>
                <a:cs typeface="Times New Roman" panose="02020603050405020304" pitchFamily="18" charset="0"/>
              </a:rPr>
              <a:t>The study was conducted  post-pandemic ICU operational changes, </a:t>
            </a:r>
            <a:r>
              <a:rPr lang="en-US" dirty="0">
                <a:latin typeface="Aptos" panose="02110004020202020204"/>
                <a:cs typeface="Times New Roman" panose="02020603050405020304" pitchFamily="18" charset="0"/>
              </a:rPr>
              <a:t>with the </a:t>
            </a:r>
            <a:r>
              <a:rPr lang="en-US" b="0" i="0" dirty="0">
                <a:effectLst/>
                <a:latin typeface="Aptos" panose="02110004020202020204"/>
                <a:cs typeface="Times New Roman" panose="02020603050405020304" pitchFamily="18" charset="0"/>
              </a:rPr>
              <a:t>sixth ICU added because enrolment was slower than expected</a:t>
            </a:r>
            <a:endParaRPr lang="en-US" dirty="0">
              <a:latin typeface="Aptos" panose="02110004020202020204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latin typeface="Aptos" panose="02110004020202020204"/>
                <a:cs typeface="Times New Roman" panose="02020603050405020304" pitchFamily="18" charset="0"/>
              </a:rPr>
              <a:t>Due to logistical and funding constraints, patients enrolled in this study were followed up only during their ICU hospitalization</a:t>
            </a:r>
            <a:endParaRPr lang="en-US" b="0" i="0" dirty="0">
              <a:effectLst/>
              <a:latin typeface="Aptos" panose="0211000402020202020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0867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2583B-BBB0-F4F3-2FF4-4A37D164C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2004"/>
          </a:xfrm>
        </p:spPr>
        <p:txBody>
          <a:bodyPr/>
          <a:lstStyle/>
          <a:p>
            <a:r>
              <a:rPr lang="en-US" dirty="0">
                <a:latin typeface="Aptos" panose="02110004020202020204"/>
              </a:rPr>
              <a:t>DISCUSSION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3EF92-6FEE-8E1D-8EDE-11D72AAA7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6424"/>
            <a:ext cx="10515600" cy="47605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ptos" panose="02110004020202020204"/>
                <a:cs typeface="Times New Roman" panose="02020603050405020304" pitchFamily="18" charset="0"/>
              </a:rPr>
              <a:t>LIMITATION:</a:t>
            </a:r>
          </a:p>
          <a:p>
            <a:r>
              <a:rPr lang="en-US" dirty="0">
                <a:latin typeface="Aptos" panose="02110004020202020204"/>
                <a:cs typeface="Times New Roman" panose="02020603050405020304" pitchFamily="18" charset="0"/>
              </a:rPr>
              <a:t>The study was conducted over two years during pandemic-related changes in critical care, which may have introduced temporal bias</a:t>
            </a:r>
          </a:p>
          <a:p>
            <a:r>
              <a:rPr lang="en-US" dirty="0">
                <a:latin typeface="Aptos" panose="02110004020202020204"/>
                <a:cs typeface="Times New Roman" panose="02020603050405020304" pitchFamily="18" charset="0"/>
              </a:rPr>
              <a:t>Although this was minimized through a cluster-crossover design, comparable time periods, and a limited 9-month study duration at each site</a:t>
            </a:r>
          </a:p>
        </p:txBody>
      </p:sp>
    </p:spTree>
    <p:extLst>
      <p:ext uri="{BB962C8B-B14F-4D97-AF65-F5344CB8AC3E}">
        <p14:creationId xmlns:p14="http://schemas.microsoft.com/office/powerpoint/2010/main" val="12327497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116E8-68C4-7207-D4C6-D66B63CE9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110004020202020204"/>
              </a:rPr>
              <a:t>DISCUSSION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2269B-9AF3-8094-3874-6A0450088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cs typeface="Times New Roman" panose="02020603050405020304" pitchFamily="18" charset="0"/>
              </a:rPr>
              <a:t>LIMITATION:</a:t>
            </a:r>
          </a:p>
          <a:p>
            <a:pPr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cs typeface="Times New Roman" panose="02020603050405020304" pitchFamily="18" charset="0"/>
              </a:rPr>
              <a:t>The t-EDTA group had higher baseline use of anticoagulants and antibiotics than the control group, which could have confounded the results</a:t>
            </a:r>
          </a:p>
          <a:p>
            <a:pPr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cs typeface="Times New Roman" panose="02020603050405020304" pitchFamily="18" charset="0"/>
              </a:rPr>
              <a:t>However, these imbalances were accounted for in the regression model with covariate adjustment</a:t>
            </a:r>
          </a:p>
          <a:p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8212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3E9F6-0C13-CAD4-5EF8-3D31409E5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110004020202020204"/>
              </a:rPr>
              <a:t>DISCUSSION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90126-0D04-4C91-5889-4755A1598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dirty="0">
                <a:latin typeface="Aptos" panose="02110004020202020204"/>
                <a:cs typeface="Times New Roman" panose="02020603050405020304" pitchFamily="18" charset="0"/>
              </a:rPr>
              <a:t>Using  CLABSI instead of the more specific CRBSI out reduced diagnostic precision but improved comparability with routine surveillance data and previous studies</a:t>
            </a:r>
          </a:p>
          <a:p>
            <a:pPr marL="0" indent="0">
              <a:buNone/>
            </a:pPr>
            <a:endParaRPr lang="en-US" dirty="0">
              <a:latin typeface="Aptos" panose="02110004020202020204"/>
              <a:cs typeface="Times New Roman" panose="02020603050405020304" pitchFamily="18" charset="0"/>
            </a:endParaRPr>
          </a:p>
          <a:p>
            <a:r>
              <a:rPr lang="en-US" dirty="0">
                <a:latin typeface="Aptos" panose="02110004020202020204"/>
                <a:cs typeface="Times New Roman" panose="02020603050405020304" pitchFamily="18" charset="0"/>
              </a:rPr>
              <a:t>The small number of CLABSI and CVAD-associated thrombosis events observed limits the interpretability of secondary outcomes</a:t>
            </a:r>
          </a:p>
        </p:txBody>
      </p:sp>
    </p:spTree>
    <p:extLst>
      <p:ext uri="{BB962C8B-B14F-4D97-AF65-F5344CB8AC3E}">
        <p14:creationId xmlns:p14="http://schemas.microsoft.com/office/powerpoint/2010/main" val="34484880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8FAEC-925C-36E1-B6A4-403267760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110004020202020204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09524-6E5C-9A01-A097-B1A6B31AB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ptos" panose="02110004020202020204"/>
                <a:cs typeface="Times New Roman" panose="02020603050405020304" pitchFamily="18" charset="0"/>
              </a:rPr>
              <a:t>Compared with a control locking solution, use of 4% t-EDTA locking solution for CVADs reduced the incidence of a composite outcome of CVAD-associated bloodstream infection, catheter occlusion requiring alteplase use, and catheter removal due to occlusion in adult patients in the ICU</a:t>
            </a:r>
          </a:p>
          <a:p>
            <a:endParaRPr 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7622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2D7E7-A722-D09C-A3D8-FCFE4386D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110004020202020204"/>
              </a:rPr>
              <a:t>PAPER CRITIQUE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8E3E0-7FC4-4479-D493-2AF488C2A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TZ" altLang="en-TZ" sz="2800" dirty="0">
                <a:latin typeface="Aptos" panose="02110004020202020204"/>
                <a:cs typeface="Times New Roman" panose="02020603050405020304" pitchFamily="18" charset="0"/>
              </a:rPr>
              <a:t>Title/Abstract: </a:t>
            </a:r>
            <a:endParaRPr lang="en-US" altLang="en-TZ" sz="2800" dirty="0">
              <a:latin typeface="Aptos" panose="02110004020202020204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TZ" altLang="en-TZ" sz="2800" dirty="0">
                <a:latin typeface="Aptos" panose="02110004020202020204"/>
                <a:cs typeface="Times New Roman" panose="02020603050405020304" pitchFamily="18" charset="0"/>
              </a:rPr>
              <a:t>Clear and informative; summarizes</a:t>
            </a:r>
            <a:r>
              <a:rPr lang="en-US" altLang="en-TZ" sz="2800" dirty="0">
                <a:latin typeface="Aptos" panose="02110004020202020204"/>
                <a:cs typeface="Times New Roman" panose="02020603050405020304" pitchFamily="18" charset="0"/>
              </a:rPr>
              <a:t> background,</a:t>
            </a:r>
            <a:r>
              <a:rPr lang="en-TZ" altLang="en-TZ" sz="2800" dirty="0">
                <a:latin typeface="Aptos" panose="02110004020202020204"/>
                <a:cs typeface="Times New Roman" panose="02020603050405020304" pitchFamily="18" charset="0"/>
              </a:rPr>
              <a:t> objectives</a:t>
            </a:r>
            <a:r>
              <a:rPr lang="en-US" altLang="en-TZ" sz="2800" dirty="0">
                <a:latin typeface="Aptos" panose="02110004020202020204"/>
                <a:cs typeface="Times New Roman" panose="02020603050405020304" pitchFamily="18" charset="0"/>
              </a:rPr>
              <a:t>,</a:t>
            </a:r>
            <a:r>
              <a:rPr lang="en-TZ" altLang="en-TZ" sz="2800" dirty="0">
                <a:latin typeface="Aptos" panose="02110004020202020204"/>
                <a:cs typeface="Times New Roman" panose="02020603050405020304" pitchFamily="18" charset="0"/>
              </a:rPr>
              <a:t> and findings well</a:t>
            </a:r>
            <a:endParaRPr lang="en-US" altLang="en-TZ" sz="2800" dirty="0">
              <a:latin typeface="Aptos" panose="02110004020202020204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TZ" altLang="en-TZ" sz="2800" dirty="0">
              <a:latin typeface="Aptos" panose="02110004020202020204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TZ" sz="2800" dirty="0">
                <a:latin typeface="Aptos" panose="02110004020202020204"/>
                <a:cs typeface="Times New Roman" panose="02020603050405020304" pitchFamily="18" charset="0"/>
              </a:rPr>
              <a:t>2. </a:t>
            </a:r>
            <a:r>
              <a:rPr lang="en-TZ" altLang="en-TZ" sz="2800" dirty="0">
                <a:latin typeface="Aptos" panose="02110004020202020204"/>
                <a:cs typeface="Times New Roman" panose="02020603050405020304" pitchFamily="18" charset="0"/>
              </a:rPr>
              <a:t>Introduction: </a:t>
            </a:r>
            <a:endParaRPr lang="en-US" altLang="en-TZ" sz="2800" dirty="0">
              <a:latin typeface="Aptos" panose="02110004020202020204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TZ" sz="2800" dirty="0">
                <a:latin typeface="Aptos" panose="02110004020202020204"/>
                <a:cs typeface="Times New Roman" panose="02020603050405020304" pitchFamily="18" charset="0"/>
              </a:rPr>
              <a:t>The background provides a clear rationale </a:t>
            </a:r>
            <a:endParaRPr lang="en-TZ" altLang="en-TZ" sz="2800" dirty="0">
              <a:latin typeface="Aptos" panose="02110004020202020204"/>
              <a:cs typeface="Times New Roman" panose="02020603050405020304" pitchFamily="18" charset="0"/>
            </a:endParaRPr>
          </a:p>
          <a:p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129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18548-D3A4-609B-0C3F-890B8D148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110004020202020204"/>
              </a:rPr>
              <a:t>PAPER CRITIQUE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206EF-FE53-0499-EEE4-F6E71F6F0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US" altLang="en-TZ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anose="02020603050405020304" pitchFamily="18" charset="0"/>
              </a:rPr>
              <a:t>3. </a:t>
            </a:r>
            <a:r>
              <a:rPr kumimoji="0" lang="en-TZ" altLang="en-TZ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cs typeface="Times New Roman" panose="02020603050405020304" pitchFamily="18" charset="0"/>
              </a:rPr>
              <a:t>Methods: </a:t>
            </a:r>
            <a:endParaRPr kumimoji="0" lang="en-GB" altLang="en-TZ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TZ" altLang="en-TZ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cs typeface="Times New Roman" panose="02020603050405020304" pitchFamily="18" charset="0"/>
              </a:rPr>
              <a:t>Participants: </a:t>
            </a:r>
            <a:r>
              <a:rPr kumimoji="0" lang="en-US" altLang="en-TZ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cs typeface="Times New Roman" panose="02020603050405020304" pitchFamily="18" charset="0"/>
              </a:rPr>
              <a:t>Clear inclusion and exclusion criteria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0" lang="en-US" altLang="en-TZ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b="0" i="0" dirty="0">
                <a:effectLst/>
                <a:latin typeface="Aptos" panose="020B0004020202020204" pitchFamily="34" charset="0"/>
              </a:rPr>
              <a:t>Alteplase use, microbiological testing, and line removal decisions were performed at the clinician’s discretion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b="0" i="0" dirty="0">
              <a:effectLst/>
              <a:latin typeface="Nunito Sans" pitchFamily="2" charset="0"/>
            </a:endParaRP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b="0" i="0" dirty="0">
                <a:effectLst/>
                <a:latin typeface="Aptos" panose="02110004020202020204"/>
                <a:cs typeface="Times New Roman" panose="02020603050405020304" pitchFamily="18" charset="0"/>
              </a:rPr>
              <a:t>Follow-up ended at ICU discharge or treatment-period end</a:t>
            </a:r>
            <a:endParaRPr lang="en-US" altLang="en-TZ" dirty="0">
              <a:solidFill>
                <a:prstClr val="black"/>
              </a:solidFill>
              <a:latin typeface="Aptos" panose="02110004020202020204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0" lang="en-US" altLang="en-TZ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2965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61DEC-4311-10B8-9832-CE9B88657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8013"/>
            <a:ext cx="10515600" cy="1325563"/>
          </a:xfrm>
        </p:spPr>
        <p:txBody>
          <a:bodyPr/>
          <a:lstStyle/>
          <a:p>
            <a:r>
              <a:rPr lang="en-US" dirty="0">
                <a:latin typeface="Aptos" panose="02110004020202020204"/>
              </a:rPr>
              <a:t>PAPER CRITIQUE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7138D-521C-C085-9A41-4E5B6108B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799221"/>
          </a:xfrm>
        </p:spPr>
        <p:txBody>
          <a:bodyPr>
            <a:normAutofit/>
          </a:bodyPr>
          <a:lstStyle/>
          <a:p>
            <a:r>
              <a:rPr lang="en-US" dirty="0">
                <a:latin typeface="Aptos" panose="02110004020202020204"/>
                <a:cs typeface="Times New Roman" panose="02020603050405020304" pitchFamily="18" charset="0"/>
              </a:rPr>
              <a:t>Randomization: </a:t>
            </a:r>
            <a:endParaRPr lang="en-US" b="0" i="0" dirty="0">
              <a:effectLst/>
              <a:latin typeface="Aptos" panose="02110004020202020204"/>
              <a:cs typeface="Times New Roman" panose="02020603050405020304" pitchFamily="18" charset="0"/>
            </a:endParaRPr>
          </a:p>
          <a:p>
            <a:pPr lvl="1"/>
            <a:r>
              <a:rPr lang="en-US" b="0" i="0" dirty="0">
                <a:effectLst/>
                <a:latin typeface="Aptos" panose="02110004020202020204"/>
                <a:cs typeface="Times New Roman" panose="02020603050405020304" pitchFamily="18" charset="0"/>
              </a:rPr>
              <a:t>Cluster-crossover design is appropriate for a unit-level nursing workflow intervention</a:t>
            </a:r>
          </a:p>
          <a:p>
            <a:pPr marL="457200" lvl="1" indent="0">
              <a:buNone/>
            </a:pPr>
            <a:endParaRPr lang="en-US" b="0" i="0" dirty="0">
              <a:effectLst/>
              <a:latin typeface="Aptos" panose="02110004020202020204"/>
              <a:cs typeface="Times New Roman" panose="02020603050405020304" pitchFamily="18" charset="0"/>
            </a:endParaRPr>
          </a:p>
          <a:p>
            <a:pPr lvl="1"/>
            <a:r>
              <a:rPr lang="en-US" b="0" i="0" dirty="0">
                <a:effectLst/>
                <a:latin typeface="Aptos" panose="02110004020202020204"/>
                <a:cs typeface="Times New Roman" panose="02020603050405020304" pitchFamily="18" charset="0"/>
              </a:rPr>
              <a:t>Near-complete randomised cohort retention with only 2 post-randomization exclusions and no missing primary outcome data</a:t>
            </a:r>
          </a:p>
        </p:txBody>
      </p:sp>
    </p:spTree>
    <p:extLst>
      <p:ext uri="{BB962C8B-B14F-4D97-AF65-F5344CB8AC3E}">
        <p14:creationId xmlns:p14="http://schemas.microsoft.com/office/powerpoint/2010/main" val="11528613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9266C-225D-27F7-3EDE-A816D7330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8216"/>
          </a:xfrm>
        </p:spPr>
        <p:txBody>
          <a:bodyPr/>
          <a:lstStyle/>
          <a:p>
            <a:r>
              <a:rPr lang="en-US" dirty="0">
                <a:latin typeface="Aptos" panose="02110004020202020204"/>
              </a:rPr>
              <a:t>PAPER CRITIQUE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8484A-CD3C-CD66-1BA4-6177E3CFC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3342"/>
            <a:ext cx="10515600" cy="5309532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lang="en-US" altLang="en-TZ" dirty="0">
                <a:solidFill>
                  <a:prstClr val="black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4. </a:t>
            </a:r>
            <a:r>
              <a:rPr kumimoji="0" lang="en-TZ" altLang="en-TZ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cs typeface="Times New Roman" panose="02020603050405020304" pitchFamily="18" charset="0"/>
              </a:rPr>
              <a:t>Outcomes: </a:t>
            </a:r>
            <a:endParaRPr lang="en-US" altLang="en-TZ" dirty="0">
              <a:solidFill>
                <a:prstClr val="black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altLang="en-TZ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cs typeface="Times New Roman" panose="02020603050405020304" pitchFamily="18" charset="0"/>
              </a:rPr>
              <a:t>Primary and secondary outcomes were well defined</a:t>
            </a:r>
          </a:p>
          <a:p>
            <a:pPr lvl="1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b="0" i="0" dirty="0">
                <a:effectLst/>
                <a:latin typeface="Aptos" panose="020B0004020202020204" pitchFamily="34" charset="0"/>
              </a:rPr>
              <a:t>No apparent safety signal, including no reported hypocalcemia related to t-EDTA</a:t>
            </a:r>
          </a:p>
          <a:p>
            <a:pPr marL="457200" lvl="1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0" lang="en-US" altLang="en-TZ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357188" marR="0" lvl="0" indent="-357188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5"/>
              <a:tabLst/>
              <a:defRPr/>
            </a:pPr>
            <a:r>
              <a:rPr kumimoji="0" lang="en-TZ" altLang="en-TZ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cs typeface="Times New Roman" panose="02020603050405020304" pitchFamily="18" charset="0"/>
              </a:rPr>
              <a:t>Statistical Methods: </a:t>
            </a:r>
            <a:endParaRPr kumimoji="0" lang="en-US" altLang="en-TZ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800" b="0" i="0" dirty="0">
                <a:effectLst/>
                <a:latin typeface="Aptos" panose="020B0004020202020204" pitchFamily="34" charset="0"/>
                <a:cs typeface="Times New Roman" panose="02020603050405020304" pitchFamily="18" charset="0"/>
              </a:rPr>
              <a:t>Predefined statistical model for event rates and appropriate adjustment for site and treatment period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endParaRPr lang="en-US" b="0" i="0" dirty="0">
              <a:effectLst/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357188" marR="0" lvl="0" indent="-357188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5"/>
              <a:tabLst/>
              <a:defRPr/>
            </a:pPr>
            <a:endParaRPr kumimoji="0" lang="en-US" altLang="en-TZ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2789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6FB0E-C70A-4C3B-7AA7-3636DCE4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685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110004020202020204"/>
              </a:rPr>
              <a:t>PAPER CRITIQUE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35B57-25D7-0257-2D9F-4C519C6E9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1976"/>
            <a:ext cx="10515600" cy="6418730"/>
          </a:xfrm>
        </p:spPr>
        <p:txBody>
          <a:bodyPr>
            <a:noAutofit/>
          </a:bodyPr>
          <a:lstStyle/>
          <a:p>
            <a:pPr marL="357188" marR="0" lvl="0" indent="-357188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7"/>
              <a:tabLst/>
              <a:defRPr/>
            </a:pPr>
            <a:r>
              <a:rPr kumimoji="0" lang="en-US" altLang="en-TZ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cs typeface="Times New Roman" panose="02020603050405020304" pitchFamily="18" charset="0"/>
              </a:rPr>
              <a:t>Results;</a:t>
            </a:r>
          </a:p>
          <a:p>
            <a:pPr lvl="1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altLang="en-TZ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cs typeface="Times New Roman" panose="02020603050405020304" pitchFamily="18" charset="0"/>
              </a:rPr>
              <a:t>The primary and secondary outcome results are well presented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Aptos" panose="02110004020202020204"/>
                <a:cs typeface="Times New Roman" panose="02020603050405020304" pitchFamily="18" charset="0"/>
              </a:rPr>
              <a:t>The primary composite was driven by alteplase-treated occlusion, not infection or thrombosis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Aptos" panose="02110004020202020204"/>
                <a:cs typeface="Times New Roman" panose="02020603050405020304" pitchFamily="18" charset="0"/>
              </a:rPr>
              <a:t>CLABSI, catheter removal due to occlusion, thrombosis, and colonization events were too rare for precise conclusions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latin typeface="Aptos" panose="02110004020202020204"/>
                <a:cs typeface="Times New Roman" panose="02020603050405020304" pitchFamily="18" charset="0"/>
              </a:rPr>
              <a:t>Protocol adherence was imperfect; only 64.9% of participants were in the per-protocol subgroup</a:t>
            </a:r>
            <a:endParaRPr lang="en-US" sz="2800" i="0" dirty="0">
              <a:effectLst/>
              <a:latin typeface="Aptos" panose="0211000402020202020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0400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37FF6-23B3-1F4D-A863-09E26D96A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110004020202020204"/>
              </a:rPr>
              <a:t>PAPER CRITIQUE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446CB-0D6A-C0C3-4FDC-980A43F9A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7188" marR="0" lvl="0" indent="-357188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7"/>
              <a:tabLst/>
              <a:defRPr/>
            </a:pPr>
            <a:r>
              <a:rPr kumimoji="0" lang="en-TZ" altLang="en-TZ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cs typeface="Times New Roman" panose="02020603050405020304" pitchFamily="18" charset="0"/>
              </a:rPr>
              <a:t>Discussion: </a:t>
            </a:r>
            <a:endParaRPr kumimoji="0" lang="en-US" altLang="en-TZ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cs typeface="Times New Roman" panose="02020603050405020304" pitchFamily="18" charset="0"/>
            </a:endParaRPr>
          </a:p>
          <a:p>
            <a:pPr marL="947738" indent="-4572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TZ" altLang="en-TZ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cs typeface="Times New Roman" panose="02020603050405020304" pitchFamily="18" charset="0"/>
              </a:rPr>
              <a:t> </a:t>
            </a:r>
            <a:r>
              <a:rPr kumimoji="0" lang="en-US" altLang="en-TZ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cs typeface="Times New Roman" panose="02020603050405020304" pitchFamily="18" charset="0"/>
              </a:rPr>
              <a:t>Explain</a:t>
            </a:r>
            <a:r>
              <a:rPr lang="en-US" altLang="en-TZ" dirty="0">
                <a:solidFill>
                  <a:prstClr val="black"/>
                </a:solidFill>
                <a:latin typeface="Aptos" panose="02110004020202020204"/>
                <a:cs typeface="Times New Roman" panose="02020603050405020304" pitchFamily="18" charset="0"/>
              </a:rPr>
              <a:t>ed</a:t>
            </a:r>
            <a:r>
              <a:rPr kumimoji="0" lang="en-US" altLang="en-TZ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cs typeface="Times New Roman" panose="02020603050405020304" pitchFamily="18" charset="0"/>
              </a:rPr>
              <a:t> findings in context, mentioning limitations and strengths</a:t>
            </a:r>
          </a:p>
          <a:p>
            <a:pPr marL="357188" marR="0" lvl="0" indent="-357188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8"/>
              <a:tabLst/>
              <a:defRPr/>
            </a:pPr>
            <a:r>
              <a:rPr kumimoji="0" lang="en-TZ" altLang="en-TZ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cs typeface="Times New Roman" panose="02020603050405020304" pitchFamily="18" charset="0"/>
              </a:rPr>
              <a:t>Funding: </a:t>
            </a:r>
            <a:endParaRPr kumimoji="0" lang="en-US" altLang="en-TZ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cs typeface="Times New Roman" panose="02020603050405020304" pitchFamily="18" charset="0"/>
            </a:endParaRPr>
          </a:p>
          <a:p>
            <a:pPr marL="998538" indent="-4572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latin typeface="Aptos" panose="02110004020202020204"/>
                <a:cs typeface="Times New Roman" panose="02020603050405020304" pitchFamily="18" charset="0"/>
              </a:rPr>
              <a:t>Some investigators acknowledge receiving personal fees </a:t>
            </a:r>
            <a:endParaRPr lang="en-US" b="0" i="0" dirty="0">
              <a:effectLst/>
              <a:latin typeface="Aptos" panose="0211000402020202020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496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318A6-D42A-2784-224B-4CFCF005A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110004020202020204"/>
              </a:rPr>
              <a:t>WHY THIS PAPER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4FDAF-1295-2542-2C4A-FD0E85540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ptos" panose="02110004020202020204"/>
              </a:rPr>
              <a:t>Current high burden of CLABSI  with its associated mortality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ptos" panose="02110004020202020204"/>
              </a:rPr>
              <a:t>The need for this  trial is particularly high  in our resource-limited setting, where the prevalence of CLABSI, CRBSI, and catheter occlusion remains substantial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ptos" panose="02110004020202020204"/>
              </a:rPr>
              <a:t>Antibiotic Lock Therapy in the Era of Antimicrobial Resistance!</a:t>
            </a:r>
          </a:p>
          <a:p>
            <a:pPr marL="0" indent="0">
              <a:buNone/>
            </a:pPr>
            <a:endParaRPr lang="en-US" dirty="0"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11974607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039C0-EFEE-8998-320E-65D5415F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110004020202020204"/>
              </a:rPr>
              <a:t>TAKE HOME MESSAGE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DB1C2-AC6A-6163-66E3-6E5ADB11E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ptos" panose="02110004020202020204"/>
              </a:rPr>
              <a:t>4 % t-EDTA is a high-affinity metal chelator exhibiting anticoagulant, antimicrobial, and antibiofilm effects, which can be used  to prevent occlusion requiring thrombolytic therapy</a:t>
            </a:r>
          </a:p>
          <a:p>
            <a:r>
              <a:rPr lang="en-US" dirty="0">
                <a:latin typeface="Aptos" panose="02110004020202020204"/>
              </a:rPr>
              <a:t> A call for a poor resource setting -based trial </a:t>
            </a:r>
          </a:p>
        </p:txBody>
      </p:sp>
    </p:spTree>
    <p:extLst>
      <p:ext uri="{BB962C8B-B14F-4D97-AF65-F5344CB8AC3E}">
        <p14:creationId xmlns:p14="http://schemas.microsoft.com/office/powerpoint/2010/main" val="12421357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B063A-0EC6-3546-8E08-350D7FAE0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110004020202020204"/>
              </a:rPr>
              <a:t>ACKNOWLEDGMENT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6E774-A6D0-C222-B924-B27A94BCA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Aptos" panose="02110004020202020204"/>
              </a:rPr>
              <a:t>Prof. Patricia Munseri</a:t>
            </a:r>
          </a:p>
          <a:p>
            <a:r>
              <a:rPr lang="en-US" dirty="0">
                <a:latin typeface="Aptos" panose="02110004020202020204"/>
              </a:rPr>
              <a:t>Dr Baraka Mrisho ( Intensivist)</a:t>
            </a:r>
          </a:p>
          <a:p>
            <a:r>
              <a:rPr lang="en-US" dirty="0">
                <a:latin typeface="Aptos" panose="02110004020202020204"/>
              </a:rPr>
              <a:t>Dr. Daniel Msilanga (Nephrologist)</a:t>
            </a:r>
          </a:p>
          <a:p>
            <a:r>
              <a:rPr lang="en-US" dirty="0">
                <a:latin typeface="Aptos" panose="02110004020202020204"/>
              </a:rPr>
              <a:t>Muhimbili ICU doctors</a:t>
            </a:r>
          </a:p>
          <a:p>
            <a:r>
              <a:rPr lang="en-US" dirty="0">
                <a:latin typeface="Aptos" panose="02110004020202020204"/>
              </a:rPr>
              <a:t>Mr. Peter Kimambi (Biostatistician)</a:t>
            </a:r>
          </a:p>
          <a:p>
            <a:r>
              <a:rPr lang="en-US" dirty="0">
                <a:latin typeface="Aptos" panose="02110004020202020204"/>
              </a:rPr>
              <a:t>Mr.Abduel  Kelakela (Dialysis unit nurse in charge)</a:t>
            </a:r>
          </a:p>
          <a:p>
            <a:r>
              <a:rPr lang="en-US" dirty="0">
                <a:latin typeface="Aptos" panose="02110004020202020204"/>
              </a:rPr>
              <a:t>Fellow residents  </a:t>
            </a:r>
          </a:p>
        </p:txBody>
      </p:sp>
    </p:spTree>
    <p:extLst>
      <p:ext uri="{BB962C8B-B14F-4D97-AF65-F5344CB8AC3E}">
        <p14:creationId xmlns:p14="http://schemas.microsoft.com/office/powerpoint/2010/main" val="10045790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1A474B-3117-7810-0D05-D4FB2AC3D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8800" dirty="0">
                <a:latin typeface="Algerian" panose="04020705040A02060702" pitchFamily="82" charset="0"/>
              </a:rPr>
              <a:t>THANK YOU FOR LISTENING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56445-A8DE-0C1D-E3BD-88785CBCE5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775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10746</TotalTime>
  <Words>3389</Words>
  <Application>Microsoft Office PowerPoint</Application>
  <PresentationFormat>Widescreen</PresentationFormat>
  <Paragraphs>383</Paragraphs>
  <Slides>64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64</vt:i4>
      </vt:variant>
    </vt:vector>
  </HeadingPairs>
  <TitlesOfParts>
    <vt:vector size="75" baseType="lpstr">
      <vt:lpstr>Algerian</vt:lpstr>
      <vt:lpstr>Aptos</vt:lpstr>
      <vt:lpstr>Aptos Display</vt:lpstr>
      <vt:lpstr>Arial</vt:lpstr>
      <vt:lpstr>Calibri</vt:lpstr>
      <vt:lpstr>Courier New</vt:lpstr>
      <vt:lpstr>Nunito Sans</vt:lpstr>
      <vt:lpstr>Times New Roman</vt:lpstr>
      <vt:lpstr>Wingdings</vt:lpstr>
      <vt:lpstr>Office Theme</vt:lpstr>
      <vt:lpstr>1_Office Theme</vt:lpstr>
      <vt:lpstr>JOURNAL CLUB PRESENTATION</vt:lpstr>
      <vt:lpstr>May 2026</vt:lpstr>
      <vt:lpstr>BACKGROUND</vt:lpstr>
      <vt:lpstr>PowerPoint Presentation</vt:lpstr>
      <vt:lpstr>COMPLICATIONS OF CVAD</vt:lpstr>
      <vt:lpstr>COMPLICATIONS OF CVAD</vt:lpstr>
      <vt:lpstr>EPIDEMIOLOGY</vt:lpstr>
      <vt:lpstr>EPIDEMIOLOGY</vt:lpstr>
      <vt:lpstr>PATHOGENESIS CVAD’S COMPLICATIONS</vt:lpstr>
      <vt:lpstr>PREVENTION OF CVAD COMPLICATIONS</vt:lpstr>
      <vt:lpstr>LOCKING PROTOCOL FOR CVAD</vt:lpstr>
      <vt:lpstr>4% TETRASODIUM EDTA</vt:lpstr>
      <vt:lpstr>LITERATURE REVIEW</vt:lpstr>
      <vt:lpstr>LITERATURE REVIEW</vt:lpstr>
      <vt:lpstr>LITERATURE REVIEW</vt:lpstr>
      <vt:lpstr>PROBLEM STATEMENT </vt:lpstr>
      <vt:lpstr>RATIONALE</vt:lpstr>
      <vt:lpstr>RESEARCH OBJECTIVES</vt:lpstr>
      <vt:lpstr>RESEARCH OBJECTIVES</vt:lpstr>
      <vt:lpstr>METHODOLOGY</vt:lpstr>
      <vt:lpstr>METHODOLOGY</vt:lpstr>
      <vt:lpstr>METHODOLOGY: INCLUSION CRITERIA</vt:lpstr>
      <vt:lpstr>METHODOLOGY: EXCLUSION CRITERIA</vt:lpstr>
      <vt:lpstr>RECRUIMENT STRATERGY</vt:lpstr>
      <vt:lpstr>CLUSTER RANDOMIZATION</vt:lpstr>
      <vt:lpstr>STUDY PROCEDURE</vt:lpstr>
      <vt:lpstr>STUDY PROCEDURE</vt:lpstr>
      <vt:lpstr>PRIMARY OUTCOMES</vt:lpstr>
      <vt:lpstr>SECONDARY OUTCOMES</vt:lpstr>
      <vt:lpstr>FOLLOW UP</vt:lpstr>
      <vt:lpstr>STATISTICAL ANALYSIS</vt:lpstr>
      <vt:lpstr>STATISTICAL ANALYSIS</vt:lpstr>
      <vt:lpstr>STATISTICAL ANALYSIS</vt:lpstr>
      <vt:lpstr>ETHICAL CONSIDERATIONS</vt:lpstr>
      <vt:lpstr>FUNDING AND CONFLICT OF INTEREST </vt:lpstr>
      <vt:lpstr>RESULTS</vt:lpstr>
      <vt:lpstr>PowerPoint Presentation</vt:lpstr>
      <vt:lpstr>TRIAL FLOW DIAGRAM</vt:lpstr>
      <vt:lpstr>PowerPoint Presentation</vt:lpstr>
      <vt:lpstr>Baseline and CVAD characteristics </vt:lpstr>
      <vt:lpstr>Baseline and CVAD characteristics </vt:lpstr>
      <vt:lpstr>PowerPoint Presentation</vt:lpstr>
      <vt:lpstr>PowerPoint Presentation</vt:lpstr>
      <vt:lpstr>PowerPoint Presentation</vt:lpstr>
      <vt:lpstr>PER PROTOCOL ANALYSIS RESULT </vt:lpstr>
      <vt:lpstr>DISCUSSION </vt:lpstr>
      <vt:lpstr>DISCUSSION </vt:lpstr>
      <vt:lpstr>DISCUSSION</vt:lpstr>
      <vt:lpstr>DISCUSSION </vt:lpstr>
      <vt:lpstr>DISCUSSION </vt:lpstr>
      <vt:lpstr>DISCUSSION </vt:lpstr>
      <vt:lpstr>DISCUSSION </vt:lpstr>
      <vt:lpstr>DISCUSSION </vt:lpstr>
      <vt:lpstr>CONCLUSION</vt:lpstr>
      <vt:lpstr>PAPER CRITIQUE</vt:lpstr>
      <vt:lpstr>PAPER CRITIQUE</vt:lpstr>
      <vt:lpstr>PAPER CRITIQUE</vt:lpstr>
      <vt:lpstr>PAPER CRITIQUE</vt:lpstr>
      <vt:lpstr>PAPER CRITIQUE</vt:lpstr>
      <vt:lpstr>PAPER CRITIQUE</vt:lpstr>
      <vt:lpstr>WHY THIS PAPER ?</vt:lpstr>
      <vt:lpstr>TAKE HOME MESSAGE </vt:lpstr>
      <vt:lpstr>ACKNOWLEDGMENT</vt:lpstr>
      <vt:lpstr>THANK YOU FOR LISTENING 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JOURNAL CLUB PRESENTATION</dc:title>
  <dc:creator>ALLAN MUNISI</dc:creator>
  <cp:lastModifiedBy>violet wilbard</cp:lastModifiedBy>
  <cp:revision>86</cp:revision>
  <dcterms:created xsi:type="dcterms:W3CDTF">2026-06-18T14:48:14Z</dcterms:created>
  <dcterms:modified xsi:type="dcterms:W3CDTF">2026-07-16T21:18:00Z</dcterms:modified>
</cp:coreProperties>
</file>