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8"/>
  </p:notesMasterIdLst>
  <p:sldIdLst>
    <p:sldId id="256" r:id="rId2"/>
    <p:sldId id="258" r:id="rId3"/>
    <p:sldId id="259" r:id="rId4"/>
    <p:sldId id="261" r:id="rId5"/>
    <p:sldId id="478" r:id="rId6"/>
    <p:sldId id="481" r:id="rId7"/>
    <p:sldId id="479" r:id="rId8"/>
    <p:sldId id="480" r:id="rId9"/>
    <p:sldId id="482" r:id="rId10"/>
    <p:sldId id="533" r:id="rId11"/>
    <p:sldId id="485" r:id="rId12"/>
    <p:sldId id="486" r:id="rId13"/>
    <p:sldId id="487" r:id="rId14"/>
    <p:sldId id="483" r:id="rId15"/>
    <p:sldId id="488" r:id="rId16"/>
    <p:sldId id="484" r:id="rId17"/>
    <p:sldId id="489" r:id="rId18"/>
    <p:sldId id="532" r:id="rId19"/>
    <p:sldId id="491" r:id="rId20"/>
    <p:sldId id="494" r:id="rId21"/>
    <p:sldId id="490" r:id="rId22"/>
    <p:sldId id="529" r:id="rId23"/>
    <p:sldId id="492" r:id="rId24"/>
    <p:sldId id="493" r:id="rId25"/>
    <p:sldId id="530" r:id="rId26"/>
    <p:sldId id="495" r:id="rId27"/>
    <p:sldId id="496" r:id="rId28"/>
    <p:sldId id="497" r:id="rId29"/>
    <p:sldId id="537" r:id="rId30"/>
    <p:sldId id="538" r:id="rId31"/>
    <p:sldId id="508" r:id="rId32"/>
    <p:sldId id="509" r:id="rId33"/>
    <p:sldId id="510" r:id="rId34"/>
    <p:sldId id="511" r:id="rId35"/>
    <p:sldId id="512" r:id="rId36"/>
    <p:sldId id="513" r:id="rId37"/>
    <p:sldId id="514" r:id="rId38"/>
    <p:sldId id="515" r:id="rId39"/>
    <p:sldId id="516" r:id="rId40"/>
    <p:sldId id="503" r:id="rId41"/>
    <p:sldId id="540" r:id="rId42"/>
    <p:sldId id="539" r:id="rId43"/>
    <p:sldId id="507" r:id="rId44"/>
    <p:sldId id="517" r:id="rId45"/>
    <p:sldId id="518" r:id="rId46"/>
    <p:sldId id="519" r:id="rId47"/>
    <p:sldId id="520" r:id="rId48"/>
    <p:sldId id="504" r:id="rId49"/>
    <p:sldId id="505" r:id="rId50"/>
    <p:sldId id="506" r:id="rId51"/>
    <p:sldId id="521" r:id="rId52"/>
    <p:sldId id="502" r:id="rId53"/>
    <p:sldId id="534" r:id="rId54"/>
    <p:sldId id="535" r:id="rId55"/>
    <p:sldId id="536" r:id="rId56"/>
    <p:sldId id="522" r:id="rId57"/>
    <p:sldId id="523" r:id="rId58"/>
    <p:sldId id="498" r:id="rId59"/>
    <p:sldId id="499" r:id="rId60"/>
    <p:sldId id="524" r:id="rId61"/>
    <p:sldId id="501" r:id="rId62"/>
    <p:sldId id="525" r:id="rId63"/>
    <p:sldId id="500" r:id="rId64"/>
    <p:sldId id="526" r:id="rId65"/>
    <p:sldId id="527" r:id="rId66"/>
    <p:sldId id="528" r:id="rId67"/>
  </p:sldIdLst>
  <p:sldSz cx="12192000" cy="6858000"/>
  <p:notesSz cx="6858000" cy="9144000"/>
  <p:defaultText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91773" autoAdjust="0"/>
  </p:normalViewPr>
  <p:slideViewPr>
    <p:cSldViewPr snapToGrid="0">
      <p:cViewPr varScale="1">
        <p:scale>
          <a:sx n="98" d="100"/>
          <a:sy n="98" d="100"/>
        </p:scale>
        <p:origin x="103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E9C893-A2D4-4858-A9B6-FADF3A2B29D1}" type="datetimeFigureOut">
              <a:rPr lang="en-TZ" smtClean="0"/>
              <a:t>7/9/26</a:t>
            </a:fld>
            <a:endParaRPr lang="en-T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914017-FDA1-4C7B-995B-6E23EAEE43A5}" type="slidenum">
              <a:rPr lang="en-TZ" smtClean="0"/>
              <a:t>‹#›</a:t>
            </a:fld>
            <a:endParaRPr lang="en-TZ"/>
          </a:p>
        </p:txBody>
      </p:sp>
    </p:spTree>
    <p:extLst>
      <p:ext uri="{BB962C8B-B14F-4D97-AF65-F5344CB8AC3E}">
        <p14:creationId xmlns:p14="http://schemas.microsoft.com/office/powerpoint/2010/main" val="950368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a:p>
            <a:pPr>
              <a:buFontTx/>
              <a:buChar char="-"/>
            </a:pPr>
            <a:r>
              <a:rPr lang="en-US" dirty="0"/>
              <a:t>Chronic inflammatory skin diseases systemic inflammation causing musculoskeletal, cardiovascular, metabolic renal and psychosocial complications </a:t>
            </a:r>
          </a:p>
          <a:p>
            <a:endParaRPr lang="en-TZ" dirty="0"/>
          </a:p>
        </p:txBody>
      </p:sp>
      <p:sp>
        <p:nvSpPr>
          <p:cNvPr id="4" name="Slide Number Placeholder 3"/>
          <p:cNvSpPr>
            <a:spLocks noGrp="1"/>
          </p:cNvSpPr>
          <p:nvPr>
            <p:ph type="sldNum" sz="quarter" idx="5"/>
          </p:nvPr>
        </p:nvSpPr>
        <p:spPr/>
        <p:txBody>
          <a:bodyPr/>
          <a:lstStyle/>
          <a:p>
            <a:fld id="{E9914017-FDA1-4C7B-995B-6E23EAEE43A5}" type="slidenum">
              <a:rPr lang="en-TZ" smtClean="0"/>
              <a:t>3</a:t>
            </a:fld>
            <a:endParaRPr lang="en-TZ"/>
          </a:p>
        </p:txBody>
      </p:sp>
    </p:spTree>
    <p:extLst>
      <p:ext uri="{BB962C8B-B14F-4D97-AF65-F5344CB8AC3E}">
        <p14:creationId xmlns:p14="http://schemas.microsoft.com/office/powerpoint/2010/main" val="381898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A Beta hemolytic streptococci- erysipelas involves superficial dermis and superficial lymphatics, well </a:t>
            </a:r>
            <a:r>
              <a:rPr lang="en-US" dirty="0" err="1"/>
              <a:t>dermacted</a:t>
            </a:r>
            <a:r>
              <a:rPr lang="en-US" dirty="0"/>
              <a:t>, raised borders</a:t>
            </a:r>
          </a:p>
          <a:p>
            <a:r>
              <a:rPr lang="en-US" dirty="0"/>
              <a:t>Cellulitis- Deep dermis and subcutaneous tissue </a:t>
            </a:r>
            <a:endParaRPr lang="en-TZ" dirty="0"/>
          </a:p>
        </p:txBody>
      </p:sp>
      <p:sp>
        <p:nvSpPr>
          <p:cNvPr id="4" name="Slide Number Placeholder 3"/>
          <p:cNvSpPr>
            <a:spLocks noGrp="1"/>
          </p:cNvSpPr>
          <p:nvPr>
            <p:ph type="sldNum" sz="quarter" idx="5"/>
          </p:nvPr>
        </p:nvSpPr>
        <p:spPr/>
        <p:txBody>
          <a:bodyPr/>
          <a:lstStyle/>
          <a:p>
            <a:fld id="{E9914017-FDA1-4C7B-995B-6E23EAEE43A5}" type="slidenum">
              <a:rPr lang="en-TZ" smtClean="0"/>
              <a:t>4</a:t>
            </a:fld>
            <a:endParaRPr lang="en-TZ"/>
          </a:p>
        </p:txBody>
      </p:sp>
    </p:spTree>
    <p:extLst>
      <p:ext uri="{BB962C8B-B14F-4D97-AF65-F5344CB8AC3E}">
        <p14:creationId xmlns:p14="http://schemas.microsoft.com/office/powerpoint/2010/main" val="965424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Toe web intertrigo</a:t>
            </a:r>
            <a:endParaRPr lang="en-TZ" dirty="0"/>
          </a:p>
        </p:txBody>
      </p:sp>
      <p:sp>
        <p:nvSpPr>
          <p:cNvPr id="4" name="Slide Number Placeholder 3"/>
          <p:cNvSpPr>
            <a:spLocks noGrp="1"/>
          </p:cNvSpPr>
          <p:nvPr>
            <p:ph type="sldNum" sz="quarter" idx="5"/>
          </p:nvPr>
        </p:nvSpPr>
        <p:spPr/>
        <p:txBody>
          <a:bodyPr/>
          <a:lstStyle/>
          <a:p>
            <a:fld id="{E9914017-FDA1-4C7B-995B-6E23EAEE43A5}" type="slidenum">
              <a:rPr lang="en-TZ" smtClean="0"/>
              <a:t>5</a:t>
            </a:fld>
            <a:endParaRPr lang="en-TZ"/>
          </a:p>
        </p:txBody>
      </p:sp>
    </p:spTree>
    <p:extLst>
      <p:ext uri="{BB962C8B-B14F-4D97-AF65-F5344CB8AC3E}">
        <p14:creationId xmlns:p14="http://schemas.microsoft.com/office/powerpoint/2010/main" val="2477717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common in Erysipelas </a:t>
            </a:r>
            <a:endParaRPr lang="en-TZ" dirty="0"/>
          </a:p>
        </p:txBody>
      </p:sp>
      <p:sp>
        <p:nvSpPr>
          <p:cNvPr id="4" name="Slide Number Placeholder 3"/>
          <p:cNvSpPr>
            <a:spLocks noGrp="1"/>
          </p:cNvSpPr>
          <p:nvPr>
            <p:ph type="sldNum" sz="quarter" idx="5"/>
          </p:nvPr>
        </p:nvSpPr>
        <p:spPr/>
        <p:txBody>
          <a:bodyPr/>
          <a:lstStyle/>
          <a:p>
            <a:fld id="{E9914017-FDA1-4C7B-995B-6E23EAEE43A5}" type="slidenum">
              <a:rPr lang="en-TZ" smtClean="0"/>
              <a:t>7</a:t>
            </a:fld>
            <a:endParaRPr lang="en-TZ"/>
          </a:p>
        </p:txBody>
      </p:sp>
    </p:spTree>
    <p:extLst>
      <p:ext uri="{BB962C8B-B14F-4D97-AF65-F5344CB8AC3E}">
        <p14:creationId xmlns:p14="http://schemas.microsoft.com/office/powerpoint/2010/main" val="3215296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TZ" b="1" dirty="0"/>
              <a:t>Non-Purulent Cellulitis</a:t>
            </a:r>
            <a:r>
              <a:rPr lang="en-US" b="1" dirty="0"/>
              <a:t>- </a:t>
            </a:r>
            <a:r>
              <a:rPr lang="en-TZ" b="1" dirty="0"/>
              <a:t>β-</a:t>
            </a:r>
            <a:r>
              <a:rPr lang="en-TZ" b="1" dirty="0" err="1"/>
              <a:t>hemolytic</a:t>
            </a:r>
            <a:r>
              <a:rPr lang="en-TZ" b="1" dirty="0"/>
              <a:t> streptococci</a:t>
            </a:r>
            <a:r>
              <a:rPr lang="en-TZ" dirty="0"/>
              <a:t> </a:t>
            </a:r>
            <a:r>
              <a:rPr lang="en-US" dirty="0"/>
              <a:t>(commonly)</a:t>
            </a:r>
          </a:p>
          <a:p>
            <a:endParaRPr lang="en-TZ" dirty="0"/>
          </a:p>
        </p:txBody>
      </p:sp>
      <p:sp>
        <p:nvSpPr>
          <p:cNvPr id="4" name="Slide Number Placeholder 3"/>
          <p:cNvSpPr>
            <a:spLocks noGrp="1"/>
          </p:cNvSpPr>
          <p:nvPr>
            <p:ph type="sldNum" sz="quarter" idx="5"/>
          </p:nvPr>
        </p:nvSpPr>
        <p:spPr/>
        <p:txBody>
          <a:bodyPr/>
          <a:lstStyle/>
          <a:p>
            <a:fld id="{E9914017-FDA1-4C7B-995B-6E23EAEE43A5}" type="slidenum">
              <a:rPr lang="en-TZ" smtClean="0"/>
              <a:t>9</a:t>
            </a:fld>
            <a:endParaRPr lang="en-TZ"/>
          </a:p>
        </p:txBody>
      </p:sp>
    </p:spTree>
    <p:extLst>
      <p:ext uri="{BB962C8B-B14F-4D97-AF65-F5344CB8AC3E}">
        <p14:creationId xmlns:p14="http://schemas.microsoft.com/office/powerpoint/2010/main" val="34095404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Z" sz="1200" b="1" i="0" kern="1200" dirty="0" err="1">
                <a:solidFill>
                  <a:schemeClr val="tx1"/>
                </a:solidFill>
                <a:effectLst/>
                <a:latin typeface="+mn-lt"/>
                <a:ea typeface="+mn-ea"/>
                <a:cs typeface="+mn-cs"/>
              </a:rPr>
              <a:t>Nonbullous</a:t>
            </a:r>
            <a:r>
              <a:rPr lang="en-TZ" sz="1200" b="1" i="0" kern="1200" dirty="0">
                <a:solidFill>
                  <a:schemeClr val="tx1"/>
                </a:solidFill>
                <a:effectLst/>
                <a:latin typeface="+mn-lt"/>
                <a:ea typeface="+mn-ea"/>
                <a:cs typeface="+mn-cs"/>
              </a:rPr>
              <a:t> impetigo</a:t>
            </a:r>
            <a:r>
              <a:rPr lang="en-TZ" sz="1200" b="0" i="0" kern="1200" dirty="0">
                <a:solidFill>
                  <a:schemeClr val="tx1"/>
                </a:solidFill>
                <a:effectLst/>
                <a:latin typeface="+mn-lt"/>
                <a:ea typeface="+mn-ea"/>
                <a:cs typeface="+mn-cs"/>
              </a:rPr>
              <a:t> – </a:t>
            </a:r>
            <a:r>
              <a:rPr lang="en-TZ" sz="1200" b="0" i="0" kern="1200" dirty="0" err="1">
                <a:solidFill>
                  <a:schemeClr val="tx1"/>
                </a:solidFill>
                <a:effectLst/>
                <a:latin typeface="+mn-lt"/>
                <a:ea typeface="+mn-ea"/>
                <a:cs typeface="+mn-cs"/>
              </a:rPr>
              <a:t>Nonbullous</a:t>
            </a:r>
            <a:r>
              <a:rPr lang="en-TZ" sz="1200" b="0" i="0" kern="1200" dirty="0">
                <a:solidFill>
                  <a:schemeClr val="tx1"/>
                </a:solidFill>
                <a:effectLst/>
                <a:latin typeface="+mn-lt"/>
                <a:ea typeface="+mn-ea"/>
                <a:cs typeface="+mn-cs"/>
              </a:rPr>
              <a:t> impetigo lesions typically begin as vesicles with surrounding erythema. The erythema may be subtle in patients with darkly pigmented skin. The lesions often coalesce and evolve into pustules that enlarge and rapidly break down to form thick, adherent crusts with a characteristic golden, yellow-brown, or honey </a:t>
            </a:r>
            <a:r>
              <a:rPr lang="en-TZ" sz="1200" b="0" i="0" kern="1200" dirty="0" err="1">
                <a:solidFill>
                  <a:schemeClr val="tx1"/>
                </a:solidFill>
                <a:effectLst/>
                <a:latin typeface="+mn-lt"/>
                <a:ea typeface="+mn-ea"/>
                <a:cs typeface="+mn-cs"/>
              </a:rPr>
              <a:t>color</a:t>
            </a:r>
            <a:r>
              <a:rPr lang="en-TZ" sz="1200" b="0" i="0" kern="1200" dirty="0">
                <a:solidFill>
                  <a:schemeClr val="tx1"/>
                </a:solidFill>
                <a:effectLst/>
                <a:latin typeface="+mn-lt"/>
                <a:ea typeface="+mn-ea"/>
                <a:cs typeface="+mn-cs"/>
              </a:rPr>
              <a:t>.</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TZ" sz="1200" b="0" i="0" kern="1200" dirty="0">
                <a:solidFill>
                  <a:schemeClr val="tx1"/>
                </a:solidFill>
                <a:effectLst/>
                <a:latin typeface="+mn-lt"/>
                <a:ea typeface="+mn-ea"/>
                <a:cs typeface="+mn-cs"/>
              </a:rPr>
              <a:t>In bullous impetigo, vesicles enlarge to form flaccid bullae containing clear yellow fluid, which later become turbid. Ruptured bullae leave an erythematous, shiny, wet base with an overlying thin brown crust or a peripheral rim of scale</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TZ" sz="1200" b="1" i="0" kern="1200" dirty="0">
                <a:solidFill>
                  <a:schemeClr val="tx1"/>
                </a:solidFill>
                <a:effectLst/>
                <a:latin typeface="+mn-lt"/>
                <a:ea typeface="+mn-ea"/>
                <a:cs typeface="+mn-cs"/>
              </a:rPr>
              <a:t>Ecthyma</a:t>
            </a:r>
            <a:r>
              <a:rPr lang="en-TZ" sz="1200" b="0" i="0" kern="1200" dirty="0">
                <a:solidFill>
                  <a:schemeClr val="tx1"/>
                </a:solidFill>
                <a:effectLst/>
                <a:latin typeface="+mn-lt"/>
                <a:ea typeface="+mn-ea"/>
                <a:cs typeface="+mn-cs"/>
              </a:rPr>
              <a:t> – Ecthyma lesions typically present as circumscribed or "punched-out" ulcers with raised, violaceous or hyperpigmented margins and overlying yellow-brown or dark-</a:t>
            </a:r>
            <a:r>
              <a:rPr lang="en-TZ" sz="1200" b="0" i="0" kern="1200" dirty="0" err="1">
                <a:solidFill>
                  <a:schemeClr val="tx1"/>
                </a:solidFill>
                <a:effectLst/>
                <a:latin typeface="+mn-lt"/>
                <a:ea typeface="+mn-ea"/>
                <a:cs typeface="+mn-cs"/>
              </a:rPr>
              <a:t>colored</a:t>
            </a:r>
            <a:r>
              <a:rPr lang="en-TZ" sz="1200" b="0" i="0" kern="1200" dirty="0">
                <a:solidFill>
                  <a:schemeClr val="tx1"/>
                </a:solidFill>
                <a:effectLst/>
                <a:latin typeface="+mn-lt"/>
                <a:ea typeface="+mn-ea"/>
                <a:cs typeface="+mn-cs"/>
              </a:rPr>
              <a:t> crust</a:t>
            </a:r>
            <a:endParaRPr lang="en-TZ" dirty="0"/>
          </a:p>
        </p:txBody>
      </p:sp>
      <p:sp>
        <p:nvSpPr>
          <p:cNvPr id="4" name="Slide Number Placeholder 3"/>
          <p:cNvSpPr>
            <a:spLocks noGrp="1"/>
          </p:cNvSpPr>
          <p:nvPr>
            <p:ph type="sldNum" sz="quarter" idx="5"/>
          </p:nvPr>
        </p:nvSpPr>
        <p:spPr/>
        <p:txBody>
          <a:bodyPr/>
          <a:lstStyle/>
          <a:p>
            <a:fld id="{E9914017-FDA1-4C7B-995B-6E23EAEE43A5}" type="slidenum">
              <a:rPr lang="en-TZ" smtClean="0"/>
              <a:t>11</a:t>
            </a:fld>
            <a:endParaRPr lang="en-TZ"/>
          </a:p>
        </p:txBody>
      </p:sp>
    </p:spTree>
    <p:extLst>
      <p:ext uri="{BB962C8B-B14F-4D97-AF65-F5344CB8AC3E}">
        <p14:creationId xmlns:p14="http://schemas.microsoft.com/office/powerpoint/2010/main" val="27111850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3 hypersensitivity </a:t>
            </a:r>
            <a:r>
              <a:rPr lang="en-US" dirty="0" err="1"/>
              <a:t>rxn</a:t>
            </a:r>
            <a:r>
              <a:rPr lang="en-US" dirty="0"/>
              <a:t>, </a:t>
            </a:r>
          </a:p>
          <a:p>
            <a:r>
              <a:rPr lang="en-US" dirty="0" err="1"/>
              <a:t>Occures</a:t>
            </a:r>
            <a:r>
              <a:rPr lang="en-US" dirty="0"/>
              <a:t> 1-3 weeks after pharyngitis</a:t>
            </a:r>
            <a:endParaRPr lang="en-TZ" dirty="0"/>
          </a:p>
        </p:txBody>
      </p:sp>
      <p:sp>
        <p:nvSpPr>
          <p:cNvPr id="4" name="Slide Number Placeholder 3"/>
          <p:cNvSpPr>
            <a:spLocks noGrp="1"/>
          </p:cNvSpPr>
          <p:nvPr>
            <p:ph type="sldNum" sz="quarter" idx="5"/>
          </p:nvPr>
        </p:nvSpPr>
        <p:spPr/>
        <p:txBody>
          <a:bodyPr/>
          <a:lstStyle/>
          <a:p>
            <a:fld id="{E9914017-FDA1-4C7B-995B-6E23EAEE43A5}" type="slidenum">
              <a:rPr lang="en-TZ" smtClean="0"/>
              <a:t>21</a:t>
            </a:fld>
            <a:endParaRPr lang="en-TZ"/>
          </a:p>
        </p:txBody>
      </p:sp>
    </p:spTree>
    <p:extLst>
      <p:ext uri="{BB962C8B-B14F-4D97-AF65-F5344CB8AC3E}">
        <p14:creationId xmlns:p14="http://schemas.microsoft.com/office/powerpoint/2010/main" val="311335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Z" b="1" dirty="0"/>
              <a:t>Staphylococcal TSS</a:t>
            </a:r>
            <a:endParaRPr lang="en-TZ" dirty="0"/>
          </a:p>
          <a:p>
            <a:r>
              <a:rPr lang="en-TZ" dirty="0"/>
              <a:t>Caused by </a:t>
            </a:r>
            <a:r>
              <a:rPr lang="en-TZ" i="1" dirty="0"/>
              <a:t>Staphylococcus aureus</a:t>
            </a:r>
            <a:r>
              <a:rPr lang="en-TZ" dirty="0"/>
              <a:t> </a:t>
            </a:r>
          </a:p>
          <a:p>
            <a:r>
              <a:rPr lang="en-TZ" dirty="0"/>
              <a:t>Toxin: </a:t>
            </a:r>
            <a:r>
              <a:rPr lang="en-TZ" b="1" dirty="0"/>
              <a:t>TSST-1</a:t>
            </a:r>
            <a:r>
              <a:rPr lang="en-TZ" dirty="0"/>
              <a:t> (Toxic Shock Syndrome Toxin-1) and enterotoxins</a:t>
            </a:r>
          </a:p>
          <a:p>
            <a:endParaRPr lang="en-TZ" dirty="0"/>
          </a:p>
        </p:txBody>
      </p:sp>
      <p:sp>
        <p:nvSpPr>
          <p:cNvPr id="4" name="Slide Number Placeholder 3"/>
          <p:cNvSpPr>
            <a:spLocks noGrp="1"/>
          </p:cNvSpPr>
          <p:nvPr>
            <p:ph type="sldNum" sz="quarter" idx="5"/>
          </p:nvPr>
        </p:nvSpPr>
        <p:spPr/>
        <p:txBody>
          <a:bodyPr/>
          <a:lstStyle/>
          <a:p>
            <a:fld id="{E9914017-FDA1-4C7B-995B-6E23EAEE43A5}" type="slidenum">
              <a:rPr lang="en-TZ" smtClean="0"/>
              <a:t>23</a:t>
            </a:fld>
            <a:endParaRPr lang="en-TZ"/>
          </a:p>
        </p:txBody>
      </p:sp>
    </p:spTree>
    <p:extLst>
      <p:ext uri="{BB962C8B-B14F-4D97-AF65-F5344CB8AC3E}">
        <p14:creationId xmlns:p14="http://schemas.microsoft.com/office/powerpoint/2010/main" val="36928295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Z" dirty="0"/>
              <a:t>Before applying:</a:t>
            </a:r>
          </a:p>
          <a:p>
            <a:r>
              <a:rPr lang="en-TZ" dirty="0"/>
              <a:t>Gently wash lesions with soap and water</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TZ" dirty="0"/>
              <a:t>Remove crusts with warm compresses.</a:t>
            </a:r>
          </a:p>
          <a:p>
            <a:endParaRPr lang="en-US" dirty="0"/>
          </a:p>
          <a:p>
            <a:endParaRPr lang="en-US" dirty="0"/>
          </a:p>
          <a:p>
            <a:r>
              <a:rPr lang="en-US" dirty="0"/>
              <a:t>Phenoxymethylpenicillin 500mg 6hrly </a:t>
            </a:r>
          </a:p>
          <a:p>
            <a:r>
              <a:rPr lang="en-US" dirty="0"/>
              <a:t>Erythromycin 500mg </a:t>
            </a:r>
          </a:p>
          <a:p>
            <a:r>
              <a:rPr lang="en-US" dirty="0"/>
              <a:t>Amoxiclav </a:t>
            </a:r>
            <a:endParaRPr lang="en-TZ" dirty="0"/>
          </a:p>
          <a:p>
            <a:endParaRPr lang="en-TZ" dirty="0"/>
          </a:p>
        </p:txBody>
      </p:sp>
      <p:sp>
        <p:nvSpPr>
          <p:cNvPr id="4" name="Slide Number Placeholder 3"/>
          <p:cNvSpPr>
            <a:spLocks noGrp="1"/>
          </p:cNvSpPr>
          <p:nvPr>
            <p:ph type="sldNum" sz="quarter" idx="5"/>
          </p:nvPr>
        </p:nvSpPr>
        <p:spPr/>
        <p:txBody>
          <a:bodyPr/>
          <a:lstStyle/>
          <a:p>
            <a:fld id="{E9914017-FDA1-4C7B-995B-6E23EAEE43A5}" type="slidenum">
              <a:rPr lang="en-TZ" smtClean="0"/>
              <a:t>25</a:t>
            </a:fld>
            <a:endParaRPr lang="en-TZ"/>
          </a:p>
        </p:txBody>
      </p:sp>
    </p:spTree>
    <p:extLst>
      <p:ext uri="{BB962C8B-B14F-4D97-AF65-F5344CB8AC3E}">
        <p14:creationId xmlns:p14="http://schemas.microsoft.com/office/powerpoint/2010/main" val="2671929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BC2AE-C724-8E81-A61A-06853FBE3A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Z"/>
          </a:p>
        </p:txBody>
      </p:sp>
      <p:sp>
        <p:nvSpPr>
          <p:cNvPr id="3" name="Subtitle 2">
            <a:extLst>
              <a:ext uri="{FF2B5EF4-FFF2-40B4-BE49-F238E27FC236}">
                <a16:creationId xmlns:a16="http://schemas.microsoft.com/office/drawing/2014/main" id="{A771B0C7-2383-EABE-ADAE-9D0FC0CDAC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Z"/>
          </a:p>
        </p:txBody>
      </p:sp>
      <p:sp>
        <p:nvSpPr>
          <p:cNvPr id="4" name="Date Placeholder 3">
            <a:extLst>
              <a:ext uri="{FF2B5EF4-FFF2-40B4-BE49-F238E27FC236}">
                <a16:creationId xmlns:a16="http://schemas.microsoft.com/office/drawing/2014/main" id="{8BDD914C-D255-E947-E3A9-A4AE0A978F4A}"/>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5" name="Footer Placeholder 4">
            <a:extLst>
              <a:ext uri="{FF2B5EF4-FFF2-40B4-BE49-F238E27FC236}">
                <a16:creationId xmlns:a16="http://schemas.microsoft.com/office/drawing/2014/main" id="{4E920F1A-5083-DAEA-25A5-E2824ED48E72}"/>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A9DA5829-571E-15EE-AFA5-963160063AAC}"/>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12473994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6D824-AEA9-8369-D5CE-CF1D471C0294}"/>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67B9AC6A-8BF2-35B5-522B-DF929A8850C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82060C90-F3D6-496F-9A8C-07DC2DAC2A09}"/>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5" name="Footer Placeholder 4">
            <a:extLst>
              <a:ext uri="{FF2B5EF4-FFF2-40B4-BE49-F238E27FC236}">
                <a16:creationId xmlns:a16="http://schemas.microsoft.com/office/drawing/2014/main" id="{6E392D41-3BCC-E716-9537-28C4E789D48C}"/>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E15B90BB-84C5-8A9E-59DF-F0537C47AB54}"/>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1857896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C175D-7854-0E79-32B1-4CF447C169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Z"/>
          </a:p>
        </p:txBody>
      </p:sp>
      <p:sp>
        <p:nvSpPr>
          <p:cNvPr id="3" name="Text Placeholder 2">
            <a:extLst>
              <a:ext uri="{FF2B5EF4-FFF2-40B4-BE49-F238E27FC236}">
                <a16:creationId xmlns:a16="http://schemas.microsoft.com/office/drawing/2014/main" id="{CDE55797-6593-B680-D723-D3582FBEAB1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3DF2AE-2521-B273-6744-B5EDBC5A6627}"/>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5" name="Footer Placeholder 4">
            <a:extLst>
              <a:ext uri="{FF2B5EF4-FFF2-40B4-BE49-F238E27FC236}">
                <a16:creationId xmlns:a16="http://schemas.microsoft.com/office/drawing/2014/main" id="{AEDE97EA-BABA-A815-021B-C4C5844873A2}"/>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028ABE79-F9BE-2006-2E56-87ABD9FFA8B1}"/>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4121655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BA84-0CC9-5FB6-78A8-1E3F63335FC8}"/>
              </a:ext>
            </a:extLst>
          </p:cNvPr>
          <p:cNvSpPr>
            <a:spLocks noGrp="1"/>
          </p:cNvSpPr>
          <p:nvPr>
            <p:ph type="title"/>
          </p:nvPr>
        </p:nvSpPr>
        <p:spPr/>
        <p:txBody>
          <a:bodyPr/>
          <a:lstStyle/>
          <a:p>
            <a:r>
              <a:rPr lang="en-US"/>
              <a:t>Click to edit Master title style</a:t>
            </a:r>
            <a:endParaRPr lang="en-TZ"/>
          </a:p>
        </p:txBody>
      </p:sp>
      <p:sp>
        <p:nvSpPr>
          <p:cNvPr id="3" name="Content Placeholder 2">
            <a:extLst>
              <a:ext uri="{FF2B5EF4-FFF2-40B4-BE49-F238E27FC236}">
                <a16:creationId xmlns:a16="http://schemas.microsoft.com/office/drawing/2014/main" id="{0F215F06-C508-B0EA-1F03-4DD77C60A9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Content Placeholder 3">
            <a:extLst>
              <a:ext uri="{FF2B5EF4-FFF2-40B4-BE49-F238E27FC236}">
                <a16:creationId xmlns:a16="http://schemas.microsoft.com/office/drawing/2014/main" id="{4D6576EB-D6AD-CBB0-B6BC-C13500ACAC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Date Placeholder 4">
            <a:extLst>
              <a:ext uri="{FF2B5EF4-FFF2-40B4-BE49-F238E27FC236}">
                <a16:creationId xmlns:a16="http://schemas.microsoft.com/office/drawing/2014/main" id="{2C06C5C9-7F61-BB3F-AD31-7C86DEEC7E40}"/>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6" name="Footer Placeholder 5">
            <a:extLst>
              <a:ext uri="{FF2B5EF4-FFF2-40B4-BE49-F238E27FC236}">
                <a16:creationId xmlns:a16="http://schemas.microsoft.com/office/drawing/2014/main" id="{5A3C378D-5C7B-781D-05AC-BAB067A2E081}"/>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6E7F12CA-7A52-072F-EAF4-E3B672680A49}"/>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377218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E89A2-3652-A8CE-6351-0B65B26A5C18}"/>
              </a:ext>
            </a:extLst>
          </p:cNvPr>
          <p:cNvSpPr>
            <a:spLocks noGrp="1"/>
          </p:cNvSpPr>
          <p:nvPr>
            <p:ph type="title"/>
          </p:nvPr>
        </p:nvSpPr>
        <p:spPr>
          <a:xfrm>
            <a:off x="839788" y="365125"/>
            <a:ext cx="10515600" cy="1325563"/>
          </a:xfrm>
        </p:spPr>
        <p:txBody>
          <a:bodyPr/>
          <a:lstStyle/>
          <a:p>
            <a:r>
              <a:rPr lang="en-US"/>
              <a:t>Click to edit Master title style</a:t>
            </a:r>
            <a:endParaRPr lang="en-TZ"/>
          </a:p>
        </p:txBody>
      </p:sp>
      <p:sp>
        <p:nvSpPr>
          <p:cNvPr id="3" name="Text Placeholder 2">
            <a:extLst>
              <a:ext uri="{FF2B5EF4-FFF2-40B4-BE49-F238E27FC236}">
                <a16:creationId xmlns:a16="http://schemas.microsoft.com/office/drawing/2014/main" id="{773E44EC-C221-0586-75CF-555E454F8E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08D2A4D-6C54-3A7A-692D-0D71F12F55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5" name="Text Placeholder 4">
            <a:extLst>
              <a:ext uri="{FF2B5EF4-FFF2-40B4-BE49-F238E27FC236}">
                <a16:creationId xmlns:a16="http://schemas.microsoft.com/office/drawing/2014/main" id="{A9BCE463-6119-8408-BF57-F0E1E43DAA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5BB02FD-B20E-1CA8-AA5E-C45E2F6226D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7" name="Date Placeholder 6">
            <a:extLst>
              <a:ext uri="{FF2B5EF4-FFF2-40B4-BE49-F238E27FC236}">
                <a16:creationId xmlns:a16="http://schemas.microsoft.com/office/drawing/2014/main" id="{4718287E-5C3D-E2FE-31FF-054DF9366581}"/>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8" name="Footer Placeholder 7">
            <a:extLst>
              <a:ext uri="{FF2B5EF4-FFF2-40B4-BE49-F238E27FC236}">
                <a16:creationId xmlns:a16="http://schemas.microsoft.com/office/drawing/2014/main" id="{19470CDC-B0AA-D182-C2E7-EFFB96F6C1DF}"/>
              </a:ext>
            </a:extLst>
          </p:cNvPr>
          <p:cNvSpPr>
            <a:spLocks noGrp="1"/>
          </p:cNvSpPr>
          <p:nvPr>
            <p:ph type="ftr" sz="quarter" idx="11"/>
          </p:nvPr>
        </p:nvSpPr>
        <p:spPr/>
        <p:txBody>
          <a:bodyPr/>
          <a:lstStyle/>
          <a:p>
            <a:endParaRPr lang="en-TZ"/>
          </a:p>
        </p:txBody>
      </p:sp>
      <p:sp>
        <p:nvSpPr>
          <p:cNvPr id="9" name="Slide Number Placeholder 8">
            <a:extLst>
              <a:ext uri="{FF2B5EF4-FFF2-40B4-BE49-F238E27FC236}">
                <a16:creationId xmlns:a16="http://schemas.microsoft.com/office/drawing/2014/main" id="{3741D721-B2B1-3116-AEE0-41F74A198544}"/>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37604870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7F497-3118-18D7-46DC-195597FAF85D}"/>
              </a:ext>
            </a:extLst>
          </p:cNvPr>
          <p:cNvSpPr>
            <a:spLocks noGrp="1"/>
          </p:cNvSpPr>
          <p:nvPr>
            <p:ph type="title"/>
          </p:nvPr>
        </p:nvSpPr>
        <p:spPr/>
        <p:txBody>
          <a:bodyPr/>
          <a:lstStyle/>
          <a:p>
            <a:r>
              <a:rPr lang="en-US"/>
              <a:t>Click to edit Master title style</a:t>
            </a:r>
            <a:endParaRPr lang="en-TZ"/>
          </a:p>
        </p:txBody>
      </p:sp>
      <p:sp>
        <p:nvSpPr>
          <p:cNvPr id="3" name="Date Placeholder 2">
            <a:extLst>
              <a:ext uri="{FF2B5EF4-FFF2-40B4-BE49-F238E27FC236}">
                <a16:creationId xmlns:a16="http://schemas.microsoft.com/office/drawing/2014/main" id="{8A2E6D91-637C-4151-1415-ABE3A4DFAD2A}"/>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4" name="Footer Placeholder 3">
            <a:extLst>
              <a:ext uri="{FF2B5EF4-FFF2-40B4-BE49-F238E27FC236}">
                <a16:creationId xmlns:a16="http://schemas.microsoft.com/office/drawing/2014/main" id="{B0A8AA7F-B78A-1F02-B9FE-D7252D2D5413}"/>
              </a:ext>
            </a:extLst>
          </p:cNvPr>
          <p:cNvSpPr>
            <a:spLocks noGrp="1"/>
          </p:cNvSpPr>
          <p:nvPr>
            <p:ph type="ftr" sz="quarter" idx="11"/>
          </p:nvPr>
        </p:nvSpPr>
        <p:spPr/>
        <p:txBody>
          <a:bodyPr/>
          <a:lstStyle/>
          <a:p>
            <a:endParaRPr lang="en-TZ"/>
          </a:p>
        </p:txBody>
      </p:sp>
      <p:sp>
        <p:nvSpPr>
          <p:cNvPr id="5" name="Slide Number Placeholder 4">
            <a:extLst>
              <a:ext uri="{FF2B5EF4-FFF2-40B4-BE49-F238E27FC236}">
                <a16:creationId xmlns:a16="http://schemas.microsoft.com/office/drawing/2014/main" id="{0E47CF55-D870-9B51-006C-111455F30A00}"/>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1103676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56FB03-6461-8410-108B-594282661943}"/>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3" name="Footer Placeholder 2">
            <a:extLst>
              <a:ext uri="{FF2B5EF4-FFF2-40B4-BE49-F238E27FC236}">
                <a16:creationId xmlns:a16="http://schemas.microsoft.com/office/drawing/2014/main" id="{7A240C62-69BB-D36C-8EC3-F4A189E3A90F}"/>
              </a:ext>
            </a:extLst>
          </p:cNvPr>
          <p:cNvSpPr>
            <a:spLocks noGrp="1"/>
          </p:cNvSpPr>
          <p:nvPr>
            <p:ph type="ftr" sz="quarter" idx="11"/>
          </p:nvPr>
        </p:nvSpPr>
        <p:spPr/>
        <p:txBody>
          <a:bodyPr/>
          <a:lstStyle/>
          <a:p>
            <a:endParaRPr lang="en-TZ"/>
          </a:p>
        </p:txBody>
      </p:sp>
      <p:sp>
        <p:nvSpPr>
          <p:cNvPr id="4" name="Slide Number Placeholder 3">
            <a:extLst>
              <a:ext uri="{FF2B5EF4-FFF2-40B4-BE49-F238E27FC236}">
                <a16:creationId xmlns:a16="http://schemas.microsoft.com/office/drawing/2014/main" id="{4B57648C-EF03-0516-C4C1-2D1593A757C0}"/>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881812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46E97-2229-8677-60AB-3C5E0EF54E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Content Placeholder 2">
            <a:extLst>
              <a:ext uri="{FF2B5EF4-FFF2-40B4-BE49-F238E27FC236}">
                <a16:creationId xmlns:a16="http://schemas.microsoft.com/office/drawing/2014/main" id="{B8B1859B-6937-DFB6-7883-220C1278BC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Text Placeholder 3">
            <a:extLst>
              <a:ext uri="{FF2B5EF4-FFF2-40B4-BE49-F238E27FC236}">
                <a16:creationId xmlns:a16="http://schemas.microsoft.com/office/drawing/2014/main" id="{BC843076-ECAD-9866-D0B2-6BD75D730C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F72ED9-4CAB-33B3-9EF5-EC82CFBC6158}"/>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6" name="Footer Placeholder 5">
            <a:extLst>
              <a:ext uri="{FF2B5EF4-FFF2-40B4-BE49-F238E27FC236}">
                <a16:creationId xmlns:a16="http://schemas.microsoft.com/office/drawing/2014/main" id="{2CB12E04-89EA-10B5-4CED-0398BFACD87B}"/>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225619B1-F672-0013-ABC9-51A844A7C699}"/>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1068177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AA6DE-622E-44BD-582B-5393EFDA8D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Z"/>
          </a:p>
        </p:txBody>
      </p:sp>
      <p:sp>
        <p:nvSpPr>
          <p:cNvPr id="3" name="Picture Placeholder 2">
            <a:extLst>
              <a:ext uri="{FF2B5EF4-FFF2-40B4-BE49-F238E27FC236}">
                <a16:creationId xmlns:a16="http://schemas.microsoft.com/office/drawing/2014/main" id="{59B264B8-62F3-A68A-E1D2-10B92D94AA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Z"/>
          </a:p>
        </p:txBody>
      </p:sp>
      <p:sp>
        <p:nvSpPr>
          <p:cNvPr id="4" name="Text Placeholder 3">
            <a:extLst>
              <a:ext uri="{FF2B5EF4-FFF2-40B4-BE49-F238E27FC236}">
                <a16:creationId xmlns:a16="http://schemas.microsoft.com/office/drawing/2014/main" id="{F5954986-A1FF-281F-67F2-87186D662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D7D61D-B2A5-F786-755D-1B979C7D6737}"/>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6" name="Footer Placeholder 5">
            <a:extLst>
              <a:ext uri="{FF2B5EF4-FFF2-40B4-BE49-F238E27FC236}">
                <a16:creationId xmlns:a16="http://schemas.microsoft.com/office/drawing/2014/main" id="{5BC92C5C-412C-1792-79EE-5220188E7CBD}"/>
              </a:ext>
            </a:extLst>
          </p:cNvPr>
          <p:cNvSpPr>
            <a:spLocks noGrp="1"/>
          </p:cNvSpPr>
          <p:nvPr>
            <p:ph type="ftr" sz="quarter" idx="11"/>
          </p:nvPr>
        </p:nvSpPr>
        <p:spPr/>
        <p:txBody>
          <a:bodyPr/>
          <a:lstStyle/>
          <a:p>
            <a:endParaRPr lang="en-TZ"/>
          </a:p>
        </p:txBody>
      </p:sp>
      <p:sp>
        <p:nvSpPr>
          <p:cNvPr id="7" name="Slide Number Placeholder 6">
            <a:extLst>
              <a:ext uri="{FF2B5EF4-FFF2-40B4-BE49-F238E27FC236}">
                <a16:creationId xmlns:a16="http://schemas.microsoft.com/office/drawing/2014/main" id="{D21116CB-EF64-FFC7-8555-1EFA987648FC}"/>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1390378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13D20-92D9-3A20-F263-004FF4A8B5D5}"/>
              </a:ext>
            </a:extLst>
          </p:cNvPr>
          <p:cNvSpPr>
            <a:spLocks noGrp="1"/>
          </p:cNvSpPr>
          <p:nvPr>
            <p:ph type="title"/>
          </p:nvPr>
        </p:nvSpPr>
        <p:spPr/>
        <p:txBody>
          <a:bodyPr/>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336610CF-EBA1-C991-4AC9-52B3B631E6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F37F75A7-CFA5-2744-7E15-9F5C0A143869}"/>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5" name="Footer Placeholder 4">
            <a:extLst>
              <a:ext uri="{FF2B5EF4-FFF2-40B4-BE49-F238E27FC236}">
                <a16:creationId xmlns:a16="http://schemas.microsoft.com/office/drawing/2014/main" id="{DCBB2350-EEF6-A2EE-0A95-00F78C0770DC}"/>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0D6AE593-6E5F-EE70-B95A-AC553E1CCF22}"/>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119660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F9D1C1-7117-7DBC-E0DB-53BCA3F36F4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Z"/>
          </a:p>
        </p:txBody>
      </p:sp>
      <p:sp>
        <p:nvSpPr>
          <p:cNvPr id="3" name="Vertical Text Placeholder 2">
            <a:extLst>
              <a:ext uri="{FF2B5EF4-FFF2-40B4-BE49-F238E27FC236}">
                <a16:creationId xmlns:a16="http://schemas.microsoft.com/office/drawing/2014/main" id="{2781B343-7DB0-EE96-51F7-277DC9A45A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0CFF2635-73E5-E27F-91A2-26EF18C35D54}"/>
              </a:ext>
            </a:extLst>
          </p:cNvPr>
          <p:cNvSpPr>
            <a:spLocks noGrp="1"/>
          </p:cNvSpPr>
          <p:nvPr>
            <p:ph type="dt" sz="half" idx="10"/>
          </p:nvPr>
        </p:nvSpPr>
        <p:spPr/>
        <p:txBody>
          <a:bodyPr/>
          <a:lstStyle/>
          <a:p>
            <a:fld id="{E0A6D18B-5303-48C6-82BC-1B6F5913C5F3}" type="datetimeFigureOut">
              <a:rPr lang="en-TZ" smtClean="0"/>
              <a:t>7/9/26</a:t>
            </a:fld>
            <a:endParaRPr lang="en-TZ"/>
          </a:p>
        </p:txBody>
      </p:sp>
      <p:sp>
        <p:nvSpPr>
          <p:cNvPr id="5" name="Footer Placeholder 4">
            <a:extLst>
              <a:ext uri="{FF2B5EF4-FFF2-40B4-BE49-F238E27FC236}">
                <a16:creationId xmlns:a16="http://schemas.microsoft.com/office/drawing/2014/main" id="{E3F5814C-4EFC-F09E-306B-7222040CB089}"/>
              </a:ext>
            </a:extLst>
          </p:cNvPr>
          <p:cNvSpPr>
            <a:spLocks noGrp="1"/>
          </p:cNvSpPr>
          <p:nvPr>
            <p:ph type="ftr" sz="quarter" idx="11"/>
          </p:nvPr>
        </p:nvSpPr>
        <p:spPr/>
        <p:txBody>
          <a:bodyPr/>
          <a:lstStyle/>
          <a:p>
            <a:endParaRPr lang="en-TZ"/>
          </a:p>
        </p:txBody>
      </p:sp>
      <p:sp>
        <p:nvSpPr>
          <p:cNvPr id="6" name="Slide Number Placeholder 5">
            <a:extLst>
              <a:ext uri="{FF2B5EF4-FFF2-40B4-BE49-F238E27FC236}">
                <a16:creationId xmlns:a16="http://schemas.microsoft.com/office/drawing/2014/main" id="{28038F1B-C6E9-B13E-FCBF-E028FD2099A7}"/>
              </a:ext>
            </a:extLst>
          </p:cNvPr>
          <p:cNvSpPr>
            <a:spLocks noGrp="1"/>
          </p:cNvSpPr>
          <p:nvPr>
            <p:ph type="sldNum" sz="quarter" idx="12"/>
          </p:nvPr>
        </p:nvSpPr>
        <p:spPr/>
        <p:txBody>
          <a:bodyPr/>
          <a:lstStyle/>
          <a:p>
            <a:fld id="{67DA7F17-5E54-434E-9229-A01437EF1A2D}" type="slidenum">
              <a:rPr lang="en-TZ" smtClean="0"/>
              <a:t>‹#›</a:t>
            </a:fld>
            <a:endParaRPr lang="en-TZ"/>
          </a:p>
        </p:txBody>
      </p:sp>
    </p:spTree>
    <p:extLst>
      <p:ext uri="{BB962C8B-B14F-4D97-AF65-F5344CB8AC3E}">
        <p14:creationId xmlns:p14="http://schemas.microsoft.com/office/powerpoint/2010/main" val="2945205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E38446-E987-97FF-EB5D-E0198263B1A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Z"/>
          </a:p>
        </p:txBody>
      </p:sp>
      <p:sp>
        <p:nvSpPr>
          <p:cNvPr id="3" name="Text Placeholder 2">
            <a:extLst>
              <a:ext uri="{FF2B5EF4-FFF2-40B4-BE49-F238E27FC236}">
                <a16:creationId xmlns:a16="http://schemas.microsoft.com/office/drawing/2014/main" id="{4DA292C3-0039-312D-1DFE-3267ED11C0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Z"/>
          </a:p>
        </p:txBody>
      </p:sp>
      <p:sp>
        <p:nvSpPr>
          <p:cNvPr id="4" name="Date Placeholder 3">
            <a:extLst>
              <a:ext uri="{FF2B5EF4-FFF2-40B4-BE49-F238E27FC236}">
                <a16:creationId xmlns:a16="http://schemas.microsoft.com/office/drawing/2014/main" id="{BE394D16-C6A9-C2BB-F513-8FD44D1ADE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A6D18B-5303-48C6-82BC-1B6F5913C5F3}" type="datetimeFigureOut">
              <a:rPr lang="en-TZ" smtClean="0"/>
              <a:t>7/9/26</a:t>
            </a:fld>
            <a:endParaRPr lang="en-TZ"/>
          </a:p>
        </p:txBody>
      </p:sp>
      <p:sp>
        <p:nvSpPr>
          <p:cNvPr id="5" name="Footer Placeholder 4">
            <a:extLst>
              <a:ext uri="{FF2B5EF4-FFF2-40B4-BE49-F238E27FC236}">
                <a16:creationId xmlns:a16="http://schemas.microsoft.com/office/drawing/2014/main" id="{0ECB7109-0AF2-8624-D317-C678E532E2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TZ"/>
          </a:p>
        </p:txBody>
      </p:sp>
      <p:sp>
        <p:nvSpPr>
          <p:cNvPr id="6" name="Slide Number Placeholder 5">
            <a:extLst>
              <a:ext uri="{FF2B5EF4-FFF2-40B4-BE49-F238E27FC236}">
                <a16:creationId xmlns:a16="http://schemas.microsoft.com/office/drawing/2014/main" id="{DC615601-4019-54FF-BB3E-776081E193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DA7F17-5E54-434E-9229-A01437EF1A2D}" type="slidenum">
              <a:rPr lang="en-TZ" smtClean="0"/>
              <a:t>‹#›</a:t>
            </a:fld>
            <a:endParaRPr lang="en-TZ"/>
          </a:p>
        </p:txBody>
      </p:sp>
    </p:spTree>
    <p:extLst>
      <p:ext uri="{BB962C8B-B14F-4D97-AF65-F5344CB8AC3E}">
        <p14:creationId xmlns:p14="http://schemas.microsoft.com/office/powerpoint/2010/main" val="23462834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Z"/>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8F59A-48F7-19DA-225F-5A72AFD29BE7}"/>
              </a:ext>
            </a:extLst>
          </p:cNvPr>
          <p:cNvSpPr>
            <a:spLocks noGrp="1"/>
          </p:cNvSpPr>
          <p:nvPr>
            <p:ph type="ctrTitle"/>
          </p:nvPr>
        </p:nvSpPr>
        <p:spPr/>
        <p:txBody>
          <a:bodyPr/>
          <a:lstStyle/>
          <a:p>
            <a:r>
              <a:rPr lang="en-US" dirty="0"/>
              <a:t>SYSTEMIC MANIFESTATION OF CUTANEOUS ILLNESS</a:t>
            </a:r>
            <a:endParaRPr lang="en-TZ" dirty="0"/>
          </a:p>
        </p:txBody>
      </p:sp>
      <p:sp>
        <p:nvSpPr>
          <p:cNvPr id="3" name="Subtitle 2">
            <a:extLst>
              <a:ext uri="{FF2B5EF4-FFF2-40B4-BE49-F238E27FC236}">
                <a16:creationId xmlns:a16="http://schemas.microsoft.com/office/drawing/2014/main" id="{614F585C-011A-76C8-58A8-7EF98A337894}"/>
              </a:ext>
            </a:extLst>
          </p:cNvPr>
          <p:cNvSpPr>
            <a:spLocks noGrp="1"/>
          </p:cNvSpPr>
          <p:nvPr>
            <p:ph type="subTitle" idx="1"/>
          </p:nvPr>
        </p:nvSpPr>
        <p:spPr/>
        <p:txBody>
          <a:bodyPr/>
          <a:lstStyle/>
          <a:p>
            <a:r>
              <a:rPr lang="en-US" dirty="0"/>
              <a:t>EVELYNA GASPER </a:t>
            </a:r>
          </a:p>
          <a:p>
            <a:r>
              <a:rPr lang="en-US" dirty="0"/>
              <a:t>VICTOR NJUNWA</a:t>
            </a:r>
            <a:endParaRPr lang="en-TZ" dirty="0"/>
          </a:p>
        </p:txBody>
      </p:sp>
    </p:spTree>
    <p:extLst>
      <p:ext uri="{BB962C8B-B14F-4D97-AF65-F5344CB8AC3E}">
        <p14:creationId xmlns:p14="http://schemas.microsoft.com/office/powerpoint/2010/main" val="40918126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C1528-D0F5-3F08-5CFA-CC15BFD93BAF}"/>
              </a:ext>
            </a:extLst>
          </p:cNvPr>
          <p:cNvSpPr>
            <a:spLocks noGrp="1"/>
          </p:cNvSpPr>
          <p:nvPr>
            <p:ph type="title"/>
          </p:nvPr>
        </p:nvSpPr>
        <p:spPr/>
        <p:txBody>
          <a:bodyPr/>
          <a:lstStyle/>
          <a:p>
            <a:r>
              <a:rPr lang="en-US" dirty="0"/>
              <a:t>Learning objectives </a:t>
            </a:r>
            <a:endParaRPr lang="en-TZ" dirty="0"/>
          </a:p>
        </p:txBody>
      </p:sp>
      <p:sp>
        <p:nvSpPr>
          <p:cNvPr id="3" name="Content Placeholder 2">
            <a:extLst>
              <a:ext uri="{FF2B5EF4-FFF2-40B4-BE49-F238E27FC236}">
                <a16:creationId xmlns:a16="http://schemas.microsoft.com/office/drawing/2014/main" id="{20FAEF85-369C-B879-3D00-E0C0FD7ED828}"/>
              </a:ext>
            </a:extLst>
          </p:cNvPr>
          <p:cNvSpPr>
            <a:spLocks noGrp="1"/>
          </p:cNvSpPr>
          <p:nvPr>
            <p:ph idx="1"/>
          </p:nvPr>
        </p:nvSpPr>
        <p:spPr/>
        <p:txBody>
          <a:bodyPr/>
          <a:lstStyle/>
          <a:p>
            <a:r>
              <a:rPr lang="en-TZ" dirty="0"/>
              <a:t>By the end of this presentation, participants should be able to:</a:t>
            </a:r>
            <a:endParaRPr lang="en-US" dirty="0"/>
          </a:p>
          <a:p>
            <a:r>
              <a:rPr lang="en-US" dirty="0"/>
              <a:t>Recognize major extracutaneous manifestations of common dermatologic disorders</a:t>
            </a:r>
            <a:endParaRPr lang="en-TZ" dirty="0"/>
          </a:p>
          <a:p>
            <a:r>
              <a:rPr lang="en-TZ" dirty="0"/>
              <a:t>Describe mechanisms by which skin infections cause systemic disease. </a:t>
            </a:r>
          </a:p>
          <a:p>
            <a:r>
              <a:rPr lang="en-TZ" dirty="0"/>
              <a:t>Recognize important systemic complications of common cutaneous infections. </a:t>
            </a:r>
          </a:p>
          <a:p>
            <a:r>
              <a:rPr lang="en-TZ" dirty="0"/>
              <a:t>Identify clinical warning signs requiring urgent intervention. </a:t>
            </a:r>
          </a:p>
          <a:p>
            <a:r>
              <a:rPr lang="en-TZ" dirty="0"/>
              <a:t>Review evidence-based management principles.</a:t>
            </a:r>
          </a:p>
          <a:p>
            <a:endParaRPr lang="en-TZ" dirty="0"/>
          </a:p>
        </p:txBody>
      </p:sp>
    </p:spTree>
    <p:extLst>
      <p:ext uri="{BB962C8B-B14F-4D97-AF65-F5344CB8AC3E}">
        <p14:creationId xmlns:p14="http://schemas.microsoft.com/office/powerpoint/2010/main" val="3270145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94594-5A2B-5E0B-1EDC-5A90C93F2FD6}"/>
              </a:ext>
            </a:extLst>
          </p:cNvPr>
          <p:cNvSpPr>
            <a:spLocks noGrp="1"/>
          </p:cNvSpPr>
          <p:nvPr>
            <p:ph type="title"/>
          </p:nvPr>
        </p:nvSpPr>
        <p:spPr>
          <a:xfrm>
            <a:off x="838200" y="365126"/>
            <a:ext cx="10515600" cy="976978"/>
          </a:xfrm>
        </p:spPr>
        <p:txBody>
          <a:bodyPr>
            <a:normAutofit/>
          </a:bodyPr>
          <a:lstStyle/>
          <a:p>
            <a:r>
              <a:rPr lang="en-US" sz="5400" dirty="0"/>
              <a:t>INTRODUCTION</a:t>
            </a:r>
            <a:endParaRPr lang="en-TZ" sz="5400" dirty="0"/>
          </a:p>
        </p:txBody>
      </p:sp>
      <p:sp>
        <p:nvSpPr>
          <p:cNvPr id="3" name="Content Placeholder 2">
            <a:extLst>
              <a:ext uri="{FF2B5EF4-FFF2-40B4-BE49-F238E27FC236}">
                <a16:creationId xmlns:a16="http://schemas.microsoft.com/office/drawing/2014/main" id="{05B0236E-C1AC-14BD-E3EB-D456C7938603}"/>
              </a:ext>
            </a:extLst>
          </p:cNvPr>
          <p:cNvSpPr>
            <a:spLocks noGrp="1"/>
          </p:cNvSpPr>
          <p:nvPr>
            <p:ph idx="1"/>
          </p:nvPr>
        </p:nvSpPr>
        <p:spPr>
          <a:xfrm>
            <a:off x="838200" y="1784555"/>
            <a:ext cx="10515600" cy="4392408"/>
          </a:xfrm>
        </p:spPr>
        <p:txBody>
          <a:bodyPr>
            <a:normAutofit/>
          </a:bodyPr>
          <a:lstStyle/>
          <a:p>
            <a:pPr>
              <a:buFont typeface="Wingdings" panose="05000000000000000000" pitchFamily="2" charset="2"/>
              <a:buChar char="Ø"/>
            </a:pPr>
            <a:r>
              <a:rPr lang="en-US" b="1" dirty="0"/>
              <a:t>Systemic manifestations of cutaneous illness </a:t>
            </a:r>
          </a:p>
          <a:p>
            <a:pPr>
              <a:buFontTx/>
              <a:buChar char="-"/>
            </a:pPr>
            <a:r>
              <a:rPr lang="en-US" dirty="0"/>
              <a:t>Are Extracutaneous effect, organ involvement, or comorbidities occurring as a consequence of a primary skin infections</a:t>
            </a:r>
          </a:p>
          <a:p>
            <a:pPr marL="0" indent="0">
              <a:buNone/>
            </a:pPr>
            <a:endParaRPr lang="en-US" dirty="0"/>
          </a:p>
          <a:p>
            <a:pPr>
              <a:buFont typeface="Wingdings" panose="05000000000000000000" pitchFamily="2" charset="2"/>
              <a:buChar char="Ø"/>
            </a:pPr>
            <a:r>
              <a:rPr lang="en-TZ" b="1" dirty="0"/>
              <a:t>Cutaneous infections may result in</a:t>
            </a:r>
            <a:r>
              <a:rPr lang="en-TZ" dirty="0"/>
              <a:t>: </a:t>
            </a:r>
            <a:endParaRPr lang="en-US" dirty="0"/>
          </a:p>
          <a:p>
            <a:pPr lvl="1"/>
            <a:r>
              <a:rPr lang="en-TZ" sz="2800" dirty="0"/>
              <a:t>Direct microbial dissemination </a:t>
            </a:r>
          </a:p>
          <a:p>
            <a:pPr lvl="1"/>
            <a:r>
              <a:rPr lang="en-TZ" sz="2800" dirty="0"/>
              <a:t>Toxin-mediated disease </a:t>
            </a:r>
          </a:p>
          <a:p>
            <a:pPr lvl="1"/>
            <a:r>
              <a:rPr lang="en-TZ" sz="2800" dirty="0"/>
              <a:t>Immune-mediated complications </a:t>
            </a:r>
          </a:p>
          <a:p>
            <a:pPr>
              <a:buFont typeface="Wingdings" panose="05000000000000000000" pitchFamily="2" charset="2"/>
              <a:buChar char="Ø"/>
            </a:pPr>
            <a:r>
              <a:rPr lang="en-TZ" dirty="0"/>
              <a:t>Systemic manifestations range from mild fever to multiorgan failure</a:t>
            </a:r>
          </a:p>
        </p:txBody>
      </p:sp>
    </p:spTree>
    <p:extLst>
      <p:ext uri="{BB962C8B-B14F-4D97-AF65-F5344CB8AC3E}">
        <p14:creationId xmlns:p14="http://schemas.microsoft.com/office/powerpoint/2010/main" val="3954404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7E12A-E8E1-5D50-38F7-D0717DF896DE}"/>
              </a:ext>
            </a:extLst>
          </p:cNvPr>
          <p:cNvSpPr>
            <a:spLocks noGrp="1"/>
          </p:cNvSpPr>
          <p:nvPr>
            <p:ph type="title"/>
          </p:nvPr>
        </p:nvSpPr>
        <p:spPr/>
        <p:txBody>
          <a:bodyPr>
            <a:normAutofit/>
          </a:bodyPr>
          <a:lstStyle/>
          <a:p>
            <a:pPr algn="ctr"/>
            <a:r>
              <a:rPr lang="en-US" sz="6000" b="1" dirty="0"/>
              <a:t>CELLULITIS</a:t>
            </a:r>
          </a:p>
        </p:txBody>
      </p:sp>
      <p:sp>
        <p:nvSpPr>
          <p:cNvPr id="3" name="Content Placeholder 2">
            <a:extLst>
              <a:ext uri="{FF2B5EF4-FFF2-40B4-BE49-F238E27FC236}">
                <a16:creationId xmlns:a16="http://schemas.microsoft.com/office/drawing/2014/main" id="{3DC1E4B6-3A40-3E68-FCF6-A3F40A5872A5}"/>
              </a:ext>
            </a:extLst>
          </p:cNvPr>
          <p:cNvSpPr>
            <a:spLocks noGrp="1"/>
          </p:cNvSpPr>
          <p:nvPr>
            <p:ph idx="1"/>
          </p:nvPr>
        </p:nvSpPr>
        <p:spPr/>
        <p:txBody>
          <a:bodyPr>
            <a:normAutofit/>
          </a:bodyPr>
          <a:lstStyle/>
          <a:p>
            <a:pPr>
              <a:buFont typeface="Wingdings" panose="05000000000000000000" pitchFamily="2" charset="2"/>
              <a:buChar char="Ø"/>
            </a:pPr>
            <a:r>
              <a:rPr lang="en-US" b="1" dirty="0">
                <a:solidFill>
                  <a:schemeClr val="tx1">
                    <a:lumMod val="85000"/>
                    <a:lumOff val="15000"/>
                  </a:schemeClr>
                </a:solidFill>
              </a:rPr>
              <a:t>Cellulitis</a:t>
            </a:r>
            <a:r>
              <a:rPr lang="en-US" dirty="0">
                <a:solidFill>
                  <a:schemeClr val="tx1">
                    <a:lumMod val="85000"/>
                    <a:lumOff val="15000"/>
                  </a:schemeClr>
                </a:solidFill>
              </a:rPr>
              <a:t>: It is an acute bacterial infection of the skin and subcutaneous tissues characterized by erythema, warmth, swelling, tenderness and poorly demarcated borders.</a:t>
            </a:r>
          </a:p>
          <a:p>
            <a:pPr>
              <a:buFont typeface="Wingdings" panose="05000000000000000000" pitchFamily="2" charset="2"/>
              <a:buChar char="Ø"/>
            </a:pPr>
            <a:r>
              <a:rPr lang="en-US" dirty="0">
                <a:solidFill>
                  <a:schemeClr val="tx1">
                    <a:lumMod val="85000"/>
                    <a:lumOff val="15000"/>
                  </a:schemeClr>
                </a:solidFill>
              </a:rPr>
              <a:t>It more frequent among middle aged and older adults </a:t>
            </a:r>
          </a:p>
          <a:p>
            <a:pPr>
              <a:buFont typeface="Wingdings" panose="05000000000000000000" pitchFamily="2" charset="2"/>
              <a:buChar char="Ø"/>
            </a:pPr>
            <a:r>
              <a:rPr lang="en-US" dirty="0">
                <a:solidFill>
                  <a:schemeClr val="tx1">
                    <a:lumMod val="85000"/>
                    <a:lumOff val="15000"/>
                  </a:schemeClr>
                </a:solidFill>
              </a:rPr>
              <a:t>Global Incidence – 200 cases per 100,000 patient-years </a:t>
            </a:r>
          </a:p>
          <a:p>
            <a:pPr>
              <a:buFont typeface="Wingdings" panose="05000000000000000000" pitchFamily="2" charset="2"/>
              <a:buChar char="Ø"/>
            </a:pPr>
            <a:r>
              <a:rPr lang="en-TZ" b="1" dirty="0" err="1"/>
              <a:t>Etiology</a:t>
            </a:r>
            <a:endParaRPr lang="en-TZ" b="1" dirty="0"/>
          </a:p>
          <a:p>
            <a:pPr lvl="1"/>
            <a:r>
              <a:rPr lang="en-TZ" sz="2800" dirty="0"/>
              <a:t>Group A Streptococcus </a:t>
            </a:r>
          </a:p>
          <a:p>
            <a:pPr lvl="1"/>
            <a:r>
              <a:rPr lang="en-TZ" sz="2800" dirty="0"/>
              <a:t>Staphylococcus aureus</a:t>
            </a:r>
            <a:endParaRPr lang="en-US" sz="2800" dirty="0"/>
          </a:p>
          <a:p>
            <a:pPr lvl="1"/>
            <a:r>
              <a:rPr lang="en-US" sz="2800" dirty="0" err="1"/>
              <a:t>Haemophilus</a:t>
            </a:r>
            <a:r>
              <a:rPr lang="en-US" sz="2800" dirty="0"/>
              <a:t> influenzae </a:t>
            </a:r>
            <a:endParaRPr lang="en-TZ" sz="2800" dirty="0"/>
          </a:p>
          <a:p>
            <a:pPr>
              <a:buFontTx/>
              <a:buChar char="-"/>
            </a:pPr>
            <a:endParaRPr lang="en-US" dirty="0">
              <a:solidFill>
                <a:schemeClr val="tx1">
                  <a:lumMod val="85000"/>
                  <a:lumOff val="15000"/>
                </a:schemeClr>
              </a:solidFill>
            </a:endParaRPr>
          </a:p>
          <a:p>
            <a:pPr>
              <a:buFontTx/>
              <a:buChar char="-"/>
            </a:pPr>
            <a:endParaRPr lang="en-US" dirty="0">
              <a:solidFill>
                <a:schemeClr val="tx1">
                  <a:lumMod val="85000"/>
                  <a:lumOff val="15000"/>
                </a:schemeClr>
              </a:solidFill>
            </a:endParaRPr>
          </a:p>
          <a:p>
            <a:pPr>
              <a:buFontTx/>
              <a:buChar char="-"/>
            </a:pPr>
            <a:endParaRPr lang="en-US" dirty="0">
              <a:solidFill>
                <a:schemeClr val="tx1">
                  <a:lumMod val="85000"/>
                  <a:lumOff val="15000"/>
                </a:schemeClr>
              </a:solidFill>
            </a:endParaRPr>
          </a:p>
        </p:txBody>
      </p:sp>
    </p:spTree>
    <p:extLst>
      <p:ext uri="{BB962C8B-B14F-4D97-AF65-F5344CB8AC3E}">
        <p14:creationId xmlns:p14="http://schemas.microsoft.com/office/powerpoint/2010/main" val="2377956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51752-E194-95F0-102F-CC123C08DA1A}"/>
              </a:ext>
            </a:extLst>
          </p:cNvPr>
          <p:cNvSpPr>
            <a:spLocks noGrp="1"/>
          </p:cNvSpPr>
          <p:nvPr>
            <p:ph type="title"/>
          </p:nvPr>
        </p:nvSpPr>
        <p:spPr/>
        <p:txBody>
          <a:bodyPr/>
          <a:lstStyle/>
          <a:p>
            <a:r>
              <a:rPr lang="en-US" dirty="0" err="1"/>
              <a:t>Cont</a:t>
            </a:r>
            <a:r>
              <a:rPr lang="en-US" dirty="0"/>
              <a:t>…</a:t>
            </a:r>
            <a:endParaRPr lang="en-TZ" dirty="0"/>
          </a:p>
        </p:txBody>
      </p:sp>
      <p:sp>
        <p:nvSpPr>
          <p:cNvPr id="3" name="Content Placeholder 2">
            <a:extLst>
              <a:ext uri="{FF2B5EF4-FFF2-40B4-BE49-F238E27FC236}">
                <a16:creationId xmlns:a16="http://schemas.microsoft.com/office/drawing/2014/main" id="{66AFEDFC-8184-E2C1-8FC7-AD41076C4B62}"/>
              </a:ext>
            </a:extLst>
          </p:cNvPr>
          <p:cNvSpPr>
            <a:spLocks noGrp="1"/>
          </p:cNvSpPr>
          <p:nvPr>
            <p:ph idx="1"/>
          </p:nvPr>
        </p:nvSpPr>
        <p:spPr/>
        <p:txBody>
          <a:bodyPr>
            <a:normAutofit/>
          </a:bodyPr>
          <a:lstStyle/>
          <a:p>
            <a:r>
              <a:rPr lang="en-US" b="1" dirty="0"/>
              <a:t>Risk factors </a:t>
            </a:r>
          </a:p>
          <a:p>
            <a:pPr>
              <a:buFontTx/>
              <a:buChar char="-"/>
            </a:pPr>
            <a:r>
              <a:rPr lang="en-US" dirty="0"/>
              <a:t>Local trauma- Abrasion, ulcers</a:t>
            </a:r>
          </a:p>
          <a:p>
            <a:pPr>
              <a:buFontTx/>
              <a:buChar char="-"/>
            </a:pPr>
            <a:r>
              <a:rPr lang="en-US" dirty="0"/>
              <a:t>Skin Inflammation- Eczema, radiation therapy, psoriasis</a:t>
            </a:r>
          </a:p>
          <a:p>
            <a:pPr>
              <a:buFontTx/>
              <a:buChar char="-"/>
            </a:pPr>
            <a:r>
              <a:rPr lang="en-US" dirty="0"/>
              <a:t>Edema secondary to venous insufficiency or lymphedema </a:t>
            </a:r>
          </a:p>
          <a:p>
            <a:pPr>
              <a:buFontTx/>
              <a:buChar char="-"/>
            </a:pPr>
            <a:r>
              <a:rPr lang="en-US" dirty="0"/>
              <a:t>Pre existing skin infection- tinea pedis</a:t>
            </a:r>
          </a:p>
          <a:p>
            <a:pPr>
              <a:buFontTx/>
              <a:buChar char="-"/>
            </a:pPr>
            <a:r>
              <a:rPr lang="en-US" dirty="0"/>
              <a:t>Immunosuppression </a:t>
            </a:r>
          </a:p>
          <a:p>
            <a:pPr>
              <a:buFontTx/>
              <a:buChar char="-"/>
            </a:pPr>
            <a:r>
              <a:rPr lang="en-US" dirty="0"/>
              <a:t>Diabetes Mellitus </a:t>
            </a:r>
          </a:p>
          <a:p>
            <a:pPr>
              <a:buFontTx/>
              <a:buChar char="-"/>
            </a:pPr>
            <a:r>
              <a:rPr lang="en-US" dirty="0"/>
              <a:t>Obesity </a:t>
            </a:r>
          </a:p>
        </p:txBody>
      </p:sp>
    </p:spTree>
    <p:extLst>
      <p:ext uri="{BB962C8B-B14F-4D97-AF65-F5344CB8AC3E}">
        <p14:creationId xmlns:p14="http://schemas.microsoft.com/office/powerpoint/2010/main" val="1228547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58AED-1338-7B4B-D684-FD4D1D4695CA}"/>
              </a:ext>
            </a:extLst>
          </p:cNvPr>
          <p:cNvSpPr>
            <a:spLocks noGrp="1"/>
          </p:cNvSpPr>
          <p:nvPr>
            <p:ph type="title"/>
          </p:nvPr>
        </p:nvSpPr>
        <p:spPr/>
        <p:txBody>
          <a:bodyPr/>
          <a:lstStyle/>
          <a:p>
            <a:r>
              <a:rPr lang="en-US" dirty="0"/>
              <a:t>Clinical presentation</a:t>
            </a:r>
            <a:endParaRPr lang="en-TZ" dirty="0"/>
          </a:p>
        </p:txBody>
      </p:sp>
      <p:sp>
        <p:nvSpPr>
          <p:cNvPr id="3" name="Content Placeholder 2">
            <a:extLst>
              <a:ext uri="{FF2B5EF4-FFF2-40B4-BE49-F238E27FC236}">
                <a16:creationId xmlns:a16="http://schemas.microsoft.com/office/drawing/2014/main" id="{290D0C5D-4B1F-6294-1F5D-329F4C4BD210}"/>
              </a:ext>
            </a:extLst>
          </p:cNvPr>
          <p:cNvSpPr>
            <a:spLocks noGrp="1"/>
          </p:cNvSpPr>
          <p:nvPr>
            <p:ph idx="1"/>
          </p:nvPr>
        </p:nvSpPr>
        <p:spPr/>
        <p:txBody>
          <a:bodyPr/>
          <a:lstStyle/>
          <a:p>
            <a:r>
              <a:rPr lang="en-US" dirty="0"/>
              <a:t>Unilateral </a:t>
            </a:r>
          </a:p>
          <a:p>
            <a:r>
              <a:rPr lang="en-US" dirty="0"/>
              <a:t>Hyperemic area of skin that tends to expand</a:t>
            </a:r>
          </a:p>
          <a:p>
            <a:r>
              <a:rPr lang="en-US" dirty="0"/>
              <a:t>Tenderness </a:t>
            </a:r>
          </a:p>
          <a:p>
            <a:r>
              <a:rPr lang="en-US" dirty="0"/>
              <a:t>Warmth</a:t>
            </a:r>
          </a:p>
          <a:p>
            <a:r>
              <a:rPr lang="en-US" dirty="0"/>
              <a:t> swelling </a:t>
            </a:r>
          </a:p>
          <a:p>
            <a:endParaRPr lang="en-US" dirty="0"/>
          </a:p>
          <a:p>
            <a:endParaRPr lang="en-TZ" dirty="0"/>
          </a:p>
        </p:txBody>
      </p:sp>
      <p:pic>
        <p:nvPicPr>
          <p:cNvPr id="5" name="Picture 4">
            <a:extLst>
              <a:ext uri="{FF2B5EF4-FFF2-40B4-BE49-F238E27FC236}">
                <a16:creationId xmlns:a16="http://schemas.microsoft.com/office/drawing/2014/main" id="{C32E12DA-2E82-C30E-D53A-CEBC6F7CDBA7}"/>
              </a:ext>
            </a:extLst>
          </p:cNvPr>
          <p:cNvPicPr>
            <a:picLocks noChangeAspect="1"/>
          </p:cNvPicPr>
          <p:nvPr/>
        </p:nvPicPr>
        <p:blipFill>
          <a:blip r:embed="rId2"/>
          <a:stretch>
            <a:fillRect/>
          </a:stretch>
        </p:blipFill>
        <p:spPr>
          <a:xfrm>
            <a:off x="3747541" y="3162924"/>
            <a:ext cx="7655678" cy="3695075"/>
          </a:xfrm>
          <a:prstGeom prst="rect">
            <a:avLst/>
          </a:prstGeom>
        </p:spPr>
      </p:pic>
    </p:spTree>
    <p:extLst>
      <p:ext uri="{BB962C8B-B14F-4D97-AF65-F5344CB8AC3E}">
        <p14:creationId xmlns:p14="http://schemas.microsoft.com/office/powerpoint/2010/main" val="3168900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3721C-C11D-5112-F8A5-059461128166}"/>
              </a:ext>
            </a:extLst>
          </p:cNvPr>
          <p:cNvSpPr>
            <a:spLocks noGrp="1"/>
          </p:cNvSpPr>
          <p:nvPr>
            <p:ph type="title"/>
          </p:nvPr>
        </p:nvSpPr>
        <p:spPr/>
        <p:txBody>
          <a:bodyPr/>
          <a:lstStyle/>
          <a:p>
            <a:r>
              <a:rPr lang="en-US" dirty="0"/>
              <a:t>Systemic Manifestations</a:t>
            </a:r>
            <a:endParaRPr lang="en-TZ" dirty="0"/>
          </a:p>
        </p:txBody>
      </p:sp>
      <p:sp>
        <p:nvSpPr>
          <p:cNvPr id="3" name="Content Placeholder 2">
            <a:extLst>
              <a:ext uri="{FF2B5EF4-FFF2-40B4-BE49-F238E27FC236}">
                <a16:creationId xmlns:a16="http://schemas.microsoft.com/office/drawing/2014/main" id="{9FE1677C-0B0C-BE07-7411-CB2654ABEFAE}"/>
              </a:ext>
            </a:extLst>
          </p:cNvPr>
          <p:cNvSpPr>
            <a:spLocks noGrp="1"/>
          </p:cNvSpPr>
          <p:nvPr>
            <p:ph idx="1"/>
          </p:nvPr>
        </p:nvSpPr>
        <p:spPr/>
        <p:txBody>
          <a:bodyPr>
            <a:normAutofit/>
          </a:bodyPr>
          <a:lstStyle/>
          <a:p>
            <a:r>
              <a:rPr lang="en-TZ" dirty="0"/>
              <a:t>Approximately 2–8% of hospitalized cellulitis patients develop bacteraemia</a:t>
            </a:r>
            <a:r>
              <a:rPr lang="en-US" dirty="0"/>
              <a:t>-through direct microbial dissemination </a:t>
            </a:r>
          </a:p>
          <a:p>
            <a:r>
              <a:rPr lang="en-TZ" b="1" dirty="0"/>
              <a:t>Systemic Manifestations</a:t>
            </a:r>
          </a:p>
          <a:p>
            <a:r>
              <a:rPr lang="en-TZ" dirty="0"/>
              <a:t>Fever  </a:t>
            </a:r>
          </a:p>
          <a:p>
            <a:r>
              <a:rPr lang="en-TZ" dirty="0"/>
              <a:t>Malaise </a:t>
            </a:r>
          </a:p>
          <a:p>
            <a:r>
              <a:rPr lang="en-TZ" dirty="0"/>
              <a:t>Lymphangitis</a:t>
            </a:r>
          </a:p>
          <a:p>
            <a:r>
              <a:rPr lang="en-TZ" dirty="0"/>
              <a:t>Sepsis </a:t>
            </a:r>
          </a:p>
          <a:p>
            <a:r>
              <a:rPr lang="en-TZ" dirty="0"/>
              <a:t>Septic shock</a:t>
            </a:r>
          </a:p>
          <a:p>
            <a:endParaRPr lang="en-TZ" dirty="0"/>
          </a:p>
        </p:txBody>
      </p:sp>
    </p:spTree>
    <p:extLst>
      <p:ext uri="{BB962C8B-B14F-4D97-AF65-F5344CB8AC3E}">
        <p14:creationId xmlns:p14="http://schemas.microsoft.com/office/powerpoint/2010/main" val="1434785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FC08-6DA9-E8EF-627F-317F55E4274A}"/>
              </a:ext>
            </a:extLst>
          </p:cNvPr>
          <p:cNvSpPr>
            <a:spLocks noGrp="1"/>
          </p:cNvSpPr>
          <p:nvPr>
            <p:ph type="title"/>
          </p:nvPr>
        </p:nvSpPr>
        <p:spPr/>
        <p:txBody>
          <a:bodyPr/>
          <a:lstStyle/>
          <a:p>
            <a:r>
              <a:rPr lang="en-US" dirty="0"/>
              <a:t>Management </a:t>
            </a:r>
            <a:endParaRPr lang="en-TZ" dirty="0"/>
          </a:p>
        </p:txBody>
      </p:sp>
      <p:sp>
        <p:nvSpPr>
          <p:cNvPr id="3" name="Content Placeholder 2">
            <a:extLst>
              <a:ext uri="{FF2B5EF4-FFF2-40B4-BE49-F238E27FC236}">
                <a16:creationId xmlns:a16="http://schemas.microsoft.com/office/drawing/2014/main" id="{CCD5C3B2-6180-6B6E-264D-34C86ACB7566}"/>
              </a:ext>
            </a:extLst>
          </p:cNvPr>
          <p:cNvSpPr>
            <a:spLocks noGrp="1"/>
          </p:cNvSpPr>
          <p:nvPr>
            <p:ph idx="1"/>
          </p:nvPr>
        </p:nvSpPr>
        <p:spPr/>
        <p:txBody>
          <a:bodyPr/>
          <a:lstStyle/>
          <a:p>
            <a:pPr marL="0" indent="0">
              <a:buNone/>
            </a:pPr>
            <a:r>
              <a:rPr lang="en-US" b="1" dirty="0"/>
              <a:t>Diagnosis </a:t>
            </a:r>
          </a:p>
          <a:p>
            <a:r>
              <a:rPr lang="en-US" dirty="0"/>
              <a:t>based on clinical manifestations </a:t>
            </a:r>
          </a:p>
          <a:p>
            <a:r>
              <a:rPr lang="en-US" dirty="0"/>
              <a:t>Leukocytosis, Elevated CRP</a:t>
            </a:r>
          </a:p>
          <a:p>
            <a:r>
              <a:rPr lang="en-US" dirty="0"/>
              <a:t>Culture of debrided material and blood cultures </a:t>
            </a:r>
          </a:p>
          <a:p>
            <a:pPr lvl="1">
              <a:buFontTx/>
              <a:buChar char="-"/>
            </a:pPr>
            <a:r>
              <a:rPr lang="en-US" dirty="0"/>
              <a:t>Severe local infection </a:t>
            </a:r>
          </a:p>
          <a:p>
            <a:pPr lvl="1">
              <a:buFontTx/>
              <a:buChar char="-"/>
            </a:pPr>
            <a:r>
              <a:rPr lang="en-US" dirty="0"/>
              <a:t>Systemic signs of infection </a:t>
            </a:r>
          </a:p>
          <a:p>
            <a:pPr lvl="1">
              <a:buFontTx/>
              <a:buChar char="-"/>
            </a:pPr>
            <a:r>
              <a:rPr lang="en-US" dirty="0"/>
              <a:t>Extremes of ages</a:t>
            </a:r>
          </a:p>
          <a:p>
            <a:pPr lvl="1">
              <a:buFontTx/>
              <a:buChar char="-"/>
            </a:pPr>
            <a:r>
              <a:rPr lang="en-US" dirty="0"/>
              <a:t>Presence of underlying </a:t>
            </a:r>
            <a:r>
              <a:rPr lang="en-US" dirty="0" err="1"/>
              <a:t>comorbidies</a:t>
            </a:r>
            <a:r>
              <a:rPr lang="en-US" dirty="0"/>
              <a:t>- </a:t>
            </a:r>
          </a:p>
        </p:txBody>
      </p:sp>
    </p:spTree>
    <p:extLst>
      <p:ext uri="{BB962C8B-B14F-4D97-AF65-F5344CB8AC3E}">
        <p14:creationId xmlns:p14="http://schemas.microsoft.com/office/powerpoint/2010/main" val="2788201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FD215-7BFC-5F7B-0C87-990B45452110}"/>
              </a:ext>
            </a:extLst>
          </p:cNvPr>
          <p:cNvSpPr>
            <a:spLocks noGrp="1"/>
          </p:cNvSpPr>
          <p:nvPr>
            <p:ph type="title"/>
          </p:nvPr>
        </p:nvSpPr>
        <p:spPr>
          <a:xfrm>
            <a:off x="838200" y="365126"/>
            <a:ext cx="10515600" cy="969000"/>
          </a:xfrm>
        </p:spPr>
        <p:txBody>
          <a:bodyPr/>
          <a:lstStyle/>
          <a:p>
            <a:r>
              <a:rPr lang="en-US" dirty="0"/>
              <a:t>Management</a:t>
            </a:r>
            <a:endParaRPr lang="en-TZ" dirty="0"/>
          </a:p>
        </p:txBody>
      </p:sp>
      <p:sp>
        <p:nvSpPr>
          <p:cNvPr id="3" name="Content Placeholder 2">
            <a:extLst>
              <a:ext uri="{FF2B5EF4-FFF2-40B4-BE49-F238E27FC236}">
                <a16:creationId xmlns:a16="http://schemas.microsoft.com/office/drawing/2014/main" id="{EC6E0A56-5F88-86C2-DF52-DAA608F4553F}"/>
              </a:ext>
            </a:extLst>
          </p:cNvPr>
          <p:cNvSpPr>
            <a:spLocks noGrp="1"/>
          </p:cNvSpPr>
          <p:nvPr>
            <p:ph idx="1"/>
          </p:nvPr>
        </p:nvSpPr>
        <p:spPr>
          <a:xfrm>
            <a:off x="838200" y="1633928"/>
            <a:ext cx="10515600" cy="4543035"/>
          </a:xfrm>
        </p:spPr>
        <p:txBody>
          <a:bodyPr>
            <a:normAutofit/>
          </a:bodyPr>
          <a:lstStyle/>
          <a:p>
            <a:r>
              <a:rPr lang="en-US" dirty="0"/>
              <a:t>The edge of involved area should be marked- monitor progression </a:t>
            </a:r>
          </a:p>
          <a:p>
            <a:r>
              <a:rPr lang="en-US" dirty="0"/>
              <a:t>Elevate the affected limb </a:t>
            </a:r>
          </a:p>
          <a:p>
            <a:r>
              <a:rPr lang="en-US" dirty="0"/>
              <a:t>Identify and Treat portals of entry </a:t>
            </a:r>
          </a:p>
          <a:p>
            <a:pPr marL="0" indent="0">
              <a:buNone/>
            </a:pPr>
            <a:r>
              <a:rPr lang="en-TZ" b="1" dirty="0"/>
              <a:t>Mild Disease (</a:t>
            </a:r>
            <a:r>
              <a:rPr lang="en-TZ" dirty="0"/>
              <a:t>Typical cellulitis </a:t>
            </a:r>
            <a:r>
              <a:rPr lang="en-US" dirty="0"/>
              <a:t>no</a:t>
            </a:r>
            <a:r>
              <a:rPr lang="en-TZ" dirty="0"/>
              <a:t> systemic signs of infection</a:t>
            </a:r>
            <a:r>
              <a:rPr lang="en-TZ" b="1" dirty="0"/>
              <a:t>)</a:t>
            </a:r>
          </a:p>
          <a:p>
            <a:r>
              <a:rPr lang="en-TZ" dirty="0"/>
              <a:t>For 5 days (extend if slow response):</a:t>
            </a:r>
          </a:p>
          <a:p>
            <a:pPr lvl="1"/>
            <a:r>
              <a:rPr lang="en-TZ" dirty="0"/>
              <a:t>Cephalexin </a:t>
            </a:r>
          </a:p>
          <a:p>
            <a:pPr lvl="1"/>
            <a:r>
              <a:rPr lang="en-TZ" dirty="0"/>
              <a:t>Flucloxacillin </a:t>
            </a:r>
          </a:p>
          <a:p>
            <a:pPr lvl="1"/>
            <a:r>
              <a:rPr lang="en-TZ" dirty="0"/>
              <a:t>Dicloxacillin </a:t>
            </a:r>
            <a:endParaRPr lang="en-US" dirty="0"/>
          </a:p>
          <a:p>
            <a:pPr marL="457200" lvl="1" indent="0">
              <a:buNone/>
            </a:pPr>
            <a:r>
              <a:rPr lang="en-TZ" b="1" dirty="0"/>
              <a:t>If penicillin allergy</a:t>
            </a:r>
            <a:r>
              <a:rPr lang="en-TZ" dirty="0"/>
              <a:t>:</a:t>
            </a:r>
          </a:p>
          <a:p>
            <a:pPr lvl="1"/>
            <a:r>
              <a:rPr lang="en-TZ" dirty="0"/>
              <a:t>Clindamycin</a:t>
            </a:r>
          </a:p>
          <a:p>
            <a:endParaRPr lang="en-TZ" dirty="0"/>
          </a:p>
        </p:txBody>
      </p:sp>
    </p:spTree>
    <p:extLst>
      <p:ext uri="{BB962C8B-B14F-4D97-AF65-F5344CB8AC3E}">
        <p14:creationId xmlns:p14="http://schemas.microsoft.com/office/powerpoint/2010/main" val="32274985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943A6-CBA9-59C1-9E43-71907AB9DFF0}"/>
              </a:ext>
            </a:extLst>
          </p:cNvPr>
          <p:cNvSpPr>
            <a:spLocks noGrp="1"/>
          </p:cNvSpPr>
          <p:nvPr>
            <p:ph type="title"/>
          </p:nvPr>
        </p:nvSpPr>
        <p:spPr/>
        <p:txBody>
          <a:bodyPr/>
          <a:lstStyle/>
          <a:p>
            <a:r>
              <a:rPr lang="en-US" dirty="0"/>
              <a:t>Management</a:t>
            </a:r>
            <a:endParaRPr lang="en-TZ" dirty="0"/>
          </a:p>
        </p:txBody>
      </p:sp>
      <p:sp>
        <p:nvSpPr>
          <p:cNvPr id="3" name="Content Placeholder 2">
            <a:extLst>
              <a:ext uri="{FF2B5EF4-FFF2-40B4-BE49-F238E27FC236}">
                <a16:creationId xmlns:a16="http://schemas.microsoft.com/office/drawing/2014/main" id="{99304180-1FDD-C1F0-0CD1-14242327D68B}"/>
              </a:ext>
            </a:extLst>
          </p:cNvPr>
          <p:cNvSpPr>
            <a:spLocks noGrp="1"/>
          </p:cNvSpPr>
          <p:nvPr>
            <p:ph idx="1"/>
          </p:nvPr>
        </p:nvSpPr>
        <p:spPr/>
        <p:txBody>
          <a:bodyPr>
            <a:normAutofit lnSpcReduction="10000"/>
          </a:bodyPr>
          <a:lstStyle/>
          <a:p>
            <a:pPr>
              <a:buFont typeface="Wingdings" panose="05000000000000000000" pitchFamily="2" charset="2"/>
              <a:buChar char="Ø"/>
            </a:pPr>
            <a:r>
              <a:rPr lang="en-TZ" b="1" dirty="0"/>
              <a:t>Moderate Disease (</a:t>
            </a:r>
            <a:r>
              <a:rPr lang="en-US" b="1" dirty="0"/>
              <a:t>cellulitis with systemic signs</a:t>
            </a:r>
            <a:r>
              <a:rPr lang="en-TZ" b="1" dirty="0"/>
              <a:t>)</a:t>
            </a:r>
          </a:p>
          <a:p>
            <a:r>
              <a:rPr lang="en-TZ" dirty="0"/>
              <a:t>Intravenous therapy:</a:t>
            </a:r>
          </a:p>
          <a:p>
            <a:pPr lvl="1"/>
            <a:r>
              <a:rPr lang="en-TZ" dirty="0"/>
              <a:t>Cefazolin </a:t>
            </a:r>
          </a:p>
          <a:p>
            <a:pPr lvl="1"/>
            <a:r>
              <a:rPr lang="en-TZ" dirty="0"/>
              <a:t>Flucloxacillin IV </a:t>
            </a:r>
          </a:p>
          <a:p>
            <a:pPr>
              <a:buFont typeface="Wingdings" panose="05000000000000000000" pitchFamily="2" charset="2"/>
              <a:buChar char="Ø"/>
            </a:pPr>
            <a:r>
              <a:rPr lang="en-TZ" b="1" dirty="0"/>
              <a:t>Severe Disease</a:t>
            </a:r>
            <a:r>
              <a:rPr lang="en-US" b="1" dirty="0"/>
              <a:t>(Septic shock, bullae, skin necrosis, crepitus)</a:t>
            </a:r>
            <a:endParaRPr lang="en-TZ" b="1" dirty="0"/>
          </a:p>
          <a:p>
            <a:r>
              <a:rPr lang="en-TZ" dirty="0"/>
              <a:t>Empiric therapy:</a:t>
            </a:r>
          </a:p>
          <a:p>
            <a:pPr marL="457200" lvl="1" indent="0">
              <a:buNone/>
            </a:pPr>
            <a:r>
              <a:rPr lang="en-TZ" dirty="0"/>
              <a:t>Vancomycin </a:t>
            </a:r>
          </a:p>
          <a:p>
            <a:r>
              <a:rPr lang="en-TZ" dirty="0"/>
              <a:t>If concern for necrotizing infection or polymicrobial disease:</a:t>
            </a:r>
          </a:p>
          <a:p>
            <a:pPr lvl="1"/>
            <a:r>
              <a:rPr lang="en-TZ" dirty="0"/>
              <a:t>Vancomycin + </a:t>
            </a:r>
            <a:r>
              <a:rPr lang="en-US" dirty="0"/>
              <a:t> </a:t>
            </a:r>
            <a:r>
              <a:rPr lang="en-TZ" dirty="0"/>
              <a:t>Piperacillin-tazobactam </a:t>
            </a:r>
          </a:p>
          <a:p>
            <a:pPr lvl="1"/>
            <a:r>
              <a:rPr lang="en-TZ" dirty="0"/>
              <a:t>Alternative:</a:t>
            </a:r>
            <a:r>
              <a:rPr lang="en-US" dirty="0"/>
              <a:t>  </a:t>
            </a:r>
            <a:r>
              <a:rPr lang="en-TZ" dirty="0" err="1"/>
              <a:t>Meropene</a:t>
            </a:r>
            <a:r>
              <a:rPr lang="en-US" dirty="0"/>
              <a:t>m</a:t>
            </a:r>
            <a:endParaRPr lang="en-TZ" dirty="0"/>
          </a:p>
          <a:p>
            <a:pPr marL="0" indent="0">
              <a:buNone/>
            </a:pPr>
            <a:endParaRPr lang="en-TZ" dirty="0"/>
          </a:p>
        </p:txBody>
      </p:sp>
    </p:spTree>
    <p:extLst>
      <p:ext uri="{BB962C8B-B14F-4D97-AF65-F5344CB8AC3E}">
        <p14:creationId xmlns:p14="http://schemas.microsoft.com/office/powerpoint/2010/main" val="572161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77DEB-0B4E-8AE1-CBCB-60F6BCAD26C6}"/>
              </a:ext>
            </a:extLst>
          </p:cNvPr>
          <p:cNvSpPr>
            <a:spLocks noGrp="1"/>
          </p:cNvSpPr>
          <p:nvPr>
            <p:ph type="title"/>
          </p:nvPr>
        </p:nvSpPr>
        <p:spPr>
          <a:xfrm>
            <a:off x="838200" y="365125"/>
            <a:ext cx="10515600" cy="1015437"/>
          </a:xfrm>
        </p:spPr>
        <p:txBody>
          <a:bodyPr/>
          <a:lstStyle/>
          <a:p>
            <a:r>
              <a:rPr lang="en-US" dirty="0"/>
              <a:t>  </a:t>
            </a:r>
            <a:r>
              <a:rPr lang="en-US" sz="5400" b="1" dirty="0"/>
              <a:t>IMPETIGO</a:t>
            </a:r>
            <a:endParaRPr lang="en-TZ" b="1" dirty="0"/>
          </a:p>
        </p:txBody>
      </p:sp>
      <p:sp>
        <p:nvSpPr>
          <p:cNvPr id="3" name="Content Placeholder 2">
            <a:extLst>
              <a:ext uri="{FF2B5EF4-FFF2-40B4-BE49-F238E27FC236}">
                <a16:creationId xmlns:a16="http://schemas.microsoft.com/office/drawing/2014/main" id="{731742EB-2F49-1C04-0F41-F339013D589B}"/>
              </a:ext>
            </a:extLst>
          </p:cNvPr>
          <p:cNvSpPr>
            <a:spLocks noGrp="1"/>
          </p:cNvSpPr>
          <p:nvPr>
            <p:ph idx="1"/>
          </p:nvPr>
        </p:nvSpPr>
        <p:spPr>
          <a:xfrm>
            <a:off x="838200" y="1533832"/>
            <a:ext cx="10515600" cy="4643131"/>
          </a:xfrm>
        </p:spPr>
        <p:txBody>
          <a:bodyPr/>
          <a:lstStyle/>
          <a:p>
            <a:pPr marL="0" indent="0">
              <a:buNone/>
            </a:pPr>
            <a:r>
              <a:rPr lang="en-TZ" dirty="0"/>
              <a:t> Impetigo is a common superficial skin infection, primarily affecting children, and spreads easily through direct contact</a:t>
            </a:r>
            <a:endParaRPr lang="en-US" dirty="0"/>
          </a:p>
          <a:p>
            <a:pPr marL="0" indent="0">
              <a:buNone/>
            </a:pPr>
            <a:r>
              <a:rPr lang="en-US" dirty="0"/>
              <a:t>- Major clinical forms </a:t>
            </a:r>
          </a:p>
          <a:p>
            <a:pPr marL="0" indent="0">
              <a:buNone/>
            </a:pPr>
            <a:endParaRPr lang="en-US" dirty="0"/>
          </a:p>
          <a:p>
            <a:pPr marL="0" indent="0">
              <a:buNone/>
            </a:pPr>
            <a:endParaRPr lang="en-TZ" dirty="0"/>
          </a:p>
        </p:txBody>
      </p:sp>
      <p:pic>
        <p:nvPicPr>
          <p:cNvPr id="7" name="Picture 6">
            <a:extLst>
              <a:ext uri="{FF2B5EF4-FFF2-40B4-BE49-F238E27FC236}">
                <a16:creationId xmlns:a16="http://schemas.microsoft.com/office/drawing/2014/main" id="{E0AB241F-6CC1-097E-9AE7-17D89AD6B2EC}"/>
              </a:ext>
            </a:extLst>
          </p:cNvPr>
          <p:cNvPicPr>
            <a:picLocks noChangeAspect="1"/>
          </p:cNvPicPr>
          <p:nvPr/>
        </p:nvPicPr>
        <p:blipFill>
          <a:blip r:embed="rId3"/>
          <a:stretch>
            <a:fillRect/>
          </a:stretch>
        </p:blipFill>
        <p:spPr>
          <a:xfrm>
            <a:off x="930291" y="3097161"/>
            <a:ext cx="10331417" cy="3524865"/>
          </a:xfrm>
          <a:prstGeom prst="rect">
            <a:avLst/>
          </a:prstGeom>
        </p:spPr>
      </p:pic>
    </p:spTree>
    <p:extLst>
      <p:ext uri="{BB962C8B-B14F-4D97-AF65-F5344CB8AC3E}">
        <p14:creationId xmlns:p14="http://schemas.microsoft.com/office/powerpoint/2010/main" val="1414053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E8991-9D7D-5058-0FF9-0CAE98D845C8}"/>
              </a:ext>
            </a:extLst>
          </p:cNvPr>
          <p:cNvSpPr>
            <a:spLocks noGrp="1"/>
          </p:cNvSpPr>
          <p:nvPr>
            <p:ph type="title"/>
          </p:nvPr>
        </p:nvSpPr>
        <p:spPr>
          <a:xfrm>
            <a:off x="838200" y="365125"/>
            <a:ext cx="10515600" cy="1058941"/>
          </a:xfrm>
        </p:spPr>
        <p:txBody>
          <a:bodyPr/>
          <a:lstStyle/>
          <a:p>
            <a:r>
              <a:rPr lang="en-US" dirty="0"/>
              <a:t>Risk factors</a:t>
            </a:r>
            <a:endParaRPr lang="en-TZ" dirty="0"/>
          </a:p>
        </p:txBody>
      </p:sp>
      <p:sp>
        <p:nvSpPr>
          <p:cNvPr id="3" name="Content Placeholder 2">
            <a:extLst>
              <a:ext uri="{FF2B5EF4-FFF2-40B4-BE49-F238E27FC236}">
                <a16:creationId xmlns:a16="http://schemas.microsoft.com/office/drawing/2014/main" id="{383982E8-DACC-9FDB-7DE4-C73169700B9E}"/>
              </a:ext>
            </a:extLst>
          </p:cNvPr>
          <p:cNvSpPr>
            <a:spLocks noGrp="1"/>
          </p:cNvSpPr>
          <p:nvPr>
            <p:ph idx="1"/>
          </p:nvPr>
        </p:nvSpPr>
        <p:spPr>
          <a:xfrm>
            <a:off x="838200" y="1723869"/>
            <a:ext cx="10515600" cy="4453094"/>
          </a:xfrm>
        </p:spPr>
        <p:txBody>
          <a:bodyPr/>
          <a:lstStyle/>
          <a:p>
            <a:r>
              <a:rPr lang="en-US" dirty="0"/>
              <a:t>Malnutrition</a:t>
            </a:r>
            <a:endParaRPr lang="en-TZ" dirty="0"/>
          </a:p>
          <a:p>
            <a:r>
              <a:rPr lang="en-US" dirty="0"/>
              <a:t>Immunosuppression </a:t>
            </a:r>
            <a:endParaRPr lang="en-TZ" dirty="0"/>
          </a:p>
          <a:p>
            <a:r>
              <a:rPr lang="en-US" dirty="0"/>
              <a:t>Overcrowding</a:t>
            </a:r>
            <a:endParaRPr lang="en-TZ" dirty="0"/>
          </a:p>
          <a:p>
            <a:r>
              <a:rPr lang="en-TZ" dirty="0"/>
              <a:t>Diabetes mellitus</a:t>
            </a:r>
          </a:p>
          <a:p>
            <a:r>
              <a:rPr lang="en-TZ" dirty="0"/>
              <a:t>Inadequate sanitation practices</a:t>
            </a:r>
            <a:endParaRPr lang="en-US" dirty="0"/>
          </a:p>
          <a:p>
            <a:r>
              <a:rPr lang="en-US" dirty="0"/>
              <a:t>Underlying scabies</a:t>
            </a:r>
            <a:endParaRPr lang="en-TZ" dirty="0"/>
          </a:p>
          <a:p>
            <a:r>
              <a:rPr lang="en-TZ" dirty="0"/>
              <a:t>Vulnerability in infants and young children</a:t>
            </a:r>
          </a:p>
          <a:p>
            <a:endParaRPr lang="en-TZ" dirty="0"/>
          </a:p>
        </p:txBody>
      </p:sp>
    </p:spTree>
    <p:extLst>
      <p:ext uri="{BB962C8B-B14F-4D97-AF65-F5344CB8AC3E}">
        <p14:creationId xmlns:p14="http://schemas.microsoft.com/office/powerpoint/2010/main" val="1056910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7CDF4-E120-FA8B-49A4-FD3B2ED1C7AE}"/>
              </a:ext>
            </a:extLst>
          </p:cNvPr>
          <p:cNvSpPr>
            <a:spLocks noGrp="1"/>
          </p:cNvSpPr>
          <p:nvPr>
            <p:ph type="title"/>
          </p:nvPr>
        </p:nvSpPr>
        <p:spPr/>
        <p:txBody>
          <a:bodyPr/>
          <a:lstStyle/>
          <a:p>
            <a:r>
              <a:rPr lang="en-US" dirty="0"/>
              <a:t>EPIDEMIOLOGY </a:t>
            </a:r>
            <a:endParaRPr lang="en-TZ" dirty="0"/>
          </a:p>
        </p:txBody>
      </p:sp>
      <p:sp>
        <p:nvSpPr>
          <p:cNvPr id="3" name="Content Placeholder 2">
            <a:extLst>
              <a:ext uri="{FF2B5EF4-FFF2-40B4-BE49-F238E27FC236}">
                <a16:creationId xmlns:a16="http://schemas.microsoft.com/office/drawing/2014/main" id="{4A897088-8BBD-664C-9122-5130D23C139D}"/>
              </a:ext>
            </a:extLst>
          </p:cNvPr>
          <p:cNvSpPr>
            <a:spLocks noGrp="1"/>
          </p:cNvSpPr>
          <p:nvPr>
            <p:ph idx="1"/>
          </p:nvPr>
        </p:nvSpPr>
        <p:spPr/>
        <p:txBody>
          <a:bodyPr/>
          <a:lstStyle/>
          <a:p>
            <a:r>
              <a:rPr lang="en-US" dirty="0"/>
              <a:t>Global median childhood prevalences- 12.3%</a:t>
            </a:r>
          </a:p>
          <a:p>
            <a:r>
              <a:rPr lang="en-US" dirty="0"/>
              <a:t>It can occur as </a:t>
            </a:r>
          </a:p>
          <a:p>
            <a:r>
              <a:rPr lang="en-TZ" b="1" dirty="0"/>
              <a:t>Primary Impetigo</a:t>
            </a:r>
            <a:r>
              <a:rPr lang="en-TZ" dirty="0"/>
              <a:t>: This form arises when bacteria invade healthy, unbroken skin.</a:t>
            </a:r>
          </a:p>
          <a:p>
            <a:r>
              <a:rPr lang="en-TZ" b="1" dirty="0"/>
              <a:t>Secondary Impetigo</a:t>
            </a:r>
            <a:r>
              <a:rPr lang="en-TZ" dirty="0"/>
              <a:t>: Develops as a bacterial infection on skin that has been damaged or injured</a:t>
            </a:r>
          </a:p>
          <a:p>
            <a:pPr>
              <a:buFont typeface="Wingdings" panose="05000000000000000000" pitchFamily="2" charset="2"/>
              <a:buChar char="Ø"/>
            </a:pPr>
            <a:r>
              <a:rPr lang="en-TZ" b="1" dirty="0" err="1"/>
              <a:t>Etiology</a:t>
            </a:r>
            <a:endParaRPr lang="en-TZ" b="1" dirty="0"/>
          </a:p>
          <a:p>
            <a:pPr lvl="1"/>
            <a:r>
              <a:rPr lang="en-TZ" dirty="0"/>
              <a:t>Staphylococcus aureus</a:t>
            </a:r>
            <a:r>
              <a:rPr lang="en-US" dirty="0"/>
              <a:t>- MRSA VS MSSA</a:t>
            </a:r>
          </a:p>
          <a:p>
            <a:pPr lvl="1"/>
            <a:r>
              <a:rPr lang="en-US" dirty="0"/>
              <a:t>Group A beta hemolytic streptococci</a:t>
            </a:r>
          </a:p>
          <a:p>
            <a:pPr lvl="1"/>
            <a:endParaRPr lang="en-US" dirty="0"/>
          </a:p>
          <a:p>
            <a:endParaRPr lang="en-TZ" dirty="0"/>
          </a:p>
        </p:txBody>
      </p:sp>
    </p:spTree>
    <p:extLst>
      <p:ext uri="{BB962C8B-B14F-4D97-AF65-F5344CB8AC3E}">
        <p14:creationId xmlns:p14="http://schemas.microsoft.com/office/powerpoint/2010/main" val="3718563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70DDB-829E-2277-6FD8-FE33C47CD4E6}"/>
              </a:ext>
            </a:extLst>
          </p:cNvPr>
          <p:cNvSpPr>
            <a:spLocks noGrp="1"/>
          </p:cNvSpPr>
          <p:nvPr>
            <p:ph type="title"/>
          </p:nvPr>
        </p:nvSpPr>
        <p:spPr/>
        <p:txBody>
          <a:bodyPr/>
          <a:lstStyle/>
          <a:p>
            <a:r>
              <a:rPr lang="en-US" dirty="0"/>
              <a:t>Pathophysiology </a:t>
            </a:r>
            <a:endParaRPr lang="en-TZ" dirty="0"/>
          </a:p>
        </p:txBody>
      </p:sp>
      <p:sp>
        <p:nvSpPr>
          <p:cNvPr id="3" name="Content Placeholder 2">
            <a:extLst>
              <a:ext uri="{FF2B5EF4-FFF2-40B4-BE49-F238E27FC236}">
                <a16:creationId xmlns:a16="http://schemas.microsoft.com/office/drawing/2014/main" id="{D6FE64C9-8742-066E-21E7-162F2C5BE6A8}"/>
              </a:ext>
            </a:extLst>
          </p:cNvPr>
          <p:cNvSpPr>
            <a:spLocks noGrp="1"/>
          </p:cNvSpPr>
          <p:nvPr>
            <p:ph idx="1"/>
          </p:nvPr>
        </p:nvSpPr>
        <p:spPr/>
        <p:txBody>
          <a:bodyPr>
            <a:normAutofit/>
          </a:bodyPr>
          <a:lstStyle/>
          <a:p>
            <a:r>
              <a:rPr lang="en-TZ" b="1" dirty="0"/>
              <a:t>Bullous impetigo </a:t>
            </a:r>
            <a:r>
              <a:rPr lang="en-TZ" dirty="0"/>
              <a:t>arises from Staphylococcus bacteria that secrete exfoliative toxins containing serine proteases</a:t>
            </a:r>
            <a:endParaRPr lang="en-US" dirty="0"/>
          </a:p>
          <a:p>
            <a:r>
              <a:rPr lang="en-TZ" dirty="0"/>
              <a:t>These enzymes target desmoglein, a key protein responsible for binding epidermal cells </a:t>
            </a:r>
            <a:r>
              <a:rPr lang="en-TZ" dirty="0" err="1"/>
              <a:t>togethe</a:t>
            </a:r>
            <a:r>
              <a:rPr lang="en-US" dirty="0"/>
              <a:t>r</a:t>
            </a:r>
          </a:p>
          <a:p>
            <a:r>
              <a:rPr lang="en-TZ" dirty="0"/>
              <a:t>This disruption enables Staphylococcus aureus to infiltrate beneath the stratum corneum, creating a toxin-induced space that causes the epidermis to split just below the stratum granulosum layer. </a:t>
            </a:r>
            <a:endParaRPr lang="en-US" dirty="0"/>
          </a:p>
          <a:p>
            <a:r>
              <a:rPr lang="en-TZ" dirty="0"/>
              <a:t>As a result, large blisters filled with neutrophils develop within the epidermis</a:t>
            </a:r>
            <a:r>
              <a:rPr lang="en-US" dirty="0"/>
              <a:t>- </a:t>
            </a:r>
            <a:r>
              <a:rPr lang="en-TZ" dirty="0"/>
              <a:t>rupture rapidly, leading to superficial skin erosions covered by a characteristic yellow crust</a:t>
            </a:r>
          </a:p>
          <a:p>
            <a:endParaRPr lang="en-TZ" dirty="0"/>
          </a:p>
        </p:txBody>
      </p:sp>
    </p:spTree>
    <p:extLst>
      <p:ext uri="{BB962C8B-B14F-4D97-AF65-F5344CB8AC3E}">
        <p14:creationId xmlns:p14="http://schemas.microsoft.com/office/powerpoint/2010/main" val="24022684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8BFCFFD-F39C-2374-68F6-2AA64A3A84E4}"/>
              </a:ext>
            </a:extLst>
          </p:cNvPr>
          <p:cNvPicPr>
            <a:picLocks noGrp="1" noChangeAspect="1"/>
          </p:cNvPicPr>
          <p:nvPr>
            <p:ph idx="1"/>
          </p:nvPr>
        </p:nvPicPr>
        <p:blipFill>
          <a:blip r:embed="rId2"/>
          <a:stretch>
            <a:fillRect/>
          </a:stretch>
        </p:blipFill>
        <p:spPr>
          <a:xfrm>
            <a:off x="6325849" y="2008682"/>
            <a:ext cx="5866151" cy="4849318"/>
          </a:xfrm>
          <a:prstGeom prst="rect">
            <a:avLst/>
          </a:prstGeom>
        </p:spPr>
      </p:pic>
      <p:pic>
        <p:nvPicPr>
          <p:cNvPr id="7" name="Picture 6">
            <a:extLst>
              <a:ext uri="{FF2B5EF4-FFF2-40B4-BE49-F238E27FC236}">
                <a16:creationId xmlns:a16="http://schemas.microsoft.com/office/drawing/2014/main" id="{42EE7B80-28EC-B476-ADF5-2F6E0B2A87CB}"/>
              </a:ext>
            </a:extLst>
          </p:cNvPr>
          <p:cNvPicPr>
            <a:picLocks noChangeAspect="1"/>
          </p:cNvPicPr>
          <p:nvPr/>
        </p:nvPicPr>
        <p:blipFill>
          <a:blip r:embed="rId3"/>
          <a:stretch>
            <a:fillRect/>
          </a:stretch>
        </p:blipFill>
        <p:spPr>
          <a:xfrm>
            <a:off x="269823" y="149902"/>
            <a:ext cx="6160957" cy="6708097"/>
          </a:xfrm>
          <a:prstGeom prst="rect">
            <a:avLst/>
          </a:prstGeom>
        </p:spPr>
      </p:pic>
    </p:spTree>
    <p:extLst>
      <p:ext uri="{BB962C8B-B14F-4D97-AF65-F5344CB8AC3E}">
        <p14:creationId xmlns:p14="http://schemas.microsoft.com/office/powerpoint/2010/main" val="2412911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06B9-5EA1-E62C-B8C5-D1BE326D0A2B}"/>
              </a:ext>
            </a:extLst>
          </p:cNvPr>
          <p:cNvSpPr>
            <a:spLocks noGrp="1"/>
          </p:cNvSpPr>
          <p:nvPr>
            <p:ph type="title"/>
          </p:nvPr>
        </p:nvSpPr>
        <p:spPr/>
        <p:txBody>
          <a:bodyPr/>
          <a:lstStyle/>
          <a:p>
            <a:r>
              <a:rPr lang="en-US" dirty="0" err="1"/>
              <a:t>Cont</a:t>
            </a:r>
            <a:r>
              <a:rPr lang="en-US" dirty="0"/>
              <a:t>…..</a:t>
            </a:r>
            <a:endParaRPr lang="en-TZ" dirty="0"/>
          </a:p>
        </p:txBody>
      </p:sp>
      <p:sp>
        <p:nvSpPr>
          <p:cNvPr id="3" name="Content Placeholder 2">
            <a:extLst>
              <a:ext uri="{FF2B5EF4-FFF2-40B4-BE49-F238E27FC236}">
                <a16:creationId xmlns:a16="http://schemas.microsoft.com/office/drawing/2014/main" id="{237FD8DD-A0FF-06AD-3293-B89A303C7F5A}"/>
              </a:ext>
            </a:extLst>
          </p:cNvPr>
          <p:cNvSpPr>
            <a:spLocks noGrp="1"/>
          </p:cNvSpPr>
          <p:nvPr>
            <p:ph idx="1"/>
          </p:nvPr>
        </p:nvSpPr>
        <p:spPr/>
        <p:txBody>
          <a:bodyPr/>
          <a:lstStyle/>
          <a:p>
            <a:r>
              <a:rPr lang="en-US" b="1" dirty="0"/>
              <a:t>N</a:t>
            </a:r>
            <a:r>
              <a:rPr lang="en-TZ" b="1" dirty="0"/>
              <a:t>on-bullous impetigo</a:t>
            </a:r>
            <a:r>
              <a:rPr lang="en-TZ" dirty="0"/>
              <a:t>, typically caused by Streptococcus species, presents with thick-walled pustules resting on a red, inflamed base.</a:t>
            </a:r>
            <a:endParaRPr lang="en-US" dirty="0"/>
          </a:p>
          <a:p>
            <a:r>
              <a:rPr lang="en-TZ" dirty="0"/>
              <a:t> The lesions often coalesce and evolve into pustules that enlarge and rapidly break down to form thick, adherent crusts with a characteristic golden, yellow-brown, or honey </a:t>
            </a:r>
            <a:r>
              <a:rPr lang="en-TZ" dirty="0" err="1"/>
              <a:t>color</a:t>
            </a:r>
            <a:endParaRPr lang="en-US" dirty="0"/>
          </a:p>
          <a:p>
            <a:r>
              <a:rPr lang="en-TZ" dirty="0"/>
              <a:t> Histological examination of established non-bullous lesions reveals a dense surface crust composed of serum, neutrophils at various stages of degradation, and parakeratotic material.</a:t>
            </a:r>
          </a:p>
          <a:p>
            <a:pPr marL="0" indent="0">
              <a:buNone/>
            </a:pPr>
            <a:endParaRPr lang="en-TZ" dirty="0"/>
          </a:p>
        </p:txBody>
      </p:sp>
    </p:spTree>
    <p:extLst>
      <p:ext uri="{BB962C8B-B14F-4D97-AF65-F5344CB8AC3E}">
        <p14:creationId xmlns:p14="http://schemas.microsoft.com/office/powerpoint/2010/main" val="3447179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E9E2D74-3986-6F3D-F613-3CA6C23C5B2A}"/>
              </a:ext>
            </a:extLst>
          </p:cNvPr>
          <p:cNvPicPr>
            <a:picLocks noGrp="1" noChangeAspect="1"/>
          </p:cNvPicPr>
          <p:nvPr>
            <p:ph idx="1"/>
          </p:nvPr>
        </p:nvPicPr>
        <p:blipFill>
          <a:blip r:embed="rId2"/>
          <a:stretch>
            <a:fillRect/>
          </a:stretch>
        </p:blipFill>
        <p:spPr>
          <a:xfrm>
            <a:off x="836981" y="1486412"/>
            <a:ext cx="5415095" cy="5135614"/>
          </a:xfrm>
          <a:prstGeom prst="rect">
            <a:avLst/>
          </a:prstGeom>
        </p:spPr>
      </p:pic>
      <p:pic>
        <p:nvPicPr>
          <p:cNvPr id="7" name="Picture 6">
            <a:extLst>
              <a:ext uri="{FF2B5EF4-FFF2-40B4-BE49-F238E27FC236}">
                <a16:creationId xmlns:a16="http://schemas.microsoft.com/office/drawing/2014/main" id="{DBA9C2E1-2BD8-F206-F292-848168DBB273}"/>
              </a:ext>
            </a:extLst>
          </p:cNvPr>
          <p:cNvPicPr>
            <a:picLocks noChangeAspect="1"/>
          </p:cNvPicPr>
          <p:nvPr/>
        </p:nvPicPr>
        <p:blipFill>
          <a:blip r:embed="rId3"/>
          <a:stretch>
            <a:fillRect/>
          </a:stretch>
        </p:blipFill>
        <p:spPr>
          <a:xfrm>
            <a:off x="5973097" y="1828801"/>
            <a:ext cx="5904578" cy="4008950"/>
          </a:xfrm>
          <a:prstGeom prst="rect">
            <a:avLst/>
          </a:prstGeom>
        </p:spPr>
      </p:pic>
    </p:spTree>
    <p:extLst>
      <p:ext uri="{BB962C8B-B14F-4D97-AF65-F5344CB8AC3E}">
        <p14:creationId xmlns:p14="http://schemas.microsoft.com/office/powerpoint/2010/main" val="41454236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0953FF5-F96A-24E4-56E7-0A689330380D}"/>
              </a:ext>
            </a:extLst>
          </p:cNvPr>
          <p:cNvSpPr txBox="1"/>
          <p:nvPr/>
        </p:nvSpPr>
        <p:spPr>
          <a:xfrm>
            <a:off x="3046751" y="3240586"/>
            <a:ext cx="6093500" cy="369332"/>
          </a:xfrm>
          <a:prstGeom prst="rect">
            <a:avLst/>
          </a:prstGeom>
          <a:noFill/>
        </p:spPr>
        <p:txBody>
          <a:bodyPr wrap="square">
            <a:spAutoFit/>
          </a:bodyPr>
          <a:lstStyle/>
          <a:p>
            <a:endParaRPr lang="en-TZ" dirty="0"/>
          </a:p>
        </p:txBody>
      </p:sp>
      <p:pic>
        <p:nvPicPr>
          <p:cNvPr id="5" name="Picture 4">
            <a:extLst>
              <a:ext uri="{FF2B5EF4-FFF2-40B4-BE49-F238E27FC236}">
                <a16:creationId xmlns:a16="http://schemas.microsoft.com/office/drawing/2014/main" id="{79C92EE3-3E02-84A0-3CC2-9ECA97177277}"/>
              </a:ext>
            </a:extLst>
          </p:cNvPr>
          <p:cNvPicPr>
            <a:picLocks noChangeAspect="1"/>
          </p:cNvPicPr>
          <p:nvPr/>
        </p:nvPicPr>
        <p:blipFill>
          <a:blip r:embed="rId2"/>
          <a:stretch>
            <a:fillRect/>
          </a:stretch>
        </p:blipFill>
        <p:spPr>
          <a:xfrm>
            <a:off x="179882" y="0"/>
            <a:ext cx="12012117" cy="6858000"/>
          </a:xfrm>
          <a:prstGeom prst="rect">
            <a:avLst/>
          </a:prstGeom>
        </p:spPr>
      </p:pic>
    </p:spTree>
    <p:extLst>
      <p:ext uri="{BB962C8B-B14F-4D97-AF65-F5344CB8AC3E}">
        <p14:creationId xmlns:p14="http://schemas.microsoft.com/office/powerpoint/2010/main" val="2299031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68FF5-95C5-D29B-948A-5B7C91F8C48E}"/>
              </a:ext>
            </a:extLst>
          </p:cNvPr>
          <p:cNvSpPr>
            <a:spLocks noGrp="1"/>
          </p:cNvSpPr>
          <p:nvPr>
            <p:ph type="title"/>
          </p:nvPr>
        </p:nvSpPr>
        <p:spPr/>
        <p:txBody>
          <a:bodyPr/>
          <a:lstStyle/>
          <a:p>
            <a:r>
              <a:rPr lang="en-US" dirty="0"/>
              <a:t>COMPLICATIONS</a:t>
            </a:r>
            <a:endParaRPr lang="en-TZ" dirty="0"/>
          </a:p>
        </p:txBody>
      </p:sp>
      <p:sp>
        <p:nvSpPr>
          <p:cNvPr id="3" name="Content Placeholder 2">
            <a:extLst>
              <a:ext uri="{FF2B5EF4-FFF2-40B4-BE49-F238E27FC236}">
                <a16:creationId xmlns:a16="http://schemas.microsoft.com/office/drawing/2014/main" id="{6562F3EA-0494-BA30-6D01-0D2860835C9E}"/>
              </a:ext>
            </a:extLst>
          </p:cNvPr>
          <p:cNvSpPr>
            <a:spLocks noGrp="1"/>
          </p:cNvSpPr>
          <p:nvPr>
            <p:ph idx="1"/>
          </p:nvPr>
        </p:nvSpPr>
        <p:spPr/>
        <p:txBody>
          <a:bodyPr/>
          <a:lstStyle/>
          <a:p>
            <a:pPr>
              <a:buFont typeface="Wingdings" panose="05000000000000000000" pitchFamily="2" charset="2"/>
              <a:buChar char="Ø"/>
            </a:pPr>
            <a:r>
              <a:rPr lang="en-TZ" b="1" dirty="0"/>
              <a:t>Staphylococcal scalded skin syndrome</a:t>
            </a:r>
            <a:r>
              <a:rPr lang="en-TZ" dirty="0"/>
              <a:t> </a:t>
            </a:r>
            <a:endParaRPr lang="en-US" dirty="0"/>
          </a:p>
          <a:p>
            <a:r>
              <a:rPr lang="en-US" dirty="0"/>
              <a:t>A</a:t>
            </a:r>
            <a:r>
              <a:rPr lang="en-TZ" dirty="0"/>
              <a:t>rises from a focus of infection with an exfoliative toxin-producing </a:t>
            </a:r>
            <a:r>
              <a:rPr lang="en-TZ" i="1" dirty="0"/>
              <a:t>S. aureus</a:t>
            </a:r>
            <a:r>
              <a:rPr lang="en-TZ" dirty="0"/>
              <a:t> strain, such as impetigo</a:t>
            </a:r>
            <a:endParaRPr lang="en-US" dirty="0"/>
          </a:p>
          <a:p>
            <a:r>
              <a:rPr lang="en-TZ" dirty="0"/>
              <a:t> Initial signs of staphylococcal scalded skin syndrome include skin erythema, exfoliation, and skin pain, particularly in skin folds </a:t>
            </a:r>
            <a:endParaRPr lang="en-US" dirty="0"/>
          </a:p>
          <a:p>
            <a:r>
              <a:rPr lang="en-TZ" dirty="0"/>
              <a:t> Subsequently, erythema becomes generalized, and flaccid bullae and erosions appear. Extensive crusting and fissuring may occur on the face.</a:t>
            </a:r>
          </a:p>
        </p:txBody>
      </p:sp>
    </p:spTree>
    <p:extLst>
      <p:ext uri="{BB962C8B-B14F-4D97-AF65-F5344CB8AC3E}">
        <p14:creationId xmlns:p14="http://schemas.microsoft.com/office/powerpoint/2010/main" val="16630451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AC462B-7532-5610-33B3-01F4D7AE5BE5}"/>
              </a:ext>
            </a:extLst>
          </p:cNvPr>
          <p:cNvPicPr>
            <a:picLocks noChangeAspect="1"/>
          </p:cNvPicPr>
          <p:nvPr/>
        </p:nvPicPr>
        <p:blipFill>
          <a:blip r:embed="rId2"/>
          <a:stretch>
            <a:fillRect/>
          </a:stretch>
        </p:blipFill>
        <p:spPr>
          <a:xfrm>
            <a:off x="670892" y="139148"/>
            <a:ext cx="10850216" cy="6579704"/>
          </a:xfrm>
          <a:prstGeom prst="rect">
            <a:avLst/>
          </a:prstGeom>
        </p:spPr>
      </p:pic>
    </p:spTree>
    <p:extLst>
      <p:ext uri="{BB962C8B-B14F-4D97-AF65-F5344CB8AC3E}">
        <p14:creationId xmlns:p14="http://schemas.microsoft.com/office/powerpoint/2010/main" val="4294472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2E2AC-9970-193B-0654-1D03038DF4A9}"/>
              </a:ext>
            </a:extLst>
          </p:cNvPr>
          <p:cNvSpPr>
            <a:spLocks noGrp="1"/>
          </p:cNvSpPr>
          <p:nvPr>
            <p:ph type="title"/>
          </p:nvPr>
        </p:nvSpPr>
        <p:spPr/>
        <p:txBody>
          <a:bodyPr/>
          <a:lstStyle/>
          <a:p>
            <a:r>
              <a:rPr lang="en-US" dirty="0"/>
              <a:t>SYSTEMIC MANIFESTATIONS</a:t>
            </a:r>
            <a:endParaRPr lang="en-TZ" dirty="0"/>
          </a:p>
        </p:txBody>
      </p:sp>
      <p:sp>
        <p:nvSpPr>
          <p:cNvPr id="3" name="Content Placeholder 2">
            <a:extLst>
              <a:ext uri="{FF2B5EF4-FFF2-40B4-BE49-F238E27FC236}">
                <a16:creationId xmlns:a16="http://schemas.microsoft.com/office/drawing/2014/main" id="{C4D2E003-C6F9-7998-CFE1-2C5F78B955A5}"/>
              </a:ext>
            </a:extLst>
          </p:cNvPr>
          <p:cNvSpPr>
            <a:spLocks noGrp="1"/>
          </p:cNvSpPr>
          <p:nvPr>
            <p:ph idx="1"/>
          </p:nvPr>
        </p:nvSpPr>
        <p:spPr/>
        <p:txBody>
          <a:bodyPr/>
          <a:lstStyle/>
          <a:p>
            <a:pPr>
              <a:buFont typeface="Wingdings" panose="05000000000000000000" pitchFamily="2" charset="2"/>
              <a:buChar char="Ø"/>
            </a:pPr>
            <a:r>
              <a:rPr lang="en-TZ" b="1" dirty="0"/>
              <a:t>Poststreptococcal glomerulonephritis</a:t>
            </a:r>
            <a:endParaRPr lang="en-US" b="1" dirty="0"/>
          </a:p>
          <a:p>
            <a:r>
              <a:rPr lang="en-US" dirty="0"/>
              <a:t>I</a:t>
            </a:r>
            <a:r>
              <a:rPr lang="en-TZ" dirty="0"/>
              <a:t>s a potential complication of infection with nephritogenic strains of group A beta-</a:t>
            </a:r>
            <a:r>
              <a:rPr lang="en-TZ" dirty="0" err="1"/>
              <a:t>hemolytic</a:t>
            </a:r>
            <a:r>
              <a:rPr lang="en-TZ" dirty="0"/>
              <a:t> </a:t>
            </a:r>
            <a:r>
              <a:rPr lang="en-TZ" i="1" dirty="0"/>
              <a:t>Streptococcus</a:t>
            </a:r>
            <a:r>
              <a:rPr lang="en-TZ" dirty="0"/>
              <a:t>. </a:t>
            </a:r>
            <a:endParaRPr lang="en-US" dirty="0"/>
          </a:p>
          <a:p>
            <a:r>
              <a:rPr lang="en-US" dirty="0"/>
              <a:t>It </a:t>
            </a:r>
            <a:r>
              <a:rPr lang="en-TZ" dirty="0"/>
              <a:t>usually occurs within </a:t>
            </a:r>
            <a:r>
              <a:rPr lang="en-US" dirty="0"/>
              <a:t>2- 6</a:t>
            </a:r>
            <a:r>
              <a:rPr lang="en-TZ" dirty="0"/>
              <a:t> weeks after </a:t>
            </a:r>
            <a:r>
              <a:rPr lang="en-US" dirty="0"/>
              <a:t>skin</a:t>
            </a:r>
            <a:r>
              <a:rPr lang="en-TZ" dirty="0"/>
              <a:t> infection. </a:t>
            </a:r>
            <a:endParaRPr lang="en-US" dirty="0"/>
          </a:p>
          <a:p>
            <a:r>
              <a:rPr lang="en-US" dirty="0"/>
              <a:t>Antigen- Antibody complexes deposits in Glomerular basement  membrane</a:t>
            </a:r>
          </a:p>
          <a:p>
            <a:r>
              <a:rPr lang="en-TZ" dirty="0"/>
              <a:t>Common clinical findings include </a:t>
            </a:r>
            <a:r>
              <a:rPr lang="en-TZ" dirty="0" err="1"/>
              <a:t>edema</a:t>
            </a:r>
            <a:r>
              <a:rPr lang="en-TZ" dirty="0"/>
              <a:t>, hypertension, fever, and </a:t>
            </a:r>
            <a:r>
              <a:rPr lang="en-TZ" dirty="0" err="1"/>
              <a:t>hematuria</a:t>
            </a:r>
            <a:r>
              <a:rPr lang="en-TZ" dirty="0"/>
              <a:t>. Acute kidney injury can occur</a:t>
            </a:r>
          </a:p>
        </p:txBody>
      </p:sp>
    </p:spTree>
    <p:extLst>
      <p:ext uri="{BB962C8B-B14F-4D97-AF65-F5344CB8AC3E}">
        <p14:creationId xmlns:p14="http://schemas.microsoft.com/office/powerpoint/2010/main" val="5003493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EC8D5-C579-F55F-6BD2-CA8E66D5D429}"/>
              </a:ext>
            </a:extLst>
          </p:cNvPr>
          <p:cNvSpPr>
            <a:spLocks noGrp="1"/>
          </p:cNvSpPr>
          <p:nvPr>
            <p:ph type="title"/>
          </p:nvPr>
        </p:nvSpPr>
        <p:spPr/>
        <p:txBody>
          <a:bodyPr/>
          <a:lstStyle/>
          <a:p>
            <a:r>
              <a:rPr lang="en-US" dirty="0" err="1"/>
              <a:t>Cont</a:t>
            </a:r>
            <a:r>
              <a:rPr lang="en-US" dirty="0"/>
              <a:t>…..</a:t>
            </a:r>
            <a:endParaRPr lang="en-TZ" dirty="0"/>
          </a:p>
        </p:txBody>
      </p:sp>
      <p:sp>
        <p:nvSpPr>
          <p:cNvPr id="3" name="Content Placeholder 2">
            <a:extLst>
              <a:ext uri="{FF2B5EF4-FFF2-40B4-BE49-F238E27FC236}">
                <a16:creationId xmlns:a16="http://schemas.microsoft.com/office/drawing/2014/main" id="{7EB5A363-A214-63CC-3031-4E058A57805A}"/>
              </a:ext>
            </a:extLst>
          </p:cNvPr>
          <p:cNvSpPr>
            <a:spLocks noGrp="1"/>
          </p:cNvSpPr>
          <p:nvPr>
            <p:ph idx="1"/>
          </p:nvPr>
        </p:nvSpPr>
        <p:spPr>
          <a:xfrm>
            <a:off x="838200" y="1690688"/>
            <a:ext cx="10515600" cy="4486275"/>
          </a:xfrm>
        </p:spPr>
        <p:txBody>
          <a:bodyPr>
            <a:normAutofit/>
          </a:bodyPr>
          <a:lstStyle/>
          <a:p>
            <a:r>
              <a:rPr lang="en-TZ" b="1" dirty="0"/>
              <a:t>Acute rheumatic fever</a:t>
            </a:r>
            <a:r>
              <a:rPr lang="en-TZ" dirty="0"/>
              <a:t> –is an autoimmune disorder that can occur following group A streptococcal pharyngitis (predominantly) or impetigo </a:t>
            </a:r>
            <a:endParaRPr lang="en-US" dirty="0"/>
          </a:p>
          <a:p>
            <a:r>
              <a:rPr lang="en-TZ" dirty="0"/>
              <a:t>The disease primarily occurs in children</a:t>
            </a:r>
            <a:r>
              <a:rPr lang="en-US" dirty="0"/>
              <a:t> </a:t>
            </a:r>
          </a:p>
          <a:p>
            <a:r>
              <a:rPr lang="en-US" dirty="0"/>
              <a:t>Antibodies against M protein cross react with host tissues (cardiac myosin)</a:t>
            </a:r>
          </a:p>
          <a:p>
            <a:r>
              <a:rPr lang="en-TZ" dirty="0"/>
              <a:t> Clinical features include arthritis, carditis, chorea, erythema marginatum and subcutaneous nodules</a:t>
            </a:r>
            <a:endParaRPr lang="en-US" dirty="0"/>
          </a:p>
          <a:p>
            <a:r>
              <a:rPr lang="en-TZ" dirty="0"/>
              <a:t>Acute rheumatic fever may lead to cardiac valve damage and subsequent complications of rheumatic heart disease.</a:t>
            </a:r>
          </a:p>
        </p:txBody>
      </p:sp>
    </p:spTree>
    <p:extLst>
      <p:ext uri="{BB962C8B-B14F-4D97-AF65-F5344CB8AC3E}">
        <p14:creationId xmlns:p14="http://schemas.microsoft.com/office/powerpoint/2010/main" val="2082249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9E4A-4968-8516-85CB-A20D1F2933B0}"/>
              </a:ext>
            </a:extLst>
          </p:cNvPr>
          <p:cNvSpPr>
            <a:spLocks noGrp="1"/>
          </p:cNvSpPr>
          <p:nvPr>
            <p:ph type="title"/>
          </p:nvPr>
        </p:nvSpPr>
        <p:spPr>
          <a:xfrm>
            <a:off x="838200" y="365125"/>
            <a:ext cx="10515600" cy="1118901"/>
          </a:xfrm>
        </p:spPr>
        <p:txBody>
          <a:bodyPr/>
          <a:lstStyle/>
          <a:p>
            <a:r>
              <a:rPr lang="en-US" dirty="0" err="1"/>
              <a:t>Cont</a:t>
            </a:r>
            <a:r>
              <a:rPr lang="en-US" dirty="0"/>
              <a:t>….</a:t>
            </a:r>
            <a:endParaRPr lang="en-TZ" dirty="0"/>
          </a:p>
        </p:txBody>
      </p:sp>
      <p:sp>
        <p:nvSpPr>
          <p:cNvPr id="3" name="Content Placeholder 2">
            <a:extLst>
              <a:ext uri="{FF2B5EF4-FFF2-40B4-BE49-F238E27FC236}">
                <a16:creationId xmlns:a16="http://schemas.microsoft.com/office/drawing/2014/main" id="{AAE5F33E-476E-CA21-A5D1-9E59D4FF8963}"/>
              </a:ext>
            </a:extLst>
          </p:cNvPr>
          <p:cNvSpPr>
            <a:spLocks noGrp="1"/>
          </p:cNvSpPr>
          <p:nvPr>
            <p:ph idx="1"/>
          </p:nvPr>
        </p:nvSpPr>
        <p:spPr>
          <a:xfrm>
            <a:off x="838200" y="1618938"/>
            <a:ext cx="10515600" cy="4558025"/>
          </a:xfrm>
        </p:spPr>
        <p:txBody>
          <a:bodyPr/>
          <a:lstStyle/>
          <a:p>
            <a:r>
              <a:rPr lang="en-TZ" b="1" dirty="0"/>
              <a:t>Toxic Shock Syndrome (TSS)</a:t>
            </a:r>
            <a:endParaRPr lang="en-US" b="1" dirty="0"/>
          </a:p>
          <a:p>
            <a:pPr>
              <a:buFontTx/>
              <a:buChar char="-"/>
            </a:pPr>
            <a:r>
              <a:rPr lang="en-TZ" dirty="0"/>
              <a:t>is an acute, life-threatening illness caused by bacterial exotoxins acting as </a:t>
            </a:r>
            <a:r>
              <a:rPr lang="en-TZ" b="1" dirty="0"/>
              <a:t>superantigens</a:t>
            </a:r>
            <a:r>
              <a:rPr lang="en-TZ" dirty="0"/>
              <a:t>, leading to massive cytokine release, shock, and multiorgan dysfunction</a:t>
            </a:r>
            <a:endParaRPr lang="en-US" dirty="0"/>
          </a:p>
          <a:p>
            <a:pPr>
              <a:buFontTx/>
              <a:buChar char="-"/>
            </a:pPr>
            <a:r>
              <a:rPr lang="en-TZ" dirty="0"/>
              <a:t>Often associated with necrotizing fasciitis, cellulitis, or invasive soft tissue </a:t>
            </a:r>
            <a:r>
              <a:rPr lang="en-TZ" dirty="0" err="1"/>
              <a:t>infectio</a:t>
            </a:r>
            <a:r>
              <a:rPr lang="en-US" dirty="0"/>
              <a:t>n(</a:t>
            </a:r>
            <a:r>
              <a:rPr lang="en-TZ" dirty="0"/>
              <a:t>(Group A Streptococcus</a:t>
            </a:r>
            <a:r>
              <a:rPr lang="en-US" dirty="0"/>
              <a:t>)</a:t>
            </a:r>
          </a:p>
          <a:p>
            <a:pPr>
              <a:buFontTx/>
              <a:buChar char="-"/>
            </a:pPr>
            <a:endParaRPr lang="en-US" dirty="0"/>
          </a:p>
          <a:p>
            <a:pPr>
              <a:buFontTx/>
              <a:buChar char="-"/>
            </a:pPr>
            <a:endParaRPr lang="en-TZ" dirty="0"/>
          </a:p>
        </p:txBody>
      </p:sp>
    </p:spTree>
    <p:extLst>
      <p:ext uri="{BB962C8B-B14F-4D97-AF65-F5344CB8AC3E}">
        <p14:creationId xmlns:p14="http://schemas.microsoft.com/office/powerpoint/2010/main" val="29643272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CEE9E-02A4-9EF0-2AA5-8CDD1809EE15}"/>
              </a:ext>
            </a:extLst>
          </p:cNvPr>
          <p:cNvSpPr>
            <a:spLocks noGrp="1"/>
          </p:cNvSpPr>
          <p:nvPr>
            <p:ph type="title"/>
          </p:nvPr>
        </p:nvSpPr>
        <p:spPr/>
        <p:txBody>
          <a:bodyPr/>
          <a:lstStyle/>
          <a:p>
            <a:r>
              <a:rPr lang="en-US" dirty="0"/>
              <a:t>Diagnostic criteria -TSS</a:t>
            </a:r>
            <a:endParaRPr lang="en-TZ" dirty="0"/>
          </a:p>
        </p:txBody>
      </p:sp>
      <p:pic>
        <p:nvPicPr>
          <p:cNvPr id="5" name="Content Placeholder 4">
            <a:extLst>
              <a:ext uri="{FF2B5EF4-FFF2-40B4-BE49-F238E27FC236}">
                <a16:creationId xmlns:a16="http://schemas.microsoft.com/office/drawing/2014/main" id="{7C68E214-DF14-CD35-1220-D0B1E7DB001A}"/>
              </a:ext>
            </a:extLst>
          </p:cNvPr>
          <p:cNvPicPr>
            <a:picLocks noGrp="1" noChangeAspect="1"/>
          </p:cNvPicPr>
          <p:nvPr>
            <p:ph idx="1"/>
          </p:nvPr>
        </p:nvPicPr>
        <p:blipFill>
          <a:blip r:embed="rId2"/>
          <a:stretch>
            <a:fillRect/>
          </a:stretch>
        </p:blipFill>
        <p:spPr>
          <a:xfrm>
            <a:off x="1154244" y="1825624"/>
            <a:ext cx="9998438" cy="4919949"/>
          </a:xfrm>
          <a:prstGeom prst="rect">
            <a:avLst/>
          </a:prstGeom>
        </p:spPr>
      </p:pic>
    </p:spTree>
    <p:extLst>
      <p:ext uri="{BB962C8B-B14F-4D97-AF65-F5344CB8AC3E}">
        <p14:creationId xmlns:p14="http://schemas.microsoft.com/office/powerpoint/2010/main" val="14334056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AD615-8129-4965-7C0F-920DDC44C0C3}"/>
              </a:ext>
            </a:extLst>
          </p:cNvPr>
          <p:cNvSpPr>
            <a:spLocks noGrp="1"/>
          </p:cNvSpPr>
          <p:nvPr>
            <p:ph type="title"/>
          </p:nvPr>
        </p:nvSpPr>
        <p:spPr/>
        <p:txBody>
          <a:bodyPr/>
          <a:lstStyle/>
          <a:p>
            <a:r>
              <a:rPr lang="en-US" dirty="0"/>
              <a:t>Management</a:t>
            </a:r>
            <a:endParaRPr lang="en-TZ" dirty="0"/>
          </a:p>
        </p:txBody>
      </p:sp>
      <p:sp>
        <p:nvSpPr>
          <p:cNvPr id="3" name="Content Placeholder 2">
            <a:extLst>
              <a:ext uri="{FF2B5EF4-FFF2-40B4-BE49-F238E27FC236}">
                <a16:creationId xmlns:a16="http://schemas.microsoft.com/office/drawing/2014/main" id="{88EBD54A-9EEB-DF2C-6A2A-9E134746DE89}"/>
              </a:ext>
            </a:extLst>
          </p:cNvPr>
          <p:cNvSpPr>
            <a:spLocks noGrp="1"/>
          </p:cNvSpPr>
          <p:nvPr>
            <p:ph idx="1"/>
          </p:nvPr>
        </p:nvSpPr>
        <p:spPr/>
        <p:txBody>
          <a:bodyPr>
            <a:normAutofit fontScale="85000" lnSpcReduction="20000"/>
          </a:bodyPr>
          <a:lstStyle/>
          <a:p>
            <a:pPr>
              <a:buFont typeface="Wingdings" panose="05000000000000000000" pitchFamily="2" charset="2"/>
              <a:buChar char="Ø"/>
            </a:pPr>
            <a:r>
              <a:rPr lang="en-TZ" b="1" dirty="0"/>
              <a:t>Localized Impetigo (</a:t>
            </a:r>
            <a:r>
              <a:rPr lang="en-TZ" dirty="0"/>
              <a:t>Fewer than 10 lesions and &lt;36 cm</a:t>
            </a:r>
            <a:r>
              <a:rPr lang="en-TZ" baseline="30000" dirty="0"/>
              <a:t>2</a:t>
            </a:r>
            <a:r>
              <a:rPr lang="en-TZ" dirty="0"/>
              <a:t> of involved skin area</a:t>
            </a:r>
            <a:r>
              <a:rPr lang="en-TZ" b="1" dirty="0"/>
              <a:t>)</a:t>
            </a:r>
          </a:p>
          <a:p>
            <a:r>
              <a:rPr lang="en-TZ" b="1" dirty="0"/>
              <a:t>First-line: Topical antibiotics for 5 days</a:t>
            </a:r>
            <a:endParaRPr lang="en-TZ" dirty="0"/>
          </a:p>
          <a:p>
            <a:pPr lvl="1"/>
            <a:r>
              <a:rPr lang="en-TZ" dirty="0"/>
              <a:t>Mupirocin 2% ointment three times daily </a:t>
            </a:r>
          </a:p>
          <a:p>
            <a:pPr lvl="1"/>
            <a:r>
              <a:rPr lang="en-TZ" dirty="0"/>
              <a:t>Retapamulin 1% ointment twice daily </a:t>
            </a:r>
          </a:p>
          <a:p>
            <a:pPr lvl="1"/>
            <a:r>
              <a:rPr lang="en-TZ" dirty="0" err="1"/>
              <a:t>Ozenoxacin</a:t>
            </a:r>
            <a:r>
              <a:rPr lang="en-TZ" dirty="0"/>
              <a:t> (where available) </a:t>
            </a:r>
            <a:endParaRPr lang="en-US" dirty="0"/>
          </a:p>
          <a:p>
            <a:pPr>
              <a:buFont typeface="Wingdings" panose="05000000000000000000" pitchFamily="2" charset="2"/>
              <a:buChar char="Ø"/>
            </a:pPr>
            <a:r>
              <a:rPr lang="en-TZ" b="1" dirty="0"/>
              <a:t>Extensive Disease </a:t>
            </a:r>
            <a:endParaRPr lang="en-US" b="1" dirty="0"/>
          </a:p>
          <a:p>
            <a:r>
              <a:rPr lang="en-TZ" b="1" dirty="0"/>
              <a:t>Oral antibiotics for 7 days</a:t>
            </a:r>
            <a:endParaRPr lang="en-TZ" dirty="0"/>
          </a:p>
          <a:p>
            <a:r>
              <a:rPr lang="en-TZ" b="1" dirty="0"/>
              <a:t>Preferred oral agents</a:t>
            </a:r>
            <a:r>
              <a:rPr lang="en-US" b="1" dirty="0"/>
              <a:t>(</a:t>
            </a:r>
            <a:r>
              <a:rPr lang="en-TZ" i="1" dirty="0"/>
              <a:t>Staphylococcus aureus</a:t>
            </a:r>
            <a:r>
              <a:rPr lang="en-TZ" dirty="0"/>
              <a:t> or </a:t>
            </a:r>
            <a:r>
              <a:rPr lang="en-TZ" i="1" dirty="0"/>
              <a:t>Streptococcus pyogenes</a:t>
            </a:r>
            <a:r>
              <a:rPr lang="en-US" i="1" dirty="0"/>
              <a:t>)</a:t>
            </a:r>
            <a:endParaRPr lang="en-TZ" dirty="0"/>
          </a:p>
          <a:p>
            <a:pPr lvl="1"/>
            <a:r>
              <a:rPr lang="en-TZ" dirty="0"/>
              <a:t>Flucloxacillin </a:t>
            </a:r>
          </a:p>
          <a:p>
            <a:pPr lvl="1"/>
            <a:r>
              <a:rPr lang="en-TZ" dirty="0"/>
              <a:t>Dicloxacillin </a:t>
            </a:r>
            <a:r>
              <a:rPr lang="en-US" dirty="0"/>
              <a:t>500mg q6hrly</a:t>
            </a:r>
            <a:endParaRPr lang="en-TZ" dirty="0"/>
          </a:p>
          <a:p>
            <a:pPr lvl="1"/>
            <a:r>
              <a:rPr lang="en-TZ" dirty="0"/>
              <a:t>Cephalexin </a:t>
            </a:r>
            <a:r>
              <a:rPr lang="en-US" dirty="0"/>
              <a:t>500mg </a:t>
            </a:r>
            <a:r>
              <a:rPr lang="en-US" dirty="0" err="1"/>
              <a:t>qhrly</a:t>
            </a:r>
            <a:endParaRPr lang="en-TZ" dirty="0"/>
          </a:p>
          <a:p>
            <a:r>
              <a:rPr lang="en-TZ" b="1" dirty="0"/>
              <a:t>If penicillin allergy</a:t>
            </a:r>
            <a:endParaRPr lang="en-TZ" dirty="0"/>
          </a:p>
          <a:p>
            <a:pPr lvl="1"/>
            <a:r>
              <a:rPr lang="en-TZ" dirty="0"/>
              <a:t>Clindamycin </a:t>
            </a:r>
            <a:r>
              <a:rPr lang="en-US" dirty="0"/>
              <a:t>450 q8h</a:t>
            </a:r>
            <a:endParaRPr lang="en-TZ" dirty="0"/>
          </a:p>
          <a:p>
            <a:pPr marL="0" indent="0">
              <a:buNone/>
            </a:pPr>
            <a:endParaRPr lang="en-TZ" dirty="0"/>
          </a:p>
          <a:p>
            <a:endParaRPr lang="en-TZ" dirty="0"/>
          </a:p>
        </p:txBody>
      </p:sp>
    </p:spTree>
    <p:extLst>
      <p:ext uri="{BB962C8B-B14F-4D97-AF65-F5344CB8AC3E}">
        <p14:creationId xmlns:p14="http://schemas.microsoft.com/office/powerpoint/2010/main" val="24935207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4270-AEE1-21D2-CE03-C314F674341E}"/>
              </a:ext>
            </a:extLst>
          </p:cNvPr>
          <p:cNvSpPr>
            <a:spLocks noGrp="1"/>
          </p:cNvSpPr>
          <p:nvPr>
            <p:ph type="title"/>
          </p:nvPr>
        </p:nvSpPr>
        <p:spPr/>
        <p:txBody>
          <a:bodyPr/>
          <a:lstStyle/>
          <a:p>
            <a:r>
              <a:rPr lang="en-US" dirty="0"/>
              <a:t>Leprosy</a:t>
            </a:r>
          </a:p>
        </p:txBody>
      </p:sp>
    </p:spTree>
    <p:extLst>
      <p:ext uri="{BB962C8B-B14F-4D97-AF65-F5344CB8AC3E}">
        <p14:creationId xmlns:p14="http://schemas.microsoft.com/office/powerpoint/2010/main" val="16847944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34270-AEE1-21D2-CE03-C314F674341E}"/>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D3987752-2DA8-BB50-7BCF-BAE70CEA0D4D}"/>
              </a:ext>
            </a:extLst>
          </p:cNvPr>
          <p:cNvSpPr>
            <a:spLocks noGrp="1"/>
          </p:cNvSpPr>
          <p:nvPr>
            <p:ph idx="1"/>
          </p:nvPr>
        </p:nvSpPr>
        <p:spPr/>
        <p:txBody>
          <a:bodyPr/>
          <a:lstStyle/>
          <a:p>
            <a:pPr>
              <a:buFont typeface="Arial" panose="020B0604020202020204" pitchFamily="34" charset="0"/>
              <a:buChar char="•"/>
            </a:pPr>
            <a:r>
              <a:rPr lang="en-GB" b="1" dirty="0"/>
              <a:t>Definition:</a:t>
            </a:r>
            <a:r>
              <a:rPr lang="en-GB" dirty="0"/>
              <a:t> A chronic, infectious disease caused by the slow-growing bacterium </a:t>
            </a:r>
            <a:r>
              <a:rPr lang="en-GB" i="1" dirty="0"/>
              <a:t>Mycobacterium leprae</a:t>
            </a:r>
            <a:r>
              <a:rPr lang="en-GB" dirty="0"/>
              <a:t>.</a:t>
            </a:r>
          </a:p>
          <a:p>
            <a:pPr>
              <a:buFont typeface="Arial" panose="020B0604020202020204" pitchFamily="34" charset="0"/>
              <a:buChar char="•"/>
            </a:pPr>
            <a:r>
              <a:rPr lang="en-GB" b="1" dirty="0"/>
              <a:t>Primary Targets:</a:t>
            </a:r>
            <a:r>
              <a:rPr lang="en-GB" dirty="0"/>
              <a:t> Mainly affects the skin, peripheral nerves, mucosal surfaces of the upper respiratory tract, and the eyes.</a:t>
            </a:r>
          </a:p>
          <a:p>
            <a:pPr>
              <a:buFont typeface="Arial" panose="020B0604020202020204" pitchFamily="34" charset="0"/>
              <a:buChar char="•"/>
            </a:pPr>
            <a:r>
              <a:rPr lang="en-GB" b="1" dirty="0"/>
              <a:t>Transmission:</a:t>
            </a:r>
            <a:r>
              <a:rPr lang="en-GB" dirty="0"/>
              <a:t> Spread via droplets from the nose and mouth during close and frequent contact with untreated cases.</a:t>
            </a:r>
          </a:p>
          <a:p>
            <a:pPr>
              <a:buFont typeface="Arial" panose="020B0604020202020204" pitchFamily="34" charset="0"/>
              <a:buChar char="•"/>
            </a:pPr>
            <a:r>
              <a:rPr lang="en-GB" b="1" dirty="0"/>
              <a:t>Spectrum of Disease:</a:t>
            </a:r>
            <a:r>
              <a:rPr lang="en-GB" dirty="0"/>
              <a:t> Manifests differently based on the host's immune response, ranging from localized (Tuberculoid) to generalized (Lepromatous).</a:t>
            </a:r>
          </a:p>
        </p:txBody>
      </p:sp>
    </p:spTree>
    <p:extLst>
      <p:ext uri="{BB962C8B-B14F-4D97-AF65-F5344CB8AC3E}">
        <p14:creationId xmlns:p14="http://schemas.microsoft.com/office/powerpoint/2010/main" val="3968740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33C2D-37E7-41C9-B47C-1DB6CD96C1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81229E-1ACA-CC1C-290B-6A6AF47F60A3}"/>
              </a:ext>
            </a:extLst>
          </p:cNvPr>
          <p:cNvSpPr>
            <a:spLocks noGrp="1"/>
          </p:cNvSpPr>
          <p:nvPr>
            <p:ph idx="1"/>
          </p:nvPr>
        </p:nvSpPr>
        <p:spPr/>
        <p:txBody>
          <a:bodyPr>
            <a:normAutofit lnSpcReduction="10000"/>
          </a:bodyPr>
          <a:lstStyle/>
          <a:p>
            <a:r>
              <a:rPr lang="en-GB" b="1" dirty="0"/>
              <a:t>Cardinal Sign:</a:t>
            </a:r>
            <a:r>
              <a:rPr lang="en-GB" dirty="0"/>
              <a:t> Skin lesions that present with a characteristic </a:t>
            </a:r>
            <a:r>
              <a:rPr lang="en-GB" b="1" dirty="0"/>
              <a:t>loss of sensation</a:t>
            </a:r>
            <a:r>
              <a:rPr lang="en-GB" dirty="0"/>
              <a:t> (hypoesthesia/</a:t>
            </a:r>
            <a:r>
              <a:rPr lang="en-GB" dirty="0" err="1"/>
              <a:t>anesthesia</a:t>
            </a:r>
            <a:r>
              <a:rPr lang="en-GB" dirty="0"/>
              <a:t>).</a:t>
            </a:r>
          </a:p>
          <a:p>
            <a:r>
              <a:rPr lang="en-GB" b="1" dirty="0"/>
              <a:t>Common Presentations:</a:t>
            </a:r>
            <a:endParaRPr lang="en-GB" dirty="0"/>
          </a:p>
          <a:p>
            <a:pPr lvl="1">
              <a:buFont typeface="Courier New" panose="02070309020205020404" pitchFamily="49" charset="0"/>
              <a:buChar char="o"/>
            </a:pPr>
            <a:r>
              <a:rPr lang="en-GB" b="1" dirty="0"/>
              <a:t>Macules or Plaques:</a:t>
            </a:r>
            <a:r>
              <a:rPr lang="en-GB" dirty="0"/>
              <a:t> Flat or raised skin lesions that may be hypopigmented (lighter than surrounding skin) or erythematous (reddish).</a:t>
            </a:r>
          </a:p>
          <a:p>
            <a:pPr lvl="1">
              <a:buFont typeface="Courier New" panose="02070309020205020404" pitchFamily="49" charset="0"/>
              <a:buChar char="o"/>
            </a:pPr>
            <a:r>
              <a:rPr lang="en-GB" b="1" dirty="0"/>
              <a:t>Dryness &amp; Alopecia:</a:t>
            </a:r>
            <a:r>
              <a:rPr lang="en-GB" dirty="0"/>
              <a:t> Affected skin areas often lose hair and ability to sweat due to local nerve damage.</a:t>
            </a:r>
          </a:p>
          <a:p>
            <a:r>
              <a:rPr lang="en-GB" b="1" dirty="0"/>
              <a:t>Spectrum Variations:</a:t>
            </a:r>
            <a:endParaRPr lang="en-GB" dirty="0"/>
          </a:p>
          <a:p>
            <a:pPr lvl="1">
              <a:buFont typeface="Courier New" panose="02070309020205020404" pitchFamily="49" charset="0"/>
              <a:buChar char="o"/>
            </a:pPr>
            <a:r>
              <a:rPr lang="en-GB" b="1" dirty="0"/>
              <a:t>Tuberculoid (Paucibacillary):</a:t>
            </a:r>
            <a:r>
              <a:rPr lang="en-GB" dirty="0"/>
              <a:t> Few, well-defined, </a:t>
            </a:r>
            <a:r>
              <a:rPr lang="en-GB" dirty="0" err="1"/>
              <a:t>anesthetic</a:t>
            </a:r>
            <a:r>
              <a:rPr lang="en-GB" dirty="0"/>
              <a:t> lesions.</a:t>
            </a:r>
          </a:p>
          <a:p>
            <a:pPr lvl="1">
              <a:buFont typeface="Courier New" panose="02070309020205020404" pitchFamily="49" charset="0"/>
              <a:buChar char="o"/>
            </a:pPr>
            <a:r>
              <a:rPr lang="en-GB" b="1" dirty="0"/>
              <a:t>Lepromatous (Multibacillary):</a:t>
            </a:r>
            <a:r>
              <a:rPr lang="en-GB" dirty="0"/>
              <a:t> Multiple, widespread, symmetric nodules or plaques; can lead to facial skin thickening ("leonine facies") in advanced stages.</a:t>
            </a:r>
          </a:p>
        </p:txBody>
      </p:sp>
    </p:spTree>
    <p:extLst>
      <p:ext uri="{BB962C8B-B14F-4D97-AF65-F5344CB8AC3E}">
        <p14:creationId xmlns:p14="http://schemas.microsoft.com/office/powerpoint/2010/main" val="3355210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8D237B2-BF21-3613-0E49-B517E888B51E}"/>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D08F167F-635E-7503-D754-403808C7B41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358900" y="2096294"/>
            <a:ext cx="4140200" cy="3810000"/>
          </a:xfrm>
        </p:spPr>
      </p:pic>
      <p:pic>
        <p:nvPicPr>
          <p:cNvPr id="10" name="Content Placeholder 9">
            <a:extLst>
              <a:ext uri="{FF2B5EF4-FFF2-40B4-BE49-F238E27FC236}">
                <a16:creationId xmlns:a16="http://schemas.microsoft.com/office/drawing/2014/main" id="{D5346835-8645-246A-5F42-69094B17526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302422" y="1825625"/>
            <a:ext cx="4921156" cy="4351338"/>
          </a:xfrm>
        </p:spPr>
      </p:pic>
    </p:spTree>
    <p:extLst>
      <p:ext uri="{BB962C8B-B14F-4D97-AF65-F5344CB8AC3E}">
        <p14:creationId xmlns:p14="http://schemas.microsoft.com/office/powerpoint/2010/main" val="19912777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54D5D80-33CC-AD36-D2F9-38B5DA5A5D0F}"/>
              </a:ext>
            </a:extLst>
          </p:cNvPr>
          <p:cNvSpPr>
            <a:spLocks noGrp="1"/>
          </p:cNvSpPr>
          <p:nvPr>
            <p:ph type="title"/>
          </p:nvPr>
        </p:nvSpPr>
        <p:spPr/>
        <p:txBody>
          <a:bodyPr/>
          <a:lstStyle/>
          <a:p>
            <a:endParaRPr lang="en-US"/>
          </a:p>
        </p:txBody>
      </p:sp>
      <p:pic>
        <p:nvPicPr>
          <p:cNvPr id="8" name="Content Placeholder 7">
            <a:extLst>
              <a:ext uri="{FF2B5EF4-FFF2-40B4-BE49-F238E27FC236}">
                <a16:creationId xmlns:a16="http://schemas.microsoft.com/office/drawing/2014/main" id="{0E530D9C-B49A-4D9D-4E47-11DC899511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0727" y="862149"/>
            <a:ext cx="5782320" cy="5314814"/>
          </a:xfrm>
        </p:spPr>
      </p:pic>
    </p:spTree>
    <p:extLst>
      <p:ext uri="{BB962C8B-B14F-4D97-AF65-F5344CB8AC3E}">
        <p14:creationId xmlns:p14="http://schemas.microsoft.com/office/powerpoint/2010/main" val="40524250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03A8D67-7BF8-F3DB-F1E8-2C08155667BF}"/>
              </a:ext>
            </a:extLst>
          </p:cNvPr>
          <p:cNvSpPr>
            <a:spLocks noGrp="1"/>
          </p:cNvSpPr>
          <p:nvPr>
            <p:ph type="title"/>
          </p:nvPr>
        </p:nvSpPr>
        <p:spPr/>
        <p:txBody>
          <a:bodyPr/>
          <a:lstStyle/>
          <a:p>
            <a:r>
              <a:rPr lang="en-US" dirty="0"/>
              <a:t>Systemic manifestations</a:t>
            </a:r>
          </a:p>
        </p:txBody>
      </p:sp>
    </p:spTree>
    <p:extLst>
      <p:ext uri="{BB962C8B-B14F-4D97-AF65-F5344CB8AC3E}">
        <p14:creationId xmlns:p14="http://schemas.microsoft.com/office/powerpoint/2010/main" val="9503078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85A78F0-1E57-337E-A736-348901EBA75E}"/>
              </a:ext>
            </a:extLst>
          </p:cNvPr>
          <p:cNvSpPr>
            <a:spLocks noGrp="1"/>
          </p:cNvSpPr>
          <p:nvPr>
            <p:ph type="title"/>
          </p:nvPr>
        </p:nvSpPr>
        <p:spPr/>
        <p:txBody>
          <a:bodyPr/>
          <a:lstStyle/>
          <a:p>
            <a:r>
              <a:rPr lang="en-GB" dirty="0"/>
              <a:t>Peripheral Nerve Damage &amp; Physical Signs</a:t>
            </a:r>
            <a:endParaRPr lang="en-US" dirty="0"/>
          </a:p>
        </p:txBody>
      </p:sp>
      <p:sp>
        <p:nvSpPr>
          <p:cNvPr id="5" name="Content Placeholder 4">
            <a:extLst>
              <a:ext uri="{FF2B5EF4-FFF2-40B4-BE49-F238E27FC236}">
                <a16:creationId xmlns:a16="http://schemas.microsoft.com/office/drawing/2014/main" id="{36B1E72A-7E77-459C-5029-C81893EA667D}"/>
              </a:ext>
            </a:extLst>
          </p:cNvPr>
          <p:cNvSpPr>
            <a:spLocks noGrp="1"/>
          </p:cNvSpPr>
          <p:nvPr>
            <p:ph idx="1"/>
          </p:nvPr>
        </p:nvSpPr>
        <p:spPr/>
        <p:txBody>
          <a:bodyPr/>
          <a:lstStyle/>
          <a:p>
            <a:r>
              <a:rPr lang="en-GB" b="1" dirty="0"/>
              <a:t>First Target of Infection:</a:t>
            </a:r>
            <a:r>
              <a:rPr lang="en-GB" dirty="0"/>
              <a:t> </a:t>
            </a:r>
            <a:r>
              <a:rPr lang="en-GB" i="1" dirty="0"/>
              <a:t>M. leprae</a:t>
            </a:r>
            <a:r>
              <a:rPr lang="en-GB" dirty="0"/>
              <a:t> attacks peripheral nerves early, often before skin lesions appear.</a:t>
            </a:r>
          </a:p>
          <a:p>
            <a:pPr>
              <a:buFont typeface="Arial" panose="020B0604020202020204" pitchFamily="34" charset="0"/>
              <a:buChar char="•"/>
            </a:pPr>
            <a:r>
              <a:rPr lang="en-GB" b="1" dirty="0"/>
              <a:t>Nerve Inflammation:</a:t>
            </a:r>
            <a:r>
              <a:rPr lang="en-GB" dirty="0"/>
              <a:t> Immune cell infiltration causes swelling and inflammation.</a:t>
            </a:r>
          </a:p>
          <a:p>
            <a:pPr>
              <a:buFont typeface="Arial" panose="020B0604020202020204" pitchFamily="34" charset="0"/>
              <a:buChar char="•"/>
            </a:pPr>
            <a:r>
              <a:rPr lang="en-GB" b="1" dirty="0"/>
              <a:t>Palpation Findings:</a:t>
            </a:r>
            <a:r>
              <a:rPr lang="en-GB" dirty="0"/>
              <a:t> Highly trained professionals look for key physical changes:</a:t>
            </a:r>
          </a:p>
          <a:p>
            <a:pPr marL="742950" lvl="1" indent="-285750">
              <a:buFont typeface="Arial" panose="020B0604020202020204" pitchFamily="34" charset="0"/>
              <a:buChar char="•"/>
            </a:pPr>
            <a:r>
              <a:rPr lang="en-GB" b="1" dirty="0"/>
              <a:t>Thickening:</a:t>
            </a:r>
            <a:r>
              <a:rPr lang="en-GB" dirty="0"/>
              <a:t> Notable enlargement of nerve trunks.</a:t>
            </a:r>
          </a:p>
          <a:p>
            <a:pPr marL="742950" lvl="1" indent="-285750">
              <a:buFont typeface="Arial" panose="020B0604020202020204" pitchFamily="34" charset="0"/>
              <a:buChar char="•"/>
            </a:pPr>
            <a:r>
              <a:rPr lang="en-GB" b="1" dirty="0"/>
              <a:t>Tenderness:</a:t>
            </a:r>
            <a:r>
              <a:rPr lang="en-GB" dirty="0"/>
              <a:t> Physical pain or soreness during examination.</a:t>
            </a:r>
          </a:p>
          <a:p>
            <a:pPr marL="742950" lvl="1" indent="-285750">
              <a:buFont typeface="Arial" panose="020B0604020202020204" pitchFamily="34" charset="0"/>
              <a:buChar char="•"/>
            </a:pPr>
            <a:r>
              <a:rPr lang="en-GB" b="1" dirty="0"/>
              <a:t>Fibrosis:</a:t>
            </a:r>
            <a:r>
              <a:rPr lang="en-GB" dirty="0"/>
              <a:t> Nerves lose their soft, normal texture and become stiff/fibrotic.</a:t>
            </a:r>
          </a:p>
          <a:p>
            <a:endParaRPr lang="en-US" dirty="0"/>
          </a:p>
        </p:txBody>
      </p:sp>
    </p:spTree>
    <p:extLst>
      <p:ext uri="{BB962C8B-B14F-4D97-AF65-F5344CB8AC3E}">
        <p14:creationId xmlns:p14="http://schemas.microsoft.com/office/powerpoint/2010/main" val="3167421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D048C-5194-9161-BBE0-66E4115683A0}"/>
              </a:ext>
            </a:extLst>
          </p:cNvPr>
          <p:cNvSpPr>
            <a:spLocks noGrp="1"/>
          </p:cNvSpPr>
          <p:nvPr>
            <p:ph type="title"/>
          </p:nvPr>
        </p:nvSpPr>
        <p:spPr/>
        <p:txBody>
          <a:bodyPr/>
          <a:lstStyle/>
          <a:p>
            <a:r>
              <a:rPr lang="en-GB" dirty="0"/>
              <a:t>Functional Loss &amp; Facial Complications</a:t>
            </a:r>
            <a:endParaRPr lang="en-US" dirty="0"/>
          </a:p>
        </p:txBody>
      </p:sp>
      <p:sp>
        <p:nvSpPr>
          <p:cNvPr id="3" name="Content Placeholder 2">
            <a:extLst>
              <a:ext uri="{FF2B5EF4-FFF2-40B4-BE49-F238E27FC236}">
                <a16:creationId xmlns:a16="http://schemas.microsoft.com/office/drawing/2014/main" id="{4979714E-8E56-0534-0B7F-C72729DE32E9}"/>
              </a:ext>
            </a:extLst>
          </p:cNvPr>
          <p:cNvSpPr>
            <a:spLocks noGrp="1"/>
          </p:cNvSpPr>
          <p:nvPr>
            <p:ph idx="1"/>
          </p:nvPr>
        </p:nvSpPr>
        <p:spPr/>
        <p:txBody>
          <a:bodyPr>
            <a:normAutofit/>
          </a:bodyPr>
          <a:lstStyle/>
          <a:p>
            <a:r>
              <a:rPr lang="en-GB" b="1" dirty="0"/>
              <a:t>Three Key Functional Deficits:</a:t>
            </a:r>
            <a:endParaRPr lang="en-GB" dirty="0"/>
          </a:p>
          <a:p>
            <a:pPr lvl="1">
              <a:buFont typeface="+mj-lt"/>
              <a:buAutoNum type="arabicPeriod"/>
            </a:pPr>
            <a:r>
              <a:rPr lang="en-GB" b="1" dirty="0"/>
              <a:t>Sensory:</a:t>
            </a:r>
            <a:r>
              <a:rPr lang="en-GB" dirty="0"/>
              <a:t> Hypoesthesia or total loss of sensation (</a:t>
            </a:r>
            <a:r>
              <a:rPr lang="en-GB" dirty="0" err="1"/>
              <a:t>anesthesia</a:t>
            </a:r>
            <a:r>
              <a:rPr lang="en-GB" dirty="0"/>
              <a:t>) in the nerve's territory.</a:t>
            </a:r>
          </a:p>
          <a:p>
            <a:pPr lvl="1">
              <a:buFont typeface="+mj-lt"/>
              <a:buAutoNum type="arabicPeriod"/>
            </a:pPr>
            <a:r>
              <a:rPr lang="en-GB" b="1" dirty="0"/>
              <a:t>Motor:</a:t>
            </a:r>
            <a:r>
              <a:rPr lang="en-GB" dirty="0"/>
              <a:t> Muscle weakness and wasting (e.g., interosseous muscle hypotrophy).</a:t>
            </a:r>
          </a:p>
          <a:p>
            <a:pPr lvl="1">
              <a:buFont typeface="+mj-lt"/>
              <a:buAutoNum type="arabicPeriod"/>
            </a:pPr>
            <a:r>
              <a:rPr lang="en-GB" b="1" dirty="0"/>
              <a:t>Autonomic:</a:t>
            </a:r>
            <a:r>
              <a:rPr lang="en-GB" dirty="0"/>
              <a:t> Deficit in skin sweating.</a:t>
            </a:r>
          </a:p>
          <a:p>
            <a:pPr lvl="2">
              <a:buFont typeface="Courier New" panose="02070309020205020404" pitchFamily="49" charset="0"/>
              <a:buChar char="o"/>
            </a:pPr>
            <a:r>
              <a:rPr lang="en-GB" b="1" dirty="0"/>
              <a:t>Facial &amp; Trigeminal Nerve Damage:</a:t>
            </a:r>
            <a:endParaRPr lang="en-GB" dirty="0"/>
          </a:p>
          <a:p>
            <a:pPr lvl="2">
              <a:buFont typeface="Courier New" panose="02070309020205020404" pitchFamily="49" charset="0"/>
              <a:buChar char="o"/>
            </a:pPr>
            <a:r>
              <a:rPr lang="en-GB" dirty="0"/>
              <a:t>Loss of facial sensation, including corneal </a:t>
            </a:r>
            <a:r>
              <a:rPr lang="en-GB" dirty="0" err="1"/>
              <a:t>anesthesia</a:t>
            </a:r>
            <a:r>
              <a:rPr lang="en-GB" dirty="0"/>
              <a:t>.</a:t>
            </a:r>
          </a:p>
          <a:p>
            <a:pPr lvl="2">
              <a:buFont typeface="Courier New" panose="02070309020205020404" pitchFamily="49" charset="0"/>
              <a:buChar char="o"/>
            </a:pPr>
            <a:r>
              <a:rPr lang="en-GB" b="1" dirty="0"/>
              <a:t>Lagophthalmos:</a:t>
            </a:r>
            <a:r>
              <a:rPr lang="en-GB" dirty="0"/>
              <a:t> Inability to close the eyelids due to palpebral muscle wasting.</a:t>
            </a:r>
          </a:p>
          <a:p>
            <a:pPr lvl="2">
              <a:buFont typeface="Courier New" panose="02070309020205020404" pitchFamily="49" charset="0"/>
              <a:buChar char="o"/>
            </a:pPr>
            <a:r>
              <a:rPr lang="en-GB" b="1" dirty="0"/>
              <a:t>Primary Neural Leprosy:</a:t>
            </a:r>
            <a:r>
              <a:rPr lang="en-GB" dirty="0"/>
              <a:t> Up to 17% of patients present with nerve deficits and zero skin lesions.</a:t>
            </a:r>
          </a:p>
          <a:p>
            <a:endParaRPr lang="en-US" dirty="0"/>
          </a:p>
        </p:txBody>
      </p:sp>
    </p:spTree>
    <p:extLst>
      <p:ext uri="{BB962C8B-B14F-4D97-AF65-F5344CB8AC3E}">
        <p14:creationId xmlns:p14="http://schemas.microsoft.com/office/powerpoint/2010/main" val="2965739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62B4224-BED1-7161-D8C0-78C0232852C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67396" y="1566446"/>
            <a:ext cx="5772035" cy="4638875"/>
          </a:xfrm>
        </p:spPr>
      </p:pic>
    </p:spTree>
    <p:extLst>
      <p:ext uri="{BB962C8B-B14F-4D97-AF65-F5344CB8AC3E}">
        <p14:creationId xmlns:p14="http://schemas.microsoft.com/office/powerpoint/2010/main" val="34540994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E655B-B88F-AA82-EA24-4323299072CD}"/>
              </a:ext>
            </a:extLst>
          </p:cNvPr>
          <p:cNvSpPr>
            <a:spLocks noGrp="1"/>
          </p:cNvSpPr>
          <p:nvPr>
            <p:ph type="title"/>
          </p:nvPr>
        </p:nvSpPr>
        <p:spPr/>
        <p:txBody>
          <a:bodyPr/>
          <a:lstStyle/>
          <a:p>
            <a:r>
              <a:rPr lang="en-GB" dirty="0"/>
              <a:t>Endocrine &amp; Hormonal Manifestations</a:t>
            </a:r>
            <a:endParaRPr lang="en-US" dirty="0"/>
          </a:p>
        </p:txBody>
      </p:sp>
      <p:sp>
        <p:nvSpPr>
          <p:cNvPr id="3" name="Content Placeholder 2">
            <a:extLst>
              <a:ext uri="{FF2B5EF4-FFF2-40B4-BE49-F238E27FC236}">
                <a16:creationId xmlns:a16="http://schemas.microsoft.com/office/drawing/2014/main" id="{B11BB6D1-B3EE-28EC-E267-588DEDA3299C}"/>
              </a:ext>
            </a:extLst>
          </p:cNvPr>
          <p:cNvSpPr>
            <a:spLocks noGrp="1"/>
          </p:cNvSpPr>
          <p:nvPr>
            <p:ph idx="1"/>
          </p:nvPr>
        </p:nvSpPr>
        <p:spPr/>
        <p:txBody>
          <a:bodyPr>
            <a:normAutofit/>
          </a:bodyPr>
          <a:lstStyle/>
          <a:p>
            <a:r>
              <a:rPr lang="en-GB" b="1" dirty="0">
                <a:effectLst/>
                <a:latin typeface="Google Sans Text"/>
              </a:rPr>
              <a:t>High Prevalence:</a:t>
            </a:r>
            <a:r>
              <a:rPr lang="en-GB" dirty="0">
                <a:effectLst/>
                <a:latin typeface="Google Sans Text"/>
              </a:rPr>
              <a:t> Affects up to 25% of patients, representing the third most prominent feature after nerve/skin lesions.</a:t>
            </a:r>
          </a:p>
          <a:p>
            <a:r>
              <a:rPr lang="en-GB" b="1" dirty="0">
                <a:effectLst/>
                <a:latin typeface="Google Sans Text"/>
              </a:rPr>
              <a:t>Systemic Complications:</a:t>
            </a:r>
            <a:endParaRPr lang="en-GB" dirty="0">
              <a:effectLst/>
              <a:latin typeface="Google Sans Text"/>
            </a:endParaRPr>
          </a:p>
          <a:p>
            <a:pPr lvl="1">
              <a:buFont typeface="Courier New" panose="02070309020205020404" pitchFamily="49" charset="0"/>
              <a:buChar char="o"/>
            </a:pPr>
            <a:r>
              <a:rPr lang="en-GB" dirty="0">
                <a:effectLst/>
                <a:latin typeface="Google Sans Text"/>
              </a:rPr>
              <a:t>Hypothyroidism &amp; Euthyroid sick syndrome</a:t>
            </a:r>
          </a:p>
          <a:p>
            <a:pPr lvl="1">
              <a:buFont typeface="Courier New" panose="02070309020205020404" pitchFamily="49" charset="0"/>
              <a:buChar char="o"/>
            </a:pPr>
            <a:r>
              <a:rPr lang="en-GB" dirty="0">
                <a:effectLst/>
                <a:latin typeface="Google Sans Text"/>
              </a:rPr>
              <a:t>Osteoporosis</a:t>
            </a:r>
          </a:p>
          <a:p>
            <a:r>
              <a:rPr lang="en-GB" b="1" dirty="0">
                <a:effectLst/>
                <a:latin typeface="Google Sans Text"/>
              </a:rPr>
              <a:t>Reproductive Impacts:</a:t>
            </a:r>
            <a:r>
              <a:rPr lang="en-GB" dirty="0">
                <a:effectLst/>
                <a:latin typeface="Google Sans Text"/>
              </a:rPr>
              <a:t> Hypogonadism and sterility.</a:t>
            </a:r>
          </a:p>
          <a:p>
            <a:r>
              <a:rPr lang="en-GB" b="1" dirty="0">
                <a:effectLst/>
                <a:latin typeface="Google Sans Text"/>
              </a:rPr>
              <a:t>Neuro-Immune-Endocrine Link:</a:t>
            </a:r>
            <a:r>
              <a:rPr lang="en-GB" dirty="0">
                <a:effectLst/>
                <a:latin typeface="Google Sans Text"/>
              </a:rPr>
              <a:t> Pro-inflammatory cytokines (IL-6, TNF-alpha) drive hormonal imbalances:</a:t>
            </a:r>
          </a:p>
          <a:p>
            <a:pPr lvl="1">
              <a:buFont typeface="Courier New" panose="02070309020205020404" pitchFamily="49" charset="0"/>
              <a:buChar char="o"/>
            </a:pPr>
            <a:r>
              <a:rPr lang="en-GB" dirty="0">
                <a:effectLst/>
                <a:latin typeface="Google Sans Text"/>
              </a:rPr>
              <a:t>Testosterone and DHEAS levels drop.</a:t>
            </a:r>
          </a:p>
          <a:p>
            <a:pPr lvl="1">
              <a:buFont typeface="Courier New" panose="02070309020205020404" pitchFamily="49" charset="0"/>
              <a:buChar char="o"/>
            </a:pPr>
            <a:r>
              <a:rPr lang="en-GB" dirty="0">
                <a:effectLst/>
                <a:latin typeface="Google Sans Text"/>
              </a:rPr>
              <a:t>Gonadotropins (LH, FSH) increase.</a:t>
            </a:r>
          </a:p>
          <a:p>
            <a:endParaRPr lang="en-US" dirty="0"/>
          </a:p>
        </p:txBody>
      </p:sp>
    </p:spTree>
    <p:extLst>
      <p:ext uri="{BB962C8B-B14F-4D97-AF65-F5344CB8AC3E}">
        <p14:creationId xmlns:p14="http://schemas.microsoft.com/office/powerpoint/2010/main" val="39932328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090FB-8D77-717B-6625-29C02E4B9B1F}"/>
              </a:ext>
            </a:extLst>
          </p:cNvPr>
          <p:cNvSpPr>
            <a:spLocks noGrp="1"/>
          </p:cNvSpPr>
          <p:nvPr>
            <p:ph type="title"/>
          </p:nvPr>
        </p:nvSpPr>
        <p:spPr/>
        <p:txBody>
          <a:bodyPr/>
          <a:lstStyle/>
          <a:p>
            <a:r>
              <a:rPr lang="en-US" dirty="0"/>
              <a:t>Investigations</a:t>
            </a:r>
          </a:p>
        </p:txBody>
      </p:sp>
      <p:sp>
        <p:nvSpPr>
          <p:cNvPr id="3" name="Content Placeholder 2">
            <a:extLst>
              <a:ext uri="{FF2B5EF4-FFF2-40B4-BE49-F238E27FC236}">
                <a16:creationId xmlns:a16="http://schemas.microsoft.com/office/drawing/2014/main" id="{5F3B8F41-B262-421B-1209-41BEE6C8DE3B}"/>
              </a:ext>
            </a:extLst>
          </p:cNvPr>
          <p:cNvSpPr>
            <a:spLocks noGrp="1"/>
          </p:cNvSpPr>
          <p:nvPr>
            <p:ph idx="1"/>
          </p:nvPr>
        </p:nvSpPr>
        <p:spPr/>
        <p:txBody>
          <a:bodyPr/>
          <a:lstStyle/>
          <a:p>
            <a:r>
              <a:rPr lang="en-GB" b="1" dirty="0">
                <a:effectLst/>
                <a:latin typeface="Google Sans Text"/>
              </a:rPr>
              <a:t>Electrophysiology (Nerve &amp; Muscle Function)</a:t>
            </a:r>
            <a:endParaRPr lang="en-GB" b="1" dirty="0">
              <a:effectLst/>
              <a:latin typeface="Google Sans"/>
            </a:endParaRPr>
          </a:p>
          <a:p>
            <a:pPr lvl="1">
              <a:buFont typeface="Courier New" panose="02070309020205020404" pitchFamily="49" charset="0"/>
              <a:buChar char="o"/>
            </a:pPr>
            <a:r>
              <a:rPr lang="en-GB" b="1" dirty="0">
                <a:effectLst/>
                <a:latin typeface="Google Sans Text"/>
              </a:rPr>
              <a:t>Nerve Conduction Studies (NCS)</a:t>
            </a:r>
          </a:p>
          <a:p>
            <a:pPr lvl="1">
              <a:buFont typeface="Courier New" panose="02070309020205020404" pitchFamily="49" charset="0"/>
              <a:buChar char="o"/>
            </a:pPr>
            <a:r>
              <a:rPr lang="en-GB" b="1" dirty="0">
                <a:effectLst/>
                <a:latin typeface="Google Sans Text"/>
              </a:rPr>
              <a:t>Electromyography (EMG)</a:t>
            </a:r>
          </a:p>
          <a:p>
            <a:r>
              <a:rPr lang="en-GB" b="1" dirty="0"/>
              <a:t>Peripheral Nerve Biopsy:</a:t>
            </a:r>
            <a:r>
              <a:rPr lang="en-GB" dirty="0"/>
              <a:t> The gold standard for confirming primary neural leprosy.</a:t>
            </a:r>
            <a:endParaRPr lang="en-GB" b="1" dirty="0">
              <a:latin typeface="Google Sans Text"/>
            </a:endParaRPr>
          </a:p>
          <a:p>
            <a:r>
              <a:rPr lang="en-GB" b="1" dirty="0">
                <a:latin typeface="Google Sans Text"/>
              </a:rPr>
              <a:t>Hormonal Panels</a:t>
            </a:r>
            <a:endParaRPr lang="en-US" dirty="0"/>
          </a:p>
        </p:txBody>
      </p:sp>
    </p:spTree>
    <p:extLst>
      <p:ext uri="{BB962C8B-B14F-4D97-AF65-F5344CB8AC3E}">
        <p14:creationId xmlns:p14="http://schemas.microsoft.com/office/powerpoint/2010/main" val="28713434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B7F5A-5CF7-8769-1E27-B0CFBAC393D7}"/>
              </a:ext>
            </a:extLst>
          </p:cNvPr>
          <p:cNvSpPr>
            <a:spLocks noGrp="1"/>
          </p:cNvSpPr>
          <p:nvPr>
            <p:ph type="title"/>
          </p:nvPr>
        </p:nvSpPr>
        <p:spPr/>
        <p:txBody>
          <a:bodyPr/>
          <a:lstStyle/>
          <a:p>
            <a:r>
              <a:rPr lang="en-US" dirty="0"/>
              <a:t>Treatment</a:t>
            </a:r>
          </a:p>
        </p:txBody>
      </p:sp>
      <p:pic>
        <p:nvPicPr>
          <p:cNvPr id="5" name="Content Placeholder 4">
            <a:extLst>
              <a:ext uri="{FF2B5EF4-FFF2-40B4-BE49-F238E27FC236}">
                <a16:creationId xmlns:a16="http://schemas.microsoft.com/office/drawing/2014/main" id="{B21F88BC-BB72-5492-9245-A297E8FC926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51669" y="1921267"/>
            <a:ext cx="8611481" cy="3775477"/>
          </a:xfrm>
        </p:spPr>
      </p:pic>
    </p:spTree>
    <p:extLst>
      <p:ext uri="{BB962C8B-B14F-4D97-AF65-F5344CB8AC3E}">
        <p14:creationId xmlns:p14="http://schemas.microsoft.com/office/powerpoint/2010/main" val="3417434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8F712-D460-8635-E845-52139645626B}"/>
              </a:ext>
            </a:extLst>
          </p:cNvPr>
          <p:cNvSpPr>
            <a:spLocks noGrp="1"/>
          </p:cNvSpPr>
          <p:nvPr>
            <p:ph type="title"/>
          </p:nvPr>
        </p:nvSpPr>
        <p:spPr/>
        <p:txBody>
          <a:bodyPr/>
          <a:lstStyle/>
          <a:p>
            <a:r>
              <a:rPr lang="en-US" dirty="0"/>
              <a:t>Adjuvants</a:t>
            </a:r>
          </a:p>
        </p:txBody>
      </p:sp>
      <p:sp>
        <p:nvSpPr>
          <p:cNvPr id="3" name="Content Placeholder 2">
            <a:extLst>
              <a:ext uri="{FF2B5EF4-FFF2-40B4-BE49-F238E27FC236}">
                <a16:creationId xmlns:a16="http://schemas.microsoft.com/office/drawing/2014/main" id="{749CEDB1-ACAC-7DC9-735A-73B914FD136C}"/>
              </a:ext>
            </a:extLst>
          </p:cNvPr>
          <p:cNvSpPr>
            <a:spLocks noGrp="1"/>
          </p:cNvSpPr>
          <p:nvPr>
            <p:ph idx="1"/>
          </p:nvPr>
        </p:nvSpPr>
        <p:spPr/>
        <p:txBody>
          <a:bodyPr/>
          <a:lstStyle/>
          <a:p>
            <a:r>
              <a:rPr lang="en-US" dirty="0"/>
              <a:t>Systemic corticosteroids</a:t>
            </a:r>
          </a:p>
          <a:p>
            <a:pPr lvl="1"/>
            <a:r>
              <a:rPr lang="en-GB" dirty="0"/>
              <a:t>acute nerve inflammation (neuritis)</a:t>
            </a:r>
            <a:endParaRPr lang="en-US" dirty="0"/>
          </a:p>
          <a:p>
            <a:r>
              <a:rPr lang="en-US" dirty="0"/>
              <a:t>TCA or anti </a:t>
            </a:r>
            <a:r>
              <a:rPr lang="en-US" dirty="0" err="1"/>
              <a:t>convulsants</a:t>
            </a:r>
            <a:endParaRPr lang="en-US" dirty="0"/>
          </a:p>
          <a:p>
            <a:pPr lvl="1"/>
            <a:r>
              <a:rPr lang="en-US" dirty="0"/>
              <a:t>Chronic neuritis</a:t>
            </a:r>
          </a:p>
        </p:txBody>
      </p:sp>
    </p:spTree>
    <p:extLst>
      <p:ext uri="{BB962C8B-B14F-4D97-AF65-F5344CB8AC3E}">
        <p14:creationId xmlns:p14="http://schemas.microsoft.com/office/powerpoint/2010/main" val="12190062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055466-8EBC-25A6-1583-650E243112D9}"/>
              </a:ext>
            </a:extLst>
          </p:cNvPr>
          <p:cNvSpPr>
            <a:spLocks noGrp="1"/>
          </p:cNvSpPr>
          <p:nvPr>
            <p:ph type="title"/>
          </p:nvPr>
        </p:nvSpPr>
        <p:spPr/>
        <p:txBody>
          <a:bodyPr/>
          <a:lstStyle/>
          <a:p>
            <a:r>
              <a:rPr lang="en-US" dirty="0"/>
              <a:t>Syphilis</a:t>
            </a:r>
          </a:p>
        </p:txBody>
      </p:sp>
      <p:sp>
        <p:nvSpPr>
          <p:cNvPr id="5" name="Text Placeholder 4">
            <a:extLst>
              <a:ext uri="{FF2B5EF4-FFF2-40B4-BE49-F238E27FC236}">
                <a16:creationId xmlns:a16="http://schemas.microsoft.com/office/drawing/2014/main" id="{19584EB3-04A6-5CAD-D40C-7993D3AB0FF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63817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B6B8605-A9D5-CAAD-A5E4-B2DE07598590}"/>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5A0F4B87-0641-3583-CB87-441E6401C154}"/>
              </a:ext>
            </a:extLst>
          </p:cNvPr>
          <p:cNvSpPr>
            <a:spLocks noGrp="1"/>
          </p:cNvSpPr>
          <p:nvPr>
            <p:ph idx="1"/>
          </p:nvPr>
        </p:nvSpPr>
        <p:spPr/>
        <p:txBody>
          <a:bodyPr>
            <a:normAutofit fontScale="85000" lnSpcReduction="10000"/>
          </a:bodyPr>
          <a:lstStyle/>
          <a:p>
            <a:r>
              <a:rPr lang="en-GB" b="1" dirty="0"/>
              <a:t>Primary Stage (Chancre):</a:t>
            </a:r>
            <a:r>
              <a:rPr lang="en-GB" dirty="0"/>
              <a:t> A single, painless, indurated ulcer at the site of inoculation (genital, perianal, or oral) that resolves spontaneously in 3 to 6 weeks.</a:t>
            </a:r>
          </a:p>
          <a:p>
            <a:r>
              <a:rPr lang="en-GB" b="1" dirty="0"/>
              <a:t>Secondary Stage (Generalized Rash):</a:t>
            </a:r>
            <a:r>
              <a:rPr lang="en-GB" dirty="0"/>
              <a:t> A widespread, symmetric maculopapular eruption that characteristically involves the </a:t>
            </a:r>
            <a:r>
              <a:rPr lang="en-GB" b="1" dirty="0"/>
              <a:t>palms and soles</a:t>
            </a:r>
            <a:r>
              <a:rPr lang="en-GB" dirty="0"/>
              <a:t>, typically non-pruritic.</a:t>
            </a:r>
          </a:p>
          <a:p>
            <a:r>
              <a:rPr lang="en-GB" b="1" dirty="0"/>
              <a:t>Mucocutaneous Features (Secondary):</a:t>
            </a:r>
            <a:endParaRPr lang="en-GB" dirty="0"/>
          </a:p>
          <a:p>
            <a:pPr lvl="1">
              <a:buFont typeface="Courier New" panose="02070309020205020404" pitchFamily="49" charset="0"/>
              <a:buChar char="o"/>
            </a:pPr>
            <a:r>
              <a:rPr lang="en-GB" i="1" dirty="0"/>
              <a:t>Condyloma Lata:</a:t>
            </a:r>
            <a:r>
              <a:rPr lang="en-GB" dirty="0"/>
              <a:t> Highly infectious, moist, flat, </a:t>
            </a:r>
            <a:r>
              <a:rPr lang="en-GB" dirty="0" err="1"/>
              <a:t>gray</a:t>
            </a:r>
            <a:r>
              <a:rPr lang="en-GB" dirty="0"/>
              <a:t>-white papules in intertriginous or mucosal areas.</a:t>
            </a:r>
          </a:p>
          <a:p>
            <a:pPr lvl="1">
              <a:buFont typeface="Courier New" panose="02070309020205020404" pitchFamily="49" charset="0"/>
              <a:buChar char="o"/>
            </a:pPr>
            <a:r>
              <a:rPr lang="en-GB" i="1" dirty="0"/>
              <a:t>Mucous Patches:</a:t>
            </a:r>
            <a:r>
              <a:rPr lang="en-GB" dirty="0"/>
              <a:t> Shallow, painless erosions on oral or genital mucous membranes.</a:t>
            </a:r>
          </a:p>
          <a:p>
            <a:pPr lvl="1">
              <a:buFont typeface="Courier New" panose="02070309020205020404" pitchFamily="49" charset="0"/>
              <a:buChar char="o"/>
            </a:pPr>
            <a:r>
              <a:rPr lang="en-GB" i="1" dirty="0"/>
              <a:t>Alopecia:</a:t>
            </a:r>
            <a:r>
              <a:rPr lang="en-GB" dirty="0"/>
              <a:t> Patchy, "moth-eaten" hair loss of the scalp, eyebrows, or beard.</a:t>
            </a:r>
          </a:p>
          <a:p>
            <a:r>
              <a:rPr lang="en-GB" b="1" dirty="0"/>
              <a:t>Tertiary Stage (</a:t>
            </a:r>
            <a:r>
              <a:rPr lang="en-GB" b="1" dirty="0" err="1"/>
              <a:t>Gummas</a:t>
            </a:r>
            <a:r>
              <a:rPr lang="en-GB" b="1" dirty="0"/>
              <a:t>):</a:t>
            </a:r>
            <a:r>
              <a:rPr lang="en-GB" dirty="0"/>
              <a:t> Chronic, destructive granulomatous lesions that manifest as deeply ulcerated, necrotizing plaques on the skin and subcutaneous tissues.</a:t>
            </a:r>
          </a:p>
          <a:p>
            <a:endParaRPr lang="en-US" dirty="0"/>
          </a:p>
        </p:txBody>
      </p:sp>
    </p:spTree>
    <p:extLst>
      <p:ext uri="{BB962C8B-B14F-4D97-AF65-F5344CB8AC3E}">
        <p14:creationId xmlns:p14="http://schemas.microsoft.com/office/powerpoint/2010/main" val="128592203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B8ED8-2925-3DA6-4C49-794AB91D9815}"/>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A6477692-7D48-7502-6F21-A8963226B1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9580" y="1825625"/>
            <a:ext cx="9792839" cy="4351338"/>
          </a:xfrm>
        </p:spPr>
      </p:pic>
    </p:spTree>
    <p:extLst>
      <p:ext uri="{BB962C8B-B14F-4D97-AF65-F5344CB8AC3E}">
        <p14:creationId xmlns:p14="http://schemas.microsoft.com/office/powerpoint/2010/main" val="1574086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0D0BE-EE00-2562-5CB0-2086BC0BCDE6}"/>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9FFFBFD-AEA4-B853-63AB-982EACA3E6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27103" y="1825625"/>
            <a:ext cx="5737793" cy="4351338"/>
          </a:xfrm>
        </p:spPr>
      </p:pic>
    </p:spTree>
    <p:extLst>
      <p:ext uri="{BB962C8B-B14F-4D97-AF65-F5344CB8AC3E}">
        <p14:creationId xmlns:p14="http://schemas.microsoft.com/office/powerpoint/2010/main" val="39133924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4B0D7B-BB3A-A5EC-25A7-4903B5F71B5C}"/>
              </a:ext>
            </a:extLst>
          </p:cNvPr>
          <p:cNvSpPr>
            <a:spLocks noGrp="1"/>
          </p:cNvSpPr>
          <p:nvPr>
            <p:ph type="title"/>
          </p:nvPr>
        </p:nvSpPr>
        <p:spPr/>
        <p:txBody>
          <a:bodyPr/>
          <a:lstStyle/>
          <a:p>
            <a:r>
              <a:rPr lang="en-US" dirty="0"/>
              <a:t>Systemic Manifestations</a:t>
            </a:r>
          </a:p>
        </p:txBody>
      </p:sp>
      <p:sp>
        <p:nvSpPr>
          <p:cNvPr id="5" name="Text Placeholder 4">
            <a:extLst>
              <a:ext uri="{FF2B5EF4-FFF2-40B4-BE49-F238E27FC236}">
                <a16:creationId xmlns:a16="http://schemas.microsoft.com/office/drawing/2014/main" id="{6FC510EB-A66C-0244-14EA-FC735D80F1A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214521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921D40-BF8F-C10E-EDED-579B77ABAC2E}"/>
              </a:ext>
            </a:extLst>
          </p:cNvPr>
          <p:cNvSpPr>
            <a:spLocks noGrp="1"/>
          </p:cNvSpPr>
          <p:nvPr>
            <p:ph type="title"/>
          </p:nvPr>
        </p:nvSpPr>
        <p:spPr/>
        <p:txBody>
          <a:bodyPr/>
          <a:lstStyle/>
          <a:p>
            <a:r>
              <a:rPr lang="en-GB" dirty="0"/>
              <a:t>Systemic &amp; Organ Involvement</a:t>
            </a:r>
            <a:endParaRPr lang="en-US" dirty="0"/>
          </a:p>
        </p:txBody>
      </p:sp>
      <p:sp>
        <p:nvSpPr>
          <p:cNvPr id="5" name="Content Placeholder 4">
            <a:extLst>
              <a:ext uri="{FF2B5EF4-FFF2-40B4-BE49-F238E27FC236}">
                <a16:creationId xmlns:a16="http://schemas.microsoft.com/office/drawing/2014/main" id="{0C8C41A1-D4B6-1D1D-5B6E-D8AA1F47C0EE}"/>
              </a:ext>
            </a:extLst>
          </p:cNvPr>
          <p:cNvSpPr>
            <a:spLocks noGrp="1"/>
          </p:cNvSpPr>
          <p:nvPr>
            <p:ph idx="1"/>
          </p:nvPr>
        </p:nvSpPr>
        <p:spPr/>
        <p:txBody>
          <a:bodyPr/>
          <a:lstStyle/>
          <a:p>
            <a:r>
              <a:rPr lang="en-GB" b="1" dirty="0"/>
              <a:t>Constitutional Symptoms:</a:t>
            </a:r>
            <a:r>
              <a:rPr lang="en-GB" dirty="0"/>
              <a:t> Fever, malaise, sore throat, headache, weight loss, hoarseness, and musculoskeletal aches.</a:t>
            </a:r>
          </a:p>
          <a:p>
            <a:r>
              <a:rPr lang="en-GB" b="1" dirty="0"/>
              <a:t>Lymphadenopathy:</a:t>
            </a:r>
            <a:r>
              <a:rPr lang="en-GB" dirty="0"/>
              <a:t> Common, bilateral, and symmetric lymph node swelling.</a:t>
            </a:r>
          </a:p>
          <a:p>
            <a:r>
              <a:rPr lang="en-GB" b="1" dirty="0"/>
              <a:t>Organ Inflammation:</a:t>
            </a:r>
            <a:r>
              <a:rPr lang="en-GB" dirty="0"/>
              <a:t> Gastritis, hepatitis, periostitis (bone lining), and membranous glomerulopathy (kidney disease).</a:t>
            </a:r>
          </a:p>
          <a:p>
            <a:r>
              <a:rPr lang="en-GB" b="1" dirty="0"/>
              <a:t>Hematologic:</a:t>
            </a:r>
            <a:r>
              <a:rPr lang="en-GB" dirty="0"/>
              <a:t> </a:t>
            </a:r>
            <a:r>
              <a:rPr lang="en-GB" dirty="0" err="1"/>
              <a:t>Anemia</a:t>
            </a:r>
            <a:r>
              <a:rPr lang="en-GB" dirty="0"/>
              <a:t>, lymphopenia, and elevated ESR.</a:t>
            </a:r>
          </a:p>
          <a:p>
            <a:endParaRPr lang="en-US" dirty="0"/>
          </a:p>
        </p:txBody>
      </p:sp>
    </p:spTree>
    <p:extLst>
      <p:ext uri="{BB962C8B-B14F-4D97-AF65-F5344CB8AC3E}">
        <p14:creationId xmlns:p14="http://schemas.microsoft.com/office/powerpoint/2010/main" val="27393240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1CA48-F2E0-ED40-3320-AA87056E6E8D}"/>
              </a:ext>
            </a:extLst>
          </p:cNvPr>
          <p:cNvSpPr>
            <a:spLocks noGrp="1"/>
          </p:cNvSpPr>
          <p:nvPr>
            <p:ph type="title"/>
          </p:nvPr>
        </p:nvSpPr>
        <p:spPr/>
        <p:txBody>
          <a:bodyPr/>
          <a:lstStyle/>
          <a:p>
            <a:r>
              <a:rPr lang="en-GB" dirty="0"/>
              <a:t>Neurosyphilis (Early vs. Late)</a:t>
            </a:r>
            <a:endParaRPr lang="en-US" dirty="0"/>
          </a:p>
        </p:txBody>
      </p:sp>
      <p:sp>
        <p:nvSpPr>
          <p:cNvPr id="3" name="Content Placeholder 2">
            <a:extLst>
              <a:ext uri="{FF2B5EF4-FFF2-40B4-BE49-F238E27FC236}">
                <a16:creationId xmlns:a16="http://schemas.microsoft.com/office/drawing/2014/main" id="{1F16F72F-7B8F-383E-F928-AA67386033AD}"/>
              </a:ext>
            </a:extLst>
          </p:cNvPr>
          <p:cNvSpPr>
            <a:spLocks noGrp="1"/>
          </p:cNvSpPr>
          <p:nvPr>
            <p:ph idx="1"/>
          </p:nvPr>
        </p:nvSpPr>
        <p:spPr/>
        <p:txBody>
          <a:bodyPr>
            <a:normAutofit/>
          </a:bodyPr>
          <a:lstStyle/>
          <a:p>
            <a:r>
              <a:rPr lang="en-GB" b="1" dirty="0"/>
              <a:t>Asymptomatic:</a:t>
            </a:r>
            <a:r>
              <a:rPr lang="en-GB" dirty="0"/>
              <a:t> No physical symptoms; defined strictly by abnormal CSF.</a:t>
            </a:r>
          </a:p>
          <a:p>
            <a:r>
              <a:rPr lang="en-GB" b="1" dirty="0"/>
              <a:t>Early Symptomatic:</a:t>
            </a:r>
            <a:endParaRPr lang="en-GB" dirty="0"/>
          </a:p>
          <a:p>
            <a:pPr lvl="1">
              <a:buFont typeface="Courier New" panose="02070309020205020404" pitchFamily="49" charset="0"/>
              <a:buChar char="o"/>
            </a:pPr>
            <a:r>
              <a:rPr lang="en-GB" i="1" dirty="0"/>
              <a:t>Meningitis:</a:t>
            </a:r>
            <a:r>
              <a:rPr lang="en-GB" dirty="0"/>
              <a:t> Fever, </a:t>
            </a:r>
            <a:r>
              <a:rPr lang="en-GB" dirty="0" err="1"/>
              <a:t>meningismus</a:t>
            </a:r>
            <a:r>
              <a:rPr lang="en-GB" dirty="0"/>
              <a:t>, and headache.</a:t>
            </a:r>
          </a:p>
          <a:p>
            <a:pPr lvl="1">
              <a:buFont typeface="Courier New" panose="02070309020205020404" pitchFamily="49" charset="0"/>
              <a:buChar char="o"/>
            </a:pPr>
            <a:r>
              <a:rPr lang="en-GB" i="1" dirty="0" err="1"/>
              <a:t>Meningovasculitis</a:t>
            </a:r>
            <a:r>
              <a:rPr lang="en-GB" i="1" dirty="0"/>
              <a:t>:</a:t>
            </a:r>
            <a:r>
              <a:rPr lang="en-GB" dirty="0"/>
              <a:t> Stroke, typically affecting the middle cerebral artery.</a:t>
            </a:r>
          </a:p>
          <a:p>
            <a:pPr lvl="1">
              <a:buFont typeface="Courier New" panose="02070309020205020404" pitchFamily="49" charset="0"/>
              <a:buChar char="o"/>
            </a:pPr>
            <a:r>
              <a:rPr lang="en-GB" i="1" dirty="0"/>
              <a:t>Cranial Nerve Palsies:</a:t>
            </a:r>
            <a:r>
              <a:rPr lang="en-GB" dirty="0"/>
              <a:t> Most commonly affects CN II, III, IV, VI, VII, and VIII.</a:t>
            </a:r>
          </a:p>
          <a:p>
            <a:r>
              <a:rPr lang="en-GB" b="1" dirty="0"/>
              <a:t>Late Tertiary (Rare):</a:t>
            </a:r>
            <a:endParaRPr lang="en-GB" dirty="0"/>
          </a:p>
          <a:p>
            <a:pPr lvl="1">
              <a:buFont typeface="Courier New" panose="02070309020205020404" pitchFamily="49" charset="0"/>
              <a:buChar char="o"/>
            </a:pPr>
            <a:r>
              <a:rPr lang="en-GB" i="1" dirty="0"/>
              <a:t>General Paresis:</a:t>
            </a:r>
            <a:r>
              <a:rPr lang="en-GB" dirty="0"/>
              <a:t> Rapidly progressive dementia and personality changes.</a:t>
            </a:r>
          </a:p>
          <a:p>
            <a:pPr lvl="1">
              <a:buFont typeface="Courier New" panose="02070309020205020404" pitchFamily="49" charset="0"/>
              <a:buChar char="o"/>
            </a:pPr>
            <a:r>
              <a:rPr lang="en-GB" i="1" dirty="0" err="1"/>
              <a:t>Tabes</a:t>
            </a:r>
            <a:r>
              <a:rPr lang="en-GB" i="1" dirty="0"/>
              <a:t> Dorsalis:</a:t>
            </a:r>
            <a:r>
              <a:rPr lang="en-GB" dirty="0"/>
              <a:t> Spinal cord posterior column damage causing sensory ataxia and bowel/bladder dysfunction.</a:t>
            </a:r>
          </a:p>
          <a:p>
            <a:endParaRPr lang="en-US" dirty="0"/>
          </a:p>
        </p:txBody>
      </p:sp>
    </p:spTree>
    <p:extLst>
      <p:ext uri="{BB962C8B-B14F-4D97-AF65-F5344CB8AC3E}">
        <p14:creationId xmlns:p14="http://schemas.microsoft.com/office/powerpoint/2010/main" val="2292458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0E1A7-7F3E-154D-C3B0-F8D7572BD127}"/>
              </a:ext>
            </a:extLst>
          </p:cNvPr>
          <p:cNvSpPr>
            <a:spLocks noGrp="1"/>
          </p:cNvSpPr>
          <p:nvPr>
            <p:ph type="title"/>
          </p:nvPr>
        </p:nvSpPr>
        <p:spPr/>
        <p:txBody>
          <a:bodyPr/>
          <a:lstStyle/>
          <a:p>
            <a:r>
              <a:rPr lang="en-GB" dirty="0"/>
              <a:t>Ocular &amp; Otologic Manifestations</a:t>
            </a:r>
            <a:endParaRPr lang="en-US" dirty="0"/>
          </a:p>
        </p:txBody>
      </p:sp>
      <p:sp>
        <p:nvSpPr>
          <p:cNvPr id="3" name="Content Placeholder 2">
            <a:extLst>
              <a:ext uri="{FF2B5EF4-FFF2-40B4-BE49-F238E27FC236}">
                <a16:creationId xmlns:a16="http://schemas.microsoft.com/office/drawing/2014/main" id="{90E5E45A-F7E8-5CCD-5501-7731033AF34B}"/>
              </a:ext>
            </a:extLst>
          </p:cNvPr>
          <p:cNvSpPr>
            <a:spLocks noGrp="1"/>
          </p:cNvSpPr>
          <p:nvPr>
            <p:ph idx="1"/>
          </p:nvPr>
        </p:nvSpPr>
        <p:spPr/>
        <p:txBody>
          <a:bodyPr>
            <a:normAutofit/>
          </a:bodyPr>
          <a:lstStyle/>
          <a:p>
            <a:r>
              <a:rPr lang="en-GB" b="1" dirty="0"/>
              <a:t>Otologic Syphilis:</a:t>
            </a:r>
            <a:r>
              <a:rPr lang="en-GB" dirty="0"/>
              <a:t> Sensorineural hearing loss is the primary manifestation.</a:t>
            </a:r>
          </a:p>
          <a:p>
            <a:r>
              <a:rPr lang="en-GB" b="1" dirty="0"/>
              <a:t>Ocular Syphilis (Any Stage):</a:t>
            </a:r>
            <a:endParaRPr lang="en-GB" dirty="0"/>
          </a:p>
          <a:p>
            <a:pPr lvl="1">
              <a:buFont typeface="Courier New" panose="02070309020205020404" pitchFamily="49" charset="0"/>
              <a:buChar char="o"/>
            </a:pPr>
            <a:r>
              <a:rPr lang="en-GB" i="1" dirty="0"/>
              <a:t>Uveitis:</a:t>
            </a:r>
            <a:r>
              <a:rPr lang="en-GB" dirty="0"/>
              <a:t> Most common ophthalmic sign (pain, redness, photophobia).</a:t>
            </a:r>
          </a:p>
          <a:p>
            <a:pPr lvl="1">
              <a:buFont typeface="Courier New" panose="02070309020205020404" pitchFamily="49" charset="0"/>
              <a:buChar char="o"/>
            </a:pPr>
            <a:r>
              <a:rPr lang="en-GB" i="1" dirty="0"/>
              <a:t>Optic Nerve Damage:</a:t>
            </a:r>
            <a:r>
              <a:rPr lang="en-GB" dirty="0"/>
              <a:t> Papillitis, retrobulbar neuritis, and optic atrophy.</a:t>
            </a:r>
          </a:p>
          <a:p>
            <a:pPr lvl="1">
              <a:buFont typeface="Courier New" panose="02070309020205020404" pitchFamily="49" charset="0"/>
              <a:buChar char="o"/>
            </a:pPr>
            <a:r>
              <a:rPr lang="en-GB" i="1" dirty="0"/>
              <a:t>Pupillary/Visual Defects:</a:t>
            </a:r>
            <a:r>
              <a:rPr lang="en-GB" dirty="0"/>
              <a:t> Argyll Robertson pupil (accommodates but doesn't react to light) and bitemporal hemianopia via chiasmal syndrome.</a:t>
            </a:r>
          </a:p>
          <a:p>
            <a:pPr lvl="1">
              <a:buFont typeface="Courier New" panose="02070309020205020404" pitchFamily="49" charset="0"/>
              <a:buChar char="o"/>
            </a:pPr>
            <a:r>
              <a:rPr lang="en-GB" i="1" dirty="0"/>
              <a:t>Structural Issues:</a:t>
            </a:r>
            <a:r>
              <a:rPr lang="en-GB" dirty="0"/>
              <a:t> Retinal detachment, cataracts, glaucoma, and interstitial keratitis.</a:t>
            </a:r>
          </a:p>
          <a:p>
            <a:endParaRPr lang="en-US" dirty="0"/>
          </a:p>
        </p:txBody>
      </p:sp>
    </p:spTree>
    <p:extLst>
      <p:ext uri="{BB962C8B-B14F-4D97-AF65-F5344CB8AC3E}">
        <p14:creationId xmlns:p14="http://schemas.microsoft.com/office/powerpoint/2010/main" val="9881179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181F8-DA3F-F53F-11B9-AEE8E587F480}"/>
              </a:ext>
            </a:extLst>
          </p:cNvPr>
          <p:cNvSpPr>
            <a:spLocks noGrp="1"/>
          </p:cNvSpPr>
          <p:nvPr>
            <p:ph type="title"/>
          </p:nvPr>
        </p:nvSpPr>
        <p:spPr/>
        <p:txBody>
          <a:bodyPr/>
          <a:lstStyle/>
          <a:p>
            <a:r>
              <a:rPr lang="en-GB" dirty="0"/>
              <a:t>Latent &amp; Tertiary Syphilis</a:t>
            </a:r>
            <a:endParaRPr lang="en-US" dirty="0"/>
          </a:p>
        </p:txBody>
      </p:sp>
      <p:sp>
        <p:nvSpPr>
          <p:cNvPr id="3" name="Content Placeholder 2">
            <a:extLst>
              <a:ext uri="{FF2B5EF4-FFF2-40B4-BE49-F238E27FC236}">
                <a16:creationId xmlns:a16="http://schemas.microsoft.com/office/drawing/2014/main" id="{C687496A-99AC-E6E6-0AA2-DACED7D21DE7}"/>
              </a:ext>
            </a:extLst>
          </p:cNvPr>
          <p:cNvSpPr>
            <a:spLocks noGrp="1"/>
          </p:cNvSpPr>
          <p:nvPr>
            <p:ph idx="1"/>
          </p:nvPr>
        </p:nvSpPr>
        <p:spPr/>
        <p:txBody>
          <a:bodyPr/>
          <a:lstStyle/>
          <a:p>
            <a:pPr>
              <a:buFont typeface="Arial" panose="020B0604020202020204" pitchFamily="34" charset="0"/>
              <a:buChar char="•"/>
            </a:pPr>
            <a:r>
              <a:rPr lang="en-GB" b="1" dirty="0"/>
              <a:t>Latent Phase:</a:t>
            </a:r>
            <a:r>
              <a:rPr lang="en-GB" dirty="0"/>
              <a:t> Complete absence of clinical findings; infection is detectable </a:t>
            </a:r>
            <a:r>
              <a:rPr lang="en-GB" i="1" dirty="0"/>
              <a:t>only</a:t>
            </a:r>
            <a:r>
              <a:rPr lang="en-GB" dirty="0"/>
              <a:t> via positive serologic tests.</a:t>
            </a:r>
          </a:p>
          <a:p>
            <a:pPr>
              <a:buFont typeface="Arial" panose="020B0604020202020204" pitchFamily="34" charset="0"/>
              <a:buChar char="•"/>
            </a:pPr>
            <a:r>
              <a:rPr lang="en-GB" b="1" dirty="0"/>
              <a:t>Late Tertiary Manifestations:</a:t>
            </a:r>
            <a:r>
              <a:rPr lang="en-GB" dirty="0"/>
              <a:t> Develops 15–40 years after untreated infection.</a:t>
            </a:r>
          </a:p>
          <a:p>
            <a:pPr marL="742950" lvl="1" indent="-285750">
              <a:buFont typeface="Arial" panose="020B0604020202020204" pitchFamily="34" charset="0"/>
              <a:buChar char="•"/>
            </a:pPr>
            <a:r>
              <a:rPr lang="en-GB" i="1" dirty="0"/>
              <a:t>Cardiovascular Syphilis:</a:t>
            </a:r>
            <a:r>
              <a:rPr lang="en-GB" dirty="0"/>
              <a:t> Direct damage to the cardiovascular system.</a:t>
            </a:r>
          </a:p>
          <a:p>
            <a:pPr marL="742950" lvl="1" indent="-285750">
              <a:buFont typeface="Arial" panose="020B0604020202020204" pitchFamily="34" charset="0"/>
              <a:buChar char="•"/>
            </a:pPr>
            <a:r>
              <a:rPr lang="en-GB" i="1" dirty="0"/>
              <a:t>Internal </a:t>
            </a:r>
            <a:r>
              <a:rPr lang="en-GB" i="1" dirty="0" err="1"/>
              <a:t>Gummas</a:t>
            </a:r>
            <a:r>
              <a:rPr lang="en-GB" i="1" dirty="0"/>
              <a:t>:</a:t>
            </a:r>
            <a:r>
              <a:rPr lang="en-GB" dirty="0"/>
              <a:t> Granulomatous, erosive lesions destructive to the </a:t>
            </a:r>
            <a:r>
              <a:rPr lang="en-GB" b="1" dirty="0"/>
              <a:t>bones</a:t>
            </a:r>
            <a:r>
              <a:rPr lang="en-GB" dirty="0"/>
              <a:t> and internal organs.</a:t>
            </a:r>
          </a:p>
          <a:p>
            <a:endParaRPr lang="en-US" dirty="0"/>
          </a:p>
        </p:txBody>
      </p:sp>
    </p:spTree>
    <p:extLst>
      <p:ext uri="{BB962C8B-B14F-4D97-AF65-F5344CB8AC3E}">
        <p14:creationId xmlns:p14="http://schemas.microsoft.com/office/powerpoint/2010/main" val="7334535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C37AF-4A1F-081E-ADF5-399DF10B4C4E}"/>
              </a:ext>
            </a:extLst>
          </p:cNvPr>
          <p:cNvSpPr>
            <a:spLocks noGrp="1"/>
          </p:cNvSpPr>
          <p:nvPr>
            <p:ph type="title"/>
          </p:nvPr>
        </p:nvSpPr>
        <p:spPr/>
        <p:txBody>
          <a:bodyPr/>
          <a:lstStyle/>
          <a:p>
            <a:r>
              <a:rPr lang="en-US" dirty="0"/>
              <a:t>Investigations</a:t>
            </a:r>
          </a:p>
        </p:txBody>
      </p:sp>
      <p:sp>
        <p:nvSpPr>
          <p:cNvPr id="3" name="Content Placeholder 2">
            <a:extLst>
              <a:ext uri="{FF2B5EF4-FFF2-40B4-BE49-F238E27FC236}">
                <a16:creationId xmlns:a16="http://schemas.microsoft.com/office/drawing/2014/main" id="{00572F77-5850-52FE-0E07-BE8DC1D8503C}"/>
              </a:ext>
            </a:extLst>
          </p:cNvPr>
          <p:cNvSpPr>
            <a:spLocks noGrp="1"/>
          </p:cNvSpPr>
          <p:nvPr>
            <p:ph idx="1"/>
          </p:nvPr>
        </p:nvSpPr>
        <p:spPr/>
        <p:txBody>
          <a:bodyPr>
            <a:normAutofit/>
          </a:bodyPr>
          <a:lstStyle/>
          <a:p>
            <a:pPr>
              <a:buFont typeface="Arial" panose="020B0604020202020204" pitchFamily="34" charset="0"/>
              <a:buChar char="•"/>
            </a:pPr>
            <a:r>
              <a:rPr lang="en-GB" b="1" dirty="0">
                <a:effectLst/>
                <a:latin typeface="Google Sans Text"/>
              </a:rPr>
              <a:t>Serologic Screening:</a:t>
            </a:r>
            <a:r>
              <a:rPr lang="en-GB" dirty="0">
                <a:effectLst/>
                <a:latin typeface="Google Sans Text"/>
              </a:rPr>
              <a:t> Requires a two-step confirmation process:</a:t>
            </a:r>
          </a:p>
          <a:p>
            <a:pPr marL="742950" lvl="1" indent="-285750">
              <a:buFont typeface="Arial" panose="020B0604020202020204" pitchFamily="34" charset="0"/>
              <a:buChar char="•"/>
            </a:pPr>
            <a:r>
              <a:rPr lang="en-GB" i="1" dirty="0">
                <a:effectLst/>
                <a:latin typeface="Google Sans Text"/>
              </a:rPr>
              <a:t>Nontreponemal tests (RPR or VDRL):</a:t>
            </a:r>
            <a:r>
              <a:rPr lang="en-GB" dirty="0">
                <a:effectLst/>
                <a:latin typeface="Google Sans Text"/>
              </a:rPr>
              <a:t> Quantify antibody </a:t>
            </a:r>
            <a:r>
              <a:rPr lang="en-GB" dirty="0" err="1">
                <a:effectLst/>
                <a:latin typeface="Google Sans Text"/>
              </a:rPr>
              <a:t>titers</a:t>
            </a:r>
            <a:r>
              <a:rPr lang="en-GB" dirty="0">
                <a:effectLst/>
                <a:latin typeface="Google Sans Text"/>
              </a:rPr>
              <a:t>; track disease activity and treatment response. </a:t>
            </a:r>
          </a:p>
          <a:p>
            <a:pPr marL="742950" lvl="1" indent="-285750">
              <a:buFont typeface="Arial" panose="020B0604020202020204" pitchFamily="34" charset="0"/>
              <a:buChar char="•"/>
            </a:pPr>
            <a:r>
              <a:rPr lang="en-GB" i="1" dirty="0">
                <a:effectLst/>
                <a:latin typeface="Google Sans Text"/>
              </a:rPr>
              <a:t>Treponemal tests (FTA-ABS, EIA, CIA, TP-PA):</a:t>
            </a:r>
            <a:r>
              <a:rPr lang="en-GB" dirty="0">
                <a:effectLst/>
                <a:latin typeface="Google Sans Text"/>
              </a:rPr>
              <a:t> Confirm positive screens; typically remain positive for life. </a:t>
            </a:r>
          </a:p>
          <a:p>
            <a:pPr>
              <a:buFont typeface="Arial" panose="020B0604020202020204" pitchFamily="34" charset="0"/>
              <a:buChar char="•"/>
            </a:pPr>
            <a:r>
              <a:rPr lang="en-GB" b="1" dirty="0">
                <a:effectLst/>
                <a:latin typeface="Google Sans Text"/>
              </a:rPr>
              <a:t>Lumbar Puncture &amp; CSF Examination:</a:t>
            </a:r>
            <a:r>
              <a:rPr lang="en-GB" dirty="0">
                <a:effectLst/>
                <a:latin typeface="Google Sans Text"/>
              </a:rPr>
              <a:t> Required if neurological, ocular, or otologic symptoms are present. Evaluates CSF cell count, protein levels, and CSF-VDRL. </a:t>
            </a:r>
          </a:p>
          <a:p>
            <a:pPr>
              <a:buFont typeface="Arial" panose="020B0604020202020204" pitchFamily="34" charset="0"/>
              <a:buChar char="•"/>
            </a:pPr>
            <a:r>
              <a:rPr lang="en-GB" b="1" dirty="0">
                <a:effectLst/>
                <a:latin typeface="Google Sans Text"/>
              </a:rPr>
              <a:t>Direct Detection:</a:t>
            </a:r>
            <a:r>
              <a:rPr lang="en-GB" dirty="0">
                <a:effectLst/>
                <a:latin typeface="Google Sans Text"/>
              </a:rPr>
              <a:t> PCR, darkfield microscopy, or lesion biopsy for primary ulcers. </a:t>
            </a:r>
          </a:p>
          <a:p>
            <a:endParaRPr lang="en-US" dirty="0"/>
          </a:p>
        </p:txBody>
      </p:sp>
    </p:spTree>
    <p:extLst>
      <p:ext uri="{BB962C8B-B14F-4D97-AF65-F5344CB8AC3E}">
        <p14:creationId xmlns:p14="http://schemas.microsoft.com/office/powerpoint/2010/main" val="281361027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F8A20-CB90-0D30-1EC4-44F030BA826C}"/>
              </a:ext>
            </a:extLst>
          </p:cNvPr>
          <p:cNvSpPr>
            <a:spLocks noGrp="1"/>
          </p:cNvSpPr>
          <p:nvPr>
            <p:ph type="title"/>
          </p:nvPr>
        </p:nvSpPr>
        <p:spPr/>
        <p:txBody>
          <a:bodyPr/>
          <a:lstStyle/>
          <a:p>
            <a:r>
              <a:rPr lang="en-US" dirty="0"/>
              <a:t>Treatment</a:t>
            </a:r>
          </a:p>
        </p:txBody>
      </p:sp>
      <p:sp>
        <p:nvSpPr>
          <p:cNvPr id="3" name="Content Placeholder 2">
            <a:extLst>
              <a:ext uri="{FF2B5EF4-FFF2-40B4-BE49-F238E27FC236}">
                <a16:creationId xmlns:a16="http://schemas.microsoft.com/office/drawing/2014/main" id="{E3B299D2-41BD-BF88-7425-502C3CDB9408}"/>
              </a:ext>
            </a:extLst>
          </p:cNvPr>
          <p:cNvSpPr>
            <a:spLocks noGrp="1"/>
          </p:cNvSpPr>
          <p:nvPr>
            <p:ph idx="1"/>
          </p:nvPr>
        </p:nvSpPr>
        <p:spPr/>
        <p:txBody>
          <a:bodyPr>
            <a:normAutofit/>
          </a:bodyPr>
          <a:lstStyle/>
          <a:p>
            <a:r>
              <a:rPr lang="en-GB" b="1" dirty="0">
                <a:effectLst/>
                <a:latin typeface="Google Sans Text"/>
              </a:rPr>
              <a:t>Early Syphilis (Primary, Secondary, Early Latent):</a:t>
            </a:r>
            <a:endParaRPr lang="en-GB" dirty="0">
              <a:effectLst/>
              <a:latin typeface="Google Sans Text"/>
            </a:endParaRPr>
          </a:p>
          <a:p>
            <a:pPr lvl="1">
              <a:buFont typeface="Courier New" panose="02070309020205020404" pitchFamily="49" charset="0"/>
              <a:buChar char="o"/>
            </a:pPr>
            <a:r>
              <a:rPr lang="en-GB" i="1" dirty="0">
                <a:effectLst/>
                <a:latin typeface="Google Sans Text"/>
              </a:rPr>
              <a:t>Preferred:</a:t>
            </a:r>
            <a:r>
              <a:rPr lang="en-GB" dirty="0">
                <a:effectLst/>
                <a:latin typeface="Google Sans Text"/>
              </a:rPr>
              <a:t> Benzathine Penicillin G (BPG) </a:t>
            </a:r>
            <a:r>
              <a:rPr lang="en-GB" b="1" dirty="0">
                <a:effectLst/>
                <a:latin typeface="Google Sans Text"/>
              </a:rPr>
              <a:t>2.4 million units IM</a:t>
            </a:r>
            <a:r>
              <a:rPr lang="en-GB" dirty="0">
                <a:effectLst/>
                <a:latin typeface="Google Sans Text"/>
              </a:rPr>
              <a:t> as a </a:t>
            </a:r>
            <a:r>
              <a:rPr lang="en-GB" b="1" dirty="0">
                <a:effectLst/>
                <a:latin typeface="Google Sans Text"/>
              </a:rPr>
              <a:t>single dose</a:t>
            </a:r>
            <a:r>
              <a:rPr lang="en-GB" dirty="0">
                <a:effectLst/>
                <a:latin typeface="Google Sans Text"/>
              </a:rPr>
              <a:t>. </a:t>
            </a:r>
          </a:p>
          <a:p>
            <a:pPr lvl="1">
              <a:buFont typeface="Courier New" panose="02070309020205020404" pitchFamily="49" charset="0"/>
              <a:buChar char="o"/>
            </a:pPr>
            <a:r>
              <a:rPr lang="en-GB" i="1" dirty="0">
                <a:effectLst/>
                <a:latin typeface="Google Sans Text"/>
              </a:rPr>
              <a:t>Alternative (Penicillin-Allergic):</a:t>
            </a:r>
            <a:r>
              <a:rPr lang="en-GB" dirty="0">
                <a:effectLst/>
                <a:latin typeface="Google Sans Text"/>
              </a:rPr>
              <a:t> Doxycycline 100 mg orally twice daily for 14 days. </a:t>
            </a:r>
          </a:p>
          <a:p>
            <a:r>
              <a:rPr lang="en-GB" b="1" dirty="0">
                <a:effectLst/>
                <a:latin typeface="Google Sans Text"/>
              </a:rPr>
              <a:t>Late Latent or Tertiary (</a:t>
            </a:r>
            <a:r>
              <a:rPr lang="en-GB" b="1" dirty="0" err="1">
                <a:effectLst/>
                <a:latin typeface="Google Sans Text"/>
              </a:rPr>
              <a:t>Gummatous</a:t>
            </a:r>
            <a:r>
              <a:rPr lang="en-GB" b="1" dirty="0">
                <a:effectLst/>
                <a:latin typeface="Google Sans Text"/>
              </a:rPr>
              <a:t>/Cardiovascular) Syphilis:</a:t>
            </a:r>
            <a:endParaRPr lang="en-GB" dirty="0">
              <a:effectLst/>
              <a:latin typeface="Google Sans Text"/>
            </a:endParaRPr>
          </a:p>
          <a:p>
            <a:pPr lvl="1">
              <a:buFont typeface="Courier New" panose="02070309020205020404" pitchFamily="49" charset="0"/>
              <a:buChar char="o"/>
            </a:pPr>
            <a:r>
              <a:rPr lang="en-GB" i="1" dirty="0">
                <a:effectLst/>
                <a:latin typeface="Google Sans Text"/>
              </a:rPr>
              <a:t>Preferred:</a:t>
            </a:r>
            <a:r>
              <a:rPr lang="en-GB" dirty="0">
                <a:effectLst/>
                <a:latin typeface="Google Sans Text"/>
              </a:rPr>
              <a:t> Benzathine Penicillin G (BPG) </a:t>
            </a:r>
            <a:r>
              <a:rPr lang="en-GB" b="1" dirty="0">
                <a:effectLst/>
                <a:latin typeface="Google Sans Text"/>
              </a:rPr>
              <a:t>7.2 million units total</a:t>
            </a:r>
            <a:r>
              <a:rPr lang="en-GB" dirty="0">
                <a:effectLst/>
                <a:latin typeface="Google Sans Text"/>
              </a:rPr>
              <a:t> (3 weekly doses of 2.4 million units IM). </a:t>
            </a:r>
          </a:p>
          <a:p>
            <a:pPr lvl="1">
              <a:buFont typeface="Courier New" panose="02070309020205020404" pitchFamily="49" charset="0"/>
              <a:buChar char="o"/>
            </a:pPr>
            <a:r>
              <a:rPr lang="en-GB" i="1" dirty="0">
                <a:effectLst/>
                <a:latin typeface="Google Sans Text"/>
              </a:rPr>
              <a:t>Alternative (Penicillin-Allergic):</a:t>
            </a:r>
            <a:r>
              <a:rPr lang="en-GB" dirty="0">
                <a:effectLst/>
                <a:latin typeface="Google Sans Text"/>
              </a:rPr>
              <a:t> Doxycycline 100 mg orally twice daily for 28 days. </a:t>
            </a:r>
          </a:p>
          <a:p>
            <a:endParaRPr lang="en-US" dirty="0"/>
          </a:p>
        </p:txBody>
      </p:sp>
    </p:spTree>
    <p:extLst>
      <p:ext uri="{BB962C8B-B14F-4D97-AF65-F5344CB8AC3E}">
        <p14:creationId xmlns:p14="http://schemas.microsoft.com/office/powerpoint/2010/main" val="270271263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D8976-D973-8955-7592-DA4DFCC1C903}"/>
              </a:ext>
            </a:extLst>
          </p:cNvPr>
          <p:cNvSpPr>
            <a:spLocks noGrp="1"/>
          </p:cNvSpPr>
          <p:nvPr>
            <p:ph type="title"/>
          </p:nvPr>
        </p:nvSpPr>
        <p:spPr/>
        <p:txBody>
          <a:bodyPr/>
          <a:lstStyle/>
          <a:p>
            <a:r>
              <a:rPr lang="en-US" dirty="0"/>
              <a:t>Targeted Neurosyphilis therapy</a:t>
            </a:r>
          </a:p>
        </p:txBody>
      </p:sp>
      <p:sp>
        <p:nvSpPr>
          <p:cNvPr id="3" name="Content Placeholder 2">
            <a:extLst>
              <a:ext uri="{FF2B5EF4-FFF2-40B4-BE49-F238E27FC236}">
                <a16:creationId xmlns:a16="http://schemas.microsoft.com/office/drawing/2014/main" id="{72B1C109-4E81-2ADA-E0CA-7F174F6B65CC}"/>
              </a:ext>
            </a:extLst>
          </p:cNvPr>
          <p:cNvSpPr>
            <a:spLocks noGrp="1"/>
          </p:cNvSpPr>
          <p:nvPr>
            <p:ph idx="1"/>
          </p:nvPr>
        </p:nvSpPr>
        <p:spPr/>
        <p:txBody>
          <a:bodyPr>
            <a:normAutofit/>
          </a:bodyPr>
          <a:lstStyle/>
          <a:p>
            <a:r>
              <a:rPr lang="en-GB" b="1" dirty="0">
                <a:effectLst/>
                <a:latin typeface="Google Sans Text"/>
              </a:rPr>
              <a:t>Applies to:</a:t>
            </a:r>
            <a:r>
              <a:rPr lang="en-GB" dirty="0">
                <a:effectLst/>
                <a:latin typeface="Google Sans Text"/>
              </a:rPr>
              <a:t> Confirmed neurosyphilis, ocular syphilis, and </a:t>
            </a:r>
            <a:r>
              <a:rPr lang="en-GB" dirty="0" err="1">
                <a:effectLst/>
                <a:latin typeface="Google Sans Text"/>
              </a:rPr>
              <a:t>otosyphilis</a:t>
            </a:r>
            <a:r>
              <a:rPr lang="en-GB" dirty="0">
                <a:effectLst/>
                <a:latin typeface="Google Sans Text"/>
              </a:rPr>
              <a:t>. </a:t>
            </a:r>
          </a:p>
          <a:p>
            <a:pPr>
              <a:buFont typeface="Arial" panose="020B0604020202020204" pitchFamily="34" charset="0"/>
              <a:buChar char="•"/>
            </a:pPr>
            <a:r>
              <a:rPr lang="en-GB" b="1" dirty="0">
                <a:effectLst/>
                <a:latin typeface="Google Sans Text"/>
              </a:rPr>
              <a:t>Preferred Intravenous Therapy:</a:t>
            </a:r>
            <a:endParaRPr lang="en-GB" dirty="0">
              <a:effectLst/>
              <a:latin typeface="Google Sans Text"/>
            </a:endParaRPr>
          </a:p>
          <a:p>
            <a:pPr marL="742950" lvl="1" indent="-285750">
              <a:buFont typeface="Arial" panose="020B0604020202020204" pitchFamily="34" charset="0"/>
              <a:buChar char="•"/>
            </a:pPr>
            <a:r>
              <a:rPr lang="en-GB" b="1" dirty="0">
                <a:effectLst/>
                <a:latin typeface="Google Sans Text"/>
              </a:rPr>
              <a:t>Aqueous Crystalline Penicillin G:</a:t>
            </a:r>
            <a:r>
              <a:rPr lang="en-GB" dirty="0">
                <a:effectLst/>
                <a:latin typeface="Google Sans Text"/>
              </a:rPr>
              <a:t> 18–24 million units daily. </a:t>
            </a:r>
          </a:p>
          <a:p>
            <a:pPr marL="742950" lvl="1" indent="-285750">
              <a:buFont typeface="Arial" panose="020B0604020202020204" pitchFamily="34" charset="0"/>
              <a:buChar char="•"/>
            </a:pPr>
            <a:r>
              <a:rPr lang="en-GB" i="1" dirty="0">
                <a:effectLst/>
                <a:latin typeface="Google Sans Text"/>
              </a:rPr>
              <a:t>Administration:</a:t>
            </a:r>
            <a:r>
              <a:rPr lang="en-GB" dirty="0">
                <a:effectLst/>
                <a:latin typeface="Google Sans Text"/>
              </a:rPr>
              <a:t> Given as 3–4 million units IV every 4 hours or via continuous infusion for </a:t>
            </a:r>
            <a:r>
              <a:rPr lang="en-GB" b="1" dirty="0">
                <a:effectLst/>
                <a:latin typeface="Google Sans Text"/>
              </a:rPr>
              <a:t>10–14 days</a:t>
            </a:r>
            <a:r>
              <a:rPr lang="en-GB" dirty="0">
                <a:effectLst/>
                <a:latin typeface="Google Sans Text"/>
              </a:rPr>
              <a:t>. </a:t>
            </a:r>
          </a:p>
          <a:p>
            <a:pPr>
              <a:buFont typeface="Arial" panose="020B0604020202020204" pitchFamily="34" charset="0"/>
              <a:buChar char="•"/>
            </a:pPr>
            <a:r>
              <a:rPr lang="en-GB" b="1" dirty="0">
                <a:effectLst/>
                <a:latin typeface="Google Sans Text"/>
              </a:rPr>
              <a:t>Alternative Therapy:</a:t>
            </a:r>
            <a:endParaRPr lang="en-GB" dirty="0">
              <a:effectLst/>
              <a:latin typeface="Google Sans Text"/>
            </a:endParaRPr>
          </a:p>
          <a:p>
            <a:pPr marL="742950" lvl="1" indent="-285750">
              <a:buFont typeface="Arial" panose="020B0604020202020204" pitchFamily="34" charset="0"/>
              <a:buChar char="•"/>
            </a:pPr>
            <a:r>
              <a:rPr lang="en-GB" dirty="0">
                <a:effectLst/>
                <a:latin typeface="Google Sans Text"/>
              </a:rPr>
              <a:t>Procaine Penicillin G 2.4 million units IM once daily </a:t>
            </a:r>
            <a:r>
              <a:rPr lang="en-GB" b="1" dirty="0">
                <a:effectLst/>
                <a:latin typeface="Google Sans Text"/>
              </a:rPr>
              <a:t>PLUS</a:t>
            </a:r>
            <a:r>
              <a:rPr lang="en-GB" dirty="0">
                <a:effectLst/>
                <a:latin typeface="Google Sans Text"/>
              </a:rPr>
              <a:t> Probenecid 500 mg orally 4 times daily, both for 10–14 days. </a:t>
            </a:r>
          </a:p>
          <a:p>
            <a:pPr>
              <a:buFont typeface="Arial" panose="020B0604020202020204" pitchFamily="34" charset="0"/>
              <a:buChar char="•"/>
            </a:pPr>
            <a:r>
              <a:rPr lang="en-GB" i="1" dirty="0">
                <a:effectLst/>
                <a:latin typeface="Google Sans Text"/>
              </a:rPr>
              <a:t>Note:</a:t>
            </a:r>
            <a:r>
              <a:rPr lang="en-GB" dirty="0">
                <a:effectLst/>
                <a:latin typeface="Google Sans Text"/>
              </a:rPr>
              <a:t> Penicillin-allergic patients with neurosyphilis must ideally undergo desensitization. </a:t>
            </a:r>
          </a:p>
        </p:txBody>
      </p:sp>
    </p:spTree>
    <p:extLst>
      <p:ext uri="{BB962C8B-B14F-4D97-AF65-F5344CB8AC3E}">
        <p14:creationId xmlns:p14="http://schemas.microsoft.com/office/powerpoint/2010/main" val="27958624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220F74-88C1-F10A-66DF-A63FE477535E}"/>
              </a:ext>
            </a:extLst>
          </p:cNvPr>
          <p:cNvSpPr>
            <a:spLocks noGrp="1"/>
          </p:cNvSpPr>
          <p:nvPr>
            <p:ph type="title"/>
          </p:nvPr>
        </p:nvSpPr>
        <p:spPr/>
        <p:txBody>
          <a:bodyPr/>
          <a:lstStyle/>
          <a:p>
            <a:r>
              <a:rPr lang="en-US" dirty="0"/>
              <a:t>Herpes Zoster</a:t>
            </a:r>
          </a:p>
        </p:txBody>
      </p:sp>
      <p:sp>
        <p:nvSpPr>
          <p:cNvPr id="5" name="Text Placeholder 4">
            <a:extLst>
              <a:ext uri="{FF2B5EF4-FFF2-40B4-BE49-F238E27FC236}">
                <a16:creationId xmlns:a16="http://schemas.microsoft.com/office/drawing/2014/main" id="{BD1B2F61-3F14-CB3A-35A9-872A19BED6B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3986911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698101-4600-9B0A-0BD6-18FA0E375F0E}"/>
              </a:ext>
            </a:extLst>
          </p:cNvPr>
          <p:cNvSpPr>
            <a:spLocks noGrp="1"/>
          </p:cNvSpPr>
          <p:nvPr>
            <p:ph type="title"/>
          </p:nvPr>
        </p:nvSpPr>
        <p:spPr/>
        <p:txBody>
          <a:bodyPr/>
          <a:lstStyle/>
          <a:p>
            <a:r>
              <a:rPr lang="en-US" dirty="0"/>
              <a:t>Introduction</a:t>
            </a:r>
          </a:p>
        </p:txBody>
      </p:sp>
      <p:sp>
        <p:nvSpPr>
          <p:cNvPr id="5" name="Content Placeholder 4">
            <a:extLst>
              <a:ext uri="{FF2B5EF4-FFF2-40B4-BE49-F238E27FC236}">
                <a16:creationId xmlns:a16="http://schemas.microsoft.com/office/drawing/2014/main" id="{CCD7ABE0-CC87-DC61-51BC-EF77A550D902}"/>
              </a:ext>
            </a:extLst>
          </p:cNvPr>
          <p:cNvSpPr>
            <a:spLocks noGrp="1"/>
          </p:cNvSpPr>
          <p:nvPr>
            <p:ph idx="1"/>
          </p:nvPr>
        </p:nvSpPr>
        <p:spPr/>
        <p:txBody>
          <a:bodyPr>
            <a:normAutofit fontScale="92500" lnSpcReduction="20000"/>
          </a:bodyPr>
          <a:lstStyle/>
          <a:p>
            <a:r>
              <a:rPr lang="en-GB" b="1" dirty="0">
                <a:effectLst/>
                <a:latin typeface="Google Sans Text"/>
              </a:rPr>
              <a:t>Typical Presentation</a:t>
            </a:r>
            <a:endParaRPr lang="en-GB" b="1" dirty="0">
              <a:effectLst/>
              <a:latin typeface="Google Sans"/>
            </a:endParaRPr>
          </a:p>
          <a:p>
            <a:pPr lvl="1">
              <a:buFont typeface="Courier New" panose="02070309020205020404" pitchFamily="49" charset="0"/>
              <a:buChar char="o"/>
            </a:pPr>
            <a:r>
              <a:rPr lang="en-GB" b="1" dirty="0">
                <a:effectLst/>
                <a:latin typeface="Google Sans Text"/>
              </a:rPr>
              <a:t>Unilateral Dermatomal Rash:</a:t>
            </a:r>
            <a:r>
              <a:rPr lang="en-GB" dirty="0">
                <a:effectLst/>
                <a:latin typeface="Google Sans Text"/>
              </a:rPr>
              <a:t> Grouped painful fluid-filled blisters that follow a single nerve pathway and do not cross the midline.</a:t>
            </a:r>
          </a:p>
          <a:p>
            <a:pPr lvl="1">
              <a:buFont typeface="Courier New" panose="02070309020205020404" pitchFamily="49" charset="0"/>
              <a:buChar char="o"/>
            </a:pPr>
            <a:r>
              <a:rPr lang="en-GB" b="1" dirty="0">
                <a:effectLst/>
                <a:latin typeface="Google Sans Text"/>
              </a:rPr>
              <a:t>Progression:</a:t>
            </a:r>
            <a:r>
              <a:rPr lang="en-GB" dirty="0">
                <a:effectLst/>
                <a:latin typeface="Google Sans Text"/>
              </a:rPr>
              <a:t> Evolves from red papules </a:t>
            </a:r>
            <a:r>
              <a:rPr lang="en-GB" dirty="0">
                <a:effectLst/>
                <a:latin typeface="Google Sans Text"/>
                <a:sym typeface="Wingdings" pitchFamily="2" charset="2"/>
              </a:rPr>
              <a:t> </a:t>
            </a:r>
            <a:r>
              <a:rPr lang="en-GB" dirty="0">
                <a:effectLst/>
                <a:latin typeface="Google Sans Text"/>
              </a:rPr>
              <a:t>vesicles </a:t>
            </a:r>
            <a:r>
              <a:rPr lang="en-GB" dirty="0">
                <a:effectLst/>
                <a:latin typeface="Google Sans Text"/>
                <a:sym typeface="Wingdings" pitchFamily="2" charset="2"/>
              </a:rPr>
              <a:t></a:t>
            </a:r>
            <a:r>
              <a:rPr lang="en-GB" dirty="0">
                <a:effectLst/>
                <a:latin typeface="Google Sans Text"/>
              </a:rPr>
              <a:t> pustules </a:t>
            </a:r>
            <a:r>
              <a:rPr lang="en-GB" dirty="0">
                <a:effectLst/>
                <a:latin typeface="Google Sans Text"/>
                <a:sym typeface="Wingdings" pitchFamily="2" charset="2"/>
              </a:rPr>
              <a:t> </a:t>
            </a:r>
            <a:r>
              <a:rPr lang="en-GB" dirty="0">
                <a:effectLst/>
                <a:latin typeface="Google Sans Text"/>
              </a:rPr>
              <a:t>crusts over 7 to 10 days.</a:t>
            </a:r>
          </a:p>
          <a:p>
            <a:r>
              <a:rPr lang="en-GB" b="1" dirty="0">
                <a:effectLst/>
                <a:latin typeface="Google Sans Text"/>
              </a:rPr>
              <a:t>Cutaneous Complications</a:t>
            </a:r>
            <a:endParaRPr lang="en-GB" b="1" dirty="0">
              <a:effectLst/>
              <a:latin typeface="Google Sans"/>
            </a:endParaRPr>
          </a:p>
          <a:p>
            <a:pPr lvl="1"/>
            <a:r>
              <a:rPr lang="en-GB" b="1" dirty="0">
                <a:effectLst/>
                <a:latin typeface="Google Sans Text"/>
              </a:rPr>
              <a:t>Secondary Bacterial Infection:</a:t>
            </a:r>
            <a:r>
              <a:rPr lang="en-GB" dirty="0">
                <a:effectLst/>
                <a:latin typeface="Google Sans Text"/>
              </a:rPr>
              <a:t> Usually </a:t>
            </a:r>
            <a:r>
              <a:rPr lang="en-GB" i="1" dirty="0">
                <a:effectLst/>
                <a:latin typeface="Google Sans Text"/>
              </a:rPr>
              <a:t>Staph</a:t>
            </a:r>
            <a:r>
              <a:rPr lang="en-GB" dirty="0">
                <a:effectLst/>
                <a:latin typeface="Google Sans Text"/>
              </a:rPr>
              <a:t> or </a:t>
            </a:r>
            <a:r>
              <a:rPr lang="en-GB" i="1" dirty="0" err="1">
                <a:effectLst/>
                <a:latin typeface="Google Sans Text"/>
              </a:rPr>
              <a:t>Strept</a:t>
            </a:r>
            <a:r>
              <a:rPr lang="en-GB" dirty="0">
                <a:effectLst/>
                <a:latin typeface="Google Sans Text"/>
              </a:rPr>
              <a:t> species; delays healing and causes permanent scarring.</a:t>
            </a:r>
          </a:p>
          <a:p>
            <a:pPr lvl="1"/>
            <a:r>
              <a:rPr lang="en-GB" b="1" dirty="0">
                <a:effectLst/>
                <a:latin typeface="Google Sans Text"/>
              </a:rPr>
              <a:t>Superficial Gangrene:</a:t>
            </a:r>
            <a:r>
              <a:rPr lang="en-GB" dirty="0">
                <a:effectLst/>
                <a:latin typeface="Google Sans Text"/>
              </a:rPr>
              <a:t> Severe tissue necrosis and scarring, typically seen in immunocompromised patients.</a:t>
            </a:r>
          </a:p>
          <a:p>
            <a:pPr lvl="1"/>
            <a:r>
              <a:rPr lang="en-GB" b="1" dirty="0">
                <a:effectLst/>
                <a:latin typeface="Google Sans Text"/>
              </a:rPr>
              <a:t>Disseminated Zoster:</a:t>
            </a:r>
            <a:r>
              <a:rPr lang="en-GB" dirty="0">
                <a:effectLst/>
                <a:latin typeface="Google Sans Text"/>
              </a:rPr>
              <a:t> Widespread, chickenpox-like rash (25–50 lesions) outside the primary area; signals a high risk for internal organ spread.</a:t>
            </a:r>
          </a:p>
          <a:p>
            <a:pPr lvl="1"/>
            <a:r>
              <a:rPr lang="en-GB" b="1" dirty="0">
                <a:effectLst/>
                <a:latin typeface="Google Sans Text"/>
              </a:rPr>
              <a:t>Chronic Atypical Lesions:</a:t>
            </a:r>
            <a:r>
              <a:rPr lang="en-GB" dirty="0">
                <a:effectLst/>
                <a:latin typeface="Google Sans Text"/>
              </a:rPr>
              <a:t> Persistent, wart-like or ulcerated lesions seen in advanced HIV/AIDS, often due to drug-resistant virus strains.</a:t>
            </a:r>
          </a:p>
          <a:p>
            <a:endParaRPr lang="en-US" dirty="0"/>
          </a:p>
        </p:txBody>
      </p:sp>
    </p:spTree>
    <p:extLst>
      <p:ext uri="{BB962C8B-B14F-4D97-AF65-F5344CB8AC3E}">
        <p14:creationId xmlns:p14="http://schemas.microsoft.com/office/powerpoint/2010/main" val="2068769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6EB23-1E02-D953-4ED5-E4A32D4D9812}"/>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EF31EA73-F3EB-9AAB-0E40-A58D0509B88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40100" y="1880394"/>
            <a:ext cx="5511800" cy="4241800"/>
          </a:xfrm>
        </p:spPr>
      </p:pic>
    </p:spTree>
    <p:extLst>
      <p:ext uri="{BB962C8B-B14F-4D97-AF65-F5344CB8AC3E}">
        <p14:creationId xmlns:p14="http://schemas.microsoft.com/office/powerpoint/2010/main" val="13946239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57658-94D5-39A7-7975-9468F667C5E9}"/>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2028E421-1897-63FD-9451-5822BF99600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9942" y="1825625"/>
            <a:ext cx="7612115" cy="4351338"/>
          </a:xfrm>
        </p:spPr>
      </p:pic>
    </p:spTree>
    <p:extLst>
      <p:ext uri="{BB962C8B-B14F-4D97-AF65-F5344CB8AC3E}">
        <p14:creationId xmlns:p14="http://schemas.microsoft.com/office/powerpoint/2010/main" val="30178992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095B4-351A-AA7A-0AA6-324AE45423FC}"/>
              </a:ext>
            </a:extLst>
          </p:cNvPr>
          <p:cNvSpPr>
            <a:spLocks noGrp="1"/>
          </p:cNvSpPr>
          <p:nvPr>
            <p:ph type="title"/>
          </p:nvPr>
        </p:nvSpPr>
        <p:spPr/>
        <p:txBody>
          <a:bodyPr/>
          <a:lstStyle/>
          <a:p>
            <a:r>
              <a:rPr lang="en-US" dirty="0"/>
              <a:t>Ramsay Hunt syndrome</a:t>
            </a:r>
          </a:p>
        </p:txBody>
      </p:sp>
      <p:pic>
        <p:nvPicPr>
          <p:cNvPr id="5" name="Content Placeholder 4">
            <a:extLst>
              <a:ext uri="{FF2B5EF4-FFF2-40B4-BE49-F238E27FC236}">
                <a16:creationId xmlns:a16="http://schemas.microsoft.com/office/drawing/2014/main" id="{5CF29256-24FE-636A-CB39-6471B4F9A8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21033" y="1825625"/>
            <a:ext cx="3749933" cy="4351338"/>
          </a:xfrm>
        </p:spPr>
      </p:pic>
    </p:spTree>
    <p:extLst>
      <p:ext uri="{BB962C8B-B14F-4D97-AF65-F5344CB8AC3E}">
        <p14:creationId xmlns:p14="http://schemas.microsoft.com/office/powerpoint/2010/main" val="17326687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061F258-171D-8657-47A0-BF0E9C72F765}"/>
              </a:ext>
            </a:extLst>
          </p:cNvPr>
          <p:cNvSpPr>
            <a:spLocks noGrp="1"/>
          </p:cNvSpPr>
          <p:nvPr>
            <p:ph type="title"/>
          </p:nvPr>
        </p:nvSpPr>
        <p:spPr/>
        <p:txBody>
          <a:bodyPr/>
          <a:lstStyle/>
          <a:p>
            <a:r>
              <a:rPr lang="en-US" dirty="0"/>
              <a:t>Systemic manifestations</a:t>
            </a:r>
          </a:p>
        </p:txBody>
      </p:sp>
      <p:sp>
        <p:nvSpPr>
          <p:cNvPr id="5" name="Text Placeholder 4">
            <a:extLst>
              <a:ext uri="{FF2B5EF4-FFF2-40B4-BE49-F238E27FC236}">
                <a16:creationId xmlns:a16="http://schemas.microsoft.com/office/drawing/2014/main" id="{7FD07718-9558-FAA3-DBD8-D3B27595333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235012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437D5B-7475-7EBF-08D0-2A4F55893651}"/>
              </a:ext>
            </a:extLst>
          </p:cNvPr>
          <p:cNvSpPr>
            <a:spLocks noGrp="1"/>
          </p:cNvSpPr>
          <p:nvPr>
            <p:ph type="title"/>
          </p:nvPr>
        </p:nvSpPr>
        <p:spPr/>
        <p:txBody>
          <a:bodyPr/>
          <a:lstStyle/>
          <a:p>
            <a:r>
              <a:rPr lang="en-GB" dirty="0"/>
              <a:t>Neurologic Manifestations</a:t>
            </a:r>
            <a:endParaRPr lang="en-US" dirty="0"/>
          </a:p>
        </p:txBody>
      </p:sp>
      <p:sp>
        <p:nvSpPr>
          <p:cNvPr id="3" name="Content Placeholder 2">
            <a:extLst>
              <a:ext uri="{FF2B5EF4-FFF2-40B4-BE49-F238E27FC236}">
                <a16:creationId xmlns:a16="http://schemas.microsoft.com/office/drawing/2014/main" id="{AAD73B90-5FAF-418C-8D40-57B278DA1D9A}"/>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GB" b="1" dirty="0"/>
              <a:t>Postherpetic Neuralgia (PHN):</a:t>
            </a:r>
            <a:r>
              <a:rPr lang="en-GB" dirty="0"/>
              <a:t> The most common complication, defined as pain persisting 1 to 6+ months after rash onset. Characterized by constant (burning, aching), intermittent (stabbing, shooting), or stimulus-evoked pain.</a:t>
            </a:r>
          </a:p>
          <a:p>
            <a:pPr>
              <a:buFont typeface="Arial" panose="020B0604020202020204" pitchFamily="34" charset="0"/>
              <a:buChar char="•"/>
            </a:pPr>
            <a:r>
              <a:rPr lang="en-GB" b="1" dirty="0"/>
              <a:t>Allodynia:</a:t>
            </a:r>
            <a:r>
              <a:rPr lang="en-GB" dirty="0"/>
              <a:t> Severe pain triggered by normally non-painful stimuli (like a light breeze or clothing contact), affecting approximately 90% of PHN patients.</a:t>
            </a:r>
          </a:p>
          <a:p>
            <a:pPr>
              <a:buFont typeface="Arial" panose="020B0604020202020204" pitchFamily="34" charset="0"/>
              <a:buChar char="•"/>
            </a:pPr>
            <a:r>
              <a:rPr lang="en-GB" b="1" dirty="0"/>
              <a:t>Delayed Contralateral Hemiplegia (Stroke):</a:t>
            </a:r>
            <a:r>
              <a:rPr lang="en-GB" dirty="0"/>
              <a:t> Caused by VZV infecting cerebral arteries and causing segmental granulomatous angiitis. This leads to a contralateral stroke occurring weeks to months (average 7–8 weeks) after ophthalmic herpes zoster.</a:t>
            </a:r>
          </a:p>
          <a:p>
            <a:pPr>
              <a:buFont typeface="Arial" panose="020B0604020202020204" pitchFamily="34" charset="0"/>
              <a:buChar char="•"/>
            </a:pPr>
            <a:r>
              <a:rPr lang="en-GB" b="1" dirty="0"/>
              <a:t>Other Neurologic Extension:</a:t>
            </a:r>
            <a:r>
              <a:rPr lang="en-GB" dirty="0"/>
              <a:t> Spread of the virus can directly involve the spinal cord.</a:t>
            </a:r>
          </a:p>
          <a:p>
            <a:endParaRPr lang="en-US" dirty="0"/>
          </a:p>
        </p:txBody>
      </p:sp>
    </p:spTree>
    <p:extLst>
      <p:ext uri="{BB962C8B-B14F-4D97-AF65-F5344CB8AC3E}">
        <p14:creationId xmlns:p14="http://schemas.microsoft.com/office/powerpoint/2010/main" val="689235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85372-2712-38FD-0B99-E7125297C1BD}"/>
              </a:ext>
            </a:extLst>
          </p:cNvPr>
          <p:cNvSpPr>
            <a:spLocks noGrp="1"/>
          </p:cNvSpPr>
          <p:nvPr>
            <p:ph type="title"/>
          </p:nvPr>
        </p:nvSpPr>
        <p:spPr/>
        <p:txBody>
          <a:bodyPr/>
          <a:lstStyle/>
          <a:p>
            <a:r>
              <a:rPr lang="en-US" dirty="0"/>
              <a:t>Post Herpetic neuropathy</a:t>
            </a:r>
          </a:p>
        </p:txBody>
      </p:sp>
      <p:sp>
        <p:nvSpPr>
          <p:cNvPr id="3" name="Content Placeholder 2">
            <a:extLst>
              <a:ext uri="{FF2B5EF4-FFF2-40B4-BE49-F238E27FC236}">
                <a16:creationId xmlns:a16="http://schemas.microsoft.com/office/drawing/2014/main" id="{57E8DBA5-3E0D-DC14-302F-4411D0B6AE4C}"/>
              </a:ext>
            </a:extLst>
          </p:cNvPr>
          <p:cNvSpPr>
            <a:spLocks noGrp="1"/>
          </p:cNvSpPr>
          <p:nvPr>
            <p:ph idx="1"/>
          </p:nvPr>
        </p:nvSpPr>
        <p:spPr/>
        <p:txBody>
          <a:bodyPr/>
          <a:lstStyle/>
          <a:p>
            <a:pPr>
              <a:buFont typeface="Arial" panose="020B0604020202020204" pitchFamily="34" charset="0"/>
              <a:buChar char="•"/>
            </a:pPr>
            <a:r>
              <a:rPr lang="en-GB" b="1" dirty="0"/>
              <a:t>Issues:</a:t>
            </a:r>
            <a:r>
              <a:rPr lang="en-GB" dirty="0"/>
              <a:t> Long-term nerve pain lasting months to years after the rash heals.</a:t>
            </a:r>
          </a:p>
          <a:p>
            <a:pPr>
              <a:buFont typeface="Arial" panose="020B0604020202020204" pitchFamily="34" charset="0"/>
              <a:buChar char="•"/>
            </a:pPr>
            <a:r>
              <a:rPr lang="en-GB" b="1" dirty="0"/>
              <a:t>Investigations:</a:t>
            </a:r>
            <a:r>
              <a:rPr lang="en-GB" dirty="0"/>
              <a:t> Clinical diagnosis based on the timing and nature of the pain.</a:t>
            </a:r>
          </a:p>
          <a:p>
            <a:pPr>
              <a:buFont typeface="Arial" panose="020B0604020202020204" pitchFamily="34" charset="0"/>
              <a:buChar char="•"/>
            </a:pPr>
            <a:r>
              <a:rPr lang="en-GB" b="1" dirty="0"/>
              <a:t>Treatment:</a:t>
            </a:r>
            <a:endParaRPr lang="en-GB" dirty="0"/>
          </a:p>
          <a:p>
            <a:pPr marL="742950" lvl="1" indent="-285750">
              <a:buFont typeface="Arial" panose="020B0604020202020204" pitchFamily="34" charset="0"/>
              <a:buChar char="•"/>
            </a:pPr>
            <a:r>
              <a:rPr lang="en-GB" b="1" dirty="0"/>
              <a:t>Nerve Pain Medications:</a:t>
            </a:r>
            <a:r>
              <a:rPr lang="en-GB" dirty="0"/>
              <a:t> Gabapentin, Pregabalin, or Amitriptyline.</a:t>
            </a:r>
          </a:p>
          <a:p>
            <a:pPr marL="742950" lvl="1" indent="-285750">
              <a:buFont typeface="Arial" panose="020B0604020202020204" pitchFamily="34" charset="0"/>
              <a:buChar char="•"/>
            </a:pPr>
            <a:r>
              <a:rPr lang="en-GB" b="1" dirty="0"/>
              <a:t>Topical Relief:</a:t>
            </a:r>
            <a:r>
              <a:rPr lang="en-GB" dirty="0"/>
              <a:t> Lidocaine patches or Capsaicin cream (only on fully healed skin).</a:t>
            </a:r>
          </a:p>
        </p:txBody>
      </p:sp>
    </p:spTree>
    <p:extLst>
      <p:ext uri="{BB962C8B-B14F-4D97-AF65-F5344CB8AC3E}">
        <p14:creationId xmlns:p14="http://schemas.microsoft.com/office/powerpoint/2010/main" val="33064272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19208-4040-781D-BC4D-191935D69EE8}"/>
              </a:ext>
            </a:extLst>
          </p:cNvPr>
          <p:cNvSpPr>
            <a:spLocks noGrp="1"/>
          </p:cNvSpPr>
          <p:nvPr>
            <p:ph type="title"/>
          </p:nvPr>
        </p:nvSpPr>
        <p:spPr/>
        <p:txBody>
          <a:bodyPr/>
          <a:lstStyle/>
          <a:p>
            <a:r>
              <a:rPr lang="en-GB" dirty="0"/>
              <a:t>VZV CNS Vasculopathy (Stroke Risk)</a:t>
            </a:r>
            <a:endParaRPr lang="en-US" dirty="0"/>
          </a:p>
        </p:txBody>
      </p:sp>
      <p:sp>
        <p:nvSpPr>
          <p:cNvPr id="3" name="Content Placeholder 2">
            <a:extLst>
              <a:ext uri="{FF2B5EF4-FFF2-40B4-BE49-F238E27FC236}">
                <a16:creationId xmlns:a16="http://schemas.microsoft.com/office/drawing/2014/main" id="{E43760F0-B3DF-51FA-AE4A-E540A6FBFB2A}"/>
              </a:ext>
            </a:extLst>
          </p:cNvPr>
          <p:cNvSpPr>
            <a:spLocks noGrp="1"/>
          </p:cNvSpPr>
          <p:nvPr>
            <p:ph idx="1"/>
          </p:nvPr>
        </p:nvSpPr>
        <p:spPr/>
        <p:txBody>
          <a:bodyPr/>
          <a:lstStyle/>
          <a:p>
            <a:pPr>
              <a:buFont typeface="Arial" panose="020B0604020202020204" pitchFamily="34" charset="0"/>
              <a:buChar char="•"/>
            </a:pPr>
            <a:r>
              <a:rPr lang="en-GB" b="1" dirty="0"/>
              <a:t>Issue:</a:t>
            </a:r>
            <a:r>
              <a:rPr lang="en-GB" dirty="0"/>
              <a:t> Virus infects brain arteries, causing inflammation and delayed stroke (weeks/months later).</a:t>
            </a:r>
          </a:p>
          <a:p>
            <a:pPr>
              <a:buFont typeface="Arial" panose="020B0604020202020204" pitchFamily="34" charset="0"/>
              <a:buChar char="•"/>
            </a:pPr>
            <a:r>
              <a:rPr lang="en-GB" b="1" dirty="0"/>
              <a:t>Investigations:</a:t>
            </a:r>
            <a:endParaRPr lang="en-GB" dirty="0"/>
          </a:p>
          <a:p>
            <a:pPr marL="742950" lvl="1" indent="-285750">
              <a:buFont typeface="Arial" panose="020B0604020202020204" pitchFamily="34" charset="0"/>
              <a:buChar char="•"/>
            </a:pPr>
            <a:r>
              <a:rPr lang="en-GB" b="1" dirty="0"/>
              <a:t>Lumbar Puncture:</a:t>
            </a:r>
            <a:r>
              <a:rPr lang="en-GB" dirty="0"/>
              <a:t> CSF analysis for VZV antibodies.</a:t>
            </a:r>
          </a:p>
          <a:p>
            <a:pPr marL="742950" lvl="1" indent="-285750">
              <a:buFont typeface="Arial" panose="020B0604020202020204" pitchFamily="34" charset="0"/>
              <a:buChar char="•"/>
            </a:pPr>
            <a:r>
              <a:rPr lang="en-GB" b="1" dirty="0"/>
              <a:t>Brain Imaging:</a:t>
            </a:r>
            <a:r>
              <a:rPr lang="en-GB" dirty="0"/>
              <a:t> MRI/CT scan and Angiography (MRA/CTA) to see narrowed blood vessels.</a:t>
            </a:r>
          </a:p>
          <a:p>
            <a:pPr>
              <a:buFont typeface="Arial" panose="020B0604020202020204" pitchFamily="34" charset="0"/>
              <a:buChar char="•"/>
            </a:pPr>
            <a:r>
              <a:rPr lang="en-GB" b="1" dirty="0"/>
              <a:t>Treatment:</a:t>
            </a:r>
            <a:r>
              <a:rPr lang="en-GB" dirty="0"/>
              <a:t> Emergency hospital admission for </a:t>
            </a:r>
            <a:r>
              <a:rPr lang="en-GB" b="1" dirty="0"/>
              <a:t>IV Acyclovir</a:t>
            </a:r>
            <a:r>
              <a:rPr lang="en-GB" dirty="0"/>
              <a:t> combined with </a:t>
            </a:r>
            <a:r>
              <a:rPr lang="en-GB" b="1" dirty="0"/>
              <a:t>systemic steroids</a:t>
            </a:r>
            <a:r>
              <a:rPr lang="en-GB" dirty="0"/>
              <a:t> to lower inflammation.</a:t>
            </a:r>
          </a:p>
          <a:p>
            <a:endParaRPr lang="en-US" dirty="0"/>
          </a:p>
        </p:txBody>
      </p:sp>
    </p:spTree>
    <p:extLst>
      <p:ext uri="{BB962C8B-B14F-4D97-AF65-F5344CB8AC3E}">
        <p14:creationId xmlns:p14="http://schemas.microsoft.com/office/powerpoint/2010/main" val="18420547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0BF54-3DAE-D19E-D038-AD19657DC830}"/>
              </a:ext>
            </a:extLst>
          </p:cNvPr>
          <p:cNvSpPr>
            <a:spLocks noGrp="1"/>
          </p:cNvSpPr>
          <p:nvPr>
            <p:ph type="title"/>
          </p:nvPr>
        </p:nvSpPr>
        <p:spPr/>
        <p:txBody>
          <a:bodyPr/>
          <a:lstStyle/>
          <a:p>
            <a:r>
              <a:rPr lang="en-GB" dirty="0"/>
              <a:t>Visceral &amp; Mucosal Manifestations</a:t>
            </a:r>
            <a:endParaRPr lang="en-US" dirty="0"/>
          </a:p>
        </p:txBody>
      </p:sp>
      <p:sp>
        <p:nvSpPr>
          <p:cNvPr id="3" name="Content Placeholder 2">
            <a:extLst>
              <a:ext uri="{FF2B5EF4-FFF2-40B4-BE49-F238E27FC236}">
                <a16:creationId xmlns:a16="http://schemas.microsoft.com/office/drawing/2014/main" id="{10C6D9CE-E813-9318-3B90-E171C76963FB}"/>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GB" b="1" dirty="0"/>
              <a:t>Widespread Visceral Dissemination:</a:t>
            </a:r>
            <a:r>
              <a:rPr lang="en-GB" dirty="0"/>
              <a:t> Viral spread via the bloodstream or nerves to internal organs, particularly the </a:t>
            </a:r>
            <a:r>
              <a:rPr lang="en-GB" b="1" dirty="0"/>
              <a:t>lungs, liver, and brain</a:t>
            </a:r>
            <a:r>
              <a:rPr lang="en-GB" dirty="0"/>
              <a:t>; this is often fatal and occurs primarily in immunocompromised patients.</a:t>
            </a:r>
          </a:p>
          <a:p>
            <a:pPr>
              <a:buFont typeface="Arial" panose="020B0604020202020204" pitchFamily="34" charset="0"/>
              <a:buChar char="•"/>
            </a:pPr>
            <a:r>
              <a:rPr lang="en-GB" b="1" dirty="0"/>
              <a:t>Dermatome-Corresponding Visceral Lesions:</a:t>
            </a:r>
            <a:endParaRPr lang="en-GB" dirty="0"/>
          </a:p>
          <a:p>
            <a:pPr marL="742950" lvl="1" indent="-285750">
              <a:buFont typeface="Arial" panose="020B0604020202020204" pitchFamily="34" charset="0"/>
              <a:buChar char="•"/>
            </a:pPr>
            <a:r>
              <a:rPr lang="en-GB" b="1" dirty="0"/>
              <a:t>Gastric mucosa lesions</a:t>
            </a:r>
            <a:r>
              <a:rPr lang="en-GB" dirty="0"/>
              <a:t> (associated with thoracic herpes zoster).</a:t>
            </a:r>
          </a:p>
          <a:p>
            <a:pPr marL="742950" lvl="1" indent="-285750">
              <a:buFont typeface="Arial" panose="020B0604020202020204" pitchFamily="34" charset="0"/>
              <a:buChar char="•"/>
            </a:pPr>
            <a:r>
              <a:rPr lang="en-GB" b="1" dirty="0" err="1"/>
              <a:t>Hemicystitis</a:t>
            </a:r>
            <a:r>
              <a:rPr lang="en-GB" dirty="0"/>
              <a:t> (associated with sacral herpes zoster).</a:t>
            </a:r>
          </a:p>
          <a:p>
            <a:pPr marL="742950" lvl="1" indent="-285750">
              <a:buFont typeface="Arial" panose="020B0604020202020204" pitchFamily="34" charset="0"/>
              <a:buChar char="•"/>
            </a:pPr>
            <a:r>
              <a:rPr lang="en-GB" b="1" dirty="0"/>
              <a:t>Mucosal lesions</a:t>
            </a:r>
            <a:r>
              <a:rPr lang="en-GB" dirty="0"/>
              <a:t> causing esophagitis, pleuritis, and peritonitis.</a:t>
            </a:r>
          </a:p>
          <a:p>
            <a:pPr>
              <a:buFont typeface="Arial" panose="020B0604020202020204" pitchFamily="34" charset="0"/>
              <a:buChar char="•"/>
            </a:pPr>
            <a:r>
              <a:rPr lang="en-GB" b="1" dirty="0"/>
              <a:t>Motility and Sphincter Dysfunction:</a:t>
            </a:r>
            <a:r>
              <a:rPr lang="en-GB" dirty="0"/>
              <a:t> Infection of visceral afferents in mechanoreceptors can lead to </a:t>
            </a:r>
            <a:r>
              <a:rPr lang="en-GB" b="1" dirty="0"/>
              <a:t>ileus</a:t>
            </a:r>
            <a:r>
              <a:rPr lang="en-GB" dirty="0"/>
              <a:t>, symptoms of </a:t>
            </a:r>
            <a:r>
              <a:rPr lang="en-GB" b="1" dirty="0"/>
              <a:t>gastrointestinal obstruction</a:t>
            </a:r>
            <a:r>
              <a:rPr lang="en-GB" dirty="0"/>
              <a:t>, and </a:t>
            </a:r>
            <a:r>
              <a:rPr lang="en-GB" b="1" dirty="0"/>
              <a:t>bladder/anus dysfunction</a:t>
            </a:r>
            <a:r>
              <a:rPr lang="en-GB" dirty="0"/>
              <a:t>.</a:t>
            </a:r>
          </a:p>
          <a:p>
            <a:pPr>
              <a:buFont typeface="Arial" panose="020B0604020202020204" pitchFamily="34" charset="0"/>
              <a:buChar char="•"/>
            </a:pPr>
            <a:r>
              <a:rPr lang="en-GB" b="1" dirty="0"/>
              <a:t>Myositis:</a:t>
            </a:r>
            <a:r>
              <a:rPr lang="en-GB" dirty="0"/>
              <a:t> Caused by the transmission of ganglionic infection via proprioceptive afferents.</a:t>
            </a:r>
          </a:p>
          <a:p>
            <a:endParaRPr lang="en-US" dirty="0"/>
          </a:p>
        </p:txBody>
      </p:sp>
    </p:spTree>
    <p:extLst>
      <p:ext uri="{BB962C8B-B14F-4D97-AF65-F5344CB8AC3E}">
        <p14:creationId xmlns:p14="http://schemas.microsoft.com/office/powerpoint/2010/main" val="13968679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D31F4B-7118-7815-4B1F-0721527CF9DF}"/>
              </a:ext>
            </a:extLst>
          </p:cNvPr>
          <p:cNvSpPr>
            <a:spLocks noGrp="1"/>
          </p:cNvSpPr>
          <p:nvPr>
            <p:ph type="title"/>
          </p:nvPr>
        </p:nvSpPr>
        <p:spPr/>
        <p:txBody>
          <a:bodyPr/>
          <a:lstStyle/>
          <a:p>
            <a:r>
              <a:rPr lang="en-GB" dirty="0"/>
              <a:t>Organ Involvement (Lungs, Liver, Gut)</a:t>
            </a:r>
            <a:endParaRPr lang="en-US" dirty="0"/>
          </a:p>
        </p:txBody>
      </p:sp>
      <p:sp>
        <p:nvSpPr>
          <p:cNvPr id="3" name="Content Placeholder 2">
            <a:extLst>
              <a:ext uri="{FF2B5EF4-FFF2-40B4-BE49-F238E27FC236}">
                <a16:creationId xmlns:a16="http://schemas.microsoft.com/office/drawing/2014/main" id="{F0F97FD8-CA42-5370-B7B0-23921815E730}"/>
              </a:ext>
            </a:extLst>
          </p:cNvPr>
          <p:cNvSpPr>
            <a:spLocks noGrp="1"/>
          </p:cNvSpPr>
          <p:nvPr>
            <p:ph idx="1"/>
          </p:nvPr>
        </p:nvSpPr>
        <p:spPr/>
        <p:txBody>
          <a:bodyPr>
            <a:normAutofit lnSpcReduction="10000"/>
          </a:bodyPr>
          <a:lstStyle/>
          <a:p>
            <a:pPr>
              <a:buFont typeface="Arial" panose="020B0604020202020204" pitchFamily="34" charset="0"/>
              <a:buChar char="•"/>
            </a:pPr>
            <a:r>
              <a:rPr lang="en-GB" b="1" dirty="0"/>
              <a:t>Issue:</a:t>
            </a:r>
            <a:r>
              <a:rPr lang="en-GB" dirty="0"/>
              <a:t> High-mortality spread to organs (Pneumonitis, Hepatitis, Gastritis, or Intestinal Ileus); common in immunocompromised patients.</a:t>
            </a:r>
          </a:p>
          <a:p>
            <a:pPr>
              <a:buFont typeface="Arial" panose="020B0604020202020204" pitchFamily="34" charset="0"/>
              <a:buChar char="•"/>
            </a:pPr>
            <a:r>
              <a:rPr lang="en-GB" b="1" dirty="0"/>
              <a:t>Investigations:</a:t>
            </a:r>
            <a:endParaRPr lang="en-GB" dirty="0"/>
          </a:p>
          <a:p>
            <a:pPr marL="742950" lvl="1" indent="-285750">
              <a:buFont typeface="Arial" panose="020B0604020202020204" pitchFamily="34" charset="0"/>
              <a:buChar char="•"/>
            </a:pPr>
            <a:r>
              <a:rPr lang="en-GB" b="1" dirty="0"/>
              <a:t>PCR Testing:</a:t>
            </a:r>
            <a:r>
              <a:rPr lang="en-GB" dirty="0"/>
              <a:t> Rapid blood or tissue fluid DNA testing to confirm VZV.</a:t>
            </a:r>
          </a:p>
          <a:p>
            <a:pPr marL="742950" lvl="1" indent="-285750">
              <a:buFont typeface="Arial" panose="020B0604020202020204" pitchFamily="34" charset="0"/>
              <a:buChar char="•"/>
            </a:pPr>
            <a:r>
              <a:rPr lang="en-GB" b="1" dirty="0"/>
              <a:t>Imaging:</a:t>
            </a:r>
            <a:r>
              <a:rPr lang="en-GB" dirty="0"/>
              <a:t> Chest CT (for lung involvement) or abdominal scans.</a:t>
            </a:r>
          </a:p>
          <a:p>
            <a:pPr>
              <a:buFont typeface="Arial" panose="020B0604020202020204" pitchFamily="34" charset="0"/>
              <a:buChar char="•"/>
            </a:pPr>
            <a:r>
              <a:rPr lang="en-GB" b="1" dirty="0"/>
              <a:t>Treatment:</a:t>
            </a:r>
            <a:endParaRPr lang="en-GB" dirty="0"/>
          </a:p>
          <a:p>
            <a:pPr marL="742950" lvl="1" indent="-285750">
              <a:buFont typeface="Arial" panose="020B0604020202020204" pitchFamily="34" charset="0"/>
              <a:buChar char="•"/>
            </a:pPr>
            <a:r>
              <a:rPr lang="en-GB" b="1" dirty="0"/>
              <a:t>Immediate Action:</a:t>
            </a:r>
            <a:r>
              <a:rPr lang="en-GB" dirty="0"/>
              <a:t> Emergency hospitalization; </a:t>
            </a:r>
            <a:r>
              <a:rPr lang="en-GB" b="1" dirty="0"/>
              <a:t>do not wait</a:t>
            </a:r>
            <a:r>
              <a:rPr lang="en-GB" dirty="0"/>
              <a:t> for lab confirmation to start treatment.</a:t>
            </a:r>
          </a:p>
          <a:p>
            <a:pPr marL="742950" lvl="1" indent="-285750">
              <a:buFont typeface="Arial" panose="020B0604020202020204" pitchFamily="34" charset="0"/>
              <a:buChar char="•"/>
            </a:pPr>
            <a:r>
              <a:rPr lang="en-GB" b="1" dirty="0"/>
              <a:t>Medication:</a:t>
            </a:r>
            <a:r>
              <a:rPr lang="en-GB" dirty="0"/>
              <a:t> High-dose </a:t>
            </a:r>
            <a:r>
              <a:rPr lang="en-GB" b="1" dirty="0"/>
              <a:t>IV Acyclovir</a:t>
            </a:r>
            <a:r>
              <a:rPr lang="en-GB" dirty="0"/>
              <a:t>.</a:t>
            </a:r>
          </a:p>
          <a:p>
            <a:pPr marL="742950" lvl="1" indent="-285750">
              <a:buFont typeface="Arial" panose="020B0604020202020204" pitchFamily="34" charset="0"/>
              <a:buChar char="•"/>
            </a:pPr>
            <a:r>
              <a:rPr lang="en-GB" b="1" dirty="0"/>
              <a:t>Alternative:</a:t>
            </a:r>
            <a:r>
              <a:rPr lang="en-GB" dirty="0"/>
              <a:t> IV </a:t>
            </a:r>
            <a:r>
              <a:rPr lang="en-GB" dirty="0" err="1"/>
              <a:t>Foscarnet</a:t>
            </a:r>
            <a:r>
              <a:rPr lang="en-GB" dirty="0"/>
              <a:t> if the virus strain is resistant to Acyclovir.</a:t>
            </a:r>
          </a:p>
          <a:p>
            <a:endParaRPr lang="en-US" dirty="0"/>
          </a:p>
        </p:txBody>
      </p:sp>
    </p:spTree>
    <p:extLst>
      <p:ext uri="{BB962C8B-B14F-4D97-AF65-F5344CB8AC3E}">
        <p14:creationId xmlns:p14="http://schemas.microsoft.com/office/powerpoint/2010/main" val="26795588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B9C4B-E1A4-D18D-6BAF-E5C81F5B37F3}"/>
              </a:ext>
            </a:extLst>
          </p:cNvPr>
          <p:cNvSpPr>
            <a:spLocks noGrp="1"/>
          </p:cNvSpPr>
          <p:nvPr>
            <p:ph type="title"/>
          </p:nvPr>
        </p:nvSpPr>
        <p:spPr/>
        <p:txBody>
          <a:bodyPr/>
          <a:lstStyle/>
          <a:p>
            <a:r>
              <a:rPr lang="en-GB" dirty="0"/>
              <a:t>Ocular Manifestations (Ophthalmic Zoster)</a:t>
            </a:r>
            <a:endParaRPr lang="en-US" dirty="0"/>
          </a:p>
        </p:txBody>
      </p:sp>
      <p:sp>
        <p:nvSpPr>
          <p:cNvPr id="3" name="Content Placeholder 2">
            <a:extLst>
              <a:ext uri="{FF2B5EF4-FFF2-40B4-BE49-F238E27FC236}">
                <a16:creationId xmlns:a16="http://schemas.microsoft.com/office/drawing/2014/main" id="{38761FCF-7261-6BBE-B67D-89AAD99B7DB5}"/>
              </a:ext>
            </a:extLst>
          </p:cNvPr>
          <p:cNvSpPr>
            <a:spLocks noGrp="1"/>
          </p:cNvSpPr>
          <p:nvPr>
            <p:ph idx="1"/>
          </p:nvPr>
        </p:nvSpPr>
        <p:spPr/>
        <p:txBody>
          <a:bodyPr>
            <a:normAutofit/>
          </a:bodyPr>
          <a:lstStyle/>
          <a:p>
            <a:pPr>
              <a:buFont typeface="Arial" panose="020B0604020202020204" pitchFamily="34" charset="0"/>
              <a:buChar char="•"/>
            </a:pPr>
            <a:r>
              <a:rPr lang="en-GB" b="1" dirty="0"/>
              <a:t>Impaired Corneal Sensation:</a:t>
            </a:r>
            <a:r>
              <a:rPr lang="en-GB" dirty="0"/>
              <a:t> Severe impairment can progress to </a:t>
            </a:r>
            <a:r>
              <a:rPr lang="en-GB" b="1" dirty="0"/>
              <a:t>neurotrophic keratitis</a:t>
            </a:r>
            <a:r>
              <a:rPr lang="en-GB" dirty="0"/>
              <a:t>.</a:t>
            </a:r>
          </a:p>
          <a:p>
            <a:pPr>
              <a:buFont typeface="Arial" panose="020B0604020202020204" pitchFamily="34" charset="0"/>
              <a:buChar char="•"/>
            </a:pPr>
            <a:r>
              <a:rPr lang="en-GB" b="1" dirty="0"/>
              <a:t>Chronic Ocular Complications:</a:t>
            </a:r>
            <a:r>
              <a:rPr lang="en-GB" dirty="0"/>
              <a:t> Can result in chronic corneal ulceration and secondary bacterial infections.</a:t>
            </a:r>
          </a:p>
          <a:p>
            <a:endParaRPr lang="en-US" dirty="0"/>
          </a:p>
        </p:txBody>
      </p:sp>
    </p:spTree>
    <p:extLst>
      <p:ext uri="{BB962C8B-B14F-4D97-AF65-F5344CB8AC3E}">
        <p14:creationId xmlns:p14="http://schemas.microsoft.com/office/powerpoint/2010/main" val="369403638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3F9A1-2967-BA21-5B85-6E8C4FEB0007}"/>
              </a:ext>
            </a:extLst>
          </p:cNvPr>
          <p:cNvSpPr>
            <a:spLocks noGrp="1"/>
          </p:cNvSpPr>
          <p:nvPr>
            <p:ph type="title"/>
          </p:nvPr>
        </p:nvSpPr>
        <p:spPr/>
        <p:txBody>
          <a:bodyPr/>
          <a:lstStyle/>
          <a:p>
            <a:r>
              <a:rPr lang="en-GB" dirty="0"/>
              <a:t>Herpes Zoster </a:t>
            </a:r>
            <a:r>
              <a:rPr lang="en-GB" dirty="0" err="1"/>
              <a:t>Ophthalmicus</a:t>
            </a:r>
            <a:r>
              <a:rPr lang="en-GB" dirty="0"/>
              <a:t> (HZO)</a:t>
            </a:r>
            <a:endParaRPr lang="en-US" dirty="0"/>
          </a:p>
        </p:txBody>
      </p:sp>
      <p:sp>
        <p:nvSpPr>
          <p:cNvPr id="3" name="Content Placeholder 2">
            <a:extLst>
              <a:ext uri="{FF2B5EF4-FFF2-40B4-BE49-F238E27FC236}">
                <a16:creationId xmlns:a16="http://schemas.microsoft.com/office/drawing/2014/main" id="{D2A45AFC-3755-7445-2F5E-CBC7368AB490}"/>
              </a:ext>
            </a:extLst>
          </p:cNvPr>
          <p:cNvSpPr>
            <a:spLocks noGrp="1"/>
          </p:cNvSpPr>
          <p:nvPr>
            <p:ph idx="1"/>
          </p:nvPr>
        </p:nvSpPr>
        <p:spPr/>
        <p:txBody>
          <a:bodyPr>
            <a:normAutofit/>
          </a:bodyPr>
          <a:lstStyle/>
          <a:p>
            <a:pPr>
              <a:buFont typeface="Arial" panose="020B0604020202020204" pitchFamily="34" charset="0"/>
              <a:buChar char="•"/>
            </a:pPr>
            <a:r>
              <a:rPr lang="en-GB" b="1" dirty="0"/>
              <a:t>Issue:</a:t>
            </a:r>
            <a:r>
              <a:rPr lang="en-GB" dirty="0"/>
              <a:t> Threatens eyesight; causes corneal scarring, chronic inflammation, or retinal death.</a:t>
            </a:r>
          </a:p>
          <a:p>
            <a:pPr>
              <a:buFont typeface="Arial" panose="020B0604020202020204" pitchFamily="34" charset="0"/>
              <a:buChar char="•"/>
            </a:pPr>
            <a:r>
              <a:rPr lang="en-GB" b="1" dirty="0"/>
              <a:t>Investigations:</a:t>
            </a:r>
            <a:endParaRPr lang="en-GB" dirty="0"/>
          </a:p>
          <a:p>
            <a:pPr marL="742950" lvl="1" indent="-285750">
              <a:buFont typeface="Arial" panose="020B0604020202020204" pitchFamily="34" charset="0"/>
              <a:buChar char="•"/>
            </a:pPr>
            <a:r>
              <a:rPr lang="en-GB" b="1" dirty="0"/>
              <a:t>Slit-Lamp Exam:</a:t>
            </a:r>
            <a:r>
              <a:rPr lang="en-GB" dirty="0"/>
              <a:t> Check for corneal ulcers and internal eye inflammation.</a:t>
            </a:r>
          </a:p>
          <a:p>
            <a:pPr marL="742950" lvl="1" indent="-285750">
              <a:buFont typeface="Arial" panose="020B0604020202020204" pitchFamily="34" charset="0"/>
              <a:buChar char="•"/>
            </a:pPr>
            <a:r>
              <a:rPr lang="en-GB" b="1" dirty="0"/>
              <a:t>Eye Pressure Test:</a:t>
            </a:r>
            <a:r>
              <a:rPr lang="en-GB" dirty="0"/>
              <a:t> Monitor for secondary glaucoma.</a:t>
            </a:r>
          </a:p>
          <a:p>
            <a:pPr>
              <a:buFont typeface="Arial" panose="020B0604020202020204" pitchFamily="34" charset="0"/>
              <a:buChar char="•"/>
            </a:pPr>
            <a:r>
              <a:rPr lang="en-GB" b="1" dirty="0"/>
              <a:t>Treatment:</a:t>
            </a:r>
            <a:endParaRPr lang="en-GB" dirty="0"/>
          </a:p>
          <a:p>
            <a:pPr marL="742950" lvl="1" indent="-285750">
              <a:buFont typeface="Arial" panose="020B0604020202020204" pitchFamily="34" charset="0"/>
              <a:buChar char="•"/>
            </a:pPr>
            <a:r>
              <a:rPr lang="en-GB" b="1" dirty="0"/>
              <a:t>Immediate Oral Antivirals:</a:t>
            </a:r>
            <a:r>
              <a:rPr lang="en-GB" dirty="0"/>
              <a:t> High-dose Valacyclovir or Famciclovir.</a:t>
            </a:r>
          </a:p>
          <a:p>
            <a:pPr marL="742950" lvl="1" indent="-285750">
              <a:buFont typeface="Arial" panose="020B0604020202020204" pitchFamily="34" charset="0"/>
              <a:buChar char="•"/>
            </a:pPr>
            <a:r>
              <a:rPr lang="en-GB" b="1" dirty="0"/>
              <a:t>Targeted Eye Drops:</a:t>
            </a:r>
            <a:r>
              <a:rPr lang="en-GB" dirty="0"/>
              <a:t> Topical steroid drops (under strict specialist supervision) and dilating drops.</a:t>
            </a:r>
          </a:p>
          <a:p>
            <a:endParaRPr lang="en-US" dirty="0"/>
          </a:p>
        </p:txBody>
      </p:sp>
    </p:spTree>
    <p:extLst>
      <p:ext uri="{BB962C8B-B14F-4D97-AF65-F5344CB8AC3E}">
        <p14:creationId xmlns:p14="http://schemas.microsoft.com/office/powerpoint/2010/main" val="342837374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24944-9EC8-786B-7550-30A217E6C5DA}"/>
              </a:ext>
            </a:extLst>
          </p:cNvPr>
          <p:cNvSpPr>
            <a:spLocks noGrp="1"/>
          </p:cNvSpPr>
          <p:nvPr>
            <p:ph type="title"/>
          </p:nvPr>
        </p:nvSpPr>
        <p:spPr/>
        <p:txBody>
          <a:bodyPr>
            <a:normAutofit/>
          </a:bodyPr>
          <a:lstStyle/>
          <a:p>
            <a:r>
              <a:rPr lang="en-GB" dirty="0"/>
              <a:t>Systemic Impact on Quality of Life (Secondary to PHN)</a:t>
            </a:r>
            <a:endParaRPr lang="en-US" dirty="0"/>
          </a:p>
        </p:txBody>
      </p:sp>
      <p:sp>
        <p:nvSpPr>
          <p:cNvPr id="3" name="Content Placeholder 2">
            <a:extLst>
              <a:ext uri="{FF2B5EF4-FFF2-40B4-BE49-F238E27FC236}">
                <a16:creationId xmlns:a16="http://schemas.microsoft.com/office/drawing/2014/main" id="{BA6BEFAF-D4F7-78D9-D350-AD817395B86F}"/>
              </a:ext>
            </a:extLst>
          </p:cNvPr>
          <p:cNvSpPr>
            <a:spLocks noGrp="1"/>
          </p:cNvSpPr>
          <p:nvPr>
            <p:ph idx="1"/>
          </p:nvPr>
        </p:nvSpPr>
        <p:spPr/>
        <p:txBody>
          <a:bodyPr/>
          <a:lstStyle/>
          <a:p>
            <a:pPr>
              <a:buFont typeface="Arial" panose="020B0604020202020204" pitchFamily="34" charset="0"/>
              <a:buChar char="•"/>
            </a:pPr>
            <a:r>
              <a:rPr lang="en-GB" b="1" dirty="0"/>
              <a:t>Constitutional &amp; Psychological Symptoms:</a:t>
            </a:r>
            <a:r>
              <a:rPr lang="en-GB" dirty="0"/>
              <a:t> Chronic pain frequently causes disordered sleep, depression, anorexia, weight loss, chronic fatigue, and social isolation.</a:t>
            </a:r>
          </a:p>
          <a:p>
            <a:pPr>
              <a:buFont typeface="Arial" panose="020B0604020202020204" pitchFamily="34" charset="0"/>
              <a:buChar char="•"/>
            </a:pPr>
            <a:r>
              <a:rPr lang="en-GB" b="1" dirty="0"/>
              <a:t>Functional Impairment:</a:t>
            </a:r>
            <a:r>
              <a:rPr lang="en-GB" dirty="0"/>
              <a:t> Interferes with basic daily activities such as bathing, dressing, traveling, shopping, cooking, and housework.</a:t>
            </a:r>
          </a:p>
          <a:p>
            <a:endParaRPr lang="en-US" dirty="0"/>
          </a:p>
        </p:txBody>
      </p:sp>
    </p:spTree>
    <p:extLst>
      <p:ext uri="{BB962C8B-B14F-4D97-AF65-F5344CB8AC3E}">
        <p14:creationId xmlns:p14="http://schemas.microsoft.com/office/powerpoint/2010/main" val="374639686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FC5A2-9E14-5688-BDA5-9B8DAB4DF88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D292713-576C-4BCD-DEF0-AF103FC3C19D}"/>
              </a:ext>
            </a:extLst>
          </p:cNvPr>
          <p:cNvSpPr>
            <a:spLocks noGrp="1"/>
          </p:cNvSpPr>
          <p:nvPr>
            <p:ph idx="1"/>
          </p:nvPr>
        </p:nvSpPr>
        <p:spPr/>
        <p:txBody>
          <a:bodyPr/>
          <a:lstStyle/>
          <a:p>
            <a:r>
              <a:rPr lang="en-GB" b="1" dirty="0"/>
              <a:t>Vascular Associations (Controversial)</a:t>
            </a:r>
          </a:p>
          <a:p>
            <a:pPr>
              <a:buFont typeface="Arial" panose="020B0604020202020204" pitchFamily="34" charset="0"/>
              <a:buChar char="•"/>
            </a:pPr>
            <a:r>
              <a:rPr lang="en-GB" dirty="0"/>
              <a:t>Reactivation of latent VZV and resulting granulomatous angiitis has been associated in some studies with </a:t>
            </a:r>
            <a:r>
              <a:rPr lang="en-GB" b="1" dirty="0"/>
              <a:t>temporal arteritis, myocardial infarction, and aortic aneurysms</a:t>
            </a:r>
            <a:r>
              <a:rPr lang="en-GB" dirty="0"/>
              <a:t>, though these links remain controversial.</a:t>
            </a:r>
          </a:p>
          <a:p>
            <a:endParaRPr lang="en-US" dirty="0"/>
          </a:p>
        </p:txBody>
      </p:sp>
    </p:spTree>
    <p:extLst>
      <p:ext uri="{BB962C8B-B14F-4D97-AF65-F5344CB8AC3E}">
        <p14:creationId xmlns:p14="http://schemas.microsoft.com/office/powerpoint/2010/main" val="6992266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1599-6A7D-D17C-3ACD-76506E75FA09}"/>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7706CC7C-60ED-6083-6C1C-EA0A6F21BD24}"/>
              </a:ext>
            </a:extLst>
          </p:cNvPr>
          <p:cNvSpPr>
            <a:spLocks noGrp="1"/>
          </p:cNvSpPr>
          <p:nvPr>
            <p:ph idx="1"/>
          </p:nvPr>
        </p:nvSpPr>
        <p:spPr/>
        <p:txBody>
          <a:bodyPr>
            <a:normAutofit/>
          </a:bodyPr>
          <a:lstStyle/>
          <a:p>
            <a:r>
              <a:rPr lang="en-GB" sz="2400" dirty="0"/>
              <a:t>Fitzpatrick's Dermatology, 9th Edition (published by McGraw-Hill Education).</a:t>
            </a:r>
          </a:p>
          <a:p>
            <a:r>
              <a:rPr lang="en-GB" sz="2400" dirty="0" err="1"/>
              <a:t>Workowski</a:t>
            </a:r>
            <a:r>
              <a:rPr lang="en-GB" sz="2400" dirty="0"/>
              <a:t>, K. A., Bachmann, L. H., Chan, P. A., et al. (2021). Sexually Transmitted Infections Treatment Guidelines, 2021. </a:t>
            </a:r>
            <a:r>
              <a:rPr lang="en-GB" sz="2400" i="1" dirty="0"/>
              <a:t>MMWR Recommendations and Reports</a:t>
            </a:r>
            <a:r>
              <a:rPr lang="en-GB" sz="2400" dirty="0"/>
              <a:t>, 70(4), 1–187.</a:t>
            </a:r>
          </a:p>
          <a:p>
            <a:r>
              <a:rPr lang="en-GB" sz="2400" dirty="0" err="1"/>
              <a:t>Tsuboi</a:t>
            </a:r>
            <a:r>
              <a:rPr lang="en-GB" sz="2400" dirty="0"/>
              <a:t>, M., Evans, J., Davies, E. P., et al. (2024). Syphilis. </a:t>
            </a:r>
            <a:r>
              <a:rPr lang="en-GB" sz="2400" i="1" dirty="0"/>
              <a:t>The Lancet</a:t>
            </a:r>
            <a:r>
              <a:rPr lang="en-GB" sz="2400" dirty="0"/>
              <a:t>, 403(10432), 1184–1202.</a:t>
            </a:r>
          </a:p>
          <a:p>
            <a:r>
              <a:rPr lang="en-GB" sz="2400" dirty="0"/>
              <a:t>Kojima, N., &amp; Klausner, J. D. (2024). Syphilis: A Review. </a:t>
            </a:r>
            <a:r>
              <a:rPr lang="en-GB" sz="2400" i="1" dirty="0"/>
              <a:t>JAMA</a:t>
            </a:r>
            <a:r>
              <a:rPr lang="en-GB" sz="2400" dirty="0"/>
              <a:t>, 331(4), 329–341.</a:t>
            </a:r>
          </a:p>
          <a:p>
            <a:r>
              <a:rPr lang="en-GB" sz="2400" dirty="0"/>
              <a:t>Panel on Guidelines for the Prevention and Treatment of Opportunistic Infections in Adults and Adolescents with HIV. (2025). </a:t>
            </a:r>
          </a:p>
          <a:p>
            <a:r>
              <a:rPr lang="en-GB" sz="2400" dirty="0" err="1"/>
              <a:t>Uptodate</a:t>
            </a:r>
            <a:endParaRPr lang="en-US" sz="2400" dirty="0"/>
          </a:p>
        </p:txBody>
      </p:sp>
    </p:spTree>
    <p:extLst>
      <p:ext uri="{BB962C8B-B14F-4D97-AF65-F5344CB8AC3E}">
        <p14:creationId xmlns:p14="http://schemas.microsoft.com/office/powerpoint/2010/main" val="1685802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5514</TotalTime>
  <Words>3317</Words>
  <Application>Microsoft Macintosh PowerPoint</Application>
  <PresentationFormat>Widescreen</PresentationFormat>
  <Paragraphs>357</Paragraphs>
  <Slides>66</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66</vt:i4>
      </vt:variant>
    </vt:vector>
  </HeadingPairs>
  <TitlesOfParts>
    <vt:vector size="74" baseType="lpstr">
      <vt:lpstr>Arial</vt:lpstr>
      <vt:lpstr>Calibri</vt:lpstr>
      <vt:lpstr>Calibri Light</vt:lpstr>
      <vt:lpstr>Courier New</vt:lpstr>
      <vt:lpstr>Google Sans</vt:lpstr>
      <vt:lpstr>Google Sans Text</vt:lpstr>
      <vt:lpstr>Wingdings</vt:lpstr>
      <vt:lpstr>Office Theme</vt:lpstr>
      <vt:lpstr>SYSTEMIC MANIFESTATION OF CUTANEOUS ILLNESS</vt:lpstr>
      <vt:lpstr>Learning objectives </vt:lpstr>
      <vt:lpstr>INTRODUCTION</vt:lpstr>
      <vt:lpstr>CELLULITIS</vt:lpstr>
      <vt:lpstr>Cont…</vt:lpstr>
      <vt:lpstr>Clinical presentation</vt:lpstr>
      <vt:lpstr>Systemic Manifestations</vt:lpstr>
      <vt:lpstr>Management </vt:lpstr>
      <vt:lpstr>Management</vt:lpstr>
      <vt:lpstr>Management</vt:lpstr>
      <vt:lpstr>  IMPETIGO</vt:lpstr>
      <vt:lpstr>Risk factors</vt:lpstr>
      <vt:lpstr>EPIDEMIOLOGY </vt:lpstr>
      <vt:lpstr>Pathophysiology </vt:lpstr>
      <vt:lpstr>PowerPoint Presentation</vt:lpstr>
      <vt:lpstr>Cont…..</vt:lpstr>
      <vt:lpstr>PowerPoint Presentation</vt:lpstr>
      <vt:lpstr>PowerPoint Presentation</vt:lpstr>
      <vt:lpstr>COMPLICATIONS</vt:lpstr>
      <vt:lpstr>PowerPoint Presentation</vt:lpstr>
      <vt:lpstr>SYSTEMIC MANIFESTATIONS</vt:lpstr>
      <vt:lpstr>Cont…..</vt:lpstr>
      <vt:lpstr>Cont….</vt:lpstr>
      <vt:lpstr>Diagnostic criteria -TSS</vt:lpstr>
      <vt:lpstr>Management</vt:lpstr>
      <vt:lpstr>Leprosy</vt:lpstr>
      <vt:lpstr>Introduction</vt:lpstr>
      <vt:lpstr>PowerPoint Presentation</vt:lpstr>
      <vt:lpstr>PowerPoint Presentation</vt:lpstr>
      <vt:lpstr>PowerPoint Presentation</vt:lpstr>
      <vt:lpstr>Systemic manifestations</vt:lpstr>
      <vt:lpstr>Peripheral Nerve Damage &amp; Physical Signs</vt:lpstr>
      <vt:lpstr>Functional Loss &amp; Facial Complications</vt:lpstr>
      <vt:lpstr>PowerPoint Presentation</vt:lpstr>
      <vt:lpstr>Endocrine &amp; Hormonal Manifestations</vt:lpstr>
      <vt:lpstr>Investigations</vt:lpstr>
      <vt:lpstr>Treatment</vt:lpstr>
      <vt:lpstr>Adjuvants</vt:lpstr>
      <vt:lpstr>Syphilis</vt:lpstr>
      <vt:lpstr>Introduction</vt:lpstr>
      <vt:lpstr>PowerPoint Presentation</vt:lpstr>
      <vt:lpstr>PowerPoint Presentation</vt:lpstr>
      <vt:lpstr>Systemic Manifestations</vt:lpstr>
      <vt:lpstr>Systemic &amp; Organ Involvement</vt:lpstr>
      <vt:lpstr>Neurosyphilis (Early vs. Late)</vt:lpstr>
      <vt:lpstr>Ocular &amp; Otologic Manifestations</vt:lpstr>
      <vt:lpstr>Latent &amp; Tertiary Syphilis</vt:lpstr>
      <vt:lpstr>Investigations</vt:lpstr>
      <vt:lpstr>Treatment</vt:lpstr>
      <vt:lpstr>Targeted Neurosyphilis therapy</vt:lpstr>
      <vt:lpstr>Herpes Zoster</vt:lpstr>
      <vt:lpstr>Introduction</vt:lpstr>
      <vt:lpstr>PowerPoint Presentation</vt:lpstr>
      <vt:lpstr>PowerPoint Presentation</vt:lpstr>
      <vt:lpstr>Ramsay Hunt syndrome</vt:lpstr>
      <vt:lpstr>Systemic manifestations</vt:lpstr>
      <vt:lpstr>Neurologic Manifestations</vt:lpstr>
      <vt:lpstr>Post Herpetic neuropathy</vt:lpstr>
      <vt:lpstr>VZV CNS Vasculopathy (Stroke Risk)</vt:lpstr>
      <vt:lpstr>Visceral &amp; Mucosal Manifestations</vt:lpstr>
      <vt:lpstr>Organ Involvement (Lungs, Liver, Gut)</vt:lpstr>
      <vt:lpstr>Ocular Manifestations (Ophthalmic Zoster)</vt:lpstr>
      <vt:lpstr>Herpes Zoster Ophthalmicus (HZO)</vt:lpstr>
      <vt:lpstr>Systemic Impact on Quality of Life (Secondary to PHN)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SYSTEMIC MANIFESTATION OF CUTANEOUS ILLNESS</dc:title>
  <dc:creator>Evelyna Gasper</dc:creator>
  <cp:lastModifiedBy>Njunwa Victor</cp:lastModifiedBy>
  <cp:revision>36</cp:revision>
  <dcterms:created xsi:type="dcterms:W3CDTF">2026-07-05T06:20:22Z</dcterms:created>
  <dcterms:modified xsi:type="dcterms:W3CDTF">2026-07-09T10:10:22Z</dcterms:modified>
</cp:coreProperties>
</file>