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452" r:id="rId3"/>
    <p:sldId id="480" r:id="rId4"/>
    <p:sldId id="372" r:id="rId5"/>
    <p:sldId id="373" r:id="rId6"/>
    <p:sldId id="374" r:id="rId7"/>
    <p:sldId id="375" r:id="rId9"/>
    <p:sldId id="396" r:id="rId10"/>
    <p:sldId id="398" r:id="rId11"/>
    <p:sldId id="399" r:id="rId12"/>
    <p:sldId id="401" r:id="rId13"/>
    <p:sldId id="376" r:id="rId14"/>
    <p:sldId id="377" r:id="rId15"/>
    <p:sldId id="378" r:id="rId16"/>
    <p:sldId id="379" r:id="rId17"/>
    <p:sldId id="380" r:id="rId18"/>
    <p:sldId id="381" r:id="rId19"/>
    <p:sldId id="382" r:id="rId20"/>
    <p:sldId id="383" r:id="rId21"/>
    <p:sldId id="384" r:id="rId22"/>
    <p:sldId id="293" r:id="rId23"/>
    <p:sldId id="309" r:id="rId24"/>
    <p:sldId id="386" r:id="rId25"/>
    <p:sldId id="296" r:id="rId26"/>
    <p:sldId id="297" r:id="rId27"/>
    <p:sldId id="387" r:id="rId28"/>
    <p:sldId id="388" r:id="rId29"/>
    <p:sldId id="275" r:id="rId30"/>
    <p:sldId id="390" r:id="rId31"/>
    <p:sldId id="278" r:id="rId32"/>
    <p:sldId id="391" r:id="rId33"/>
    <p:sldId id="392" r:id="rId34"/>
    <p:sldId id="393" r:id="rId35"/>
    <p:sldId id="404" r:id="rId36"/>
    <p:sldId id="406" r:id="rId37"/>
    <p:sldId id="408" r:id="rId38"/>
    <p:sldId id="409" r:id="rId39"/>
    <p:sldId id="410" r:id="rId40"/>
    <p:sldId id="256" r:id="rId41"/>
    <p:sldId id="316" r:id="rId42"/>
    <p:sldId id="257" r:id="rId43"/>
    <p:sldId id="411" r:id="rId44"/>
    <p:sldId id="466" r:id="rId45"/>
    <p:sldId id="258" r:id="rId46"/>
    <p:sldId id="469" r:id="rId47"/>
    <p:sldId id="470" r:id="rId48"/>
    <p:sldId id="261" r:id="rId49"/>
    <p:sldId id="412" r:id="rId50"/>
    <p:sldId id="413" r:id="rId51"/>
    <p:sldId id="414" r:id="rId52"/>
    <p:sldId id="415" r:id="rId53"/>
    <p:sldId id="266" r:id="rId54"/>
    <p:sldId id="268" r:id="rId55"/>
    <p:sldId id="269" r:id="rId56"/>
    <p:sldId id="272" r:id="rId57"/>
    <p:sldId id="273" r:id="rId58"/>
    <p:sldId id="274" r:id="rId59"/>
    <p:sldId id="416" r:id="rId60"/>
    <p:sldId id="417" r:id="rId61"/>
    <p:sldId id="418" r:id="rId62"/>
    <p:sldId id="419" r:id="rId63"/>
    <p:sldId id="420" r:id="rId64"/>
    <p:sldId id="421" r:id="rId65"/>
    <p:sldId id="422" r:id="rId66"/>
    <p:sldId id="423" r:id="rId67"/>
    <p:sldId id="424" r:id="rId68"/>
    <p:sldId id="478" r:id="rId69"/>
    <p:sldId id="471" r:id="rId70"/>
    <p:sldId id="472" r:id="rId71"/>
    <p:sldId id="473" r:id="rId72"/>
    <p:sldId id="479" r:id="rId73"/>
    <p:sldId id="474" r:id="rId74"/>
    <p:sldId id="476" r:id="rId75"/>
    <p:sldId id="477" r:id="rId76"/>
    <p:sldId id="425" r:id="rId77"/>
    <p:sldId id="426" r:id="rId78"/>
    <p:sldId id="467" r:id="rId79"/>
    <p:sldId id="427" r:id="rId80"/>
    <p:sldId id="428" r:id="rId81"/>
    <p:sldId id="429" r:id="rId82"/>
    <p:sldId id="430" r:id="rId83"/>
    <p:sldId id="431" r:id="rId84"/>
    <p:sldId id="432" r:id="rId85"/>
    <p:sldId id="433" r:id="rId86"/>
    <p:sldId id="434" r:id="rId87"/>
    <p:sldId id="435" r:id="rId88"/>
    <p:sldId id="436" r:id="rId89"/>
    <p:sldId id="437" r:id="rId90"/>
    <p:sldId id="438" r:id="rId91"/>
    <p:sldId id="439" r:id="rId92"/>
    <p:sldId id="440" r:id="rId93"/>
    <p:sldId id="441" r:id="rId94"/>
    <p:sldId id="442" r:id="rId95"/>
    <p:sldId id="305" r:id="rId96"/>
    <p:sldId id="443" r:id="rId97"/>
    <p:sldId id="307" r:id="rId98"/>
    <p:sldId id="444" r:id="rId99"/>
    <p:sldId id="445" r:id="rId100"/>
    <p:sldId id="446" r:id="rId101"/>
    <p:sldId id="447" r:id="rId102"/>
    <p:sldId id="465" r:id="rId103"/>
    <p:sldId id="449" r:id="rId104"/>
    <p:sldId id="317" r:id="rId105"/>
    <p:sldId id="450" r:id="rId106"/>
    <p:sldId id="320" r:id="rId107"/>
    <p:sldId id="319" r:id="rId108"/>
    <p:sldId id="451" r:id="rId109"/>
    <p:sldId id="454" r:id="rId110"/>
    <p:sldId id="455" r:id="rId111"/>
    <p:sldId id="456" r:id="rId112"/>
    <p:sldId id="457" r:id="rId113"/>
    <p:sldId id="458" r:id="rId114"/>
    <p:sldId id="459" r:id="rId115"/>
    <p:sldId id="460" r:id="rId116"/>
    <p:sldId id="324" r:id="rId117"/>
    <p:sldId id="325" r:id="rId118"/>
    <p:sldId id="326" r:id="rId119"/>
    <p:sldId id="327" r:id="rId120"/>
    <p:sldId id="464" r:id="rId121"/>
    <p:sldId id="461" r:id="rId122"/>
    <p:sldId id="462" r:id="rId123"/>
    <p:sldId id="463" r:id="rId124"/>
    <p:sldId id="270" r:id="rId125"/>
    <p:sldId id="313" r:id="rId126"/>
    <p:sldId id="453" r:id="rId1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5" autoAdjust="0"/>
    <p:restoredTop sz="77255" autoAdjust="0"/>
  </p:normalViewPr>
  <p:slideViewPr>
    <p:cSldViewPr snapToGrid="0">
      <p:cViewPr varScale="1">
        <p:scale>
          <a:sx n="53" d="100"/>
          <a:sy n="53" d="100"/>
        </p:scale>
        <p:origin x="1296" y="66"/>
      </p:cViewPr>
      <p:guideLst/>
    </p:cSldViewPr>
  </p:slideViewPr>
  <p:notesTextViewPr>
    <p:cViewPr>
      <p:scale>
        <a:sx n="1" d="1"/>
        <a:sy n="1" d="1"/>
      </p:scale>
      <p:origin x="0" y="0"/>
    </p:cViewPr>
  </p:notesTextViewPr>
  <p:sorterViewPr>
    <p:cViewPr>
      <p:scale>
        <a:sx n="100" d="100"/>
        <a:sy n="100" d="100"/>
      </p:scale>
      <p:origin x="0" y="-36186"/>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notesMaster" Target="notesMasters/notesMaster1.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0" Type="http://schemas.openxmlformats.org/officeDocument/2006/relationships/tableStyles" Target="tableStyles.xml"/><Relationship Id="rId13" Type="http://schemas.openxmlformats.org/officeDocument/2006/relationships/slide" Target="slides/slide10.xml"/><Relationship Id="rId129" Type="http://schemas.openxmlformats.org/officeDocument/2006/relationships/viewProps" Target="viewProps.xml"/><Relationship Id="rId128" Type="http://schemas.openxmlformats.org/officeDocument/2006/relationships/presProps" Target="presProps.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DCDBAAE-76EA-410D-B80E-92DD434007A7}" type="doc">
      <dgm:prSet loTypeId="urn:microsoft.com/office/officeart/2005/8/layout/hierarchy2#1" loCatId="hierarchy" qsTypeId="urn:microsoft.com/office/officeart/2005/8/quickstyle/simple1#1" qsCatId="simple" csTypeId="urn:microsoft.com/office/officeart/2005/8/colors/accent1_2#1" csCatId="accent1" phldr="1"/>
      <dgm:spPr/>
      <dgm:t>
        <a:bodyPr/>
        <a:lstStyle/>
        <a:p>
          <a:endParaRPr lang="en-US"/>
        </a:p>
      </dgm:t>
    </dgm:pt>
    <dgm:pt modelId="{208490F9-F687-4E25-9852-01F60DC1A15C}">
      <dgm:prSet phldrT="[Text]" custT="1"/>
      <dgm:spPr/>
      <dgm:t>
        <a:bodyPr/>
        <a:lstStyle/>
        <a:p>
          <a:r>
            <a:rPr lang="en-US" sz="2800" dirty="0"/>
            <a:t>Malignant Skin Cancers</a:t>
          </a:r>
        </a:p>
      </dgm:t>
    </dgm:pt>
    <dgm:pt modelId="{0CEA7023-B189-4251-8445-8E4D011EE5C7}" cxnId="{26448564-41EB-4C26-864B-9FECF4B104AF}" type="parTrans">
      <dgm:prSet/>
      <dgm:spPr/>
      <dgm:t>
        <a:bodyPr/>
        <a:lstStyle/>
        <a:p>
          <a:endParaRPr lang="en-US"/>
        </a:p>
      </dgm:t>
    </dgm:pt>
    <dgm:pt modelId="{2BB72335-B55C-4DB1-9FFF-6B6220ED39E3}" cxnId="{26448564-41EB-4C26-864B-9FECF4B104AF}" type="sibTrans">
      <dgm:prSet/>
      <dgm:spPr/>
      <dgm:t>
        <a:bodyPr/>
        <a:lstStyle/>
        <a:p>
          <a:endParaRPr lang="en-US"/>
        </a:p>
      </dgm:t>
    </dgm:pt>
    <dgm:pt modelId="{204746A6-99B5-4B78-AEF1-F71857E94A6D}">
      <dgm:prSet phldrT="[Text]" custT="1"/>
      <dgm:spPr>
        <a:solidFill>
          <a:schemeClr val="accent4">
            <a:lumMod val="75000"/>
          </a:schemeClr>
        </a:solidFill>
      </dgm:spPr>
      <dgm:t>
        <a:bodyPr/>
        <a:lstStyle/>
        <a:p>
          <a:r>
            <a:rPr lang="en-US" sz="2400" dirty="0"/>
            <a:t>Nonmelanoma</a:t>
          </a:r>
        </a:p>
      </dgm:t>
    </dgm:pt>
    <dgm:pt modelId="{4BF884A1-6087-40F6-A45F-1BACEA7B6918}" cxnId="{8BF0A7F1-7457-41FA-9723-A78D12440E04}" type="parTrans">
      <dgm:prSet/>
      <dgm:spPr/>
      <dgm:t>
        <a:bodyPr/>
        <a:lstStyle/>
        <a:p>
          <a:endParaRPr lang="en-US" dirty="0"/>
        </a:p>
      </dgm:t>
    </dgm:pt>
    <dgm:pt modelId="{4C050750-788E-44BB-BA6A-76AD28347615}" cxnId="{8BF0A7F1-7457-41FA-9723-A78D12440E04}" type="sibTrans">
      <dgm:prSet/>
      <dgm:spPr/>
      <dgm:t>
        <a:bodyPr/>
        <a:lstStyle/>
        <a:p>
          <a:endParaRPr lang="en-US"/>
        </a:p>
      </dgm:t>
    </dgm:pt>
    <dgm:pt modelId="{B6CDE0DA-FCED-4E1D-AAF9-653290C36F70}">
      <dgm:prSet phldrT="[Text]" custT="1"/>
      <dgm:spPr>
        <a:solidFill>
          <a:schemeClr val="accent4"/>
        </a:solidFill>
      </dgm:spPr>
      <dgm:t>
        <a:bodyPr/>
        <a:lstStyle/>
        <a:p>
          <a:r>
            <a:rPr lang="en-US" sz="2200" dirty="0">
              <a:solidFill>
                <a:schemeClr val="tx1"/>
              </a:solidFill>
            </a:rPr>
            <a:t>Basal cell</a:t>
          </a:r>
        </a:p>
      </dgm:t>
    </dgm:pt>
    <dgm:pt modelId="{72B01A41-298E-4CE7-B0FF-4322222DEA52}" cxnId="{D3EE0436-61F4-4845-89E6-BBF35B2E4BEB}" type="parTrans">
      <dgm:prSet/>
      <dgm:spPr/>
      <dgm:t>
        <a:bodyPr/>
        <a:lstStyle/>
        <a:p>
          <a:endParaRPr lang="en-US" dirty="0"/>
        </a:p>
      </dgm:t>
    </dgm:pt>
    <dgm:pt modelId="{EC5C49D6-0D8C-427F-B3A4-EC41E7AA6A5B}" cxnId="{D3EE0436-61F4-4845-89E6-BBF35B2E4BEB}" type="sibTrans">
      <dgm:prSet/>
      <dgm:spPr/>
      <dgm:t>
        <a:bodyPr/>
        <a:lstStyle/>
        <a:p>
          <a:endParaRPr lang="en-US"/>
        </a:p>
      </dgm:t>
    </dgm:pt>
    <dgm:pt modelId="{8E0381CA-E710-4110-96AC-927406D6738A}">
      <dgm:prSet phldrT="[Text]" custT="1"/>
      <dgm:spPr>
        <a:solidFill>
          <a:schemeClr val="accent4">
            <a:lumMod val="60000"/>
            <a:lumOff val="40000"/>
          </a:schemeClr>
        </a:solidFill>
      </dgm:spPr>
      <dgm:t>
        <a:bodyPr/>
        <a:lstStyle/>
        <a:p>
          <a:r>
            <a:rPr lang="en-US" sz="2200" dirty="0">
              <a:solidFill>
                <a:schemeClr val="tx1"/>
              </a:solidFill>
            </a:rPr>
            <a:t>Squamous Cell</a:t>
          </a:r>
        </a:p>
      </dgm:t>
    </dgm:pt>
    <dgm:pt modelId="{6C8DFAD2-90CE-467C-A189-3275A15AFB81}" cxnId="{CB527864-7A1E-4E00-8F69-8401AF14B277}" type="parTrans">
      <dgm:prSet/>
      <dgm:spPr/>
      <dgm:t>
        <a:bodyPr/>
        <a:lstStyle/>
        <a:p>
          <a:endParaRPr lang="en-US" dirty="0"/>
        </a:p>
      </dgm:t>
    </dgm:pt>
    <dgm:pt modelId="{480B7A83-2794-4476-BC24-33E3109E0765}" cxnId="{CB527864-7A1E-4E00-8F69-8401AF14B277}" type="sibTrans">
      <dgm:prSet/>
      <dgm:spPr/>
      <dgm:t>
        <a:bodyPr/>
        <a:lstStyle/>
        <a:p>
          <a:endParaRPr lang="en-US"/>
        </a:p>
      </dgm:t>
    </dgm:pt>
    <dgm:pt modelId="{434D9BFF-310D-4F2C-8530-80B73382EC27}">
      <dgm:prSet phldrT="[Text]" custT="1"/>
      <dgm:spPr>
        <a:solidFill>
          <a:srgbClr val="C00000"/>
        </a:solidFill>
      </dgm:spPr>
      <dgm:t>
        <a:bodyPr/>
        <a:lstStyle/>
        <a:p>
          <a:r>
            <a:rPr lang="en-US" sz="2400" dirty="0"/>
            <a:t>Melanoma</a:t>
          </a:r>
        </a:p>
      </dgm:t>
    </dgm:pt>
    <dgm:pt modelId="{734BB205-35C9-4804-A61C-9EC792F21C72}" cxnId="{396F077F-7727-48DC-922B-54B085867160}" type="parTrans">
      <dgm:prSet/>
      <dgm:spPr/>
      <dgm:t>
        <a:bodyPr/>
        <a:lstStyle/>
        <a:p>
          <a:endParaRPr lang="en-US" dirty="0"/>
        </a:p>
      </dgm:t>
    </dgm:pt>
    <dgm:pt modelId="{0F465407-6BB5-4E73-A848-752069965E53}" cxnId="{396F077F-7727-48DC-922B-54B085867160}" type="sibTrans">
      <dgm:prSet/>
      <dgm:spPr/>
      <dgm:t>
        <a:bodyPr/>
        <a:lstStyle/>
        <a:p>
          <a:endParaRPr lang="en-US"/>
        </a:p>
      </dgm:t>
    </dgm:pt>
    <dgm:pt modelId="{5E98DF82-72C3-47CB-BB45-7EA52AF21C5A}">
      <dgm:prSet custT="1"/>
      <dgm:spPr>
        <a:solidFill>
          <a:schemeClr val="accent4">
            <a:lumMod val="40000"/>
            <a:lumOff val="60000"/>
          </a:schemeClr>
        </a:solidFill>
      </dgm:spPr>
      <dgm:t>
        <a:bodyPr/>
        <a:lstStyle/>
        <a:p>
          <a:r>
            <a:rPr lang="en-US" sz="2200" dirty="0">
              <a:solidFill>
                <a:schemeClr val="tx1"/>
              </a:solidFill>
            </a:rPr>
            <a:t>Other</a:t>
          </a:r>
        </a:p>
      </dgm:t>
    </dgm:pt>
    <dgm:pt modelId="{892BB994-5D40-4A2E-8605-3AD4F9DCC0C6}" cxnId="{AD08D1C9-F086-4525-8843-560F479CC62E}" type="parTrans">
      <dgm:prSet/>
      <dgm:spPr/>
      <dgm:t>
        <a:bodyPr/>
        <a:lstStyle/>
        <a:p>
          <a:endParaRPr lang="en-US" dirty="0"/>
        </a:p>
      </dgm:t>
    </dgm:pt>
    <dgm:pt modelId="{D1FECEB0-2CDC-448F-927C-3E56D5B845E0}" cxnId="{AD08D1C9-F086-4525-8843-560F479CC62E}" type="sibTrans">
      <dgm:prSet/>
      <dgm:spPr/>
      <dgm:t>
        <a:bodyPr/>
        <a:lstStyle/>
        <a:p>
          <a:endParaRPr lang="en-US"/>
        </a:p>
      </dgm:t>
    </dgm:pt>
    <dgm:pt modelId="{24A7CEF0-95BD-4DF6-BC91-3FDC6376C883}">
      <dgm:prSet custT="1"/>
      <dgm:spPr>
        <a:solidFill>
          <a:schemeClr val="accent4">
            <a:lumMod val="40000"/>
            <a:lumOff val="60000"/>
          </a:schemeClr>
        </a:solidFill>
      </dgm:spPr>
      <dgm:t>
        <a:bodyPr lIns="91440"/>
        <a:lstStyle/>
        <a:p>
          <a:pPr algn="l"/>
          <a:r>
            <a:rPr lang="en-US" sz="1800" dirty="0">
              <a:solidFill>
                <a:schemeClr val="tx1"/>
              </a:solidFill>
            </a:rPr>
            <a:t>--Merkel cell</a:t>
          </a:r>
        </a:p>
        <a:p>
          <a:pPr algn="l"/>
          <a:r>
            <a:rPr lang="en-US" sz="1800" dirty="0">
              <a:solidFill>
                <a:schemeClr val="tx1"/>
              </a:solidFill>
            </a:rPr>
            <a:t>--Apocrine gland</a:t>
          </a:r>
        </a:p>
        <a:p>
          <a:pPr algn="l"/>
          <a:r>
            <a:rPr lang="en-US" sz="1800" dirty="0">
              <a:solidFill>
                <a:schemeClr val="tx1"/>
              </a:solidFill>
            </a:rPr>
            <a:t>--Cutaneous T-cell lymphoma</a:t>
          </a:r>
        </a:p>
        <a:p>
          <a:pPr algn="l"/>
          <a:r>
            <a:rPr lang="en-US" sz="1800" dirty="0">
              <a:solidFill>
                <a:schemeClr val="tx1"/>
              </a:solidFill>
            </a:rPr>
            <a:t>--Others</a:t>
          </a:r>
        </a:p>
      </dgm:t>
    </dgm:pt>
    <dgm:pt modelId="{32E0A99B-BCB3-45F5-9525-54B40F9E8A2C}" cxnId="{45BE1FED-7C7B-439B-8F1B-A181487D2EDC}" type="parTrans">
      <dgm:prSet/>
      <dgm:spPr/>
      <dgm:t>
        <a:bodyPr/>
        <a:lstStyle/>
        <a:p>
          <a:endParaRPr lang="en-US" dirty="0"/>
        </a:p>
      </dgm:t>
    </dgm:pt>
    <dgm:pt modelId="{008B7D6E-47CF-4BB7-9426-77AED1B7EF2B}" cxnId="{45BE1FED-7C7B-439B-8F1B-A181487D2EDC}" type="sibTrans">
      <dgm:prSet/>
      <dgm:spPr/>
      <dgm:t>
        <a:bodyPr/>
        <a:lstStyle/>
        <a:p>
          <a:endParaRPr lang="en-US"/>
        </a:p>
      </dgm:t>
    </dgm:pt>
    <dgm:pt modelId="{31D7EFE2-E7CE-47D5-86DE-A992E1A05CE3}" type="pres">
      <dgm:prSet presAssocID="{EDCDBAAE-76EA-410D-B80E-92DD434007A7}" presName="diagram" presStyleCnt="0">
        <dgm:presLayoutVars>
          <dgm:chPref val="1"/>
          <dgm:dir/>
          <dgm:animOne val="branch"/>
          <dgm:animLvl val="lvl"/>
          <dgm:resizeHandles val="exact"/>
        </dgm:presLayoutVars>
      </dgm:prSet>
      <dgm:spPr/>
    </dgm:pt>
    <dgm:pt modelId="{0D7A8331-EE1B-4E81-84CB-EE795502DFD0}" type="pres">
      <dgm:prSet presAssocID="{208490F9-F687-4E25-9852-01F60DC1A15C}" presName="root1" presStyleCnt="0"/>
      <dgm:spPr/>
    </dgm:pt>
    <dgm:pt modelId="{BA1BE99A-9BA9-4140-AB7E-8DC2EF361186}" type="pres">
      <dgm:prSet presAssocID="{208490F9-F687-4E25-9852-01F60DC1A15C}" presName="LevelOneTextNode" presStyleLbl="node0" presStyleIdx="0" presStyleCnt="1">
        <dgm:presLayoutVars>
          <dgm:chPref val="3"/>
        </dgm:presLayoutVars>
      </dgm:prSet>
      <dgm:spPr/>
    </dgm:pt>
    <dgm:pt modelId="{231BC1BD-9396-4A3E-AE2E-C260ECFD6FC0}" type="pres">
      <dgm:prSet presAssocID="{208490F9-F687-4E25-9852-01F60DC1A15C}" presName="level2hierChild" presStyleCnt="0"/>
      <dgm:spPr/>
    </dgm:pt>
    <dgm:pt modelId="{68198A73-55CC-4CD3-95DC-EED3B2F0D69B}" type="pres">
      <dgm:prSet presAssocID="{4BF884A1-6087-40F6-A45F-1BACEA7B6918}" presName="conn2-1" presStyleLbl="parChTrans1D2" presStyleIdx="0" presStyleCnt="2"/>
      <dgm:spPr/>
    </dgm:pt>
    <dgm:pt modelId="{40C0383E-13F3-4E70-A6F8-D372C8288018}" type="pres">
      <dgm:prSet presAssocID="{4BF884A1-6087-40F6-A45F-1BACEA7B6918}" presName="connTx" presStyleLbl="parChTrans1D2" presStyleIdx="0" presStyleCnt="2"/>
      <dgm:spPr/>
    </dgm:pt>
    <dgm:pt modelId="{24E13987-45AF-43E1-BFF0-8CD7930CF99A}" type="pres">
      <dgm:prSet presAssocID="{204746A6-99B5-4B78-AEF1-F71857E94A6D}" presName="root2" presStyleCnt="0"/>
      <dgm:spPr/>
    </dgm:pt>
    <dgm:pt modelId="{97FBB5EA-DB99-4C36-A671-31AE29904F60}" type="pres">
      <dgm:prSet presAssocID="{204746A6-99B5-4B78-AEF1-F71857E94A6D}" presName="LevelTwoTextNode" presStyleLbl="node2" presStyleIdx="0" presStyleCnt="2">
        <dgm:presLayoutVars>
          <dgm:chPref val="3"/>
        </dgm:presLayoutVars>
      </dgm:prSet>
      <dgm:spPr/>
    </dgm:pt>
    <dgm:pt modelId="{BBB084AD-7E7D-4888-A0F8-2414DA9C62CC}" type="pres">
      <dgm:prSet presAssocID="{204746A6-99B5-4B78-AEF1-F71857E94A6D}" presName="level3hierChild" presStyleCnt="0"/>
      <dgm:spPr/>
    </dgm:pt>
    <dgm:pt modelId="{948CA1A7-177D-4E50-ABC1-8D4EC1DF0027}" type="pres">
      <dgm:prSet presAssocID="{72B01A41-298E-4CE7-B0FF-4322222DEA52}" presName="conn2-1" presStyleLbl="parChTrans1D3" presStyleIdx="0" presStyleCnt="3"/>
      <dgm:spPr/>
    </dgm:pt>
    <dgm:pt modelId="{7DA4D4AE-7523-4885-B194-1F3688E9632F}" type="pres">
      <dgm:prSet presAssocID="{72B01A41-298E-4CE7-B0FF-4322222DEA52}" presName="connTx" presStyleLbl="parChTrans1D3" presStyleIdx="0" presStyleCnt="3"/>
      <dgm:spPr/>
    </dgm:pt>
    <dgm:pt modelId="{32DEC75C-3FD9-412F-80F4-F6B9D7DAF8A3}" type="pres">
      <dgm:prSet presAssocID="{B6CDE0DA-FCED-4E1D-AAF9-653290C36F70}" presName="root2" presStyleCnt="0"/>
      <dgm:spPr/>
    </dgm:pt>
    <dgm:pt modelId="{7CD2362C-39BF-434A-9282-1690B053964A}" type="pres">
      <dgm:prSet presAssocID="{B6CDE0DA-FCED-4E1D-AAF9-653290C36F70}" presName="LevelTwoTextNode" presStyleLbl="node3" presStyleIdx="0" presStyleCnt="3">
        <dgm:presLayoutVars>
          <dgm:chPref val="3"/>
        </dgm:presLayoutVars>
      </dgm:prSet>
      <dgm:spPr/>
    </dgm:pt>
    <dgm:pt modelId="{F18688E3-4E2C-4E3C-BE3B-102A50E3A988}" type="pres">
      <dgm:prSet presAssocID="{B6CDE0DA-FCED-4E1D-AAF9-653290C36F70}" presName="level3hierChild" presStyleCnt="0"/>
      <dgm:spPr/>
    </dgm:pt>
    <dgm:pt modelId="{C02866DF-0E3F-4325-9066-D5E562F20C85}" type="pres">
      <dgm:prSet presAssocID="{6C8DFAD2-90CE-467C-A189-3275A15AFB81}" presName="conn2-1" presStyleLbl="parChTrans1D3" presStyleIdx="1" presStyleCnt="3"/>
      <dgm:spPr/>
    </dgm:pt>
    <dgm:pt modelId="{2008EA9A-7E60-40B0-8967-67C6464AAFC8}" type="pres">
      <dgm:prSet presAssocID="{6C8DFAD2-90CE-467C-A189-3275A15AFB81}" presName="connTx" presStyleLbl="parChTrans1D3" presStyleIdx="1" presStyleCnt="3"/>
      <dgm:spPr/>
    </dgm:pt>
    <dgm:pt modelId="{245E3C85-3B1A-4511-99F8-0021598C1F18}" type="pres">
      <dgm:prSet presAssocID="{8E0381CA-E710-4110-96AC-927406D6738A}" presName="root2" presStyleCnt="0"/>
      <dgm:spPr/>
    </dgm:pt>
    <dgm:pt modelId="{7EC5AF66-9429-494F-ACDD-EC589205D126}" type="pres">
      <dgm:prSet presAssocID="{8E0381CA-E710-4110-96AC-927406D6738A}" presName="LevelTwoTextNode" presStyleLbl="node3" presStyleIdx="1" presStyleCnt="3">
        <dgm:presLayoutVars>
          <dgm:chPref val="3"/>
        </dgm:presLayoutVars>
      </dgm:prSet>
      <dgm:spPr/>
    </dgm:pt>
    <dgm:pt modelId="{B9D2F1E8-7D1E-4506-9E6F-BF03297C98BE}" type="pres">
      <dgm:prSet presAssocID="{8E0381CA-E710-4110-96AC-927406D6738A}" presName="level3hierChild" presStyleCnt="0"/>
      <dgm:spPr/>
    </dgm:pt>
    <dgm:pt modelId="{FEF17D82-2155-45D4-9230-A3E6A475C729}" type="pres">
      <dgm:prSet presAssocID="{892BB994-5D40-4A2E-8605-3AD4F9DCC0C6}" presName="conn2-1" presStyleLbl="parChTrans1D3" presStyleIdx="2" presStyleCnt="3"/>
      <dgm:spPr/>
    </dgm:pt>
    <dgm:pt modelId="{A6DACECC-74E6-436C-A770-471CD02A7A27}" type="pres">
      <dgm:prSet presAssocID="{892BB994-5D40-4A2E-8605-3AD4F9DCC0C6}" presName="connTx" presStyleLbl="parChTrans1D3" presStyleIdx="2" presStyleCnt="3"/>
      <dgm:spPr/>
    </dgm:pt>
    <dgm:pt modelId="{AFE4657A-055B-426B-A4E9-703037D5B91C}" type="pres">
      <dgm:prSet presAssocID="{5E98DF82-72C3-47CB-BB45-7EA52AF21C5A}" presName="root2" presStyleCnt="0"/>
      <dgm:spPr/>
    </dgm:pt>
    <dgm:pt modelId="{58D2AD06-C3CC-44B8-BB65-769E6A04CC4D}" type="pres">
      <dgm:prSet presAssocID="{5E98DF82-72C3-47CB-BB45-7EA52AF21C5A}" presName="LevelTwoTextNode" presStyleLbl="node3" presStyleIdx="2" presStyleCnt="3">
        <dgm:presLayoutVars>
          <dgm:chPref val="3"/>
        </dgm:presLayoutVars>
      </dgm:prSet>
      <dgm:spPr/>
    </dgm:pt>
    <dgm:pt modelId="{7BE6CD18-39D0-4A05-B391-1A710840F1FD}" type="pres">
      <dgm:prSet presAssocID="{5E98DF82-72C3-47CB-BB45-7EA52AF21C5A}" presName="level3hierChild" presStyleCnt="0"/>
      <dgm:spPr/>
    </dgm:pt>
    <dgm:pt modelId="{AD9B5AE9-B0DD-4DC7-A21C-4F95CFC934B5}" type="pres">
      <dgm:prSet presAssocID="{32E0A99B-BCB3-45F5-9525-54B40F9E8A2C}" presName="conn2-1" presStyleLbl="parChTrans1D4" presStyleIdx="0" presStyleCnt="1"/>
      <dgm:spPr/>
    </dgm:pt>
    <dgm:pt modelId="{D47D4322-799B-464D-B602-0C3AA87A6883}" type="pres">
      <dgm:prSet presAssocID="{32E0A99B-BCB3-45F5-9525-54B40F9E8A2C}" presName="connTx" presStyleLbl="parChTrans1D4" presStyleIdx="0" presStyleCnt="1"/>
      <dgm:spPr/>
    </dgm:pt>
    <dgm:pt modelId="{C550775E-C65F-401B-912C-2A1476935758}" type="pres">
      <dgm:prSet presAssocID="{24A7CEF0-95BD-4DF6-BC91-3FDC6376C883}" presName="root2" presStyleCnt="0"/>
      <dgm:spPr/>
    </dgm:pt>
    <dgm:pt modelId="{1B299197-420A-452B-A35B-7700ADEB72CF}" type="pres">
      <dgm:prSet presAssocID="{24A7CEF0-95BD-4DF6-BC91-3FDC6376C883}" presName="LevelTwoTextNode" presStyleLbl="node4" presStyleIdx="0" presStyleCnt="1" custScaleX="151395" custScaleY="182388">
        <dgm:presLayoutVars>
          <dgm:chPref val="3"/>
        </dgm:presLayoutVars>
      </dgm:prSet>
      <dgm:spPr/>
    </dgm:pt>
    <dgm:pt modelId="{90EF5571-0322-47FF-B4D0-5A4B3CF788F4}" type="pres">
      <dgm:prSet presAssocID="{24A7CEF0-95BD-4DF6-BC91-3FDC6376C883}" presName="level3hierChild" presStyleCnt="0"/>
      <dgm:spPr/>
    </dgm:pt>
    <dgm:pt modelId="{23D593A3-64DF-472D-8829-F1ED325A422C}" type="pres">
      <dgm:prSet presAssocID="{734BB205-35C9-4804-A61C-9EC792F21C72}" presName="conn2-1" presStyleLbl="parChTrans1D2" presStyleIdx="1" presStyleCnt="2"/>
      <dgm:spPr/>
    </dgm:pt>
    <dgm:pt modelId="{5E9378CC-5635-413E-B8A3-7C1FFA4B12A8}" type="pres">
      <dgm:prSet presAssocID="{734BB205-35C9-4804-A61C-9EC792F21C72}" presName="connTx" presStyleLbl="parChTrans1D2" presStyleIdx="1" presStyleCnt="2"/>
      <dgm:spPr/>
    </dgm:pt>
    <dgm:pt modelId="{AFE8AA27-1096-43A3-9CE3-18959BB55A80}" type="pres">
      <dgm:prSet presAssocID="{434D9BFF-310D-4F2C-8530-80B73382EC27}" presName="root2" presStyleCnt="0"/>
      <dgm:spPr/>
    </dgm:pt>
    <dgm:pt modelId="{E6EAB88E-253D-4114-8D98-6136344A1D15}" type="pres">
      <dgm:prSet presAssocID="{434D9BFF-310D-4F2C-8530-80B73382EC27}" presName="LevelTwoTextNode" presStyleLbl="node2" presStyleIdx="1" presStyleCnt="2">
        <dgm:presLayoutVars>
          <dgm:chPref val="3"/>
        </dgm:presLayoutVars>
      </dgm:prSet>
      <dgm:spPr/>
    </dgm:pt>
    <dgm:pt modelId="{B5A701FB-A21E-4B1E-B8F4-09ED55F98433}" type="pres">
      <dgm:prSet presAssocID="{434D9BFF-310D-4F2C-8530-80B73382EC27}" presName="level3hierChild" presStyleCnt="0"/>
      <dgm:spPr/>
    </dgm:pt>
  </dgm:ptLst>
  <dgm:cxnLst>
    <dgm:cxn modelId="{03E84700-48D2-4DCD-9CAB-34EC4573A5C1}" type="presOf" srcId="{892BB994-5D40-4A2E-8605-3AD4F9DCC0C6}" destId="{A6DACECC-74E6-436C-A770-471CD02A7A27}" srcOrd="1" destOrd="0" presId="urn:microsoft.com/office/officeart/2005/8/layout/hierarchy2#1"/>
    <dgm:cxn modelId="{D6FBFF15-8228-4BE8-8147-2E8032A19C8E}" type="presOf" srcId="{5E98DF82-72C3-47CB-BB45-7EA52AF21C5A}" destId="{58D2AD06-C3CC-44B8-BB65-769E6A04CC4D}" srcOrd="0" destOrd="0" presId="urn:microsoft.com/office/officeart/2005/8/layout/hierarchy2#1"/>
    <dgm:cxn modelId="{969C6919-F0DF-44A6-B605-4BA2656A2668}" type="presOf" srcId="{204746A6-99B5-4B78-AEF1-F71857E94A6D}" destId="{97FBB5EA-DB99-4C36-A671-31AE29904F60}" srcOrd="0" destOrd="0" presId="urn:microsoft.com/office/officeart/2005/8/layout/hierarchy2#1"/>
    <dgm:cxn modelId="{680D6126-4569-434A-BBEC-602D258DEF80}" type="presOf" srcId="{4BF884A1-6087-40F6-A45F-1BACEA7B6918}" destId="{40C0383E-13F3-4E70-A6F8-D372C8288018}" srcOrd="1" destOrd="0" presId="urn:microsoft.com/office/officeart/2005/8/layout/hierarchy2#1"/>
    <dgm:cxn modelId="{8287EC2E-1C75-4093-A1CB-8164BC557975}" type="presOf" srcId="{892BB994-5D40-4A2E-8605-3AD4F9DCC0C6}" destId="{FEF17D82-2155-45D4-9230-A3E6A475C729}" srcOrd="0" destOrd="0" presId="urn:microsoft.com/office/officeart/2005/8/layout/hierarchy2#1"/>
    <dgm:cxn modelId="{D3EE0436-61F4-4845-89E6-BBF35B2E4BEB}" srcId="{204746A6-99B5-4B78-AEF1-F71857E94A6D}" destId="{B6CDE0DA-FCED-4E1D-AAF9-653290C36F70}" srcOrd="0" destOrd="0" parTransId="{72B01A41-298E-4CE7-B0FF-4322222DEA52}" sibTransId="{EC5C49D6-0D8C-427F-B3A4-EC41E7AA6A5B}"/>
    <dgm:cxn modelId="{CDA2DF3C-07BC-42ED-9FBD-E130501BE88E}" type="presOf" srcId="{734BB205-35C9-4804-A61C-9EC792F21C72}" destId="{23D593A3-64DF-472D-8829-F1ED325A422C}" srcOrd="0" destOrd="0" presId="urn:microsoft.com/office/officeart/2005/8/layout/hierarchy2#1"/>
    <dgm:cxn modelId="{A261B061-1A3D-458A-888B-A7A877587B30}" type="presOf" srcId="{6C8DFAD2-90CE-467C-A189-3275A15AFB81}" destId="{2008EA9A-7E60-40B0-8967-67C6464AAFC8}" srcOrd="1" destOrd="0" presId="urn:microsoft.com/office/officeart/2005/8/layout/hierarchy2#1"/>
    <dgm:cxn modelId="{CB527864-7A1E-4E00-8F69-8401AF14B277}" srcId="{204746A6-99B5-4B78-AEF1-F71857E94A6D}" destId="{8E0381CA-E710-4110-96AC-927406D6738A}" srcOrd="1" destOrd="0" parTransId="{6C8DFAD2-90CE-467C-A189-3275A15AFB81}" sibTransId="{480B7A83-2794-4476-BC24-33E3109E0765}"/>
    <dgm:cxn modelId="{26448564-41EB-4C26-864B-9FECF4B104AF}" srcId="{EDCDBAAE-76EA-410D-B80E-92DD434007A7}" destId="{208490F9-F687-4E25-9852-01F60DC1A15C}" srcOrd="0" destOrd="0" parTransId="{0CEA7023-B189-4251-8445-8E4D011EE5C7}" sibTransId="{2BB72335-B55C-4DB1-9FFF-6B6220ED39E3}"/>
    <dgm:cxn modelId="{3AF57266-3C3B-435C-A688-E050CFA02F40}" type="presOf" srcId="{EDCDBAAE-76EA-410D-B80E-92DD434007A7}" destId="{31D7EFE2-E7CE-47D5-86DE-A992E1A05CE3}" srcOrd="0" destOrd="0" presId="urn:microsoft.com/office/officeart/2005/8/layout/hierarchy2#1"/>
    <dgm:cxn modelId="{1CE03349-B2FE-4D3B-8DE4-E3A343E21AE3}" type="presOf" srcId="{24A7CEF0-95BD-4DF6-BC91-3FDC6376C883}" destId="{1B299197-420A-452B-A35B-7700ADEB72CF}" srcOrd="0" destOrd="0" presId="urn:microsoft.com/office/officeart/2005/8/layout/hierarchy2#1"/>
    <dgm:cxn modelId="{5357546B-015D-4B4C-B3EF-BBB1ABB1EF51}" type="presOf" srcId="{72B01A41-298E-4CE7-B0FF-4322222DEA52}" destId="{7DA4D4AE-7523-4885-B194-1F3688E9632F}" srcOrd="1" destOrd="0" presId="urn:microsoft.com/office/officeart/2005/8/layout/hierarchy2#1"/>
    <dgm:cxn modelId="{24E48978-0863-40A2-9F74-6D964B22CFB8}" type="presOf" srcId="{734BB205-35C9-4804-A61C-9EC792F21C72}" destId="{5E9378CC-5635-413E-B8A3-7C1FFA4B12A8}" srcOrd="1" destOrd="0" presId="urn:microsoft.com/office/officeart/2005/8/layout/hierarchy2#1"/>
    <dgm:cxn modelId="{396F077F-7727-48DC-922B-54B085867160}" srcId="{208490F9-F687-4E25-9852-01F60DC1A15C}" destId="{434D9BFF-310D-4F2C-8530-80B73382EC27}" srcOrd="1" destOrd="0" parTransId="{734BB205-35C9-4804-A61C-9EC792F21C72}" sibTransId="{0F465407-6BB5-4E73-A848-752069965E53}"/>
    <dgm:cxn modelId="{D9B0C189-8555-4456-8A3C-CBEB28E7AE63}" type="presOf" srcId="{434D9BFF-310D-4F2C-8530-80B73382EC27}" destId="{E6EAB88E-253D-4114-8D98-6136344A1D15}" srcOrd="0" destOrd="0" presId="urn:microsoft.com/office/officeart/2005/8/layout/hierarchy2#1"/>
    <dgm:cxn modelId="{AED54896-BF91-4FE9-B857-D88AF67B0927}" type="presOf" srcId="{4BF884A1-6087-40F6-A45F-1BACEA7B6918}" destId="{68198A73-55CC-4CD3-95DC-EED3B2F0D69B}" srcOrd="0" destOrd="0" presId="urn:microsoft.com/office/officeart/2005/8/layout/hierarchy2#1"/>
    <dgm:cxn modelId="{396B67B0-A3BB-4B1B-9045-99D099D18E2B}" type="presOf" srcId="{32E0A99B-BCB3-45F5-9525-54B40F9E8A2C}" destId="{D47D4322-799B-464D-B602-0C3AA87A6883}" srcOrd="1" destOrd="0" presId="urn:microsoft.com/office/officeart/2005/8/layout/hierarchy2#1"/>
    <dgm:cxn modelId="{B23883B5-BFAA-4509-89DF-7B102B23E19F}" type="presOf" srcId="{72B01A41-298E-4CE7-B0FF-4322222DEA52}" destId="{948CA1A7-177D-4E50-ABC1-8D4EC1DF0027}" srcOrd="0" destOrd="0" presId="urn:microsoft.com/office/officeart/2005/8/layout/hierarchy2#1"/>
    <dgm:cxn modelId="{8B729CB7-3C1F-46F5-B329-0601986A6E47}" type="presOf" srcId="{6C8DFAD2-90CE-467C-A189-3275A15AFB81}" destId="{C02866DF-0E3F-4325-9066-D5E562F20C85}" srcOrd="0" destOrd="0" presId="urn:microsoft.com/office/officeart/2005/8/layout/hierarchy2#1"/>
    <dgm:cxn modelId="{51D7CEC7-0F60-452B-8E90-2D9B0760DB1C}" type="presOf" srcId="{8E0381CA-E710-4110-96AC-927406D6738A}" destId="{7EC5AF66-9429-494F-ACDD-EC589205D126}" srcOrd="0" destOrd="0" presId="urn:microsoft.com/office/officeart/2005/8/layout/hierarchy2#1"/>
    <dgm:cxn modelId="{AD08D1C9-F086-4525-8843-560F479CC62E}" srcId="{204746A6-99B5-4B78-AEF1-F71857E94A6D}" destId="{5E98DF82-72C3-47CB-BB45-7EA52AF21C5A}" srcOrd="2" destOrd="0" parTransId="{892BB994-5D40-4A2E-8605-3AD4F9DCC0C6}" sibTransId="{D1FECEB0-2CDC-448F-927C-3E56D5B845E0}"/>
    <dgm:cxn modelId="{14F90ED0-382D-4B56-8DCE-5BCC62235086}" type="presOf" srcId="{B6CDE0DA-FCED-4E1D-AAF9-653290C36F70}" destId="{7CD2362C-39BF-434A-9282-1690B053964A}" srcOrd="0" destOrd="0" presId="urn:microsoft.com/office/officeart/2005/8/layout/hierarchy2#1"/>
    <dgm:cxn modelId="{D3BE59EB-16B4-451E-8374-D2788DF0EEB9}" type="presOf" srcId="{208490F9-F687-4E25-9852-01F60DC1A15C}" destId="{BA1BE99A-9BA9-4140-AB7E-8DC2EF361186}" srcOrd="0" destOrd="0" presId="urn:microsoft.com/office/officeart/2005/8/layout/hierarchy2#1"/>
    <dgm:cxn modelId="{45BE1FED-7C7B-439B-8F1B-A181487D2EDC}" srcId="{5E98DF82-72C3-47CB-BB45-7EA52AF21C5A}" destId="{24A7CEF0-95BD-4DF6-BC91-3FDC6376C883}" srcOrd="0" destOrd="0" parTransId="{32E0A99B-BCB3-45F5-9525-54B40F9E8A2C}" sibTransId="{008B7D6E-47CF-4BB7-9426-77AED1B7EF2B}"/>
    <dgm:cxn modelId="{A2B368EF-FA34-4C08-8E14-42816B6126CA}" type="presOf" srcId="{32E0A99B-BCB3-45F5-9525-54B40F9E8A2C}" destId="{AD9B5AE9-B0DD-4DC7-A21C-4F95CFC934B5}" srcOrd="0" destOrd="0" presId="urn:microsoft.com/office/officeart/2005/8/layout/hierarchy2#1"/>
    <dgm:cxn modelId="{8BF0A7F1-7457-41FA-9723-A78D12440E04}" srcId="{208490F9-F687-4E25-9852-01F60DC1A15C}" destId="{204746A6-99B5-4B78-AEF1-F71857E94A6D}" srcOrd="0" destOrd="0" parTransId="{4BF884A1-6087-40F6-A45F-1BACEA7B6918}" sibTransId="{4C050750-788E-44BB-BA6A-76AD28347615}"/>
    <dgm:cxn modelId="{E8AE33EB-104E-43E6-848B-B0A68FC8E605}" type="presParOf" srcId="{31D7EFE2-E7CE-47D5-86DE-A992E1A05CE3}" destId="{0D7A8331-EE1B-4E81-84CB-EE795502DFD0}" srcOrd="0" destOrd="0" presId="urn:microsoft.com/office/officeart/2005/8/layout/hierarchy2#1"/>
    <dgm:cxn modelId="{18B61B3C-290D-4173-B551-6A7CF231C6FA}" type="presParOf" srcId="{0D7A8331-EE1B-4E81-84CB-EE795502DFD0}" destId="{BA1BE99A-9BA9-4140-AB7E-8DC2EF361186}" srcOrd="0" destOrd="0" presId="urn:microsoft.com/office/officeart/2005/8/layout/hierarchy2#1"/>
    <dgm:cxn modelId="{241BC6BF-42E5-4B2E-8F75-9DE57790DEBE}" type="presParOf" srcId="{0D7A8331-EE1B-4E81-84CB-EE795502DFD0}" destId="{231BC1BD-9396-4A3E-AE2E-C260ECFD6FC0}" srcOrd="1" destOrd="0" presId="urn:microsoft.com/office/officeart/2005/8/layout/hierarchy2#1"/>
    <dgm:cxn modelId="{094B635D-A7F6-49B8-BFBE-5BF1DD5BBA37}" type="presParOf" srcId="{231BC1BD-9396-4A3E-AE2E-C260ECFD6FC0}" destId="{68198A73-55CC-4CD3-95DC-EED3B2F0D69B}" srcOrd="0" destOrd="0" presId="urn:microsoft.com/office/officeart/2005/8/layout/hierarchy2#1"/>
    <dgm:cxn modelId="{9D71FAD3-F935-4CFD-8C8F-D6A38DA0D549}" type="presParOf" srcId="{68198A73-55CC-4CD3-95DC-EED3B2F0D69B}" destId="{40C0383E-13F3-4E70-A6F8-D372C8288018}" srcOrd="0" destOrd="0" presId="urn:microsoft.com/office/officeart/2005/8/layout/hierarchy2#1"/>
    <dgm:cxn modelId="{EB0E2B72-41EA-4F47-9198-E79938F456BC}" type="presParOf" srcId="{231BC1BD-9396-4A3E-AE2E-C260ECFD6FC0}" destId="{24E13987-45AF-43E1-BFF0-8CD7930CF99A}" srcOrd="1" destOrd="0" presId="urn:microsoft.com/office/officeart/2005/8/layout/hierarchy2#1"/>
    <dgm:cxn modelId="{C0CA7BFD-ECAE-44E8-B42C-2E9622BA173B}" type="presParOf" srcId="{24E13987-45AF-43E1-BFF0-8CD7930CF99A}" destId="{97FBB5EA-DB99-4C36-A671-31AE29904F60}" srcOrd="0" destOrd="0" presId="urn:microsoft.com/office/officeart/2005/8/layout/hierarchy2#1"/>
    <dgm:cxn modelId="{4D667850-6A80-4539-916A-12093D9C9A79}" type="presParOf" srcId="{24E13987-45AF-43E1-BFF0-8CD7930CF99A}" destId="{BBB084AD-7E7D-4888-A0F8-2414DA9C62CC}" srcOrd="1" destOrd="0" presId="urn:microsoft.com/office/officeart/2005/8/layout/hierarchy2#1"/>
    <dgm:cxn modelId="{A6D03A31-3E96-4182-B1B0-316BC98BFC4C}" type="presParOf" srcId="{BBB084AD-7E7D-4888-A0F8-2414DA9C62CC}" destId="{948CA1A7-177D-4E50-ABC1-8D4EC1DF0027}" srcOrd="0" destOrd="0" presId="urn:microsoft.com/office/officeart/2005/8/layout/hierarchy2#1"/>
    <dgm:cxn modelId="{76D4D63E-58D9-45C1-8B2D-A498C2F203EC}" type="presParOf" srcId="{948CA1A7-177D-4E50-ABC1-8D4EC1DF0027}" destId="{7DA4D4AE-7523-4885-B194-1F3688E9632F}" srcOrd="0" destOrd="0" presId="urn:microsoft.com/office/officeart/2005/8/layout/hierarchy2#1"/>
    <dgm:cxn modelId="{13055BD2-A57C-48AE-8B2C-DF9586253F29}" type="presParOf" srcId="{BBB084AD-7E7D-4888-A0F8-2414DA9C62CC}" destId="{32DEC75C-3FD9-412F-80F4-F6B9D7DAF8A3}" srcOrd="1" destOrd="0" presId="urn:microsoft.com/office/officeart/2005/8/layout/hierarchy2#1"/>
    <dgm:cxn modelId="{9C4021E8-0D69-4D56-85E4-25E7716BE827}" type="presParOf" srcId="{32DEC75C-3FD9-412F-80F4-F6B9D7DAF8A3}" destId="{7CD2362C-39BF-434A-9282-1690B053964A}" srcOrd="0" destOrd="0" presId="urn:microsoft.com/office/officeart/2005/8/layout/hierarchy2#1"/>
    <dgm:cxn modelId="{DBA43856-1493-4687-9725-1C321CF50460}" type="presParOf" srcId="{32DEC75C-3FD9-412F-80F4-F6B9D7DAF8A3}" destId="{F18688E3-4E2C-4E3C-BE3B-102A50E3A988}" srcOrd="1" destOrd="0" presId="urn:microsoft.com/office/officeart/2005/8/layout/hierarchy2#1"/>
    <dgm:cxn modelId="{998E7C31-64C7-4255-90A2-DDA2D3C8F6B6}" type="presParOf" srcId="{BBB084AD-7E7D-4888-A0F8-2414DA9C62CC}" destId="{C02866DF-0E3F-4325-9066-D5E562F20C85}" srcOrd="2" destOrd="0" presId="urn:microsoft.com/office/officeart/2005/8/layout/hierarchy2#1"/>
    <dgm:cxn modelId="{0FE9627F-1D4B-4ECE-8273-62184340E75E}" type="presParOf" srcId="{C02866DF-0E3F-4325-9066-D5E562F20C85}" destId="{2008EA9A-7E60-40B0-8967-67C6464AAFC8}" srcOrd="0" destOrd="0" presId="urn:microsoft.com/office/officeart/2005/8/layout/hierarchy2#1"/>
    <dgm:cxn modelId="{0A6B749A-9834-4880-BF09-04FECE72ACFF}" type="presParOf" srcId="{BBB084AD-7E7D-4888-A0F8-2414DA9C62CC}" destId="{245E3C85-3B1A-4511-99F8-0021598C1F18}" srcOrd="3" destOrd="0" presId="urn:microsoft.com/office/officeart/2005/8/layout/hierarchy2#1"/>
    <dgm:cxn modelId="{933F3BDF-A174-4F6A-A4FB-F643E968096B}" type="presParOf" srcId="{245E3C85-3B1A-4511-99F8-0021598C1F18}" destId="{7EC5AF66-9429-494F-ACDD-EC589205D126}" srcOrd="0" destOrd="0" presId="urn:microsoft.com/office/officeart/2005/8/layout/hierarchy2#1"/>
    <dgm:cxn modelId="{1A3E85F2-0D76-4FDA-9BEC-0CD81EB7D5D3}" type="presParOf" srcId="{245E3C85-3B1A-4511-99F8-0021598C1F18}" destId="{B9D2F1E8-7D1E-4506-9E6F-BF03297C98BE}" srcOrd="1" destOrd="0" presId="urn:microsoft.com/office/officeart/2005/8/layout/hierarchy2#1"/>
    <dgm:cxn modelId="{7457B3F6-15C1-463D-83C4-FA996A55087A}" type="presParOf" srcId="{BBB084AD-7E7D-4888-A0F8-2414DA9C62CC}" destId="{FEF17D82-2155-45D4-9230-A3E6A475C729}" srcOrd="4" destOrd="0" presId="urn:microsoft.com/office/officeart/2005/8/layout/hierarchy2#1"/>
    <dgm:cxn modelId="{2C2B11BF-2871-4FC9-81B7-73803D75C726}" type="presParOf" srcId="{FEF17D82-2155-45D4-9230-A3E6A475C729}" destId="{A6DACECC-74E6-436C-A770-471CD02A7A27}" srcOrd="0" destOrd="0" presId="urn:microsoft.com/office/officeart/2005/8/layout/hierarchy2#1"/>
    <dgm:cxn modelId="{80BEB508-76D4-4791-8654-7E9FE73E08BD}" type="presParOf" srcId="{BBB084AD-7E7D-4888-A0F8-2414DA9C62CC}" destId="{AFE4657A-055B-426B-A4E9-703037D5B91C}" srcOrd="5" destOrd="0" presId="urn:microsoft.com/office/officeart/2005/8/layout/hierarchy2#1"/>
    <dgm:cxn modelId="{CEED80AE-62B4-4ED1-A50D-ABCB3E90E6C3}" type="presParOf" srcId="{AFE4657A-055B-426B-A4E9-703037D5B91C}" destId="{58D2AD06-C3CC-44B8-BB65-769E6A04CC4D}" srcOrd="0" destOrd="0" presId="urn:microsoft.com/office/officeart/2005/8/layout/hierarchy2#1"/>
    <dgm:cxn modelId="{44D447CA-A8BF-4CD2-BD1C-10A54FADF160}" type="presParOf" srcId="{AFE4657A-055B-426B-A4E9-703037D5B91C}" destId="{7BE6CD18-39D0-4A05-B391-1A710840F1FD}" srcOrd="1" destOrd="0" presId="urn:microsoft.com/office/officeart/2005/8/layout/hierarchy2#1"/>
    <dgm:cxn modelId="{A60BDE3B-340E-4564-985F-15462828723F}" type="presParOf" srcId="{7BE6CD18-39D0-4A05-B391-1A710840F1FD}" destId="{AD9B5AE9-B0DD-4DC7-A21C-4F95CFC934B5}" srcOrd="0" destOrd="0" presId="urn:microsoft.com/office/officeart/2005/8/layout/hierarchy2#1"/>
    <dgm:cxn modelId="{D484E355-FDD0-4929-8F2D-B4697D1650D4}" type="presParOf" srcId="{AD9B5AE9-B0DD-4DC7-A21C-4F95CFC934B5}" destId="{D47D4322-799B-464D-B602-0C3AA87A6883}" srcOrd="0" destOrd="0" presId="urn:microsoft.com/office/officeart/2005/8/layout/hierarchy2#1"/>
    <dgm:cxn modelId="{85696C88-C742-4D56-B6EE-B43573DCF401}" type="presParOf" srcId="{7BE6CD18-39D0-4A05-B391-1A710840F1FD}" destId="{C550775E-C65F-401B-912C-2A1476935758}" srcOrd="1" destOrd="0" presId="urn:microsoft.com/office/officeart/2005/8/layout/hierarchy2#1"/>
    <dgm:cxn modelId="{02F09440-EFEB-4C74-8D11-7D5D58215DAE}" type="presParOf" srcId="{C550775E-C65F-401B-912C-2A1476935758}" destId="{1B299197-420A-452B-A35B-7700ADEB72CF}" srcOrd="0" destOrd="0" presId="urn:microsoft.com/office/officeart/2005/8/layout/hierarchy2#1"/>
    <dgm:cxn modelId="{69B10134-7A48-4A3A-9857-7A9745647ADC}" type="presParOf" srcId="{C550775E-C65F-401B-912C-2A1476935758}" destId="{90EF5571-0322-47FF-B4D0-5A4B3CF788F4}" srcOrd="1" destOrd="0" presId="urn:microsoft.com/office/officeart/2005/8/layout/hierarchy2#1"/>
    <dgm:cxn modelId="{B6D5DC7F-7DDB-4055-BEAA-92595195F438}" type="presParOf" srcId="{231BC1BD-9396-4A3E-AE2E-C260ECFD6FC0}" destId="{23D593A3-64DF-472D-8829-F1ED325A422C}" srcOrd="2" destOrd="0" presId="urn:microsoft.com/office/officeart/2005/8/layout/hierarchy2#1"/>
    <dgm:cxn modelId="{FA666EF3-126C-4C6C-80F2-203D3596B1BB}" type="presParOf" srcId="{23D593A3-64DF-472D-8829-F1ED325A422C}" destId="{5E9378CC-5635-413E-B8A3-7C1FFA4B12A8}" srcOrd="0" destOrd="0" presId="urn:microsoft.com/office/officeart/2005/8/layout/hierarchy2#1"/>
    <dgm:cxn modelId="{DA5EFF53-C4E8-4EEB-B0CA-410A52AB918D}" type="presParOf" srcId="{231BC1BD-9396-4A3E-AE2E-C260ECFD6FC0}" destId="{AFE8AA27-1096-43A3-9CE3-18959BB55A80}" srcOrd="3" destOrd="0" presId="urn:microsoft.com/office/officeart/2005/8/layout/hierarchy2#1"/>
    <dgm:cxn modelId="{7E0AB0C9-3E8A-4183-86C0-FA014945D89D}" type="presParOf" srcId="{AFE8AA27-1096-43A3-9CE3-18959BB55A80}" destId="{E6EAB88E-253D-4114-8D98-6136344A1D15}" srcOrd="0" destOrd="0" presId="urn:microsoft.com/office/officeart/2005/8/layout/hierarchy2#1"/>
    <dgm:cxn modelId="{69802DF7-6831-418A-A991-43B74A1457C1}" type="presParOf" srcId="{AFE8AA27-1096-43A3-9CE3-18959BB55A80}" destId="{B5A701FB-A21E-4B1E-B8F4-09ED55F98433}" srcOrd="1" destOrd="0" presId="urn:microsoft.com/office/officeart/2005/8/layout/hierarchy2#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1254740" cy="4849019"/>
        <a:chOff x="0" y="0"/>
        <a:chExt cx="11254740" cy="4849019"/>
      </a:xfrm>
    </dsp:grpSpPr>
    <dsp:sp modelId="{BA1BE99A-9BA9-4140-AB7E-8DC2EF361186}">
      <dsp:nvSpPr>
        <dsp:cNvPr id="3" name="Rounded Rectangle 2"/>
        <dsp:cNvSpPr/>
      </dsp:nvSpPr>
      <dsp:spPr bwMode="white">
        <a:xfrm>
          <a:off x="0" y="2295524"/>
          <a:ext cx="1969695" cy="98484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800" dirty="0"/>
            <a:t>Malignant Skin Cancers</a:t>
          </a:r>
        </a:p>
      </dsp:txBody>
      <dsp:txXfrm>
        <a:off x="0" y="2295524"/>
        <a:ext cx="1969695" cy="984848"/>
      </dsp:txXfrm>
    </dsp:sp>
    <dsp:sp modelId="{68198A73-55CC-4CD3-95DC-EED3B2F0D69B}">
      <dsp:nvSpPr>
        <dsp:cNvPr id="4" name="Freeform 3"/>
        <dsp:cNvSpPr/>
      </dsp:nvSpPr>
      <dsp:spPr bwMode="white">
        <a:xfrm>
          <a:off x="1878497" y="2486525"/>
          <a:ext cx="970275" cy="36558"/>
        </a:xfrm>
        <a:custGeom>
          <a:avLst/>
          <a:gdLst/>
          <a:ahLst/>
          <a:cxnLst/>
          <a:pathLst>
            <a:path w="1528" h="58">
              <a:moveTo>
                <a:pt x="144" y="475"/>
              </a:moveTo>
              <a:lnTo>
                <a:pt x="1384" y="-417"/>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en-US" dirty="0">
            <a:solidFill>
              <a:schemeClr val="tx1"/>
            </a:solidFill>
          </a:endParaRPr>
        </a:p>
      </dsp:txBody>
      <dsp:txXfrm>
        <a:off x="1878497" y="2486525"/>
        <a:ext cx="970275" cy="36558"/>
      </dsp:txXfrm>
    </dsp:sp>
    <dsp:sp modelId="{97FBB5EA-DB99-4C36-A671-31AE29904F60}">
      <dsp:nvSpPr>
        <dsp:cNvPr id="5" name="Rounded Rectangle 4"/>
        <dsp:cNvSpPr/>
      </dsp:nvSpPr>
      <dsp:spPr bwMode="white">
        <a:xfrm>
          <a:off x="2757573" y="1729237"/>
          <a:ext cx="1969695" cy="984848"/>
        </a:xfrm>
        <a:prstGeom prst="roundRect">
          <a:avLst>
            <a:gd name="adj" fmla="val 10000"/>
          </a:avLst>
        </a:prstGeom>
        <a:solidFill>
          <a:schemeClr val="accent4">
            <a:lumMod val="75000"/>
          </a:schemeClr>
        </a:solidFill>
      </dsp:spPr>
      <dsp:style>
        <a:lnRef idx="2">
          <a:schemeClr val="lt1"/>
        </a:lnRef>
        <a:fillRef idx="1">
          <a:schemeClr val="accent1"/>
        </a:fillRef>
        <a:effectRef idx="0">
          <a:scrgbClr r="0" g="0" b="0"/>
        </a:effectRef>
        <a:fontRef idx="minor">
          <a:schemeClr val="lt1"/>
        </a:fontRef>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dirty="0"/>
            <a:t>Nonmelanoma</a:t>
          </a:r>
        </a:p>
      </dsp:txBody>
      <dsp:txXfrm>
        <a:off x="2757573" y="1729237"/>
        <a:ext cx="1969695" cy="984848"/>
      </dsp:txXfrm>
    </dsp:sp>
    <dsp:sp modelId="{948CA1A7-177D-4E50-ABC1-8D4EC1DF0027}">
      <dsp:nvSpPr>
        <dsp:cNvPr id="6" name="Freeform 5"/>
        <dsp:cNvSpPr/>
      </dsp:nvSpPr>
      <dsp:spPr bwMode="white">
        <a:xfrm>
          <a:off x="4431375" y="1637094"/>
          <a:ext cx="1379666" cy="36558"/>
        </a:xfrm>
        <a:custGeom>
          <a:avLst/>
          <a:gdLst/>
          <a:ahLst/>
          <a:cxnLst/>
          <a:pathLst>
            <a:path w="2173" h="58">
              <a:moveTo>
                <a:pt x="466" y="921"/>
              </a:moveTo>
              <a:lnTo>
                <a:pt x="1707" y="-863"/>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en-US" dirty="0">
            <a:solidFill>
              <a:schemeClr val="tx1"/>
            </a:solidFill>
          </a:endParaRPr>
        </a:p>
      </dsp:txBody>
      <dsp:txXfrm>
        <a:off x="4431375" y="1637094"/>
        <a:ext cx="1379666" cy="36558"/>
      </dsp:txXfrm>
    </dsp:sp>
    <dsp:sp modelId="{7CD2362C-39BF-434A-9282-1690B053964A}">
      <dsp:nvSpPr>
        <dsp:cNvPr id="7" name="Rounded Rectangle 6"/>
        <dsp:cNvSpPr/>
      </dsp:nvSpPr>
      <dsp:spPr bwMode="white">
        <a:xfrm>
          <a:off x="5515147" y="596662"/>
          <a:ext cx="1969695" cy="984848"/>
        </a:xfrm>
        <a:prstGeom prst="roundRect">
          <a:avLst>
            <a:gd name="adj" fmla="val 10000"/>
          </a:avLst>
        </a:prstGeom>
        <a:solidFill>
          <a:schemeClr val="accent4"/>
        </a:solidFill>
      </dsp:spPr>
      <dsp:style>
        <a:lnRef idx="2">
          <a:schemeClr val="lt1"/>
        </a:lnRef>
        <a:fillRef idx="1">
          <a:schemeClr val="accent1"/>
        </a:fillRef>
        <a:effectRef idx="0">
          <a:scrgbClr r="0" g="0" b="0"/>
        </a:effectRef>
        <a:fontRef idx="minor">
          <a:schemeClr val="lt1"/>
        </a:fontRef>
      </dsp:style>
      <dsp:txBody>
        <a:bodyPr lIns="13970" tIns="13970" rIns="13970" bIns="1397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200" dirty="0">
              <a:solidFill>
                <a:schemeClr val="tx1"/>
              </a:solidFill>
            </a:rPr>
            <a:t>Basal cell</a:t>
          </a:r>
        </a:p>
      </dsp:txBody>
      <dsp:txXfrm>
        <a:off x="5515147" y="596662"/>
        <a:ext cx="1969695" cy="984848"/>
      </dsp:txXfrm>
    </dsp:sp>
    <dsp:sp modelId="{C02866DF-0E3F-4325-9066-D5E562F20C85}">
      <dsp:nvSpPr>
        <dsp:cNvPr id="8" name="Freeform 7"/>
        <dsp:cNvSpPr/>
      </dsp:nvSpPr>
      <dsp:spPr bwMode="white">
        <a:xfrm>
          <a:off x="4727269" y="2203381"/>
          <a:ext cx="787878" cy="36558"/>
        </a:xfrm>
        <a:custGeom>
          <a:avLst/>
          <a:gdLst/>
          <a:ahLst/>
          <a:cxnLst/>
          <a:pathLst>
            <a:path w="1241" h="58">
              <a:moveTo>
                <a:pt x="0" y="29"/>
              </a:moveTo>
              <a:lnTo>
                <a:pt x="1241" y="29"/>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en-US" dirty="0">
            <a:solidFill>
              <a:schemeClr val="tx1"/>
            </a:solidFill>
          </a:endParaRPr>
        </a:p>
      </dsp:txBody>
      <dsp:txXfrm>
        <a:off x="4727269" y="2203381"/>
        <a:ext cx="787878" cy="36558"/>
      </dsp:txXfrm>
    </dsp:sp>
    <dsp:sp modelId="{7EC5AF66-9429-494F-ACDD-EC589205D126}">
      <dsp:nvSpPr>
        <dsp:cNvPr id="9" name="Rounded Rectangle 8"/>
        <dsp:cNvSpPr/>
      </dsp:nvSpPr>
      <dsp:spPr bwMode="white">
        <a:xfrm>
          <a:off x="5515147" y="1729237"/>
          <a:ext cx="1969695" cy="984848"/>
        </a:xfrm>
        <a:prstGeom prst="roundRect">
          <a:avLst>
            <a:gd name="adj" fmla="val 10000"/>
          </a:avLst>
        </a:prstGeom>
        <a:solidFill>
          <a:schemeClr val="accent4">
            <a:lumMod val="60000"/>
            <a:lumOff val="40000"/>
          </a:schemeClr>
        </a:solidFill>
      </dsp:spPr>
      <dsp:style>
        <a:lnRef idx="2">
          <a:schemeClr val="lt1"/>
        </a:lnRef>
        <a:fillRef idx="1">
          <a:schemeClr val="accent1"/>
        </a:fillRef>
        <a:effectRef idx="0">
          <a:scrgbClr r="0" g="0" b="0"/>
        </a:effectRef>
        <a:fontRef idx="minor">
          <a:schemeClr val="lt1"/>
        </a:fontRef>
      </dsp:style>
      <dsp:txBody>
        <a:bodyPr lIns="13970" tIns="13970" rIns="13970" bIns="1397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200" dirty="0">
              <a:solidFill>
                <a:schemeClr val="tx1"/>
              </a:solidFill>
            </a:rPr>
            <a:t>Squamous Cell</a:t>
          </a:r>
        </a:p>
      </dsp:txBody>
      <dsp:txXfrm>
        <a:off x="5515147" y="1729237"/>
        <a:ext cx="1969695" cy="984848"/>
      </dsp:txXfrm>
    </dsp:sp>
    <dsp:sp modelId="{FEF17D82-2155-45D4-9230-A3E6A475C729}">
      <dsp:nvSpPr>
        <dsp:cNvPr id="10" name="Freeform 9"/>
        <dsp:cNvSpPr/>
      </dsp:nvSpPr>
      <dsp:spPr bwMode="white">
        <a:xfrm>
          <a:off x="4431375" y="2769669"/>
          <a:ext cx="1379666" cy="36558"/>
        </a:xfrm>
        <a:custGeom>
          <a:avLst/>
          <a:gdLst/>
          <a:ahLst/>
          <a:cxnLst/>
          <a:pathLst>
            <a:path w="2173" h="58">
              <a:moveTo>
                <a:pt x="466" y="-863"/>
              </a:moveTo>
              <a:lnTo>
                <a:pt x="1707" y="921"/>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en-US" dirty="0">
            <a:solidFill>
              <a:schemeClr val="tx1"/>
            </a:solidFill>
          </a:endParaRPr>
        </a:p>
      </dsp:txBody>
      <dsp:txXfrm>
        <a:off x="4431375" y="2769669"/>
        <a:ext cx="1379666" cy="36558"/>
      </dsp:txXfrm>
    </dsp:sp>
    <dsp:sp modelId="{58D2AD06-C3CC-44B8-BB65-769E6A04CC4D}">
      <dsp:nvSpPr>
        <dsp:cNvPr id="11" name="Rounded Rectangle 10"/>
        <dsp:cNvSpPr/>
      </dsp:nvSpPr>
      <dsp:spPr bwMode="white">
        <a:xfrm>
          <a:off x="5515147" y="2861811"/>
          <a:ext cx="1969695" cy="984848"/>
        </a:xfrm>
        <a:prstGeom prst="roundRect">
          <a:avLst>
            <a:gd name="adj" fmla="val 10000"/>
          </a:avLst>
        </a:prstGeom>
        <a:solidFill>
          <a:schemeClr val="accent4">
            <a:lumMod val="40000"/>
            <a:lumOff val="60000"/>
          </a:schemeClr>
        </a:solidFill>
      </dsp:spPr>
      <dsp:style>
        <a:lnRef idx="2">
          <a:schemeClr val="lt1"/>
        </a:lnRef>
        <a:fillRef idx="1">
          <a:schemeClr val="accent1"/>
        </a:fillRef>
        <a:effectRef idx="0">
          <a:scrgbClr r="0" g="0" b="0"/>
        </a:effectRef>
        <a:fontRef idx="minor">
          <a:schemeClr val="lt1"/>
        </a:fontRef>
      </dsp:style>
      <dsp:txBody>
        <a:bodyPr lIns="13970" tIns="13970" rIns="13970" bIns="1397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200" dirty="0">
              <a:solidFill>
                <a:schemeClr val="tx1"/>
              </a:solidFill>
            </a:rPr>
            <a:t>Other</a:t>
          </a:r>
        </a:p>
      </dsp:txBody>
      <dsp:txXfrm>
        <a:off x="5515147" y="2861811"/>
        <a:ext cx="1969695" cy="984848"/>
      </dsp:txXfrm>
    </dsp:sp>
    <dsp:sp modelId="{AD9B5AE9-B0DD-4DC7-A21C-4F95CFC934B5}">
      <dsp:nvSpPr>
        <dsp:cNvPr id="12" name="Freeform 11"/>
        <dsp:cNvSpPr/>
      </dsp:nvSpPr>
      <dsp:spPr bwMode="white">
        <a:xfrm>
          <a:off x="7484842" y="3335956"/>
          <a:ext cx="787878" cy="36558"/>
        </a:xfrm>
        <a:custGeom>
          <a:avLst/>
          <a:gdLst/>
          <a:ahLst/>
          <a:cxnLst/>
          <a:pathLst>
            <a:path w="1241" h="58">
              <a:moveTo>
                <a:pt x="0" y="29"/>
              </a:moveTo>
              <a:lnTo>
                <a:pt x="1241" y="29"/>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en-US" dirty="0">
            <a:solidFill>
              <a:schemeClr val="tx1"/>
            </a:solidFill>
          </a:endParaRPr>
        </a:p>
      </dsp:txBody>
      <dsp:txXfrm>
        <a:off x="7484842" y="3335956"/>
        <a:ext cx="787878" cy="36558"/>
      </dsp:txXfrm>
    </dsp:sp>
    <dsp:sp modelId="{1B299197-420A-452B-A35B-7700ADEB72CF}">
      <dsp:nvSpPr>
        <dsp:cNvPr id="13" name="Rounded Rectangle 12"/>
        <dsp:cNvSpPr/>
      </dsp:nvSpPr>
      <dsp:spPr bwMode="white">
        <a:xfrm>
          <a:off x="8272720" y="2456113"/>
          <a:ext cx="2982020" cy="1796244"/>
        </a:xfrm>
        <a:prstGeom prst="roundRect">
          <a:avLst>
            <a:gd name="adj" fmla="val 10000"/>
          </a:avLst>
        </a:prstGeom>
        <a:solidFill>
          <a:schemeClr val="accent4">
            <a:lumMod val="40000"/>
            <a:lumOff val="60000"/>
          </a:schemeClr>
        </a:solidFill>
      </dsp:spPr>
      <dsp:style>
        <a:lnRef idx="2">
          <a:schemeClr val="lt1"/>
        </a:lnRef>
        <a:fillRef idx="1">
          <a:schemeClr val="accent1"/>
        </a:fillRef>
        <a:effectRef idx="0">
          <a:scrgbClr r="0" g="0" b="0"/>
        </a:effectRef>
        <a:fontRef idx="minor">
          <a:schemeClr val="lt1"/>
        </a:fontRef>
      </dsp:style>
      <dsp:txBody>
        <a:bodyPr lIns="9144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pPr>
          <a:r>
            <a:rPr lang="en-US" sz="1800" dirty="0">
              <a:solidFill>
                <a:schemeClr val="tx1"/>
              </a:solidFill>
            </a:rPr>
            <a:t>--Merkel cell</a:t>
          </a:r>
          <a:endParaRPr lang="en-US" sz="1800" dirty="0">
            <a:solidFill>
              <a:schemeClr val="tx1"/>
            </a:solidFill>
          </a:endParaRPr>
        </a:p>
        <a:p>
          <a:pPr lvl="0" algn="l">
            <a:lnSpc>
              <a:spcPct val="100000"/>
            </a:lnSpc>
            <a:spcBef>
              <a:spcPct val="0"/>
            </a:spcBef>
            <a:spcAft>
              <a:spcPct val="35000"/>
            </a:spcAft>
          </a:pPr>
          <a:r>
            <a:rPr lang="en-US" sz="1800" dirty="0">
              <a:solidFill>
                <a:schemeClr val="tx1"/>
              </a:solidFill>
            </a:rPr>
            <a:t>--Apocrine gland</a:t>
          </a:r>
          <a:endParaRPr lang="en-US" sz="1800" dirty="0">
            <a:solidFill>
              <a:schemeClr val="tx1"/>
            </a:solidFill>
          </a:endParaRPr>
        </a:p>
        <a:p>
          <a:pPr lvl="0" algn="l">
            <a:lnSpc>
              <a:spcPct val="100000"/>
            </a:lnSpc>
            <a:spcBef>
              <a:spcPct val="0"/>
            </a:spcBef>
            <a:spcAft>
              <a:spcPct val="35000"/>
            </a:spcAft>
          </a:pPr>
          <a:r>
            <a:rPr lang="en-US" sz="1800" dirty="0">
              <a:solidFill>
                <a:schemeClr val="tx1"/>
              </a:solidFill>
            </a:rPr>
            <a:t>--Cutaneous T-cell lymphoma</a:t>
          </a:r>
          <a:endParaRPr lang="en-US" sz="1800" dirty="0">
            <a:solidFill>
              <a:schemeClr val="tx1"/>
            </a:solidFill>
          </a:endParaRPr>
        </a:p>
        <a:p>
          <a:pPr lvl="0" algn="l">
            <a:lnSpc>
              <a:spcPct val="100000"/>
            </a:lnSpc>
            <a:spcBef>
              <a:spcPct val="0"/>
            </a:spcBef>
            <a:spcAft>
              <a:spcPct val="35000"/>
            </a:spcAft>
          </a:pPr>
          <a:r>
            <a:rPr lang="en-US" sz="1800" dirty="0">
              <a:solidFill>
                <a:schemeClr val="tx1"/>
              </a:solidFill>
            </a:rPr>
            <a:t>--Others</a:t>
          </a:r>
        </a:p>
      </dsp:txBody>
      <dsp:txXfrm>
        <a:off x="8272720" y="2456113"/>
        <a:ext cx="2982020" cy="1796244"/>
      </dsp:txXfrm>
    </dsp:sp>
    <dsp:sp modelId="{23D593A3-64DF-472D-8829-F1ED325A422C}">
      <dsp:nvSpPr>
        <dsp:cNvPr id="14" name="Freeform 13"/>
        <dsp:cNvSpPr/>
      </dsp:nvSpPr>
      <dsp:spPr bwMode="white">
        <a:xfrm>
          <a:off x="1878497" y="3052812"/>
          <a:ext cx="970275" cy="36558"/>
        </a:xfrm>
        <a:custGeom>
          <a:avLst/>
          <a:gdLst/>
          <a:ahLst/>
          <a:cxnLst/>
          <a:pathLst>
            <a:path w="1528" h="58">
              <a:moveTo>
                <a:pt x="144" y="-417"/>
              </a:moveTo>
              <a:lnTo>
                <a:pt x="1384" y="475"/>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en-US" dirty="0">
            <a:solidFill>
              <a:schemeClr val="tx1"/>
            </a:solidFill>
          </a:endParaRPr>
        </a:p>
      </dsp:txBody>
      <dsp:txXfrm>
        <a:off x="1878497" y="3052812"/>
        <a:ext cx="970275" cy="36558"/>
      </dsp:txXfrm>
    </dsp:sp>
    <dsp:sp modelId="{E6EAB88E-253D-4114-8D98-6136344A1D15}">
      <dsp:nvSpPr>
        <dsp:cNvPr id="15" name="Rounded Rectangle 14"/>
        <dsp:cNvSpPr/>
      </dsp:nvSpPr>
      <dsp:spPr bwMode="white">
        <a:xfrm>
          <a:off x="2757573" y="2861811"/>
          <a:ext cx="1969695" cy="984848"/>
        </a:xfrm>
        <a:prstGeom prst="roundRect">
          <a:avLst>
            <a:gd name="adj" fmla="val 10000"/>
          </a:avLst>
        </a:prstGeom>
        <a:solidFill>
          <a:srgbClr val="C00000"/>
        </a:solidFill>
      </dsp:spPr>
      <dsp:style>
        <a:lnRef idx="2">
          <a:schemeClr val="lt1"/>
        </a:lnRef>
        <a:fillRef idx="1">
          <a:schemeClr val="accent1"/>
        </a:fillRef>
        <a:effectRef idx="0">
          <a:scrgbClr r="0" g="0" b="0"/>
        </a:effectRef>
        <a:fontRef idx="minor">
          <a:schemeClr val="lt1"/>
        </a:fontRef>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dirty="0"/>
            <a:t>Melanoma</a:t>
          </a:r>
        </a:p>
      </dsp:txBody>
      <dsp:txXfrm>
        <a:off x="2757573" y="2861811"/>
        <a:ext cx="1969695" cy="98484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1">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999D07-D4FF-4365-AFCB-221349509B4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B2C683-DB2F-4275-A4BA-74DCA72A7B2D}"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C616BA6-AA68-45B1-9155-387BEF828B5F}"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Occasionally</a:t>
            </a:r>
            <a:r>
              <a:rPr lang="en-US" baseline="0" dirty="0"/>
              <a:t> presented as cutaneous horn</a:t>
            </a:r>
            <a:endParaRPr lang="en-US" dirty="0"/>
          </a:p>
        </p:txBody>
      </p:sp>
      <p:sp>
        <p:nvSpPr>
          <p:cNvPr id="4" name="Slide Number Placeholder 3"/>
          <p:cNvSpPr>
            <a:spLocks noGrp="1"/>
          </p:cNvSpPr>
          <p:nvPr>
            <p:ph type="sldNum" sz="quarter" idx="10"/>
          </p:nvPr>
        </p:nvSpPr>
        <p:spPr/>
        <p:txBody>
          <a:bodyPr/>
          <a:lstStyle/>
          <a:p>
            <a:fld id="{0D5F9842-8516-431E-8AD3-2C27B32713AF}"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7524CD-597D-4486-9FBF-EC06B4E9E862}" type="slidenum">
              <a:rPr lang="en-US" smtClean="0"/>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a:t>
            </a:r>
            <a:r>
              <a:rPr lang="en-US" b="1" dirty="0"/>
              <a:t>Fitzpatrick skin type (phototype) classification</a:t>
            </a:r>
            <a:r>
              <a:rPr lang="en-US" dirty="0"/>
              <a:t> is a system used by dermatologists to classify skin based on </a:t>
            </a:r>
            <a:r>
              <a:rPr lang="en-US" b="1" dirty="0"/>
              <a:t>how it responds to ultraviolet (UV) exposure</a:t>
            </a:r>
            <a:r>
              <a:rPr lang="en-US" dirty="0"/>
              <a:t>—specifically, how easily it burns and tans.</a:t>
            </a:r>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Sonic hedgehog signaling pathway. SHH ligand binds to and inhibits the PTCH transmembrane protein. The inhibition of PTCH relieves suppression of SMO (Smoothened), which then activates the GLI transcription factors. The GLI proteins translocate from the cytoplasm to the nucleus, where they drive gene transcription.</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Shiny, skin-</a:t>
            </a:r>
            <a:r>
              <a:rPr lang="en-US" dirty="0" err="1"/>
              <a:t>coloured</a:t>
            </a:r>
            <a:r>
              <a:rPr lang="en-US" dirty="0"/>
              <a:t> bump that’s translucent</a:t>
            </a:r>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6C398D-7A99-4F15-93C3-C2019EEEAAF4}"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Their analysis indicated that for well-circumscribed BCC lesions smaller than 2 cm in diameter, excision with 4-mm clinical margins should result in complete removal in more than 95% of cases</a:t>
            </a:r>
            <a:endParaRPr lang="en-US" dirty="0"/>
          </a:p>
        </p:txBody>
      </p:sp>
      <p:sp>
        <p:nvSpPr>
          <p:cNvPr id="4" name="Slide Number Placeholder 3"/>
          <p:cNvSpPr>
            <a:spLocks noGrp="1"/>
          </p:cNvSpPr>
          <p:nvPr>
            <p:ph type="sldNum" sz="quarter" idx="5"/>
          </p:nvPr>
        </p:nvSpPr>
        <p:spPr/>
        <p:txBody>
          <a:bodyPr/>
          <a:lstStyle/>
          <a:p>
            <a:fld id="{526C398D-7A99-4F15-93C3-C2019EEEAAF4}"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Tanning bed use </a:t>
            </a:r>
            <a:r>
              <a:rPr lang="en-US" dirty="0" err="1"/>
              <a:t>fluoresescent</a:t>
            </a:r>
            <a:r>
              <a:rPr lang="en-US" dirty="0"/>
              <a:t> bulbs that mimic the sun’s UVA rays</a:t>
            </a:r>
            <a:endParaRPr lang="en-US" dirty="0"/>
          </a:p>
          <a:p>
            <a:r>
              <a:rPr lang="en-US" dirty="0"/>
              <a:t>10 minutes in tanning bed is equal to about 2 hours of laying out in the hot sun</a:t>
            </a:r>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Definition</a:t>
            </a:r>
            <a:endParaRPr lang="en-US" b="1" dirty="0"/>
          </a:p>
          <a:p>
            <a:r>
              <a:rPr lang="en-US" dirty="0"/>
              <a:t>A </a:t>
            </a:r>
            <a:r>
              <a:rPr lang="en-US" b="1" dirty="0"/>
              <a:t>Sentinel Lymph Node Biopsy (SLNB)</a:t>
            </a:r>
            <a:r>
              <a:rPr lang="en-US" dirty="0"/>
              <a:t> is a surgical procedure used to identify and remove the first lymph node(s) (sentinel node) that receives lymphatic drainage from the primary melanoma site. The node is examined histologically for microscopic metastasis.</a:t>
            </a:r>
            <a:endParaRPr lang="en-US" dirty="0"/>
          </a:p>
          <a:p>
            <a:r>
              <a:rPr lang="en-US" dirty="0"/>
              <a:t>The sentinel lymph node is considered the </a:t>
            </a:r>
            <a:r>
              <a:rPr lang="en-US" b="1" dirty="0"/>
              <a:t>"gatekeeper" lymph node</a:t>
            </a:r>
            <a:r>
              <a:rPr lang="en-US" dirty="0"/>
              <a:t> because melanoma cells usually spread there first before involving other regional lymph nodes.</a:t>
            </a:r>
            <a:endParaRPr lang="en-US" dirty="0"/>
          </a:p>
          <a:p>
            <a:r>
              <a:rPr lang="en-US" dirty="0"/>
              <a:t>NCCN-National comprehensive cancer network</a:t>
            </a:r>
            <a:endParaRPr lang="en-US" dirty="0"/>
          </a:p>
        </p:txBody>
      </p:sp>
      <p:sp>
        <p:nvSpPr>
          <p:cNvPr id="4" name="Slide Number Placeholder 3"/>
          <p:cNvSpPr>
            <a:spLocks noGrp="1"/>
          </p:cNvSpPr>
          <p:nvPr>
            <p:ph type="sldNum" sz="quarter" idx="5"/>
          </p:nvPr>
        </p:nvSpPr>
        <p:spPr/>
        <p:txBody>
          <a:bodyPr/>
          <a:lstStyle/>
          <a:p>
            <a:fld id="{526C398D-7A99-4F15-93C3-C2019EEEAAF4}"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Surgery is the definitive treatment for early-stage melanoma, with medical management generally reserved for adjuvant treatment of high-risk locally advanced melanoma and metastatic disease.</a:t>
            </a:r>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ctr"/>
            <a:r>
              <a:rPr lang="en-US" dirty="0" err="1"/>
              <a:t>Multicenter</a:t>
            </a:r>
            <a:r>
              <a:rPr lang="en-US" dirty="0"/>
              <a:t> Selective Lymphadenectomy Trial II (MSLT-II)</a:t>
            </a:r>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Clinical Impact</a:t>
            </a:r>
            <a:endParaRPr lang="en-US" b="1" dirty="0"/>
          </a:p>
          <a:p>
            <a:r>
              <a:rPr lang="en-US" dirty="0"/>
              <a:t>MSLT-II changed melanoma management worldwide and influenced guidelines from organizations such as the National Comprehensive Cancer Network and other international melanoma groups.</a:t>
            </a:r>
            <a:endParaRPr lang="en-US" dirty="0"/>
          </a:p>
          <a:p>
            <a:r>
              <a:rPr lang="en-US" dirty="0"/>
              <a:t>Current practice for most patients with </a:t>
            </a:r>
            <a:r>
              <a:rPr lang="en-US" b="1" dirty="0"/>
              <a:t>microscopic Stage III melanoma (SLN-positive disease)</a:t>
            </a:r>
            <a:r>
              <a:rPr lang="en-US" dirty="0"/>
              <a:t> is:</a:t>
            </a:r>
            <a:endParaRPr lang="en-US" dirty="0"/>
          </a:p>
          <a:p>
            <a:r>
              <a:rPr lang="en-US" dirty="0"/>
              <a:t>Wide local excision of the primary melanoma. </a:t>
            </a:r>
            <a:endParaRPr lang="en-US" dirty="0"/>
          </a:p>
          <a:p>
            <a:r>
              <a:rPr lang="en-US" dirty="0"/>
              <a:t>Sentinel lymph node biopsy. </a:t>
            </a:r>
            <a:endParaRPr lang="en-US" dirty="0"/>
          </a:p>
          <a:p>
            <a:r>
              <a:rPr lang="en-US" dirty="0"/>
              <a:t>If the SLN is positive: </a:t>
            </a:r>
            <a:endParaRPr lang="en-US" dirty="0"/>
          </a:p>
          <a:p>
            <a:pPr lvl="1"/>
            <a:r>
              <a:rPr lang="en-US" dirty="0"/>
              <a:t>Observation with regular nodal ultrasound surveillance (preferred). </a:t>
            </a:r>
            <a:endParaRPr lang="en-US" dirty="0"/>
          </a:p>
          <a:p>
            <a:pPr lvl="1"/>
            <a:r>
              <a:rPr lang="en-US" dirty="0"/>
              <a:t>Consider adjuvant systemic therapy. </a:t>
            </a:r>
            <a:endParaRPr lang="en-US" dirty="0"/>
          </a:p>
          <a:p>
            <a:pPr lvl="1"/>
            <a:r>
              <a:rPr lang="en-US" dirty="0"/>
              <a:t>Reserve CLND for selected situations.</a:t>
            </a:r>
            <a:endParaRPr lang="en-US" dirty="0"/>
          </a:p>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ctr"/>
            <a:r>
              <a:rPr lang="en-US" dirty="0"/>
              <a:t>COMBI-AD</a:t>
            </a:r>
            <a:r>
              <a:rPr lang="en-US" dirty="0"/>
              <a:t> Trial</a:t>
            </a:r>
            <a:r>
              <a:rPr lang="en-US" dirty="0"/>
              <a:t>: Adjuvant Dabrafenib Plus Trametinib in Stage III BRAF-Mutated Melanoma</a:t>
            </a:r>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RFS; </a:t>
            </a:r>
            <a:r>
              <a:rPr lang="en-US" dirty="0"/>
              <a:t>Defined as the time from randomization to melanoma recurrence or death from any cause</a:t>
            </a:r>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Neoadjuvant therapy is increasingly favoured because pathologic response strongly predicts outcomes</a:t>
            </a:r>
            <a:r>
              <a:rPr lang="en-US" dirty="0"/>
              <a:t>, treat micro metastatic disease early, may shrink nodal disease</a:t>
            </a:r>
            <a:endParaRPr lang="en-US" dirty="0"/>
          </a:p>
          <a:p>
            <a:endParaRPr lang="en-US" dirty="0"/>
          </a:p>
        </p:txBody>
      </p:sp>
      <p:sp>
        <p:nvSpPr>
          <p:cNvPr id="4" name="Slide Number Placeholder 3"/>
          <p:cNvSpPr>
            <a:spLocks noGrp="1"/>
          </p:cNvSpPr>
          <p:nvPr>
            <p:ph type="sldNum" sz="quarter" idx="5"/>
          </p:nvPr>
        </p:nvSpPr>
        <p:spPr/>
        <p:txBody>
          <a:bodyPr/>
          <a:lstStyle/>
          <a:p>
            <a:fld id="{526C398D-7A99-4F15-93C3-C2019EEEAAF4}"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B2C683-DB2F-4275-A4BA-74DCA72A7B2D}"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30F77295-3F6D-4B88-9113-E5C274620D0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0F77295-3F6D-4B88-9113-E5C274620D0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30F77295-3F6D-4B88-9113-E5C274620D0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30F77295-3F6D-4B88-9113-E5C274620D0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30F77295-3F6D-4B88-9113-E5C274620D0F}"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30F77295-3F6D-4B88-9113-E5C274620D0F}"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F77295-3F6D-4B88-9113-E5C274620D0F}"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30F77295-3F6D-4B88-9113-E5C274620D0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30F77295-3F6D-4B88-9113-E5C274620D0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0F77295-3F6D-4B88-9113-E5C274620D0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0F77295-3F6D-4B88-9113-E5C274620D0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0F77295-3F6D-4B88-9113-E5C274620D0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BA7C66-4A28-4B54-80E4-43C79A2FF5F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F77295-3F6D-4B88-9113-E5C274620D0F}"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BA7C66-4A28-4B54-80E4-43C79A2FF5F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6.png"/><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18.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9.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0.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hyperlink" Target="https://www.mdpi.com/2227-9059/8/11/449"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jpeg"/><Relationship Id="rId1" Type="http://schemas.openxmlformats.org/officeDocument/2006/relationships/image" Target="../media/image2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cancer.org/cancer/types/basal-and-squamous-cell-skin-cancer/about/key-statistics.html"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emf"/><Relationship Id="rId1" Type="http://schemas.openxmlformats.org/officeDocument/2006/relationships/image" Target="../media/image31.e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3.jpe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5.jpeg"/><Relationship Id="rId1" Type="http://schemas.openxmlformats.org/officeDocument/2006/relationships/image" Target="../media/image34.jpe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6.jpe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7.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8.em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42.jpe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jpe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TUMORS OF THE SKIN OTHER THAN KAPOSI SARCOMA</a:t>
            </a:r>
            <a:endParaRPr lang="en-US" dirty="0"/>
          </a:p>
        </p:txBody>
      </p:sp>
      <p:sp>
        <p:nvSpPr>
          <p:cNvPr id="3" name="Subtitle 2"/>
          <p:cNvSpPr>
            <a:spLocks noGrp="1"/>
          </p:cNvSpPr>
          <p:nvPr>
            <p:ph type="subTitle" idx="1"/>
          </p:nvPr>
        </p:nvSpPr>
        <p:spPr/>
        <p:txBody>
          <a:bodyPr>
            <a:normAutofit lnSpcReduction="10000"/>
          </a:bodyPr>
          <a:lstStyle/>
          <a:p>
            <a:r>
              <a:rPr lang="en-US" b="1" dirty="0"/>
              <a:t>PRESNTERS:</a:t>
            </a:r>
            <a:r>
              <a:rPr lang="en-US" dirty="0"/>
              <a:t> </a:t>
            </a:r>
            <a:endParaRPr lang="en-US" dirty="0"/>
          </a:p>
          <a:p>
            <a:r>
              <a:rPr lang="en-US" dirty="0"/>
              <a:t>ALI SIMAI</a:t>
            </a:r>
            <a:endParaRPr lang="en-US" dirty="0"/>
          </a:p>
          <a:p>
            <a:r>
              <a:rPr lang="en-US" dirty="0"/>
              <a:t>HALIMA SULEIMAN</a:t>
            </a:r>
            <a:endParaRPr lang="en-US" dirty="0"/>
          </a:p>
          <a:p>
            <a:r>
              <a:rPr lang="en-US" b="1" dirty="0"/>
              <a:t>FACILITATOR</a:t>
            </a:r>
            <a:r>
              <a:rPr lang="en-US" dirty="0"/>
              <a:t>:  PROF. P . MUNSER</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Objectives</a:t>
            </a:r>
            <a:endParaRPr lang="en-US"/>
          </a:p>
        </p:txBody>
      </p:sp>
      <p:sp>
        <p:nvSpPr>
          <p:cNvPr id="5" name="Content Placeholder 4"/>
          <p:cNvSpPr>
            <a:spLocks noGrp="1"/>
          </p:cNvSpPr>
          <p:nvPr>
            <p:ph idx="1"/>
          </p:nvPr>
        </p:nvSpPr>
        <p:spPr/>
        <p:txBody>
          <a:bodyPr/>
          <a:p>
            <a:pPr marL="514350" indent="-514350">
              <a:buAutoNum type="arabicPeriod"/>
            </a:pPr>
            <a:r>
              <a:rPr lang="en-US"/>
              <a:t>Clear classification of the skin tumors</a:t>
            </a:r>
            <a:endParaRPr lang="en-US"/>
          </a:p>
          <a:p>
            <a:pPr marL="514350" indent="-514350">
              <a:buAutoNum type="arabicPeriod"/>
            </a:pPr>
            <a:r>
              <a:rPr lang="en-US"/>
              <a:t>Describe their clinical presentations</a:t>
            </a:r>
            <a:endParaRPr lang="en-US"/>
          </a:p>
          <a:p>
            <a:pPr marL="514350" indent="-514350">
              <a:buAutoNum type="arabicPeriod"/>
            </a:pPr>
            <a:r>
              <a:rPr lang="en-US"/>
              <a:t>How to identify lesions that need urgent biopsy</a:t>
            </a:r>
            <a:endParaRPr lang="en-US"/>
          </a:p>
          <a:p>
            <a:pPr marL="514350" indent="-514350">
              <a:buAutoNum type="arabicPeriod"/>
            </a:pPr>
            <a:r>
              <a:rPr lang="en-US"/>
              <a:t>Discuss the epidemiology and risk factors of basal cell carcinoma, cutaneous squamous cell carcinoma and malignant melanoma</a:t>
            </a:r>
            <a:endParaRPr lang="en-US"/>
          </a:p>
          <a:p>
            <a:pPr marL="514350" indent="-514350">
              <a:buAutoNum type="arabicPeriod"/>
            </a:pPr>
            <a:r>
              <a:rPr lang="en-US"/>
              <a:t>Outline the diagnostic work up and staging of malignant lesion</a:t>
            </a:r>
            <a:endParaRPr lang="en-US"/>
          </a:p>
          <a:p>
            <a:pPr marL="514350" indent="-514350">
              <a:buAutoNum type="arabicPeriod"/>
            </a:pPr>
            <a:r>
              <a:rPr lang="en-US"/>
              <a:t>Evidence based management approach</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Skin Tumor Classification</a:t>
            </a:r>
            <a:endParaRPr lang="en-US" dirty="0"/>
          </a:p>
        </p:txBody>
      </p:sp>
      <p:sp>
        <p:nvSpPr>
          <p:cNvPr id="3" name="Content Placeholder 2"/>
          <p:cNvSpPr>
            <a:spLocks noGrp="1"/>
          </p:cNvSpPr>
          <p:nvPr>
            <p:ph idx="1"/>
          </p:nvPr>
        </p:nvSpPr>
        <p:spPr/>
        <p:txBody>
          <a:bodyPr/>
          <a:lstStyle/>
          <a:p>
            <a:pPr marL="0" indent="0">
              <a:buNone/>
            </a:pPr>
            <a:r>
              <a:rPr lang="en-US" dirty="0"/>
              <a:t>Skin tumors can be classified into; </a:t>
            </a:r>
            <a:endParaRPr lang="en-US" b="1" dirty="0"/>
          </a:p>
          <a:p>
            <a:pPr lvl="1"/>
            <a:r>
              <a:rPr lang="en-US" dirty="0"/>
              <a:t>Benign tumors</a:t>
            </a:r>
            <a:endParaRPr lang="en-US" dirty="0"/>
          </a:p>
          <a:p>
            <a:pPr lvl="1"/>
            <a:r>
              <a:rPr lang="en-US" dirty="0"/>
              <a:t>Pre-malignant tumors</a:t>
            </a:r>
            <a:endParaRPr lang="en-US" dirty="0"/>
          </a:p>
          <a:p>
            <a:pPr lvl="1"/>
            <a:r>
              <a:rPr lang="en-US" dirty="0"/>
              <a:t>Malignant tumors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BENIGN TUMORS OF THE SKIN</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1267" y="203200"/>
            <a:ext cx="10515600" cy="1845733"/>
          </a:xfrm>
        </p:spPr>
        <p:txBody>
          <a:bodyPr>
            <a:normAutofit/>
          </a:bodyPr>
          <a:lstStyle/>
          <a:p>
            <a:r>
              <a:rPr lang="en-US" b="1" dirty="0"/>
              <a:t>EPIDERMAL TUMORS </a:t>
            </a:r>
            <a:br>
              <a:rPr lang="en-US" b="1" dirty="0"/>
            </a:br>
            <a:r>
              <a:rPr lang="en-US" b="1" dirty="0"/>
              <a:t>Seborrheic Keratosis</a:t>
            </a:r>
            <a:endParaRPr lang="en-US" b="1" dirty="0"/>
          </a:p>
        </p:txBody>
      </p:sp>
      <p:sp>
        <p:nvSpPr>
          <p:cNvPr id="3" name="Content Placeholder 2"/>
          <p:cNvSpPr>
            <a:spLocks noGrp="1"/>
          </p:cNvSpPr>
          <p:nvPr>
            <p:ph sz="half" idx="1"/>
          </p:nvPr>
        </p:nvSpPr>
        <p:spPr/>
        <p:txBody>
          <a:bodyPr>
            <a:normAutofit fontScale="77500" lnSpcReduction="20000"/>
          </a:bodyPr>
          <a:lstStyle/>
          <a:p>
            <a:r>
              <a:rPr lang="en-US" dirty="0"/>
              <a:t>Common epidermal tumor</a:t>
            </a:r>
            <a:endParaRPr lang="en-US" dirty="0"/>
          </a:p>
          <a:p>
            <a:r>
              <a:rPr lang="en-US" dirty="0"/>
              <a:t>Consisting of benign proliferation of immature keratinocytes</a:t>
            </a:r>
            <a:endParaRPr lang="en-US" dirty="0"/>
          </a:p>
          <a:p>
            <a:r>
              <a:rPr lang="en-US" dirty="0"/>
              <a:t>It is commonly seen in middle aged individuals, but  it can also develop in young adults</a:t>
            </a:r>
            <a:endParaRPr lang="en-US" dirty="0"/>
          </a:p>
          <a:p>
            <a:r>
              <a:rPr lang="en-US" dirty="0"/>
              <a:t>Presents as a well </a:t>
            </a:r>
            <a:r>
              <a:rPr lang="en-US" dirty="0" err="1"/>
              <a:t>demarcated,round</a:t>
            </a:r>
            <a:r>
              <a:rPr lang="en-US" dirty="0"/>
              <a:t> or oval lesion, light brown  to dark brown and a typical stuck on appearance</a:t>
            </a:r>
            <a:endParaRPr lang="en-US" dirty="0"/>
          </a:p>
          <a:p>
            <a:r>
              <a:rPr lang="en-US" dirty="0"/>
              <a:t>It is generally </a:t>
            </a:r>
            <a:r>
              <a:rPr lang="en-US" dirty="0" err="1"/>
              <a:t>asymptomatic,but</a:t>
            </a:r>
            <a:r>
              <a:rPr lang="en-US" dirty="0"/>
              <a:t> chronic irritation due to friction trauma may occasionally cause </a:t>
            </a:r>
            <a:r>
              <a:rPr lang="en-US" dirty="0" err="1"/>
              <a:t>pruritus,pain</a:t>
            </a:r>
            <a:r>
              <a:rPr lang="en-US" dirty="0"/>
              <a:t> or bleeding.</a:t>
            </a:r>
            <a:endParaRPr lang="en-US" dirty="0"/>
          </a:p>
          <a:p>
            <a:r>
              <a:rPr lang="en-US" dirty="0"/>
              <a:t>Cluster on the </a:t>
            </a:r>
            <a:r>
              <a:rPr lang="en-US" dirty="0" err="1"/>
              <a:t>trunk,inframammary</a:t>
            </a:r>
            <a:r>
              <a:rPr lang="en-US" dirty="0"/>
              <a:t> </a:t>
            </a:r>
            <a:r>
              <a:rPr lang="en-US" dirty="0" err="1"/>
              <a:t>folds,face</a:t>
            </a:r>
            <a:r>
              <a:rPr lang="en-US" dirty="0"/>
              <a:t>/scalp</a:t>
            </a:r>
            <a:endParaRPr lang="en-US" dirty="0"/>
          </a:p>
        </p:txBody>
      </p:sp>
      <p:pic>
        <p:nvPicPr>
          <p:cNvPr id="6" name="Content Placeholder 5"/>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0" y="1986227"/>
            <a:ext cx="5181600" cy="4030133"/>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Suborrheic</a:t>
            </a:r>
            <a:r>
              <a:rPr lang="en-US" b="1" dirty="0"/>
              <a:t> Keratosis </a:t>
            </a:r>
            <a:r>
              <a:rPr lang="en-US" b="1" dirty="0" err="1"/>
              <a:t>Cont</a:t>
            </a:r>
            <a:r>
              <a:rPr lang="en-US" b="1" dirty="0"/>
              <a:t>”</a:t>
            </a:r>
            <a:endParaRPr lang="en-US" b="1" dirty="0"/>
          </a:p>
        </p:txBody>
      </p:sp>
      <p:sp>
        <p:nvSpPr>
          <p:cNvPr id="3" name="Content Placeholder 2"/>
          <p:cNvSpPr>
            <a:spLocks noGrp="1"/>
          </p:cNvSpPr>
          <p:nvPr>
            <p:ph sz="half" idx="1"/>
          </p:nvPr>
        </p:nvSpPr>
        <p:spPr>
          <a:xfrm>
            <a:off x="838199" y="1049867"/>
            <a:ext cx="5672667" cy="5127095"/>
          </a:xfrm>
        </p:spPr>
        <p:txBody>
          <a:bodyPr>
            <a:noAutofit/>
          </a:bodyPr>
          <a:lstStyle/>
          <a:p>
            <a:endParaRPr lang="en-US" sz="1600" b="1" dirty="0"/>
          </a:p>
          <a:p>
            <a:r>
              <a:rPr lang="en-US" sz="1600" b="1" dirty="0"/>
              <a:t>Clinical variants: include</a:t>
            </a:r>
            <a:endParaRPr lang="en-US" sz="1600" b="1" dirty="0"/>
          </a:p>
          <a:p>
            <a:pPr marL="0" indent="0">
              <a:buNone/>
            </a:pPr>
            <a:r>
              <a:rPr lang="en-US" sz="1600" b="1" dirty="0"/>
              <a:t>Stucco Keratosis</a:t>
            </a:r>
            <a:r>
              <a:rPr lang="en-US" sz="1600" dirty="0"/>
              <a:t>: White </a:t>
            </a:r>
            <a:r>
              <a:rPr lang="en-US" sz="1600" dirty="0" err="1"/>
              <a:t>lessions</a:t>
            </a:r>
            <a:r>
              <a:rPr lang="en-US" sz="1600" dirty="0"/>
              <a:t> with rough surface and stuck on </a:t>
            </a:r>
            <a:r>
              <a:rPr lang="en-US" sz="1600" dirty="0" err="1"/>
              <a:t>apperence</a:t>
            </a:r>
            <a:r>
              <a:rPr lang="en-US" sz="1600" dirty="0"/>
              <a:t> </a:t>
            </a:r>
            <a:endParaRPr lang="en-US" sz="1600" dirty="0"/>
          </a:p>
          <a:p>
            <a:pPr marL="0" indent="0">
              <a:buNone/>
            </a:pPr>
            <a:r>
              <a:rPr lang="en-US" sz="1600" dirty="0"/>
              <a:t>Typically located on elderly ankles and dorsum of the </a:t>
            </a:r>
            <a:r>
              <a:rPr lang="en-US" sz="1600" dirty="0" err="1"/>
              <a:t>feets</a:t>
            </a:r>
            <a:endParaRPr lang="en-US" sz="1600" dirty="0"/>
          </a:p>
          <a:p>
            <a:r>
              <a:rPr lang="en-US" sz="1600" b="1" dirty="0"/>
              <a:t>Dermatosis papulose </a:t>
            </a:r>
            <a:r>
              <a:rPr lang="en-US" sz="1600" b="1" dirty="0" err="1"/>
              <a:t>nigra</a:t>
            </a:r>
            <a:r>
              <a:rPr lang="en-US" sz="1600" b="1" dirty="0"/>
              <a:t>:</a:t>
            </a:r>
            <a:r>
              <a:rPr lang="en-US" sz="1600" dirty="0"/>
              <a:t> Presents with brown to black papules</a:t>
            </a:r>
            <a:endParaRPr lang="en-US" sz="1600" dirty="0"/>
          </a:p>
          <a:p>
            <a:r>
              <a:rPr lang="en-US" sz="1600" dirty="0" err="1"/>
              <a:t>Predominatly</a:t>
            </a:r>
            <a:r>
              <a:rPr lang="en-US" sz="1600" dirty="0"/>
              <a:t> located on the face and neck, that increase in number with age</a:t>
            </a:r>
            <a:endParaRPr lang="en-US" sz="1600" dirty="0"/>
          </a:p>
          <a:p>
            <a:pPr marL="0" indent="0">
              <a:buNone/>
            </a:pPr>
            <a:r>
              <a:rPr lang="en-US" sz="1600" b="1" dirty="0"/>
              <a:t>Diagnosis:</a:t>
            </a:r>
            <a:r>
              <a:rPr lang="en-US" sz="1600" dirty="0"/>
              <a:t> Clinical appearance</a:t>
            </a:r>
            <a:endParaRPr lang="en-US" sz="1600" dirty="0"/>
          </a:p>
          <a:p>
            <a:pPr marL="0" indent="0">
              <a:buNone/>
            </a:pPr>
            <a:r>
              <a:rPr lang="en-US" sz="1600" b="1" dirty="0"/>
              <a:t>Treatment: Local destructive treatments</a:t>
            </a:r>
            <a:endParaRPr lang="en-US" sz="1600" b="1" dirty="0"/>
          </a:p>
          <a:p>
            <a:pPr lvl="1"/>
            <a:r>
              <a:rPr lang="en-US" sz="1600" dirty="0"/>
              <a:t>Cryotherapy (liquid nitrogen}: first line treatment </a:t>
            </a:r>
            <a:endParaRPr lang="en-US" sz="1600" dirty="0"/>
          </a:p>
          <a:p>
            <a:pPr lvl="1"/>
            <a:r>
              <a:rPr lang="en-US" sz="1600" dirty="0"/>
              <a:t>Electrodessication and Curettage: for large ad thick lesion</a:t>
            </a:r>
            <a:endParaRPr lang="en-US" sz="1600" dirty="0"/>
          </a:p>
          <a:p>
            <a:pPr marL="457200" lvl="1" indent="0">
              <a:buNone/>
            </a:pPr>
            <a:r>
              <a:rPr lang="en-US" sz="1600" b="1" dirty="0"/>
              <a:t>Topical agents</a:t>
            </a:r>
            <a:r>
              <a:rPr lang="en-US" sz="1600" dirty="0"/>
              <a:t>: 50% trichloroacetic acid(TCA) and tazarotene 0.1% ointment</a:t>
            </a:r>
            <a:endParaRPr lang="en-US" sz="1600" dirty="0"/>
          </a:p>
        </p:txBody>
      </p:sp>
      <p:pic>
        <p:nvPicPr>
          <p:cNvPr id="10" name="Content Placeholder 9"/>
          <p:cNvPicPr>
            <a:picLocks noGrp="1" noChangeAspect="1"/>
          </p:cNvPicPr>
          <p:nvPr>
            <p:ph sz="half" idx="2"/>
          </p:nvPr>
        </p:nvPicPr>
        <p:blipFill>
          <a:blip r:embed="rId1"/>
          <a:stretch>
            <a:fillRect/>
          </a:stretch>
        </p:blipFill>
        <p:spPr>
          <a:xfrm>
            <a:off x="6510866" y="1690688"/>
            <a:ext cx="2751667" cy="2373312"/>
          </a:xfrm>
          <a:prstGeom prst="rect">
            <a:avLst/>
          </a:prstGeom>
        </p:spPr>
      </p:pic>
      <p:pic>
        <p:nvPicPr>
          <p:cNvPr id="12" name="Picture 11"/>
          <p:cNvPicPr>
            <a:picLocks noChangeAspect="1"/>
          </p:cNvPicPr>
          <p:nvPr/>
        </p:nvPicPr>
        <p:blipFill>
          <a:blip r:embed="rId2"/>
          <a:stretch>
            <a:fillRect/>
          </a:stretch>
        </p:blipFill>
        <p:spPr>
          <a:xfrm>
            <a:off x="9262533" y="4064000"/>
            <a:ext cx="2590801" cy="21129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1"/>
          <a:stretch>
            <a:fillRect/>
          </a:stretch>
        </p:blipFill>
        <p:spPr>
          <a:xfrm>
            <a:off x="1481667" y="990600"/>
            <a:ext cx="8043333" cy="44743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7" name="Title 1"/>
          <p:cNvSpPr>
            <a:spLocks noGrp="1"/>
          </p:cNvSpPr>
          <p:nvPr>
            <p:ph type="title"/>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Article review</a:t>
            </a:r>
            <a:endParaRPr lang="en-US"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48668" name="Content Placeholder 2"/>
          <p:cNvSpPr>
            <a:spLocks noGrp="1"/>
          </p:cNvSpPr>
          <p:nvPr>
            <p:ph idx="1"/>
          </p:nvPr>
        </p:nvSpPr>
        <p:spPr>
          <a:xfrm>
            <a:off x="711200" y="1447800"/>
            <a:ext cx="10972800" cy="4708526"/>
          </a:xfrm>
        </p:spPr>
        <p:txBody>
          <a:bodyPr>
            <a:noAutofit/>
          </a:bodyPr>
          <a:lstStyle/>
          <a:p>
            <a:pPr>
              <a:buFont typeface="Wingdings" panose="05000000000000000000" pitchFamily="2" charset="2"/>
              <a:buChar char="Ø"/>
            </a:pPr>
            <a:r>
              <a:rPr lang="en-US" sz="2800" b="1" dirty="0">
                <a:solidFill>
                  <a:schemeClr val="bg2">
                    <a:lumMod val="10000"/>
                  </a:schemeClr>
                </a:solidFill>
                <a:latin typeface="Times New Roman" panose="02020603050405020304" pitchFamily="18" charset="0"/>
                <a:cs typeface="Times New Roman" panose="02020603050405020304" pitchFamily="18" charset="0"/>
              </a:rPr>
              <a:t>Study Objective</a:t>
            </a:r>
            <a:r>
              <a:rPr 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sz="2800" dirty="0">
                <a:solidFill>
                  <a:schemeClr val="bg2">
                    <a:lumMod val="10000"/>
                  </a:schemeClr>
                </a:solidFill>
              </a:rPr>
              <a:t>To evaluate the treatment outcomes of low-intensity electrodesiccation for Dermatosis </a:t>
            </a:r>
            <a:r>
              <a:rPr lang="en-US" sz="2800" dirty="0" err="1">
                <a:solidFill>
                  <a:schemeClr val="bg2">
                    <a:lumMod val="10000"/>
                  </a:schemeClr>
                </a:solidFill>
              </a:rPr>
              <a:t>Papulosa</a:t>
            </a:r>
            <a:r>
              <a:rPr lang="en-US" sz="2800" dirty="0">
                <a:solidFill>
                  <a:schemeClr val="bg2">
                    <a:lumMod val="10000"/>
                  </a:schemeClr>
                </a:solidFill>
              </a:rPr>
              <a:t> Nigra (DPN) in African patients</a:t>
            </a:r>
            <a:r>
              <a:rPr lang="en-US" sz="2800" dirty="0"/>
              <a:t>.</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dirty="0">
              <a:solidFill>
                <a:schemeClr val="bg2">
                  <a:lumMod val="1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sz="2800" b="1" dirty="0">
                <a:solidFill>
                  <a:schemeClr val="bg2">
                    <a:lumMod val="10000"/>
                  </a:schemeClr>
                </a:solidFill>
                <a:latin typeface="Times New Roman" panose="02020603050405020304" pitchFamily="18" charset="0"/>
                <a:cs typeface="Times New Roman" panose="02020603050405020304" pitchFamily="18" charset="0"/>
              </a:rPr>
              <a:t>Study Methods: </a:t>
            </a:r>
            <a:r>
              <a:rPr lang="en-US" sz="2800" dirty="0">
                <a:solidFill>
                  <a:schemeClr val="bg2">
                    <a:lumMod val="10000"/>
                  </a:schemeClr>
                </a:solidFill>
              </a:rPr>
              <a:t>Study design</a:t>
            </a:r>
            <a:r>
              <a:rPr lang="en-US" sz="2800" b="1" dirty="0">
                <a:solidFill>
                  <a:schemeClr val="bg2">
                    <a:lumMod val="10000"/>
                  </a:schemeClr>
                </a:solidFill>
              </a:rPr>
              <a:t>:</a:t>
            </a:r>
            <a:r>
              <a:rPr lang="en-US" sz="2800" dirty="0">
                <a:solidFill>
                  <a:schemeClr val="bg2">
                    <a:lumMod val="10000"/>
                  </a:schemeClr>
                </a:solidFill>
              </a:rPr>
              <a:t> Prospective interventional clinical study (single-arm)</a:t>
            </a:r>
            <a:endParaRPr lang="en-US" sz="2800" dirty="0">
              <a:solidFill>
                <a:schemeClr val="bg2">
                  <a:lumMod val="10000"/>
                </a:schemeClr>
              </a:solidFill>
            </a:endParaRPr>
          </a:p>
          <a:p>
            <a:pPr>
              <a:buFont typeface="Wingdings" panose="05000000000000000000" pitchFamily="2" charset="2"/>
              <a:buChar char="Ø"/>
            </a:pPr>
            <a:endParaRPr lang="en-US" sz="2800" dirty="0">
              <a:solidFill>
                <a:schemeClr val="bg2">
                  <a:lumMod val="10000"/>
                </a:schemeClr>
              </a:solidFill>
            </a:endParaRPr>
          </a:p>
          <a:p>
            <a:pPr>
              <a:buFont typeface="Wingdings" panose="05000000000000000000" pitchFamily="2" charset="2"/>
              <a:buChar char="Ø"/>
            </a:pPr>
            <a:r>
              <a:rPr lang="en-US" sz="2800" b="1" dirty="0">
                <a:solidFill>
                  <a:schemeClr val="bg2">
                    <a:lumMod val="10000"/>
                  </a:schemeClr>
                </a:solidFill>
                <a:latin typeface="Times New Roman" panose="02020603050405020304" pitchFamily="18" charset="0"/>
                <a:cs typeface="Times New Roman" panose="02020603050405020304" pitchFamily="18" charset="0"/>
              </a:rPr>
              <a:t>Study Population: </a:t>
            </a:r>
            <a:r>
              <a:rPr lang="en-US" sz="2800" dirty="0">
                <a:solidFill>
                  <a:schemeClr val="bg2">
                    <a:lumMod val="10000"/>
                  </a:schemeClr>
                </a:solidFill>
                <a:latin typeface="Times New Roman" panose="02020603050405020304" pitchFamily="18" charset="0"/>
                <a:cs typeface="Times New Roman" panose="02020603050405020304" pitchFamily="18" charset="0"/>
              </a:rPr>
              <a:t>A total of 137 patients were included in the study, with the majority being female (n =129; 94.16%) compared with their male counterparts (n=8,5.84%). Most patients were under 40 years of age(n=74;54%),whereas the remaining were above 40 years of age(n =63,46%)</a:t>
            </a:r>
            <a:endParaRPr lang="en-US" sz="2800"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48669" name="Footer Placeholder 3"/>
          <p:cNvSpPr>
            <a:spLocks noGrp="1"/>
          </p:cNvSpPr>
          <p:nvPr>
            <p:ph type="ftr" sz="quarter" idx="11"/>
          </p:nvPr>
        </p:nvSpPr>
        <p:spPr/>
        <p:txBody>
          <a:bodyPr/>
          <a:lstStyle/>
          <a:p>
            <a:endParaRPr lang="en-US">
              <a:solidFill>
                <a:srgbClr val="32A9E5">
                  <a:tint val="75000"/>
                </a:srgb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a:t>
            </a:r>
            <a:r>
              <a:rPr lang="en-US" dirty="0"/>
              <a:t>……</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a:t>Study Area: </a:t>
            </a:r>
            <a:r>
              <a:rPr lang="en-US" dirty="0"/>
              <a:t>The study was conducted in South Africa.</a:t>
            </a:r>
            <a:endParaRPr lang="en-US" dirty="0"/>
          </a:p>
          <a:p>
            <a:pPr marL="0" indent="0">
              <a:buFont typeface="Wingdings" panose="05000000000000000000" pitchFamily="2" charset="2"/>
              <a:buNone/>
            </a:pPr>
            <a:endParaRPr lang="en-US" dirty="0"/>
          </a:p>
          <a:p>
            <a:pPr>
              <a:buFont typeface="Wingdings" panose="05000000000000000000" pitchFamily="2" charset="2"/>
              <a:buChar char="Ø"/>
            </a:pPr>
            <a:r>
              <a:rPr lang="en-US" b="1" dirty="0"/>
              <a:t>Study period</a:t>
            </a:r>
            <a:r>
              <a:rPr lang="en-US" dirty="0"/>
              <a:t>: January 2018-December 2021</a:t>
            </a:r>
            <a:endParaRPr lang="en-US" dirty="0"/>
          </a:p>
          <a:p>
            <a:pPr>
              <a:buFont typeface="Wingdings" panose="05000000000000000000" pitchFamily="2" charset="2"/>
              <a:buChar char="Ø"/>
            </a:pPr>
            <a:endParaRPr lang="en-US" b="1" dirty="0"/>
          </a:p>
          <a:p>
            <a:pPr>
              <a:buFont typeface="Wingdings" panose="05000000000000000000" pitchFamily="2" charset="2"/>
              <a:buChar char="Ø"/>
            </a:pPr>
            <a:r>
              <a:rPr lang="en-US" b="1" dirty="0"/>
              <a:t>Findings:</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dirty="0">
                <a:solidFill>
                  <a:schemeClr val="bg2">
                    <a:lumMod val="25000"/>
                  </a:schemeClr>
                </a:solidFill>
              </a:rPr>
              <a:t>The treatment resulted in the successful removal of most DPN  lesions, high patient satisfaction, good cosmetic outcomes, and minimal complications. Most patients healed well without significant scarring or pigmentary changes.</a:t>
            </a:r>
            <a:endParaRPr lang="en-US" dirty="0">
              <a:solidFill>
                <a:schemeClr val="bg2">
                  <a:lumMod val="2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800" b="1" dirty="0">
                <a:solidFill>
                  <a:schemeClr val="bg2">
                    <a:lumMod val="10000"/>
                  </a:schemeClr>
                </a:solidFill>
                <a:latin typeface="Times New Roman" panose="02020603050405020304" pitchFamily="18" charset="0"/>
                <a:cs typeface="Times New Roman" panose="02020603050405020304" pitchFamily="18" charset="0"/>
              </a:rPr>
              <a:t>Conclusion  </a:t>
            </a:r>
            <a:endParaRPr lang="en-US" sz="2800" b="1" dirty="0">
              <a:solidFill>
                <a:schemeClr val="bg2">
                  <a:lumMod val="10000"/>
                </a:schemeClr>
              </a:solidFill>
              <a:latin typeface="Times New Roman" panose="02020603050405020304" pitchFamily="18" charset="0"/>
              <a:cs typeface="Times New Roman" panose="02020603050405020304" pitchFamily="18" charset="0"/>
            </a:endParaRPr>
          </a:p>
          <a:p>
            <a:pPr marL="0" indent="0">
              <a:buNone/>
            </a:pPr>
            <a:r>
              <a:rPr lang="en-US" sz="2800" dirty="0">
                <a:solidFill>
                  <a:schemeClr val="bg2">
                    <a:lumMod val="25000"/>
                  </a:schemeClr>
                </a:solidFill>
              </a:rPr>
              <a:t>Low-intensity electrodesiccation is a safe, effective, and inexpensive treatment for Dermatosis </a:t>
            </a:r>
            <a:r>
              <a:rPr lang="en-US" sz="2800" dirty="0" err="1">
                <a:solidFill>
                  <a:schemeClr val="bg2">
                    <a:lumMod val="25000"/>
                  </a:schemeClr>
                </a:solidFill>
              </a:rPr>
              <a:t>Papulosa</a:t>
            </a:r>
            <a:r>
              <a:rPr lang="en-US" sz="2800" dirty="0">
                <a:solidFill>
                  <a:schemeClr val="bg2">
                    <a:lumMod val="25000"/>
                  </a:schemeClr>
                </a:solidFill>
              </a:rPr>
              <a:t> Nigra in African patients, providing high lesion clearance, excellent cosmetic outcomes, high patient satisfaction, and minimal adverse effects. Further larger studies with longer follow-up are needed to confirm these findings.</a:t>
            </a:r>
            <a:r>
              <a:rPr lang="en-US" b="1" dirty="0">
                <a:solidFill>
                  <a:schemeClr val="bg2">
                    <a:lumMod val="25000"/>
                  </a:schemeClr>
                </a:solidFill>
              </a:rPr>
              <a:t> </a:t>
            </a:r>
            <a:endParaRPr lang="en-US" b="1" dirty="0">
              <a:solidFill>
                <a:schemeClr val="bg2">
                  <a:lumMod val="25000"/>
                </a:schemeClr>
              </a:solidFill>
            </a:endParaRPr>
          </a:p>
          <a:p>
            <a:pPr marL="0" indent="0">
              <a:buNone/>
            </a:pPr>
            <a:endParaRPr lang="en-US" b="1" dirty="0">
              <a:solidFill>
                <a:schemeClr val="bg2">
                  <a:lumMod val="25000"/>
                </a:schemeClr>
              </a:solidFill>
            </a:endParaRPr>
          </a:p>
          <a:p>
            <a:pPr>
              <a:buFont typeface="Wingdings" panose="05000000000000000000" pitchFamily="2" charset="2"/>
              <a:buChar char="Ø"/>
            </a:pPr>
            <a:r>
              <a:rPr lang="en-US" b="1" dirty="0">
                <a:solidFill>
                  <a:schemeClr val="bg2">
                    <a:lumMod val="25000"/>
                  </a:schemeClr>
                </a:solidFill>
              </a:rPr>
              <a:t>Limitations: </a:t>
            </a:r>
            <a:r>
              <a:rPr lang="en-US" dirty="0">
                <a:solidFill>
                  <a:schemeClr val="bg2">
                    <a:lumMod val="25000"/>
                  </a:schemeClr>
                </a:solidFill>
              </a:rPr>
              <a:t>The study was conducted at a single </a:t>
            </a:r>
            <a:r>
              <a:rPr lang="en-US" dirty="0" err="1">
                <a:solidFill>
                  <a:schemeClr val="bg2">
                    <a:lumMod val="25000"/>
                  </a:schemeClr>
                </a:solidFill>
              </a:rPr>
              <a:t>centre</a:t>
            </a:r>
            <a:r>
              <a:rPr lang="en-US" dirty="0">
                <a:solidFill>
                  <a:schemeClr val="bg2">
                    <a:lumMod val="25000"/>
                  </a:schemeClr>
                </a:solidFill>
              </a:rPr>
              <a:t>, which limits the ability to </a:t>
            </a:r>
            <a:r>
              <a:rPr lang="en-US" dirty="0" err="1">
                <a:solidFill>
                  <a:schemeClr val="bg2">
                    <a:lumMod val="25000"/>
                  </a:schemeClr>
                </a:solidFill>
              </a:rPr>
              <a:t>generalise</a:t>
            </a:r>
            <a:r>
              <a:rPr lang="en-US" dirty="0">
                <a:solidFill>
                  <a:schemeClr val="bg2">
                    <a:lumMod val="25000"/>
                  </a:schemeClr>
                </a:solidFill>
              </a:rPr>
              <a:t> the results.</a:t>
            </a:r>
            <a:endParaRPr lang="en-US" dirty="0"/>
          </a:p>
          <a:p>
            <a:pPr marL="0" indent="0">
              <a:buNone/>
            </a:pPr>
            <a:endParaRPr lang="en-US" sz="2800" dirty="0">
              <a:solidFill>
                <a:schemeClr val="bg2">
                  <a:lumMod val="2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067"/>
            <a:ext cx="10515600" cy="1159933"/>
          </a:xfrm>
        </p:spPr>
        <p:txBody>
          <a:bodyPr>
            <a:normAutofit fontScale="90000"/>
          </a:bodyPr>
          <a:lstStyle/>
          <a:p>
            <a:r>
              <a:rPr lang="en-US" b="1" dirty="0"/>
              <a:t>PIGMENTED LESIONS</a:t>
            </a:r>
            <a:br>
              <a:rPr lang="en-US" b="1" dirty="0"/>
            </a:br>
            <a:r>
              <a:rPr lang="en-US" b="1" dirty="0"/>
              <a:t>Solar Lentigo</a:t>
            </a:r>
            <a:endParaRPr lang="en-US" b="1" dirty="0"/>
          </a:p>
        </p:txBody>
      </p:sp>
      <p:sp>
        <p:nvSpPr>
          <p:cNvPr id="3" name="Content Placeholder 2"/>
          <p:cNvSpPr>
            <a:spLocks noGrp="1"/>
          </p:cNvSpPr>
          <p:nvPr>
            <p:ph sz="half" idx="1"/>
          </p:nvPr>
        </p:nvSpPr>
        <p:spPr>
          <a:xfrm>
            <a:off x="838200" y="1270000"/>
            <a:ext cx="5181600" cy="4906963"/>
          </a:xfrm>
        </p:spPr>
        <p:txBody>
          <a:bodyPr>
            <a:noAutofit/>
          </a:bodyPr>
          <a:lstStyle/>
          <a:p>
            <a:r>
              <a:rPr lang="en-US" sz="1600" dirty="0"/>
              <a:t>Is proliferation of normal melanocytes  secondary to chronic solar damage</a:t>
            </a:r>
            <a:endParaRPr lang="en-US" sz="1600" dirty="0"/>
          </a:p>
          <a:p>
            <a:r>
              <a:rPr lang="en-US" sz="1600" dirty="0"/>
              <a:t>Synonyms: Senile </a:t>
            </a:r>
            <a:r>
              <a:rPr lang="en-US" sz="1600" dirty="0" err="1"/>
              <a:t>lentigo</a:t>
            </a:r>
            <a:r>
              <a:rPr lang="en-US" sz="1600" dirty="0"/>
              <a:t> and actinic </a:t>
            </a:r>
            <a:r>
              <a:rPr lang="en-US" sz="1600" dirty="0" err="1"/>
              <a:t>lentigo</a:t>
            </a:r>
            <a:r>
              <a:rPr lang="en-US" sz="1600" dirty="0"/>
              <a:t>.</a:t>
            </a:r>
            <a:endParaRPr lang="en-US" sz="1600" dirty="0"/>
          </a:p>
          <a:p>
            <a:r>
              <a:rPr lang="en-US" sz="1600" dirty="0"/>
              <a:t>These </a:t>
            </a:r>
            <a:r>
              <a:rPr lang="en-US" sz="1600" dirty="0" err="1"/>
              <a:t>lessions</a:t>
            </a:r>
            <a:r>
              <a:rPr lang="en-US" sz="1600" dirty="0"/>
              <a:t>  occur most commonly in individuals with lightly pigmented skin with hx of chronic sun exposure, most found in adults and elderly</a:t>
            </a:r>
            <a:endParaRPr lang="en-US" sz="1600" dirty="0"/>
          </a:p>
          <a:p>
            <a:r>
              <a:rPr lang="en-US" sz="1600" dirty="0"/>
              <a:t>Occurs at the areas with chronic sun exposure with </a:t>
            </a:r>
            <a:r>
              <a:rPr lang="en-US" sz="1600" dirty="0" err="1"/>
              <a:t>with</a:t>
            </a:r>
            <a:r>
              <a:rPr lang="en-US" sz="1600" dirty="0"/>
              <a:t> predilection on the face, dorsum of the hands and fore arms</a:t>
            </a:r>
            <a:endParaRPr lang="en-US" sz="1600" dirty="0"/>
          </a:p>
          <a:p>
            <a:r>
              <a:rPr lang="en-US" sz="1600" dirty="0"/>
              <a:t>Presents as tan brown uniformly pigmented sharply demarcated (not always) macules, so called ink-spot </a:t>
            </a:r>
            <a:r>
              <a:rPr lang="en-US" sz="1600" dirty="0" err="1"/>
              <a:t>lentigenes</a:t>
            </a:r>
            <a:endParaRPr lang="en-US" sz="1600" dirty="0"/>
          </a:p>
          <a:p>
            <a:pPr marL="0" indent="0">
              <a:buNone/>
            </a:pPr>
            <a:r>
              <a:rPr lang="en-US" sz="1600" b="1" dirty="0"/>
              <a:t>DIAGNOSIS</a:t>
            </a:r>
            <a:r>
              <a:rPr lang="en-US" sz="1600" dirty="0"/>
              <a:t>: Clinically; flat ,oval pigmented macules</a:t>
            </a:r>
            <a:endParaRPr lang="en-US" sz="1600" dirty="0"/>
          </a:p>
          <a:p>
            <a:pPr marL="0" indent="0">
              <a:buNone/>
            </a:pPr>
            <a:r>
              <a:rPr lang="en-US" sz="1600" b="1" dirty="0"/>
              <a:t>TREATMENT:</a:t>
            </a:r>
            <a:endParaRPr lang="en-US" sz="1600" b="1" dirty="0"/>
          </a:p>
          <a:p>
            <a:pPr lvl="1" fontAlgn="base"/>
            <a:r>
              <a:rPr lang="en-US" sz="1600" dirty="0"/>
              <a:t>Cryotherapy and laser surgery can destroy them, but treatment may leave a temporary or permanent white or dark mark.</a:t>
            </a:r>
            <a:endParaRPr lang="en-US" sz="1600" dirty="0"/>
          </a:p>
          <a:p>
            <a:pPr lvl="1" fontAlgn="base"/>
            <a:r>
              <a:rPr lang="en-US" sz="1600" dirty="0" err="1"/>
              <a:t>Cysteamine</a:t>
            </a:r>
            <a:r>
              <a:rPr lang="en-US" sz="1600" dirty="0"/>
              <a:t> cream hyperpigmentation treatment </a:t>
            </a:r>
            <a:endParaRPr lang="en-US" sz="1600" dirty="0"/>
          </a:p>
          <a:p>
            <a:pPr marL="457200" lvl="1" indent="0" fontAlgn="base">
              <a:buNone/>
            </a:pPr>
            <a:endParaRPr lang="en-US" sz="1600" dirty="0"/>
          </a:p>
          <a:p>
            <a:pPr lvl="1"/>
            <a:endParaRPr lang="en-US" sz="1600" dirty="0"/>
          </a:p>
        </p:txBody>
      </p:sp>
      <p:pic>
        <p:nvPicPr>
          <p:cNvPr id="6" name="Content Placeholder 5"/>
          <p:cNvPicPr>
            <a:picLocks noGrp="1" noChangeAspect="1"/>
          </p:cNvPicPr>
          <p:nvPr>
            <p:ph sz="half" idx="2"/>
          </p:nvPr>
        </p:nvPicPr>
        <p:blipFill>
          <a:blip r:embed="rId1"/>
          <a:stretch>
            <a:fillRect/>
          </a:stretch>
        </p:blipFill>
        <p:spPr>
          <a:xfrm>
            <a:off x="6925734" y="1405467"/>
            <a:ext cx="4529666" cy="48344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DERMAL  TUMORS</a:t>
            </a:r>
            <a:br>
              <a:rPr lang="en-US" b="1" dirty="0"/>
            </a:br>
            <a:r>
              <a:rPr lang="en-US" b="1" dirty="0"/>
              <a:t>Acrochordons(Skin tags)</a:t>
            </a:r>
            <a:endParaRPr lang="en-US" b="1" dirty="0"/>
          </a:p>
        </p:txBody>
      </p:sp>
      <p:sp>
        <p:nvSpPr>
          <p:cNvPr id="3" name="Content Placeholder 2"/>
          <p:cNvSpPr>
            <a:spLocks noGrp="1"/>
          </p:cNvSpPr>
          <p:nvPr>
            <p:ph sz="half" idx="1"/>
          </p:nvPr>
        </p:nvSpPr>
        <p:spPr/>
        <p:txBody>
          <a:bodyPr>
            <a:normAutofit fontScale="62500" lnSpcReduction="20000"/>
          </a:bodyPr>
          <a:lstStyle/>
          <a:p>
            <a:r>
              <a:rPr lang="en-US" dirty="0"/>
              <a:t>Also known as fibroepithelial polyps</a:t>
            </a:r>
            <a:endParaRPr lang="en-US" dirty="0"/>
          </a:p>
          <a:p>
            <a:r>
              <a:rPr lang="en-US" dirty="0"/>
              <a:t>Benign outgrowths of normal skin</a:t>
            </a:r>
            <a:endParaRPr lang="en-US" dirty="0"/>
          </a:p>
          <a:p>
            <a:r>
              <a:rPr lang="en-US" dirty="0"/>
              <a:t>Commonly found in skin folds of the obese middle-aged women and in patients with diabetes mellitus</a:t>
            </a:r>
            <a:endParaRPr lang="en-US" dirty="0"/>
          </a:p>
          <a:p>
            <a:r>
              <a:rPr lang="en-US" dirty="0"/>
              <a:t>Skin colored, pedunculated or sessile, mostly in axillary, groin, neck, inframammary and eyelids</a:t>
            </a:r>
            <a:endParaRPr lang="en-US" dirty="0"/>
          </a:p>
          <a:p>
            <a:r>
              <a:rPr lang="en-US" dirty="0"/>
              <a:t>Asymptomatic, tenderness may be due to friction from ornaments  or  rubbed by clothing</a:t>
            </a:r>
            <a:endParaRPr lang="en-US" dirty="0"/>
          </a:p>
          <a:p>
            <a:pPr marL="0" indent="0">
              <a:buNone/>
            </a:pPr>
            <a:r>
              <a:rPr lang="en-US" dirty="0"/>
              <a:t>  </a:t>
            </a:r>
            <a:r>
              <a:rPr lang="en-US" b="1" dirty="0"/>
              <a:t>DIAGNOSIS: </a:t>
            </a:r>
            <a:r>
              <a:rPr lang="en-US" dirty="0"/>
              <a:t>Clinical appearance</a:t>
            </a:r>
            <a:endParaRPr lang="en-US" dirty="0"/>
          </a:p>
          <a:p>
            <a:pPr marL="0" indent="0">
              <a:buNone/>
            </a:pPr>
            <a:r>
              <a:rPr lang="en-US" b="1" dirty="0"/>
              <a:t>  TREATMENT: </a:t>
            </a:r>
            <a:r>
              <a:rPr lang="en-US" dirty="0"/>
              <a:t>irritating and cosmetic desire</a:t>
            </a:r>
            <a:endParaRPr lang="en-US" dirty="0"/>
          </a:p>
          <a:p>
            <a:r>
              <a:rPr lang="en-US" dirty="0"/>
              <a:t> Excision with local </a:t>
            </a:r>
            <a:r>
              <a:rPr lang="en-US" dirty="0" err="1"/>
              <a:t>anaesthesia</a:t>
            </a:r>
            <a:r>
              <a:rPr lang="en-US" dirty="0"/>
              <a:t> with 1% lidocaine – epinephrine to lessen bleeding</a:t>
            </a:r>
            <a:endParaRPr lang="en-US" dirty="0"/>
          </a:p>
          <a:p>
            <a:r>
              <a:rPr lang="en-US" dirty="0"/>
              <a:t>Cryosurgery with liquid nitrogen</a:t>
            </a:r>
            <a:endParaRPr lang="en-US" dirty="0"/>
          </a:p>
        </p:txBody>
      </p:sp>
      <p:pic>
        <p:nvPicPr>
          <p:cNvPr id="4" name="object 2"/>
          <p:cNvPicPr>
            <a:picLocks noGrp="1"/>
          </p:cNvPicPr>
          <p:nvPr>
            <p:ph sz="half" idx="2"/>
          </p:nvPr>
        </p:nvPicPr>
        <p:blipFill>
          <a:blip r:embed="rId1" cstate="print"/>
          <a:stretch>
            <a:fillRect/>
          </a:stretch>
        </p:blipFill>
        <p:spPr>
          <a:xfrm>
            <a:off x="6620933" y="1380067"/>
            <a:ext cx="4732867" cy="443290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APPENDAGEAL(ADNEXAL) TUMORS</a:t>
            </a:r>
            <a:br>
              <a:rPr lang="en-US" b="1" dirty="0"/>
            </a:br>
            <a:r>
              <a:rPr lang="en-US" b="1" dirty="0" err="1"/>
              <a:t>Sebacious</a:t>
            </a:r>
            <a:r>
              <a:rPr lang="en-US" b="1" dirty="0"/>
              <a:t> cyst</a:t>
            </a:r>
            <a:endParaRPr lang="en-US" b="1" dirty="0"/>
          </a:p>
        </p:txBody>
      </p:sp>
      <p:sp>
        <p:nvSpPr>
          <p:cNvPr id="3" name="Content Placeholder 2"/>
          <p:cNvSpPr>
            <a:spLocks noGrp="1"/>
          </p:cNvSpPr>
          <p:nvPr>
            <p:ph sz="half" idx="1"/>
          </p:nvPr>
        </p:nvSpPr>
        <p:spPr/>
        <p:txBody>
          <a:bodyPr>
            <a:normAutofit fontScale="62500" lnSpcReduction="20000"/>
          </a:bodyPr>
          <a:lstStyle/>
          <a:p>
            <a:r>
              <a:rPr lang="en-US" dirty="0"/>
              <a:t>Firm, subcutaneous, keratin filled cyst originating from hair follicle</a:t>
            </a:r>
            <a:endParaRPr lang="en-US" dirty="0"/>
          </a:p>
          <a:p>
            <a:r>
              <a:rPr lang="en-US" dirty="0"/>
              <a:t>Arises spontaneously after puberty</a:t>
            </a:r>
            <a:endParaRPr lang="en-US" dirty="0"/>
          </a:p>
          <a:p>
            <a:r>
              <a:rPr lang="en-US" dirty="0"/>
              <a:t>May be solitary on the trunk, neck, or post auricular area</a:t>
            </a:r>
            <a:endParaRPr lang="en-US" dirty="0"/>
          </a:p>
          <a:p>
            <a:r>
              <a:rPr lang="en-US" dirty="0"/>
              <a:t>Fixed to overlying skin by a punctum that represent a follicle</a:t>
            </a:r>
            <a:endParaRPr lang="en-US" dirty="0"/>
          </a:p>
          <a:p>
            <a:r>
              <a:rPr lang="en-US" dirty="0"/>
              <a:t>Can reoccur post drainage if cyst wall persists</a:t>
            </a:r>
            <a:endParaRPr lang="en-US" dirty="0"/>
          </a:p>
          <a:p>
            <a:pPr marL="0" indent="0">
              <a:buNone/>
            </a:pPr>
            <a:r>
              <a:rPr lang="en-US" b="1" dirty="0"/>
              <a:t>DIAGNOSIS</a:t>
            </a:r>
            <a:r>
              <a:rPr lang="en-US" dirty="0"/>
              <a:t>: Clinical appearance of discrete cyst or nodule with central punctum, that is freely movable on palpation. </a:t>
            </a:r>
            <a:endParaRPr lang="en-US" dirty="0"/>
          </a:p>
          <a:p>
            <a:pPr marL="0" indent="0">
              <a:buNone/>
            </a:pPr>
            <a:r>
              <a:rPr lang="en-US" dirty="0"/>
              <a:t>Also can be confirmed by histologic examination(stratified squamous epithelium) </a:t>
            </a:r>
            <a:endParaRPr lang="en-US" dirty="0"/>
          </a:p>
          <a:p>
            <a:pPr marL="0" indent="0">
              <a:buNone/>
            </a:pPr>
            <a:r>
              <a:rPr lang="en-US" b="1" dirty="0"/>
              <a:t>MANAGEMENT: </a:t>
            </a:r>
            <a:endParaRPr lang="en-US" b="1" dirty="0"/>
          </a:p>
          <a:p>
            <a:pPr marL="0" indent="0">
              <a:buNone/>
            </a:pPr>
            <a:r>
              <a:rPr lang="en-US" dirty="0"/>
              <a:t>Surgical excision: best option when the lesion is not inflamed.</a:t>
            </a:r>
            <a:endParaRPr lang="en-US" dirty="0"/>
          </a:p>
          <a:p>
            <a:endParaRPr lang="en-US" dirty="0"/>
          </a:p>
        </p:txBody>
      </p:sp>
      <p:pic>
        <p:nvPicPr>
          <p:cNvPr id="9218" name="Picture 2" descr="Image result for sebaceous cyst"/>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6887104" y="1690687"/>
            <a:ext cx="3819525" cy="28135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6333"/>
            <a:ext cx="10515600" cy="1987021"/>
          </a:xfrm>
        </p:spPr>
        <p:txBody>
          <a:bodyPr>
            <a:normAutofit fontScale="90000"/>
          </a:bodyPr>
          <a:lstStyle/>
          <a:p>
            <a:br>
              <a:rPr lang="en-US" b="1" dirty="0"/>
            </a:br>
            <a:r>
              <a:rPr lang="en-US" b="1" dirty="0"/>
              <a:t>FIBROUS TUMOR</a:t>
            </a:r>
            <a:br>
              <a:rPr lang="en-US" b="1" dirty="0"/>
            </a:br>
            <a:br>
              <a:rPr lang="en-US" b="1" dirty="0"/>
            </a:br>
            <a:r>
              <a:rPr lang="en-US" b="1" dirty="0"/>
              <a:t>Keloids</a:t>
            </a:r>
            <a:endParaRPr lang="en-US" b="1" dirty="0"/>
          </a:p>
        </p:txBody>
      </p:sp>
      <p:sp>
        <p:nvSpPr>
          <p:cNvPr id="3" name="Content Placeholder 2"/>
          <p:cNvSpPr>
            <a:spLocks noGrp="1"/>
          </p:cNvSpPr>
          <p:nvPr>
            <p:ph sz="half" idx="1"/>
          </p:nvPr>
        </p:nvSpPr>
        <p:spPr/>
        <p:txBody>
          <a:bodyPr>
            <a:normAutofit fontScale="92500" lnSpcReduction="20000"/>
          </a:bodyPr>
          <a:lstStyle/>
          <a:p>
            <a:r>
              <a:rPr lang="en-US" dirty="0"/>
              <a:t>Benign cutaneous lesion occurs due to overgrowth of fibrous tissue</a:t>
            </a:r>
            <a:endParaRPr lang="en-US" dirty="0"/>
          </a:p>
          <a:p>
            <a:r>
              <a:rPr lang="en-US" dirty="0"/>
              <a:t>Uncontrolled synthesis of dermal collagen</a:t>
            </a:r>
            <a:endParaRPr lang="en-US" dirty="0"/>
          </a:p>
          <a:p>
            <a:r>
              <a:rPr lang="en-US" dirty="0"/>
              <a:t>Extend to surround skin beyond the site of injury</a:t>
            </a:r>
            <a:endParaRPr lang="en-US" dirty="0"/>
          </a:p>
          <a:p>
            <a:r>
              <a:rPr lang="en-US" dirty="0"/>
              <a:t>May occur after injury, burns, surgery, lesser therapy or acne</a:t>
            </a:r>
            <a:endParaRPr lang="en-US" dirty="0"/>
          </a:p>
          <a:p>
            <a:r>
              <a:rPr lang="en-US" dirty="0"/>
              <a:t>Found on the upper back, chest, neck, </a:t>
            </a:r>
            <a:r>
              <a:rPr lang="en-US" dirty="0" err="1"/>
              <a:t>sholders</a:t>
            </a:r>
            <a:r>
              <a:rPr lang="en-US" dirty="0"/>
              <a:t>, jaw and ear lobes (Area with high tension on healing)</a:t>
            </a:r>
            <a:endParaRPr lang="en-US" dirty="0"/>
          </a:p>
          <a:p>
            <a:r>
              <a:rPr lang="en-US" dirty="0"/>
              <a:t>Hereditary </a:t>
            </a:r>
            <a:r>
              <a:rPr lang="en-US" dirty="0" err="1"/>
              <a:t>predilition</a:t>
            </a:r>
            <a:endParaRPr lang="en-US" dirty="0"/>
          </a:p>
          <a:p>
            <a:endParaRPr lang="en-US" dirty="0"/>
          </a:p>
        </p:txBody>
      </p:sp>
      <p:pic>
        <p:nvPicPr>
          <p:cNvPr id="10242" name="Picture 2" descr="Keloid Treatment With CryoShape Is Now Available in Philadelphia and on ..."/>
          <p:cNvPicPr>
            <a:picLocks noGrp="1" noChangeAspect="1" noChangeArrowheads="1"/>
          </p:cNvPicPr>
          <p:nvPr>
            <p:ph sz="half" idx="2"/>
          </p:nvPr>
        </p:nvPicPr>
        <p:blipFill>
          <a:blip r:embed="rId1" cstate="print">
            <a:extLst>
              <a:ext uri="{28A0092B-C50C-407E-A947-70E740481C1C}">
                <a14:useLocalDpi xmlns:a14="http://schemas.microsoft.com/office/drawing/2010/main" val="0"/>
              </a:ext>
            </a:extLst>
          </a:blip>
          <a:srcRect/>
          <a:stretch>
            <a:fillRect/>
          </a:stretch>
        </p:blipFill>
        <p:spPr bwMode="auto">
          <a:xfrm>
            <a:off x="6172200" y="2223118"/>
            <a:ext cx="5181600" cy="35563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Clinical course</a:t>
            </a:r>
            <a:endParaRPr lang="en-US" b="1" dirty="0"/>
          </a:p>
        </p:txBody>
      </p:sp>
      <p:sp>
        <p:nvSpPr>
          <p:cNvPr id="3" name="Content Placeholder 2"/>
          <p:cNvSpPr>
            <a:spLocks noGrp="1"/>
          </p:cNvSpPr>
          <p:nvPr>
            <p:ph sz="half" idx="1"/>
          </p:nvPr>
        </p:nvSpPr>
        <p:spPr/>
        <p:txBody>
          <a:bodyPr>
            <a:normAutofit/>
          </a:bodyPr>
          <a:lstStyle/>
          <a:p>
            <a:pPr marL="0" indent="0">
              <a:buNone/>
            </a:pPr>
            <a:r>
              <a:rPr lang="en-US" b="1" dirty="0"/>
              <a:t>Early stage:</a:t>
            </a:r>
            <a:endParaRPr lang="en-US" b="1" dirty="0"/>
          </a:p>
          <a:p>
            <a:r>
              <a:rPr lang="en-US" dirty="0"/>
              <a:t>Soft and pink, resembles hypertrophic scar</a:t>
            </a:r>
            <a:endParaRPr lang="en-US" dirty="0"/>
          </a:p>
          <a:p>
            <a:pPr marL="0" indent="0">
              <a:buNone/>
            </a:pPr>
            <a:r>
              <a:rPr lang="en-US" b="1" dirty="0"/>
              <a:t>Late stage</a:t>
            </a:r>
            <a:endParaRPr lang="en-US" b="1" dirty="0"/>
          </a:p>
          <a:p>
            <a:r>
              <a:rPr lang="en-US" dirty="0"/>
              <a:t>Firm and white, more protuberant than the original trauma, irregular borders, claw-like extension</a:t>
            </a:r>
            <a:endParaRPr lang="en-US" dirty="0"/>
          </a:p>
          <a:p>
            <a:pPr marL="0" indent="0">
              <a:buNone/>
            </a:pPr>
            <a:endParaRPr lang="en-US" dirty="0"/>
          </a:p>
        </p:txBody>
      </p:sp>
      <p:pic>
        <p:nvPicPr>
          <p:cNvPr id="6" name="Content Placeholder 5"/>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096000" y="1825625"/>
            <a:ext cx="5257799" cy="4351338"/>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Treatment of Keloids</a:t>
            </a:r>
            <a:endParaRPr lang="en-US" b="1" dirty="0"/>
          </a:p>
        </p:txBody>
      </p:sp>
      <p:sp>
        <p:nvSpPr>
          <p:cNvPr id="3" name="Content Placeholder 2"/>
          <p:cNvSpPr>
            <a:spLocks noGrp="1"/>
          </p:cNvSpPr>
          <p:nvPr>
            <p:ph idx="1"/>
          </p:nvPr>
        </p:nvSpPr>
        <p:spPr/>
        <p:txBody>
          <a:bodyPr/>
          <a:lstStyle/>
          <a:p>
            <a:r>
              <a:rPr lang="en-US" dirty="0"/>
              <a:t>Intra-</a:t>
            </a:r>
            <a:r>
              <a:rPr lang="en-US" dirty="0" err="1"/>
              <a:t>lessional</a:t>
            </a:r>
            <a:r>
              <a:rPr lang="en-US" dirty="0"/>
              <a:t> steroid injection</a:t>
            </a:r>
            <a:endParaRPr lang="en-US" dirty="0"/>
          </a:p>
          <a:p>
            <a:r>
              <a:rPr lang="en-US" dirty="0" err="1"/>
              <a:t>Triamcinoloneacetonide</a:t>
            </a:r>
            <a:r>
              <a:rPr lang="en-US" dirty="0"/>
              <a:t> 10-4-mg/mil in varying dilution injected 3-6 </a:t>
            </a:r>
            <a:r>
              <a:rPr lang="en-US" dirty="0" err="1"/>
              <a:t>wks</a:t>
            </a:r>
            <a:r>
              <a:rPr lang="en-US" dirty="0"/>
              <a:t> till lesion flattens</a:t>
            </a:r>
            <a:endParaRPr lang="en-US" dirty="0"/>
          </a:p>
          <a:p>
            <a:r>
              <a:rPr lang="en-US" dirty="0" err="1"/>
              <a:t>Comibination</a:t>
            </a:r>
            <a:r>
              <a:rPr lang="en-US" dirty="0"/>
              <a:t> of </a:t>
            </a:r>
            <a:r>
              <a:rPr lang="en-US" dirty="0" err="1"/>
              <a:t>ILS+Hyaluronidase</a:t>
            </a:r>
            <a:r>
              <a:rPr lang="en-US" dirty="0"/>
              <a:t> or 5FU for </a:t>
            </a:r>
            <a:r>
              <a:rPr lang="en-US" dirty="0" err="1"/>
              <a:t>furster</a:t>
            </a:r>
            <a:r>
              <a:rPr lang="en-US" dirty="0"/>
              <a:t> regression</a:t>
            </a:r>
            <a:endParaRPr lang="en-US" dirty="0"/>
          </a:p>
          <a:p>
            <a:r>
              <a:rPr lang="en-US" dirty="0"/>
              <a:t>Surgical excision followed by ILS</a:t>
            </a:r>
            <a:endParaRPr lang="en-US" dirty="0"/>
          </a:p>
          <a:p>
            <a:r>
              <a:rPr lang="en-US" dirty="0"/>
              <a:t>Cryotherapy with liquid </a:t>
            </a:r>
            <a:r>
              <a:rPr lang="en-US" dirty="0" err="1"/>
              <a:t>hydrogen+ILS</a:t>
            </a:r>
            <a:endParaRPr lang="en-US" dirty="0"/>
          </a:p>
          <a:p>
            <a:r>
              <a:rPr lang="en-US" dirty="0"/>
              <a:t>Laser:CO2</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200"/>
            <a:ext cx="10515600" cy="1622955"/>
          </a:xfrm>
        </p:spPr>
        <p:txBody>
          <a:bodyPr>
            <a:normAutofit/>
          </a:bodyPr>
          <a:lstStyle/>
          <a:p>
            <a:r>
              <a:rPr lang="en-US" b="1" dirty="0"/>
              <a:t>NERVE TUMOR</a:t>
            </a:r>
            <a:br>
              <a:rPr lang="en-US" b="1" dirty="0"/>
            </a:br>
            <a:r>
              <a:rPr lang="en-US" b="1" dirty="0"/>
              <a:t>Neurofibromas</a:t>
            </a:r>
            <a:endParaRPr lang="en-US" b="1" dirty="0"/>
          </a:p>
        </p:txBody>
      </p:sp>
      <p:sp>
        <p:nvSpPr>
          <p:cNvPr id="3" name="Content Placeholder 2"/>
          <p:cNvSpPr>
            <a:spLocks noGrp="1"/>
          </p:cNvSpPr>
          <p:nvPr>
            <p:ph sz="half" idx="1"/>
          </p:nvPr>
        </p:nvSpPr>
        <p:spPr>
          <a:xfrm>
            <a:off x="838200" y="1574800"/>
            <a:ext cx="5181600" cy="4602163"/>
          </a:xfrm>
        </p:spPr>
        <p:txBody>
          <a:bodyPr>
            <a:normAutofit fontScale="85000"/>
          </a:bodyPr>
          <a:lstStyle/>
          <a:p>
            <a:r>
              <a:rPr lang="en-US" dirty="0"/>
              <a:t>Seen as part of an autosomal dominant inherited condition-neurofibromatosis</a:t>
            </a:r>
            <a:endParaRPr lang="en-US" dirty="0"/>
          </a:p>
          <a:p>
            <a:r>
              <a:rPr lang="en-US" dirty="0"/>
              <a:t>These are pink </a:t>
            </a:r>
            <a:r>
              <a:rPr lang="en-US" dirty="0" err="1"/>
              <a:t>coloured</a:t>
            </a:r>
            <a:r>
              <a:rPr lang="en-US" dirty="0"/>
              <a:t>, soft, sessile or pedunculated papules or nodules &lt;2 cm.</a:t>
            </a:r>
            <a:endParaRPr lang="en-US" dirty="0"/>
          </a:p>
          <a:p>
            <a:r>
              <a:rPr lang="en-US" dirty="0"/>
              <a:t>Applying direct pressure to some neurofibromas may make them seem to retract into the skin(buttonhole sign)</a:t>
            </a:r>
            <a:endParaRPr lang="en-US" dirty="0"/>
          </a:p>
          <a:p>
            <a:r>
              <a:rPr lang="en-US" dirty="0"/>
              <a:t>Plexiform neurofibromas occur along the course of peripheral nerves, creating irregular masses or tender nodules</a:t>
            </a:r>
            <a:endParaRPr lang="en-US" dirty="0"/>
          </a:p>
          <a:p>
            <a:endParaRPr lang="en-US" dirty="0"/>
          </a:p>
        </p:txBody>
      </p:sp>
      <p:pic>
        <p:nvPicPr>
          <p:cNvPr id="11266" name="Picture 2" descr="Image result for neurofibroma"/>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5953422" y="2015067"/>
            <a:ext cx="5006115" cy="35390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Treatment</a:t>
            </a:r>
            <a:endParaRPr lang="en-US" b="1" dirty="0"/>
          </a:p>
        </p:txBody>
      </p:sp>
      <p:sp>
        <p:nvSpPr>
          <p:cNvPr id="3" name="Content Placeholder 2"/>
          <p:cNvSpPr>
            <a:spLocks noGrp="1"/>
          </p:cNvSpPr>
          <p:nvPr>
            <p:ph idx="1"/>
          </p:nvPr>
        </p:nvSpPr>
        <p:spPr/>
        <p:txBody>
          <a:bodyPr/>
          <a:lstStyle/>
          <a:p>
            <a:pPr marL="0" indent="0">
              <a:buNone/>
            </a:pPr>
            <a:r>
              <a:rPr lang="en-US" dirty="0"/>
              <a:t>Excision is advised in case of</a:t>
            </a:r>
            <a:endParaRPr lang="en-US" dirty="0"/>
          </a:p>
          <a:p>
            <a:r>
              <a:rPr lang="en-US" dirty="0" err="1"/>
              <a:t>Cosmetics</a:t>
            </a:r>
            <a:r>
              <a:rPr lang="en-US" dirty="0"/>
              <a:t>/painful lesions</a:t>
            </a:r>
            <a:endParaRPr lang="en-US" dirty="0"/>
          </a:p>
          <a:p>
            <a:r>
              <a:rPr lang="en-US" dirty="0"/>
              <a:t>Lesions on vital structures</a:t>
            </a:r>
            <a:endParaRPr lang="en-US" dirty="0"/>
          </a:p>
          <a:p>
            <a:r>
              <a:rPr lang="en-US" dirty="0"/>
              <a:t>Lesion suspected to undergo malignant changes(grow rapidly,persistent pain)</a:t>
            </a:r>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VASCULAR TUMORS</a:t>
            </a:r>
            <a:br>
              <a:rPr lang="en-US" b="1" dirty="0"/>
            </a:br>
            <a:endParaRPr lang="en-US" b="1" dirty="0"/>
          </a:p>
        </p:txBody>
      </p:sp>
      <p:sp>
        <p:nvSpPr>
          <p:cNvPr id="3" name="Content Placeholder 2"/>
          <p:cNvSpPr>
            <a:spLocks noGrp="1"/>
          </p:cNvSpPr>
          <p:nvPr>
            <p:ph sz="half" idx="1"/>
          </p:nvPr>
        </p:nvSpPr>
        <p:spPr/>
        <p:txBody>
          <a:bodyPr>
            <a:normAutofit fontScale="70000" lnSpcReduction="20000"/>
          </a:bodyPr>
          <a:lstStyle/>
          <a:p>
            <a:pPr marL="0" indent="0">
              <a:buNone/>
            </a:pPr>
            <a:r>
              <a:rPr lang="en-US" b="1" dirty="0"/>
              <a:t>Infantile </a:t>
            </a:r>
            <a:r>
              <a:rPr lang="en-US" b="1" dirty="0" err="1"/>
              <a:t>hemangioma</a:t>
            </a:r>
            <a:r>
              <a:rPr lang="en-US" b="1" dirty="0"/>
              <a:t>:</a:t>
            </a:r>
            <a:endParaRPr lang="en-US" b="1" dirty="0"/>
          </a:p>
          <a:p>
            <a:r>
              <a:rPr lang="en-US" dirty="0"/>
              <a:t>Benign tumors of vascular endothelium</a:t>
            </a:r>
            <a:endParaRPr lang="en-US" dirty="0"/>
          </a:p>
          <a:p>
            <a:r>
              <a:rPr lang="en-US" dirty="0"/>
              <a:t>Also known as strawberry </a:t>
            </a:r>
            <a:r>
              <a:rPr lang="en-US" dirty="0" err="1"/>
              <a:t>hemangioma</a:t>
            </a:r>
            <a:r>
              <a:rPr lang="en-US" dirty="0"/>
              <a:t>.</a:t>
            </a:r>
            <a:endParaRPr lang="en-US" dirty="0"/>
          </a:p>
          <a:p>
            <a:r>
              <a:rPr lang="en-US" dirty="0"/>
              <a:t>Most common tumor of the childhood</a:t>
            </a:r>
            <a:endParaRPr lang="en-US" dirty="0"/>
          </a:p>
          <a:p>
            <a:r>
              <a:rPr lang="en-US" dirty="0"/>
              <a:t>Two to three times more common among females than males</a:t>
            </a:r>
            <a:endParaRPr lang="en-US" dirty="0"/>
          </a:p>
          <a:p>
            <a:r>
              <a:rPr lang="en-US" dirty="0"/>
              <a:t>The incidence  increased in preterm infants</a:t>
            </a:r>
            <a:endParaRPr lang="en-US" dirty="0"/>
          </a:p>
          <a:p>
            <a:r>
              <a:rPr lang="en-US" dirty="0"/>
              <a:t>They are benign and self limiting though others can cause ulceration and life long disfigurement</a:t>
            </a:r>
            <a:endParaRPr lang="en-US" dirty="0"/>
          </a:p>
          <a:p>
            <a:r>
              <a:rPr lang="en-US" dirty="0"/>
              <a:t>Multiple hemangioma or segmental hemangioma can have the similar lesions on the liver, respiratory tract, auditory canal and GI tract.</a:t>
            </a:r>
            <a:endParaRPr lang="en-US" dirty="0"/>
          </a:p>
          <a:p>
            <a:endParaRPr lang="en-US" dirty="0"/>
          </a:p>
        </p:txBody>
      </p:sp>
      <p:pic>
        <p:nvPicPr>
          <p:cNvPr id="6" name="Content Placeholder 5"/>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0" y="1825626"/>
            <a:ext cx="5181600" cy="4253442"/>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Cherry angiomas</a:t>
            </a:r>
            <a:endParaRPr lang="en-US" b="1" dirty="0"/>
          </a:p>
        </p:txBody>
      </p:sp>
      <p:sp>
        <p:nvSpPr>
          <p:cNvPr id="3" name="Content Placeholder 2"/>
          <p:cNvSpPr>
            <a:spLocks noGrp="1"/>
          </p:cNvSpPr>
          <p:nvPr>
            <p:ph sz="half" idx="1"/>
          </p:nvPr>
        </p:nvSpPr>
        <p:spPr/>
        <p:txBody>
          <a:bodyPr>
            <a:normAutofit fontScale="77500" lnSpcReduction="20000"/>
          </a:bodyPr>
          <a:lstStyle/>
          <a:p>
            <a:r>
              <a:rPr lang="en-US" dirty="0"/>
              <a:t>Also known as Campbell de </a:t>
            </a:r>
            <a:r>
              <a:rPr lang="en-US" dirty="0" err="1"/>
              <a:t>morgan</a:t>
            </a:r>
            <a:r>
              <a:rPr lang="en-US" dirty="0"/>
              <a:t> spots</a:t>
            </a:r>
            <a:endParaRPr lang="en-US" dirty="0"/>
          </a:p>
          <a:p>
            <a:r>
              <a:rPr lang="en-US" dirty="0"/>
              <a:t>Mature capillary proliferation common in middle aged and older adult patient</a:t>
            </a:r>
            <a:endParaRPr lang="en-US" dirty="0"/>
          </a:p>
          <a:p>
            <a:r>
              <a:rPr lang="en-US" dirty="0"/>
              <a:t>Dome shaped, typically 0.1 to 0.4cm in diameter, do not blanch with pressure.</a:t>
            </a:r>
            <a:endParaRPr lang="en-US" dirty="0"/>
          </a:p>
          <a:p>
            <a:r>
              <a:rPr lang="en-US" dirty="0"/>
              <a:t>Occurs as multiple </a:t>
            </a:r>
            <a:r>
              <a:rPr lang="en-US" dirty="0" err="1"/>
              <a:t>lessions</a:t>
            </a:r>
            <a:r>
              <a:rPr lang="en-US" dirty="0"/>
              <a:t> on the trunk and may bleed profusely with any traumatic rupture</a:t>
            </a:r>
            <a:endParaRPr lang="en-US" dirty="0"/>
          </a:p>
          <a:p>
            <a:r>
              <a:rPr lang="en-US" dirty="0"/>
              <a:t>Pathogenesis is not yet unknown</a:t>
            </a:r>
            <a:endParaRPr lang="en-US" dirty="0"/>
          </a:p>
          <a:p>
            <a:pPr marL="0" indent="0">
              <a:buNone/>
            </a:pPr>
            <a:r>
              <a:rPr lang="en-US" b="1" dirty="0"/>
              <a:t>  </a:t>
            </a:r>
            <a:endParaRPr lang="en-US" b="1" dirty="0"/>
          </a:p>
          <a:p>
            <a:pPr marL="0" indent="0">
              <a:buNone/>
            </a:pPr>
            <a:r>
              <a:rPr lang="en-US" b="1" dirty="0"/>
              <a:t> DIAGNOSIS</a:t>
            </a:r>
            <a:r>
              <a:rPr lang="en-US" dirty="0"/>
              <a:t>: </a:t>
            </a:r>
            <a:endParaRPr lang="en-US" dirty="0"/>
          </a:p>
          <a:p>
            <a:r>
              <a:rPr lang="en-US" dirty="0"/>
              <a:t>Based on the clinical appearance</a:t>
            </a:r>
            <a:endParaRPr lang="en-US" dirty="0"/>
          </a:p>
          <a:p>
            <a:endParaRPr lang="en-US" dirty="0"/>
          </a:p>
        </p:txBody>
      </p:sp>
      <p:pic>
        <p:nvPicPr>
          <p:cNvPr id="6" name="Content Placeholder 5"/>
          <p:cNvPicPr>
            <a:picLocks noGrp="1" noChangeAspect="1"/>
          </p:cNvPicPr>
          <p:nvPr>
            <p:ph sz="half" idx="2"/>
          </p:nvPr>
        </p:nvPicPr>
        <p:blipFill>
          <a:blip r:embed="rId1"/>
          <a:stretch>
            <a:fillRect/>
          </a:stretch>
        </p:blipFill>
        <p:spPr>
          <a:xfrm>
            <a:off x="6417733" y="855134"/>
            <a:ext cx="4673600" cy="287866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7.Pyogenic granuloma</a:t>
            </a:r>
            <a:endParaRPr lang="en-US" dirty="0"/>
          </a:p>
        </p:txBody>
      </p:sp>
      <p:sp>
        <p:nvSpPr>
          <p:cNvPr id="3" name="Content Placeholder 2"/>
          <p:cNvSpPr>
            <a:spLocks noGrp="1"/>
          </p:cNvSpPr>
          <p:nvPr>
            <p:ph sz="half" idx="1"/>
          </p:nvPr>
        </p:nvSpPr>
        <p:spPr/>
        <p:txBody>
          <a:bodyPr>
            <a:normAutofit fontScale="70000" lnSpcReduction="20000"/>
          </a:bodyPr>
          <a:lstStyle/>
          <a:p>
            <a:r>
              <a:rPr lang="en-US" dirty="0"/>
              <a:t>Pygenic granulomas are benign overgrowth of blood vessels</a:t>
            </a:r>
            <a:endParaRPr lang="en-US" dirty="0"/>
          </a:p>
          <a:p>
            <a:r>
              <a:rPr lang="en-US" dirty="0"/>
              <a:t>They present as a rapidly growing pinkish red nodules which are friable and readily bleed</a:t>
            </a:r>
            <a:endParaRPr lang="en-US" dirty="0"/>
          </a:p>
          <a:p>
            <a:r>
              <a:rPr lang="en-US" dirty="0"/>
              <a:t>They may follow trauma and are often found on the fingers and lips</a:t>
            </a:r>
            <a:endParaRPr lang="en-US" dirty="0"/>
          </a:p>
          <a:p>
            <a:r>
              <a:rPr lang="en-US" dirty="0"/>
              <a:t>They are best excised to exclude an amelanotic malignant melanoma</a:t>
            </a:r>
            <a:endParaRPr lang="en-US" dirty="0"/>
          </a:p>
          <a:p>
            <a:pPr marL="0" indent="0">
              <a:buNone/>
            </a:pPr>
            <a:r>
              <a:rPr lang="en-US" b="1" dirty="0"/>
              <a:t>Diagnosis</a:t>
            </a:r>
            <a:r>
              <a:rPr lang="en-US" dirty="0"/>
              <a:t>  </a:t>
            </a:r>
            <a:endParaRPr lang="en-US" dirty="0"/>
          </a:p>
          <a:p>
            <a:pPr marL="0" indent="0">
              <a:buNone/>
            </a:pPr>
            <a:r>
              <a:rPr lang="en-US" dirty="0"/>
              <a:t>Based on clinical </a:t>
            </a:r>
            <a:r>
              <a:rPr lang="en-US" dirty="0" err="1"/>
              <a:t>hx</a:t>
            </a:r>
            <a:r>
              <a:rPr lang="en-US" dirty="0"/>
              <a:t> of an </a:t>
            </a:r>
            <a:r>
              <a:rPr lang="en-US" dirty="0" err="1"/>
              <a:t>erythematous,dome</a:t>
            </a:r>
            <a:r>
              <a:rPr lang="en-US" dirty="0"/>
              <a:t> shaped papule that   bleeds easily and has developed over a few days to week</a:t>
            </a:r>
            <a:endParaRPr lang="en-US" dirty="0"/>
          </a:p>
          <a:p>
            <a:pPr marL="0" indent="0">
              <a:buNone/>
            </a:pPr>
            <a:r>
              <a:rPr lang="en-US" dirty="0"/>
              <a:t>Histologic confirmation is always desirable because several benign and malignant lesions can mimic PG</a:t>
            </a:r>
            <a:endParaRPr lang="en-US" dirty="0"/>
          </a:p>
          <a:p>
            <a:endParaRPr lang="en-US" dirty="0"/>
          </a:p>
        </p:txBody>
      </p:sp>
      <p:pic>
        <p:nvPicPr>
          <p:cNvPr id="5" name="object 2"/>
          <p:cNvPicPr>
            <a:picLocks noGrp="1"/>
          </p:cNvPicPr>
          <p:nvPr>
            <p:ph sz="half" idx="2"/>
          </p:nvPr>
        </p:nvPicPr>
        <p:blipFill>
          <a:blip r:embed="rId1" cstate="print"/>
          <a:stretch>
            <a:fillRect/>
          </a:stretch>
        </p:blipFill>
        <p:spPr>
          <a:xfrm>
            <a:off x="6762749" y="1690688"/>
            <a:ext cx="4810941" cy="372983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Clinical course</a:t>
            </a:r>
            <a:endParaRPr lang="en-US" b="1" dirty="0"/>
          </a:p>
        </p:txBody>
      </p:sp>
      <p:sp>
        <p:nvSpPr>
          <p:cNvPr id="3" name="Content Placeholder 2"/>
          <p:cNvSpPr>
            <a:spLocks noGrp="1"/>
          </p:cNvSpPr>
          <p:nvPr>
            <p:ph idx="1"/>
          </p:nvPr>
        </p:nvSpPr>
        <p:spPr/>
        <p:txBody>
          <a:bodyPr/>
          <a:lstStyle/>
          <a:p>
            <a:r>
              <a:rPr lang="en-US" dirty="0"/>
              <a:t>Early may appear as flat and pale surface with few telangiectasia and dilated blood vessels</a:t>
            </a:r>
            <a:endParaRPr lang="en-US" dirty="0"/>
          </a:p>
          <a:p>
            <a:r>
              <a:rPr lang="en-US" dirty="0"/>
              <a:t>In growth phase, are bright red (Superficial) or purple(deep), firm and rubbery</a:t>
            </a:r>
            <a:endParaRPr lang="en-US" dirty="0"/>
          </a:p>
          <a:p>
            <a:r>
              <a:rPr lang="en-US" dirty="0"/>
              <a:t>Involuting hemangiomas are slate gray and soft</a:t>
            </a:r>
            <a:endParaRPr lang="en-US" dirty="0"/>
          </a:p>
          <a:p>
            <a:pPr marL="0" indent="0">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Treatment</a:t>
            </a:r>
            <a:endParaRPr lang="en-US" b="1" dirty="0"/>
          </a:p>
        </p:txBody>
      </p:sp>
      <p:sp>
        <p:nvSpPr>
          <p:cNvPr id="3" name="Content Placeholder 2"/>
          <p:cNvSpPr>
            <a:spLocks noGrp="1"/>
          </p:cNvSpPr>
          <p:nvPr>
            <p:ph idx="1"/>
          </p:nvPr>
        </p:nvSpPr>
        <p:spPr/>
        <p:txBody>
          <a:bodyPr/>
          <a:lstStyle/>
          <a:p>
            <a:pPr marL="0" indent="0">
              <a:buNone/>
            </a:pPr>
            <a:endParaRPr lang="en-US" dirty="0"/>
          </a:p>
          <a:p>
            <a:r>
              <a:rPr lang="en-US" dirty="0" err="1"/>
              <a:t>Treament</a:t>
            </a:r>
            <a:r>
              <a:rPr lang="en-US" dirty="0"/>
              <a:t> option may be: </a:t>
            </a:r>
            <a:endParaRPr lang="en-US" dirty="0"/>
          </a:p>
          <a:p>
            <a:pPr lvl="1"/>
            <a:r>
              <a:rPr lang="en-US" dirty="0"/>
              <a:t>Steroid, sclerotherapy</a:t>
            </a:r>
            <a:endParaRPr lang="en-US" dirty="0"/>
          </a:p>
          <a:p>
            <a:pPr lvl="1"/>
            <a:r>
              <a:rPr lang="en-US" dirty="0"/>
              <a:t>Embolization</a:t>
            </a:r>
            <a:endParaRPr lang="en-US" dirty="0"/>
          </a:p>
          <a:p>
            <a:pPr lvl="1"/>
            <a:r>
              <a:rPr lang="en-US" dirty="0"/>
              <a:t>Compression</a:t>
            </a:r>
            <a:endParaRPr lang="en-US" dirty="0"/>
          </a:p>
          <a:p>
            <a:pPr lvl="1"/>
            <a:r>
              <a:rPr lang="en-US" dirty="0"/>
              <a:t>lesser therapy</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TUMORS OF SUBCUTANEOUS FAT</a:t>
            </a:r>
            <a:endParaRPr lang="en-US" dirty="0"/>
          </a:p>
        </p:txBody>
      </p:sp>
      <p:sp>
        <p:nvSpPr>
          <p:cNvPr id="3" name="Content Placeholder 2"/>
          <p:cNvSpPr>
            <a:spLocks noGrp="1"/>
          </p:cNvSpPr>
          <p:nvPr>
            <p:ph sz="half" idx="1"/>
          </p:nvPr>
        </p:nvSpPr>
        <p:spPr/>
        <p:txBody>
          <a:bodyPr>
            <a:normAutofit fontScale="62500" lnSpcReduction="20000"/>
          </a:bodyPr>
          <a:lstStyle/>
          <a:p>
            <a:pPr marL="0" indent="0">
              <a:buNone/>
            </a:pPr>
            <a:r>
              <a:rPr lang="en-US" b="1" dirty="0"/>
              <a:t>Lipoma:</a:t>
            </a:r>
            <a:endParaRPr lang="en-US" b="1" dirty="0"/>
          </a:p>
          <a:p>
            <a:r>
              <a:rPr lang="en-US" dirty="0"/>
              <a:t>Consist of mature fat cells enclosed by thin fibrous capsules.</a:t>
            </a:r>
            <a:endParaRPr lang="en-US" dirty="0"/>
          </a:p>
          <a:p>
            <a:r>
              <a:rPr lang="en-US" dirty="0"/>
              <a:t>Can occur on any part of the body and develop superficially in the subcutaneous tissue.</a:t>
            </a:r>
            <a:endParaRPr lang="en-US" dirty="0"/>
          </a:p>
          <a:p>
            <a:r>
              <a:rPr lang="en-US" dirty="0"/>
              <a:t>Present as soft , painless subcutaneous nodules ranging in size from 1to&gt;10cm on trunk and upper extremities can be round , oval or multilobulated.</a:t>
            </a:r>
            <a:endParaRPr lang="en-US" dirty="0"/>
          </a:p>
          <a:p>
            <a:r>
              <a:rPr lang="en-US" dirty="0"/>
              <a:t>Malignant transformation of a lipoma into a liposarcoma is rare.</a:t>
            </a:r>
            <a:endParaRPr lang="en-US" dirty="0"/>
          </a:p>
          <a:p>
            <a:pPr marL="0" indent="0">
              <a:buNone/>
            </a:pPr>
            <a:r>
              <a:rPr lang="en-US" b="1" dirty="0"/>
              <a:t>    DIAGNOSIS</a:t>
            </a:r>
            <a:endParaRPr lang="en-US" b="1" dirty="0"/>
          </a:p>
          <a:p>
            <a:r>
              <a:rPr lang="en-US" dirty="0"/>
              <a:t>The diagnosis of lipoma is usually made clinically</a:t>
            </a:r>
            <a:endParaRPr lang="en-US" dirty="0"/>
          </a:p>
          <a:p>
            <a:r>
              <a:rPr lang="en-US" dirty="0"/>
              <a:t>Biopsy is indicated to confirm the diagnosis and exclude malignancy</a:t>
            </a:r>
            <a:endParaRPr lang="en-US" dirty="0"/>
          </a:p>
          <a:p>
            <a:pPr marL="0" indent="0">
              <a:buNone/>
            </a:pPr>
            <a:r>
              <a:rPr lang="en-US" b="1" dirty="0"/>
              <a:t>   MANAGEMENT:</a:t>
            </a:r>
            <a:r>
              <a:rPr lang="en-US" dirty="0"/>
              <a:t> Surgical removal</a:t>
            </a:r>
            <a:endParaRPr lang="en-US" b="1" dirty="0"/>
          </a:p>
          <a:p>
            <a:pPr marL="0" indent="0">
              <a:buNone/>
            </a:pPr>
            <a:endParaRPr lang="en-US" b="1" dirty="0"/>
          </a:p>
        </p:txBody>
      </p:sp>
      <p:pic>
        <p:nvPicPr>
          <p:cNvPr id="6" name="Content Placeholder 5"/>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0" y="2251663"/>
            <a:ext cx="5181600" cy="3499262"/>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PRE-MALIGNANT TUMORS OF THE SKIN</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Actinic Keratosis</a:t>
            </a:r>
            <a:endParaRPr lang="en-US" b="1" dirty="0"/>
          </a:p>
        </p:txBody>
      </p:sp>
      <p:sp>
        <p:nvSpPr>
          <p:cNvPr id="3" name="Content Placeholder 2"/>
          <p:cNvSpPr>
            <a:spLocks noGrp="1"/>
          </p:cNvSpPr>
          <p:nvPr>
            <p:ph sz="half" idx="1"/>
          </p:nvPr>
        </p:nvSpPr>
        <p:spPr/>
        <p:txBody>
          <a:bodyPr>
            <a:normAutofit fontScale="62500" lnSpcReduction="20000"/>
          </a:bodyPr>
          <a:lstStyle/>
          <a:p>
            <a:r>
              <a:rPr lang="en-US" dirty="0"/>
              <a:t>Common persistent </a:t>
            </a:r>
            <a:r>
              <a:rPr lang="en-US" dirty="0" err="1"/>
              <a:t>keratotic</a:t>
            </a:r>
            <a:r>
              <a:rPr lang="en-US" dirty="0"/>
              <a:t> lesions with malignancy potential</a:t>
            </a:r>
            <a:endParaRPr lang="en-US" dirty="0"/>
          </a:p>
          <a:p>
            <a:r>
              <a:rPr lang="en-US" dirty="0"/>
              <a:t>Synonymously termed as solar keratosis, </a:t>
            </a:r>
            <a:r>
              <a:rPr lang="en-US" dirty="0" err="1"/>
              <a:t>keratinocytic</a:t>
            </a:r>
            <a:r>
              <a:rPr lang="en-US" dirty="0"/>
              <a:t> intraepithelial neoplasia</a:t>
            </a:r>
            <a:endParaRPr lang="en-US" dirty="0"/>
          </a:p>
          <a:p>
            <a:r>
              <a:rPr lang="en-US" dirty="0"/>
              <a:t>UV radiation and is the major risk factor through the induction of mutations in epidermal keratocytes</a:t>
            </a:r>
            <a:endParaRPr lang="en-US" dirty="0"/>
          </a:p>
          <a:p>
            <a:r>
              <a:rPr lang="en-US" dirty="0"/>
              <a:t>Typically develop as solitary or multiple lesions on sun exposed areas such as balding scalp , neck ,dorsal hands and dorsal forearms</a:t>
            </a:r>
            <a:endParaRPr lang="en-US" dirty="0"/>
          </a:p>
          <a:p>
            <a:r>
              <a:rPr lang="en-US" dirty="0"/>
              <a:t>Asymptomatic scaly erthromatous patch or plaque about 2-10mm surrounded by rough adherent scales resemble sandpaper</a:t>
            </a:r>
            <a:endParaRPr lang="en-US" dirty="0"/>
          </a:p>
          <a:p>
            <a:r>
              <a:rPr lang="en-US" b="1" dirty="0"/>
              <a:t>Clinical variants:  </a:t>
            </a:r>
            <a:r>
              <a:rPr lang="en-US" dirty="0"/>
              <a:t>classic, hypertrophic, atrophic ,AK with cutaneous horn , pigmented ,actinic cheilitis</a:t>
            </a:r>
            <a:endParaRPr lang="en-US" dirty="0"/>
          </a:p>
          <a:p>
            <a:pPr marL="0" indent="0">
              <a:buNone/>
            </a:pPr>
            <a:r>
              <a:rPr lang="en-US" b="1" dirty="0"/>
              <a:t>    DIAGNOSIS</a:t>
            </a:r>
            <a:r>
              <a:rPr lang="en-US" dirty="0"/>
              <a:t>: Clinical and biopsy may be warranted in malignancy suspect</a:t>
            </a:r>
            <a:endParaRPr lang="en-US" dirty="0"/>
          </a:p>
          <a:p>
            <a:endParaRPr lang="en-US" dirty="0"/>
          </a:p>
        </p:txBody>
      </p:sp>
      <p:pic>
        <p:nvPicPr>
          <p:cNvPr id="8" name="Content Placeholder 7"/>
          <p:cNvPicPr>
            <a:picLocks noGrp="1" noChangeAspect="1"/>
          </p:cNvPicPr>
          <p:nvPr>
            <p:ph sz="half" idx="2"/>
          </p:nvPr>
        </p:nvPicPr>
        <p:blipFill>
          <a:blip r:embed="rId1"/>
          <a:stretch>
            <a:fillRect/>
          </a:stretch>
        </p:blipFill>
        <p:spPr>
          <a:xfrm>
            <a:off x="6561668" y="526775"/>
            <a:ext cx="3727174" cy="2902225"/>
          </a:xfrm>
          <a:prstGeom prst="rect">
            <a:avLst/>
          </a:prstGeom>
        </p:spPr>
      </p:pic>
      <p:sp>
        <p:nvSpPr>
          <p:cNvPr id="4" name="AutoShape 2" descr="Cutaneous Horn: Pictures, Removal, Causes, and More"/>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61668" y="3590650"/>
            <a:ext cx="3727174" cy="258631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Arsenical Keratosis</a:t>
            </a:r>
            <a:endParaRPr lang="en-US" b="1" dirty="0"/>
          </a:p>
        </p:txBody>
      </p:sp>
      <p:sp>
        <p:nvSpPr>
          <p:cNvPr id="3" name="Content Placeholder 2"/>
          <p:cNvSpPr>
            <a:spLocks noGrp="1"/>
          </p:cNvSpPr>
          <p:nvPr>
            <p:ph sz="half" idx="1"/>
          </p:nvPr>
        </p:nvSpPr>
        <p:spPr/>
        <p:txBody>
          <a:bodyPr>
            <a:normAutofit fontScale="70000" lnSpcReduction="20000"/>
          </a:bodyPr>
          <a:lstStyle/>
          <a:p>
            <a:r>
              <a:rPr lang="en-US" b="1" dirty="0"/>
              <a:t>ASK </a:t>
            </a:r>
            <a:r>
              <a:rPr lang="en-US" dirty="0"/>
              <a:t>is the </a:t>
            </a:r>
            <a:r>
              <a:rPr lang="en-US" dirty="0" err="1"/>
              <a:t>hyperkeratotic</a:t>
            </a:r>
            <a:r>
              <a:rPr lang="en-US" dirty="0"/>
              <a:t> lesion occurs to patient previous exposed to arsenic</a:t>
            </a:r>
            <a:endParaRPr lang="en-US" dirty="0"/>
          </a:p>
          <a:p>
            <a:r>
              <a:rPr lang="en-US" dirty="0" err="1"/>
              <a:t>Lessions</a:t>
            </a:r>
            <a:r>
              <a:rPr lang="en-US" dirty="0"/>
              <a:t> develop after latency period of 20-30 years</a:t>
            </a:r>
            <a:endParaRPr lang="en-US" dirty="0"/>
          </a:p>
          <a:p>
            <a:r>
              <a:rPr lang="en-US" dirty="0"/>
              <a:t>Water from wells and </a:t>
            </a:r>
            <a:r>
              <a:rPr lang="en-US" dirty="0" err="1"/>
              <a:t>naturapathic</a:t>
            </a:r>
            <a:r>
              <a:rPr lang="en-US" dirty="0"/>
              <a:t> medicine contain higher levels of arsenic</a:t>
            </a:r>
            <a:endParaRPr lang="en-US" dirty="0"/>
          </a:p>
          <a:p>
            <a:r>
              <a:rPr lang="en-US" dirty="0"/>
              <a:t>Presented as </a:t>
            </a:r>
            <a:r>
              <a:rPr lang="en-US" dirty="0" err="1"/>
              <a:t>melanosis</a:t>
            </a:r>
            <a:r>
              <a:rPr lang="en-US" dirty="0"/>
              <a:t> followed by yellowish pinpoint </a:t>
            </a:r>
            <a:r>
              <a:rPr lang="en-US" dirty="0" err="1"/>
              <a:t>verrucious</a:t>
            </a:r>
            <a:r>
              <a:rPr lang="en-US" dirty="0"/>
              <a:t> papules, 2-10mm in diameter.</a:t>
            </a:r>
            <a:endParaRPr lang="en-US" dirty="0"/>
          </a:p>
          <a:p>
            <a:r>
              <a:rPr lang="en-US" dirty="0"/>
              <a:t>Occurs at the thener area and lateral border of the palms, base and lateral surface of the fingers, soles, heels, and toes</a:t>
            </a:r>
            <a:endParaRPr lang="en-US" dirty="0"/>
          </a:p>
          <a:p>
            <a:pPr marL="0" indent="0">
              <a:buNone/>
            </a:pPr>
            <a:r>
              <a:rPr lang="en-US" b="1" dirty="0"/>
              <a:t>      DIAGNOSIS</a:t>
            </a:r>
            <a:r>
              <a:rPr lang="en-US" dirty="0"/>
              <a:t>: </a:t>
            </a:r>
            <a:endParaRPr lang="en-US" dirty="0"/>
          </a:p>
          <a:p>
            <a:pPr lvl="1"/>
            <a:r>
              <a:rPr lang="en-US" dirty="0"/>
              <a:t>Clinical diagnosis</a:t>
            </a:r>
            <a:endParaRPr lang="en-US" dirty="0"/>
          </a:p>
          <a:p>
            <a:pPr lvl="1"/>
            <a:r>
              <a:rPr lang="en-US" dirty="0"/>
              <a:t>skin biopsy: Compact hyperkeratosis, </a:t>
            </a:r>
            <a:r>
              <a:rPr lang="en-US" dirty="0" err="1"/>
              <a:t>acanthosis</a:t>
            </a:r>
            <a:r>
              <a:rPr lang="en-US" dirty="0"/>
              <a:t> and </a:t>
            </a:r>
            <a:r>
              <a:rPr lang="en-US" dirty="0" err="1"/>
              <a:t>papilomatosis</a:t>
            </a:r>
            <a:endParaRPr lang="en-US" dirty="0"/>
          </a:p>
          <a:p>
            <a:endParaRPr lang="en-US" dirty="0"/>
          </a:p>
        </p:txBody>
      </p:sp>
      <p:pic>
        <p:nvPicPr>
          <p:cNvPr id="5122" name="Picture 2" descr="Arsenic-induced keratosis was characterized by bilateral thickening or ..."/>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6096000" y="1690688"/>
            <a:ext cx="5051262" cy="4351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Treatment</a:t>
            </a:r>
            <a:endParaRPr lang="en-US" b="1" dirty="0"/>
          </a:p>
        </p:txBody>
      </p:sp>
      <p:sp>
        <p:nvSpPr>
          <p:cNvPr id="3" name="Content Placeholder 2"/>
          <p:cNvSpPr>
            <a:spLocks noGrp="1"/>
          </p:cNvSpPr>
          <p:nvPr>
            <p:ph idx="1"/>
          </p:nvPr>
        </p:nvSpPr>
        <p:spPr/>
        <p:txBody>
          <a:bodyPr/>
          <a:lstStyle/>
          <a:p>
            <a:r>
              <a:rPr lang="en-US" dirty="0"/>
              <a:t>Cryotherapy with liquid nitrogen or CO2</a:t>
            </a:r>
            <a:endParaRPr lang="en-US" dirty="0"/>
          </a:p>
          <a:p>
            <a:r>
              <a:rPr lang="en-US" dirty="0" err="1"/>
              <a:t>Electrodesication</a:t>
            </a:r>
            <a:r>
              <a:rPr lang="en-US" dirty="0"/>
              <a:t> and curettage for larger </a:t>
            </a:r>
            <a:r>
              <a:rPr lang="en-US" dirty="0" err="1"/>
              <a:t>lessions</a:t>
            </a:r>
            <a:endParaRPr lang="en-US" dirty="0"/>
          </a:p>
          <a:p>
            <a:r>
              <a:rPr lang="en-US" dirty="0"/>
              <a:t>5FU 5%cream and </a:t>
            </a:r>
            <a:r>
              <a:rPr lang="en-US" dirty="0" err="1"/>
              <a:t>imuquimoid</a:t>
            </a:r>
            <a:r>
              <a:rPr lang="en-US" dirty="0"/>
              <a:t> 5% cream for multiple </a:t>
            </a:r>
            <a:r>
              <a:rPr lang="en-US" dirty="0" err="1"/>
              <a:t>lessios</a:t>
            </a:r>
            <a:endParaRPr lang="en-US" dirty="0"/>
          </a:p>
          <a:p>
            <a:r>
              <a:rPr lang="en-US" dirty="0"/>
              <a:t>Photodynamic therapy</a:t>
            </a:r>
            <a:endParaRPr lang="en-US" dirty="0"/>
          </a:p>
          <a:p>
            <a:pPr marL="0" indent="0">
              <a:buNone/>
            </a:pPr>
            <a:endParaRPr lang="en-US" dirty="0"/>
          </a:p>
          <a:p>
            <a:pPr marL="0" indent="0">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Verrucae Vulgaris</a:t>
            </a:r>
            <a:endParaRPr lang="en-US" b="1" dirty="0"/>
          </a:p>
        </p:txBody>
      </p:sp>
      <p:sp>
        <p:nvSpPr>
          <p:cNvPr id="3" name="Content Placeholder 2"/>
          <p:cNvSpPr>
            <a:spLocks noGrp="1"/>
          </p:cNvSpPr>
          <p:nvPr>
            <p:ph sz="half" idx="1"/>
          </p:nvPr>
        </p:nvSpPr>
        <p:spPr/>
        <p:txBody>
          <a:bodyPr>
            <a:normAutofit fontScale="70000" lnSpcReduction="20000"/>
          </a:bodyPr>
          <a:lstStyle/>
          <a:p>
            <a:r>
              <a:rPr lang="en-US" dirty="0"/>
              <a:t>Also known as common wart </a:t>
            </a:r>
            <a:endParaRPr lang="en-US" dirty="0"/>
          </a:p>
          <a:p>
            <a:r>
              <a:rPr lang="en-US" dirty="0"/>
              <a:t>Also termed as viral wart, involving HPV1,HPV2, HPV4 to the lesser extent HPV7, HPV26-29,HPV77.</a:t>
            </a:r>
            <a:endParaRPr lang="en-US" dirty="0"/>
          </a:p>
          <a:p>
            <a:r>
              <a:rPr lang="en-US" dirty="0"/>
              <a:t>Occurs in 3.5% of adults, </a:t>
            </a:r>
            <a:endParaRPr lang="en-US" dirty="0"/>
          </a:p>
          <a:p>
            <a:r>
              <a:rPr lang="en-US" dirty="0"/>
              <a:t>Immunosuppression is a main risk factor, about 10% skin lesion occurs in renal transplant patient.</a:t>
            </a:r>
            <a:endParaRPr lang="en-US" dirty="0"/>
          </a:p>
          <a:p>
            <a:r>
              <a:rPr lang="en-US" dirty="0"/>
              <a:t>Common found on hands and fingers, less involves elbow, extensor areas and genitalia.</a:t>
            </a:r>
            <a:endParaRPr lang="en-US" dirty="0"/>
          </a:p>
          <a:p>
            <a:r>
              <a:rPr lang="en-US" dirty="0"/>
              <a:t>Presented as single or multiple veracious, </a:t>
            </a:r>
            <a:r>
              <a:rPr lang="en-US" dirty="0" err="1"/>
              <a:t>keratotic</a:t>
            </a:r>
            <a:r>
              <a:rPr lang="en-US" dirty="0"/>
              <a:t> papules or nodules,0.1-2cm in diameter.</a:t>
            </a:r>
            <a:endParaRPr lang="en-US" dirty="0"/>
          </a:p>
          <a:p>
            <a:r>
              <a:rPr lang="en-US" dirty="0"/>
              <a:t>Facial lesions appears as </a:t>
            </a:r>
            <a:r>
              <a:rPr lang="en-US" dirty="0" err="1"/>
              <a:t>piliform</a:t>
            </a:r>
            <a:r>
              <a:rPr lang="en-US" dirty="0"/>
              <a:t>.</a:t>
            </a:r>
            <a:endParaRPr lang="en-US" dirty="0"/>
          </a:p>
          <a:p>
            <a:pPr marL="0" indent="0">
              <a:buNone/>
            </a:pPr>
            <a:r>
              <a:rPr lang="en-US" dirty="0"/>
              <a:t>DX: Clinical </a:t>
            </a:r>
            <a:r>
              <a:rPr lang="en-US" dirty="0" err="1"/>
              <a:t>Dx</a:t>
            </a:r>
            <a:r>
              <a:rPr lang="en-US" dirty="0"/>
              <a:t> and skin biopsy</a:t>
            </a:r>
            <a:endParaRPr lang="en-US" dirty="0"/>
          </a:p>
          <a:p>
            <a:endParaRPr lang="en-US" dirty="0"/>
          </a:p>
        </p:txBody>
      </p:sp>
      <p:pic>
        <p:nvPicPr>
          <p:cNvPr id="3074" name="Picture 2" descr="Image result for verruca vulgaris"/>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5825761" y="2040467"/>
            <a:ext cx="5326743" cy="355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Verruca </a:t>
            </a:r>
            <a:r>
              <a:rPr lang="en-US" b="1" dirty="0" err="1"/>
              <a:t>Plantaris</a:t>
            </a:r>
            <a:endParaRPr lang="en-US" b="1" dirty="0"/>
          </a:p>
        </p:txBody>
      </p:sp>
      <p:sp>
        <p:nvSpPr>
          <p:cNvPr id="3" name="Content Placeholder 2"/>
          <p:cNvSpPr>
            <a:spLocks noGrp="1"/>
          </p:cNvSpPr>
          <p:nvPr>
            <p:ph sz="half" idx="1"/>
          </p:nvPr>
        </p:nvSpPr>
        <p:spPr/>
        <p:txBody>
          <a:bodyPr>
            <a:normAutofit fontScale="70000" lnSpcReduction="20000"/>
          </a:bodyPr>
          <a:lstStyle/>
          <a:p>
            <a:r>
              <a:rPr lang="en-US" dirty="0"/>
              <a:t>HPV induced benign </a:t>
            </a:r>
            <a:r>
              <a:rPr lang="en-US" dirty="0" err="1"/>
              <a:t>epidermalproliferarive</a:t>
            </a:r>
            <a:r>
              <a:rPr lang="en-US" dirty="0"/>
              <a:t> lesion affecting palm and soles</a:t>
            </a:r>
            <a:endParaRPr lang="en-US" dirty="0"/>
          </a:p>
          <a:p>
            <a:r>
              <a:rPr lang="en-US" dirty="0" err="1"/>
              <a:t>Synonyms:Plantar</a:t>
            </a:r>
            <a:r>
              <a:rPr lang="en-US" dirty="0"/>
              <a:t> </a:t>
            </a:r>
            <a:r>
              <a:rPr lang="en-US" dirty="0" err="1"/>
              <a:t>wart,planta</a:t>
            </a:r>
            <a:r>
              <a:rPr lang="en-US" dirty="0"/>
              <a:t> verruca, </a:t>
            </a:r>
            <a:r>
              <a:rPr lang="en-US" dirty="0" err="1"/>
              <a:t>palmoplantar</a:t>
            </a:r>
            <a:r>
              <a:rPr lang="en-US" dirty="0"/>
              <a:t> wart.</a:t>
            </a:r>
            <a:endParaRPr lang="en-US" dirty="0"/>
          </a:p>
          <a:p>
            <a:r>
              <a:rPr lang="en-US" dirty="0"/>
              <a:t>Caused by infection with HPV1, HPV2, and HPV4 predominantly, HPV60 has been linked with verruca plantar is and epidermal cyst</a:t>
            </a:r>
            <a:endParaRPr lang="en-US" dirty="0"/>
          </a:p>
          <a:p>
            <a:r>
              <a:rPr lang="en-US" dirty="0"/>
              <a:t>Painful, hard, slightly elevated </a:t>
            </a:r>
            <a:r>
              <a:rPr lang="en-US" dirty="0" err="1"/>
              <a:t>keratotic</a:t>
            </a:r>
            <a:r>
              <a:rPr lang="en-US" dirty="0"/>
              <a:t> papule or nodule on plantar or palmar surface</a:t>
            </a:r>
            <a:endParaRPr lang="en-US" dirty="0"/>
          </a:p>
          <a:p>
            <a:r>
              <a:rPr lang="en-US" dirty="0"/>
              <a:t>More superficial form(HPV4 and HPV6) has fluent growth and resistant to treatment.</a:t>
            </a:r>
            <a:endParaRPr lang="en-US" dirty="0"/>
          </a:p>
          <a:p>
            <a:r>
              <a:rPr lang="en-US" dirty="0"/>
              <a:t>Black dots reflects vascular thrombosis</a:t>
            </a:r>
            <a:endParaRPr lang="en-US" dirty="0"/>
          </a:p>
          <a:p>
            <a:r>
              <a:rPr lang="en-US" b="1" dirty="0"/>
              <a:t>DIAGNOSIS</a:t>
            </a:r>
            <a:r>
              <a:rPr lang="en-US" dirty="0"/>
              <a:t>; </a:t>
            </a:r>
            <a:endParaRPr lang="en-US" dirty="0"/>
          </a:p>
          <a:p>
            <a:pPr lvl="1"/>
            <a:r>
              <a:rPr lang="en-US" dirty="0"/>
              <a:t>Clinical diagnosis</a:t>
            </a:r>
            <a:endParaRPr lang="en-US" dirty="0"/>
          </a:p>
          <a:p>
            <a:pPr lvl="1"/>
            <a:r>
              <a:rPr lang="en-US" dirty="0"/>
              <a:t>Skin biopsy</a:t>
            </a:r>
            <a:endParaRPr lang="en-US" dirty="0"/>
          </a:p>
          <a:p>
            <a:pPr marL="0" indent="0">
              <a:buNone/>
            </a:pPr>
            <a:endParaRPr lang="en-US" dirty="0"/>
          </a:p>
        </p:txBody>
      </p:sp>
      <p:pic>
        <p:nvPicPr>
          <p:cNvPr id="2050" name="Picture 2" descr="Verruca Needling Treatment - Verrucae &amp; Wart Removal Somerset"/>
          <p:cNvPicPr>
            <a:picLocks noGrp="1" noChangeAspect="1" noChangeArrowheads="1"/>
          </p:cNvPicPr>
          <p:nvPr>
            <p:ph sz="half" idx="2"/>
          </p:nvPr>
        </p:nvPicPr>
        <p:blipFill>
          <a:blip r:embed="rId1" cstate="print">
            <a:extLst>
              <a:ext uri="{28A0092B-C50C-407E-A947-70E740481C1C}">
                <a14:useLocalDpi xmlns:a14="http://schemas.microsoft.com/office/drawing/2010/main" val="0"/>
              </a:ext>
            </a:extLst>
          </a:blip>
          <a:srcRect/>
          <a:stretch>
            <a:fillRect/>
          </a:stretch>
        </p:blipFill>
        <p:spPr bwMode="auto">
          <a:xfrm>
            <a:off x="6172200" y="1690688"/>
            <a:ext cx="5181600" cy="37011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Verruca Planar</a:t>
            </a:r>
            <a:endParaRPr lang="en-US" b="1" dirty="0"/>
          </a:p>
        </p:txBody>
      </p:sp>
      <p:sp>
        <p:nvSpPr>
          <p:cNvPr id="3" name="Content Placeholder 2"/>
          <p:cNvSpPr>
            <a:spLocks noGrp="1"/>
          </p:cNvSpPr>
          <p:nvPr>
            <p:ph sz="half" idx="1"/>
          </p:nvPr>
        </p:nvSpPr>
        <p:spPr/>
        <p:txBody>
          <a:bodyPr>
            <a:normAutofit fontScale="70000" lnSpcReduction="20000"/>
          </a:bodyPr>
          <a:lstStyle/>
          <a:p>
            <a:r>
              <a:rPr lang="en-US" dirty="0"/>
              <a:t>HPV induced characterized by flat topped cutaneous papules.</a:t>
            </a:r>
            <a:endParaRPr lang="en-US" dirty="0"/>
          </a:p>
          <a:p>
            <a:r>
              <a:rPr lang="en-US" dirty="0"/>
              <a:t>Synonyms : Plane wart, planter wart</a:t>
            </a:r>
            <a:endParaRPr lang="en-US" dirty="0"/>
          </a:p>
          <a:p>
            <a:r>
              <a:rPr lang="en-US" dirty="0"/>
              <a:t>Caused predominantly by HPV3 and HPV10.</a:t>
            </a:r>
            <a:endParaRPr lang="en-US" dirty="0"/>
          </a:p>
          <a:p>
            <a:r>
              <a:rPr lang="en-US" dirty="0"/>
              <a:t>Multiple plane wars occupying &gt;5% of the BSA are potential harbinger of HIV infection</a:t>
            </a:r>
            <a:endParaRPr lang="en-US" dirty="0"/>
          </a:p>
          <a:p>
            <a:r>
              <a:rPr lang="en-US" dirty="0"/>
              <a:t>Founds in face, hands and shin</a:t>
            </a:r>
            <a:endParaRPr lang="en-US" dirty="0"/>
          </a:p>
          <a:p>
            <a:r>
              <a:rPr lang="en-US" dirty="0"/>
              <a:t>Smooth surfaced, skin </a:t>
            </a:r>
            <a:r>
              <a:rPr lang="en-US" dirty="0" err="1"/>
              <a:t>coloured</a:t>
            </a:r>
            <a:r>
              <a:rPr lang="en-US" dirty="0"/>
              <a:t> papules.</a:t>
            </a:r>
            <a:endParaRPr lang="en-US" dirty="0"/>
          </a:p>
          <a:p>
            <a:r>
              <a:rPr lang="en-US" dirty="0"/>
              <a:t>Redness or pigmentation indicates regression</a:t>
            </a:r>
            <a:endParaRPr lang="en-US" dirty="0"/>
          </a:p>
          <a:p>
            <a:pPr marL="0" indent="0">
              <a:buNone/>
            </a:pPr>
            <a:r>
              <a:rPr lang="en-US" b="1" dirty="0"/>
              <a:t>DIAGNOSIS</a:t>
            </a:r>
            <a:r>
              <a:rPr lang="en-US" dirty="0"/>
              <a:t>:</a:t>
            </a:r>
            <a:endParaRPr lang="en-US" dirty="0"/>
          </a:p>
          <a:p>
            <a:pPr marL="0" indent="0">
              <a:buNone/>
            </a:pPr>
            <a:r>
              <a:rPr lang="en-US" dirty="0"/>
              <a:t> Clinically</a:t>
            </a:r>
            <a:endParaRPr lang="en-US" dirty="0"/>
          </a:p>
          <a:p>
            <a:pPr marL="0" indent="0">
              <a:buNone/>
            </a:pPr>
            <a:endParaRPr lang="en-US" dirty="0"/>
          </a:p>
        </p:txBody>
      </p:sp>
      <p:pic>
        <p:nvPicPr>
          <p:cNvPr id="1026" name="Picture 2" descr="Image result for verruca plana"/>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5948024" y="1888067"/>
            <a:ext cx="4542176" cy="34098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Treatment</a:t>
            </a:r>
            <a:endParaRPr lang="en-US" b="1" dirty="0"/>
          </a:p>
        </p:txBody>
      </p:sp>
      <p:sp>
        <p:nvSpPr>
          <p:cNvPr id="3" name="Content Placeholder 2"/>
          <p:cNvSpPr>
            <a:spLocks noGrp="1"/>
          </p:cNvSpPr>
          <p:nvPr>
            <p:ph idx="1"/>
          </p:nvPr>
        </p:nvSpPr>
        <p:spPr/>
        <p:txBody>
          <a:bodyPr/>
          <a:lstStyle/>
          <a:p>
            <a:r>
              <a:rPr lang="en-US" dirty="0"/>
              <a:t>Topical </a:t>
            </a:r>
            <a:r>
              <a:rPr lang="en-US" dirty="0" err="1"/>
              <a:t>tretinoin</a:t>
            </a:r>
            <a:r>
              <a:rPr lang="en-US" dirty="0"/>
              <a:t> gel(0.025-0.1%)</a:t>
            </a:r>
            <a:endParaRPr lang="en-US" dirty="0"/>
          </a:p>
          <a:p>
            <a:r>
              <a:rPr lang="en-US" dirty="0"/>
              <a:t> </a:t>
            </a:r>
            <a:r>
              <a:rPr lang="en-US" dirty="0" err="1"/>
              <a:t>Imiquimoid</a:t>
            </a:r>
            <a:r>
              <a:rPr lang="en-US" dirty="0"/>
              <a:t> cream(3x to 6 </a:t>
            </a:r>
            <a:r>
              <a:rPr lang="en-US" dirty="0" err="1"/>
              <a:t>wks</a:t>
            </a:r>
            <a:r>
              <a:rPr lang="en-US" dirty="0"/>
              <a:t>)</a:t>
            </a:r>
            <a:endParaRPr lang="en-US" dirty="0"/>
          </a:p>
          <a:p>
            <a:r>
              <a:rPr lang="en-US" dirty="0"/>
              <a:t>Ablative lesser</a:t>
            </a:r>
            <a:endParaRPr lang="en-US" dirty="0"/>
          </a:p>
          <a:p>
            <a:r>
              <a:rPr lang="en-US" dirty="0"/>
              <a:t> Electrodessication</a:t>
            </a:r>
            <a:endParaRPr lang="en-US" dirty="0"/>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1981203" y="1119034"/>
            <a:ext cx="8312726" cy="4351338"/>
          </a:xfrm>
          <a:prstGeom prst="rect">
            <a:avLst/>
          </a:prstGeom>
        </p:spPr>
      </p:pic>
      <p:sp>
        <p:nvSpPr>
          <p:cNvPr id="4"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7" name="Title 1"/>
          <p:cNvSpPr>
            <a:spLocks noGrp="1"/>
          </p:cNvSpPr>
          <p:nvPr>
            <p:ph type="title"/>
          </p:nvPr>
        </p:nvSpPr>
        <p:spPr>
          <a:xfrm>
            <a:off x="838200" y="-149087"/>
            <a:ext cx="10515600" cy="675861"/>
          </a:xfrm>
        </p:spPr>
        <p:txBody>
          <a:bodyPr>
            <a:normAutofit fontScale="90000"/>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Article review</a:t>
            </a: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48668" name="Content Placeholder 2"/>
          <p:cNvSpPr>
            <a:spLocks noGrp="1"/>
          </p:cNvSpPr>
          <p:nvPr>
            <p:ph idx="1"/>
          </p:nvPr>
        </p:nvSpPr>
        <p:spPr>
          <a:xfrm>
            <a:off x="711200" y="526775"/>
            <a:ext cx="10972800" cy="5629552"/>
          </a:xfrm>
        </p:spPr>
        <p:txBody>
          <a:bodyPr>
            <a:noAutofit/>
          </a:bodyPr>
          <a:lstStyle/>
          <a:p>
            <a:pPr>
              <a:buFont typeface="Wingdings" panose="05000000000000000000" pitchFamily="2" charset="2"/>
              <a:buChar char="Ø"/>
            </a:pPr>
            <a:r>
              <a:rPr lang="en-US" sz="2800" b="1" dirty="0">
                <a:solidFill>
                  <a:schemeClr val="bg2">
                    <a:lumMod val="10000"/>
                  </a:schemeClr>
                </a:solidFill>
                <a:latin typeface="Times New Roman" panose="02020603050405020304" pitchFamily="18" charset="0"/>
                <a:cs typeface="Times New Roman" panose="02020603050405020304" pitchFamily="18" charset="0"/>
              </a:rPr>
              <a:t>Study Objective</a:t>
            </a:r>
            <a:r>
              <a:rPr lang="en-US" sz="2800" dirty="0">
                <a:solidFill>
                  <a:schemeClr val="bg2">
                    <a:lumMod val="10000"/>
                  </a:schemeClr>
                </a:solidFill>
                <a:latin typeface="Times New Roman" panose="02020603050405020304" pitchFamily="18" charset="0"/>
                <a:cs typeface="Times New Roman" panose="02020603050405020304" pitchFamily="18" charset="0"/>
              </a:rPr>
              <a:t>: To investigate the efficacy and safety of topical methotrexate hydrogen 1% combined with mic</a:t>
            </a:r>
            <a:r>
              <a:rPr lang="en-US" dirty="0">
                <a:solidFill>
                  <a:schemeClr val="bg2">
                    <a:lumMod val="10000"/>
                  </a:schemeClr>
                </a:solidFill>
                <a:latin typeface="Times New Roman" panose="02020603050405020304" pitchFamily="18" charset="0"/>
                <a:cs typeface="Times New Roman" panose="02020603050405020304" pitchFamily="18" charset="0"/>
              </a:rPr>
              <a:t>roneedling in the treatment of cutaneous warts(common and plantar),compared with traditional cryotherapy</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dirty="0">
              <a:solidFill>
                <a:schemeClr val="bg2">
                  <a:lumMod val="1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sz="2800" b="1" dirty="0">
                <a:solidFill>
                  <a:schemeClr val="bg2">
                    <a:lumMod val="10000"/>
                  </a:schemeClr>
                </a:solidFill>
                <a:latin typeface="Times New Roman" panose="02020603050405020304" pitchFamily="18" charset="0"/>
                <a:cs typeface="Times New Roman" panose="02020603050405020304" pitchFamily="18" charset="0"/>
              </a:rPr>
              <a:t>Study Methods: </a:t>
            </a:r>
            <a:r>
              <a:rPr lang="en-US" sz="2800" dirty="0">
                <a:solidFill>
                  <a:schemeClr val="bg2">
                    <a:lumMod val="10000"/>
                  </a:schemeClr>
                </a:solidFill>
              </a:rPr>
              <a:t>Study design</a:t>
            </a:r>
            <a:r>
              <a:rPr lang="en-US" sz="2800" b="1" dirty="0">
                <a:solidFill>
                  <a:schemeClr val="bg2">
                    <a:lumMod val="10000"/>
                  </a:schemeClr>
                </a:solidFill>
              </a:rPr>
              <a:t>:</a:t>
            </a:r>
            <a:r>
              <a:rPr lang="en-US" sz="2800" dirty="0">
                <a:solidFill>
                  <a:schemeClr val="bg2">
                    <a:lumMod val="10000"/>
                  </a:schemeClr>
                </a:solidFill>
              </a:rPr>
              <a:t> Prospective </a:t>
            </a:r>
            <a:r>
              <a:rPr lang="en-US" dirty="0">
                <a:solidFill>
                  <a:schemeClr val="bg2">
                    <a:lumMod val="10000"/>
                  </a:schemeClr>
                </a:solidFill>
              </a:rPr>
              <a:t>randomized controlled trial</a:t>
            </a:r>
            <a:r>
              <a:rPr lang="en-US" sz="2800" dirty="0">
                <a:solidFill>
                  <a:schemeClr val="bg2">
                    <a:lumMod val="10000"/>
                  </a:schemeClr>
                </a:solidFill>
              </a:rPr>
              <a:t> .</a:t>
            </a:r>
            <a:endParaRPr lang="en-US" sz="2800" dirty="0">
              <a:solidFill>
                <a:schemeClr val="bg2">
                  <a:lumMod val="10000"/>
                </a:schemeClr>
              </a:solidFill>
            </a:endParaRPr>
          </a:p>
          <a:p>
            <a:pPr marL="0" indent="0">
              <a:buNone/>
            </a:pPr>
            <a:r>
              <a:rPr lang="en-US" dirty="0">
                <a:solidFill>
                  <a:schemeClr val="bg2">
                    <a:lumMod val="10000"/>
                  </a:schemeClr>
                </a:solidFill>
              </a:rPr>
              <a:t>     Group A:(34 patients): Topical MXT 1% with microneedling</a:t>
            </a:r>
            <a:endParaRPr lang="en-US" dirty="0">
              <a:solidFill>
                <a:schemeClr val="bg2">
                  <a:lumMod val="10000"/>
                </a:schemeClr>
              </a:solidFill>
            </a:endParaRPr>
          </a:p>
          <a:p>
            <a:pPr marL="0" indent="0">
              <a:buNone/>
            </a:pPr>
            <a:r>
              <a:rPr lang="en-US" sz="2800" dirty="0">
                <a:solidFill>
                  <a:schemeClr val="bg2">
                    <a:lumMod val="10000"/>
                  </a:schemeClr>
                </a:solidFill>
              </a:rPr>
              <a:t>      Group B: (34 patients): Cryotherapy</a:t>
            </a:r>
            <a:endParaRPr lang="en-US" sz="2800" dirty="0">
              <a:solidFill>
                <a:schemeClr val="bg2">
                  <a:lumMod val="10000"/>
                </a:schemeClr>
              </a:solidFill>
            </a:endParaRPr>
          </a:p>
          <a:p>
            <a:pPr>
              <a:buFont typeface="Wingdings" panose="05000000000000000000" pitchFamily="2" charset="2"/>
              <a:buChar char="Ø"/>
            </a:pPr>
            <a:endParaRPr lang="en-US" sz="2800" dirty="0">
              <a:solidFill>
                <a:schemeClr val="bg2">
                  <a:lumMod val="10000"/>
                </a:schemeClr>
              </a:solidFill>
            </a:endParaRPr>
          </a:p>
          <a:p>
            <a:pPr>
              <a:buFont typeface="Wingdings" panose="05000000000000000000" pitchFamily="2" charset="2"/>
              <a:buChar char="Ø"/>
            </a:pPr>
            <a:r>
              <a:rPr lang="en-US" sz="2800" b="1" dirty="0">
                <a:solidFill>
                  <a:schemeClr val="bg2">
                    <a:lumMod val="10000"/>
                  </a:schemeClr>
                </a:solidFill>
                <a:latin typeface="Times New Roman" panose="02020603050405020304" pitchFamily="18" charset="0"/>
                <a:cs typeface="Times New Roman" panose="02020603050405020304" pitchFamily="18" charset="0"/>
              </a:rPr>
              <a:t>Study Population: </a:t>
            </a:r>
            <a:r>
              <a:rPr lang="en-US" b="1" dirty="0">
                <a:solidFill>
                  <a:schemeClr val="bg2">
                    <a:lumMod val="10000"/>
                  </a:schemeClr>
                </a:solidFill>
                <a:latin typeface="Times New Roman" panose="02020603050405020304" pitchFamily="18" charset="0"/>
                <a:cs typeface="Times New Roman" panose="02020603050405020304" pitchFamily="18" charset="0"/>
              </a:rPr>
              <a:t>68 pa</a:t>
            </a:r>
            <a:r>
              <a:rPr lang="en-US" dirty="0">
                <a:solidFill>
                  <a:schemeClr val="bg2">
                    <a:lumMod val="10000"/>
                  </a:schemeClr>
                </a:solidFill>
                <a:latin typeface="Times New Roman" panose="02020603050405020304" pitchFamily="18" charset="0"/>
                <a:cs typeface="Times New Roman" panose="02020603050405020304" pitchFamily="18" charset="0"/>
              </a:rPr>
              <a:t>tients with common or plantar cutaneous warts, randomized into two equal groups of 34 patients each</a:t>
            </a:r>
            <a:endParaRPr lang="en-US" sz="2800" dirty="0">
              <a:solidFill>
                <a:schemeClr val="bg2">
                  <a:lumMod val="1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8661"/>
            <a:ext cx="10515600" cy="1909349"/>
          </a:xfrm>
        </p:spPr>
        <p:txBody>
          <a:bodyPr/>
          <a:lstStyle/>
          <a:p>
            <a:r>
              <a:rPr lang="en-US" b="1" dirty="0" err="1"/>
              <a:t>Cont</a:t>
            </a:r>
            <a:r>
              <a:rPr lang="en-US" dirty="0"/>
              <a:t>……</a:t>
            </a:r>
            <a:endParaRPr lang="en-US" dirty="0"/>
          </a:p>
        </p:txBody>
      </p:sp>
      <p:sp>
        <p:nvSpPr>
          <p:cNvPr id="3" name="Content Placeholder 2"/>
          <p:cNvSpPr>
            <a:spLocks noGrp="1"/>
          </p:cNvSpPr>
          <p:nvPr>
            <p:ph idx="1"/>
          </p:nvPr>
        </p:nvSpPr>
        <p:spPr>
          <a:xfrm>
            <a:off x="838200" y="1232452"/>
            <a:ext cx="10515600" cy="4944511"/>
          </a:xfrm>
        </p:spPr>
        <p:txBody>
          <a:bodyPr>
            <a:normAutofit/>
          </a:bodyPr>
          <a:lstStyle/>
          <a:p>
            <a:pPr>
              <a:buFont typeface="Wingdings" panose="05000000000000000000" pitchFamily="2" charset="2"/>
              <a:buChar char="Ø"/>
            </a:pPr>
            <a:r>
              <a:rPr lang="en-US" b="1" dirty="0"/>
              <a:t>Study Area: </a:t>
            </a:r>
            <a:r>
              <a:rPr lang="en-US" dirty="0"/>
              <a:t>The study was conducted in a dermatology setting</a:t>
            </a:r>
            <a:endParaRPr lang="en-US" dirty="0"/>
          </a:p>
          <a:p>
            <a:pPr marL="0" indent="0">
              <a:buNone/>
            </a:pPr>
            <a:endParaRPr lang="en-US" b="1" dirty="0"/>
          </a:p>
          <a:p>
            <a:pPr>
              <a:buFont typeface="Wingdings" panose="05000000000000000000" pitchFamily="2" charset="2"/>
              <a:buChar char="Ø"/>
            </a:pPr>
            <a:r>
              <a:rPr lang="en-US" b="1" dirty="0"/>
              <a:t>Findings:</a:t>
            </a:r>
            <a:r>
              <a:rPr lang="en-US" dirty="0">
                <a:solidFill>
                  <a:schemeClr val="bg2">
                    <a:lumMod val="10000"/>
                  </a:schemeClr>
                </a:solidFill>
                <a:latin typeface="Times New Roman" panose="02020603050405020304" pitchFamily="18" charset="0"/>
                <a:cs typeface="Times New Roman" panose="02020603050405020304" pitchFamily="18" charset="0"/>
              </a:rPr>
              <a:t> </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b="1" dirty="0">
                <a:solidFill>
                  <a:schemeClr val="bg2">
                    <a:lumMod val="10000"/>
                  </a:schemeClr>
                </a:solidFill>
                <a:latin typeface="Times New Roman" panose="02020603050405020304" pitchFamily="18" charset="0"/>
                <a:cs typeface="Times New Roman" panose="02020603050405020304" pitchFamily="18" charset="0"/>
              </a:rPr>
              <a:t>Efficacy : </a:t>
            </a:r>
            <a:r>
              <a:rPr lang="en-US" dirty="0">
                <a:solidFill>
                  <a:schemeClr val="bg2">
                    <a:lumMod val="10000"/>
                  </a:schemeClr>
                </a:solidFill>
                <a:latin typeface="Times New Roman" panose="02020603050405020304" pitchFamily="18" charset="0"/>
                <a:cs typeface="Times New Roman" panose="02020603050405020304" pitchFamily="18" charset="0"/>
              </a:rPr>
              <a:t>complete resolution cryotherapy group(65%,22/34),MXT +microneedling group(53%, 18/34)</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r>
              <a:rPr lang="en-US" b="1" dirty="0">
                <a:solidFill>
                  <a:schemeClr val="bg2">
                    <a:lumMod val="10000"/>
                  </a:schemeClr>
                </a:solidFill>
                <a:latin typeface="Times New Roman" panose="02020603050405020304" pitchFamily="18" charset="0"/>
                <a:cs typeface="Times New Roman" panose="02020603050405020304" pitchFamily="18" charset="0"/>
              </a:rPr>
              <a:t>Safety: </a:t>
            </a:r>
            <a:r>
              <a:rPr lang="en-US" dirty="0">
                <a:solidFill>
                  <a:schemeClr val="bg2">
                    <a:lumMod val="10000"/>
                  </a:schemeClr>
                </a:solidFill>
                <a:latin typeface="Times New Roman" panose="02020603050405020304" pitchFamily="18" charset="0"/>
                <a:cs typeface="Times New Roman" panose="02020603050405020304" pitchFamily="18" charset="0"/>
              </a:rPr>
              <a:t>No significant difference in pain or erythema </a:t>
            </a:r>
            <a:r>
              <a:rPr lang="en-US" dirty="0" err="1">
                <a:solidFill>
                  <a:schemeClr val="bg2">
                    <a:lumMod val="10000"/>
                  </a:schemeClr>
                </a:solidFill>
                <a:latin typeface="Times New Roman" panose="02020603050405020304" pitchFamily="18" charset="0"/>
                <a:cs typeface="Times New Roman" panose="02020603050405020304" pitchFamily="18" charset="0"/>
              </a:rPr>
              <a:t>btn</a:t>
            </a:r>
            <a:r>
              <a:rPr lang="en-US" dirty="0">
                <a:solidFill>
                  <a:schemeClr val="bg2">
                    <a:lumMod val="10000"/>
                  </a:schemeClr>
                </a:solidFill>
                <a:latin typeface="Times New Roman" panose="02020603050405020304" pitchFamily="18" charset="0"/>
                <a:cs typeface="Times New Roman" panose="02020603050405020304" pitchFamily="18" charset="0"/>
              </a:rPr>
              <a:t> 2 group. Blistering and hypopigmentation were significantly higher in the cryotherapy group</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r>
              <a:rPr lang="en-US" b="1" dirty="0">
                <a:solidFill>
                  <a:schemeClr val="bg2">
                    <a:lumMod val="25000"/>
                  </a:schemeClr>
                </a:solidFill>
              </a:rPr>
              <a:t>Recurrence: </a:t>
            </a:r>
            <a:r>
              <a:rPr lang="en-US" dirty="0">
                <a:solidFill>
                  <a:schemeClr val="bg2">
                    <a:lumMod val="25000"/>
                  </a:schemeClr>
                </a:solidFill>
              </a:rPr>
              <a:t>No recurrence in both groups during the 3-month follow-up</a:t>
            </a:r>
            <a:endParaRPr lang="en-US" dirty="0">
              <a:solidFill>
                <a:schemeClr val="bg2">
                  <a:lumMod val="25000"/>
                </a:schemeClr>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Cont..</a:t>
            </a: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800" b="1" dirty="0">
                <a:solidFill>
                  <a:schemeClr val="bg2">
                    <a:lumMod val="10000"/>
                  </a:schemeClr>
                </a:solidFill>
                <a:latin typeface="Times New Roman" panose="02020603050405020304" pitchFamily="18" charset="0"/>
                <a:cs typeface="Times New Roman" panose="02020603050405020304" pitchFamily="18" charset="0"/>
              </a:rPr>
              <a:t>Conclusion: </a:t>
            </a:r>
            <a:r>
              <a:rPr lang="en-US" sz="2800" dirty="0">
                <a:solidFill>
                  <a:schemeClr val="bg2">
                    <a:lumMod val="10000"/>
                  </a:schemeClr>
                </a:solidFill>
                <a:latin typeface="Times New Roman" panose="02020603050405020304" pitchFamily="18" charset="0"/>
                <a:cs typeface="Times New Roman" panose="02020603050405020304" pitchFamily="18" charset="0"/>
              </a:rPr>
              <a:t>Topical MXT hydrogen 1% + microneedling is an effective and safe therapeutic option in the treatment of common and plantar warts.</a:t>
            </a:r>
            <a:r>
              <a:rPr lang="en-US" b="1" dirty="0">
                <a:solidFill>
                  <a:schemeClr val="bg2">
                    <a:lumMod val="25000"/>
                  </a:schemeClr>
                </a:solidFill>
              </a:rPr>
              <a:t> </a:t>
            </a:r>
            <a:endParaRPr lang="en-US" b="1" dirty="0">
              <a:solidFill>
                <a:schemeClr val="bg2">
                  <a:lumMod val="25000"/>
                </a:schemeClr>
              </a:solidFill>
            </a:endParaRPr>
          </a:p>
          <a:p>
            <a:pPr>
              <a:buFont typeface="Wingdings" panose="05000000000000000000" pitchFamily="2" charset="2"/>
              <a:buChar char="Ø"/>
            </a:pPr>
            <a:r>
              <a:rPr lang="en-US" b="1" dirty="0">
                <a:solidFill>
                  <a:schemeClr val="bg2">
                    <a:lumMod val="25000"/>
                  </a:schemeClr>
                </a:solidFill>
              </a:rPr>
              <a:t>Limitations: </a:t>
            </a:r>
            <a:r>
              <a:rPr lang="en-US" dirty="0">
                <a:solidFill>
                  <a:schemeClr val="bg2">
                    <a:lumMod val="25000"/>
                  </a:schemeClr>
                </a:solidFill>
              </a:rPr>
              <a:t>small sample size, short follow-up period, no specific patient demographics or wart characteristics</a:t>
            </a:r>
            <a:endParaRPr lang="en-US" dirty="0"/>
          </a:p>
          <a:p>
            <a:pPr>
              <a:buFont typeface="Wingdings" panose="05000000000000000000" pitchFamily="2" charset="2"/>
              <a:buChar char="Ø"/>
            </a:pPr>
            <a:endParaRPr lang="en-US" sz="2800" dirty="0">
              <a:solidFill>
                <a:schemeClr val="bg2">
                  <a:lumMod val="1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FOR URGENT BIOPSY</a:t>
            </a:r>
            <a:endParaRPr lang="en-US" dirty="0"/>
          </a:p>
        </p:txBody>
      </p:sp>
      <p:graphicFrame>
        <p:nvGraphicFramePr>
          <p:cNvPr id="4" name="Content Placeholder 3"/>
          <p:cNvGraphicFramePr>
            <a:graphicFrameLocks noGrp="1"/>
          </p:cNvGraphicFramePr>
          <p:nvPr>
            <p:ph idx="1"/>
          </p:nvPr>
        </p:nvGraphicFramePr>
        <p:xfrm>
          <a:off x="838200" y="1779104"/>
          <a:ext cx="10515600" cy="3045151"/>
        </p:xfrm>
        <a:graphic>
          <a:graphicData uri="http://schemas.openxmlformats.org/drawingml/2006/table">
            <a:tbl>
              <a:tblPr/>
              <a:tblGrid>
                <a:gridCol w="3505200"/>
                <a:gridCol w="3505200"/>
                <a:gridCol w="3505200"/>
              </a:tblGrid>
              <a:tr h="468485">
                <a:tc>
                  <a:txBody>
                    <a:bodyPr/>
                    <a:lstStyle/>
                    <a:p>
                      <a:pPr>
                        <a:buNone/>
                      </a:pPr>
                      <a:r>
                        <a:rPr lang="en-US" b="1" dirty="0">
                          <a:solidFill>
                            <a:schemeClr val="accent1"/>
                          </a:solidFill>
                        </a:rPr>
                        <a:t>Feature</a:t>
                      </a:r>
                      <a:endParaRPr lang="en-US" dirty="0">
                        <a:solidFill>
                          <a:schemeClr val="accent1"/>
                        </a:solidFill>
                      </a:endParaRPr>
                    </a:p>
                  </a:txBody>
                  <a:tcPr anchor="ctr">
                    <a:lnL>
                      <a:noFill/>
                    </a:lnL>
                    <a:lnR>
                      <a:noFill/>
                    </a:lnR>
                    <a:lnT>
                      <a:noFill/>
                    </a:lnT>
                    <a:lnB>
                      <a:noFill/>
                    </a:lnB>
                    <a:noFill/>
                  </a:tcPr>
                </a:tc>
                <a:tc>
                  <a:txBody>
                    <a:bodyPr/>
                    <a:lstStyle/>
                    <a:p>
                      <a:pPr>
                        <a:buNone/>
                      </a:pPr>
                      <a:r>
                        <a:rPr lang="en-US" b="1">
                          <a:solidFill>
                            <a:schemeClr val="accent1"/>
                          </a:solidFill>
                        </a:rPr>
                        <a:t>Lesion Examples</a:t>
                      </a:r>
                      <a:endParaRPr lang="en-US">
                        <a:solidFill>
                          <a:schemeClr val="accent1"/>
                        </a:solidFill>
                      </a:endParaRPr>
                    </a:p>
                  </a:txBody>
                  <a:tcPr anchor="ctr">
                    <a:lnL>
                      <a:noFill/>
                    </a:lnL>
                    <a:lnR>
                      <a:noFill/>
                    </a:lnR>
                    <a:lnT>
                      <a:noFill/>
                    </a:lnT>
                    <a:lnB>
                      <a:noFill/>
                    </a:lnB>
                    <a:noFill/>
                  </a:tcPr>
                </a:tc>
                <a:tc>
                  <a:txBody>
                    <a:bodyPr/>
                    <a:lstStyle/>
                    <a:p>
                      <a:pPr>
                        <a:buNone/>
                      </a:pPr>
                      <a:r>
                        <a:rPr lang="en-US" b="1" dirty="0">
                          <a:solidFill>
                            <a:schemeClr val="accent1"/>
                          </a:solidFill>
                        </a:rPr>
                        <a:t>Reason for Urgent Biopsy</a:t>
                      </a:r>
                      <a:endParaRPr lang="en-US" dirty="0">
                        <a:solidFill>
                          <a:schemeClr val="accent1"/>
                        </a:solidFill>
                      </a:endParaRPr>
                    </a:p>
                  </a:txBody>
                  <a:tcPr anchor="ctr">
                    <a:lnL>
                      <a:noFill/>
                    </a:lnL>
                    <a:lnR>
                      <a:noFill/>
                    </a:lnR>
                    <a:lnT>
                      <a:noFill/>
                    </a:lnT>
                    <a:lnB>
                      <a:noFill/>
                    </a:lnB>
                    <a:noFill/>
                  </a:tcPr>
                </a:tc>
              </a:tr>
              <a:tr h="819848">
                <a:tc>
                  <a:txBody>
                    <a:bodyPr/>
                    <a:lstStyle/>
                    <a:p>
                      <a:pPr>
                        <a:buNone/>
                      </a:pPr>
                      <a:r>
                        <a:rPr lang="en-US" dirty="0"/>
                        <a:t>Rapid growth</a:t>
                      </a:r>
                      <a:endParaRPr lang="en-US" dirty="0"/>
                    </a:p>
                  </a:txBody>
                  <a:tcPr anchor="ctr">
                    <a:lnL>
                      <a:noFill/>
                    </a:lnL>
                    <a:lnR>
                      <a:noFill/>
                    </a:lnR>
                    <a:lnT>
                      <a:noFill/>
                    </a:lnT>
                    <a:lnB>
                      <a:noFill/>
                    </a:lnB>
                    <a:noFill/>
                  </a:tcPr>
                </a:tc>
                <a:tc>
                  <a:txBody>
                    <a:bodyPr/>
                    <a:lstStyle/>
                    <a:p>
                      <a:pPr>
                        <a:buNone/>
                      </a:pPr>
                      <a:r>
                        <a:rPr lang="en-US" dirty="0"/>
                        <a:t>Pyogenic granuloma</a:t>
                      </a:r>
                      <a:endParaRPr lang="en-US" dirty="0"/>
                    </a:p>
                  </a:txBody>
                  <a:tcPr anchor="ctr">
                    <a:lnL>
                      <a:noFill/>
                    </a:lnL>
                    <a:lnR>
                      <a:noFill/>
                    </a:lnR>
                    <a:lnT>
                      <a:noFill/>
                    </a:lnT>
                    <a:lnB>
                      <a:noFill/>
                    </a:lnB>
                    <a:noFill/>
                  </a:tcPr>
                </a:tc>
                <a:tc>
                  <a:txBody>
                    <a:bodyPr/>
                    <a:lstStyle/>
                    <a:p>
                      <a:pPr>
                        <a:buNone/>
                      </a:pPr>
                      <a:r>
                        <a:rPr lang="en-US"/>
                        <a:t>Possible melanoma or vascular tumor</a:t>
                      </a:r>
                      <a:endParaRPr lang="en-US"/>
                    </a:p>
                  </a:txBody>
                  <a:tcPr anchor="ctr">
                    <a:lnL>
                      <a:noFill/>
                    </a:lnL>
                    <a:lnR>
                      <a:noFill/>
                    </a:lnR>
                    <a:lnT>
                      <a:noFill/>
                    </a:lnT>
                    <a:lnB>
                      <a:noFill/>
                    </a:lnB>
                    <a:noFill/>
                  </a:tcPr>
                </a:tc>
              </a:tr>
              <a:tr h="468485">
                <a:tc>
                  <a:txBody>
                    <a:bodyPr/>
                    <a:lstStyle/>
                    <a:p>
                      <a:pPr>
                        <a:buNone/>
                      </a:pPr>
                      <a:r>
                        <a:rPr lang="en-US"/>
                        <a:t>ABCDE changes</a:t>
                      </a:r>
                      <a:endParaRPr lang="en-US"/>
                    </a:p>
                  </a:txBody>
                  <a:tcPr anchor="ctr">
                    <a:lnL>
                      <a:noFill/>
                    </a:lnL>
                    <a:lnR>
                      <a:noFill/>
                    </a:lnR>
                    <a:lnT>
                      <a:noFill/>
                    </a:lnT>
                    <a:lnB>
                      <a:noFill/>
                    </a:lnB>
                    <a:noFill/>
                  </a:tcPr>
                </a:tc>
                <a:tc>
                  <a:txBody>
                    <a:bodyPr/>
                    <a:lstStyle/>
                    <a:p>
                      <a:pPr>
                        <a:buNone/>
                      </a:pPr>
                      <a:r>
                        <a:rPr lang="en-US" dirty="0"/>
                        <a:t>Pigmented lesion</a:t>
                      </a:r>
                      <a:endParaRPr lang="en-US" dirty="0"/>
                    </a:p>
                  </a:txBody>
                  <a:tcPr anchor="ctr">
                    <a:lnL>
                      <a:noFill/>
                    </a:lnL>
                    <a:lnR>
                      <a:noFill/>
                    </a:lnR>
                    <a:lnT>
                      <a:noFill/>
                    </a:lnT>
                    <a:lnB>
                      <a:noFill/>
                    </a:lnB>
                    <a:noFill/>
                  </a:tcPr>
                </a:tc>
                <a:tc>
                  <a:txBody>
                    <a:bodyPr/>
                    <a:lstStyle/>
                    <a:p>
                      <a:pPr>
                        <a:buNone/>
                      </a:pPr>
                      <a:r>
                        <a:rPr lang="en-US"/>
                        <a:t>Rule out melanoma</a:t>
                      </a:r>
                      <a:endParaRPr lang="en-US"/>
                    </a:p>
                  </a:txBody>
                  <a:tcPr anchor="ctr">
                    <a:lnL>
                      <a:noFill/>
                    </a:lnL>
                    <a:lnR>
                      <a:noFill/>
                    </a:lnR>
                    <a:lnT>
                      <a:noFill/>
                    </a:lnT>
                    <a:lnB>
                      <a:noFill/>
                    </a:lnB>
                    <a:noFill/>
                  </a:tcPr>
                </a:tc>
              </a:tr>
              <a:tr h="468485">
                <a:tc>
                  <a:txBody>
                    <a:bodyPr/>
                    <a:lstStyle/>
                    <a:p>
                      <a:pPr>
                        <a:buNone/>
                      </a:pPr>
                      <a:r>
                        <a:rPr lang="en-US"/>
                        <a:t>Non-healing ulcer</a:t>
                      </a:r>
                      <a:endParaRPr lang="en-US"/>
                    </a:p>
                  </a:txBody>
                  <a:tcPr anchor="ctr">
                    <a:lnL>
                      <a:noFill/>
                    </a:lnL>
                    <a:lnR>
                      <a:noFill/>
                    </a:lnR>
                    <a:lnT>
                      <a:noFill/>
                    </a:lnT>
                    <a:lnB>
                      <a:noFill/>
                    </a:lnB>
                    <a:noFill/>
                  </a:tcPr>
                </a:tc>
                <a:tc>
                  <a:txBody>
                    <a:bodyPr/>
                    <a:lstStyle/>
                    <a:p>
                      <a:pPr>
                        <a:buNone/>
                      </a:pPr>
                      <a:r>
                        <a:rPr lang="en-US" dirty="0"/>
                        <a:t>Actinic keratosis</a:t>
                      </a:r>
                      <a:endParaRPr lang="en-US" dirty="0"/>
                    </a:p>
                  </a:txBody>
                  <a:tcPr anchor="ctr">
                    <a:lnL>
                      <a:noFill/>
                    </a:lnL>
                    <a:lnR>
                      <a:noFill/>
                    </a:lnR>
                    <a:lnT>
                      <a:noFill/>
                    </a:lnT>
                    <a:lnB>
                      <a:noFill/>
                    </a:lnB>
                    <a:noFill/>
                  </a:tcPr>
                </a:tc>
                <a:tc>
                  <a:txBody>
                    <a:bodyPr/>
                    <a:lstStyle/>
                    <a:p>
                      <a:pPr>
                        <a:buNone/>
                      </a:pPr>
                      <a:r>
                        <a:rPr lang="en-US"/>
                        <a:t>Risk of squamous cell carcinoma</a:t>
                      </a:r>
                      <a:endParaRPr lang="en-US"/>
                    </a:p>
                  </a:txBody>
                  <a:tcPr anchor="ctr">
                    <a:lnL>
                      <a:noFill/>
                    </a:lnL>
                    <a:lnR>
                      <a:noFill/>
                    </a:lnR>
                    <a:lnT>
                      <a:noFill/>
                    </a:lnT>
                    <a:lnB>
                      <a:noFill/>
                    </a:lnB>
                    <a:noFill/>
                  </a:tcPr>
                </a:tc>
              </a:tr>
              <a:tr h="819848">
                <a:tc>
                  <a:txBody>
                    <a:bodyPr/>
                    <a:lstStyle/>
                    <a:p>
                      <a:pPr>
                        <a:buNone/>
                      </a:pPr>
                      <a:r>
                        <a:rPr lang="en-US"/>
                        <a:t>Bleeding/crusting</a:t>
                      </a:r>
                      <a:endParaRPr lang="en-US"/>
                    </a:p>
                  </a:txBody>
                  <a:tcPr anchor="ctr">
                    <a:lnL>
                      <a:noFill/>
                    </a:lnL>
                    <a:lnR>
                      <a:noFill/>
                    </a:lnR>
                    <a:lnT>
                      <a:noFill/>
                    </a:lnT>
                    <a:lnB>
                      <a:noFill/>
                    </a:lnB>
                    <a:noFill/>
                  </a:tcPr>
                </a:tc>
                <a:tc>
                  <a:txBody>
                    <a:bodyPr/>
                    <a:lstStyle/>
                    <a:p>
                      <a:pPr>
                        <a:buNone/>
                      </a:pPr>
                      <a:r>
                        <a:rPr lang="en-US" dirty="0"/>
                        <a:t>Cutaneous horn, seborrheic keratosis (atypical)</a:t>
                      </a:r>
                      <a:endParaRPr lang="en-US" dirty="0"/>
                    </a:p>
                  </a:txBody>
                  <a:tcPr anchor="ctr">
                    <a:lnL>
                      <a:noFill/>
                    </a:lnL>
                    <a:lnR>
                      <a:noFill/>
                    </a:lnR>
                    <a:lnT>
                      <a:noFill/>
                    </a:lnT>
                    <a:lnB>
                      <a:noFill/>
                    </a:lnB>
                    <a:noFill/>
                  </a:tcPr>
                </a:tc>
                <a:tc>
                  <a:txBody>
                    <a:bodyPr/>
                    <a:lstStyle/>
                    <a:p>
                      <a:pPr>
                        <a:buNone/>
                      </a:pPr>
                      <a:r>
                        <a:rPr lang="en-US" dirty="0"/>
                        <a:t>Malignant potential</a:t>
                      </a:r>
                      <a:endParaRPr lang="en-US" dirty="0"/>
                    </a:p>
                  </a:txBody>
                  <a:tcPr anchor="ctr">
                    <a:lnL>
                      <a:noFill/>
                    </a:lnL>
                    <a:lnR>
                      <a:noFill/>
                    </a:lnR>
                    <a:lnT>
                      <a:noFill/>
                    </a:lnT>
                    <a:lnB>
                      <a:noFill/>
                    </a:lnB>
                    <a:no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Malignant Skin Tumors</a:t>
            </a: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Skin Cancer</a:t>
            </a:r>
            <a:endParaRPr lang="en-US" dirty="0"/>
          </a:p>
        </p:txBody>
      </p:sp>
      <p:graphicFrame>
        <p:nvGraphicFramePr>
          <p:cNvPr id="4" name="Content Placeholder 3"/>
          <p:cNvGraphicFramePr>
            <a:graphicFrameLocks noGrp="1"/>
          </p:cNvGraphicFramePr>
          <p:nvPr>
            <p:ph idx="1"/>
          </p:nvPr>
        </p:nvGraphicFramePr>
        <p:xfrm>
          <a:off x="468630" y="1027905"/>
          <a:ext cx="11254740" cy="484901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Basal cell carcinoma (BCC)</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t>Basal cell carcinoma (BCC) is the most common cancer globally, comprising about 80% of all non-melanoma skin cancers</a:t>
            </a:r>
            <a:endParaRPr lang="en-US" dirty="0"/>
          </a:p>
          <a:p>
            <a:r>
              <a:rPr lang="en-US" dirty="0">
                <a:latin typeface="Times New Roman" panose="02020603050405020304" pitchFamily="18" charset="0"/>
                <a:cs typeface="Times New Roman" panose="02020603050405020304" pitchFamily="18" charset="0"/>
              </a:rPr>
              <a:t>A</a:t>
            </a:r>
            <a:r>
              <a:rPr lang="en-US" dirty="0">
                <a:latin typeface="Times New Roman" panose="02020603050405020304" pitchFamily="18" charset="0"/>
                <a:cs typeface="Times New Roman" panose="02020603050405020304" pitchFamily="18" charset="0"/>
              </a:rPr>
              <a:t>rising from the basal </a:t>
            </a:r>
            <a:r>
              <a:rPr lang="en-US" dirty="0">
                <a:latin typeface="Times New Roman" panose="02020603050405020304" pitchFamily="18" charset="0"/>
                <a:cs typeface="Times New Roman" panose="02020603050405020304" pitchFamily="18" charset="0"/>
              </a:rPr>
              <a:t>layer</a:t>
            </a:r>
            <a:r>
              <a:rPr lang="en-US" dirty="0">
                <a:latin typeface="Times New Roman" panose="02020603050405020304" pitchFamily="18" charset="0"/>
                <a:cs typeface="Times New Roman" panose="02020603050405020304" pitchFamily="18" charset="0"/>
              </a:rPr>
              <a:t> of the epidermis and </a:t>
            </a:r>
            <a:r>
              <a:rPr lang="en-US" dirty="0">
                <a:latin typeface="Times New Roman" panose="02020603050405020304" pitchFamily="18" charset="0"/>
                <a:cs typeface="Times New Roman" panose="02020603050405020304" pitchFamily="18" charset="0"/>
              </a:rPr>
              <a:t>its appendages (</a:t>
            </a:r>
            <a:r>
              <a:rPr lang="en-US" dirty="0">
                <a:latin typeface="Times New Roman" panose="02020603050405020304" pitchFamily="18" charset="0"/>
                <a:cs typeface="Times New Roman" panose="02020603050405020304" pitchFamily="18" charset="0"/>
              </a:rPr>
              <a:t>pilosebaceous units</a:t>
            </a:r>
            <a:r>
              <a:rPr lang="en-US"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It is characterized by </a:t>
            </a:r>
            <a:r>
              <a:rPr lang="en-US" b="1" dirty="0">
                <a:latin typeface="Times New Roman" panose="02020603050405020304" pitchFamily="18" charset="0"/>
                <a:cs typeface="Times New Roman" panose="02020603050405020304" pitchFamily="18" charset="0"/>
              </a:rPr>
              <a:t>slow growth, local invasiveness, and extremely rare metastasis</a:t>
            </a:r>
            <a:endParaRPr lang="en-US" dirty="0"/>
          </a:p>
          <a:p>
            <a:r>
              <a:rPr lang="en-US" dirty="0"/>
              <a:t>Approximately 8 of every 10 cases of skin cancer are BCC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Basal cell carcinoma (BCC) and cutaneous squamous cell carcinomas (cSCC) are also collectively called “non-melanoma skin cancer” or “</a:t>
            </a:r>
            <a:r>
              <a:rPr lang="en-US" dirty="0" err="1">
                <a:latin typeface="Times New Roman" panose="02020603050405020304" pitchFamily="18" charset="0"/>
                <a:cs typeface="Times New Roman" panose="02020603050405020304" pitchFamily="18" charset="0"/>
              </a:rPr>
              <a:t>keratinocytic</a:t>
            </a:r>
            <a:r>
              <a:rPr lang="en-US" dirty="0">
                <a:latin typeface="Times New Roman" panose="02020603050405020304" pitchFamily="18" charset="0"/>
                <a:cs typeface="Times New Roman" panose="02020603050405020304" pitchFamily="18" charset="0"/>
              </a:rPr>
              <a:t> carcinomas”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38200" y="5870448"/>
            <a:ext cx="10515600" cy="923330"/>
          </a:xfrm>
          <a:prstGeom prst="rect">
            <a:avLst/>
          </a:prstGeom>
          <a:noFill/>
        </p:spPr>
        <p:txBody>
          <a:bodyPr wrap="square" rtlCol="0">
            <a:spAutoFit/>
          </a:bodyPr>
          <a:lstStyle/>
          <a:p>
            <a:r>
              <a:rPr lang="en-US" dirty="0"/>
              <a:t>Fania L, Didona D, </a:t>
            </a:r>
            <a:r>
              <a:rPr lang="en-US" dirty="0" err="1"/>
              <a:t>Morese</a:t>
            </a:r>
            <a:r>
              <a:rPr lang="en-US" dirty="0"/>
              <a:t> R, et al. </a:t>
            </a:r>
            <a:r>
              <a:rPr lang="en-US" dirty="0">
                <a:hlinkClick r:id="rId1"/>
              </a:rPr>
              <a:t>Basal cell carcinoma: From pathophysiology to novel therapeutic approaches</a:t>
            </a:r>
            <a:r>
              <a:rPr lang="en-US" dirty="0"/>
              <a:t>. </a:t>
            </a:r>
            <a:r>
              <a:rPr lang="en-US" i="1" dirty="0"/>
              <a:t>Biomedicines. </a:t>
            </a:r>
            <a:r>
              <a:rPr lang="en-US" dirty="0"/>
              <a:t>2020;8(11):449. doi:10.3390/biomedicines8110449</a:t>
            </a:r>
            <a:endParaRPr lang="en-US" dirty="0"/>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Epidemiology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BCC is the most common human malignancy. It is  particularly common in White populations but very uncommon in people with darky pigmented skin</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However, estimates of incidence of BCC are imprecise since most countries do not have cancer registry that collects data on BCC.</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633926" y="5165180"/>
            <a:ext cx="8724276" cy="923330"/>
          </a:xfrm>
          <a:prstGeom prst="rect">
            <a:avLst/>
          </a:prstGeom>
          <a:noFill/>
          <a:ln>
            <a:solidFill>
              <a:srgbClr val="FF0000"/>
            </a:solidFill>
          </a:ln>
        </p:spPr>
        <p:txBody>
          <a:bodyPr wrap="square" rtlCol="0">
            <a:spAutoFit/>
          </a:bodyPr>
          <a:lstStyle/>
          <a:p>
            <a:r>
              <a:rPr lang="en-US" dirty="0"/>
              <a:t>American Cancer Society. Key Statistics for Basal and Squamous Cell Skin Cancers. https://www.cancer.org/cancer/basal-and-squamous-cell-skin-cancer/about/key-statistics.html (Accessed on December 16, 2024)</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6089"/>
            <a:ext cx="10515600" cy="4351338"/>
          </a:xfrm>
        </p:spPr>
        <p:txBody>
          <a:bodyPr>
            <a:normAutofit lnSpcReduction="10000"/>
          </a:bodyPr>
          <a:lstStyle/>
          <a:p>
            <a:r>
              <a:rPr lang="en-US" b="1" dirty="0"/>
              <a:t>Global Incidence:</a:t>
            </a:r>
            <a:r>
              <a:rPr lang="en-US" dirty="0"/>
              <a:t> Australia and New Zealand have the highest incidence rates of basal cell carcinoma (BCC) globally, exceeding </a:t>
            </a:r>
            <a:r>
              <a:rPr lang="en-US" b="1" dirty="0"/>
              <a:t>1,000 cases per 100,000 population annually</a:t>
            </a:r>
            <a:r>
              <a:rPr lang="en-US" dirty="0"/>
              <a:t>, largely because of high ambient ultraviolet (UV) radiation exposure and predominantly fair-skinned populations. </a:t>
            </a:r>
            <a:r>
              <a:rPr lang="en-US" b="1" dirty="0"/>
              <a:t>(Leiter et al., 2023; Fitzpatrick's Dermatology, 9th ed.)</a:t>
            </a:r>
            <a:endParaRPr lang="en-US" b="1" dirty="0"/>
          </a:p>
          <a:p>
            <a:r>
              <a:rPr lang="en-US" b="1" dirty="0"/>
              <a:t>Lower Rates:</a:t>
            </a:r>
            <a:r>
              <a:rPr lang="en-US" dirty="0"/>
              <a:t> The incidence of BCC is substantially lower in regions with predominantly darker-skinned populations, such as much of Africa and Asia, because increased epidermal melanin provides protection against UV-induced DNA damage. </a:t>
            </a:r>
            <a:r>
              <a:rPr lang="en-US" b="1" dirty="0"/>
              <a:t>(Leiter et al., 2023; Fitzpatrick's Dermatology, 9th ed.)</a:t>
            </a:r>
            <a:endParaRPr lang="en-US" dirty="0"/>
          </a:p>
        </p:txBody>
      </p:sp>
      <p:sp>
        <p:nvSpPr>
          <p:cNvPr id="4" name="TextBox 3"/>
          <p:cNvSpPr txBox="1"/>
          <p:nvPr/>
        </p:nvSpPr>
        <p:spPr>
          <a:xfrm>
            <a:off x="530352" y="5156183"/>
            <a:ext cx="10701528" cy="369332"/>
          </a:xfrm>
          <a:prstGeom prst="rect">
            <a:avLst/>
          </a:prstGeom>
          <a:noFill/>
        </p:spPr>
        <p:txBody>
          <a:bodyPr wrap="square" rtlCol="0">
            <a:spAutoFit/>
          </a:bodyPr>
          <a:lstStyle/>
          <a:p>
            <a:r>
              <a:rPr lang="en-US" dirty="0"/>
              <a:t>Leiter U, Keim U, Garbe C. Epidemiology of skin cancer: update 2023. </a:t>
            </a:r>
            <a:r>
              <a:rPr lang="en-US" i="1" dirty="0"/>
              <a:t>Adv Exp Med Biol.</a:t>
            </a:r>
            <a:r>
              <a:rPr lang="en-US" dirty="0"/>
              <a:t> 2023;1396:123–139.</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Etiology and Risk Factors</a:t>
            </a:r>
            <a:br>
              <a:rPr lang="en-US" b="1" dirty="0"/>
            </a:br>
            <a:endParaRPr lang="en-US" dirty="0"/>
          </a:p>
        </p:txBody>
      </p:sp>
      <p:sp>
        <p:nvSpPr>
          <p:cNvPr id="3" name="Content Placeholder 2"/>
          <p:cNvSpPr>
            <a:spLocks noGrp="1"/>
          </p:cNvSpPr>
          <p:nvPr>
            <p:ph idx="1"/>
          </p:nvPr>
        </p:nvSpPr>
        <p:spPr/>
        <p:txBody>
          <a:bodyPr>
            <a:normAutofit fontScale="77500" lnSpcReduction="20000"/>
          </a:bodyPr>
          <a:lstStyle/>
          <a:p>
            <a:r>
              <a:rPr lang="en-US" sz="3300" dirty="0">
                <a:latin typeface="Times New Roman" panose="02020603050405020304" pitchFamily="18" charset="0"/>
                <a:cs typeface="Times New Roman" panose="02020603050405020304" pitchFamily="18" charset="0"/>
              </a:rPr>
              <a:t>Chronic ultraviolet (UV-B) exposure</a:t>
            </a:r>
            <a:r>
              <a:rPr lang="en-US" sz="3300" dirty="0">
                <a:latin typeface="Times New Roman" panose="02020603050405020304" pitchFamily="18" charset="0"/>
                <a:cs typeface="Times New Roman" panose="02020603050405020304" pitchFamily="18" charset="0"/>
              </a:rPr>
              <a:t>-</a:t>
            </a:r>
            <a:r>
              <a:rPr lang="en-US" sz="33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(290–320 nm)</a:t>
            </a:r>
            <a:endParaRPr lang="en-US" sz="3300" dirty="0">
              <a:latin typeface="Times New Roman" panose="02020603050405020304" pitchFamily="18" charset="0"/>
              <a:cs typeface="Times New Roman" panose="02020603050405020304" pitchFamily="18" charset="0"/>
            </a:endParaRPr>
          </a:p>
          <a:p>
            <a:r>
              <a:rPr lang="en-US" sz="3300" dirty="0">
                <a:latin typeface="Times New Roman" panose="02020603050405020304" pitchFamily="18" charset="0"/>
                <a:cs typeface="Times New Roman" panose="02020603050405020304" pitchFamily="18" charset="0"/>
              </a:rPr>
              <a:t>Fair skin (Fitzpatrick skin types I–II) </a:t>
            </a:r>
            <a:endParaRPr lang="en-US" sz="3300" dirty="0">
              <a:latin typeface="Times New Roman" panose="02020603050405020304" pitchFamily="18" charset="0"/>
              <a:cs typeface="Times New Roman" panose="02020603050405020304" pitchFamily="18" charset="0"/>
            </a:endParaRPr>
          </a:p>
          <a:p>
            <a:r>
              <a:rPr lang="en-US" sz="3300" dirty="0">
                <a:latin typeface="Times New Roman" panose="02020603050405020304" pitchFamily="18" charset="0"/>
                <a:cs typeface="Times New Roman" panose="02020603050405020304" pitchFamily="18" charset="0"/>
              </a:rPr>
              <a:t>Increasing age </a:t>
            </a:r>
            <a:endParaRPr lang="en-US" sz="3300" dirty="0">
              <a:latin typeface="Times New Roman" panose="02020603050405020304" pitchFamily="18" charset="0"/>
              <a:cs typeface="Times New Roman" panose="02020603050405020304" pitchFamily="18" charset="0"/>
            </a:endParaRPr>
          </a:p>
          <a:p>
            <a:r>
              <a:rPr lang="en-US" sz="3300" dirty="0">
                <a:latin typeface="Times New Roman" panose="02020603050405020304" pitchFamily="18" charset="0"/>
                <a:cs typeface="Times New Roman" panose="02020603050405020304" pitchFamily="18" charset="0"/>
              </a:rPr>
              <a:t>Male sex </a:t>
            </a:r>
            <a:endParaRPr lang="en-US" sz="3300" dirty="0">
              <a:latin typeface="Times New Roman" panose="02020603050405020304" pitchFamily="18" charset="0"/>
              <a:cs typeface="Times New Roman" panose="02020603050405020304" pitchFamily="18" charset="0"/>
            </a:endParaRPr>
          </a:p>
          <a:p>
            <a:r>
              <a:rPr lang="en-US" sz="3300" dirty="0">
                <a:latin typeface="Times New Roman" panose="02020603050405020304" pitchFamily="18" charset="0"/>
                <a:cs typeface="Times New Roman" panose="02020603050405020304" pitchFamily="18" charset="0"/>
              </a:rPr>
              <a:t>Previous ionizing radiation exposure </a:t>
            </a:r>
            <a:endParaRPr lang="en-US" sz="3300" dirty="0">
              <a:latin typeface="Times New Roman" panose="02020603050405020304" pitchFamily="18" charset="0"/>
              <a:cs typeface="Times New Roman" panose="02020603050405020304" pitchFamily="18" charset="0"/>
            </a:endParaRPr>
          </a:p>
          <a:p>
            <a:r>
              <a:rPr lang="en-US" sz="3300" dirty="0">
                <a:latin typeface="Times New Roman" panose="02020603050405020304" pitchFamily="18" charset="0"/>
                <a:cs typeface="Times New Roman" panose="02020603050405020304" pitchFamily="18" charset="0"/>
              </a:rPr>
              <a:t>Arsenic exposure </a:t>
            </a:r>
            <a:endParaRPr lang="en-US" sz="3300" dirty="0">
              <a:latin typeface="Times New Roman" panose="02020603050405020304" pitchFamily="18" charset="0"/>
              <a:cs typeface="Times New Roman" panose="02020603050405020304" pitchFamily="18" charset="0"/>
            </a:endParaRPr>
          </a:p>
          <a:p>
            <a:r>
              <a:rPr lang="en-US" sz="3300" dirty="0">
                <a:latin typeface="Times New Roman" panose="02020603050405020304" pitchFamily="18" charset="0"/>
                <a:cs typeface="Times New Roman" panose="02020603050405020304" pitchFamily="18" charset="0"/>
              </a:rPr>
              <a:t>Immunosuppression </a:t>
            </a:r>
            <a:endParaRPr lang="en-US" sz="3300" dirty="0">
              <a:latin typeface="Times New Roman" panose="02020603050405020304" pitchFamily="18" charset="0"/>
              <a:cs typeface="Times New Roman" panose="02020603050405020304" pitchFamily="18" charset="0"/>
            </a:endParaRPr>
          </a:p>
          <a:p>
            <a:r>
              <a:rPr lang="en-US" sz="3300" dirty="0">
                <a:latin typeface="Times New Roman" panose="02020603050405020304" pitchFamily="18" charset="0"/>
                <a:cs typeface="Times New Roman" panose="02020603050405020304" pitchFamily="18" charset="0"/>
              </a:rPr>
              <a:t>Genetic syndromes: </a:t>
            </a:r>
            <a:endParaRPr lang="en-US" sz="3300" dirty="0">
              <a:latin typeface="Times New Roman" panose="02020603050405020304" pitchFamily="18" charset="0"/>
              <a:cs typeface="Times New Roman" panose="02020603050405020304" pitchFamily="18" charset="0"/>
            </a:endParaRPr>
          </a:p>
          <a:p>
            <a:pPr lvl="1"/>
            <a:r>
              <a:rPr lang="en-US" sz="3300" dirty="0">
                <a:latin typeface="Times New Roman" panose="02020603050405020304" pitchFamily="18" charset="0"/>
                <a:cs typeface="Times New Roman" panose="02020603050405020304" pitchFamily="18" charset="0"/>
              </a:rPr>
              <a:t>Gorlin Syndrome </a:t>
            </a:r>
            <a:endParaRPr lang="en-US" sz="3300" dirty="0">
              <a:latin typeface="Times New Roman" panose="02020603050405020304" pitchFamily="18" charset="0"/>
              <a:cs typeface="Times New Roman" panose="02020603050405020304" pitchFamily="18" charset="0"/>
            </a:endParaRPr>
          </a:p>
          <a:p>
            <a:pPr lvl="1"/>
            <a:r>
              <a:rPr lang="en-US" sz="3300" dirty="0">
                <a:latin typeface="Times New Roman" panose="02020603050405020304" pitchFamily="18" charset="0"/>
                <a:cs typeface="Times New Roman" panose="02020603050405020304" pitchFamily="18" charset="0"/>
              </a:rPr>
              <a:t>Xeroderma pigmentosum </a:t>
            </a:r>
            <a:endParaRPr lang="en-US" sz="3300" dirty="0">
              <a:latin typeface="Times New Roman" panose="02020603050405020304" pitchFamily="18" charset="0"/>
              <a:cs typeface="Times New Roman" panose="02020603050405020304" pitchFamily="18" charset="0"/>
            </a:endParaRPr>
          </a:p>
          <a:p>
            <a:r>
              <a:rPr lang="en-US" sz="3300" dirty="0">
                <a:latin typeface="Times New Roman" panose="02020603050405020304" pitchFamily="18" charset="0"/>
                <a:cs typeface="Times New Roman" panose="02020603050405020304" pitchFamily="18" charset="0"/>
              </a:rPr>
              <a:t>Previous history of BCC</a:t>
            </a:r>
            <a:endParaRPr lang="en-US" sz="3300"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Hedgehog signaling pathway</a:t>
            </a:r>
            <a:endParaRPr lang="en-US" b="1" dirty="0"/>
          </a:p>
        </p:txBody>
      </p:sp>
      <p:sp>
        <p:nvSpPr>
          <p:cNvPr id="3" name="Content Placeholder 2"/>
          <p:cNvSpPr>
            <a:spLocks noGrp="1"/>
          </p:cNvSpPr>
          <p:nvPr>
            <p:ph sz="half" idx="1"/>
          </p:nvPr>
        </p:nvSpPr>
        <p:spPr/>
        <p:txBody>
          <a:bodyPr>
            <a:normAutofit fontScale="85000" lnSpcReduction="10000"/>
          </a:bodyPr>
          <a:lstStyle/>
          <a:p>
            <a:r>
              <a:rPr lang="en-US" dirty="0"/>
              <a:t>The </a:t>
            </a:r>
            <a:r>
              <a:rPr lang="en-US" b="1" dirty="0"/>
              <a:t>Hedgehog (HH) </a:t>
            </a:r>
            <a:r>
              <a:rPr lang="en-US" b="1" dirty="0" err="1"/>
              <a:t>signaling</a:t>
            </a:r>
            <a:r>
              <a:rPr lang="en-US" b="1" dirty="0"/>
              <a:t> pathway</a:t>
            </a:r>
            <a:r>
              <a:rPr lang="en-US" dirty="0"/>
              <a:t> is a highly conserved molecular pathway that regulates </a:t>
            </a:r>
            <a:r>
              <a:rPr lang="en-US" b="1" dirty="0"/>
              <a:t>embryonic development, cell proliferation, differentiation, and tissue repair</a:t>
            </a:r>
            <a:r>
              <a:rPr lang="en-US" dirty="0"/>
              <a:t>. </a:t>
            </a:r>
            <a:endParaRPr lang="en-US" dirty="0"/>
          </a:p>
          <a:p>
            <a:r>
              <a:rPr lang="en-US" dirty="0"/>
              <a:t>In normal adult skin, the pathway is largely inactive except during wound healing and hair follicle maintenance. Constitutive activation of this pathway is the </a:t>
            </a:r>
            <a:r>
              <a:rPr lang="en-US" b="1" dirty="0"/>
              <a:t>central molecular event in the pathogenesis of basal cell carcinoma (BCC)</a:t>
            </a:r>
            <a:r>
              <a:rPr lang="en-US" dirty="0"/>
              <a:t>, occurring in more than </a:t>
            </a:r>
            <a:r>
              <a:rPr lang="en-US" b="1" dirty="0"/>
              <a:t>90% of cases</a:t>
            </a:r>
            <a:r>
              <a:rPr lang="en-US" dirty="0"/>
              <a:t>.</a:t>
            </a:r>
            <a:endParaRPr lang="en-US" dirty="0"/>
          </a:p>
        </p:txBody>
      </p:sp>
      <p:pic>
        <p:nvPicPr>
          <p:cNvPr id="6" name="Content Placeholder 5"/>
          <p:cNvPicPr>
            <a:picLocks noGrp="1" noChangeAspect="1"/>
          </p:cNvPicPr>
          <p:nvPr>
            <p:ph sz="half" idx="2"/>
          </p:nvPr>
        </p:nvPicPr>
        <p:blipFill>
          <a:blip r:embed="rId1"/>
          <a:stretch>
            <a:fillRect/>
          </a:stretch>
        </p:blipFill>
        <p:spPr>
          <a:xfrm>
            <a:off x="6753889" y="1825625"/>
            <a:ext cx="4018221" cy="435133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585216"/>
            <a:ext cx="5181600" cy="5591747"/>
          </a:xfrm>
        </p:spPr>
        <p:txBody>
          <a:bodyPr>
            <a:normAutofit fontScale="92500" lnSpcReduction="20000"/>
          </a:bodyPr>
          <a:lstStyle/>
          <a:p>
            <a:r>
              <a:rPr lang="en-US" dirty="0"/>
              <a:t>UV-induced PTCH1 loss-of-function or SMO gain-of-function mutations cause constitutive Hedgehog pathway activation, leading to persistent GLI-mediated transcription and uncontrolled basal keratinocyte proliferation, the hallmark of basal cell carcinoma</a:t>
            </a:r>
            <a:endParaRPr lang="en-US" dirty="0"/>
          </a:p>
          <a:p>
            <a:r>
              <a:rPr lang="en-US" dirty="0"/>
              <a:t>Uncontrolled proliferation of basal keratinocytes results in </a:t>
            </a:r>
            <a:r>
              <a:rPr lang="en-US" dirty="0" err="1"/>
              <a:t>tumor</a:t>
            </a:r>
            <a:r>
              <a:rPr lang="en-US" dirty="0"/>
              <a:t> formation</a:t>
            </a:r>
            <a:endParaRPr lang="en-US" dirty="0"/>
          </a:p>
          <a:p>
            <a:endParaRPr lang="en-US" dirty="0"/>
          </a:p>
        </p:txBody>
      </p:sp>
      <p:sp>
        <p:nvSpPr>
          <p:cNvPr id="4" name="Content Placeholder 3"/>
          <p:cNvSpPr>
            <a:spLocks noGrp="1"/>
          </p:cNvSpPr>
          <p:nvPr>
            <p:ph sz="half" idx="2"/>
          </p:nvPr>
        </p:nvSpPr>
        <p:spPr>
          <a:xfrm>
            <a:off x="6172200" y="585216"/>
            <a:ext cx="5181600" cy="5591747"/>
          </a:xfrm>
        </p:spPr>
        <p:txBody>
          <a:bodyPr>
            <a:normAutofit fontScale="92500" lnSpcReduction="20000"/>
          </a:bodyPr>
          <a:lstStyle/>
          <a:p>
            <a:pPr marL="0" indent="0">
              <a:buNone/>
            </a:pPr>
            <a:r>
              <a:rPr lang="en-US" dirty="0"/>
              <a:t>In BCC, the Hedgehog pathway is </a:t>
            </a:r>
            <a:r>
              <a:rPr lang="en-US" b="1" dirty="0"/>
              <a:t>constitutively activated</a:t>
            </a:r>
            <a:r>
              <a:rPr lang="en-US" dirty="0"/>
              <a:t>, even in the absence of SHH ligand.</a:t>
            </a:r>
            <a:endParaRPr lang="en-US" dirty="0"/>
          </a:p>
          <a:p>
            <a:r>
              <a:rPr lang="en-US" b="1" dirty="0"/>
              <a:t>Common genetic alterations include:</a:t>
            </a:r>
            <a:endParaRPr lang="en-US" dirty="0"/>
          </a:p>
          <a:p>
            <a:r>
              <a:rPr lang="en-US" b="1" dirty="0"/>
              <a:t>PTCH1 loss-of-function mutation (≈70–90%)</a:t>
            </a:r>
            <a:r>
              <a:rPr lang="en-US" dirty="0"/>
              <a:t> </a:t>
            </a:r>
            <a:endParaRPr lang="en-US" dirty="0"/>
          </a:p>
          <a:p>
            <a:pPr lvl="1"/>
            <a:r>
              <a:rPr lang="en-US" dirty="0"/>
              <a:t>PTCH1 can no longer inhibit SMO. </a:t>
            </a:r>
            <a:endParaRPr lang="en-US" dirty="0"/>
          </a:p>
          <a:p>
            <a:pPr lvl="1"/>
            <a:r>
              <a:rPr lang="en-US" dirty="0"/>
              <a:t>SMO remains continuously active. </a:t>
            </a:r>
            <a:endParaRPr lang="en-US" dirty="0"/>
          </a:p>
          <a:p>
            <a:pPr lvl="1"/>
            <a:r>
              <a:rPr lang="en-US" dirty="0"/>
              <a:t>Persistent GLI activation results in uncontrolled keratinocyte proliferation. </a:t>
            </a:r>
            <a:endParaRPr lang="en-US" dirty="0"/>
          </a:p>
          <a:p>
            <a:r>
              <a:rPr lang="en-US" b="1" dirty="0"/>
              <a:t>SMO gain-of-function mutation (≈10–20%)</a:t>
            </a:r>
            <a:r>
              <a:rPr lang="en-US" dirty="0"/>
              <a:t> </a:t>
            </a:r>
            <a:endParaRPr lang="en-US" dirty="0"/>
          </a:p>
          <a:p>
            <a:pPr lvl="1"/>
            <a:r>
              <a:rPr lang="en-US" dirty="0"/>
              <a:t>SMO becomes constitutively active despite normal PTCH1. </a:t>
            </a:r>
            <a:endParaRPr lang="en-US" dirty="0"/>
          </a:p>
          <a:p>
            <a:pPr lvl="1"/>
            <a:r>
              <a:rPr lang="en-US" dirty="0"/>
              <a:t>Continuous activation of GLI drives </a:t>
            </a:r>
            <a:r>
              <a:rPr lang="en-US" dirty="0" err="1"/>
              <a:t>tumor</a:t>
            </a:r>
            <a:r>
              <a:rPr lang="en-US" dirty="0"/>
              <a:t> formation.</a:t>
            </a:r>
            <a:endParaRPr lang="en-US" dirty="0"/>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Clinical presentations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Approximately 70 percent of BCC occur on the face, consistent with the etiologic role of solar radiation, and 15 percent present on the limbs and trunk</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Only rarely of BCC diagnosed on areas like the penis, vulva, or perianal skin</a:t>
            </a:r>
            <a:endParaRPr lang="en-US" dirty="0">
              <a:latin typeface="Times New Roman" panose="02020603050405020304" pitchFamily="18" charset="0"/>
              <a:cs typeface="Times New Roman" panose="02020603050405020304" pitchFamily="18" charset="0"/>
            </a:endParaRPr>
          </a:p>
          <a:p>
            <a:r>
              <a:rPr lang="en-US" dirty="0">
                <a:ea typeface="Liberation Sans"/>
                <a:cs typeface="Liberation Sans"/>
              </a:rPr>
              <a:t>Variety of clinical presentations due to various histopathological variants. Classical features are a pearly, telangiectatic papule, which may be eroded or ulcerated</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Clinical variant of BCC</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Nodular BCC</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most common clinical subtype (account 80% of cases)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Occurs most often on the sun exposed areas of the head &amp; neck</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Appears as a translucent papule or nodule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Usually with telangiectasia and often a rolled border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Larger lesions with central ulcerations - referred to by the historical term ‘</a:t>
            </a:r>
            <a:r>
              <a:rPr lang="en-US" i="1" dirty="0">
                <a:latin typeface="Times New Roman" panose="02020603050405020304" pitchFamily="18" charset="0"/>
                <a:cs typeface="Times New Roman" panose="02020603050405020304" pitchFamily="18" charset="0"/>
              </a:rPr>
              <a:t>rodent ulcer</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yperpigmented nodular basal cell carcinoma "/>
          <p:cNvPicPr>
            <a:picLocks noChangeAspect="1"/>
          </p:cNvPicPr>
          <p:nvPr/>
        </p:nvPicPr>
        <p:blipFill>
          <a:blip r:embed="rId1"/>
          <a:stretch>
            <a:fillRect/>
          </a:stretch>
        </p:blipFill>
        <p:spPr>
          <a:xfrm>
            <a:off x="5968276" y="1806002"/>
            <a:ext cx="4638763" cy="3917632"/>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p:cNvPicPr>
            <a:picLocks noChangeAspect="1"/>
          </p:cNvPicPr>
          <p:nvPr/>
        </p:nvPicPr>
        <p:blipFill>
          <a:blip r:embed="rId2"/>
          <a:stretch>
            <a:fillRect/>
          </a:stretch>
        </p:blipFill>
        <p:spPr>
          <a:xfrm>
            <a:off x="457200" y="1810512"/>
            <a:ext cx="5248656" cy="3917632"/>
          </a:xfrm>
          <a:prstGeom prst="rect">
            <a:avLst/>
          </a:prstGeom>
        </p:spPr>
      </p:pic>
      <p:sp>
        <p:nvSpPr>
          <p:cNvPr id="11" name="TextBox 10"/>
          <p:cNvSpPr txBox="1"/>
          <p:nvPr/>
        </p:nvSpPr>
        <p:spPr>
          <a:xfrm>
            <a:off x="457200" y="5760720"/>
            <a:ext cx="5248656" cy="369332"/>
          </a:xfrm>
          <a:prstGeom prst="rect">
            <a:avLst/>
          </a:prstGeom>
          <a:noFill/>
        </p:spPr>
        <p:txBody>
          <a:bodyPr wrap="square" rtlCol="0">
            <a:spAutoFit/>
          </a:bodyPr>
          <a:lstStyle/>
          <a:p>
            <a:r>
              <a:rPr lang="en-US"/>
              <a:t>shiny, pink, telangiectatic nodule with a central erosion</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Superficial BCC</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t>Superficial BCC - most commonly on the trunk </a:t>
            </a:r>
            <a:endParaRPr lang="en-US" dirty="0"/>
          </a:p>
          <a:p>
            <a:r>
              <a:rPr lang="en-US" dirty="0"/>
              <a:t>Appears as - a well-demarcated erythematous macules, patches or thin plaques</a:t>
            </a:r>
            <a:endParaRPr lang="en-US" dirty="0"/>
          </a:p>
          <a:p>
            <a:r>
              <a:rPr lang="en-US" dirty="0"/>
              <a:t>The periphery may be rimmed with fine, translucent papules</a:t>
            </a:r>
            <a:endParaRPr lang="en-US" dirty="0"/>
          </a:p>
          <a:p>
            <a:r>
              <a:rPr lang="en-US" sz="3000" dirty="0">
                <a:latin typeface="Times New Roman" panose="02020603050405020304" pitchFamily="18" charset="0"/>
                <a:cs typeface="Times New Roman" panose="02020603050405020304" pitchFamily="18" charset="0"/>
              </a:rPr>
              <a:t>Superficial BCC tend to grow slowly and can vary in size from macules measuring just a few millimeters in diameter to lesions several centimeters in diameter or more if left untreated. Superficial BCC are usually asymptomatic</a:t>
            </a:r>
            <a:endParaRPr lang="en-US" sz="30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DD nummular (discoid) dermatitis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 isolated patch of “</a:t>
            </a:r>
            <a:r>
              <a:rPr lang="en-US" i="1" dirty="0">
                <a:latin typeface="Times New Roman" panose="02020603050405020304" pitchFamily="18" charset="0"/>
                <a:cs typeface="Times New Roman" panose="02020603050405020304" pitchFamily="18" charset="0"/>
              </a:rPr>
              <a:t>eczema</a:t>
            </a:r>
            <a:r>
              <a:rPr lang="en-US" dirty="0">
                <a:latin typeface="Times New Roman" panose="02020603050405020304" pitchFamily="18" charset="0"/>
                <a:cs typeface="Times New Roman" panose="02020603050405020304" pitchFamily="18" charset="0"/>
              </a:rPr>
              <a:t>” that does not respond to treatment - raise suspicion for superficial BCC</a:t>
            </a:r>
            <a:endParaRPr lang="en-US" dirty="0">
              <a:latin typeface="Times New Roman" panose="02020603050405020304" pitchFamily="18" charset="0"/>
              <a:cs typeface="Times New Roman" panose="02020603050405020304" pitchFamily="18" charset="0"/>
            </a:endParaRPr>
          </a:p>
          <a:p>
            <a:endParaRPr lang="en-US" dirty="0"/>
          </a:p>
        </p:txBody>
      </p:sp>
      <p:pic>
        <p:nvPicPr>
          <p:cNvPr id="4" name="Content Placeholder 3"/>
          <p:cNvPicPr>
            <a:picLocks noChangeAspect="1"/>
          </p:cNvPicPr>
          <p:nvPr/>
        </p:nvPicPr>
        <p:blipFill>
          <a:blip r:embed="rId1"/>
          <a:stretch>
            <a:fillRect/>
          </a:stretch>
        </p:blipFill>
        <p:spPr>
          <a:xfrm>
            <a:off x="3193813" y="3387773"/>
            <a:ext cx="5804374" cy="3238891"/>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Morpheaform</a:t>
            </a:r>
            <a:r>
              <a:rPr lang="en-US" b="1" dirty="0">
                <a:latin typeface="Times New Roman" panose="02020603050405020304" pitchFamily="18" charset="0"/>
                <a:cs typeface="Times New Roman" panose="02020603050405020304" pitchFamily="18" charset="0"/>
              </a:rPr>
              <a:t> bcc</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Usually found in mid-facial sites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Waxy, scar-like plaque with indistinct borders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appearance of scar tissue [in the absence of trauma/ previous surgical procedure or the appearance of atypical-appearing scar tissue at a previously treated lesion] -  alert for possibility of </a:t>
            </a:r>
            <a:r>
              <a:rPr lang="en-US" dirty="0" err="1">
                <a:latin typeface="Times New Roman" panose="02020603050405020304" pitchFamily="18" charset="0"/>
                <a:cs typeface="Times New Roman" panose="02020603050405020304" pitchFamily="18" charset="0"/>
              </a:rPr>
              <a:t>morpheaform</a:t>
            </a:r>
            <a:r>
              <a:rPr lang="en-US" dirty="0">
                <a:latin typeface="Times New Roman" panose="02020603050405020304" pitchFamily="18" charset="0"/>
                <a:cs typeface="Times New Roman" panose="02020603050405020304" pitchFamily="18" charset="0"/>
              </a:rPr>
              <a:t> BCC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Wide and deep subclinical extension</a:t>
            </a:r>
            <a:r>
              <a:rPr lang="en-US" dirty="0">
                <a:latin typeface="Times New Roman" panose="02020603050405020304" pitchFamily="18" charset="0"/>
                <a:cs typeface="Times New Roman" panose="02020603050405020304" pitchFamily="18" charset="0"/>
              </a:rPr>
              <a:t> (</a:t>
            </a:r>
            <a:r>
              <a:rPr lang="en-US" dirty="0"/>
              <a:t>The extent - often larger than the clinical appearance)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May infiltrate cutaneous nerves (perineural spread)</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107136" y="1825625"/>
            <a:ext cx="5801784" cy="4351338"/>
          </a:xfrm>
          <a:prstGeom prst="rect">
            <a:avLst/>
          </a:prstGeom>
        </p:spPr>
      </p:pic>
      <p:pic>
        <p:nvPicPr>
          <p:cNvPr id="6" name="Picture 5" descr="Morphoeic BCC."/>
          <p:cNvPicPr>
            <a:picLocks noChangeAspect="1"/>
          </p:cNvPicPr>
          <p:nvPr/>
        </p:nvPicPr>
        <p:blipFill>
          <a:blip r:embed="rId2"/>
          <a:stretch>
            <a:fillRect/>
          </a:stretch>
        </p:blipFill>
        <p:spPr>
          <a:xfrm>
            <a:off x="6283082" y="1825625"/>
            <a:ext cx="5244138" cy="4351338"/>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Basosquamous carcinoma</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Mixed basal cell carcinoma (BCC) and squamous cell carcinoma (SCC)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Infiltrative growth pattern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Potentially more aggressive than other forms of BCC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Histologically - Shows both basal cell and SCC differentiation in a continuous fashion</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Diagnosis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Based on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 Clinical suspicion</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Characteristic appearance of ulcerated nodule with a pearly, beaded margin, and telangiectasia.</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Slow growth</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Distinctive sites of occurrence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Confirmed by biopsy</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Shave biopsy (most common)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Punch biopsy</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Excisional biopsy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Risk stratification-</a:t>
            </a:r>
            <a:r>
              <a:rPr lang="en-US" b="1" dirty="0">
                <a:latin typeface="Times New Roman" panose="02020603050405020304" pitchFamily="18" charset="0"/>
                <a:cs typeface="Times New Roman" panose="02020603050405020304" pitchFamily="18" charset="0"/>
              </a:rPr>
              <a:t>NCCN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Risk stratification forms cornerstone of treatment of BCC</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Low-Risk BCC</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Well-defined borders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Primary lesion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Nodular or superficial subtype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 perineural invasion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Favourable location and size</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High risk features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Tumor location</a:t>
            </a:r>
            <a:endParaRPr lang="en-US" dirty="0">
              <a:latin typeface="Times New Roman" panose="02020603050405020304" pitchFamily="18" charset="0"/>
              <a:cs typeface="Times New Roman" panose="02020603050405020304" pitchFamily="18" charset="0"/>
            </a:endParaRPr>
          </a:p>
          <a:p>
            <a:endParaRPr lang="en-US" dirty="0"/>
          </a:p>
        </p:txBody>
      </p:sp>
      <p:graphicFrame>
        <p:nvGraphicFramePr>
          <p:cNvPr id="4" name="Table 3"/>
          <p:cNvGraphicFramePr>
            <a:graphicFrameLocks noGrp="1"/>
          </p:cNvGraphicFramePr>
          <p:nvPr/>
        </p:nvGraphicFramePr>
        <p:xfrm>
          <a:off x="1057640" y="2923213"/>
          <a:ext cx="10296160" cy="3042871"/>
        </p:xfrm>
        <a:graphic>
          <a:graphicData uri="http://schemas.openxmlformats.org/drawingml/2006/table">
            <a:tbl>
              <a:tblPr firstRow="1" bandRow="1">
                <a:tableStyleId>{5C22544A-7EE6-4342-B048-85BDC9FD1C3A}</a:tableStyleId>
              </a:tblPr>
              <a:tblGrid>
                <a:gridCol w="5148080"/>
                <a:gridCol w="5148080"/>
              </a:tblGrid>
              <a:tr h="468134">
                <a:tc>
                  <a:txBody>
                    <a:bodyPr/>
                    <a:lstStyle/>
                    <a:p>
                      <a:r>
                        <a:rPr lang="en-US" dirty="0" err="1"/>
                        <a:t>Tumor</a:t>
                      </a:r>
                      <a:r>
                        <a:rPr lang="en-US" dirty="0"/>
                        <a:t> Location</a:t>
                      </a:r>
                      <a:endParaRPr lang="en-US" dirty="0"/>
                    </a:p>
                  </a:txBody>
                  <a:tcPr/>
                </a:tc>
                <a:tc>
                  <a:txBody>
                    <a:bodyPr/>
                    <a:lstStyle/>
                    <a:p>
                      <a:endParaRPr lang="en-US" dirty="0"/>
                    </a:p>
                  </a:txBody>
                  <a:tcPr/>
                </a:tc>
              </a:tr>
              <a:tr h="468134">
                <a:tc>
                  <a:txBody>
                    <a:bodyPr/>
                    <a:lstStyle/>
                    <a:p>
                      <a:r>
                        <a:rPr lang="en-US" dirty="0"/>
                        <a:t>Area</a:t>
                      </a:r>
                      <a:endParaRPr lang="en-US" dirty="0"/>
                    </a:p>
                  </a:txBody>
                  <a:tcPr/>
                </a:tc>
                <a:tc>
                  <a:txBody>
                    <a:bodyPr/>
                    <a:lstStyle/>
                    <a:p>
                      <a:r>
                        <a:rPr lang="en-US" dirty="0"/>
                        <a:t>Sites</a:t>
                      </a:r>
                      <a:endParaRPr lang="en-US" dirty="0"/>
                    </a:p>
                  </a:txBody>
                  <a:tcPr/>
                </a:tc>
              </a:tr>
              <a:tr h="1170335">
                <a:tc>
                  <a:txBody>
                    <a:bodyPr/>
                    <a:lstStyle/>
                    <a:p>
                      <a:r>
                        <a:rPr lang="en-US" dirty="0"/>
                        <a:t>H-Area</a:t>
                      </a:r>
                      <a:endParaRPr lang="en-US" dirty="0"/>
                    </a:p>
                  </a:txBody>
                  <a:tcPr/>
                </a:tc>
                <a:tc>
                  <a:txBody>
                    <a:bodyPr/>
                    <a:lstStyle/>
                    <a:p>
                      <a:r>
                        <a:rPr lang="en-US" dirty="0"/>
                        <a:t>Central face, eyelids, eyebrows, nose, lips, chin, ears, temple, genitalia, hands, feet</a:t>
                      </a:r>
                      <a:endParaRPr lang="en-US" dirty="0"/>
                    </a:p>
                  </a:txBody>
                  <a:tcPr/>
                </a:tc>
              </a:tr>
              <a:tr h="468134">
                <a:tc>
                  <a:txBody>
                    <a:bodyPr/>
                    <a:lstStyle/>
                    <a:p>
                      <a:r>
                        <a:rPr lang="en-US" dirty="0"/>
                        <a:t>M-Area</a:t>
                      </a:r>
                      <a:endParaRPr lang="en-US" dirty="0"/>
                    </a:p>
                  </a:txBody>
                  <a:tcPr/>
                </a:tc>
                <a:tc>
                  <a:txBody>
                    <a:bodyPr/>
                    <a:lstStyle/>
                    <a:p>
                      <a:r>
                        <a:rPr lang="en-US" dirty="0"/>
                        <a:t>Cheeks, forehead, scalp, neck, pre</a:t>
                      </a:r>
                      <a:r>
                        <a:rPr lang="en-US" dirty="0"/>
                        <a:t>-</a:t>
                      </a:r>
                      <a:r>
                        <a:rPr lang="en-US" dirty="0"/>
                        <a:t>tibia</a:t>
                      </a:r>
                      <a:endParaRPr lang="en-US" dirty="0"/>
                    </a:p>
                  </a:txBody>
                  <a:tcPr/>
                </a:tc>
              </a:tr>
              <a:tr h="468134">
                <a:tc>
                  <a:txBody>
                    <a:bodyPr/>
                    <a:lstStyle/>
                    <a:p>
                      <a:r>
                        <a:rPr lang="en-US" dirty="0"/>
                        <a:t>L-Area</a:t>
                      </a:r>
                      <a:endParaRPr lang="en-US" dirty="0"/>
                    </a:p>
                  </a:txBody>
                  <a:tcPr/>
                </a:tc>
                <a:tc>
                  <a:txBody>
                    <a:bodyPr/>
                    <a:lstStyle/>
                    <a:p>
                      <a:r>
                        <a:rPr lang="en-US" dirty="0"/>
                        <a:t>Trunk and extremities</a:t>
                      </a:r>
                      <a:endParaRPr lang="en-US" dirty="0"/>
                    </a:p>
                  </a:txBody>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Size criteria</a:t>
            </a:r>
            <a:endParaRPr lang="en-US" b="1" dirty="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sz="half" idx="1"/>
          </p:nvPr>
        </p:nvGraphicFramePr>
        <p:xfrm>
          <a:off x="838200" y="1825625"/>
          <a:ext cx="5181600" cy="2656436"/>
        </p:xfrm>
        <a:graphic>
          <a:graphicData uri="http://schemas.openxmlformats.org/drawingml/2006/table">
            <a:tbl>
              <a:tblPr firstRow="1" bandRow="1">
                <a:tableStyleId>{5C22544A-7EE6-4342-B048-85BDC9FD1C3A}</a:tableStyleId>
              </a:tblPr>
              <a:tblGrid>
                <a:gridCol w="2590800"/>
                <a:gridCol w="2590800"/>
              </a:tblGrid>
              <a:tr h="664109">
                <a:tc>
                  <a:txBody>
                    <a:bodyPr/>
                    <a:lstStyle/>
                    <a:p>
                      <a:r>
                        <a:rPr lang="en-US" dirty="0"/>
                        <a:t>Location</a:t>
                      </a:r>
                      <a:endParaRPr lang="en-US" dirty="0"/>
                    </a:p>
                  </a:txBody>
                  <a:tcPr/>
                </a:tc>
                <a:tc>
                  <a:txBody>
                    <a:bodyPr/>
                    <a:lstStyle/>
                    <a:p>
                      <a:r>
                        <a:rPr lang="en-US" dirty="0"/>
                        <a:t>High risk size</a:t>
                      </a:r>
                      <a:endParaRPr lang="en-US" dirty="0"/>
                    </a:p>
                  </a:txBody>
                  <a:tcPr/>
                </a:tc>
              </a:tr>
              <a:tr h="664109">
                <a:tc>
                  <a:txBody>
                    <a:bodyPr/>
                    <a:lstStyle/>
                    <a:p>
                      <a:r>
                        <a:rPr lang="en-US" dirty="0"/>
                        <a:t>H-Area</a:t>
                      </a:r>
                      <a:endParaRPr lang="en-US" dirty="0"/>
                    </a:p>
                  </a:txBody>
                  <a:tcPr/>
                </a:tc>
                <a:tc>
                  <a:txBody>
                    <a:bodyPr/>
                    <a:lstStyle/>
                    <a:p>
                      <a:r>
                        <a:rPr lang="en-US" dirty="0"/>
                        <a:t>Any size</a:t>
                      </a:r>
                      <a:endParaRPr lang="en-US" dirty="0"/>
                    </a:p>
                  </a:txBody>
                  <a:tcPr/>
                </a:tc>
              </a:tr>
              <a:tr h="664109">
                <a:tc>
                  <a:txBody>
                    <a:bodyPr/>
                    <a:lstStyle/>
                    <a:p>
                      <a:r>
                        <a:rPr lang="en-US" dirty="0"/>
                        <a:t>M-Area</a:t>
                      </a:r>
                      <a:endParaRPr lang="en-US" dirty="0"/>
                    </a:p>
                  </a:txBody>
                  <a:tcPr/>
                </a:tc>
                <a:tc>
                  <a:txBody>
                    <a:bodyPr/>
                    <a:lstStyle/>
                    <a:p>
                      <a:r>
                        <a:rPr lang="en-US" dirty="0"/>
                        <a:t>≥10 mm</a:t>
                      </a:r>
                      <a:endParaRPr lang="en-US" dirty="0"/>
                    </a:p>
                  </a:txBody>
                  <a:tcPr/>
                </a:tc>
              </a:tr>
              <a:tr h="664109">
                <a:tc>
                  <a:txBody>
                    <a:bodyPr/>
                    <a:lstStyle/>
                    <a:p>
                      <a:r>
                        <a:rPr lang="en-US" dirty="0"/>
                        <a:t>L-Area</a:t>
                      </a:r>
                      <a:endParaRPr lang="en-US" dirty="0"/>
                    </a:p>
                  </a:txBody>
                  <a:tcPr/>
                </a:tc>
                <a:tc>
                  <a:txBody>
                    <a:bodyPr/>
                    <a:lstStyle/>
                    <a:p>
                      <a:r>
                        <a:rPr lang="en-US" dirty="0"/>
                        <a:t>≥20 mm</a:t>
                      </a:r>
                      <a:endParaRPr lang="en-US" dirty="0"/>
                    </a:p>
                  </a:txBody>
                  <a:tcPr/>
                </a:tc>
              </a:tr>
            </a:tbl>
          </a:graphicData>
        </a:graphic>
      </p:graphicFrame>
      <p:sp>
        <p:nvSpPr>
          <p:cNvPr id="4" name="Content Placeholder 3"/>
          <p:cNvSpPr>
            <a:spLocks noGrp="1"/>
          </p:cNvSpPr>
          <p:nvPr>
            <p:ph sz="half" idx="2"/>
          </p:nvPr>
        </p:nvSpPr>
        <p:spPr/>
        <p:txBody>
          <a:bodyPr/>
          <a:lstStyle/>
          <a:p>
            <a:pPr marL="0" indent="0">
              <a:buNone/>
            </a:pPr>
            <a:r>
              <a:rPr lang="en-US" b="1" dirty="0">
                <a:latin typeface="Times New Roman" panose="02020603050405020304" pitchFamily="18" charset="0"/>
                <a:cs typeface="Times New Roman" panose="02020603050405020304" pitchFamily="18" charset="0"/>
              </a:rPr>
              <a:t>Additional High-Risk Features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Poorly defined borders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Recurrent </a:t>
            </a:r>
            <a:r>
              <a:rPr lang="en-US" dirty="0" err="1">
                <a:latin typeface="Times New Roman" panose="02020603050405020304" pitchFamily="18" charset="0"/>
                <a:cs typeface="Times New Roman" panose="02020603050405020304" pitchFamily="18" charset="0"/>
              </a:rPr>
              <a:t>tumor</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Immunosuppression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Prior radiation therapy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Rapid growth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Perineural invasion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Aggressive histology</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Treatment of low risk-BCC</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Surgical Excision</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preferred treatment for most low-risk </a:t>
            </a:r>
            <a:r>
              <a:rPr lang="en-US" dirty="0" err="1">
                <a:latin typeface="Times New Roman" panose="02020603050405020304" pitchFamily="18" charset="0"/>
                <a:cs typeface="Times New Roman" panose="02020603050405020304" pitchFamily="18" charset="0"/>
              </a:rPr>
              <a:t>BCCs</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Recommended Margin</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4 mm clinical margin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Outcomes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Cure rates exceed 95% </a:t>
            </a: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Content Placeholder 3"/>
          <p:cNvSpPr>
            <a:spLocks noGrp="1"/>
          </p:cNvSpPr>
          <p:nvPr>
            <p:ph sz="half" idx="2"/>
          </p:nvPr>
        </p:nvSpPr>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Curettage and Electrodesiccation (C&amp;E)</a:t>
            </a: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Appropriate for: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Small primary lesions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Non-hair-bearing sites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Simple and inexpensive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Limitations: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 complete margin assessment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Not suitable for high-risk sites</a:t>
            </a: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TextBox 4"/>
          <p:cNvSpPr txBox="1"/>
          <p:nvPr/>
        </p:nvSpPr>
        <p:spPr>
          <a:xfrm>
            <a:off x="1064302" y="5306525"/>
            <a:ext cx="2878111" cy="646331"/>
          </a:xfrm>
          <a:prstGeom prst="rect">
            <a:avLst/>
          </a:prstGeom>
          <a:noFill/>
          <a:ln>
            <a:solidFill>
              <a:srgbClr val="FF0000"/>
            </a:solidFill>
          </a:ln>
        </p:spPr>
        <p:txBody>
          <a:bodyPr wrap="square" rtlCol="0">
            <a:spAutoFit/>
          </a:bodyPr>
          <a:lstStyle/>
          <a:p>
            <a:r>
              <a:rPr lang="en-US" dirty="0"/>
              <a:t>Zitelli et al. </a:t>
            </a:r>
            <a:r>
              <a:rPr lang="en-US" dirty="0">
                <a:latin typeface="Times New Roman" panose="02020603050405020304" pitchFamily="18" charset="0"/>
                <a:cs typeface="Times New Roman" panose="02020603050405020304" pitchFamily="18" charset="0"/>
              </a:rPr>
              <a:t>Surgical margins for basal cell carcinoma</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Topical Therapies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lstStyle/>
          <a:p>
            <a:pPr marL="0" indent="0">
              <a:buNone/>
            </a:pPr>
            <a:r>
              <a:rPr lang="en-US" b="1" dirty="0"/>
              <a:t>Imiquimod 5% Cream</a:t>
            </a:r>
            <a:endParaRPr lang="en-US" b="1" dirty="0"/>
          </a:p>
          <a:p>
            <a:pPr>
              <a:buFont typeface="Wingdings" panose="05000000000000000000" pitchFamily="2" charset="2"/>
              <a:buChar char="Ø"/>
            </a:pPr>
            <a:r>
              <a:rPr lang="en-US" dirty="0"/>
              <a:t>I</a:t>
            </a:r>
            <a:r>
              <a:rPr lang="en-US" dirty="0" err="1"/>
              <a:t>ndications</a:t>
            </a:r>
            <a:r>
              <a:rPr lang="en-US" dirty="0"/>
              <a:t>:</a:t>
            </a:r>
            <a:endParaRPr lang="en-US" dirty="0"/>
          </a:p>
          <a:p>
            <a:r>
              <a:rPr lang="en-US" dirty="0"/>
              <a:t>Superficial BCC </a:t>
            </a:r>
            <a:endParaRPr lang="en-US" dirty="0"/>
          </a:p>
          <a:p>
            <a:pPr>
              <a:buFont typeface="Wingdings" panose="05000000000000000000" pitchFamily="2" charset="2"/>
              <a:buChar char="Ø"/>
            </a:pPr>
            <a:r>
              <a:rPr lang="en-US" dirty="0"/>
              <a:t>Mechanism:</a:t>
            </a:r>
            <a:endParaRPr lang="en-US" dirty="0"/>
          </a:p>
          <a:p>
            <a:r>
              <a:rPr lang="en-US" dirty="0"/>
              <a:t>Activates innate and adaptive immune responses</a:t>
            </a:r>
            <a:endParaRPr lang="en-US" dirty="0"/>
          </a:p>
          <a:p>
            <a:endParaRPr lang="en-US" dirty="0"/>
          </a:p>
        </p:txBody>
      </p:sp>
      <p:sp>
        <p:nvSpPr>
          <p:cNvPr id="4" name="Content Placeholder 3"/>
          <p:cNvSpPr>
            <a:spLocks noGrp="1"/>
          </p:cNvSpPr>
          <p:nvPr>
            <p:ph sz="half" idx="2"/>
          </p:nvPr>
        </p:nvSpPr>
        <p:spPr/>
        <p:txBody>
          <a:bodyPr/>
          <a:lstStyle/>
          <a:p>
            <a:r>
              <a:rPr lang="en-US" b="1" dirty="0"/>
              <a:t>5-Fluorouracil (5-FU)</a:t>
            </a:r>
            <a:endParaRPr lang="en-US" b="1" dirty="0"/>
          </a:p>
          <a:p>
            <a:pPr>
              <a:buFont typeface="Wingdings" panose="05000000000000000000" pitchFamily="2" charset="2"/>
              <a:buChar char="Ø"/>
            </a:pPr>
            <a:r>
              <a:rPr lang="en-US" dirty="0"/>
              <a:t>Indications:</a:t>
            </a:r>
            <a:endParaRPr lang="en-US" dirty="0"/>
          </a:p>
          <a:p>
            <a:r>
              <a:rPr lang="en-US" dirty="0"/>
              <a:t>Selected superficial lesions</a:t>
            </a:r>
            <a:endParaRPr lang="en-US" dirty="0"/>
          </a:p>
          <a:p>
            <a:endParaRPr lang="en-US" dirty="0"/>
          </a:p>
        </p:txBody>
      </p:sp>
      <p:sp>
        <p:nvSpPr>
          <p:cNvPr id="5" name="TextBox 4"/>
          <p:cNvSpPr txBox="1"/>
          <p:nvPr/>
        </p:nvSpPr>
        <p:spPr>
          <a:xfrm>
            <a:off x="1364104" y="5097681"/>
            <a:ext cx="8694295" cy="523220"/>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Both agents demonstrate lower cure rates than surgery</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1344"/>
            <a:ext cx="10515600" cy="4351338"/>
          </a:xfrm>
        </p:spPr>
        <p:txBody>
          <a:bodyPr/>
          <a:lstStyle/>
          <a:p>
            <a:pPr marL="0" indent="0">
              <a:buNone/>
            </a:pPr>
            <a:r>
              <a:rPr lang="en-US" b="1" dirty="0">
                <a:latin typeface="Times New Roman" panose="02020603050405020304" pitchFamily="18" charset="0"/>
                <a:cs typeface="Times New Roman" panose="02020603050405020304" pitchFamily="18" charset="0"/>
              </a:rPr>
              <a:t>4. </a:t>
            </a:r>
            <a:r>
              <a:rPr lang="en-US" b="1" dirty="0">
                <a:latin typeface="Times New Roman" panose="02020603050405020304" pitchFamily="18" charset="0"/>
                <a:cs typeface="Times New Roman" panose="02020603050405020304" pitchFamily="18" charset="0"/>
              </a:rPr>
              <a:t>Photodynamic Therapy (PDT)</a:t>
            </a: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Superficial BCC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Thin nodular BCC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Excellent cosmetic results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Limitations: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Higher recurrence compared with surgery</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Management of High-Risk BCC</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Mohs Micrographic Surgery (MMS)</a:t>
            </a: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Preferred treatment for: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H-zone facial tumors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Recurrent lesions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Aggressive histologic subtypes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Tumors with poorly defined margins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Tissue-conserving situations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t>Mohs surgery is considered the gold standard for high-risk BCC.</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656395"/>
            <a:ext cx="5181600" cy="4351338"/>
          </a:xfrm>
        </p:spPr>
        <p:txBody>
          <a:bodyPr/>
          <a:lstStyle/>
          <a:p>
            <a:pPr>
              <a:buFont typeface="Wingdings" panose="05000000000000000000" pitchFamily="2" charset="2"/>
              <a:buChar char="Ø"/>
            </a:pPr>
            <a:r>
              <a:rPr lang="en-US" b="1" i="1" dirty="0">
                <a:latin typeface="Times New Roman" panose="02020603050405020304" pitchFamily="18" charset="0"/>
                <a:cs typeface="Times New Roman" panose="02020603050405020304" pitchFamily="18" charset="0"/>
              </a:rPr>
              <a:t>Technique: </a:t>
            </a:r>
            <a:r>
              <a:rPr lang="en-US" dirty="0">
                <a:latin typeface="Times New Roman" panose="02020603050405020304" pitchFamily="18" charset="0"/>
                <a:cs typeface="Times New Roman" panose="02020603050405020304" pitchFamily="18" charset="0"/>
              </a:rPr>
              <a:t>Involves microscopically controlled surgical removal of tumors, ensuring careful histological excision of malignant cells in all planes during surgery itself</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a:xfrm>
            <a:off x="6172200" y="671393"/>
            <a:ext cx="5181600" cy="4351338"/>
          </a:xfrm>
        </p:spPr>
        <p:txBody>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Advantages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Complete margin assessment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Maximal tissue preservation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Lowest recurrence rates</a:t>
            </a:r>
            <a:endParaRPr lang="en-US" dirty="0">
              <a:latin typeface="Times New Roman" panose="02020603050405020304" pitchFamily="18" charset="0"/>
              <a:cs typeface="Times New Roman" panose="02020603050405020304" pitchFamily="18" charset="0"/>
            </a:endParaRPr>
          </a:p>
          <a:p>
            <a:endParaRPr lang="en-US" dirty="0"/>
          </a:p>
        </p:txBody>
      </p:sp>
      <p:pic>
        <p:nvPicPr>
          <p:cNvPr id="5" name="Picture 4" descr="Mohs surgery; drawing shows a visible lesion on the skin. The pullout shows a block of skin with cancer in the epidermis (outer layer of the skin) and the dermis (inner layer of the skin). A visible lesion is shown on the skin’s surface. Four numbered blocks show the removal of thin layers of the skin one at a time until all the cancer is removed."/>
          <p:cNvPicPr>
            <a:picLocks noChangeAspect="1"/>
          </p:cNvPicPr>
          <p:nvPr/>
        </p:nvPicPr>
        <p:blipFill>
          <a:blip r:embed="rId1"/>
          <a:stretch>
            <a:fillRect/>
          </a:stretch>
        </p:blipFill>
        <p:spPr>
          <a:xfrm>
            <a:off x="2402257" y="3214527"/>
            <a:ext cx="5438775" cy="364347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Radiation Therapy</a:t>
            </a:r>
            <a:br>
              <a:rPr lang="en-US" b="1" dirty="0"/>
            </a:br>
            <a:endParaRPr lang="en-US" dirty="0"/>
          </a:p>
        </p:txBody>
      </p:sp>
      <p:sp>
        <p:nvSpPr>
          <p:cNvPr id="3" name="Content Placeholder 2"/>
          <p:cNvSpPr>
            <a:spLocks noGrp="1"/>
          </p:cNvSpPr>
          <p:nvPr>
            <p:ph sz="half" idx="1"/>
          </p:nvPr>
        </p:nvSpPr>
        <p:spPr/>
        <p:txBody>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Indications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Poor surgical candidates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Elderly patients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Difficult anatomical sites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Adjuvant treatment after incomplete excision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Perineural invasion</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Content Placeholder 3"/>
          <p:cNvSpPr>
            <a:spLocks noGrp="1"/>
          </p:cNvSpPr>
          <p:nvPr>
            <p:ph sz="half" idx="2"/>
          </p:nvPr>
        </p:nvSpPr>
        <p:spPr/>
        <p:txBody>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Advantages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Effective local control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Disadvantages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 histologic margin control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Late skin changes and fibrosis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Local advanced and metastatic BCC</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Locally Advanced BCC</a:t>
            </a: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Defined as tumors that: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Cannot be completely excised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Are not suitable for radiotherapy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Invade critical structures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Examples</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Orbital invasion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Extensive facial destruction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Skull base involvement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p:txBody>
          <a:bodyPr>
            <a:normAutofit lnSpcReduction="10000"/>
          </a:bodyPr>
          <a:lstStyle/>
          <a:p>
            <a:pPr marL="0" indent="0">
              <a:buNone/>
            </a:pPr>
            <a:r>
              <a:rPr lang="en-US" b="1" dirty="0"/>
              <a:t>Metastatic BCC</a:t>
            </a:r>
            <a:endParaRPr lang="en-US" b="1" dirty="0"/>
          </a:p>
          <a:p>
            <a:pPr>
              <a:buFont typeface="Wingdings" panose="05000000000000000000" pitchFamily="2" charset="2"/>
              <a:buChar char="Ø"/>
            </a:pPr>
            <a:r>
              <a:rPr lang="en-US" dirty="0"/>
              <a:t>Rare (&lt;1% of all </a:t>
            </a:r>
            <a:r>
              <a:rPr lang="en-US" dirty="0" err="1"/>
              <a:t>BCCs</a:t>
            </a:r>
            <a:r>
              <a:rPr lang="en-US" dirty="0"/>
              <a:t>).</a:t>
            </a:r>
            <a:endParaRPr lang="en-US" dirty="0"/>
          </a:p>
          <a:p>
            <a:pPr>
              <a:buFont typeface="Wingdings" panose="05000000000000000000" pitchFamily="2" charset="2"/>
              <a:buChar char="Ø"/>
            </a:pPr>
            <a:r>
              <a:rPr lang="en-US" dirty="0"/>
              <a:t>Common metastatic sites include:</a:t>
            </a:r>
            <a:endParaRPr lang="en-US" dirty="0"/>
          </a:p>
          <a:p>
            <a:r>
              <a:rPr lang="en-US" dirty="0"/>
              <a:t>Regional lymph nodes </a:t>
            </a:r>
            <a:endParaRPr lang="en-US" dirty="0"/>
          </a:p>
          <a:p>
            <a:r>
              <a:rPr lang="en-US" dirty="0"/>
              <a:t>Lungs </a:t>
            </a:r>
            <a:endParaRPr lang="en-US" dirty="0"/>
          </a:p>
          <a:p>
            <a:r>
              <a:rPr lang="en-US" dirty="0"/>
              <a:t>Bones</a:t>
            </a:r>
            <a:endParaRPr lang="en-US" dirty="0"/>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Systemic therapy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Hedgehog Pathway Inhibitors</a:t>
            </a: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Examples; </a:t>
            </a:r>
            <a:r>
              <a:rPr lang="en-US" dirty="0" err="1">
                <a:latin typeface="Times New Roman" panose="02020603050405020304" pitchFamily="18" charset="0"/>
                <a:cs typeface="Times New Roman" panose="02020603050405020304" pitchFamily="18" charset="0"/>
              </a:rPr>
              <a:t>Vismodegib</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Sonidegib</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Indications: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Locally advanced BCC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Metastatic BCC</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Content Placeholder 3"/>
          <p:cNvSpPr>
            <a:spLocks noGrp="1"/>
          </p:cNvSpPr>
          <p:nvPr>
            <p:ph sz="half" idx="2"/>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Clinical Benefits</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Tumor</a:t>
            </a:r>
            <a:r>
              <a:rPr lang="en-US" dirty="0">
                <a:latin typeface="Times New Roman" panose="02020603050405020304" pitchFamily="18" charset="0"/>
                <a:cs typeface="Times New Roman" panose="02020603050405020304" pitchFamily="18" charset="0"/>
              </a:rPr>
              <a:t> shrinkage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Improved local disease control</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Common adverse effects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Muscle cramps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Alopecia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Weight loss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Fatigue</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ERIVANCE BCC Trial (</a:t>
            </a:r>
            <a:r>
              <a:rPr lang="en-US" dirty="0" err="1"/>
              <a:t>Vismodegib</a:t>
            </a:r>
            <a:r>
              <a:rPr lang="en-US" dirty="0"/>
              <a:t>)</a:t>
            </a:r>
            <a:endParaRPr lang="en-US" dirty="0"/>
          </a:p>
        </p:txBody>
      </p:sp>
      <p:pic>
        <p:nvPicPr>
          <p:cNvPr id="5" name="Content Placeholder 4"/>
          <p:cNvPicPr>
            <a:picLocks noGrp="1" noChangeAspect="1"/>
          </p:cNvPicPr>
          <p:nvPr>
            <p:ph idx="1"/>
          </p:nvPr>
        </p:nvPicPr>
        <p:blipFill>
          <a:blip r:embed="rId1"/>
          <a:stretch>
            <a:fillRect/>
          </a:stretch>
        </p:blipFill>
        <p:spPr>
          <a:xfrm>
            <a:off x="1810512" y="1825625"/>
            <a:ext cx="8449055" cy="4351338"/>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Article review</a:t>
            </a:r>
            <a:endParaRPr lang="en-US" b="1" dirty="0"/>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Ø"/>
            </a:pPr>
            <a:r>
              <a:rPr lang="en-US" b="1" dirty="0"/>
              <a:t>Objective</a:t>
            </a:r>
            <a:endParaRPr lang="en-US" b="1" dirty="0"/>
          </a:p>
          <a:p>
            <a:r>
              <a:rPr lang="en-US" dirty="0"/>
              <a:t>To evaluate the efficacy and safety of </a:t>
            </a:r>
            <a:r>
              <a:rPr lang="en-US" dirty="0" err="1"/>
              <a:t>vismodegib</a:t>
            </a:r>
            <a:r>
              <a:rPr lang="en-US" dirty="0"/>
              <a:t> in patients with locally advanced basal cell carcinoma (</a:t>
            </a:r>
            <a:r>
              <a:rPr lang="en-US" dirty="0" err="1"/>
              <a:t>laBCC</a:t>
            </a:r>
            <a:r>
              <a:rPr lang="en-US" dirty="0"/>
              <a:t>) or metastatic basal cell carcinoma (</a:t>
            </a:r>
            <a:r>
              <a:rPr lang="en-US" dirty="0" err="1"/>
              <a:t>mBCC</a:t>
            </a:r>
            <a:r>
              <a:rPr lang="en-US" dirty="0"/>
              <a:t>)</a:t>
            </a:r>
            <a:endParaRPr lang="en-US" dirty="0"/>
          </a:p>
          <a:p>
            <a:pPr>
              <a:buFont typeface="Wingdings" panose="05000000000000000000" pitchFamily="2" charset="2"/>
              <a:buChar char="Ø"/>
            </a:pPr>
            <a:r>
              <a:rPr lang="en-US" b="1" dirty="0"/>
              <a:t>Study design</a:t>
            </a:r>
            <a:endParaRPr lang="en-US" b="1" dirty="0"/>
          </a:p>
          <a:p>
            <a:r>
              <a:rPr lang="en-US" dirty="0"/>
              <a:t>Phase II International </a:t>
            </a:r>
            <a:r>
              <a:rPr lang="en-US" dirty="0" err="1"/>
              <a:t>Multicenter</a:t>
            </a:r>
            <a:r>
              <a:rPr lang="en-US" dirty="0"/>
              <a:t> Open-label Single-arm trial</a:t>
            </a:r>
            <a:endParaRPr lang="en-US" dirty="0"/>
          </a:p>
          <a:p>
            <a:pPr>
              <a:buFont typeface="Wingdings" panose="05000000000000000000" pitchFamily="2" charset="2"/>
              <a:buChar char="Ø"/>
            </a:pPr>
            <a:r>
              <a:rPr lang="en-US" b="1" dirty="0"/>
              <a:t>Study population</a:t>
            </a:r>
            <a:endParaRPr lang="en-US" b="1" dirty="0"/>
          </a:p>
          <a:p>
            <a:r>
              <a:rPr lang="en-US" b="1" dirty="0"/>
              <a:t>104 patients</a:t>
            </a:r>
            <a:r>
              <a:rPr lang="en-US" dirty="0"/>
              <a:t> </a:t>
            </a:r>
            <a:endParaRPr lang="en-US" dirty="0"/>
          </a:p>
          <a:p>
            <a:pPr lvl="1"/>
            <a:r>
              <a:rPr lang="en-US" dirty="0"/>
              <a:t>71 with locally advanced BCC </a:t>
            </a:r>
            <a:endParaRPr lang="en-US" dirty="0"/>
          </a:p>
          <a:p>
            <a:pPr lvl="1"/>
            <a:r>
              <a:rPr lang="en-US" dirty="0"/>
              <a:t>33 with metastatic BCC </a:t>
            </a:r>
            <a:endParaRPr lang="en-US" dirty="0"/>
          </a:p>
          <a:p>
            <a:r>
              <a:rPr lang="en-US" dirty="0"/>
              <a:t>Patients were </a:t>
            </a:r>
            <a:r>
              <a:rPr lang="en-US" b="1" dirty="0"/>
              <a:t>not candidates for surgery or radiotherapy</a:t>
            </a:r>
            <a:r>
              <a:rPr lang="en-US" dirty="0"/>
              <a:t>.</a:t>
            </a:r>
            <a:endParaRPr lang="en-US" dirty="0"/>
          </a:p>
          <a:p>
            <a:pPr marL="0" indent="0">
              <a:buNone/>
            </a:pPr>
            <a:endParaRPr lang="en-US" b="1" dirty="0"/>
          </a:p>
          <a:p>
            <a:endParaRPr lang="en-US" b="1" dirty="0"/>
          </a:p>
          <a:p>
            <a:endParaRPr lang="en-US" dirty="0"/>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b="1" dirty="0"/>
              <a:t>I</a:t>
            </a:r>
            <a:r>
              <a:rPr lang="en-US" b="1" dirty="0" err="1"/>
              <a:t>ntervention</a:t>
            </a:r>
            <a:endParaRPr lang="en-US" b="1" dirty="0"/>
          </a:p>
          <a:p>
            <a:r>
              <a:rPr lang="en-US" dirty="0" err="1"/>
              <a:t>Vismodegib</a:t>
            </a:r>
            <a:r>
              <a:rPr lang="en-US" dirty="0"/>
              <a:t> 150 mg orally once daily </a:t>
            </a:r>
            <a:endParaRPr lang="en-US" dirty="0"/>
          </a:p>
          <a:p>
            <a:pPr>
              <a:buFont typeface="Wingdings" panose="05000000000000000000" pitchFamily="2" charset="2"/>
              <a:buChar char="Ø"/>
            </a:pPr>
            <a:r>
              <a:rPr lang="en-US" b="1" dirty="0"/>
              <a:t>Primary Endpoint</a:t>
            </a:r>
            <a:endParaRPr lang="en-US" b="1" dirty="0"/>
          </a:p>
          <a:p>
            <a:pPr marL="0" indent="0">
              <a:buNone/>
            </a:pPr>
            <a:r>
              <a:rPr lang="en-US" b="1" dirty="0"/>
              <a:t>Objective Response Rate (ORR)</a:t>
            </a:r>
            <a:endParaRPr lang="en-US" dirty="0"/>
          </a:p>
          <a:p>
            <a:r>
              <a:rPr lang="en-US" dirty="0"/>
              <a:t>Complete response (CR) </a:t>
            </a:r>
            <a:endParaRPr lang="en-US" dirty="0"/>
          </a:p>
          <a:p>
            <a:r>
              <a:rPr lang="en-US" dirty="0"/>
              <a:t>Partial response (PR) </a:t>
            </a:r>
            <a:endParaRPr lang="en-US" dirty="0"/>
          </a:p>
          <a:p>
            <a:r>
              <a:rPr lang="en-US" dirty="0"/>
              <a:t>Measured according to RECIST criteria (for </a:t>
            </a:r>
            <a:r>
              <a:rPr lang="en-US" dirty="0" err="1"/>
              <a:t>mBCC</a:t>
            </a:r>
            <a:r>
              <a:rPr lang="en-US" dirty="0"/>
              <a:t>) and a composite assessment (for </a:t>
            </a:r>
            <a:r>
              <a:rPr lang="en-US" dirty="0" err="1"/>
              <a:t>laBCC</a:t>
            </a:r>
            <a:r>
              <a:rPr lang="en-US" dirty="0"/>
              <a:t>).</a:t>
            </a:r>
            <a:endParaRPr lang="en-US" dirty="0"/>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6032"/>
            <a:ext cx="10515600" cy="5920931"/>
          </a:xfrm>
        </p:spPr>
        <p:txBody>
          <a:bodyPr>
            <a:normAutofit lnSpcReduction="10000"/>
          </a:bodyPr>
          <a:lstStyle/>
          <a:p>
            <a:pPr>
              <a:buFont typeface="Wingdings" panose="05000000000000000000" pitchFamily="2" charset="2"/>
              <a:buChar char="Ø"/>
            </a:pPr>
            <a:r>
              <a:rPr lang="en-US" b="1" dirty="0"/>
              <a:t>Key results</a:t>
            </a:r>
            <a:endParaRPr lang="en-US" b="1" dirty="0"/>
          </a:p>
          <a:p>
            <a:pPr marL="0" indent="0">
              <a:buNone/>
            </a:pPr>
            <a:endParaRPr lang="en-US" dirty="0"/>
          </a:p>
          <a:p>
            <a:pPr marL="0" indent="0">
              <a:buNone/>
            </a:pPr>
            <a:endParaRPr lang="en-US" dirty="0"/>
          </a:p>
          <a:p>
            <a:pPr marL="0" indent="0">
              <a:buNone/>
            </a:pPr>
            <a:endParaRPr lang="en-US" dirty="0"/>
          </a:p>
          <a:p>
            <a:pPr>
              <a:buFont typeface="Wingdings" panose="05000000000000000000" pitchFamily="2" charset="2"/>
              <a:buChar char="Ø"/>
            </a:pPr>
            <a:r>
              <a:rPr lang="en-US" b="1" dirty="0"/>
              <a:t>Conclusion</a:t>
            </a:r>
            <a:endParaRPr lang="en-US" b="1" dirty="0"/>
          </a:p>
          <a:p>
            <a:r>
              <a:rPr lang="en-US" dirty="0" err="1"/>
              <a:t>Vismodegib</a:t>
            </a:r>
            <a:r>
              <a:rPr lang="en-US" dirty="0"/>
              <a:t> produced meaningful and durable responses in patients with advanced BCC and became the </a:t>
            </a:r>
            <a:r>
              <a:rPr lang="en-US" b="1" dirty="0"/>
              <a:t>first FDA-approved Hedgehog pathway inhibitor</a:t>
            </a:r>
            <a:r>
              <a:rPr lang="en-US" dirty="0"/>
              <a:t>.</a:t>
            </a:r>
            <a:endParaRPr lang="en-US" dirty="0"/>
          </a:p>
          <a:p>
            <a:pPr>
              <a:buFont typeface="Wingdings" panose="05000000000000000000" pitchFamily="2" charset="2"/>
              <a:buChar char="Ø"/>
            </a:pPr>
            <a:r>
              <a:rPr lang="en-US" b="1" dirty="0"/>
              <a:t>Limitations</a:t>
            </a:r>
            <a:endParaRPr lang="en-US" b="1" dirty="0"/>
          </a:p>
          <a:p>
            <a:r>
              <a:rPr lang="en-US" dirty="0"/>
              <a:t>No control group </a:t>
            </a:r>
            <a:endParaRPr lang="en-US" dirty="0"/>
          </a:p>
          <a:p>
            <a:r>
              <a:rPr lang="en-US" dirty="0"/>
              <a:t>Small sample size </a:t>
            </a:r>
            <a:endParaRPr lang="en-US" dirty="0"/>
          </a:p>
          <a:p>
            <a:r>
              <a:rPr lang="en-US" dirty="0"/>
              <a:t>Open-label design</a:t>
            </a:r>
            <a:endParaRPr lang="en-US" dirty="0"/>
          </a:p>
          <a:p>
            <a:r>
              <a:rPr lang="en-US" dirty="0"/>
              <a:t>Short follow up</a:t>
            </a:r>
            <a:endParaRPr lang="en-US" dirty="0"/>
          </a:p>
          <a:p>
            <a:endParaRPr lang="en-US" dirty="0"/>
          </a:p>
          <a:p>
            <a:endParaRPr lang="en-US" dirty="0"/>
          </a:p>
          <a:p>
            <a:pPr>
              <a:buFont typeface="Wingdings" panose="05000000000000000000" pitchFamily="2" charset="2"/>
              <a:buChar char="Ø"/>
            </a:pPr>
            <a:endParaRPr lang="en-US" dirty="0"/>
          </a:p>
        </p:txBody>
      </p:sp>
      <p:graphicFrame>
        <p:nvGraphicFramePr>
          <p:cNvPr id="4" name="Table 3"/>
          <p:cNvGraphicFramePr>
            <a:graphicFrameLocks noGrp="1"/>
          </p:cNvGraphicFramePr>
          <p:nvPr/>
        </p:nvGraphicFramePr>
        <p:xfrm>
          <a:off x="838200" y="756242"/>
          <a:ext cx="10372343" cy="1483360"/>
        </p:xfrm>
        <a:graphic>
          <a:graphicData uri="http://schemas.openxmlformats.org/drawingml/2006/table">
            <a:tbl>
              <a:tblPr firstRow="1" bandRow="1">
                <a:tableStyleId>{5C22544A-7EE6-4342-B048-85BDC9FD1C3A}</a:tableStyleId>
              </a:tblPr>
              <a:tblGrid>
                <a:gridCol w="4399641"/>
                <a:gridCol w="2986351"/>
                <a:gridCol w="2986351"/>
              </a:tblGrid>
              <a:tr h="370840">
                <a:tc>
                  <a:txBody>
                    <a:bodyPr/>
                    <a:lstStyle/>
                    <a:p>
                      <a:pPr>
                        <a:buNone/>
                      </a:pPr>
                      <a:r>
                        <a:rPr lang="en-US" dirty="0"/>
                        <a:t>Outcome</a:t>
                      </a:r>
                      <a:endParaRPr lang="en-US" dirty="0"/>
                    </a:p>
                  </a:txBody>
                  <a:tcPr anchor="ctr"/>
                </a:tc>
                <a:tc>
                  <a:txBody>
                    <a:bodyPr/>
                    <a:lstStyle/>
                    <a:p>
                      <a:r>
                        <a:rPr lang="en-US" dirty="0"/>
                        <a:t>Metastatic BCC</a:t>
                      </a:r>
                      <a:endParaRPr lang="en-US" dirty="0"/>
                    </a:p>
                  </a:txBody>
                  <a:tcPr/>
                </a:tc>
                <a:tc>
                  <a:txBody>
                    <a:bodyPr/>
                    <a:lstStyle/>
                    <a:p>
                      <a:r>
                        <a:rPr lang="en-US" dirty="0"/>
                        <a:t>Locally Advanced BCC</a:t>
                      </a:r>
                      <a:endParaRPr lang="en-US" dirty="0"/>
                    </a:p>
                  </a:txBody>
                  <a:tcPr/>
                </a:tc>
              </a:tr>
              <a:tr h="370840">
                <a:tc>
                  <a:txBody>
                    <a:bodyPr/>
                    <a:lstStyle/>
                    <a:p>
                      <a:r>
                        <a:rPr lang="en-US" dirty="0"/>
                        <a:t>Objective response</a:t>
                      </a:r>
                      <a:endParaRPr lang="en-US" dirty="0"/>
                    </a:p>
                  </a:txBody>
                  <a:tcPr/>
                </a:tc>
                <a:tc>
                  <a:txBody>
                    <a:bodyPr/>
                    <a:lstStyle/>
                    <a:p>
                      <a:r>
                        <a:rPr lang="en-US" dirty="0"/>
                        <a:t>30%</a:t>
                      </a:r>
                      <a:endParaRPr lang="en-US" dirty="0"/>
                    </a:p>
                  </a:txBody>
                  <a:tcPr/>
                </a:tc>
                <a:tc>
                  <a:txBody>
                    <a:bodyPr/>
                    <a:lstStyle/>
                    <a:p>
                      <a:r>
                        <a:rPr lang="en-US" dirty="0"/>
                        <a:t>43%</a:t>
                      </a:r>
                      <a:endParaRPr lang="en-US" dirty="0"/>
                    </a:p>
                  </a:txBody>
                  <a:tcPr/>
                </a:tc>
              </a:tr>
              <a:tr h="370840">
                <a:tc>
                  <a:txBody>
                    <a:bodyPr/>
                    <a:lstStyle/>
                    <a:p>
                      <a:r>
                        <a:rPr lang="en-US" dirty="0"/>
                        <a:t>Complete response</a:t>
                      </a:r>
                      <a:endParaRPr lang="en-US" dirty="0"/>
                    </a:p>
                  </a:txBody>
                  <a:tcPr/>
                </a:tc>
                <a:tc>
                  <a:txBody>
                    <a:bodyPr/>
                    <a:lstStyle/>
                    <a:p>
                      <a:r>
                        <a:rPr lang="en-US" dirty="0"/>
                        <a:t>Rare</a:t>
                      </a:r>
                      <a:endParaRPr lang="en-US" dirty="0"/>
                    </a:p>
                  </a:txBody>
                  <a:tcPr/>
                </a:tc>
                <a:tc>
                  <a:txBody>
                    <a:bodyPr/>
                    <a:lstStyle/>
                    <a:p>
                      <a:r>
                        <a:rPr lang="en-US" dirty="0"/>
                        <a:t>21%</a:t>
                      </a:r>
                      <a:endParaRPr lang="en-US" dirty="0"/>
                    </a:p>
                  </a:txBody>
                  <a:tcPr/>
                </a:tc>
              </a:tr>
              <a:tr h="370840">
                <a:tc>
                  <a:txBody>
                    <a:bodyPr/>
                    <a:lstStyle/>
                    <a:p>
                      <a:r>
                        <a:rPr lang="en-US" dirty="0"/>
                        <a:t>Median duration of response</a:t>
                      </a:r>
                      <a:endParaRPr lang="en-US" dirty="0"/>
                    </a:p>
                  </a:txBody>
                  <a:tcPr/>
                </a:tc>
                <a:tc>
                  <a:txBody>
                    <a:bodyPr/>
                    <a:lstStyle/>
                    <a:p>
                      <a:r>
                        <a:rPr lang="en-US" dirty="0"/>
                        <a:t>7.6 months</a:t>
                      </a:r>
                      <a:endParaRPr lang="en-US" dirty="0"/>
                    </a:p>
                  </a:txBody>
                  <a:tcPr/>
                </a:tc>
                <a:tc>
                  <a:txBody>
                    <a:bodyPr/>
                    <a:lstStyle/>
                    <a:p>
                      <a:r>
                        <a:rPr lang="en-US" dirty="0"/>
                        <a:t>7.6 months</a:t>
                      </a:r>
                      <a:endParaRPr lang="en-US" dirty="0"/>
                    </a:p>
                  </a:txBody>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BOLT Trial (</a:t>
            </a:r>
            <a:r>
              <a:rPr lang="en-US" b="1" dirty="0" err="1"/>
              <a:t>Sonidegib</a:t>
            </a:r>
            <a:r>
              <a:rPr lang="en-US" b="1" dirty="0"/>
              <a:t>)</a:t>
            </a:r>
            <a:endParaRPr lang="en-US" b="1" dirty="0"/>
          </a:p>
        </p:txBody>
      </p:sp>
      <p:pic>
        <p:nvPicPr>
          <p:cNvPr id="5" name="Content Placeholder 4"/>
          <p:cNvPicPr>
            <a:picLocks noGrp="1" noChangeAspect="1"/>
          </p:cNvPicPr>
          <p:nvPr>
            <p:ph idx="1"/>
          </p:nvPr>
        </p:nvPicPr>
        <p:blipFill>
          <a:blip r:embed="rId1"/>
          <a:stretch>
            <a:fillRect/>
          </a:stretch>
        </p:blipFill>
        <p:spPr>
          <a:xfrm>
            <a:off x="1883664" y="1825625"/>
            <a:ext cx="8321040" cy="4351338"/>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Article review</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a:t>Objective</a:t>
            </a:r>
            <a:endParaRPr lang="en-US" b="1" dirty="0"/>
          </a:p>
          <a:p>
            <a:r>
              <a:rPr lang="en-US" dirty="0"/>
              <a:t>To assess the </a:t>
            </a:r>
            <a:r>
              <a:rPr lang="en-US" b="1" dirty="0"/>
              <a:t>efficacy and safety of </a:t>
            </a:r>
            <a:r>
              <a:rPr lang="en-US" b="1" dirty="0" err="1"/>
              <a:t>sonidegib</a:t>
            </a:r>
            <a:r>
              <a:rPr lang="en-US" dirty="0"/>
              <a:t> in advanced BCC</a:t>
            </a:r>
            <a:endParaRPr lang="en-US" dirty="0"/>
          </a:p>
          <a:p>
            <a:pPr>
              <a:buFont typeface="Wingdings" panose="05000000000000000000" pitchFamily="2" charset="2"/>
              <a:buChar char="Ø"/>
            </a:pPr>
            <a:r>
              <a:rPr lang="en-US" b="1" dirty="0"/>
              <a:t>Study design</a:t>
            </a:r>
            <a:endParaRPr lang="en-US" b="1" dirty="0"/>
          </a:p>
          <a:p>
            <a:r>
              <a:rPr lang="en-US" dirty="0"/>
              <a:t>Phase II Randomized Double-blind </a:t>
            </a:r>
            <a:r>
              <a:rPr lang="en-US" dirty="0" err="1"/>
              <a:t>Multicenter</a:t>
            </a:r>
            <a:endParaRPr lang="en-US" dirty="0"/>
          </a:p>
          <a:p>
            <a:pPr>
              <a:buFont typeface="Wingdings" panose="05000000000000000000" pitchFamily="2" charset="2"/>
              <a:buChar char="Ø"/>
            </a:pPr>
            <a:r>
              <a:rPr lang="en-US" b="1" dirty="0"/>
              <a:t>Study population</a:t>
            </a:r>
            <a:endParaRPr lang="en-US" b="1" dirty="0"/>
          </a:p>
          <a:p>
            <a:r>
              <a:rPr lang="en-US" dirty="0"/>
              <a:t>230 patients</a:t>
            </a:r>
            <a:endParaRPr lang="en-US" dirty="0"/>
          </a:p>
          <a:p>
            <a:r>
              <a:rPr lang="en-US" dirty="0"/>
              <a:t>Locally advanced BCC </a:t>
            </a:r>
            <a:endParaRPr lang="en-US" dirty="0"/>
          </a:p>
          <a:p>
            <a:r>
              <a:rPr lang="en-US" dirty="0"/>
              <a:t>Metastatic BCC</a:t>
            </a:r>
            <a:endParaRPr lang="en-US" dirty="0"/>
          </a:p>
          <a:p>
            <a:endParaRPr lang="en-US" b="1"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914400"/>
            <a:ext cx="5181600" cy="5262563"/>
          </a:xfrm>
        </p:spPr>
        <p:txBody>
          <a:bodyPr>
            <a:normAutofit lnSpcReduction="10000"/>
          </a:bodyPr>
          <a:lstStyle/>
          <a:p>
            <a:pPr>
              <a:buFont typeface="Wingdings" panose="05000000000000000000" pitchFamily="2" charset="2"/>
              <a:buChar char="Ø"/>
            </a:pPr>
            <a:r>
              <a:rPr lang="en-US" b="1" dirty="0"/>
              <a:t>Treatment Arms</a:t>
            </a:r>
            <a:endParaRPr lang="en-US" b="1" dirty="0"/>
          </a:p>
          <a:p>
            <a:r>
              <a:rPr lang="en-US" dirty="0" err="1"/>
              <a:t>Sonidegib</a:t>
            </a:r>
            <a:r>
              <a:rPr lang="en-US" dirty="0"/>
              <a:t> </a:t>
            </a:r>
            <a:r>
              <a:rPr lang="en-US" b="1" dirty="0"/>
              <a:t>200 mg daily</a:t>
            </a:r>
            <a:r>
              <a:rPr lang="en-US" dirty="0"/>
              <a:t> </a:t>
            </a:r>
            <a:endParaRPr lang="en-US" dirty="0"/>
          </a:p>
          <a:p>
            <a:r>
              <a:rPr lang="en-US" dirty="0" err="1"/>
              <a:t>Sonidegib</a:t>
            </a:r>
            <a:r>
              <a:rPr lang="en-US" dirty="0"/>
              <a:t> </a:t>
            </a:r>
            <a:r>
              <a:rPr lang="en-US" b="1" dirty="0"/>
              <a:t>800 mg daily</a:t>
            </a:r>
            <a:r>
              <a:rPr lang="en-US" dirty="0"/>
              <a:t> </a:t>
            </a:r>
            <a:endParaRPr lang="en-US" dirty="0"/>
          </a:p>
          <a:p>
            <a:pPr>
              <a:buFont typeface="Wingdings" panose="05000000000000000000" pitchFamily="2" charset="2"/>
              <a:buChar char="Ø"/>
            </a:pPr>
            <a:r>
              <a:rPr lang="en-US" b="1" dirty="0"/>
              <a:t>Primary Endpoint</a:t>
            </a:r>
            <a:endParaRPr lang="en-US" b="1" dirty="0"/>
          </a:p>
          <a:p>
            <a:r>
              <a:rPr lang="en-US" dirty="0"/>
              <a:t>Objective Response Rate (ORR)</a:t>
            </a:r>
            <a:endParaRPr lang="en-US" dirty="0"/>
          </a:p>
          <a:p>
            <a:endParaRPr lang="en-US" dirty="0"/>
          </a:p>
        </p:txBody>
      </p:sp>
      <p:sp>
        <p:nvSpPr>
          <p:cNvPr id="4" name="Content Placeholder 3"/>
          <p:cNvSpPr>
            <a:spLocks noGrp="1"/>
          </p:cNvSpPr>
          <p:nvPr>
            <p:ph sz="half" idx="2"/>
          </p:nvPr>
        </p:nvSpPr>
        <p:spPr>
          <a:xfrm>
            <a:off x="6172200" y="914400"/>
            <a:ext cx="5181600" cy="5262563"/>
          </a:xfrm>
        </p:spPr>
        <p:txBody>
          <a:bodyPr>
            <a:normAutofit lnSpcReduction="10000"/>
          </a:bodyPr>
          <a:lstStyle/>
          <a:p>
            <a:pPr>
              <a:buFont typeface="Wingdings" panose="05000000000000000000" pitchFamily="2" charset="2"/>
              <a:buChar char="Ø"/>
            </a:pPr>
            <a:r>
              <a:rPr lang="en-US" b="1" dirty="0"/>
              <a:t>Key results</a:t>
            </a:r>
            <a:endParaRPr lang="en-US" b="1" dirty="0"/>
          </a:p>
          <a:p>
            <a:r>
              <a:rPr lang="en-US" dirty="0"/>
              <a:t>200 mg group</a:t>
            </a:r>
            <a:endParaRPr lang="en-US" b="1" dirty="0"/>
          </a:p>
          <a:p>
            <a:endParaRPr lang="en-US" b="1" dirty="0"/>
          </a:p>
          <a:p>
            <a:endParaRPr lang="en-US" b="1" dirty="0"/>
          </a:p>
          <a:p>
            <a:pPr>
              <a:buFont typeface="Wingdings" panose="05000000000000000000" pitchFamily="2" charset="2"/>
              <a:buChar char="Ø"/>
            </a:pPr>
            <a:r>
              <a:rPr lang="en-US" b="1" dirty="0"/>
              <a:t>Safety</a:t>
            </a:r>
            <a:endParaRPr lang="en-US" b="1" dirty="0"/>
          </a:p>
          <a:p>
            <a:r>
              <a:rPr lang="en-US" dirty="0"/>
              <a:t>The 200mg dose had</a:t>
            </a:r>
            <a:endParaRPr lang="en-US" dirty="0"/>
          </a:p>
          <a:p>
            <a:r>
              <a:rPr lang="en-US" dirty="0"/>
              <a:t>Similar efficacy </a:t>
            </a:r>
            <a:endParaRPr lang="en-US" dirty="0"/>
          </a:p>
          <a:p>
            <a:r>
              <a:rPr lang="en-US" dirty="0"/>
              <a:t>Significantly fewer adverse events </a:t>
            </a:r>
            <a:endParaRPr lang="en-US" dirty="0"/>
          </a:p>
          <a:p>
            <a:r>
              <a:rPr lang="en-US" dirty="0"/>
              <a:t>Therefore it became the </a:t>
            </a:r>
            <a:r>
              <a:rPr lang="en-US" b="1" dirty="0"/>
              <a:t>approved dose</a:t>
            </a:r>
            <a:r>
              <a:rPr lang="en-US" dirty="0"/>
              <a:t>.</a:t>
            </a:r>
            <a:endParaRPr lang="en-US" dirty="0"/>
          </a:p>
          <a:p>
            <a:endParaRPr lang="en-US" dirty="0"/>
          </a:p>
          <a:p>
            <a:endParaRPr lang="en-US" b="1" dirty="0"/>
          </a:p>
        </p:txBody>
      </p:sp>
      <p:graphicFrame>
        <p:nvGraphicFramePr>
          <p:cNvPr id="5" name="Table 4"/>
          <p:cNvGraphicFramePr>
            <a:graphicFrameLocks noGrp="1"/>
          </p:cNvGraphicFramePr>
          <p:nvPr/>
        </p:nvGraphicFramePr>
        <p:xfrm>
          <a:off x="6019800" y="1725506"/>
          <a:ext cx="6172200" cy="1112520"/>
        </p:xfrm>
        <a:graphic>
          <a:graphicData uri="http://schemas.openxmlformats.org/drawingml/2006/table">
            <a:tbl>
              <a:tblPr firstRow="1" bandRow="1">
                <a:tableStyleId>{5C22544A-7EE6-4342-B048-85BDC9FD1C3A}</a:tableStyleId>
              </a:tblPr>
              <a:tblGrid>
                <a:gridCol w="3086100"/>
                <a:gridCol w="3086100"/>
              </a:tblGrid>
              <a:tr h="370840">
                <a:tc>
                  <a:txBody>
                    <a:bodyPr/>
                    <a:lstStyle/>
                    <a:p>
                      <a:r>
                        <a:rPr lang="en-US" dirty="0"/>
                        <a:t>Disease</a:t>
                      </a:r>
                      <a:endParaRPr lang="en-US" dirty="0"/>
                    </a:p>
                  </a:txBody>
                  <a:tcPr/>
                </a:tc>
                <a:tc>
                  <a:txBody>
                    <a:bodyPr/>
                    <a:lstStyle/>
                    <a:p>
                      <a:r>
                        <a:rPr lang="en-US" dirty="0"/>
                        <a:t>ORR</a:t>
                      </a:r>
                      <a:endParaRPr lang="en-US" dirty="0"/>
                    </a:p>
                  </a:txBody>
                  <a:tcPr/>
                </a:tc>
              </a:tr>
              <a:tr h="370840">
                <a:tc>
                  <a:txBody>
                    <a:bodyPr/>
                    <a:lstStyle/>
                    <a:p>
                      <a:r>
                        <a:rPr lang="en-US" dirty="0"/>
                        <a:t>Locally advanced BCC</a:t>
                      </a:r>
                      <a:endParaRPr lang="en-US" dirty="0"/>
                    </a:p>
                  </a:txBody>
                  <a:tcPr/>
                </a:tc>
                <a:tc>
                  <a:txBody>
                    <a:bodyPr/>
                    <a:lstStyle/>
                    <a:p>
                      <a:r>
                        <a:rPr lang="en-US" dirty="0"/>
                        <a:t>56%</a:t>
                      </a:r>
                      <a:endParaRPr lang="en-US" dirty="0"/>
                    </a:p>
                  </a:txBody>
                  <a:tcPr/>
                </a:tc>
              </a:tr>
              <a:tr h="370840">
                <a:tc>
                  <a:txBody>
                    <a:bodyPr/>
                    <a:lstStyle/>
                    <a:p>
                      <a:r>
                        <a:rPr lang="en-US" dirty="0"/>
                        <a:t>Metastatic BCC</a:t>
                      </a:r>
                      <a:endParaRPr lang="en-US" dirty="0"/>
                    </a:p>
                  </a:txBody>
                  <a:tcPr/>
                </a:tc>
                <a:tc>
                  <a:txBody>
                    <a:bodyPr/>
                    <a:lstStyle/>
                    <a:p>
                      <a:r>
                        <a:rPr lang="en-US" dirty="0"/>
                        <a:t>8–17%</a:t>
                      </a:r>
                      <a:endParaRPr lang="en-US" dirty="0"/>
                    </a:p>
                  </a:txBody>
                  <a:tcPr/>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12393"/>
            <a:ext cx="10515600" cy="4351338"/>
          </a:xfrm>
        </p:spPr>
        <p:txBody>
          <a:bodyPr/>
          <a:lstStyle/>
          <a:p>
            <a:pPr>
              <a:buFont typeface="Wingdings" panose="05000000000000000000" pitchFamily="2" charset="2"/>
              <a:buChar char="Ø"/>
            </a:pPr>
            <a:r>
              <a:rPr lang="en-US" b="1" dirty="0"/>
              <a:t>Conclusion</a:t>
            </a:r>
            <a:endParaRPr lang="en-US" b="1" dirty="0"/>
          </a:p>
          <a:p>
            <a:r>
              <a:rPr lang="en-US" dirty="0" err="1"/>
              <a:t>Sonidegib</a:t>
            </a:r>
            <a:r>
              <a:rPr lang="en-US" dirty="0"/>
              <a:t> demonstrated durable responses in advanced BCC with a more </a:t>
            </a:r>
            <a:r>
              <a:rPr lang="en-US" dirty="0" err="1"/>
              <a:t>favorable</a:t>
            </a:r>
            <a:r>
              <a:rPr lang="en-US" dirty="0"/>
              <a:t> benefit–risk profile at </a:t>
            </a:r>
            <a:r>
              <a:rPr lang="en-US" b="1" dirty="0"/>
              <a:t>200 mg once daily</a:t>
            </a:r>
            <a:br>
              <a:rPr lang="en-US" dirty="0"/>
            </a:br>
            <a:endParaRPr lang="en-US" dirty="0"/>
          </a:p>
          <a:p>
            <a:pPr>
              <a:buFont typeface="Wingdings" panose="05000000000000000000" pitchFamily="2" charset="2"/>
              <a:buChar char="Ø"/>
            </a:pPr>
            <a:r>
              <a:rPr lang="en-US" b="1" dirty="0"/>
              <a:t>Limitations</a:t>
            </a:r>
            <a:endParaRPr lang="en-US" b="1" dirty="0"/>
          </a:p>
          <a:p>
            <a:r>
              <a:rPr lang="en-US" dirty="0"/>
              <a:t>Few metastatic BCC patients </a:t>
            </a:r>
            <a:endParaRPr lang="en-US" dirty="0"/>
          </a:p>
          <a:p>
            <a:r>
              <a:rPr lang="en-US" dirty="0"/>
              <a:t>No placebo or active comparator </a:t>
            </a:r>
            <a:endParaRPr lang="en-US" dirty="0"/>
          </a:p>
          <a:p>
            <a:r>
              <a:rPr lang="en-US" dirty="0"/>
              <a:t>Long-term resistance not fully evaluated </a:t>
            </a:r>
            <a:endParaRPr lang="en-US" dirty="0"/>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Immunotherapy</a:t>
            </a:r>
            <a:br>
              <a:rPr lang="en-US" b="1"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sz="3000" b="1" dirty="0" err="1">
                <a:latin typeface="Times New Roman" panose="02020603050405020304" pitchFamily="18" charset="0"/>
                <a:cs typeface="Times New Roman" panose="02020603050405020304" pitchFamily="18" charset="0"/>
              </a:rPr>
              <a:t>Cemiplimab</a:t>
            </a:r>
            <a:endParaRPr lang="en-US" sz="3000" b="1"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A PD-1 immune checkpoint inhibitor</a:t>
            </a:r>
            <a:endParaRPr lang="en-US" sz="3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Indications</a:t>
            </a:r>
            <a:endParaRPr lang="en-US" sz="3000" dirty="0">
              <a:latin typeface="Times New Roman" panose="02020603050405020304" pitchFamily="18" charset="0"/>
              <a:cs typeface="Times New Roman" panose="02020603050405020304" pitchFamily="18" charset="0"/>
            </a:endParaRPr>
          </a:p>
          <a:p>
            <a:pPr marL="0" indent="0">
              <a:buNone/>
            </a:pPr>
            <a:r>
              <a:rPr lang="en-US" sz="3000" dirty="0">
                <a:latin typeface="Times New Roman" panose="02020603050405020304" pitchFamily="18" charset="0"/>
                <a:cs typeface="Times New Roman" panose="02020603050405020304" pitchFamily="18" charset="0"/>
              </a:rPr>
              <a:t>Patients with:</a:t>
            </a:r>
            <a:endParaRPr lang="en-US" sz="30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Progression on Hedgehog inhibitors </a:t>
            </a:r>
            <a:endParaRPr lang="en-US" sz="30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Intolerance to Hedgehog inhibitors </a:t>
            </a:r>
            <a:endParaRPr lang="en-US" sz="3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Benefits</a:t>
            </a:r>
            <a:endParaRPr lang="en-US" sz="30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Durable responses </a:t>
            </a:r>
            <a:endParaRPr lang="en-US" sz="30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Improved disease control in advanced BCC</a:t>
            </a:r>
            <a:endParaRPr lang="en-US" sz="3000"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Follow-Up and Surveillance</a:t>
            </a:r>
            <a:br>
              <a:rPr lang="en-US" b="1" dirty="0"/>
            </a:br>
            <a:endParaRPr lang="en-US"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Low-Risk BCC</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Clinical examination every 6–12 months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High-Risk BCC</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Every 6–12 months for the first 5 years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Annually thereafter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Patients should be educated regarding: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Monthly self-skin examination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Sun protection measures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Early recognition of recurrence</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Prognosis</a:t>
            </a:r>
            <a:endParaRPr lang="en-US" b="1" dirty="0"/>
          </a:p>
        </p:txBody>
      </p:sp>
      <p:sp>
        <p:nvSpPr>
          <p:cNvPr id="3" name="Content Placeholder 2"/>
          <p:cNvSpPr>
            <a:spLocks noGrp="1"/>
          </p:cNvSpPr>
          <p:nvPr>
            <p:ph idx="1"/>
          </p:nvPr>
        </p:nvSpPr>
        <p:spPr/>
        <p:txBody>
          <a:bodyPr/>
          <a:lstStyle/>
          <a:p>
            <a:r>
              <a:rPr lang="en-US" dirty="0"/>
              <a:t>Overall, the prognosis for BCC is excellent.</a:t>
            </a:r>
            <a:r>
              <a:rPr lang="en-US" baseline="30000" dirty="0"/>
              <a:t> </a:t>
            </a:r>
            <a:r>
              <a:rPr lang="en-US" dirty="0"/>
              <a:t>Most cases can be treated and cured with surgical resection of the lesion.</a:t>
            </a:r>
            <a:r>
              <a:rPr lang="en-US" baseline="30000" dirty="0"/>
              <a:t> </a:t>
            </a:r>
            <a:r>
              <a:rPr lang="en-US" dirty="0"/>
              <a:t>The risk of death from BCC is highest in patients who are immunocompromised and in older adults.</a:t>
            </a:r>
            <a:r>
              <a:rPr lang="en-US" baseline="30000" dirty="0"/>
              <a:t> </a:t>
            </a:r>
            <a:endParaRPr lang="en-US" baseline="30000" dirty="0"/>
          </a:p>
          <a:p>
            <a:r>
              <a:rPr lang="en-US" dirty="0"/>
              <a:t>Basal cell carcinoma has low potential to metastasize; however, when it does spread, it is associated with poor outcomes.</a:t>
            </a:r>
            <a:r>
              <a:rPr lang="en-US" baseline="30000" dirty="0"/>
              <a:t> </a:t>
            </a:r>
            <a:r>
              <a:rPr lang="en-US" dirty="0"/>
              <a:t>The estimated median overall survival of a patient with BCC ranges from 8 months to 7.3 years</a:t>
            </a:r>
            <a:endParaRPr lang="en-US" dirty="0"/>
          </a:p>
          <a:p>
            <a:endParaRPr lang="en-US" dirty="0"/>
          </a:p>
        </p:txBody>
      </p:sp>
      <p:sp>
        <p:nvSpPr>
          <p:cNvPr id="4" name="TextBox 3"/>
          <p:cNvSpPr txBox="1"/>
          <p:nvPr/>
        </p:nvSpPr>
        <p:spPr>
          <a:xfrm>
            <a:off x="1316736" y="5266944"/>
            <a:ext cx="9400032" cy="923330"/>
          </a:xfrm>
          <a:prstGeom prst="rect">
            <a:avLst/>
          </a:prstGeom>
          <a:noFill/>
        </p:spPr>
        <p:txBody>
          <a:bodyPr wrap="square" rtlCol="0">
            <a:spAutoFit/>
          </a:bodyPr>
          <a:lstStyle/>
          <a:p>
            <a:r>
              <a:rPr lang="en-US"/>
              <a:t>Key statistics for basal and squamous cell skin cancers. American Cancer Society. Updated October 31, 2023. Accessed May 8, 2024. </a:t>
            </a:r>
            <a:r>
              <a:rPr lang="en-US">
                <a:hlinkClick r:id="rId1"/>
              </a:rPr>
              <a:t>https://www.cancer.org/cancer/types/basal-and-squamous-cell-skin-cancer/about/key-statistics.html</a:t>
            </a:r>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Squamous cell carcinoma (SCC)</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SCC - second most common skin cancer, in immunocompetent after basal cell carcinoma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most common skin cancer - in immunosuppressed organ transplantation recipients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Majority of SCC - present with early-stage disease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Prognosis - excellent in the majority of cases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Risk of developing metastasis from SCC is </a:t>
            </a:r>
            <a:r>
              <a:rPr lang="en-US" i="1" dirty="0">
                <a:latin typeface="Times New Roman" panose="02020603050405020304" pitchFamily="18" charset="0"/>
                <a:cs typeface="Times New Roman" panose="02020603050405020304" pitchFamily="18" charset="0"/>
              </a:rPr>
              <a:t>generally</a:t>
            </a:r>
            <a:r>
              <a:rPr lang="en-US" dirty="0">
                <a:latin typeface="Times New Roman" panose="02020603050405020304" pitchFamily="18" charset="0"/>
                <a:cs typeface="Times New Roman" panose="02020603050405020304" pitchFamily="18" charset="0"/>
              </a:rPr>
              <a:t> low</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Etiology and risk factors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SCC usually develops in damaged skin, though it can also occur </a:t>
            </a:r>
            <a:r>
              <a:rPr lang="en-US" i="1" dirty="0">
                <a:latin typeface="Times New Roman" panose="02020603050405020304" pitchFamily="18" charset="0"/>
                <a:cs typeface="Times New Roman" panose="02020603050405020304" pitchFamily="18" charset="0"/>
              </a:rPr>
              <a:t>de novo</a:t>
            </a:r>
            <a:r>
              <a:rPr lang="en-US" dirty="0">
                <a:latin typeface="Times New Roman" panose="02020603050405020304" pitchFamily="18" charset="0"/>
                <a:cs typeface="Times New Roman" panose="02020603050405020304" pitchFamily="18" charset="0"/>
              </a:rPr>
              <a:t>. Several factors have been implicated in pathogenesis of SCC</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b="1" i="1" dirty="0">
                <a:latin typeface="Times New Roman" panose="02020603050405020304" pitchFamily="18" charset="0"/>
                <a:cs typeface="Times New Roman" panose="02020603050405020304" pitchFamily="18" charset="0"/>
              </a:rPr>
              <a:t>Damaged skin</a:t>
            </a:r>
            <a:endParaRPr lang="en-US" b="1"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i="1" dirty="0">
                <a:latin typeface="Times New Roman" panose="02020603050405020304" pitchFamily="18" charset="0"/>
                <a:cs typeface="Times New Roman" panose="02020603050405020304" pitchFamily="18" charset="0"/>
              </a:rPr>
              <a:t>In Whites: </a:t>
            </a:r>
            <a:r>
              <a:rPr lang="en-US" dirty="0">
                <a:latin typeface="Times New Roman" panose="02020603050405020304" pitchFamily="18" charset="0"/>
                <a:cs typeface="Times New Roman" panose="02020603050405020304" pitchFamily="18" charset="0"/>
              </a:rPr>
              <a:t>Most frequent cause of skin damage is actinic damage due to prolonged, cumulative exposure to sunlight (manifesting as actinic keratoses).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5979"/>
            <a:ext cx="10515600" cy="4351338"/>
          </a:xfrm>
        </p:spPr>
        <p:txBody>
          <a:bodyPr>
            <a:normAutofit/>
          </a:bodyPr>
          <a:lstStyle/>
          <a:p>
            <a:pPr>
              <a:buFont typeface="Wingdings" panose="05000000000000000000" pitchFamily="2" charset="2"/>
              <a:buChar char="Ø"/>
            </a:pPr>
            <a:r>
              <a:rPr lang="en-US" b="1" i="1" dirty="0"/>
              <a:t>In non-Whites: </a:t>
            </a:r>
            <a:r>
              <a:rPr lang="en-US" dirty="0"/>
              <a:t>SCC occurs at sites of chronic inflammation and irritation due to:</a:t>
            </a:r>
            <a:endParaRPr lang="en-US" dirty="0"/>
          </a:p>
          <a:p>
            <a:r>
              <a:rPr lang="en-US" dirty="0"/>
              <a:t> </a:t>
            </a:r>
            <a:r>
              <a:rPr lang="en-US" i="1" dirty="0"/>
              <a:t>Scars</a:t>
            </a:r>
            <a:r>
              <a:rPr lang="en-US" dirty="0"/>
              <a:t>: burns</a:t>
            </a:r>
            <a:endParaRPr lang="en-US" dirty="0"/>
          </a:p>
          <a:p>
            <a:r>
              <a:rPr lang="en-US" dirty="0"/>
              <a:t> </a:t>
            </a:r>
            <a:r>
              <a:rPr lang="en-US" i="1" dirty="0"/>
              <a:t>Dermatitis</a:t>
            </a:r>
            <a:r>
              <a:rPr lang="en-US" dirty="0"/>
              <a:t>: radiodermatitis, erythema </a:t>
            </a:r>
            <a:r>
              <a:rPr lang="en-US" dirty="0" err="1"/>
              <a:t>abigne</a:t>
            </a:r>
            <a:r>
              <a:rPr lang="en-US" dirty="0"/>
              <a:t>, friction dermatitis.</a:t>
            </a:r>
            <a:endParaRPr lang="en-US" dirty="0"/>
          </a:p>
          <a:p>
            <a:r>
              <a:rPr lang="en-US" dirty="0"/>
              <a:t> </a:t>
            </a:r>
            <a:r>
              <a:rPr lang="en-US" i="1" dirty="0"/>
              <a:t>Nonhealing ulcers</a:t>
            </a:r>
            <a:r>
              <a:rPr lang="en-US" dirty="0"/>
              <a:t>: stasis ulcer.</a:t>
            </a:r>
            <a:endParaRPr lang="en-US" dirty="0"/>
          </a:p>
          <a:p>
            <a:r>
              <a:rPr lang="en-US" dirty="0"/>
              <a:t> </a:t>
            </a:r>
            <a:r>
              <a:rPr lang="en-US" i="1" dirty="0"/>
              <a:t>Chronic granulomas</a:t>
            </a:r>
            <a:r>
              <a:rPr lang="en-US" dirty="0"/>
              <a:t>: lupus vulgaris and granuloma inguinale</a:t>
            </a:r>
            <a:endParaRPr lang="en-US" dirty="0"/>
          </a:p>
          <a:p>
            <a:r>
              <a:rPr lang="en-US" dirty="0"/>
              <a:t> </a:t>
            </a:r>
            <a:r>
              <a:rPr lang="en-US" i="1" dirty="0"/>
              <a:t>Leukoplakia</a:t>
            </a:r>
            <a:r>
              <a:rPr lang="en-US" dirty="0"/>
              <a:t>: in oral mucosa</a:t>
            </a:r>
            <a:endParaRPr lang="en-US" dirty="0"/>
          </a:p>
          <a:p>
            <a:r>
              <a:rPr lang="en-US" dirty="0"/>
              <a:t> </a:t>
            </a:r>
            <a:r>
              <a:rPr lang="en-US" i="1" dirty="0" err="1"/>
              <a:t>Erythroplasia</a:t>
            </a:r>
            <a:r>
              <a:rPr lang="en-US" i="1" dirty="0"/>
              <a:t> of </a:t>
            </a:r>
            <a:r>
              <a:rPr lang="en-US" i="1" dirty="0" err="1"/>
              <a:t>Queyrat</a:t>
            </a:r>
            <a:r>
              <a:rPr lang="en-US" i="1" dirty="0"/>
              <a:t>: </a:t>
            </a:r>
            <a:r>
              <a:rPr lang="en-US" dirty="0"/>
              <a:t>on genital mucosa</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00967"/>
            <a:ext cx="10515600" cy="4351338"/>
          </a:xfrm>
        </p:spPr>
        <p:txBody>
          <a:bodyPr>
            <a:normAutofit/>
          </a:bodyPr>
          <a:lstStyle/>
          <a:p>
            <a:pPr>
              <a:buFont typeface="Wingdings" panose="05000000000000000000" pitchFamily="2" charset="2"/>
              <a:buChar char="v"/>
            </a:pPr>
            <a:r>
              <a:rPr lang="en-US" i="1" dirty="0"/>
              <a:t>Carcinogens</a:t>
            </a:r>
            <a:endParaRPr lang="en-US" i="1" dirty="0"/>
          </a:p>
          <a:p>
            <a:r>
              <a:rPr lang="en-US" dirty="0"/>
              <a:t>Pitch tar, mineral oils, and inorganic arsenic are established carcinogens.</a:t>
            </a:r>
            <a:endParaRPr lang="en-US" dirty="0"/>
          </a:p>
          <a:p>
            <a:pPr>
              <a:buFont typeface="Wingdings" panose="05000000000000000000" pitchFamily="2" charset="2"/>
              <a:buChar char="v"/>
            </a:pPr>
            <a:r>
              <a:rPr lang="en-US" i="1" dirty="0"/>
              <a:t>Genetic disorders</a:t>
            </a:r>
            <a:endParaRPr lang="en-US" i="1" dirty="0"/>
          </a:p>
          <a:p>
            <a:r>
              <a:rPr lang="en-US" dirty="0"/>
              <a:t>Certain rare genetic disorders, with defective DNA repair mechanisms, such as </a:t>
            </a:r>
            <a:r>
              <a:rPr lang="en-US" b="1" dirty="0"/>
              <a:t>xeroderma pigmentosum</a:t>
            </a:r>
            <a:endParaRPr lang="en-US" b="1" dirty="0"/>
          </a:p>
          <a:p>
            <a:pPr>
              <a:buFont typeface="Wingdings" panose="05000000000000000000" pitchFamily="2" charset="2"/>
              <a:buChar char="v"/>
            </a:pPr>
            <a:r>
              <a:rPr lang="en-US" i="1" dirty="0"/>
              <a:t>Infections</a:t>
            </a:r>
            <a:endParaRPr lang="en-US" i="1" dirty="0"/>
          </a:p>
          <a:p>
            <a:r>
              <a:rPr lang="en-US" dirty="0"/>
              <a:t> </a:t>
            </a:r>
            <a:r>
              <a:rPr lang="en-US" b="1" i="1" dirty="0"/>
              <a:t>Human papilloma virus (HPV)</a:t>
            </a:r>
            <a:endParaRPr lang="en-US" b="1" i="1" dirty="0"/>
          </a:p>
          <a:p>
            <a:r>
              <a:rPr lang="en-US" b="1" i="1" dirty="0"/>
              <a:t>Infectious granulomas: </a:t>
            </a:r>
            <a:r>
              <a:rPr lang="en-US" dirty="0"/>
              <a:t>Like lupus vulgaris and granuloma inguinale</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Clinical presentations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Cutaneous squamous cell carcinoma (cSCC) can develop on any surface of the skin, but sun-exposed sites are the most common locations in individuals with lightly pigmented skin.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Involvement of other areas, in particular the lower legs and anogenital region, is more in people with darky pigmented skin</a:t>
            </a:r>
            <a:endParaRPr lang="en-US" dirty="0">
              <a:latin typeface="Times New Roman" panose="02020603050405020304" pitchFamily="18" charset="0"/>
              <a:cs typeface="Times New Roman" panose="02020603050405020304" pitchFamily="18" charset="0"/>
            </a:endParaRPr>
          </a:p>
          <a:p>
            <a:r>
              <a:rPr lang="en-US" dirty="0"/>
              <a:t>Cutaneous squamous cell carcinoma is typically characterized by a scaly, erythematous, or hyperpigmented papule or plaque.</a:t>
            </a:r>
            <a:endParaRPr lang="en-US" dirty="0"/>
          </a:p>
          <a:p>
            <a:r>
              <a:rPr lang="en-US" dirty="0"/>
              <a:t>Some cases may exhibit ulceration, fungating features, or pain</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1"/>
          <a:stretch>
            <a:fillRect/>
          </a:stretch>
        </p:blipFill>
        <p:spPr>
          <a:xfrm>
            <a:off x="1584551" y="1783827"/>
            <a:ext cx="4016188" cy="4676932"/>
          </a:xfrm>
          <a:prstGeom prst="rect">
            <a:avLst/>
          </a:prstGeom>
        </p:spPr>
      </p:pic>
      <p:pic>
        <p:nvPicPr>
          <p:cNvPr id="5" name="Content Placeholder 3"/>
          <p:cNvPicPr>
            <a:picLocks noGrp="1" noChangeAspect="1"/>
          </p:cNvPicPr>
          <p:nvPr/>
        </p:nvPicPr>
        <p:blipFill>
          <a:blip r:embed="rId2"/>
          <a:stretch>
            <a:fillRect/>
          </a:stretch>
        </p:blipFill>
        <p:spPr>
          <a:xfrm flipH="1">
            <a:off x="6896655" y="1783827"/>
            <a:ext cx="4016188" cy="4676932"/>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Metastases</a:t>
            </a:r>
            <a:br>
              <a:rPr lang="en-US" b="1" i="1"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p:txBody>
          <a:bodyPr>
            <a:normAutofit/>
          </a:bodyPr>
          <a:lstStyle/>
          <a:p>
            <a:r>
              <a:rPr lang="en-US" b="1" i="1" dirty="0">
                <a:latin typeface="Times New Roman" panose="02020603050405020304" pitchFamily="18" charset="0"/>
                <a:cs typeface="Times New Roman" panose="02020603050405020304" pitchFamily="18" charset="0"/>
              </a:rPr>
              <a:t>Lymphadenopathy: </a:t>
            </a:r>
            <a:r>
              <a:rPr lang="en-US" dirty="0">
                <a:latin typeface="Times New Roman" panose="02020603050405020304" pitchFamily="18" charset="0"/>
                <a:cs typeface="Times New Roman" panose="02020603050405020304" pitchFamily="18" charset="0"/>
              </a:rPr>
              <a:t>Regional lymphadenopathy. Nodes hard and sometimes fixed to underlying structures and tethered to skin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Visceral metastases: </a:t>
            </a:r>
            <a:r>
              <a:rPr lang="en-US" dirty="0">
                <a:latin typeface="Times New Roman" panose="02020603050405020304" pitchFamily="18" charset="0"/>
                <a:cs typeface="Times New Roman" panose="02020603050405020304" pitchFamily="18" charset="0"/>
              </a:rPr>
              <a:t>Infrequent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b="1" i="1" dirty="0">
                <a:latin typeface="Times New Roman" panose="02020603050405020304" pitchFamily="18" charset="0"/>
                <a:cs typeface="Times New Roman" panose="02020603050405020304" pitchFamily="18" charset="0"/>
              </a:rPr>
              <a:t>Course</a:t>
            </a:r>
            <a:endParaRPr lang="en-US" b="1"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SCC arising in actinic keratoses seldom metastasizes.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SCC arising in scars, radiation dermatitis, and mucosae often metastasizes to regional lymph nodes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Diagnosis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skin biopsy is necessary to confirm the diagnosis of cutaneous squamous cell carcinoma</a:t>
            </a:r>
            <a:endParaRPr lang="en-US" dirty="0">
              <a:latin typeface="Times New Roman" panose="02020603050405020304" pitchFamily="18" charset="0"/>
              <a:cs typeface="Times New Roman" panose="02020603050405020304" pitchFamily="18" charset="0"/>
            </a:endParaRPr>
          </a:p>
          <a:p>
            <a:pPr marL="0" indent="0" algn="ctr">
              <a:buNone/>
            </a:pPr>
            <a:r>
              <a:rPr lang="en-US" sz="3600" b="1" dirty="0">
                <a:latin typeface="Times New Roman" panose="02020603050405020304" pitchFamily="18" charset="0"/>
                <a:cs typeface="Times New Roman" panose="02020603050405020304" pitchFamily="18" charset="0"/>
              </a:rPr>
              <a:t>Methods</a:t>
            </a:r>
            <a:endParaRPr lang="en-US" sz="3600"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Punch biopsy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Incisional biopsy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Excisional biopsy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Shave biopsy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TREATMENT</a:t>
            </a:r>
            <a:br>
              <a:rPr lang="en-US" b="1" i="1"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Aim of treatment is to ensure complete removal/destruction of the primary tumor and to prevent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metastases.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Surgery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Indications</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Surgical excision of tumor is the treatment of choice.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Margin of excision: </a:t>
            </a:r>
            <a:r>
              <a:rPr lang="en-US" i="1" dirty="0">
                <a:latin typeface="Times New Roman" panose="02020603050405020304" pitchFamily="18" charset="0"/>
                <a:cs typeface="Times New Roman" panose="02020603050405020304" pitchFamily="18" charset="0"/>
              </a:rPr>
              <a:t>Lesion &lt;2 cm diameter: </a:t>
            </a:r>
            <a:r>
              <a:rPr lang="en-US" dirty="0">
                <a:latin typeface="Times New Roman" panose="02020603050405020304" pitchFamily="18" charset="0"/>
                <a:cs typeface="Times New Roman" panose="02020603050405020304" pitchFamily="18" charset="0"/>
              </a:rPr>
              <a:t>0.5 cm margin of normal skin all around.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Larger lesions: </a:t>
            </a:r>
            <a:r>
              <a:rPr lang="en-US" dirty="0">
                <a:latin typeface="Times New Roman" panose="02020603050405020304" pitchFamily="18" charset="0"/>
                <a:cs typeface="Times New Roman" panose="02020603050405020304" pitchFamily="18" charset="0"/>
              </a:rPr>
              <a:t>larger margin.</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Radiotherapy</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Though radiotherapy is effective, it is generally reserved for frail elderly patients.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OTHER THERAPIES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Topical therapeutic treatments- e.g. imiquimod, topical or intralesional 5-fluoruracil, cryotherapy &amp; PDT – Lack of evidence for the efficacy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Radiation therapy - patient preference and other factors, e.g. problematic locations for surgery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Limited data on the efficacy of chemotherapy for </a:t>
            </a:r>
            <a:r>
              <a:rPr lang="en-US" i="1" dirty="0">
                <a:latin typeface="Times New Roman" panose="02020603050405020304" pitchFamily="18" charset="0"/>
                <a:cs typeface="Times New Roman" panose="02020603050405020304" pitchFamily="18" charset="0"/>
              </a:rPr>
              <a:t>metastatic</a:t>
            </a:r>
            <a:r>
              <a:rPr lang="en-US" dirty="0">
                <a:latin typeface="Times New Roman" panose="02020603050405020304" pitchFamily="18" charset="0"/>
                <a:cs typeface="Times New Roman" panose="02020603050405020304" pitchFamily="18" charset="0"/>
              </a:rPr>
              <a:t> SCC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Standard options in metastatic or unresectable disease – systemic platinum-based chemotherapeutic regimens, 5- fluorouracil/capecitabine, or monotherapy/chemotherapy with methotrexate</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PROGNOSIS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Majority of SCCs- low risk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If early stage- result in a high cure rate with excellent prognosis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Prognosis for locally advanced SCC at the time of diagnosis &amp; patients with progressive disease after first-line surgical therapy - usually poor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poorer outcome of immunosuppressed patients with advanced disease</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MALIGNANT MELANOMA (MM)</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Definition</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Malignant melanoma is a malignant neoplasm of melanocytes, most</a:t>
            </a:r>
            <a:r>
              <a:rPr lang="en-US" dirty="0">
                <a:latin typeface="Times New Roman" panose="02020603050405020304" pitchFamily="18" charset="0"/>
                <a:cs typeface="Times New Roman" panose="02020603050405020304" pitchFamily="18" charset="0"/>
              </a:rPr>
              <a:t> co</a:t>
            </a:r>
            <a:r>
              <a:rPr lang="en-US" dirty="0">
                <a:latin typeface="Times New Roman" panose="02020603050405020304" pitchFamily="18" charset="0"/>
                <a:cs typeface="Times New Roman" panose="02020603050405020304" pitchFamily="18" charset="0"/>
              </a:rPr>
              <a:t>mmonly cutaneous but also arising in uveal, mucosal, and other sites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a:t>Although it accounts for a minority of skin cancers, it causes the majority of skin cancer-related deaths because of its high metastatic potential.</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latin typeface="Times New Roman" panose="02020603050405020304" pitchFamily="18" charset="0"/>
                <a:cs typeface="Times New Roman" panose="02020603050405020304" pitchFamily="18" charset="0"/>
              </a:rPr>
              <a:t>Epidermiology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Global Burden</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According to the latest Global Cancer Observatory (GLOBOCAN 2022) estimates: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Approximately </a:t>
            </a:r>
            <a:r>
              <a:rPr lang="en-US" b="1" dirty="0">
                <a:latin typeface="Times New Roman" panose="02020603050405020304" pitchFamily="18" charset="0"/>
                <a:cs typeface="Times New Roman" panose="02020603050405020304" pitchFamily="18" charset="0"/>
              </a:rPr>
              <a:t>331,722 new melanoma cases</a:t>
            </a:r>
            <a:r>
              <a:rPr lang="en-US" dirty="0">
                <a:latin typeface="Times New Roman" panose="02020603050405020304" pitchFamily="18" charset="0"/>
                <a:cs typeface="Times New Roman" panose="02020603050405020304" pitchFamily="18" charset="0"/>
              </a:rPr>
              <a:t> were diagnosed globally in 2022.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Approximately </a:t>
            </a:r>
            <a:r>
              <a:rPr lang="en-US" b="1" dirty="0">
                <a:latin typeface="Times New Roman" panose="02020603050405020304" pitchFamily="18" charset="0"/>
                <a:cs typeface="Times New Roman" panose="02020603050405020304" pitchFamily="18" charset="0"/>
              </a:rPr>
              <a:t>58,667 deaths</a:t>
            </a:r>
            <a:r>
              <a:rPr lang="en-US" dirty="0">
                <a:latin typeface="Times New Roman" panose="02020603050405020304" pitchFamily="18" charset="0"/>
                <a:cs typeface="Times New Roman" panose="02020603050405020304" pitchFamily="18" charset="0"/>
              </a:rPr>
              <a:t> occurred worldwide.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Melanoma ranks as the </a:t>
            </a:r>
            <a:r>
              <a:rPr lang="en-US" b="1" dirty="0">
                <a:latin typeface="Times New Roman" panose="02020603050405020304" pitchFamily="18" charset="0"/>
                <a:cs typeface="Times New Roman" panose="02020603050405020304" pitchFamily="18" charset="0"/>
              </a:rPr>
              <a:t>17th most common cancer globally</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age-standardized incidence rate (ASIR) is approximately </a:t>
            </a:r>
            <a:r>
              <a:rPr lang="en-US" b="1" dirty="0">
                <a:latin typeface="Times New Roman" panose="02020603050405020304" pitchFamily="18" charset="0"/>
                <a:cs typeface="Times New Roman" panose="02020603050405020304" pitchFamily="18" charset="0"/>
              </a:rPr>
              <a:t>3.2 per 100,000 population</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TextBox 3"/>
          <p:cNvSpPr txBox="1"/>
          <p:nvPr/>
        </p:nvSpPr>
        <p:spPr>
          <a:xfrm>
            <a:off x="1199213" y="6176963"/>
            <a:ext cx="9773587" cy="373739"/>
          </a:xfrm>
          <a:prstGeom prst="rect">
            <a:avLst/>
          </a:prstGeom>
          <a:noFill/>
          <a:ln>
            <a:solidFill>
              <a:srgbClr val="FF0000"/>
            </a:solidFill>
          </a:ln>
        </p:spPr>
        <p:txBody>
          <a:bodyPr wrap="square" rtlCol="0">
            <a:spAutoFit/>
          </a:bodyPr>
          <a:lstStyle/>
          <a:p>
            <a:r>
              <a:rPr lang="en-US"/>
              <a:t>International Agency for Research on Cancer. Global Cancer Observatory (GLOBOCAN 2022).</a:t>
            </a: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a:t>
            </a:r>
            <a:r>
              <a:rPr lang="en-US" dirty="0"/>
              <a:t>…</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Africa</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Africa has among the lowest melanoma incidence rates worldwide.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Reasons include: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Higher skin phototypes (Fitzpatrick V–VI)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Increased epidermal melanin protection against UV-induced DNA damage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Lower prevalence of intermittent intense UV exposure patterns associated with melanoma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Most African regions report: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Incidence rates below 1 per 100,000 population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Mortality rates below 0.5 per 100,000 population</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Risk factors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normAutofit fontScale="92500" lnSpcReduction="20000"/>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UV radiation exposure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History of severe sunburns (particularly blistering sunburns)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Excessive recreational sun exposure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 of tanning bed</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Phenotypic (host) factors- light skin pigmentation, red or blond hair, blue or green eyes and freckling tendency which reflect skin sensitivity to sun light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Personal and family history of melanoma</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Content Placeholder 3"/>
          <p:cNvSpPr>
            <a:spLocks noGrp="1"/>
          </p:cNvSpPr>
          <p:nvPr>
            <p:ph sz="half" idx="2"/>
          </p:nvPr>
        </p:nvSpPr>
        <p:spPr/>
        <p:txBody>
          <a:bodyPr>
            <a:normAutofit fontScale="92500" lnSpcReduction="20000"/>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Melanocytic Nevi (mole) &gt;(50-100)</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Immunosuppression-HIV, lymphoma and organ transplant recipients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Environmental and occupational factors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Chronic exposure to UV radiation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Living in areas with high sunlight intensity such as Australia and New Zealand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Genetic disorders such as Xeroderma pigmentosa</a:t>
            </a:r>
            <a:endParaRPr lang="en-US" dirty="0">
              <a:latin typeface="Times New Roman" panose="02020603050405020304" pitchFamily="18" charset="0"/>
              <a:cs typeface="Times New Roman" panose="02020603050405020304" pitchFamily="18" charset="0"/>
            </a:endParaRPr>
          </a:p>
          <a:p>
            <a:endParaRPr lang="en-US" dirty="0"/>
          </a:p>
          <a:p>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Clinical features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A variety of clinical variants described: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Lentigo maligna melanoma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Superficial spreading melanoma(SSM)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Acral lentiginous melanoma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Nodular malignant melanoma (NMM)</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SSM is the most frequent while NMM is the most aggressive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Lentigo maligna melanoma</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lstStyle/>
          <a:p>
            <a:r>
              <a:rPr lang="en-US" dirty="0">
                <a:latin typeface="Times New Roman" panose="02020603050405020304" pitchFamily="18" charset="0"/>
                <a:cs typeface="Times New Roman" panose="02020603050405020304" pitchFamily="18" charset="0"/>
              </a:rPr>
              <a:t>Most frequently seen in elderly.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Infiltrated nodule develops in a pre-existing irregularly pigmented (brown to black) macule </a:t>
            </a:r>
            <a:r>
              <a:rPr lang="en-US" b="1" dirty="0">
                <a:latin typeface="Times New Roman" panose="02020603050405020304" pitchFamily="18" charset="0"/>
                <a:cs typeface="Times New Roman" panose="02020603050405020304" pitchFamily="18" charset="0"/>
              </a:rPr>
              <a:t>(lentigo maligna), </a:t>
            </a:r>
            <a:r>
              <a:rPr lang="en-US" dirty="0">
                <a:latin typeface="Times New Roman" panose="02020603050405020304" pitchFamily="18" charset="0"/>
                <a:cs typeface="Times New Roman" panose="02020603050405020304" pitchFamily="18" charset="0"/>
              </a:rPr>
              <a:t>which has been present for several years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Seen on photo-exposed parts (face and neck)</a:t>
            </a:r>
            <a:endParaRPr lang="en-US" dirty="0">
              <a:latin typeface="Times New Roman" panose="02020603050405020304" pitchFamily="18" charset="0"/>
              <a:cs typeface="Times New Roman" panose="02020603050405020304" pitchFamily="18" charset="0"/>
            </a:endParaRPr>
          </a:p>
        </p:txBody>
      </p:sp>
      <p:pic>
        <p:nvPicPr>
          <p:cNvPr id="5" name="Content Placeholder 4" descr="Lentigo Maligna"/>
          <p:cNvPicPr>
            <a:picLocks noGrp="1" noChangeAspect="1"/>
          </p:cNvPicPr>
          <p:nvPr>
            <p:ph sz="half" idx="2"/>
          </p:nvPr>
        </p:nvPicPr>
        <p:blipFill>
          <a:blip r:embed="rId1"/>
          <a:stretch>
            <a:fillRect/>
          </a:stretch>
        </p:blipFill>
        <p:spPr>
          <a:xfrm>
            <a:off x="6172200" y="2265458"/>
            <a:ext cx="5181600" cy="3471672"/>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i="1" dirty="0">
                <a:latin typeface="Times New Roman" panose="02020603050405020304" pitchFamily="18" charset="0"/>
                <a:cs typeface="Times New Roman" panose="02020603050405020304" pitchFamily="18" charset="0"/>
              </a:rPr>
              <a:t>Acral lentiginous melanoma</a:t>
            </a:r>
            <a:br>
              <a:rPr lang="en-US" i="1" dirty="0"/>
            </a:br>
            <a:endParaRPr lang="en-US" dirty="0"/>
          </a:p>
        </p:txBody>
      </p:sp>
      <p:sp>
        <p:nvSpPr>
          <p:cNvPr id="3" name="Content Placeholder 2"/>
          <p:cNvSpPr>
            <a:spLocks noGrp="1"/>
          </p:cNvSpPr>
          <p:nvPr>
            <p:ph sz="half" idx="1"/>
          </p:nvPr>
        </p:nvSpPr>
        <p:spPr/>
        <p:txBody>
          <a:bodyPr>
            <a:normAutofit/>
          </a:bodyPr>
          <a:lstStyle/>
          <a:p>
            <a:r>
              <a:rPr lang="en-US" dirty="0"/>
              <a:t>Most frequent type of MM in the dark skinned.</a:t>
            </a:r>
            <a:endParaRPr lang="en-US" dirty="0"/>
          </a:p>
          <a:p>
            <a:r>
              <a:rPr lang="en-US" dirty="0"/>
              <a:t> Uneven pigmentation, nodulation, and ulceration.</a:t>
            </a:r>
            <a:endParaRPr lang="en-US" dirty="0"/>
          </a:p>
          <a:p>
            <a:r>
              <a:rPr lang="en-US" dirty="0"/>
              <a:t> Has an aggressive course with early metastases.</a:t>
            </a:r>
            <a:endParaRPr lang="en-US" dirty="0"/>
          </a:p>
          <a:p>
            <a:r>
              <a:rPr lang="en-US" dirty="0"/>
              <a:t> Palms, soles, and around the nails.</a:t>
            </a:r>
            <a:endParaRPr lang="en-US" dirty="0"/>
          </a:p>
        </p:txBody>
      </p:sp>
      <p:pic>
        <p:nvPicPr>
          <p:cNvPr id="6" name="Content Placeholder 5" descr="melanoma acrolentigginoso o lentigginoso acrale"/>
          <p:cNvPicPr>
            <a:picLocks noGrp="1" noChangeAspect="1"/>
          </p:cNvPicPr>
          <p:nvPr>
            <p:ph sz="half" idx="2"/>
          </p:nvPr>
        </p:nvPicPr>
        <p:blipFill>
          <a:blip r:embed="rId1"/>
          <a:stretch>
            <a:fillRect/>
          </a:stretch>
        </p:blipFill>
        <p:spPr>
          <a:xfrm rot="5400000">
            <a:off x="8897907" y="2887475"/>
            <a:ext cx="3657600" cy="2017776"/>
          </a:xfrm>
          <a:prstGeom prst="rect">
            <a:avLst/>
          </a:prstGeom>
        </p:spPr>
      </p:pic>
      <p:pic>
        <p:nvPicPr>
          <p:cNvPr id="7" name="Picture 6"/>
          <p:cNvPicPr>
            <a:picLocks noChangeAspect="1"/>
          </p:cNvPicPr>
          <p:nvPr/>
        </p:nvPicPr>
        <p:blipFill>
          <a:blip r:embed="rId2"/>
          <a:stretch>
            <a:fillRect/>
          </a:stretch>
        </p:blipFill>
        <p:spPr>
          <a:xfrm>
            <a:off x="5999118" y="1545859"/>
            <a:ext cx="3432567" cy="5137879"/>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Nodular Melanoma</a:t>
            </a:r>
            <a:br>
              <a:rPr lang="en-US" b="1" dirty="0"/>
            </a:br>
            <a:endParaRPr lang="en-US" dirty="0"/>
          </a:p>
        </p:txBody>
      </p:sp>
      <p:sp>
        <p:nvSpPr>
          <p:cNvPr id="3" name="Content Placeholder 2"/>
          <p:cNvSpPr>
            <a:spLocks noGrp="1"/>
          </p:cNvSpPr>
          <p:nvPr>
            <p:ph sz="half" idx="1"/>
          </p:nvPr>
        </p:nvSpPr>
        <p:spPr/>
        <p:txBody>
          <a:bodyPr/>
          <a:lstStyle/>
          <a:p>
            <a:r>
              <a:rPr lang="en-US" dirty="0"/>
              <a:t>Aggressive subtype </a:t>
            </a:r>
            <a:endParaRPr lang="en-US" dirty="0"/>
          </a:p>
          <a:p>
            <a:r>
              <a:rPr lang="en-US" dirty="0"/>
              <a:t>Early vertical growth </a:t>
            </a:r>
            <a:endParaRPr lang="en-US" dirty="0"/>
          </a:p>
          <a:p>
            <a:r>
              <a:rPr lang="en-US" dirty="0"/>
              <a:t>Often presents as dark elevated nodule</a:t>
            </a:r>
            <a:endParaRPr lang="en-US" dirty="0"/>
          </a:p>
          <a:p>
            <a:endParaRPr lang="en-US" dirty="0"/>
          </a:p>
        </p:txBody>
      </p:sp>
      <p:pic>
        <p:nvPicPr>
          <p:cNvPr id="5" name="Content Placeholder 4" descr="Nodular Malignant Melanoma stock photo."/>
          <p:cNvPicPr>
            <a:picLocks noGrp="1" noChangeAspect="1"/>
          </p:cNvPicPr>
          <p:nvPr>
            <p:ph sz="half" idx="2"/>
          </p:nvPr>
        </p:nvPicPr>
        <p:blipFill>
          <a:blip r:embed="rId1"/>
          <a:stretch>
            <a:fillRect/>
          </a:stretch>
        </p:blipFill>
        <p:spPr>
          <a:xfrm>
            <a:off x="6597529" y="1825625"/>
            <a:ext cx="4330941" cy="4351338"/>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i="1" dirty="0">
                <a:latin typeface="Times New Roman" panose="02020603050405020304" pitchFamily="18" charset="0"/>
                <a:cs typeface="Times New Roman" panose="02020603050405020304" pitchFamily="18" charset="0"/>
              </a:rPr>
              <a:t>Superficial spreading melanoma</a:t>
            </a:r>
            <a:br>
              <a:rPr lang="en-US" i="1" dirty="0"/>
            </a:br>
            <a:endParaRPr lang="en-US" dirty="0"/>
          </a:p>
        </p:txBody>
      </p:sp>
      <p:sp>
        <p:nvSpPr>
          <p:cNvPr id="3" name="Content Placeholder 2"/>
          <p:cNvSpPr>
            <a:spLocks noGrp="1"/>
          </p:cNvSpPr>
          <p:nvPr>
            <p:ph sz="half" idx="1"/>
          </p:nvPr>
        </p:nvSpPr>
        <p:spPr/>
        <p:txBody>
          <a:bodyPr/>
          <a:lstStyle/>
          <a:p>
            <a:r>
              <a:rPr lang="en-US" dirty="0"/>
              <a:t>Most frequent type of MM.</a:t>
            </a:r>
            <a:endParaRPr lang="en-US" dirty="0"/>
          </a:p>
          <a:p>
            <a:r>
              <a:rPr lang="en-US" dirty="0"/>
              <a:t> Elevated plaque with color variation; may ulcerate.</a:t>
            </a:r>
            <a:endParaRPr lang="en-US" dirty="0"/>
          </a:p>
          <a:p>
            <a:r>
              <a:rPr lang="en-US" dirty="0"/>
              <a:t> Mostly seen on covered parts (legs in females, back in males).</a:t>
            </a:r>
            <a:endParaRPr lang="en-US" dirty="0"/>
          </a:p>
        </p:txBody>
      </p:sp>
      <p:pic>
        <p:nvPicPr>
          <p:cNvPr id="8" name="Content Placeholder 7"/>
          <p:cNvPicPr>
            <a:picLocks noGrp="1" noChangeAspect="1"/>
          </p:cNvPicPr>
          <p:nvPr>
            <p:ph sz="half" idx="2"/>
          </p:nvPr>
        </p:nvPicPr>
        <p:blipFill>
          <a:blip r:embed="rId1"/>
          <a:stretch>
            <a:fillRect/>
          </a:stretch>
        </p:blipFill>
        <p:spPr>
          <a:xfrm>
            <a:off x="6172200" y="1614531"/>
            <a:ext cx="5181600" cy="3454400"/>
          </a:xfrm>
          <a:prstGeom prst="rect">
            <a:avLst/>
          </a:prstGeom>
        </p:spPr>
      </p:pic>
      <p:sp>
        <p:nvSpPr>
          <p:cNvPr id="6" name="TextBox 5"/>
          <p:cNvSpPr txBox="1"/>
          <p:nvPr/>
        </p:nvSpPr>
        <p:spPr>
          <a:xfrm>
            <a:off x="3046751" y="3240586"/>
            <a:ext cx="6093500" cy="369332"/>
          </a:xfrm>
          <a:prstGeom prst="rect">
            <a:avLst/>
          </a:prstGeom>
          <a:noFill/>
        </p:spPr>
        <p:txBody>
          <a:bodyPr wrap="square">
            <a:spAutoFit/>
          </a:bodyPr>
          <a:lstStyle/>
          <a:p>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buFont typeface="Wingdings" panose="05000000000000000000" pitchFamily="2" charset="2"/>
              <a:buChar char="v"/>
            </a:pPr>
            <a:r>
              <a:rPr lang="en-US" i="1" dirty="0">
                <a:latin typeface="Times New Roman" panose="02020603050405020304" pitchFamily="18" charset="0"/>
                <a:cs typeface="Times New Roman" panose="02020603050405020304" pitchFamily="18" charset="0"/>
              </a:rPr>
              <a:t>Less frequent variants</a:t>
            </a:r>
            <a:endParaRPr lang="en-US"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Metastatic melanomas: </a:t>
            </a:r>
            <a:r>
              <a:rPr lang="en-US" dirty="0">
                <a:latin typeface="Times New Roman" panose="02020603050405020304" pitchFamily="18" charset="0"/>
                <a:cs typeface="Times New Roman" panose="02020603050405020304" pitchFamily="18" charset="0"/>
              </a:rPr>
              <a:t>Are secondaries in the skin, lymph nodes, and viscera.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Subungual melanoma: </a:t>
            </a:r>
            <a:r>
              <a:rPr lang="en-US" dirty="0">
                <a:latin typeface="Times New Roman" panose="02020603050405020304" pitchFamily="18" charset="0"/>
                <a:cs typeface="Times New Roman" panose="02020603050405020304" pitchFamily="18" charset="0"/>
              </a:rPr>
              <a:t>Presents as painless pigmentation appearing </a:t>
            </a:r>
            <a:r>
              <a:rPr lang="en-US" dirty="0" err="1">
                <a:latin typeface="Times New Roman" panose="02020603050405020304" pitchFamily="18" charset="0"/>
                <a:cs typeface="Times New Roman" panose="02020603050405020304" pitchFamily="18" charset="0"/>
              </a:rPr>
              <a:t>subungually</a:t>
            </a:r>
            <a:r>
              <a:rPr lang="en-US" dirty="0">
                <a:latin typeface="Times New Roman" panose="02020603050405020304" pitchFamily="18" charset="0"/>
                <a:cs typeface="Times New Roman" panose="02020603050405020304" pitchFamily="18" charset="0"/>
              </a:rPr>
              <a:t> and spilling on to the nail fold (</a:t>
            </a:r>
            <a:r>
              <a:rPr lang="en-US" b="1" dirty="0">
                <a:latin typeface="Times New Roman" panose="02020603050405020304" pitchFamily="18" charset="0"/>
                <a:cs typeface="Times New Roman" panose="02020603050405020304" pitchFamily="18" charset="0"/>
              </a:rPr>
              <a:t>Hutchinson’s sign)</a:t>
            </a:r>
            <a:endParaRPr lang="en-US"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sz="half" idx="2"/>
          </p:nvPr>
        </p:nvPicPr>
        <p:blipFill>
          <a:blip r:embed="rId1"/>
          <a:stretch>
            <a:fillRect/>
          </a:stretch>
        </p:blipFill>
        <p:spPr>
          <a:xfrm>
            <a:off x="6651812" y="1917337"/>
            <a:ext cx="4222376" cy="3088640"/>
          </a:xfrm>
          <a:prstGeom prst="rect">
            <a:avLst/>
          </a:prstGeom>
        </p:spPr>
      </p:pic>
      <p:sp>
        <p:nvSpPr>
          <p:cNvPr id="7" name="TextBox 6"/>
          <p:cNvSpPr txBox="1"/>
          <p:nvPr/>
        </p:nvSpPr>
        <p:spPr>
          <a:xfrm>
            <a:off x="6651812" y="5051690"/>
            <a:ext cx="4222376"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Malignant melanoma: Hutchinson’s sign</a:t>
            </a: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nvGraphicFramePr>
        <p:xfrm>
          <a:off x="854440" y="-89791"/>
          <a:ext cx="10058400" cy="6985000"/>
        </p:xfrm>
        <a:graphic>
          <a:graphicData uri="http://schemas.openxmlformats.org/drawingml/2006/table">
            <a:tbl>
              <a:tblPr firstRow="1" bandRow="1">
                <a:tableStyleId>{5C22544A-7EE6-4342-B048-85BDC9FD1C3A}</a:tableStyleId>
              </a:tblPr>
              <a:tblGrid>
                <a:gridCol w="3352800"/>
                <a:gridCol w="3352800"/>
                <a:gridCol w="3352800"/>
              </a:tblGrid>
              <a:tr h="370840">
                <a:tc gridSpan="3">
                  <a:txBody>
                    <a:bodyPr/>
                    <a:lstStyle/>
                    <a:p>
                      <a:pPr algn="l"/>
                      <a:r>
                        <a:rPr lang="en-US" sz="2800" b="1" dirty="0">
                          <a:latin typeface="Times New Roman" panose="02020603050405020304" pitchFamily="18" charset="0"/>
                          <a:cs typeface="Times New Roman" panose="02020603050405020304" pitchFamily="18" charset="0"/>
                        </a:rPr>
                        <a:t>ABCDE criteria</a:t>
                      </a:r>
                      <a:r>
                        <a:rPr lang="en-US" sz="2800" dirty="0">
                          <a:latin typeface="Times New Roman" panose="02020603050405020304" pitchFamily="18" charset="0"/>
                          <a:cs typeface="Times New Roman" panose="02020603050405020304" pitchFamily="18" charset="0"/>
                        </a:rPr>
                        <a:t> used to identify suspicious pigmented lesions that may represent malignant melanoma</a:t>
                      </a:r>
                      <a:endParaRPr lang="en-US" sz="2800" dirty="0"/>
                    </a:p>
                  </a:txBody>
                  <a:tcPr/>
                </a:tc>
                <a:tc hMerge="1">
                  <a:tcPr/>
                </a:tc>
                <a:tc hMerge="1">
                  <a:tcPr/>
                </a:tc>
              </a:tr>
              <a:tr h="370840">
                <a:tc>
                  <a:txBody>
                    <a:bodyPr/>
                    <a:lstStyle/>
                    <a:p>
                      <a:endParaRPr lang="en-US" dirty="0"/>
                    </a:p>
                  </a:txBody>
                  <a:tcPr/>
                </a:tc>
                <a:tc>
                  <a:txBody>
                    <a:bodyPr/>
                    <a:lstStyle/>
                    <a:p>
                      <a:r>
                        <a:rPr lang="en-US" dirty="0"/>
                        <a:t>Feature</a:t>
                      </a:r>
                      <a:endParaRPr lang="en-US" dirty="0"/>
                    </a:p>
                  </a:txBody>
                  <a:tcPr/>
                </a:tc>
                <a:tc>
                  <a:txBody>
                    <a:bodyPr/>
                    <a:lstStyle/>
                    <a:p>
                      <a:r>
                        <a:rPr lang="en-US" dirty="0"/>
                        <a:t>Description</a:t>
                      </a:r>
                      <a:endParaRPr lang="en-US" dirty="0"/>
                    </a:p>
                  </a:txBody>
                  <a:tcPr/>
                </a:tc>
              </a:tr>
              <a:tr h="370840">
                <a:tc>
                  <a:txBody>
                    <a:bodyPr/>
                    <a:lstStyle/>
                    <a:p>
                      <a:r>
                        <a:rPr lang="en-US" dirty="0"/>
                        <a:t>A</a:t>
                      </a:r>
                      <a:endParaRPr lang="en-US" dirty="0"/>
                    </a:p>
                  </a:txBody>
                  <a:tcPr/>
                </a:tc>
                <a:tc>
                  <a:txBody>
                    <a:bodyPr/>
                    <a:lstStyle/>
                    <a:p>
                      <a:r>
                        <a:rPr lang="en-US" dirty="0"/>
                        <a:t>Asymmetry</a:t>
                      </a:r>
                      <a:endParaRPr lang="en-US" dirty="0"/>
                    </a:p>
                  </a:txBody>
                  <a:tcPr/>
                </a:tc>
                <a:tc>
                  <a:txBody>
                    <a:bodyPr/>
                    <a:lstStyle/>
                    <a:p>
                      <a:r>
                        <a:rPr lang="en-US" dirty="0"/>
                        <a:t>One half of the lesion does not match the other half in shape, colo</a:t>
                      </a:r>
                      <a:r>
                        <a:rPr lang="en-US" dirty="0"/>
                        <a:t>u</a:t>
                      </a:r>
                      <a:r>
                        <a:rPr lang="en-US" dirty="0"/>
                        <a:t>r, or thickness.</a:t>
                      </a:r>
                      <a:endParaRPr lang="en-US" dirty="0"/>
                    </a:p>
                  </a:txBody>
                  <a:tcPr/>
                </a:tc>
              </a:tr>
              <a:tr h="370840">
                <a:tc>
                  <a:txBody>
                    <a:bodyPr/>
                    <a:lstStyle/>
                    <a:p>
                      <a:r>
                        <a:rPr lang="en-US" dirty="0"/>
                        <a:t>B</a:t>
                      </a:r>
                      <a:endParaRPr lang="en-US" dirty="0"/>
                    </a:p>
                  </a:txBody>
                  <a:tcPr/>
                </a:tc>
                <a:tc>
                  <a:txBody>
                    <a:bodyPr/>
                    <a:lstStyle/>
                    <a:p>
                      <a:r>
                        <a:rPr lang="en-US" dirty="0"/>
                        <a:t>Border irregularity</a:t>
                      </a:r>
                      <a:endParaRPr lang="en-US" dirty="0"/>
                    </a:p>
                  </a:txBody>
                  <a:tcPr/>
                </a:tc>
                <a:tc>
                  <a:txBody>
                    <a:bodyPr/>
                    <a:lstStyle/>
                    <a:p>
                      <a:r>
                        <a:rPr lang="en-US" dirty="0"/>
                        <a:t>Edges are uneven, ragged, notched, scalloped, or poorly defined.</a:t>
                      </a:r>
                      <a:endParaRPr lang="en-US" dirty="0"/>
                    </a:p>
                  </a:txBody>
                  <a:tcPr/>
                </a:tc>
              </a:tr>
              <a:tr h="370840">
                <a:tc>
                  <a:txBody>
                    <a:bodyPr/>
                    <a:lstStyle/>
                    <a:p>
                      <a:r>
                        <a:rPr lang="en-US" dirty="0"/>
                        <a:t>C</a:t>
                      </a:r>
                      <a:endParaRPr lang="en-US" dirty="0"/>
                    </a:p>
                  </a:txBody>
                  <a:tcPr/>
                </a:tc>
                <a:tc>
                  <a:txBody>
                    <a:bodyPr/>
                    <a:lstStyle/>
                    <a:p>
                      <a:r>
                        <a:rPr lang="en-US" dirty="0"/>
                        <a:t>Colo</a:t>
                      </a:r>
                      <a:r>
                        <a:rPr lang="en-US" dirty="0"/>
                        <a:t>u</a:t>
                      </a:r>
                      <a:r>
                        <a:rPr lang="en-US" dirty="0"/>
                        <a:t>r variation</a:t>
                      </a:r>
                      <a:endParaRPr lang="en-US" dirty="0"/>
                    </a:p>
                  </a:txBody>
                  <a:tcPr/>
                </a:tc>
                <a:tc>
                  <a:txBody>
                    <a:bodyPr/>
                    <a:lstStyle/>
                    <a:p>
                      <a:r>
                        <a:rPr lang="en-US" dirty="0"/>
                        <a:t>Presence of multiple colo</a:t>
                      </a:r>
                      <a:r>
                        <a:rPr lang="en-US" dirty="0"/>
                        <a:t>u</a:t>
                      </a:r>
                      <a:r>
                        <a:rPr lang="en-US" dirty="0" err="1"/>
                        <a:t>rs</a:t>
                      </a:r>
                      <a:r>
                        <a:rPr lang="en-US" dirty="0"/>
                        <a:t> within the same lesion, such as black, brown, tan, red, blue, white, or gray.</a:t>
                      </a:r>
                      <a:endParaRPr lang="en-US" dirty="0"/>
                    </a:p>
                  </a:txBody>
                  <a:tcPr/>
                </a:tc>
              </a:tr>
              <a:tr h="370840">
                <a:tc>
                  <a:txBody>
                    <a:bodyPr/>
                    <a:lstStyle/>
                    <a:p>
                      <a:r>
                        <a:rPr lang="en-US" dirty="0"/>
                        <a:t>D</a:t>
                      </a:r>
                      <a:endParaRPr lang="en-US" dirty="0"/>
                    </a:p>
                  </a:txBody>
                  <a:tcPr/>
                </a:tc>
                <a:tc>
                  <a:txBody>
                    <a:bodyPr/>
                    <a:lstStyle/>
                    <a:p>
                      <a:r>
                        <a:rPr lang="en-US" dirty="0"/>
                        <a:t>Diameter</a:t>
                      </a:r>
                      <a:endParaRPr lang="en-US" dirty="0"/>
                    </a:p>
                  </a:txBody>
                  <a:tcPr/>
                </a:tc>
                <a:tc>
                  <a:txBody>
                    <a:bodyPr/>
                    <a:lstStyle/>
                    <a:p>
                      <a:r>
                        <a:rPr lang="en-US" dirty="0"/>
                        <a:t>Diameter greater than 6 mm (about the size of a pencil eraser), although melanomas can be smaller.</a:t>
                      </a:r>
                      <a:endParaRPr lang="en-US" dirty="0"/>
                    </a:p>
                  </a:txBody>
                  <a:tcPr/>
                </a:tc>
              </a:tr>
              <a:tr h="370840">
                <a:tc>
                  <a:txBody>
                    <a:bodyPr/>
                    <a:lstStyle/>
                    <a:p>
                      <a:r>
                        <a:rPr lang="en-US" dirty="0"/>
                        <a:t>E</a:t>
                      </a:r>
                      <a:endParaRPr lang="en-US" dirty="0"/>
                    </a:p>
                  </a:txBody>
                  <a:tcPr/>
                </a:tc>
                <a:tc>
                  <a:txBody>
                    <a:bodyPr/>
                    <a:lstStyle/>
                    <a:p>
                      <a:r>
                        <a:rPr lang="en-US" dirty="0"/>
                        <a:t>Evolution (or Enlargement)</a:t>
                      </a:r>
                      <a:endParaRPr lang="en-US" dirty="0"/>
                    </a:p>
                  </a:txBody>
                  <a:tcPr/>
                </a:tc>
                <a:tc>
                  <a:txBody>
                    <a:bodyPr/>
                    <a:lstStyle/>
                    <a:p>
                      <a:r>
                        <a:rPr lang="en-US" dirty="0"/>
                        <a:t>Any change in size, shape, colo</a:t>
                      </a:r>
                      <a:r>
                        <a:rPr lang="en-US" dirty="0"/>
                        <a:t>u</a:t>
                      </a:r>
                      <a:r>
                        <a:rPr lang="en-US" dirty="0"/>
                        <a:t>r, elevation, or symptoms such as itching, bleeding, ulceration, or pain. This is often the most important warning sign.</a:t>
                      </a:r>
                      <a:endParaRPr lang="en-US" dirty="0"/>
                    </a:p>
                  </a:txBody>
                  <a:tcPr/>
                </a:tc>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798819" y="438912"/>
            <a:ext cx="9084039" cy="6163056"/>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335024" y="329184"/>
            <a:ext cx="9308592" cy="6163056"/>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131083" y="914400"/>
            <a:ext cx="7929833" cy="5681272"/>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Treatment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Melanoma treatment is primarily determined by: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AJCC Stage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Breslow thickness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Ulceration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Sentinel lymph node status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Presence of BRAF V600 mutation </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Resectability</a:t>
            </a:r>
            <a:r>
              <a:rPr lang="en-US" dirty="0">
                <a:latin typeface="Times New Roman" panose="02020603050405020304" pitchFamily="18" charset="0"/>
                <a:cs typeface="Times New Roman" panose="02020603050405020304" pitchFamily="18" charset="0"/>
              </a:rPr>
              <a:t> of disease </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TextBox 3"/>
          <p:cNvSpPr txBox="1"/>
          <p:nvPr/>
        </p:nvSpPr>
        <p:spPr>
          <a:xfrm>
            <a:off x="1633924" y="5807631"/>
            <a:ext cx="8859188" cy="369332"/>
          </a:xfrm>
          <a:prstGeom prst="rect">
            <a:avLst/>
          </a:prstGeom>
          <a:noFill/>
          <a:ln>
            <a:solidFill>
              <a:srgbClr val="FF0000"/>
            </a:solidFill>
          </a:ln>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Melanoma: Cutaneous, Version 2.2026, NCCN Clinical Practice Guidelines In Oncology</a:t>
            </a: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0</a:t>
            </a:r>
            <a:r>
              <a:rPr lang="en-US" b="1" dirty="0">
                <a:latin typeface="Times New Roman" panose="02020603050405020304" pitchFamily="18" charset="0"/>
                <a:cs typeface="Times New Roman" panose="02020603050405020304" pitchFamily="18" charset="0"/>
              </a:rPr>
              <a:t> (Melanoma In Situ)</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Treatment</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Wide local excision </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Surgical Margin</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0.5–1.0 cm </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Additional Therapy</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Not required </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Prognosis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Near 100% cure rate after complete excision. </a:t>
            </a:r>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p:txBody>
          <a:bodyPr>
            <a:normAutofit fontScale="85000" lnSpcReduction="20000"/>
          </a:bodyPr>
          <a:lstStyle/>
          <a:p>
            <a:r>
              <a:rPr lang="en-US" b="1" i="1" dirty="0"/>
              <a:t>Stage I (IA–IB)</a:t>
            </a:r>
            <a:endParaRPr lang="en-US" b="1" i="1" dirty="0"/>
          </a:p>
          <a:p>
            <a:r>
              <a:rPr lang="en-US" b="1" i="1" dirty="0"/>
              <a:t>Treatment</a:t>
            </a:r>
            <a:endParaRPr lang="en-US" b="1" i="1" dirty="0"/>
          </a:p>
          <a:p>
            <a:r>
              <a:rPr lang="en-US" b="1" i="1" dirty="0"/>
              <a:t>Wide Local Excision (WLE)</a:t>
            </a:r>
            <a:endParaRPr lang="en-US" b="1" i="1" dirty="0"/>
          </a:p>
          <a:p>
            <a:r>
              <a:rPr lang="en-US" i="1" dirty="0"/>
              <a:t>Margins:</a:t>
            </a:r>
            <a:endParaRPr lang="en-US" i="1" dirty="0"/>
          </a:p>
          <a:p>
            <a:r>
              <a:rPr lang="en-US" i="1" dirty="0"/>
              <a:t>≤1 mm Breslow thickness → 1 cm margin </a:t>
            </a:r>
            <a:endParaRPr lang="en-US" i="1" dirty="0"/>
          </a:p>
          <a:p>
            <a:r>
              <a:rPr lang="en-US" b="1" i="1" dirty="0"/>
              <a:t>Sentinel Lymph Node Biopsy</a:t>
            </a:r>
            <a:endParaRPr lang="en-US" b="1" i="1" dirty="0"/>
          </a:p>
          <a:p>
            <a:r>
              <a:rPr lang="en-US" i="1" dirty="0"/>
              <a:t>Not routinely recommended for T1a </a:t>
            </a:r>
            <a:endParaRPr lang="en-US" i="1" dirty="0"/>
          </a:p>
          <a:p>
            <a:r>
              <a:rPr lang="en-US" i="1" dirty="0"/>
              <a:t>Discuss for T1b lesions </a:t>
            </a:r>
            <a:endParaRPr lang="en-US" i="1" dirty="0"/>
          </a:p>
          <a:p>
            <a:r>
              <a:rPr lang="en-US" b="1" i="1" dirty="0"/>
              <a:t>Adjuvant Therapy</a:t>
            </a:r>
            <a:endParaRPr lang="en-US" b="1" i="1" dirty="0"/>
          </a:p>
          <a:p>
            <a:r>
              <a:rPr lang="en-US" i="1" dirty="0"/>
              <a:t>Usually not indicated. </a:t>
            </a:r>
            <a:endParaRPr lang="en-US" i="1" dirty="0"/>
          </a:p>
          <a:p>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Stage II (IIA–IIC)</a:t>
            </a:r>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Sentinel Lymph Node Biopsy</a:t>
            </a: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Recommended for: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T2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T3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T4 lesions </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Adjuvant Therapy</a:t>
            </a: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High-risk Stage IIB/IIC: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Pembrolizumab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Nivolumab </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These significantly reduce recurrence risk after surgery</a:t>
            </a:r>
            <a:endParaRPr lang="en-US" b="1" dirty="0">
              <a:latin typeface="Times New Roman" panose="02020603050405020304" pitchFamily="18" charset="0"/>
              <a:cs typeface="Times New Roman" panose="02020603050405020304" pitchFamily="18" charset="0"/>
            </a:endParaRPr>
          </a:p>
          <a:p>
            <a:endParaRPr lang="en-US" dirty="0"/>
          </a:p>
        </p:txBody>
      </p:sp>
      <p:sp>
        <p:nvSpPr>
          <p:cNvPr id="7" name="Content Placeholder 6"/>
          <p:cNvSpPr>
            <a:spLocks noGrp="1"/>
          </p:cNvSpPr>
          <p:nvPr>
            <p:ph sz="half" idx="1"/>
          </p:nvPr>
        </p:nvSpPr>
        <p:spPr>
          <a:xfrm>
            <a:off x="704540" y="1825625"/>
            <a:ext cx="5181600" cy="4351338"/>
          </a:xfrm>
        </p:spPr>
        <p:txBody>
          <a:bodyPr/>
          <a:lstStyle/>
          <a:p>
            <a:pPr marL="0" indent="0">
              <a:buNone/>
            </a:pPr>
            <a:r>
              <a:rPr lang="en-US" b="1" dirty="0">
                <a:latin typeface="Times New Roman" panose="02020603050405020304" pitchFamily="18" charset="0"/>
                <a:cs typeface="Times New Roman" panose="02020603050405020304" pitchFamily="18" charset="0"/>
              </a:rPr>
              <a:t>Primary Treatment</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Wide local incision</a:t>
            </a:r>
            <a:endParaRPr lang="en-US"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US" dirty="0"/>
          </a:p>
        </p:txBody>
      </p:sp>
      <p:graphicFrame>
        <p:nvGraphicFramePr>
          <p:cNvPr id="9" name="Table 8"/>
          <p:cNvGraphicFramePr>
            <a:graphicFrameLocks noGrp="1"/>
          </p:cNvGraphicFramePr>
          <p:nvPr/>
        </p:nvGraphicFramePr>
        <p:xfrm>
          <a:off x="628339" y="2908226"/>
          <a:ext cx="5334002" cy="1483360"/>
        </p:xfrm>
        <a:graphic>
          <a:graphicData uri="http://schemas.openxmlformats.org/drawingml/2006/table">
            <a:tbl>
              <a:tblPr firstRow="1" bandRow="1">
                <a:tableStyleId>{5C22544A-7EE6-4342-B048-85BDC9FD1C3A}</a:tableStyleId>
              </a:tblPr>
              <a:tblGrid>
                <a:gridCol w="2667001"/>
                <a:gridCol w="2667001"/>
              </a:tblGrid>
              <a:tr h="370840">
                <a:tc>
                  <a:txBody>
                    <a:bodyPr/>
                    <a:lstStyle/>
                    <a:p>
                      <a:pPr>
                        <a:buNone/>
                      </a:pPr>
                      <a:r>
                        <a:rPr lang="en-US" dirty="0"/>
                        <a:t>Breslow Thickness</a:t>
                      </a:r>
                      <a:endParaRPr lang="en-US" dirty="0"/>
                    </a:p>
                  </a:txBody>
                  <a:tcPr anchor="ctr"/>
                </a:tc>
                <a:tc>
                  <a:txBody>
                    <a:bodyPr/>
                    <a:lstStyle/>
                    <a:p>
                      <a:r>
                        <a:rPr lang="en-US" dirty="0"/>
                        <a:t>Margin</a:t>
                      </a:r>
                      <a:endParaRPr lang="en-US" dirty="0"/>
                    </a:p>
                  </a:txBody>
                  <a:tcPr/>
                </a:tc>
              </a:tr>
              <a:tr h="370840">
                <a:tc>
                  <a:txBody>
                    <a:bodyPr/>
                    <a:lstStyle/>
                    <a:p>
                      <a:r>
                        <a:rPr lang="en-US" dirty="0"/>
                        <a:t>≤1 mm</a:t>
                      </a:r>
                      <a:endParaRPr lang="en-US" dirty="0"/>
                    </a:p>
                  </a:txBody>
                  <a:tcPr/>
                </a:tc>
                <a:tc>
                  <a:txBody>
                    <a:bodyPr/>
                    <a:lstStyle/>
                    <a:p>
                      <a:r>
                        <a:rPr lang="en-US" dirty="0"/>
                        <a:t>1 cm</a:t>
                      </a:r>
                      <a:endParaRPr lang="en-US" dirty="0"/>
                    </a:p>
                  </a:txBody>
                  <a:tcPr/>
                </a:tc>
              </a:tr>
              <a:tr h="370840">
                <a:tc>
                  <a:txBody>
                    <a:bodyPr/>
                    <a:lstStyle/>
                    <a:p>
                      <a:r>
                        <a:rPr lang="en-US" dirty="0"/>
                        <a:t>1.01–2 mm</a:t>
                      </a:r>
                      <a:endParaRPr lang="en-US" dirty="0"/>
                    </a:p>
                  </a:txBody>
                  <a:tcPr/>
                </a:tc>
                <a:tc>
                  <a:txBody>
                    <a:bodyPr/>
                    <a:lstStyle/>
                    <a:p>
                      <a:r>
                        <a:rPr lang="en-US" dirty="0"/>
                        <a:t>1-2 cm</a:t>
                      </a:r>
                      <a:endParaRPr lang="en-US" dirty="0"/>
                    </a:p>
                  </a:txBody>
                  <a:tcPr/>
                </a:tc>
              </a:tr>
              <a:tr h="370840">
                <a:tc>
                  <a:txBody>
                    <a:bodyPr/>
                    <a:lstStyle/>
                    <a:p>
                      <a:r>
                        <a:rPr lang="en-US" dirty="0"/>
                        <a:t>&gt; 2 mm</a:t>
                      </a:r>
                      <a:endParaRPr lang="en-US" dirty="0"/>
                    </a:p>
                  </a:txBody>
                  <a:tcPr/>
                </a:tc>
                <a:tc>
                  <a:txBody>
                    <a:bodyPr/>
                    <a:lstStyle/>
                    <a:p>
                      <a:r>
                        <a:rPr lang="en-US" dirty="0"/>
                        <a:t>2 cm</a:t>
                      </a:r>
                      <a:endParaRPr lang="en-US" dirty="0"/>
                    </a:p>
                  </a:txBody>
                  <a:tcPr/>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Stage III (Regional Nodal Disease)</a:t>
            </a:r>
            <a:br>
              <a:rPr lang="en-US" b="1" dirty="0"/>
            </a:br>
            <a:endParaRPr lang="en-US" dirty="0"/>
          </a:p>
        </p:txBody>
      </p:sp>
      <p:sp>
        <p:nvSpPr>
          <p:cNvPr id="3" name="Content Placeholder 2"/>
          <p:cNvSpPr>
            <a:spLocks noGrp="1"/>
          </p:cNvSpPr>
          <p:nvPr>
            <p:ph sz="half" idx="1"/>
          </p:nvPr>
        </p:nvSpPr>
        <p:spPr/>
        <p:txBody>
          <a:bodyPr>
            <a:normAutofit fontScale="92500" lnSpcReduction="10000"/>
          </a:bodyPr>
          <a:lstStyle/>
          <a:p>
            <a:pPr marL="514350" indent="-514350">
              <a:buAutoNum type="arabicPeriod"/>
            </a:pPr>
            <a:r>
              <a:rPr lang="en-US" b="1" dirty="0"/>
              <a:t>Microscopic stage III melanoma (Detected only by Sentinel Lymph Node Biopsy)</a:t>
            </a:r>
            <a:endParaRPr lang="en-US" b="1" dirty="0"/>
          </a:p>
          <a:p>
            <a:r>
              <a:rPr lang="en-US" dirty="0"/>
              <a:t>No palpable lymph nodes on examination</a:t>
            </a:r>
            <a:endParaRPr lang="en-US" dirty="0"/>
          </a:p>
          <a:p>
            <a:r>
              <a:rPr lang="en-US" dirty="0"/>
              <a:t>No radiological enlarged lymph nodes</a:t>
            </a:r>
            <a:endParaRPr lang="en-US" dirty="0"/>
          </a:p>
          <a:p>
            <a:r>
              <a:rPr lang="en-US" dirty="0"/>
              <a:t>Sentinel lymph node biopsy (SLNB) reveals microscopic metastasis</a:t>
            </a:r>
            <a:endParaRPr lang="en-US" dirty="0"/>
          </a:p>
          <a:p>
            <a:pPr marL="0" indent="0">
              <a:buNone/>
            </a:pPr>
            <a:endParaRPr lang="en-US" dirty="0"/>
          </a:p>
        </p:txBody>
      </p:sp>
      <p:sp>
        <p:nvSpPr>
          <p:cNvPr id="4" name="Content Placeholder 3"/>
          <p:cNvSpPr>
            <a:spLocks noGrp="1"/>
          </p:cNvSpPr>
          <p:nvPr>
            <p:ph sz="half" idx="2"/>
          </p:nvPr>
        </p:nvSpPr>
        <p:spPr/>
        <p:txBody>
          <a:bodyPr>
            <a:normAutofit fontScale="92500" lnSpcReduction="10000"/>
          </a:bodyPr>
          <a:lstStyle/>
          <a:p>
            <a:pPr>
              <a:buFont typeface="Wingdings" panose="05000000000000000000" pitchFamily="2" charset="2"/>
              <a:buChar char="Ø"/>
            </a:pPr>
            <a:r>
              <a:rPr lang="en-US" b="1" dirty="0"/>
              <a:t>Surgery</a:t>
            </a:r>
            <a:endParaRPr lang="en-US" b="1" dirty="0"/>
          </a:p>
          <a:p>
            <a:r>
              <a:rPr lang="en-US" dirty="0"/>
              <a:t>Wide local excision </a:t>
            </a:r>
            <a:endParaRPr lang="en-US" dirty="0"/>
          </a:p>
          <a:p>
            <a:pPr>
              <a:buFont typeface="Wingdings" panose="05000000000000000000" pitchFamily="2" charset="2"/>
              <a:buChar char="Ø"/>
            </a:pPr>
            <a:r>
              <a:rPr lang="en-US" b="1" dirty="0"/>
              <a:t>Adjuvant Immunotherapy (Preferred)</a:t>
            </a:r>
            <a:endParaRPr lang="en-US" b="1" dirty="0"/>
          </a:p>
          <a:p>
            <a:r>
              <a:rPr lang="en-US" dirty="0"/>
              <a:t>Pembrolizumab </a:t>
            </a:r>
            <a:endParaRPr lang="en-US" dirty="0"/>
          </a:p>
          <a:p>
            <a:r>
              <a:rPr lang="en-US" dirty="0"/>
              <a:t>Nivolumab </a:t>
            </a:r>
            <a:endParaRPr lang="en-US" dirty="0"/>
          </a:p>
          <a:p>
            <a:pPr>
              <a:buFont typeface="Wingdings" panose="05000000000000000000" pitchFamily="2" charset="2"/>
              <a:buChar char="Ø"/>
            </a:pPr>
            <a:r>
              <a:rPr lang="en-US" b="1" dirty="0"/>
              <a:t>BRAF-Mutated Melanoma</a:t>
            </a:r>
            <a:endParaRPr lang="en-US" b="1" dirty="0"/>
          </a:p>
          <a:p>
            <a:pPr marL="0" indent="0">
              <a:buNone/>
            </a:pPr>
            <a:r>
              <a:rPr lang="en-US" dirty="0"/>
              <a:t>Targeted therapy:</a:t>
            </a:r>
            <a:endParaRPr lang="en-US" dirty="0"/>
          </a:p>
          <a:p>
            <a:r>
              <a:rPr lang="en-US" dirty="0"/>
              <a:t>Dabrafenib +</a:t>
            </a:r>
            <a:br>
              <a:rPr lang="en-US" dirty="0"/>
            </a:br>
            <a:r>
              <a:rPr lang="en-US" dirty="0"/>
              <a:t>Trametinib</a:t>
            </a:r>
            <a:endParaRPr lang="en-US" dirty="0"/>
          </a:p>
          <a:p>
            <a:pPr>
              <a:buFont typeface="Wingdings" panose="05000000000000000000" pitchFamily="2" charset="2"/>
              <a:buChar char="Ø"/>
            </a:pPr>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Nodal basin ultrasound surveillance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t>Serial ultrasound monitoring of regional lymph nodes after a positive SLNB</a:t>
            </a:r>
            <a:endParaRPr lang="en-US" dirty="0"/>
          </a:p>
          <a:p>
            <a:pPr>
              <a:buFont typeface="Wingdings" panose="05000000000000000000" pitchFamily="2" charset="2"/>
              <a:buChar char="Ø"/>
            </a:pPr>
            <a:r>
              <a:rPr lang="en-US" dirty="0"/>
              <a:t>This currently preferred approach after a positive SLNB over routine completion lymph node dissection (CLND)</a:t>
            </a:r>
            <a:endParaRPr lang="en-US" dirty="0"/>
          </a:p>
          <a:p>
            <a:pPr>
              <a:buFont typeface="Wingdings" panose="05000000000000000000" pitchFamily="2" charset="2"/>
              <a:buChar char="Ø"/>
            </a:pPr>
            <a:r>
              <a:rPr lang="en-US" dirty="0"/>
              <a:t>Routine CLND does not improve melanoma specific survival but increases complications, especially lymphedema.</a:t>
            </a:r>
            <a:endParaRPr lang="en-US" dirty="0"/>
          </a:p>
          <a:p>
            <a:pPr marL="0" indent="0">
              <a:buNone/>
            </a:pPr>
            <a:endParaRPr lang="en-US" dirty="0"/>
          </a:p>
          <a:p>
            <a:pPr marL="0" indent="0">
              <a:buNone/>
            </a:pPr>
            <a:endParaRPr lang="en-US" dirty="0"/>
          </a:p>
          <a:p>
            <a:pPr>
              <a:buFont typeface="Wingdings" panose="05000000000000000000" pitchFamily="2" charset="2"/>
              <a:buChar char="Ø"/>
            </a:pPr>
            <a:endParaRPr lang="en-US" dirty="0"/>
          </a:p>
        </p:txBody>
      </p:sp>
      <p:sp>
        <p:nvSpPr>
          <p:cNvPr id="4" name="TextBox 3"/>
          <p:cNvSpPr txBox="1"/>
          <p:nvPr/>
        </p:nvSpPr>
        <p:spPr>
          <a:xfrm>
            <a:off x="3998000" y="5366484"/>
            <a:ext cx="3972393" cy="369332"/>
          </a:xfrm>
          <a:prstGeom prst="rect">
            <a:avLst/>
          </a:prstGeom>
          <a:noFill/>
          <a:ln>
            <a:solidFill>
              <a:srgbClr val="FF0000"/>
            </a:solidFill>
          </a:ln>
        </p:spPr>
        <p:txBody>
          <a:bodyPr wrap="square" rtlCol="0">
            <a:spAutoFit/>
          </a:bodyPr>
          <a:lstStyle/>
          <a:p>
            <a:r>
              <a:rPr lang="en-US" dirty="0">
                <a:latin typeface="Times New Roman" panose="02020603050405020304" pitchFamily="18" charset="0"/>
                <a:cs typeface="Times New Roman" panose="02020603050405020304" pitchFamily="18" charset="0"/>
              </a:rPr>
              <a:t>MSLT-II and </a:t>
            </a:r>
            <a:r>
              <a:rPr lang="en-US" dirty="0" err="1">
                <a:latin typeface="Times New Roman" panose="02020603050405020304" pitchFamily="18" charset="0"/>
                <a:cs typeface="Times New Roman" panose="02020603050405020304" pitchFamily="18" charset="0"/>
              </a:rPr>
              <a:t>DeCOG</a:t>
            </a:r>
            <a:r>
              <a:rPr lang="en-US" dirty="0">
                <a:latin typeface="Times New Roman" panose="02020603050405020304" pitchFamily="18" charset="0"/>
                <a:cs typeface="Times New Roman" panose="02020603050405020304" pitchFamily="18" charset="0"/>
              </a:rPr>
              <a:t>-SLT clinical trials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925785" y="775855"/>
            <a:ext cx="8631382" cy="5401108"/>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Article review</a:t>
            </a:r>
            <a:endParaRPr lang="en-US" b="1"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US" b="1" dirty="0"/>
              <a:t>Study objective</a:t>
            </a:r>
            <a:endParaRPr lang="en-US" b="1" dirty="0"/>
          </a:p>
          <a:p>
            <a:pPr marL="0" indent="0">
              <a:buNone/>
            </a:pPr>
            <a:r>
              <a:rPr lang="en-US" dirty="0"/>
              <a:t>To </a:t>
            </a:r>
            <a:r>
              <a:rPr lang="en-US" dirty="0"/>
              <a:t>whether patients with sentinel lymph node (SLN)-positive melanoma benefit from immediate Completion Lymph Node Dissection (CLND) compared with careful observation using serial nodal ultrasound surveillance.</a:t>
            </a:r>
            <a:endParaRPr lang="en-US" dirty="0"/>
          </a:p>
          <a:p>
            <a:pPr>
              <a:buFont typeface="Wingdings" panose="05000000000000000000" pitchFamily="2" charset="2"/>
              <a:buChar char="Ø"/>
            </a:pPr>
            <a:r>
              <a:rPr lang="en-US" b="1" dirty="0"/>
              <a:t>Study design</a:t>
            </a:r>
            <a:endParaRPr lang="en-US" b="1" dirty="0"/>
          </a:p>
          <a:p>
            <a:r>
              <a:rPr lang="en-US" dirty="0"/>
              <a:t>International, </a:t>
            </a:r>
            <a:r>
              <a:rPr lang="en-US" dirty="0" err="1"/>
              <a:t>multicenter</a:t>
            </a:r>
            <a:r>
              <a:rPr lang="en-US" dirty="0"/>
              <a:t>, phase III randomized trial. </a:t>
            </a:r>
            <a:endParaRPr lang="en-US" dirty="0"/>
          </a:p>
          <a:p>
            <a:r>
              <a:rPr lang="en-US" dirty="0"/>
              <a:t>1,939 patients with melanoma and a positive </a:t>
            </a:r>
            <a:r>
              <a:rPr lang="en-US" dirty="0"/>
              <a:t>SLN</a:t>
            </a:r>
            <a:r>
              <a:rPr lang="en-US" dirty="0"/>
              <a:t> were enrolled. </a:t>
            </a:r>
            <a:endParaRPr lang="en-US" dirty="0"/>
          </a:p>
          <a:p>
            <a:r>
              <a:rPr lang="en-US" dirty="0"/>
              <a:t>Patients were randomized to: </a:t>
            </a:r>
            <a:endParaRPr lang="en-US" dirty="0"/>
          </a:p>
          <a:p>
            <a:pPr>
              <a:buFont typeface="Wingdings" panose="05000000000000000000" pitchFamily="2" charset="2"/>
              <a:buChar char="ü"/>
            </a:pPr>
            <a:r>
              <a:rPr lang="en-US" dirty="0"/>
              <a:t>Immediate Completion Lymph Node Dissection (CLND) </a:t>
            </a:r>
            <a:endParaRPr lang="en-US" dirty="0"/>
          </a:p>
          <a:p>
            <a:pPr>
              <a:buFont typeface="Wingdings" panose="05000000000000000000" pitchFamily="2" charset="2"/>
              <a:buChar char="ü"/>
            </a:pPr>
            <a:r>
              <a:rPr lang="en-US" dirty="0"/>
              <a:t>Observation with nodal basin ultrasound surveillance</a:t>
            </a:r>
            <a:endParaRPr lang="en-US" dirty="0"/>
          </a:p>
          <a:p>
            <a:pPr marL="0" indent="0">
              <a:buNone/>
            </a:pP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3455"/>
            <a:ext cx="10515600" cy="5553508"/>
          </a:xfrm>
        </p:spPr>
        <p:txBody>
          <a:bodyPr>
            <a:normAutofit fontScale="92500" lnSpcReduction="20000"/>
          </a:bodyPr>
          <a:lstStyle/>
          <a:p>
            <a:pPr>
              <a:buFont typeface="Wingdings" panose="05000000000000000000" pitchFamily="2" charset="2"/>
              <a:buChar char="Ø"/>
            </a:pPr>
            <a:r>
              <a:rPr lang="en-US" b="1" dirty="0"/>
              <a:t>Primary Endpoint</a:t>
            </a:r>
            <a:endParaRPr lang="en-US" b="1" dirty="0"/>
          </a:p>
          <a:p>
            <a:r>
              <a:rPr lang="en-US" dirty="0"/>
              <a:t>Melanoma-Specific Survival (MSS)</a:t>
            </a:r>
            <a:endParaRPr lang="en-US" dirty="0"/>
          </a:p>
          <a:p>
            <a:pPr>
              <a:buFont typeface="Wingdings" panose="05000000000000000000" pitchFamily="2" charset="2"/>
              <a:buChar char="Ø"/>
            </a:pPr>
            <a:r>
              <a:rPr lang="en-US" b="1" dirty="0"/>
              <a:t>Key Results</a:t>
            </a:r>
            <a:endParaRPr lang="en-US" b="1" dirty="0"/>
          </a:p>
          <a:p>
            <a:pPr marL="0" indent="0">
              <a:buNone/>
            </a:pPr>
            <a:r>
              <a:rPr lang="en-US" dirty="0"/>
              <a:t>1. Melanoma-Specific Survival</a:t>
            </a:r>
            <a:endParaRPr lang="en-US" dirty="0"/>
          </a:p>
          <a:p>
            <a:r>
              <a:rPr lang="en-US" dirty="0"/>
              <a:t>No significant difference between the two groups. </a:t>
            </a:r>
            <a:endParaRPr lang="en-US" dirty="0"/>
          </a:p>
          <a:p>
            <a:r>
              <a:rPr lang="en-US" dirty="0"/>
              <a:t>Three-year melanoma-specific survival was approximately 86% in both groups. </a:t>
            </a:r>
            <a:endParaRPr lang="en-US" dirty="0"/>
          </a:p>
          <a:p>
            <a:pPr marL="0" indent="0">
              <a:buNone/>
            </a:pPr>
            <a:r>
              <a:rPr lang="en-US" dirty="0"/>
              <a:t>2. Overall Survival</a:t>
            </a:r>
            <a:endParaRPr lang="en-US" dirty="0"/>
          </a:p>
          <a:p>
            <a:r>
              <a:rPr lang="en-US" dirty="0"/>
              <a:t>No significant difference between immediate CLND and observation.</a:t>
            </a:r>
            <a:endParaRPr lang="en-US" dirty="0"/>
          </a:p>
          <a:p>
            <a:pPr>
              <a:buFont typeface="Wingdings" panose="05000000000000000000" pitchFamily="2" charset="2"/>
              <a:buChar char="Ø"/>
            </a:pPr>
            <a:r>
              <a:rPr lang="en-US" dirty="0"/>
              <a:t> </a:t>
            </a:r>
            <a:r>
              <a:rPr lang="en-US" b="1" dirty="0"/>
              <a:t>Conclusion</a:t>
            </a:r>
            <a:r>
              <a:rPr lang="en-US" dirty="0"/>
              <a:t>: </a:t>
            </a:r>
            <a:r>
              <a:rPr lang="en-US" dirty="0"/>
              <a:t>Immediate completion lymph node dissection does not improve melanoma-specific survival or overall survival in patients with sentinel lymph node-positive melanoma</a:t>
            </a:r>
            <a:endParaRPr lang="en-US" dirty="0"/>
          </a:p>
          <a:p>
            <a:pPr>
              <a:buFont typeface="Wingdings" panose="05000000000000000000" pitchFamily="2" charset="2"/>
              <a:buChar char="Ø"/>
            </a:pPr>
            <a:r>
              <a:rPr lang="en-US" b="1" dirty="0"/>
              <a:t>Limitation</a:t>
            </a:r>
            <a:r>
              <a:rPr lang="en-US" dirty="0"/>
              <a:t>: </a:t>
            </a:r>
            <a:r>
              <a:rPr lang="en-US" dirty="0"/>
              <a:t>Median follow-up was relatively short (~43 months</a:t>
            </a:r>
            <a:r>
              <a:rPr lang="en-US" dirty="0"/>
              <a:t>/3years</a:t>
            </a:r>
            <a:r>
              <a:rPr lang="en-US" dirty="0"/>
              <a:t>) for assessing long-term melanoma outcomes.</a:t>
            </a:r>
            <a:endParaRPr lang="en-US" dirty="0"/>
          </a:p>
          <a:p>
            <a:pPr marL="0" indent="0">
              <a:buNone/>
            </a:pPr>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359152" y="1042416"/>
            <a:ext cx="7351776" cy="4640771"/>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Article review</a:t>
            </a:r>
            <a:endParaRPr lang="en-US" b="1"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US" b="1" dirty="0"/>
              <a:t>Study objective</a:t>
            </a:r>
            <a:endParaRPr lang="en-US" b="1" dirty="0"/>
          </a:p>
          <a:p>
            <a:r>
              <a:rPr lang="en-US" dirty="0"/>
              <a:t>To evaluate whether adjuvant targeted therapy with dabrafenib plus trametinib can improve clinical outcomes and reduce the risk of melanoma recurrence</a:t>
            </a:r>
            <a:r>
              <a:rPr lang="en-US" dirty="0"/>
              <a:t> </a:t>
            </a:r>
            <a:r>
              <a:rPr lang="en-US" dirty="0"/>
              <a:t>in patients with completely resected Stage III BRAF V600 mutation-positive melanoma.</a:t>
            </a:r>
            <a:endParaRPr lang="en-US" dirty="0"/>
          </a:p>
          <a:p>
            <a:pPr>
              <a:buFont typeface="Wingdings" panose="05000000000000000000" pitchFamily="2" charset="2"/>
              <a:buChar char="Ø"/>
            </a:pPr>
            <a:r>
              <a:rPr lang="en-US" b="1" dirty="0"/>
              <a:t>Study design</a:t>
            </a:r>
            <a:endParaRPr lang="en-US" b="1" dirty="0"/>
          </a:p>
          <a:p>
            <a:r>
              <a:rPr lang="en-US" dirty="0"/>
              <a:t>Phase III randomized controlled trial</a:t>
            </a:r>
            <a:r>
              <a:rPr lang="en-US" dirty="0"/>
              <a:t>, </a:t>
            </a:r>
            <a:endParaRPr lang="en-US" dirty="0"/>
          </a:p>
          <a:p>
            <a:r>
              <a:rPr lang="en-US" dirty="0"/>
              <a:t>Double-blind</a:t>
            </a:r>
            <a:r>
              <a:rPr lang="en-US" dirty="0"/>
              <a:t>, </a:t>
            </a:r>
            <a:r>
              <a:rPr lang="en-US" dirty="0"/>
              <a:t>Placebo-controlled</a:t>
            </a:r>
            <a:r>
              <a:rPr lang="en-US" dirty="0"/>
              <a:t>, </a:t>
            </a:r>
            <a:r>
              <a:rPr lang="en-US" dirty="0" err="1"/>
              <a:t>Multicenter</a:t>
            </a:r>
            <a:r>
              <a:rPr lang="en-US" dirty="0"/>
              <a:t> international study </a:t>
            </a:r>
            <a:endParaRPr lang="en-US" dirty="0"/>
          </a:p>
          <a:p>
            <a:r>
              <a:rPr lang="en-US" dirty="0"/>
              <a:t>870 patients enrolled </a:t>
            </a:r>
            <a:endParaRPr lang="en-US" dirty="0"/>
          </a:p>
          <a:p>
            <a:r>
              <a:rPr lang="en-US" dirty="0"/>
              <a:t>Randomized 1:1 to: Dabrafenib + Trametinib for 12 months (438 patients)</a:t>
            </a:r>
            <a:r>
              <a:rPr lang="en-US" dirty="0"/>
              <a:t> or </a:t>
            </a:r>
            <a:r>
              <a:rPr lang="en-US" dirty="0"/>
              <a:t> Placebo for 12 months (432 patients</a:t>
            </a: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4944"/>
            <a:ext cx="10515600" cy="5482019"/>
          </a:xfrm>
        </p:spPr>
        <p:txBody>
          <a:bodyPr>
            <a:normAutofit/>
          </a:bodyPr>
          <a:lstStyle/>
          <a:p>
            <a:pPr>
              <a:buFont typeface="Wingdings" panose="05000000000000000000" pitchFamily="2" charset="2"/>
              <a:buChar char="Ø"/>
            </a:pPr>
            <a:r>
              <a:rPr lang="en-US" b="1" dirty="0"/>
              <a:t>Primary Endpoint</a:t>
            </a:r>
            <a:endParaRPr lang="en-US" b="1" dirty="0"/>
          </a:p>
          <a:p>
            <a:r>
              <a:rPr lang="en-US" dirty="0"/>
              <a:t>Relapse free survival (RFS)</a:t>
            </a:r>
            <a:endParaRPr lang="en-US" dirty="0"/>
          </a:p>
          <a:p>
            <a:pPr>
              <a:buFont typeface="Wingdings" panose="05000000000000000000" pitchFamily="2" charset="2"/>
              <a:buChar char="Ø"/>
            </a:pPr>
            <a:r>
              <a:rPr lang="en-US" b="1" dirty="0"/>
              <a:t>Key results</a:t>
            </a:r>
            <a:endParaRPr lang="en-US" b="1" dirty="0"/>
          </a:p>
          <a:p>
            <a:pPr marL="514350" indent="-514350">
              <a:buFont typeface="+mj-lt"/>
              <a:buAutoNum type="arabicPeriod"/>
            </a:pPr>
            <a:r>
              <a:rPr lang="en-US" dirty="0"/>
              <a:t>Relapse free survival</a:t>
            </a:r>
            <a:endParaRPr lang="en-US" dirty="0"/>
          </a:p>
          <a:p>
            <a:r>
              <a:rPr lang="en-US" dirty="0"/>
              <a:t>Risk of relapse or death reduced by </a:t>
            </a:r>
            <a:r>
              <a:rPr lang="en-US" b="1" dirty="0"/>
              <a:t>53%</a:t>
            </a:r>
            <a:r>
              <a:rPr lang="en-US" dirty="0"/>
              <a:t> compared with placebo (HR 0.47; 95% CI 0.39–0.58)</a:t>
            </a:r>
            <a:endParaRPr lang="en-US" dirty="0"/>
          </a:p>
          <a:p>
            <a:pPr marL="0" indent="0">
              <a:buNone/>
            </a:pPr>
            <a:r>
              <a:rPr lang="en-US" dirty="0"/>
              <a:t>2.  Overall survival</a:t>
            </a:r>
            <a:endParaRPr lang="en-US" dirty="0"/>
          </a:p>
          <a:p>
            <a:r>
              <a:rPr lang="en-US" dirty="0"/>
              <a:t>Improved with targeted therapy</a:t>
            </a:r>
            <a:endParaRPr lang="en-US" dirty="0"/>
          </a:p>
          <a:p>
            <a:pPr marL="514350" indent="-514350">
              <a:buAutoNum type="arabicPeriod" startAt="3"/>
            </a:pPr>
            <a:r>
              <a:rPr lang="en-US" dirty="0"/>
              <a:t>5-Year Relapse-Free Survival</a:t>
            </a:r>
            <a:endParaRPr lang="en-US" dirty="0"/>
          </a:p>
          <a:p>
            <a:r>
              <a:rPr lang="en-US" dirty="0"/>
              <a:t>52% with dabrafenib/trametinib vs 36% with placebo</a:t>
            </a:r>
            <a:endParaRPr lang="en-US" dirty="0"/>
          </a:p>
          <a:p>
            <a:pPr marL="0" indent="0">
              <a:buNone/>
            </a:pPr>
            <a:endParaRPr lang="en-US" dirty="0"/>
          </a:p>
          <a:p>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43584"/>
            <a:ext cx="10515600" cy="4933379"/>
          </a:xfrm>
        </p:spPr>
        <p:txBody>
          <a:bodyPr/>
          <a:lstStyle/>
          <a:p>
            <a:pPr>
              <a:buFont typeface="Wingdings" panose="05000000000000000000" pitchFamily="2" charset="2"/>
              <a:buChar char="Ø"/>
            </a:pPr>
            <a:r>
              <a:rPr lang="en-US" b="1" dirty="0"/>
              <a:t>Conclusion</a:t>
            </a:r>
            <a:endParaRPr lang="en-US" b="1" dirty="0"/>
          </a:p>
          <a:p>
            <a:r>
              <a:rPr lang="en-US" dirty="0"/>
              <a:t>The study established </a:t>
            </a:r>
            <a:r>
              <a:rPr lang="en-US" b="1" dirty="0"/>
              <a:t>dabrafenib plus trametinib as a standard adjuvant treatment option</a:t>
            </a:r>
            <a:r>
              <a:rPr lang="en-US" dirty="0"/>
              <a:t> for resected Stage III BRAF-mutant melanoma.</a:t>
            </a:r>
            <a:endParaRPr lang="en-US" dirty="0"/>
          </a:p>
          <a:p>
            <a:pPr>
              <a:buFont typeface="Wingdings" panose="05000000000000000000" pitchFamily="2" charset="2"/>
              <a:buChar char="Ø"/>
            </a:pPr>
            <a:r>
              <a:rPr lang="en-US" b="1" dirty="0"/>
              <a:t>Limitations</a:t>
            </a:r>
            <a:endParaRPr lang="en-US" b="1" dirty="0"/>
          </a:p>
          <a:p>
            <a:r>
              <a:rPr lang="en-US" dirty="0"/>
              <a:t>Included only patients with </a:t>
            </a:r>
            <a:r>
              <a:rPr lang="en-US" b="1" dirty="0"/>
              <a:t>BRAF V600E or V600K mutations</a:t>
            </a:r>
            <a:r>
              <a:rPr lang="en-US" dirty="0"/>
              <a:t>, limiting generalizability to BRAF wild-type melanoma</a:t>
            </a:r>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2. Clinically Detectable </a:t>
            </a:r>
            <a:r>
              <a:rPr lang="en-US" b="1" dirty="0" err="1">
                <a:latin typeface="Times New Roman" panose="02020603050405020304" pitchFamily="18" charset="0"/>
                <a:cs typeface="Times New Roman" panose="02020603050405020304" pitchFamily="18" charset="0"/>
              </a:rPr>
              <a:t>Resectable</a:t>
            </a:r>
            <a:r>
              <a:rPr lang="en-US" b="1" dirty="0">
                <a:latin typeface="Times New Roman" panose="02020603050405020304" pitchFamily="18" charset="0"/>
                <a:cs typeface="Times New Roman" panose="02020603050405020304" pitchFamily="18" charset="0"/>
              </a:rPr>
              <a:t> Stage III Melanoma</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normAutofit fontScale="92500" lnSpcReduction="20000"/>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Regional nodal disease is evident before surgery.</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Detected by: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Palpable lymph node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Ultrasound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PET-CT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Biopsy-confirmed nodal metastasis</a:t>
            </a:r>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p:txBody>
          <a:bodyPr>
            <a:normAutofit fontScale="92500" lnSpcReduction="20000"/>
          </a:bodyPr>
          <a:lstStyle/>
          <a:p>
            <a:pPr>
              <a:buFont typeface="Wingdings" panose="05000000000000000000" pitchFamily="2" charset="2"/>
              <a:buChar char="Ø"/>
            </a:pPr>
            <a:r>
              <a:rPr lang="en-US" b="1" dirty="0"/>
              <a:t>Neoadjuvant Therapy (New NCCN Direction)</a:t>
            </a:r>
            <a:endParaRPr lang="en-US" dirty="0"/>
          </a:p>
          <a:p>
            <a:r>
              <a:rPr lang="en-US" dirty="0"/>
              <a:t>Pembrolizumab </a:t>
            </a:r>
            <a:endParaRPr lang="en-US" dirty="0"/>
          </a:p>
          <a:p>
            <a:r>
              <a:rPr lang="en-US" dirty="0"/>
              <a:t>Combination immunotherapy in selected patients </a:t>
            </a:r>
            <a:endParaRPr lang="en-US" dirty="0"/>
          </a:p>
          <a:p>
            <a:pPr>
              <a:buFont typeface="Wingdings" panose="05000000000000000000" pitchFamily="2" charset="2"/>
              <a:buChar char="Ø"/>
            </a:pPr>
            <a:r>
              <a:rPr lang="en-US" b="1" dirty="0"/>
              <a:t>Surgery</a:t>
            </a:r>
            <a:endParaRPr lang="en-US" b="1" dirty="0"/>
          </a:p>
          <a:p>
            <a:r>
              <a:rPr lang="en-US" dirty="0"/>
              <a:t>Wide local excision</a:t>
            </a:r>
            <a:endParaRPr lang="en-US" dirty="0"/>
          </a:p>
          <a:p>
            <a:r>
              <a:rPr lang="en-US" dirty="0"/>
              <a:t> Therapeutic lymph node surgery when indicated</a:t>
            </a:r>
            <a:endParaRPr lang="en-US" dirty="0"/>
          </a:p>
          <a:p>
            <a:pPr>
              <a:buFont typeface="Wingdings" panose="05000000000000000000" pitchFamily="2" charset="2"/>
              <a:buChar char="Ø"/>
            </a:pPr>
            <a:r>
              <a:rPr lang="en-US" b="1" dirty="0"/>
              <a:t>Pathological response assessment</a:t>
            </a:r>
            <a:endParaRPr lang="en-US" b="1" dirty="0"/>
          </a:p>
          <a:p>
            <a:pPr>
              <a:buFont typeface="Wingdings" panose="05000000000000000000" pitchFamily="2" charset="2"/>
              <a:buChar char="Ø"/>
            </a:pPr>
            <a:r>
              <a:rPr lang="en-US" b="1" dirty="0"/>
              <a:t>Adjuvant Therapy/ Observation</a:t>
            </a:r>
            <a:endParaRPr lang="en-US" b="1" dirty="0"/>
          </a:p>
          <a:p>
            <a:pPr>
              <a:buFont typeface="Wingdings" panose="05000000000000000000" pitchFamily="2" charset="2"/>
              <a:buChar char="Ø"/>
            </a:pPr>
            <a:endParaRPr lang="en-US" dirty="0"/>
          </a:p>
          <a:p>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Stage IV (Metastatic Melanoma)</a:t>
            </a:r>
            <a:br>
              <a:rPr lang="en-US" b="1" dirty="0"/>
            </a:br>
            <a:endParaRPr lang="en-US" dirty="0"/>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First-Line Systemic Therapy</a:t>
            </a:r>
            <a:r>
              <a:rPr lang="en-US"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Preferred Immunotherapy</a:t>
            </a:r>
            <a:r>
              <a:rPr lang="en-US"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Single-Agent PD-1 Inhibitor</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Pembrolizumab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Nivolumab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Dual Checkpoint Blockade</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Ipilimumab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Nivolumab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Higher response rates but greater toxicity</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56002"/>
            <a:ext cx="10515600" cy="4351338"/>
          </a:xfrm>
        </p:spPr>
        <p:txBody>
          <a:bodyPr>
            <a:normAutofit fontScale="92500" lnSpcReduction="10000"/>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BRAF V600 Mutation Positive</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Preferred targeted therapy: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Dabrafenib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Trametinib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Alternative combinations:</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Encorafenib</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Binimetinib</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Vemurafenib +</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Cobimetinib</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a:t>
            </a:r>
            <a:r>
              <a:rPr lang="en-US" dirty="0" err="1">
                <a:latin typeface="Times New Roman" panose="02020603050405020304" pitchFamily="18" charset="0"/>
                <a:cs typeface="Times New Roman" panose="02020603050405020304" pitchFamily="18" charset="0"/>
              </a:rPr>
              <a:t>argeted</a:t>
            </a:r>
            <a:r>
              <a:rPr lang="en-US" dirty="0">
                <a:latin typeface="Times New Roman" panose="02020603050405020304" pitchFamily="18" charset="0"/>
                <a:cs typeface="Times New Roman" panose="02020603050405020304" pitchFamily="18" charset="0"/>
              </a:rPr>
              <a:t> therapy produces rapid responses and is useful in symptomatic or rapidly progressive disease.</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Radiation Therapy</a:t>
            </a:r>
            <a:br>
              <a:rPr lang="en-US" b="1" dirty="0"/>
            </a:br>
            <a:endParaRPr lang="en-US" dirty="0"/>
          </a:p>
        </p:txBody>
      </p:sp>
      <p:sp>
        <p:nvSpPr>
          <p:cNvPr id="3" name="Content Placeholder 2"/>
          <p:cNvSpPr>
            <a:spLocks noGrp="1"/>
          </p:cNvSpPr>
          <p:nvPr>
            <p:ph idx="1"/>
          </p:nvPr>
        </p:nvSpPr>
        <p:spPr>
          <a:xfrm>
            <a:off x="838200" y="1316736"/>
            <a:ext cx="10515600" cy="4860227"/>
          </a:xfrm>
        </p:spPr>
        <p:txBody>
          <a:bodyPr/>
          <a:lstStyle/>
          <a:p>
            <a:pPr marL="0" indent="0" algn="ctr">
              <a:buNone/>
            </a:pPr>
            <a:r>
              <a:rPr lang="en-US" b="1" dirty="0">
                <a:latin typeface="Times New Roman" panose="02020603050405020304" pitchFamily="18" charset="0"/>
                <a:cs typeface="Times New Roman" panose="02020603050405020304" pitchFamily="18" charset="0"/>
              </a:rPr>
              <a:t>Indications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Brain metastases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Unresectable disease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Palliation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Desmoplastic melanoma with high local recurrence risk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Selected nodal disease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Radiotherapy is generally adjunctive rather than primary treatment</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594616" y="1331849"/>
            <a:ext cx="9002768" cy="4351338"/>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86713"/>
            <a:ext cx="10515600" cy="4351338"/>
          </a:xfrm>
        </p:spPr>
        <p:txBody>
          <a:bodyPr>
            <a:normAutofit lnSpcReduction="10000"/>
          </a:bodyPr>
          <a:lstStyle/>
          <a:p>
            <a:pPr>
              <a:buFont typeface="Wingdings" panose="05000000000000000000" pitchFamily="2" charset="2"/>
              <a:buChar char="Ø"/>
            </a:pPr>
            <a:r>
              <a:rPr lang="en-US" b="1" dirty="0"/>
              <a:t>Study type</a:t>
            </a:r>
            <a:endParaRPr lang="en-US" b="1" dirty="0"/>
          </a:p>
          <a:p>
            <a:r>
              <a:rPr lang="en-US" dirty="0"/>
              <a:t>Retrospective hospital-based descriptive study</a:t>
            </a:r>
            <a:endParaRPr lang="en-US" dirty="0"/>
          </a:p>
          <a:p>
            <a:pPr>
              <a:buFont typeface="Wingdings" panose="05000000000000000000" pitchFamily="2" charset="2"/>
              <a:buChar char="Ø"/>
            </a:pPr>
            <a:r>
              <a:rPr lang="en-US" b="1" dirty="0"/>
              <a:t>Study population</a:t>
            </a:r>
            <a:endParaRPr lang="en-US" b="1" dirty="0"/>
          </a:p>
          <a:p>
            <a:r>
              <a:rPr lang="en-US" dirty="0"/>
              <a:t>154 patients with histologically confirmed dermatological malignancies managed at </a:t>
            </a:r>
            <a:r>
              <a:rPr lang="en-US" b="1" dirty="0"/>
              <a:t>Bugando Medical Centre</a:t>
            </a:r>
            <a:r>
              <a:rPr lang="en-US" dirty="0"/>
              <a:t>, Mwanza, Tanzania, over a 10-year period.</a:t>
            </a:r>
            <a:endParaRPr lang="en-US" dirty="0"/>
          </a:p>
          <a:p>
            <a:pPr>
              <a:buFont typeface="Wingdings" panose="05000000000000000000" pitchFamily="2" charset="2"/>
              <a:buChar char="Ø"/>
            </a:pPr>
            <a:r>
              <a:rPr lang="en-US" b="1" dirty="0"/>
              <a:t>Objective</a:t>
            </a:r>
            <a:endParaRPr lang="en-US" b="1" dirty="0"/>
          </a:p>
          <a:p>
            <a:r>
              <a:rPr lang="en-US" dirty="0"/>
              <a:t>T</a:t>
            </a:r>
            <a:r>
              <a:rPr lang="en-US" dirty="0"/>
              <a:t>o determine the prevalence, histopathological pattern, anatomical distribution and treatment outcome of dermatological malignancies at Bugando Medical Centre in North-western Tanzania</a:t>
            </a:r>
            <a:endParaRPr lang="en-US" b="1" dirty="0"/>
          </a:p>
          <a:p>
            <a:endParaRPr lang="en-US" b="1" dirty="0"/>
          </a:p>
          <a:p>
            <a:pPr marL="0" indent="0">
              <a:buNone/>
            </a:pP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24128"/>
            <a:ext cx="10515600" cy="5152835"/>
          </a:xfrm>
        </p:spPr>
        <p:txBody>
          <a:bodyPr>
            <a:normAutofit/>
          </a:bodyPr>
          <a:lstStyle/>
          <a:p>
            <a:pPr>
              <a:buFont typeface="Wingdings" panose="05000000000000000000" pitchFamily="2" charset="2"/>
              <a:buChar char="Ø"/>
            </a:pPr>
            <a:r>
              <a:rPr lang="en-US" b="1" dirty="0"/>
              <a:t>Study results</a:t>
            </a:r>
            <a:endParaRPr lang="en-US" b="1" dirty="0"/>
          </a:p>
          <a:p>
            <a:r>
              <a:rPr lang="en-US" dirty="0"/>
              <a:t>The majority of patients were in the 5th and 6th decades of life.</a:t>
            </a:r>
            <a:endParaRPr lang="en-US" dirty="0"/>
          </a:p>
          <a:p>
            <a:r>
              <a:rPr lang="en-US" dirty="0"/>
              <a:t>Malignant melanoma was the most common dermatological malignancy (67.5%) followed by Kaposi's sarcoma (10.4%), Squamous cell carcinoma (8.4%) and Basal cell carcinoma (7.8%).</a:t>
            </a:r>
            <a:endParaRPr lang="en-US" dirty="0"/>
          </a:p>
          <a:p>
            <a:r>
              <a:rPr lang="en-US" dirty="0"/>
              <a:t>The lower limbs were the most frequent site accounting for 55.8%.</a:t>
            </a:r>
            <a:endParaRPr lang="en-US" dirty="0"/>
          </a:p>
          <a:p>
            <a:r>
              <a:rPr lang="en-US" dirty="0"/>
              <a:t>Wide local excision was the most common surgical procedure performed in 79.2% of cases.</a:t>
            </a:r>
            <a:endParaRPr lang="en-US" dirty="0"/>
          </a:p>
          <a:p>
            <a:r>
              <a:rPr lang="en-US" dirty="0"/>
              <a:t>Post-operative wound infection was the most common complication in 58.3% of patients. </a:t>
            </a:r>
            <a:endParaRPr lang="en-US" dirty="0"/>
          </a:p>
          <a:p>
            <a:r>
              <a:rPr lang="en-US" dirty="0"/>
              <a:t>Mortality rate was 3.8%</a:t>
            </a: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Ø"/>
            </a:pPr>
            <a:r>
              <a:rPr lang="en-US" b="1" dirty="0"/>
              <a:t>Conclusion and recommendation</a:t>
            </a:r>
            <a:endParaRPr lang="en-US" b="1" dirty="0"/>
          </a:p>
          <a:p>
            <a:r>
              <a:rPr lang="en-US" dirty="0"/>
              <a:t>Dermatological malignancies are more prevalent in our setting. A high index of suspicion is needed to avoid labelling malignancies "chronic ulcers" and all suspected lesions should be </a:t>
            </a:r>
            <a:r>
              <a:rPr lang="en-US" dirty="0" err="1"/>
              <a:t>biopsed</a:t>
            </a:r>
            <a:endParaRPr lang="en-US" b="1" dirty="0"/>
          </a:p>
          <a:p>
            <a:pPr marL="0" indent="0">
              <a:buNone/>
            </a:pPr>
            <a:endParaRPr lang="en-US" b="1"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16205"/>
            <a:ext cx="10515600" cy="4760758"/>
          </a:xfrm>
        </p:spPr>
        <p:txBody>
          <a:bodyPr>
            <a:normAutofit fontScale="77500" lnSpcReduction="20000"/>
          </a:bodyPr>
          <a:lstStyle/>
          <a:p>
            <a:r>
              <a:rPr lang="en-US" sz="3100" dirty="0">
                <a:latin typeface="Times New Roman" panose="02020603050405020304" pitchFamily="18" charset="0"/>
                <a:cs typeface="Times New Roman" panose="02020603050405020304" pitchFamily="18" charset="0"/>
              </a:rPr>
              <a:t>Hafner C , Vogt T .Seborrheic keratosis .J </a:t>
            </a:r>
            <a:r>
              <a:rPr lang="en-US" sz="3100" dirty="0" err="1">
                <a:latin typeface="Times New Roman" panose="02020603050405020304" pitchFamily="18" charset="0"/>
                <a:cs typeface="Times New Roman" panose="02020603050405020304" pitchFamily="18" charset="0"/>
              </a:rPr>
              <a:t>Dtsch</a:t>
            </a:r>
            <a:r>
              <a:rPr lang="en-US" sz="3100" dirty="0">
                <a:latin typeface="Times New Roman" panose="02020603050405020304" pitchFamily="18" charset="0"/>
                <a:cs typeface="Times New Roman" panose="02020603050405020304" pitchFamily="18" charset="0"/>
              </a:rPr>
              <a:t> Dermatol Ges 2008; 6: 664.</a:t>
            </a:r>
            <a:endParaRPr lang="en-US" sz="3100" dirty="0">
              <a:latin typeface="Times New Roman" panose="02020603050405020304" pitchFamily="18" charset="0"/>
              <a:cs typeface="Times New Roman" panose="02020603050405020304" pitchFamily="18" charset="0"/>
            </a:endParaRPr>
          </a:p>
          <a:p>
            <a:r>
              <a:rPr lang="en-US" sz="3100" dirty="0">
                <a:latin typeface="Times New Roman" panose="02020603050405020304" pitchFamily="18" charset="0"/>
                <a:cs typeface="Times New Roman" panose="02020603050405020304" pitchFamily="18" charset="0"/>
              </a:rPr>
              <a:t>Product Profile for  Cutaneous Neurofibromas: Clinical Trials to prevent , Arrest , or Regress cutaneous Neurofibromas. J Invest Dermatol 2023; 143: 1388.</a:t>
            </a:r>
            <a:endParaRPr lang="en-US" sz="3100" dirty="0">
              <a:latin typeface="Times New Roman" panose="02020603050405020304" pitchFamily="18" charset="0"/>
              <a:cs typeface="Times New Roman" panose="02020603050405020304" pitchFamily="18" charset="0"/>
            </a:endParaRPr>
          </a:p>
          <a:p>
            <a:r>
              <a:rPr lang="en-US" sz="3100" dirty="0">
                <a:latin typeface="Times New Roman" panose="02020603050405020304" pitchFamily="18" charset="0"/>
                <a:cs typeface="Times New Roman" panose="02020603050405020304" pitchFamily="18" charset="0"/>
              </a:rPr>
              <a:t>Shah R ,Jindal A, Patel N .Acrochordons as a cutaneous sign of metabolic syndrome: a case – control study. Ann Med Health Sci Res 2014; 4: 202</a:t>
            </a:r>
            <a:endParaRPr lang="en-US" sz="3100" dirty="0">
              <a:latin typeface="Times New Roman" panose="02020603050405020304" pitchFamily="18" charset="0"/>
              <a:cs typeface="Times New Roman" panose="02020603050405020304" pitchFamily="18" charset="0"/>
            </a:endParaRPr>
          </a:p>
          <a:p>
            <a:r>
              <a:rPr lang="en-US" sz="3100" dirty="0" err="1">
                <a:latin typeface="Times New Roman" panose="02020603050405020304" pitchFamily="18" charset="0"/>
                <a:cs typeface="Times New Roman" panose="02020603050405020304" pitchFamily="18" charset="0"/>
              </a:rPr>
              <a:t>Schmults</a:t>
            </a:r>
            <a:r>
              <a:rPr lang="en-US" sz="3100" dirty="0">
                <a:latin typeface="Times New Roman" panose="02020603050405020304" pitchFamily="18" charset="0"/>
                <a:cs typeface="Times New Roman" panose="02020603050405020304" pitchFamily="18" charset="0"/>
              </a:rPr>
              <a:t> CD, </a:t>
            </a:r>
            <a:r>
              <a:rPr lang="en-US" sz="3100" dirty="0" err="1">
                <a:latin typeface="Times New Roman" panose="02020603050405020304" pitchFamily="18" charset="0"/>
                <a:cs typeface="Times New Roman" panose="02020603050405020304" pitchFamily="18" charset="0"/>
              </a:rPr>
              <a:t>Blitzblau</a:t>
            </a:r>
            <a:r>
              <a:rPr lang="en-US" sz="3100" dirty="0">
                <a:latin typeface="Times New Roman" panose="02020603050405020304" pitchFamily="18" charset="0"/>
                <a:cs typeface="Times New Roman" panose="02020603050405020304" pitchFamily="18" charset="0"/>
              </a:rPr>
              <a:t> R, Aasi SZ, et al. Basal Cell Skin Cancer, Version 2.2024, NCCN Clinical Practice Guidelines in Oncology. </a:t>
            </a:r>
            <a:r>
              <a:rPr lang="en-US" sz="3100" i="1" dirty="0">
                <a:latin typeface="Times New Roman" panose="02020603050405020304" pitchFamily="18" charset="0"/>
                <a:cs typeface="Times New Roman" panose="02020603050405020304" pitchFamily="18" charset="0"/>
              </a:rPr>
              <a:t>Journal of the National Comprehensive Cancer Network</a:t>
            </a:r>
            <a:r>
              <a:rPr lang="en-US" sz="3100" dirty="0">
                <a:latin typeface="Times New Roman" panose="02020603050405020304" pitchFamily="18" charset="0"/>
                <a:cs typeface="Times New Roman" panose="02020603050405020304" pitchFamily="18" charset="0"/>
              </a:rPr>
              <a:t>. 2023;21(11):1181-1203.</a:t>
            </a:r>
            <a:endParaRPr lang="en-US" sz="3100" dirty="0">
              <a:latin typeface="Times New Roman" panose="02020603050405020304" pitchFamily="18" charset="0"/>
              <a:cs typeface="Times New Roman" panose="02020603050405020304" pitchFamily="18" charset="0"/>
            </a:endParaRPr>
          </a:p>
          <a:p>
            <a:r>
              <a:rPr lang="en-US" sz="3100" dirty="0">
                <a:latin typeface="Times New Roman" panose="02020603050405020304" pitchFamily="18" charset="0"/>
                <a:cs typeface="Times New Roman" panose="02020603050405020304" pitchFamily="18" charset="0"/>
              </a:rPr>
              <a:t>Drucker AM, Adam GP, </a:t>
            </a:r>
            <a:r>
              <a:rPr lang="en-US" sz="3100" dirty="0" err="1">
                <a:latin typeface="Times New Roman" panose="02020603050405020304" pitchFamily="18" charset="0"/>
                <a:cs typeface="Times New Roman" panose="02020603050405020304" pitchFamily="18" charset="0"/>
              </a:rPr>
              <a:t>Rofeberg</a:t>
            </a:r>
            <a:r>
              <a:rPr lang="en-US" sz="3100" dirty="0">
                <a:latin typeface="Times New Roman" panose="02020603050405020304" pitchFamily="18" charset="0"/>
                <a:cs typeface="Times New Roman" panose="02020603050405020304" pitchFamily="18" charset="0"/>
              </a:rPr>
              <a:t> V, </a:t>
            </a:r>
            <a:r>
              <a:rPr lang="en-US" sz="3100" dirty="0" err="1">
                <a:latin typeface="Times New Roman" panose="02020603050405020304" pitchFamily="18" charset="0"/>
                <a:cs typeface="Times New Roman" panose="02020603050405020304" pitchFamily="18" charset="0"/>
              </a:rPr>
              <a:t>Gazula</a:t>
            </a:r>
            <a:r>
              <a:rPr lang="en-US" sz="3100" dirty="0">
                <a:latin typeface="Times New Roman" panose="02020603050405020304" pitchFamily="18" charset="0"/>
                <a:cs typeface="Times New Roman" panose="02020603050405020304" pitchFamily="18" charset="0"/>
              </a:rPr>
              <a:t> A, Smith B, Moustafa F, Weinstock MA, </a:t>
            </a:r>
            <a:r>
              <a:rPr lang="en-US" sz="3100" dirty="0" err="1">
                <a:latin typeface="Times New Roman" panose="02020603050405020304" pitchFamily="18" charset="0"/>
                <a:cs typeface="Times New Roman" panose="02020603050405020304" pitchFamily="18" charset="0"/>
              </a:rPr>
              <a:t>Trikalinos</a:t>
            </a:r>
            <a:r>
              <a:rPr lang="en-US" sz="3100" dirty="0">
                <a:latin typeface="Times New Roman" panose="02020603050405020304" pitchFamily="18" charset="0"/>
                <a:cs typeface="Times New Roman" panose="02020603050405020304" pitchFamily="18" charset="0"/>
              </a:rPr>
              <a:t> TA. Treatments of Primary Basal Cell Carcinoma of the Skin: A Systematic Review and Network Meta-analysis. Ann Intern Med. 2018 Oct 2;169(7):456-466. </a:t>
            </a:r>
            <a:r>
              <a:rPr lang="en-US" sz="3100" dirty="0" err="1">
                <a:latin typeface="Times New Roman" panose="02020603050405020304" pitchFamily="18" charset="0"/>
                <a:cs typeface="Times New Roman" panose="02020603050405020304" pitchFamily="18" charset="0"/>
              </a:rPr>
              <a:t>doi</a:t>
            </a:r>
            <a:r>
              <a:rPr lang="en-US" sz="3100" dirty="0">
                <a:latin typeface="Times New Roman" panose="02020603050405020304" pitchFamily="18" charset="0"/>
                <a:cs typeface="Times New Roman" panose="02020603050405020304" pitchFamily="18" charset="0"/>
              </a:rPr>
              <a:t>: 10.7326/M18-0678. </a:t>
            </a:r>
            <a:r>
              <a:rPr lang="en-US" sz="3100" dirty="0" err="1">
                <a:latin typeface="Times New Roman" panose="02020603050405020304" pitchFamily="18" charset="0"/>
                <a:cs typeface="Times New Roman" panose="02020603050405020304" pitchFamily="18" charset="0"/>
              </a:rPr>
              <a:t>Epub</a:t>
            </a:r>
            <a:r>
              <a:rPr lang="en-US" sz="3100" dirty="0">
                <a:latin typeface="Times New Roman" panose="02020603050405020304" pitchFamily="18" charset="0"/>
                <a:cs typeface="Times New Roman" panose="02020603050405020304" pitchFamily="18" charset="0"/>
              </a:rPr>
              <a:t> 2018 Sep 18. PMID: 30242379.</a:t>
            </a:r>
            <a:endParaRPr lang="en-US" sz="3100" dirty="0">
              <a:latin typeface="Times New Roman" panose="02020603050405020304" pitchFamily="18" charset="0"/>
              <a:cs typeface="Times New Roman" panose="02020603050405020304" pitchFamily="18" charset="0"/>
            </a:endParaRPr>
          </a:p>
          <a:p>
            <a:r>
              <a:rPr lang="en-US" sz="3100" dirty="0">
                <a:latin typeface="Times New Roman" panose="02020603050405020304" pitchFamily="18" charset="0"/>
                <a:cs typeface="Times New Roman" panose="02020603050405020304" pitchFamily="18" charset="0"/>
              </a:rPr>
              <a:t>Wolf, D.J. and Zitelli, J.A., 1987. Surgical margins for basal cell carcinoma. </a:t>
            </a:r>
            <a:r>
              <a:rPr lang="en-US" sz="3100" i="1" dirty="0">
                <a:latin typeface="Times New Roman" panose="02020603050405020304" pitchFamily="18" charset="0"/>
                <a:cs typeface="Times New Roman" panose="02020603050405020304" pitchFamily="18" charset="0"/>
              </a:rPr>
              <a:t>Archives of dermatology</a:t>
            </a:r>
            <a:r>
              <a:rPr lang="en-US" sz="3100" dirty="0">
                <a:latin typeface="Times New Roman" panose="02020603050405020304" pitchFamily="18" charset="0"/>
                <a:cs typeface="Times New Roman" panose="02020603050405020304" pitchFamily="18" charset="0"/>
              </a:rPr>
              <a:t>, </a:t>
            </a:r>
            <a:r>
              <a:rPr lang="en-US" sz="3100" i="1" dirty="0">
                <a:latin typeface="Times New Roman" panose="02020603050405020304" pitchFamily="18" charset="0"/>
                <a:cs typeface="Times New Roman" panose="02020603050405020304" pitchFamily="18" charset="0"/>
              </a:rPr>
              <a:t>123</a:t>
            </a:r>
            <a:r>
              <a:rPr lang="en-US" sz="3100" dirty="0">
                <a:latin typeface="Times New Roman" panose="02020603050405020304" pitchFamily="18" charset="0"/>
                <a:cs typeface="Times New Roman" panose="02020603050405020304" pitchFamily="18" charset="0"/>
              </a:rPr>
              <a:t>(3), pp.340-344.</a:t>
            </a:r>
            <a:endParaRPr lang="en-US" sz="3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Wang M, et al. Recent Global Patterns in Skin Cancer Incidence, Mortality and Burden, 2024–2025</a:t>
            </a:r>
            <a:endParaRPr lang="en-US" dirty="0"/>
          </a:p>
          <a:p>
            <a:r>
              <a:rPr lang="en-US" dirty="0"/>
              <a:t>Roky AH, et al. Overview of Skin Cancer Types and Prevalence Rates Across Continents, 2025</a:t>
            </a:r>
            <a:endParaRPr lang="en-US" dirty="0"/>
          </a:p>
          <a:p>
            <a:r>
              <a:rPr lang="en-US" dirty="0"/>
              <a:t>Faries MB, Thompson JF, Cochran AJ, et al. Completion Dissection or Observation for Sentinel-Node Metastasis in Melanoma. </a:t>
            </a:r>
            <a:r>
              <a:rPr lang="en-US" i="1" dirty="0"/>
              <a:t>N Engl J Med</a:t>
            </a:r>
            <a:r>
              <a:rPr lang="en-US" dirty="0"/>
              <a:t>. 2017;376(23):2211–2222. doi:10.1056/NEJMoa1613210</a:t>
            </a:r>
            <a:endParaRPr lang="en-US" dirty="0"/>
          </a:p>
          <a:p>
            <a:r>
              <a:rPr lang="en-US" dirty="0" err="1"/>
              <a:t>Michielin</a:t>
            </a:r>
            <a:r>
              <a:rPr lang="en-US" dirty="0"/>
              <a:t> O, van </a:t>
            </a:r>
            <a:r>
              <a:rPr lang="en-US" dirty="0" err="1"/>
              <a:t>Akkooi</a:t>
            </a:r>
            <a:r>
              <a:rPr lang="en-US" dirty="0"/>
              <a:t> ACJ, </a:t>
            </a:r>
            <a:r>
              <a:rPr lang="en-US" dirty="0" err="1"/>
              <a:t>Ascierto</a:t>
            </a:r>
            <a:r>
              <a:rPr lang="en-US" dirty="0"/>
              <a:t> PA, Dummer R, Keilholz U; ESMO Guidelines Committee. Electronic address: clinicalguidelines@esmo.org. Cutaneous melanoma: ESMO Clinical Practice Guidelines for diagnosis, treatment and follow-up†. Ann Oncol. 2019 Dec 1;30(12):1884-1901. </a:t>
            </a:r>
            <a:r>
              <a:rPr lang="en-US" dirty="0" err="1"/>
              <a:t>doi</a:t>
            </a:r>
            <a:r>
              <a:rPr lang="en-US" dirty="0"/>
              <a:t>: 10.1093/</a:t>
            </a:r>
            <a:r>
              <a:rPr lang="en-US" dirty="0" err="1"/>
              <a:t>annonc</a:t>
            </a:r>
            <a:r>
              <a:rPr lang="en-US" dirty="0"/>
              <a:t>/mdz411. PMID: 31566661.</a:t>
            </a:r>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Barthelmann S, </a:t>
            </a:r>
            <a:r>
              <a:rPr lang="en-US" dirty="0" err="1"/>
              <a:t>Bustch</a:t>
            </a:r>
            <a:r>
              <a:rPr lang="en-US" dirty="0"/>
              <a:t> F, Lang BM, et al. Seborrheic </a:t>
            </a:r>
            <a:r>
              <a:rPr lang="en-US" dirty="0" err="1"/>
              <a:t>keratosis.J</a:t>
            </a:r>
            <a:r>
              <a:rPr lang="en-US" dirty="0"/>
              <a:t> </a:t>
            </a:r>
            <a:r>
              <a:rPr lang="en-US" dirty="0" err="1"/>
              <a:t>Dtsch</a:t>
            </a:r>
            <a:r>
              <a:rPr lang="en-US" dirty="0"/>
              <a:t> Dermatol Ges 2023; 21:262</a:t>
            </a:r>
            <a:endParaRPr lang="en-US" dirty="0"/>
          </a:p>
          <a:p>
            <a:r>
              <a:rPr lang="en-US" dirty="0"/>
              <a:t>Khanna N, </a:t>
            </a:r>
            <a:r>
              <a:rPr lang="en-US" dirty="0" err="1"/>
              <a:t>Sacchidanand</a:t>
            </a:r>
            <a:r>
              <a:rPr lang="en-US" dirty="0"/>
              <a:t> S, Khopkar U, editors. </a:t>
            </a:r>
            <a:r>
              <a:rPr lang="en-US" i="1" dirty="0"/>
              <a:t>IADVL Textbook of Dermatology</a:t>
            </a:r>
            <a:r>
              <a:rPr lang="en-US" dirty="0"/>
              <a:t>. 4th ed. Mumbai: </a:t>
            </a:r>
            <a:r>
              <a:rPr lang="en-US" dirty="0" err="1"/>
              <a:t>Bhalani</a:t>
            </a:r>
            <a:r>
              <a:rPr lang="en-US" dirty="0"/>
              <a:t> Publishing House; 2023.</a:t>
            </a:r>
            <a:endParaRPr lang="en-US" dirty="0"/>
          </a:p>
          <a:p>
            <a:r>
              <a:rPr lang="en-US" dirty="0"/>
              <a:t>Clinical Dermatology : 3</a:t>
            </a:r>
            <a:r>
              <a:rPr lang="en-US" baseline="30000" dirty="0"/>
              <a:t>rd</a:t>
            </a:r>
            <a:r>
              <a:rPr lang="en-US" dirty="0"/>
              <a:t> ed. </a:t>
            </a:r>
            <a:r>
              <a:rPr lang="en-US"/>
              <a:t>John Hunter, John Savin and Mark Dahl</a:t>
            </a:r>
            <a:endParaRPr lang="en-US" dirty="0"/>
          </a:p>
          <a:p>
            <a:r>
              <a:rPr lang="en-US" dirty="0"/>
              <a:t>Fitzpatrick's Dermatology. Kang S, Amagai M, Bruckner AL, et al., editors. New York: McGraw-Hill Education; 2019.</a:t>
            </a:r>
            <a:endParaRPr lang="en-US" dirty="0"/>
          </a:p>
          <a:p>
            <a:r>
              <a:rPr lang="en-US" dirty="0" err="1"/>
              <a:t>Chalya</a:t>
            </a:r>
            <a:r>
              <a:rPr lang="en-US" dirty="0"/>
              <a:t> PL, </a:t>
            </a:r>
            <a:r>
              <a:rPr lang="en-US" dirty="0" err="1"/>
              <a:t>Gilyoma</a:t>
            </a:r>
            <a:r>
              <a:rPr lang="en-US" dirty="0"/>
              <a:t> JM, </a:t>
            </a:r>
            <a:r>
              <a:rPr lang="en-US" dirty="0" err="1"/>
              <a:t>Kanumba</a:t>
            </a:r>
            <a:r>
              <a:rPr lang="en-US" dirty="0"/>
              <a:t> ES, </a:t>
            </a:r>
            <a:r>
              <a:rPr lang="en-US" dirty="0" err="1"/>
              <a:t>Mawalla</a:t>
            </a:r>
            <a:r>
              <a:rPr lang="en-US" dirty="0"/>
              <a:t> B, </a:t>
            </a:r>
            <a:r>
              <a:rPr lang="en-US" dirty="0" err="1"/>
              <a:t>Masalu</a:t>
            </a:r>
            <a:r>
              <a:rPr lang="en-US" dirty="0"/>
              <a:t> N, </a:t>
            </a:r>
            <a:r>
              <a:rPr lang="en-US" dirty="0" err="1"/>
              <a:t>Kahima</a:t>
            </a:r>
            <a:r>
              <a:rPr lang="en-US" dirty="0"/>
              <a:t> KJ, et al. Dermatological malignancies at a University Teaching Hospital in north-western Tanzania: a retrospective review of 154 cases. </a:t>
            </a:r>
            <a:r>
              <a:rPr lang="en-US" i="1" dirty="0" err="1"/>
              <a:t>Tanzan</a:t>
            </a:r>
            <a:r>
              <a:rPr lang="en-US" i="1" dirty="0"/>
              <a:t> J Health Res</a:t>
            </a:r>
            <a:r>
              <a:rPr lang="en-US" dirty="0"/>
              <a:t>. 2012;14(1):9-14.</a:t>
            </a:r>
            <a:endParaRPr lang="en-US"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40518</Words>
  <Application>WPS Presentation</Application>
  <PresentationFormat>Widescreen</PresentationFormat>
  <Paragraphs>1278</Paragraphs>
  <Slides>124</Slides>
  <Notes>27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124</vt:i4>
      </vt:variant>
    </vt:vector>
  </HeadingPairs>
  <TitlesOfParts>
    <vt:vector size="134" baseType="lpstr">
      <vt:lpstr>Arial</vt:lpstr>
      <vt:lpstr>SimSun</vt:lpstr>
      <vt:lpstr>Wingdings</vt:lpstr>
      <vt:lpstr>Times New Roman</vt:lpstr>
      <vt:lpstr>Microsoft YaHei</vt:lpstr>
      <vt:lpstr>Arial Unicode MS</vt:lpstr>
      <vt:lpstr>Calibri</vt:lpstr>
      <vt:lpstr>Liberation Sans</vt:lpstr>
      <vt:lpstr>Segoe Print</vt:lpstr>
      <vt:lpstr>Office Theme</vt:lpstr>
      <vt:lpstr>TUMORS OF THE SKIN OTHER THAN KAPOSI SARCOMA</vt:lpstr>
      <vt:lpstr>PowerPoint 演示文稿</vt:lpstr>
      <vt:lpstr>Skin Tumor Classification</vt:lpstr>
      <vt:lpstr>BENIGN TUMORS OF THE SKIN</vt:lpstr>
      <vt:lpstr>EPIDERMAL TUMORS  Seborrheic Keratosis</vt:lpstr>
      <vt:lpstr>Suborrheic Keratosis Cont”</vt:lpstr>
      <vt:lpstr>PowerPoint 演示文稿</vt:lpstr>
      <vt:lpstr>Article review</vt:lpstr>
      <vt:lpstr>Cont……</vt:lpstr>
      <vt:lpstr>PowerPoint 演示文稿</vt:lpstr>
      <vt:lpstr>PIGMENTED LESIONS Solar Lentigo</vt:lpstr>
      <vt:lpstr>DERMAL  TUMORS Acrochordons(Skin tags)</vt:lpstr>
      <vt:lpstr>APPENDAGEAL(ADNEXAL) TUMORS Sebacious cyst</vt:lpstr>
      <vt:lpstr> FIBROUS TUMOR  Keloids</vt:lpstr>
      <vt:lpstr>Clinical course</vt:lpstr>
      <vt:lpstr>Treatment of Keloids</vt:lpstr>
      <vt:lpstr>NERVE TUMOR Neurofibromas</vt:lpstr>
      <vt:lpstr>Treatment</vt:lpstr>
      <vt:lpstr>VASCULAR TUMORS </vt:lpstr>
      <vt:lpstr>Cherry angiomas</vt:lpstr>
      <vt:lpstr>7.Pyogenic granuloma</vt:lpstr>
      <vt:lpstr>Clinical course</vt:lpstr>
      <vt:lpstr>Treatment</vt:lpstr>
      <vt:lpstr>TUMORS OF SUBCUTANEOUS FAT</vt:lpstr>
      <vt:lpstr>PRE-MALIGNANT TUMORS OF THE SKIN</vt:lpstr>
      <vt:lpstr>Actinic Keratosis</vt:lpstr>
      <vt:lpstr>Arsenical Keratosis</vt:lpstr>
      <vt:lpstr>Treatment</vt:lpstr>
      <vt:lpstr>Verrucae Vulgaris</vt:lpstr>
      <vt:lpstr>Verruca Plantaris</vt:lpstr>
      <vt:lpstr>Verruca Planar</vt:lpstr>
      <vt:lpstr>Treatment</vt:lpstr>
      <vt:lpstr>PowerPoint 演示文稿</vt:lpstr>
      <vt:lpstr>Article review</vt:lpstr>
      <vt:lpstr>Cont……</vt:lpstr>
      <vt:lpstr>Cont..</vt:lpstr>
      <vt:lpstr>SUMMARY FOR URGENT BIOPSY</vt:lpstr>
      <vt:lpstr>Malignant Skin Tumors</vt:lpstr>
      <vt:lpstr>Types of Skin Cancer</vt:lpstr>
      <vt:lpstr>Basal cell carcinoma (BCC)</vt:lpstr>
      <vt:lpstr>Epidemiology</vt:lpstr>
      <vt:lpstr>PowerPoint 演示文稿</vt:lpstr>
      <vt:lpstr>Etiology and Risk Factors </vt:lpstr>
      <vt:lpstr>Hedgehog signaling pathway</vt:lpstr>
      <vt:lpstr>PowerPoint 演示文稿</vt:lpstr>
      <vt:lpstr>Clinical presentations</vt:lpstr>
      <vt:lpstr>Clinical variant of BCC</vt:lpstr>
      <vt:lpstr>PowerPoint 演示文稿</vt:lpstr>
      <vt:lpstr>Superficial BCC</vt:lpstr>
      <vt:lpstr>PowerPoint 演示文稿</vt:lpstr>
      <vt:lpstr>Morpheaform bcc</vt:lpstr>
      <vt:lpstr>PowerPoint 演示文稿</vt:lpstr>
      <vt:lpstr>Basosquamous carcinoma</vt:lpstr>
      <vt:lpstr>Diagnosis</vt:lpstr>
      <vt:lpstr>Risk stratification-NCCN</vt:lpstr>
      <vt:lpstr>PowerPoint 演示文稿</vt:lpstr>
      <vt:lpstr>Size criteria</vt:lpstr>
      <vt:lpstr>Treatment of low risk-BCC</vt:lpstr>
      <vt:lpstr>3. Topical Therapies</vt:lpstr>
      <vt:lpstr>PowerPoint 演示文稿</vt:lpstr>
      <vt:lpstr>Management of High-Risk BCC</vt:lpstr>
      <vt:lpstr>PowerPoint 演示文稿</vt:lpstr>
      <vt:lpstr>2. Radiation Therapy </vt:lpstr>
      <vt:lpstr>Local advanced and metastatic BCC</vt:lpstr>
      <vt:lpstr>Systemic therapy</vt:lpstr>
      <vt:lpstr>ERIVANCE BCC Trial (Vismodegib)</vt:lpstr>
      <vt:lpstr>Article review</vt:lpstr>
      <vt:lpstr>PowerPoint 演示文稿</vt:lpstr>
      <vt:lpstr>PowerPoint 演示文稿</vt:lpstr>
      <vt:lpstr>BOLT Trial (Sonidegib)</vt:lpstr>
      <vt:lpstr>Article review</vt:lpstr>
      <vt:lpstr>PowerPoint 演示文稿</vt:lpstr>
      <vt:lpstr>PowerPoint 演示文稿</vt:lpstr>
      <vt:lpstr>2. Immunotherapy </vt:lpstr>
      <vt:lpstr>Follow-Up and Surveillance </vt:lpstr>
      <vt:lpstr>Prognosis</vt:lpstr>
      <vt:lpstr>Squamous cell carcinoma (SCC)</vt:lpstr>
      <vt:lpstr>Etiology and risk factors</vt:lpstr>
      <vt:lpstr>PowerPoint 演示文稿</vt:lpstr>
      <vt:lpstr>PowerPoint 演示文稿</vt:lpstr>
      <vt:lpstr>Clinical presentations</vt:lpstr>
      <vt:lpstr>PowerPoint 演示文稿</vt:lpstr>
      <vt:lpstr>Metastases </vt:lpstr>
      <vt:lpstr>Diagnosis</vt:lpstr>
      <vt:lpstr>TREATMENT </vt:lpstr>
      <vt:lpstr>OTHER THERAPIES</vt:lpstr>
      <vt:lpstr>PROGNOSIS</vt:lpstr>
      <vt:lpstr>MALIGNANT MELANOMA (MM)</vt:lpstr>
      <vt:lpstr>Epidermiology</vt:lpstr>
      <vt:lpstr>Cont…</vt:lpstr>
      <vt:lpstr>Risk factors</vt:lpstr>
      <vt:lpstr>Clinical features</vt:lpstr>
      <vt:lpstr>Lentigo maligna melanoma</vt:lpstr>
      <vt:lpstr>Acral lentiginous melanoma </vt:lpstr>
      <vt:lpstr>Nodular Melanoma </vt:lpstr>
      <vt:lpstr>Superficial spreading melanoma </vt:lpstr>
      <vt:lpstr>PowerPoint 演示文稿</vt:lpstr>
      <vt:lpstr>PowerPoint 演示文稿</vt:lpstr>
      <vt:lpstr>PowerPoint 演示文稿</vt:lpstr>
      <vt:lpstr>PowerPoint 演示文稿</vt:lpstr>
      <vt:lpstr>PowerPoint 演示文稿</vt:lpstr>
      <vt:lpstr>Treatment</vt:lpstr>
      <vt:lpstr>PowerPoint 演示文稿</vt:lpstr>
      <vt:lpstr>Stage II (IIA–IIC)</vt:lpstr>
      <vt:lpstr>Stage III (Regional Nodal Disease) </vt:lpstr>
      <vt:lpstr>Nodal basin ultrasound surveillance</vt:lpstr>
      <vt:lpstr>PowerPoint 演示文稿</vt:lpstr>
      <vt:lpstr>Article review</vt:lpstr>
      <vt:lpstr>PowerPoint 演示文稿</vt:lpstr>
      <vt:lpstr>PowerPoint 演示文稿</vt:lpstr>
      <vt:lpstr>Article review</vt:lpstr>
      <vt:lpstr>PowerPoint 演示文稿</vt:lpstr>
      <vt:lpstr>PowerPoint 演示文稿</vt:lpstr>
      <vt:lpstr>2. Clinically Detectable Resectable Stage III Melanoma</vt:lpstr>
      <vt:lpstr>Stage IV (Metastatic Melanoma) </vt:lpstr>
      <vt:lpstr>PowerPoint 演示文稿</vt:lpstr>
      <vt:lpstr>Radiation Therapy </vt:lpstr>
      <vt:lpstr>PowerPoint 演示文稿</vt:lpstr>
      <vt:lpstr>PowerPoint 演示文稿</vt:lpstr>
      <vt:lpstr>PowerPoint 演示文稿</vt:lpstr>
      <vt:lpstr>PowerPoint 演示文稿</vt:lpstr>
      <vt:lpstr>References</vt:lpstr>
      <vt:lpstr>PowerPoint 演示文稿</vt:lpstr>
      <vt:lpstr>PowerPoint 演示文稿</vt:lpstr>
    </vt:vector>
  </TitlesOfParts>
  <Company>Grizli777</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Malignant Skin Tumors</dc:title>
  <dc:creator>AIIMSRishikesh</dc:creator>
  <cp:lastModifiedBy>hp</cp:lastModifiedBy>
  <cp:revision>154</cp:revision>
  <dcterms:created xsi:type="dcterms:W3CDTF">2019-08-19T06:19:00Z</dcterms:created>
  <dcterms:modified xsi:type="dcterms:W3CDTF">2026-07-18T19:29:01Z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161DBC6AB75C44C48FE2C928120A5E88_12</vt:lpwstr>
  </property>
</Properties>
</file>