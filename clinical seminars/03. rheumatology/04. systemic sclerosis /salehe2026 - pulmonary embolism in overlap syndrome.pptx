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500" kern="0" dirty="0">
                <a:solidFill>
                  <a:srgbClr val="AA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ROUND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Embolism in the Context of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Connective Tissue Disease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Inflammatory Myopathy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Presenters: </a:t>
            </a:r>
            <a:pPr algn="ctr" indent="0" marL="0">
              <a:buNone/>
            </a:pPr>
            <a:r>
              <a:rPr lang="en-US" sz="140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Amina Saleh  |  Dr. Brian Komba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13th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PARTICULARS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640080"/>
          </a:xfrm>
          <a:prstGeom prst="rect">
            <a:avLst/>
          </a:prstGeom>
          <a:solidFill>
            <a:srgbClr val="EBF1F8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640080"/>
          </a:xfrm>
          <a:prstGeom prst="rect">
            <a:avLst/>
          </a:prstGeom>
          <a:solidFill>
            <a:srgbClr val="EBF1F8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3168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years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874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Sex: </a:t>
            </a:r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874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Residency: </a:t>
            </a:r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es Salaam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023360" cy="640080"/>
          </a:xfrm>
          <a:prstGeom prst="rect">
            <a:avLst/>
          </a:prstGeom>
          <a:solidFill>
            <a:srgbClr val="EBF1F8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6517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Level: </a:t>
            </a:r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Graduate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560320"/>
            <a:ext cx="4023360" cy="640080"/>
          </a:xfrm>
          <a:prstGeom prst="rect">
            <a:avLst/>
          </a:prstGeom>
          <a:solidFill>
            <a:srgbClr val="EBF1F8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6517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</a:t>
            </a:r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Secondary School Teacher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4290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Status: </a:t>
            </a:r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(NHIF)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33756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4290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Informant: </a:t>
            </a:r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herself (reliable)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72-year-old retired teacher, known asthmatic since childhood (&gt;20 years), last severe attack January 2026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on Salmeterol/Fluticasone inhaler + Montelukast; home nebulization for rescue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with hypertension 1 year ago — on Losartan 50 mg once daily, attending MNH outpatient clinic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confirmed pulmonary embolism (CT-PA, 2025) — commenced on Rivaroxaban 20 mg daily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onset proximal limb weakness and progressive exertional dyspnea prompting current admission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COMPLAINTS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749808"/>
          </a:xfrm>
          <a:prstGeom prst="rect">
            <a:avLst/>
          </a:prstGeom>
          <a:solidFill>
            <a:srgbClr val="EBF1F8"/>
          </a:solidFill>
          <a:ln w="6350">
            <a:solidFill>
              <a:srgbClr val="C8D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475488" cy="475488"/>
          </a:xfrm>
          <a:prstGeom prst="ellipse">
            <a:avLst/>
          </a:prstGeom>
          <a:solidFill>
            <a:srgbClr val="2E5B8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43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numbness &amp; tingling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097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8503920" cy="749808"/>
          </a:xfrm>
          <a:prstGeom prst="rect">
            <a:avLst/>
          </a:prstGeom>
          <a:solidFill>
            <a:srgbClr val="FAFCFF"/>
          </a:solidFill>
          <a:ln w="6350">
            <a:solidFill>
              <a:srgbClr val="C8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39112"/>
            <a:ext cx="475488" cy="475488"/>
          </a:xfrm>
          <a:prstGeom prst="ellipse">
            <a:avLst/>
          </a:prstGeom>
          <a:solidFill>
            <a:srgbClr val="2E5B8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39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exertional dyspnea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9933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8503920" cy="749808"/>
          </a:xfrm>
          <a:prstGeom prst="rect">
            <a:avLst/>
          </a:prstGeom>
          <a:solidFill>
            <a:srgbClr val="EBF1F8"/>
          </a:solidFill>
          <a:ln w="6350">
            <a:solidFill>
              <a:srgbClr val="C8D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35224"/>
            <a:ext cx="475488" cy="475488"/>
          </a:xfrm>
          <a:prstGeom prst="ellipse">
            <a:avLst/>
          </a:prstGeom>
          <a:solidFill>
            <a:srgbClr val="2E5B8C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935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8895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muscle weakness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8895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694176"/>
            <a:ext cx="8503920" cy="749808"/>
          </a:xfrm>
          <a:prstGeom prst="rect">
            <a:avLst/>
          </a:prstGeom>
          <a:solidFill>
            <a:srgbClr val="FAFCFF"/>
          </a:solidFill>
          <a:ln w="6350">
            <a:solidFill>
              <a:srgbClr val="C8D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831336"/>
            <a:ext cx="475488" cy="475488"/>
          </a:xfrm>
          <a:prstGeom prst="ellipse">
            <a:avLst/>
          </a:prstGeom>
          <a:solidFill>
            <a:srgbClr val="2E5B8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831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78561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cough &amp; pleuritic chest pain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7856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PRESENTING ILLNESS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Numbness &amp; Tingling — 4 months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onset; started in bilateral feet symmetrically and spread proximally over weeks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as tingling / 'pins and needles', worse at night, episodes lasting ~30 minutes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level progressing to mid-calf bilaterally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associated with weakness or difficulty walking at onset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colour change of digits on cold exposure (Raynaud's excluded)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joint pain, joint swelling, redness, or morning stiffness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dry eyes or dry mouth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PRESENTING ILLNESS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Muscle Weakness — 6 months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onset, progressive course; affects both upper and lower limbs symmetrically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Initially: difficulty rising from a chair/squatting, climbing stairs, holding heavy objects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Progressed: required support to walk 2 months after onset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fine motor: able to feed self, hold a cup, button shirt, write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reaching objects above head (proximal &gt; distal pattern)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worsened by repeated or sustained activity (myasthenia excluded)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fasciculations, muscle pain, or focal wasting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PRESENTING ILLNESS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Exertional Dyspnea — 3 months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onset, progressive; initially on moderate exertion, later on minimal activity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stopping to sit and recover breath while walking around the home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dry cough — nocturnal, on and off, worsening at night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left-sided chest pain, worsened by deep inspiration and coughing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Wheezing in the 1 week prior to admission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fatiguability and malaise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orthopnea or paroxysmal nocturnal dyspnea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PRESENTING ILLNESS — NEGATIVE HISTORY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/ Cardiac negatives: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orthopnea, no paroxysmal nocturnal dyspnea, no peripheral oedema, no palpitations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haemoptysis, no pleuritic pain on right side, no cyanosis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negatives: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fever, no significant weight loss, no drenching night sweats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TB contact history; no use of unpasteurised milk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/ Rheumatological negatives: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heliotrope rash, shawl sign, or Gottron's papules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Raynaud's phenomenon, no skin tightening, no fingertip ulcerations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dry eyes/mouth; no facial swelling; no frothy urine, blood in urine, or reduced urine output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PRESENTING ILLNESS — NEGATIVE HISTORY (CONT.)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negatives: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convulsions or loss of consciousness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dysarthria, dysphagia, or diplopia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bladder or bowel incontinence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tremors, no memory loss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/ Exposure history: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statins, hydralazine, procainamide, amiodarone, or colchicine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smoking, no biomass fuel exposure, no occupational dust or chemical exposure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alcohol or recreational drug use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chemotherapy or radiotherapy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OF ILLNESS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7680960" cy="0"/>
          </a:xfrm>
          <a:prstGeom prst="line">
            <a:avLst/>
          </a:prstGeom>
          <a:noFill/>
          <a:ln w="38100">
            <a:solidFill>
              <a:srgbClr val="2E5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633472"/>
            <a:ext cx="274320" cy="274320"/>
          </a:xfrm>
          <a:prstGeom prst="ellipse">
            <a:avLst/>
          </a:prstGeom>
          <a:solidFill>
            <a:srgbClr val="2E5B8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3200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diagnosed;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on inhaler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2633472"/>
            <a:ext cx="274320" cy="274320"/>
          </a:xfrm>
          <a:prstGeom prst="ellipse">
            <a:avLst/>
          </a:prstGeom>
          <a:solidFill>
            <a:srgbClr val="2E5B8C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3200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Admitted: Dyspnea;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&amp; HTN diagnosed;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Rivaroxaban + Losartan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633472"/>
            <a:ext cx="274320" cy="274320"/>
          </a:xfrm>
          <a:prstGeom prst="ellipse">
            <a:avLst/>
          </a:prstGeom>
          <a:solidFill>
            <a:srgbClr val="2E5B8C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3200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of bilateral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limb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noted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2633472"/>
            <a:ext cx="274320" cy="274320"/>
          </a:xfrm>
          <a:prstGeom prst="ellipse">
            <a:avLst/>
          </a:prstGeom>
          <a:solidFill>
            <a:srgbClr val="2E5B8C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3200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asthma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attack; not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2633472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3200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 dyspnea,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wheezing &amp; weakness;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 MNH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OTHER SYSTEMS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 pain, discharge, throat pain or change in voice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nausea/vomiting, abdominal pain, distension or early satiety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yellowish discoloration of eyes or skin; no change in bowel habits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melaena, haematochezia, or blood in stool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Genitourinary: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dysuria, haematuria, frothy urine, or reduced urine output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anterior neck swelling; no heat/cold intolerance; no excessive sweating or agitation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MEDICAL HISTORY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hospital admissions for asthma — last admission approximately 12 months ago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pulmonary embolism (March 2025) — currently on Rivaroxaban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diagnosed March 2025 — on Losartan 50 mg once daily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of surgery or blood transfusion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food or drug allergies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diabetic; no prior renal or hepatic disease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autoimmune or connective tissue disease diagnosis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of malignancy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AND SOCIAL HISTORY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with 3 children; lives with her husband and adult children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family history of diabetes mellitus, autoimmune disease, or malignancy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deceased — cause unknown; mother alive, has hypertension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History: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secondary school teacher; NHIF insurance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cigarette smoking, no alcohol use, no recreational drug use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occupational exposure to dust, chemicals, or biomass fuels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GYNAECOLOGICAL HISTORY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Attained menopause at age 51 years (&gt;20 years post-menopausal)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hormonal replacement therapy (HRT) use — ever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 3, Para 3 + 0 (3 live births, no miscarriages)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of eclampsia or pre-eclampsia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of venous thromboembolism related to pregnancy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of recurrent pregnancy loss (antiphospholipid syndrome screening warranted)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HISTORY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3 meals per day — regular mealtimes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Breakfast: tea/porridge with bread, chapati, or cassava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Lunch: ugali or rice with beans, fish, meat, and green vegetables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Dinner: ugali or rice/bananas with meat, fish, or legumes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seasonal fruits; water intake approximately 2 L per day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dietary restrictions; no history of disordered eating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Diet adequate in quality and quantity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1 — PRE-EXAMINATION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3931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72-year-old post-menopausal woman with a background history of bronchial asthma, hypertension, and confirmed pulmonary embolism on Rivaroxaban, presents with a 6-month history of progressive, symmetrical proximal limb weakness affecting both upper and lower limbs. She additionally reports a 4-month history of bilateral peripheral numbness spreading from the feet to mid-calf, and a 3-month history of worsening exertional dyspnea, now present with minimal activity. Associated symptoms include a dry nocturnal cough, episodic wheezing, and left-sided pleuritic chest pain.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symptoms of DVT, no constitutional symptoms, and no features of cardiac failure. No autoimmune skin manifestations, joint symptoms, or features of Raynaud's phenomenon are reported.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EXAMINATION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conscious and alert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hair distribution; no alopecia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heliotrope rash; no malar rash; no V-sign or shawl sign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pale; not cyanotic; not jaundiced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angular stomatitis; no oral mucosal ulcerations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palpable lymphadenopathy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960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finger clubbing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Gottron's papules; no mechanic's hands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Raynaud's phenomenon; no swan neck or boutonniere deformities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Heberden's or Bouchard's nodes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lower limb oedema; no subcutaneous nodules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005840"/>
            <a:ext cx="0" cy="38404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Normal General Examination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 &amp; ANTHROPOMETRY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868680"/>
          </a:xfrm>
          <a:prstGeom prst="rect">
            <a:avLst/>
          </a:prstGeom>
          <a:solidFill>
            <a:srgbClr val="EBF1F8"/>
          </a:solidFill>
          <a:ln w="10160">
            <a:solidFill>
              <a:srgbClr val="2E5B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/ 81 mmHg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743200" cy="868680"/>
          </a:xfrm>
          <a:prstGeom prst="rect">
            <a:avLst/>
          </a:prstGeom>
          <a:solidFill>
            <a:srgbClr val="EBF1F8"/>
          </a:solidFill>
          <a:ln w="10160">
            <a:solidFill>
              <a:srgbClr val="2E5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bpm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15361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743200" cy="868680"/>
          </a:xfrm>
          <a:prstGeom prst="rect">
            <a:avLst/>
          </a:prstGeom>
          <a:solidFill>
            <a:srgbClr val="FFF0E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cpm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5361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Tachypnoea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65960"/>
            <a:ext cx="2743200" cy="868680"/>
          </a:xfrm>
          <a:prstGeom prst="rect">
            <a:avLst/>
          </a:prstGeom>
          <a:solidFill>
            <a:srgbClr val="EBF1F8"/>
          </a:solidFill>
          <a:ln w="10160">
            <a:solidFill>
              <a:srgbClr val="2E5B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11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37.2 °C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25420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Afebrile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1965960"/>
            <a:ext cx="2743200" cy="868680"/>
          </a:xfrm>
          <a:prstGeom prst="rect">
            <a:avLst/>
          </a:prstGeom>
          <a:solidFill>
            <a:srgbClr val="FFF0E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011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on 2 L O₂ NP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46120" y="25420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Hypoxaemic on 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965960"/>
            <a:ext cx="2743200" cy="868680"/>
          </a:xfrm>
          <a:prstGeom prst="rect">
            <a:avLst/>
          </a:prstGeom>
          <a:solidFill>
            <a:srgbClr val="EBF1F8"/>
          </a:solidFill>
          <a:ln w="10160">
            <a:solidFill>
              <a:srgbClr val="2E5B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011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mmol/L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25420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71800"/>
            <a:ext cx="2743200" cy="868680"/>
          </a:xfrm>
          <a:prstGeom prst="rect">
            <a:avLst/>
          </a:prstGeom>
          <a:solidFill>
            <a:srgbClr val="EBF1F8"/>
          </a:solidFill>
          <a:ln w="10160">
            <a:solidFill>
              <a:srgbClr val="2E5B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17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kg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54680" y="2971800"/>
            <a:ext cx="2743200" cy="868680"/>
          </a:xfrm>
          <a:prstGeom prst="rect">
            <a:avLst/>
          </a:prstGeom>
          <a:solidFill>
            <a:srgbClr val="EBF1F8"/>
          </a:solidFill>
          <a:ln w="10160">
            <a:solidFill>
              <a:srgbClr val="2E5B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017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4612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cm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4612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2971800"/>
            <a:ext cx="2743200" cy="868680"/>
          </a:xfrm>
          <a:prstGeom prst="rect">
            <a:avLst/>
          </a:prstGeom>
          <a:solidFill>
            <a:srgbClr val="EBF1F8"/>
          </a:solidFill>
          <a:ln w="10160">
            <a:solidFill>
              <a:srgbClr val="2E5B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017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 kg/m²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2648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SYSTEM EXAMINATION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Gait: antalgic and slow, required assistance of one person; could not rise from sitting unaided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limbs: No joint deformity or swelling; no muscle wasting; no tenderness; normal warmth and full range of movement; no subcutaneous nodules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limbs: No joint deformity or swelling; no muscle wasting; no tenderness; normal warmth and full range of movement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Spine: No deformity; no point of midline tenderness; full range of motion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 arthropathy; no skin manifestations — gait impaired by muscle weakness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SYSTEM EXAMINATION — HIGHER CENTRES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GCS: 15/15 (E4 V5 M6)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to time, place, and person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speech — fluent, no dysarthria or dysphasia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short- and long-term memory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signs of meningeal irritation (neck stiffness, Kernig's, Brudzinski's negative)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Normal higher centre examination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SYSTEM — CRANIAL NERVES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I: Normal olfaction bilaterally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II: Normal visual fields; visual acuity 6/6 both eyes; pupils equal, reactive to light (direct &amp; consensual); fundoscopy normal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III, IV, VI: Full extraocular movements in all directions; no nystagmus; no ptosis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V: Normal facial sensation; intact corneal reflex; able to clench jaw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VII: Symmetrical face; able to frown, close eyes against resistance, show teeth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VIII: Normal hearing bilaterally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IX, X: Uvula midline; normal palatal movement; no dysphonia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XI: Able to shrug shoulders against resistance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XII: Tongue protrudes midline; no fasciculations or atrophy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SYSTEM — UPPER LIMBS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Left Limb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Right Limb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Fasciculations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Bulk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 in all muscle groups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 in all muscle groups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Shoulder (F/E/Abd/Add)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Elbow (F/E)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4/5 / 4/5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4/5 / 4/5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Wrist (F/E)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5/5 / 5/5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5/5 / 5/5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Finger (F/E/Add/Abd)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Deep Tendon Reflexes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SYSTEM — LOWER LIMBS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Left Limb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Right Limb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Fasciculations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Bulk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Hip (F/E/Abd/Add)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Knee (F/E)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4/5 / 4/5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4/5 / 4/5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Ankle (dorsi/plantar)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5/5 / 5/5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5/5 / 5/5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Plantar Reflex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Flexor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Flexor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Ankle Jerk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Symmetrical proximal muscle weakness — upper and lower limbs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FUNCTION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97480"/>
                <a:gridCol w="2697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Modality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Lower Limb — Results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Upper Limb — Results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Joint Position Sense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Impaired — bilateral feet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Vibration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Impaired — bilateral mid-calf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Pin Prick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Reduced — bilateral to mid-calf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Temperature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Reduced — bilateral to mid-calf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Fine Touch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Reduced — bilateral to mid-calf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Length-dependent sensory neuropathy — bilateral lower limbs to mid-calf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&amp; BALANCE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limbs: Dysdiadochokinesia intact; finger-nose test normal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Romberg test: Positive — wide-based stance with eyes closed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Tandem gait: Unable to perform correctly — poor balance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Heel-shin test: Unable to assess (proximal weakness)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Gait: Not fully assessed; requires assistance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Positive Romberg sign — proprioceptive deficit; balance impaired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SYSTEM EXAMINATION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rate: 23 cpm (tachypnoeic)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chest wall deformity or operative scars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movements symmetrical on inspection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Trachea centrally located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chest expansion on the left side (inframammary region)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tactile vocal fremitus — left side inframammary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Stony dullness on percussion — left side inframammary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vesicular breath sounds — left side inframammary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vocal resonance — left side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bibasal crepitations noted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Tachypnoea and left-sided pleural effusion with basal crepitations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&amp; THYROID EXAMINATION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Examination: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 in size and shape; normal contour bilaterally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masses, skin changes, or nipple retraction/discharge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palpable masses; non-tender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Examination: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thyroid swelling, scars, or skin changes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gland not palpably enlarged; no nodules or tenderness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normally with swallowing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 abnormality detected on breast or thyroid examination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SYSTEM EXAMINATION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extremities; capillary refill &lt; 2 seconds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rate 81 bpm — regular, good volume, non-collapsing; synchronous radial/brachial/femoral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BP: 107/81 mmHg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raised jugular venous pressure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precordial hyperactivity; apex beat 5th ICS — lateral to LMCL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parasternal or apical heave; no palpable thrills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sounds S1 and S2 heard; no murmurs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pericardial friction rub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Normal CVS examination findings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EXAMINATION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abdominal contour; moves symmetrically with respiration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Umbilicus inverted and centrally located; no visible distended veins or surgical scars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non-tender on palpation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Kidneys not bimanually palpable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Spleen not palpable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span: 13 cm — not palpable below costal margin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Tympanic percussion note; normal bowel sounds; no renal or aortic bruits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anal verge; intact sphincter tone; no masses; brown stool on gloved finger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Normal abdominal examination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2 — POST-EXAMINATION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3931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72-year-old post-menopausal woman with asthma, hypertension, and a history of pulmonary embolism on Rivaroxaban presents with a 6-month progressive symmetrical proximal muscle weakness and a 4-month bilateral peripheral neuropathy (length-dependent, sensory). She also reports 3 months of worsening exertional dyspnea now occurring with minimal activity, dry nocturnal cough, wheezing, and left-sided pleuritic chest pain.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examination, she is tachypnoeic (RR 23) and hypoxaemic (requiring supplemental oxygen). Musculoskeletal examination reveals symmetrical proximal muscle weakness (power 4/5 proximally, 5/5 distally) in all four limbs without wasting or fasciculations. Sensory examination shows a bilateral length-dependent deficit to mid-calf. A positive Romberg sign is noted. Respiratory examination confirms a left-sided pleural effusion. No rash, arthropathy, or organomegaly is identified.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E5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109728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FORMULATION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list · Provisional diagnoses · Differential reasoning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LIST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asthmatic patient with history of pulmonary embolism on anticoagulation (Rivaroxaban)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symmetrical proximal muscle weakness — upper and lower limbs (6 months)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peripheral sensory neuropathy — length-dependent (4 months)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exertional dyspnea progressing to minimal exertion (3 months)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nocturnal cough with episodic wheezing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Tachypnoea (RR 23 cpm) and hypoxaemia on room air (SpO₂ requiring O₂ supplementation)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Left-sided pleural effusion on examination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Romberg sign — proprioceptive deficit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DIAGNOSIS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04672"/>
          </a:xfrm>
          <a:prstGeom prst="rect">
            <a:avLst/>
          </a:prstGeom>
          <a:solidFill>
            <a:srgbClr val="EBF5FF"/>
          </a:solidFill>
          <a:ln w="19050">
            <a:solidFill>
              <a:srgbClr val="2E5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24712"/>
            <a:ext cx="411480" cy="411480"/>
          </a:xfrm>
          <a:prstGeom prst="ellipse">
            <a:avLst/>
          </a:prstGeom>
          <a:solidFill>
            <a:srgbClr val="2E5B8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24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Idiopathic Inflammatory Myopathy (IIM) — Polymyositis / Antisynthetase Syndrome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99032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DDx: Dermatomyositis, Drug-induced Myopathy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8503920" cy="804672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57400"/>
            <a:ext cx="411480" cy="411480"/>
          </a:xfrm>
          <a:prstGeom prst="ellipse">
            <a:avLst/>
          </a:prstGeom>
          <a:solidFill>
            <a:srgbClr val="5A647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965960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/ Recurrent Pulmonary Embolism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31720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DDx: Interstitial Lung Disease (ILD)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25496"/>
            <a:ext cx="8503920" cy="804672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90088"/>
            <a:ext cx="411480" cy="411480"/>
          </a:xfrm>
          <a:prstGeom prst="ellipse">
            <a:avLst/>
          </a:prstGeom>
          <a:solidFill>
            <a:srgbClr val="5A6475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990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898648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Overlap CTD with Peripheral Neuropathy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64408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DDx: Diabetic Neuropathy, Vasculitic Neuropathy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58184"/>
            <a:ext cx="8503920" cy="804672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922776"/>
            <a:ext cx="411480" cy="411480"/>
          </a:xfrm>
          <a:prstGeom prst="ellipse">
            <a:avLst/>
          </a:prstGeom>
          <a:solidFill>
            <a:srgbClr val="5A6475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227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831336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Malignancy with Paraneoplastic Syndrome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197096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DDx: Extrapulmonary Tuberculosis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ACR/EULAR IIM CLASSIFICATION SCORING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0" y="1005840"/>
            <a:ext cx="2560320" cy="2286000"/>
          </a:xfrm>
          <a:prstGeom prst="rect">
            <a:avLst/>
          </a:prstGeom>
          <a:solidFill>
            <a:srgbClr val="2E5B8C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9.4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21792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DDF5"/>
                </a:solidFill>
              </a:rPr>
              <a:t>Definite IIM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5577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Sex: Female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symmetrical proximal weakness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climbing stairs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rising from squatting/sitting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holding heavy objects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proximal power on examination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skin manifestation → Polymyositis points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4434840"/>
            <a:ext cx="1783080" cy="502920"/>
          </a:xfrm>
          <a:prstGeom prst="rect">
            <a:avLst/>
          </a:prstGeom>
          <a:solidFill>
            <a:srgbClr val="C0392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Definite ≥ 7.5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4434840"/>
            <a:ext cx="1783080" cy="502920"/>
          </a:xfrm>
          <a:prstGeom prst="rect">
            <a:avLst/>
          </a:prstGeom>
          <a:solidFill>
            <a:srgbClr val="EEEEEE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</a:rPr>
              <a:t>Probable 5.5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4434840"/>
            <a:ext cx="1783080" cy="502920"/>
          </a:xfrm>
          <a:prstGeom prst="rect">
            <a:avLst/>
          </a:prstGeom>
          <a:solidFill>
            <a:srgbClr val="EEEEEE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</a:rPr>
              <a:t>Possible 5.3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POLYMYOSITIS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sex (F&gt;M)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symmetrical proximal weakness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climbing stairs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rising from squatting/sitting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lifting/holding objects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proximal power on examination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skin rash or dermatological manifestation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DERMATOMYOSITIS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7764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POINTS FOR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17720" y="914400"/>
            <a:ext cx="3977640" cy="365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914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POINTS AGAINST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sex (F&gt;M)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symmetrical proximal weakness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climbing stairs and rising from sitting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proximal power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heliotrope rash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shawl sign or V-sign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Gottron's papules or Gottron's sign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photosensitivity rash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914400"/>
            <a:ext cx="0" cy="40233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ANTISYNTHETASE SYNDROME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7764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POINTS FOR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17720" y="914400"/>
            <a:ext cx="3977640" cy="365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914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POINTS AGAINST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Myositis pattern of weakness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progressive dyspnoea and hypoxaemia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cough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progressive course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anti-Jo-1 antibody (pending confirmation)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mechanic's hands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Raynaud's phenomenon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arthritis symptoms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Velcro crackles on auscultation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914400"/>
            <a:ext cx="0" cy="40233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PULMONARY EMBOLISM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confirmed PE on CTPA (2025)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severe dyspnoea despite anticoagulation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exertional hypoxaemia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Pleuritic chest pain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MALIGNANCY WITH PARANEOPLASTIC MYOPATHY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7764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POINTS FOR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17720" y="914400"/>
            <a:ext cx="3977640" cy="365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914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POINTS AGAINST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(72 years)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dyspnoea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muscle weakness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effusion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constitutional symptoms (fever, weight loss, night sweats)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smoking history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haemoptysis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914400"/>
            <a:ext cx="0" cy="40233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E5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109728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· Autoimmune markers · Imaging · Functional studies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BLOOD COUNT</a:t>
            </a:r>
            <a:endParaRPr lang="en-US" sz="1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WBC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7.21 K/μL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4–10 K/μL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ANC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4.12 K/μL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2–6.9 K/μL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Abs Lymphocytes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2.35 K/μL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0.6–3.4 K/μL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Abs Eosinophils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0.08 K/μL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0–0.7 K/μL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RBC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4.31 M/μL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4.5–5.5 M/μL 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Haemoglobin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11.8 g/dL 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12–16 g/dL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36.5% 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36–46%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MCV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85 fL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83–99 fL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MCH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27.4 pg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27–32 pg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MCHC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32.3 g/dL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31.5–34.5 g/dL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Platelets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258 K/μL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150–410 K/μL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MARKERS</a:t>
            </a:r>
            <a:endParaRPr lang="en-US" sz="1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40280"/>
                <a:gridCol w="2240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ESR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82 mm/hr 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0–20 mm/hr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CRP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24.5 mg/L 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&lt; 10.0 mg/L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OF MUSCLE INJURY</a:t>
            </a:r>
            <a:endParaRPr lang="en-US" sz="16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Creatine Kinase (CK)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612 U/L ↑↑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25–200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LDH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688 U/L ↑↑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135–225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34.2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0–40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28.7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0–55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Troponin 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9.8 ng/L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&lt; 14 ng/L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Aldolase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12.4 U/L 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1.0–7.5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MARKERS</a:t>
            </a:r>
            <a:endParaRPr lang="en-US" sz="1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Marker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dsDNA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Nucleosome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Histone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SM-D1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SS-A/Ro-60 / Ro-52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SS-B/La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Scl-70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U1-snRNP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CENP-B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AMA-M2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Jo-1 (Anti-synthetase)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Mi-2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PM-Scl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Rheumatoid Factor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LEVELS</a:t>
            </a:r>
            <a:endParaRPr lang="en-US" sz="16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40280"/>
                <a:gridCol w="2240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1.08 g/L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0.82–1.87 g/L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0.33 g/L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0.15–0.53 g/L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FUNCTION TEST &amp; SERUM ELECTROLYTES</a:t>
            </a:r>
            <a:endParaRPr lang="en-US" sz="16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Creatinine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72 μmol/L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53–106 μmol/L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BUN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5.2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3.7–7.4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Potassium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4.1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3.5–5.5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Sodium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138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133–143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Chloride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101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98–107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Calcium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2.18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2.01–2.5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Phosphorus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1.18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0.80–1.45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Uric Acid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0.31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0.19–0.43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FUNCTION TEST &amp; COAGULATION</a:t>
            </a:r>
            <a:endParaRPr lang="en-US" sz="1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13.1 sec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11–14 sec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PTT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31.2 sec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25–35 sec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INR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1.18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0.9–1.2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Bilirubin Direct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4.1 μmol/L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0.72–8.22 μmol/L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Bilirubin Total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11.3 μmol/L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5.2–41 μmol/L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GGT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31.4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7.3–51.8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ALP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98.6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45.3–155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D-Dimer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385 ng/mL ↑↑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0–0.5 μg/mL FEU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FUNCTION TESTS</a:t>
            </a:r>
            <a:endParaRPr lang="en-US" sz="16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40280"/>
                <a:gridCol w="2240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TSH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2.34 mIU/L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0.4–4.0 mIU/L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Free T3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2.9 pg/mL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2.0–4.4 pg/mL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Free T4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1.09 ng/dL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0.8–2.0 ng/dL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MARKERS</a:t>
            </a:r>
            <a:endParaRPr lang="en-US" sz="16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40280"/>
                <a:gridCol w="2240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CEA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2.3 ng/mL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&lt; 5.0 ng/mL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CA 125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16.2 U/mL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&lt; 35 U/mL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CA 19-9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21 IU/mL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&lt; 37 IU/mL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CA 15-3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14.8 U/mL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&lt; 31 U/mL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SEROLOGY</a:t>
            </a:r>
            <a:endParaRPr lang="en-US" sz="16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651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HIV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Hepatitis B Surface Antigen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Hepatitis C Antibody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URINALYSIS</a:t>
            </a:r>
            <a:endParaRPr lang="en-US" sz="16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651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Colour / Macroscopy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Yellow / Clear Yellow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Protein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Glucose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Ketones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Blood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6.5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Specific Gravity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1.016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Leucocyte Cast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Hyaline Cast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Parasites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 ova seen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PROFILE</a:t>
            </a:r>
            <a:endParaRPr lang="en-US" sz="16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Total Cholesterol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4.2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&lt; 5.2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Triglycerides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1.24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&lt; 1.7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LDL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2.6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&lt; 3.0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HDL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1.1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&gt; 1.0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VLDL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0.56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&lt; 1.04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ALLERGIC PROFILE</a:t>
            </a:r>
            <a:endParaRPr lang="en-US" sz="16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40280"/>
                <a:gridCol w="2240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Normal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Total IgE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38.7 IU/mL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0–100 IU/mL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FLUID ANALYSIS</a:t>
            </a:r>
            <a:endParaRPr lang="en-US" sz="16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 / Interpretation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Pleural Fluid Glucose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6.8 mmol/L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High — exudate pattern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Pleural Fluid Protein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35 g/L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High — exudate (Light's criteria)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Pleural Fluid Culture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 Growth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Pleural Fluid Cytology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Scattered atypical lymphocytes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Under review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GeneXpert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TB excluded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ADA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10.4 U/L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LDH Pleural/Serum ratio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0.68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&gt; 0.6 — exudate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ECHOCARDIOGRAM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TAPSE: 1.8 cm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 &gt; 1.7 cm — borderline RV function)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RVWT: 0.47 cm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 &lt; 0.5 cm)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Ejection Fraction: 62%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ventricular dilation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septal flattening / D-sign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pulmonary hypertension on 2D echo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pericardial effusion noted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biventricular function; borderline RV longitudinal function; mild pericardial effusion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475"/>
                </a:solidFill>
              </a:rPr>
              <a:t>[ECG TRACING IMAGE]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Sinus tachycardia · S1Q3T3 pattern · Right heart strain features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[CHEST X-RAY IMAGE]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view: Left-sided pleural effusion · Increased interstitial markings · Cardiomegaly not significant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— FOLLOW-UP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[CHEST X-RAY IMAGE]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Post-thoracocentesis: Partial resolution of left pleural effusion · Underlying consolidation visible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PULMONARY ANGIOGRAPHY (CT-PA)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[CT-PA IMAGING CUTS]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2452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Pulmonary embolism involving segmental branches of the left lower lobe pulmonary artery · Left-sided pleural effusion · No pulmonary infarction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DIAGNOSIS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2E5B8C"/>
          </a:solidFill>
          <a:ln w="10160">
            <a:solidFill>
              <a:srgbClr val="90C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8138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Overlap Connective Tissue Disease with Inflammatory Myopathy (IIM) Complicated by Pulmonary Embolism and Haemorrhagic Pleural Effusion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685800"/>
          </a:xfrm>
          <a:prstGeom prst="rect">
            <a:avLst/>
          </a:prstGeom>
          <a:solidFill>
            <a:srgbClr val="243550"/>
          </a:solidFill>
          <a:ln w="10160">
            <a:solidFill>
              <a:srgbClr val="3A4E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9928"/>
            <a:ext cx="8138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Antisynthetase Syndrome (Anti-Jo-1 positive, Mi-2 positive, CENP-B positive, AMA-M2 positive)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8412480" cy="685800"/>
          </a:xfrm>
          <a:prstGeom prst="rect">
            <a:avLst/>
          </a:prstGeom>
          <a:solidFill>
            <a:srgbClr val="243550"/>
          </a:solidFill>
          <a:ln w="10160">
            <a:solidFill>
              <a:srgbClr val="3A4E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87168"/>
            <a:ext cx="8138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/ Recurrent Pulmonary Embolism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8412480" cy="685800"/>
          </a:xfrm>
          <a:prstGeom prst="rect">
            <a:avLst/>
          </a:prstGeom>
          <a:solidFill>
            <a:srgbClr val="243550"/>
          </a:solidFill>
          <a:ln w="10160">
            <a:solidFill>
              <a:srgbClr val="3A4E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64408"/>
            <a:ext cx="8138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Bronchial Asthma (Known)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4023360"/>
            <a:ext cx="8412480" cy="685800"/>
          </a:xfrm>
          <a:prstGeom prst="rect">
            <a:avLst/>
          </a:prstGeom>
          <a:solidFill>
            <a:srgbClr val="243550"/>
          </a:solidFill>
          <a:ln w="10160">
            <a:solidFill>
              <a:srgbClr val="3A4E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041648"/>
            <a:ext cx="8138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Hypertension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E5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109728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Embolism in Idiopathic Inflammatory Myopathy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EMBOLISM IN IDIOPATHIC INFLAMMATORY MYOPATHY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myositis — including polymyositis (PM) and dermatomyositis (DM) — are systemic autoimmune diseases characterised by chronic muscle weakness, systemic inflammatory response, and inflammatory cell infiltration of skeletal muscle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of DM and PM: approximately 21.5/100,000 population; higher in women and older individuals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Myositis most commonly occurs in adults between 40–60 years but can affect any age group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IIMs carry a significantly increased risk of both cardiovascular events (ischaemic heart disease, cerebrovascular accidents) and venous thromboembolic events (VTE)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myositis takes an average of 3.5 years — partly due to variability in manifestation across subtypes and individuals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CASE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72-year-old woman with asthma, hypertension, and a history of PE on Rivaroxaban presents with progressive symmetrical proximal muscle weakness, worsening dyspnoea, hypoxaemia, and a left-sided pleural effusion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revealed positive ANA, Mi-2 antibody, CENP-B, AMA-M2, and anti-Jo-1 antibody, alongside elevated CK and LDH — together confirming a systemic autoimmune process with multisystem involvement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of multiple autoimmune antibodies (ANA+, anti-centromere B, MI-2, anti-Jo-1) suggests an underlying overlap connective tissue disease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diseases are well-recognised to increase both arterial and venous thrombotic risk; this patient's recurrent PE is understood within this context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PATHOPHYSIOLOGICAL BRIDGE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autoimmune disease, persistent immune activation leads to:</a:t>
            </a:r>
            <a:endParaRPr lang="en-US" sz="1300" dirty="0"/>
          </a:p>
          <a:p>
            <a:pPr lvl="1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Endothelial dysfunction through cytokine-mediated injury (e.g., IL-1, IL-6, TNF-α)</a:t>
            </a:r>
            <a:endParaRPr lang="en-US" sz="1300" dirty="0"/>
          </a:p>
          <a:p>
            <a:pPr lvl="1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Upregulation of procoagulant pathways — tissue factor expression from monocytes</a:t>
            </a:r>
            <a:endParaRPr lang="en-US" sz="1300" dirty="0"/>
          </a:p>
          <a:p>
            <a:pPr lvl="1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Downregulation of natural anticoagulants (protein C, thrombomodulin pathways)</a:t>
            </a:r>
            <a:endParaRPr lang="en-US" sz="1300" dirty="0"/>
          </a:p>
          <a:p>
            <a:pPr lvl="1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Platelet activation and aggregation</a:t>
            </a:r>
            <a:endParaRPr lang="en-US" sz="1300" dirty="0"/>
          </a:p>
          <a:p>
            <a:pPr lvl="1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Development of a sustained hypercoagulable state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sclerosis spectrum (CENP-B positive) → vasculopathy, intimal proliferation, and PAH predisposing to in-situ thrombosis and impaired pulmonary vascular clearance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myopathy (MI-2, anti-Jo-1 positive) → active immune-mediated muscle inflammation with systemic inflammatory burden amplifying coagulation activation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PATHOPHYSIOLOGICAL BRIDGE (CONT.)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the recurrent pulmonary embolism in this patient is likely NOT an isolated thromboembolic disorder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Rather, it represents an immune-driven vasculopathic and hypercoagulable state secondary to systemic autoimmune disease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 in this patient: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Markedly elevated D-dimer (385 ng/mL) alongside CK (612 U/L) and LDH (688 U/L)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myositis-specific and myositis-associated antibodies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Left-sided exudative pleural effusion — consistent with autoimmune pleuritis or haemorrhagic PE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ACR/EULAR IIM score of 9.4 (Definite IIM)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OF INFLAMMATORY MYOPATHY (IIM)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LDH is a critical muscle enzyme marker for IIM and should be measured in every suspected case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patient: LDH nearly 3× upper limit of normal — strongly supporting IIM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 is classically elevated in IIM — in our patient: 612 U/L (&gt;3× ULN)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or low CK does NOT exclude IIM — it should prompt re-evaluation of IIM subtypes (e.g., amyopathic DM, IBM)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Anti-Jo-1 (antisynthetase): strongly associated with ILD, mechanic's hands, and Raynaud's phenomenon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Mi-2: highly specific for dermatomyositis — photosensitive skin rash often present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CENP-B: associated with systemic sclerosis overlap — vasculopathy and PAH risk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ACR/EULAR IIM SCORING SYSTEM — RESULT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3246120"/>
          </a:xfrm>
          <a:prstGeom prst="rect">
            <a:avLst/>
          </a:prstGeom>
          <a:solidFill>
            <a:srgbClr val="EBF1F8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5029200" cy="731520"/>
          </a:xfrm>
          <a:prstGeom prst="rect">
            <a:avLst/>
          </a:prstGeom>
          <a:solidFill>
            <a:srgbClr val="E3F0FF"/>
          </a:solidFill>
          <a:ln w="19050">
            <a:solidFill>
              <a:srgbClr val="2E5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IIM: ≥ 7.5 (with biopsy: ≥ 8.7)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47672"/>
            <a:ext cx="5029200" cy="7315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4767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IIM: ≥ 5.5 (with biopsy: ≥ 6.7)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43784"/>
            <a:ext cx="5029200" cy="7315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43784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IIM: ≥ 5.3 (with biopsy: ≥ 6.5)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468880" cy="2743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051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This patient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417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9.4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21792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DEFINITE IIM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2E5B8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7024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Society for Rheumatology guideline on management of IIM guides treatment stratification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CHALLENGES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specific guideline exists for management of Pulmonary Embolism in the context of Idiopathic Inflammatory Myopathies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trial included only patients with established antiphospholipid syndrome (APS) — not directly applicable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resources in low-income settings: antiphospholipid antibodies (aCL, β2-GPI, LA) not yet performed — occult APS remains possible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High-dose immunosuppression (dexamethasone + MMF) required for IIM — must be balanced against increased infection and thrombotic risk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opinions and meta-analyses guide practice in the absence of randomised trial evidence for this specific population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SUMMARY — VTE MANAGEMENT IN AUTOIMMUNE DISEASE</a:t>
            </a:r>
            <a:endParaRPr lang="en-US" sz="16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566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Clinical Situation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Preferred Anticoagulant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APS with venous thrombosis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Warfarin (INR 2–3)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APS with arterial thrombosis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Warfarin ± Aspirin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Recurrent thrombosis on DOAC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Switch to Warfarin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Autoimmune disease without APS (VTE)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DOAC acceptable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Pregnancy with APS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LMWH throughout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Hospitalised: high VTE risk autoimmune disease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LMWH prophylaxis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VTE PROPHYLAXIS — WHO NEEDS IT IN AUTOIMMUNE DISEASE?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for pharmacological VTE prophylaxis: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Hospitalised autoimmune disease patients with limited mobility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thrombotic antiphospholipid syndrome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immobility with inflammatory myopathy (as in this patient)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inflammatory bowel disease flare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lupus erythematosus with high disease activity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routinely indicated: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Well-controlled outpatient autoimmune disease without additional VTE risk factors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77640" cy="347472"/>
          </a:xfrm>
          <a:prstGeom prst="rect">
            <a:avLst/>
          </a:prstGeom>
          <a:solidFill>
            <a:srgbClr val="2E5B8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PHARMACOLOGICAL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17720" y="914400"/>
            <a:ext cx="416052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9144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SUPPORTIVE / PROCEDURAL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Dexamethasone 8 mg BD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Mycophenolate Mofetil 500 mg OD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Warfarin 5 mg OD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S/C Enoxaparin 80 mg BD (bridging)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Pantoprazole 40 mg OD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Paracetamol 1 g TDS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1325880"/>
            <a:ext cx="4069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Salbutamol nebulisation PRN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Losartan 50 mg OD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tube (draining ~300 mL/day)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physiotherapy + incentive spirometry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therapy via nasal prongs 3 L/min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support: high-protein diet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914400"/>
            <a:ext cx="0" cy="39319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 WARD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remains admitted; improving on current regimen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initiation of Warfarin, no bleeding episodes observed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tube still draining (reducing to ~200 mL/day)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oxygen requirement decreasing — now on nasal prongs at 3 L/min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power unchanged since admission — reassessment after 4–6 weeks of immunosuppression planned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chest CT scan results (performed yesterday evening)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dose titration ongoing — target INR 2.0–3.0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 LIST &amp; PENDING INVESTIGATIONS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Antiphospholipid Antibodies: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Anticardiolipin (aCL) IgG/IgM, Anti-β2-glycoprotein I IgG/IgM, Lupus Anticoagulant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Biopsy: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histopathological confirmation of IIM subtype (polymyositis vs dermatomyositis vs IBM)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Electromyography (EMG):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characterise pattern of myopathic vs neuropathic changes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 Conduction Studies: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characterise peripheral neuropathy (axonal vs demyelinating)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CT Chest (HRCT):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assess for ILD (UIP vs NSIP pattern) — pending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Thigh Muscles: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guide biopsy site — oedema and inflammation in proximal muscles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CASE?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complexity: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coordinated input from Pulmonology, Rheumatology, Neurology, Haematology, and Radiology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dilemma: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High-dose immunosuppression (required for IIM) versus anticoagulation safety and bleeding risk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diagnoses: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vs ILD vs chronic PE — all contributing to respiratory failure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challenge: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diagnostic journey (average 3.5 years for IIM); need for high index of suspicion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underscores the critical importance of considering autoimmune aetiologies — including inflammatory myopathy — in the differential diagnosis of unexplained proximal muscle weakness and respiratory failure, particularly in women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 MESSAGES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41248"/>
          </a:xfrm>
          <a:prstGeom prst="rect">
            <a:avLst/>
          </a:prstGeom>
          <a:solidFill>
            <a:srgbClr val="243550"/>
          </a:solidFill>
          <a:ln w="10160">
            <a:solidFill>
              <a:srgbClr val="3E6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109728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32688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sex + unexplained proximal muscle weakness + VTE should raise suspicion for autoimmune IIM — screen with CK, LDH, and myositis-specific antibodies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8412480" cy="841248"/>
          </a:xfrm>
          <a:prstGeom prst="rect">
            <a:avLst/>
          </a:prstGeom>
          <a:solidFill>
            <a:srgbClr val="243550"/>
          </a:solidFill>
          <a:ln w="10160">
            <a:solidFill>
              <a:srgbClr val="3E6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92808"/>
            <a:ext cx="109728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11096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DOACs are acceptable in autoimmune-associated VTE if APS has been excluded and no recurrent thrombosis; otherwise Warfarin (INR 2–3) is preferred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871216"/>
            <a:ext cx="8412480" cy="841248"/>
          </a:xfrm>
          <a:prstGeom prst="rect">
            <a:avLst/>
          </a:prstGeom>
          <a:solidFill>
            <a:srgbClr val="243550"/>
          </a:solidFill>
          <a:ln w="10160">
            <a:solidFill>
              <a:srgbClr val="3E6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871216"/>
            <a:ext cx="109728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89504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scoring (ACR/EULAR ≥ 7.5) allows early classification; a score ≥ 9.4 as in this patient warrants urgent immunosuppression alongside anticoagulation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849624"/>
            <a:ext cx="8412480" cy="841248"/>
          </a:xfrm>
          <a:prstGeom prst="rect">
            <a:avLst/>
          </a:prstGeom>
          <a:solidFill>
            <a:srgbClr val="243550"/>
          </a:solidFill>
          <a:ln w="10160">
            <a:solidFill>
              <a:srgbClr val="3E6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849624"/>
            <a:ext cx="109728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67912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Romberg test in the context of proximal limb weakness suggests a concurrent peripheral neuropathy — perform nerve conduction studies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Xiong A, et al. Cardiovascular events in adult polymyositis and dermatomyositis: a meta-analysis of observational studies. Rheumatology. 2022;61(7):2728–2739.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Lundberg IE, et al. 2017 European League Against Rheumatism/American College of Rheumatology classification criteria for adult and juvenile idiopathic inflammatory myopathies. Ann Rheum Dis. 2017;76:1955–1964.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Allenbach Y, et al. Integrated classification of inflammatory myopathies. Neuropathol Appl Neurobiol. 2017;43(1):62–81.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Tektonidou MG, et al. EULAR recommendations for the management of antiphospholipid syndrome in adults. Ann Rheum Dis. 2019;78:1296–1304.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Gordon P, et al. BSR guideline on the management of idiopathic inflammatory myopathy in adults. Rheumatology. 2022;61(5):1657–1679.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Mahler M, et al. Antibodies to the Mi-2β protein in patients with dermatomyositis. Clin Exp Immunol. 2011;166(2):211–218.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Aringer M, et al. European League Against Rheumatism recommendations for the management of systemic lupus erythematosus. Ann Rheum Dis. 2019;78:736–745.</a:t>
            </a:r>
            <a:endParaRPr lang="en-US" sz="10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Supervising Consultant: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K. Masao — Consultant Pulmonologist, MNH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Rheumatology Review: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Octavian — Physician &amp; Rheumatologist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A. Tariq — Consultant Radiologist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Haematology Support: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P. Okonkwo — Haematologist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 Residents: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MNH Internal Medicine Residency Programme colleagues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Amina Saleh  |  Dr. Brian Komba  |  MNH Grand Rounds · May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Round Presentation – Pulmonary Embolism in Myopathy</dc:title>
  <dc:subject>PptxGenJS Presentation</dc:subject>
  <dc:creator>PptxGenJS</dc:creator>
  <cp:lastModifiedBy>PptxGenJS</cp:lastModifiedBy>
  <cp:revision>1</cp:revision>
  <dcterms:created xsi:type="dcterms:W3CDTF">2026-05-22T04:10:09Z</dcterms:created>
  <dcterms:modified xsi:type="dcterms:W3CDTF">2026-05-22T04:10:09Z</dcterms:modified>
</cp:coreProperties>
</file>