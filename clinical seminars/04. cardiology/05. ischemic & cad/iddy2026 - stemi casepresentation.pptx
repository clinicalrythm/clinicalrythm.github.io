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1"/>
  </p:notesMasterIdLst>
  <p:sldIdLst>
    <p:sldId id="256" r:id="rId2"/>
    <p:sldId id="258" r:id="rId3"/>
    <p:sldId id="257" r:id="rId4"/>
    <p:sldId id="264" r:id="rId5"/>
    <p:sldId id="289" r:id="rId6"/>
    <p:sldId id="290" r:id="rId7"/>
    <p:sldId id="291" r:id="rId8"/>
    <p:sldId id="292" r:id="rId9"/>
    <p:sldId id="293" r:id="rId10"/>
    <p:sldId id="268" r:id="rId11"/>
    <p:sldId id="266" r:id="rId12"/>
    <p:sldId id="267" r:id="rId13"/>
    <p:sldId id="259" r:id="rId14"/>
    <p:sldId id="294" r:id="rId15"/>
    <p:sldId id="262" r:id="rId16"/>
    <p:sldId id="265" r:id="rId17"/>
    <p:sldId id="260" r:id="rId18"/>
    <p:sldId id="263" r:id="rId19"/>
    <p:sldId id="269" r:id="rId20"/>
    <p:sldId id="270" r:id="rId21"/>
    <p:sldId id="271" r:id="rId22"/>
    <p:sldId id="272" r:id="rId23"/>
    <p:sldId id="273" r:id="rId24"/>
    <p:sldId id="281" r:id="rId25"/>
    <p:sldId id="282" r:id="rId26"/>
    <p:sldId id="274" r:id="rId27"/>
    <p:sldId id="275" r:id="rId28"/>
    <p:sldId id="276" r:id="rId29"/>
    <p:sldId id="277" r:id="rId30"/>
    <p:sldId id="278" r:id="rId31"/>
    <p:sldId id="279" r:id="rId32"/>
    <p:sldId id="283" r:id="rId33"/>
    <p:sldId id="284" r:id="rId34"/>
    <p:sldId id="286" r:id="rId35"/>
    <p:sldId id="285" r:id="rId36"/>
    <p:sldId id="288" r:id="rId37"/>
    <p:sldId id="287" r:id="rId38"/>
    <p:sldId id="295" r:id="rId39"/>
    <p:sldId id="296" r:id="rId40"/>
    <p:sldId id="297" r:id="rId41"/>
    <p:sldId id="298" r:id="rId42"/>
    <p:sldId id="299" r:id="rId43"/>
    <p:sldId id="305" r:id="rId44"/>
    <p:sldId id="300" r:id="rId45"/>
    <p:sldId id="301" r:id="rId46"/>
    <p:sldId id="302" r:id="rId47"/>
    <p:sldId id="303" r:id="rId48"/>
    <p:sldId id="304" r:id="rId49"/>
    <p:sldId id="306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2" d="100"/>
          <a:sy n="52" d="100"/>
        </p:scale>
        <p:origin x="88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9" Type="http://schemas.openxmlformats.org/officeDocument/2006/relationships/slide" Target="slides/slide38.xml" /><Relationship Id="rId21" Type="http://schemas.openxmlformats.org/officeDocument/2006/relationships/slide" Target="slides/slide20.xml" /><Relationship Id="rId34" Type="http://schemas.openxmlformats.org/officeDocument/2006/relationships/slide" Target="slides/slide33.xml" /><Relationship Id="rId42" Type="http://schemas.openxmlformats.org/officeDocument/2006/relationships/slide" Target="slides/slide41.xml" /><Relationship Id="rId47" Type="http://schemas.openxmlformats.org/officeDocument/2006/relationships/slide" Target="slides/slide46.xml" /><Relationship Id="rId50" Type="http://schemas.openxmlformats.org/officeDocument/2006/relationships/slide" Target="slides/slide49.xml" /><Relationship Id="rId55" Type="http://schemas.openxmlformats.org/officeDocument/2006/relationships/tableStyles" Target="tableStyle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slide" Target="slides/slide32.xml" /><Relationship Id="rId38" Type="http://schemas.openxmlformats.org/officeDocument/2006/relationships/slide" Target="slides/slide37.xml" /><Relationship Id="rId46" Type="http://schemas.openxmlformats.org/officeDocument/2006/relationships/slide" Target="slides/slide45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slide" Target="slides/slide28.xml" /><Relationship Id="rId41" Type="http://schemas.openxmlformats.org/officeDocument/2006/relationships/slide" Target="slides/slide40.xml" /><Relationship Id="rId54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slide" Target="slides/slide31.xml" /><Relationship Id="rId37" Type="http://schemas.openxmlformats.org/officeDocument/2006/relationships/slide" Target="slides/slide36.xml" /><Relationship Id="rId40" Type="http://schemas.openxmlformats.org/officeDocument/2006/relationships/slide" Target="slides/slide39.xml" /><Relationship Id="rId45" Type="http://schemas.openxmlformats.org/officeDocument/2006/relationships/slide" Target="slides/slide44.xml" /><Relationship Id="rId53" Type="http://schemas.openxmlformats.org/officeDocument/2006/relationships/viewProps" Target="viewProp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slide" Target="slides/slide35.xml" /><Relationship Id="rId49" Type="http://schemas.openxmlformats.org/officeDocument/2006/relationships/slide" Target="slides/slide48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slide" Target="slides/slide30.xml" /><Relationship Id="rId44" Type="http://schemas.openxmlformats.org/officeDocument/2006/relationships/slide" Target="slides/slide43.xml" /><Relationship Id="rId52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slide" Target="slides/slide34.xml" /><Relationship Id="rId43" Type="http://schemas.openxmlformats.org/officeDocument/2006/relationships/slide" Target="slides/slide42.xml" /><Relationship Id="rId48" Type="http://schemas.openxmlformats.org/officeDocument/2006/relationships/slide" Target="slides/slide47.xml" /><Relationship Id="rId8" Type="http://schemas.openxmlformats.org/officeDocument/2006/relationships/slide" Target="slides/slide7.xml" /><Relationship Id="rId51" Type="http://schemas.openxmlformats.org/officeDocument/2006/relationships/notesMaster" Target="notesMasters/notesMaster1.xml" /><Relationship Id="rId3" Type="http://schemas.openxmlformats.org/officeDocument/2006/relationships/slide" Target="slides/slide2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186518-5D99-4C42-90A7-7CE3DC92247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030B74-0D92-454F-B37F-E3CBF22B4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048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E2A170-49D9-4E33-B523-D37EC4F2A43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891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2A170-49D9-4E33-B523-D37EC4F2A43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16497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2A170-49D9-4E33-B523-D37EC4F2A43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35608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2A170-49D9-4E33-B523-D37EC4F2A43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95286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2A170-49D9-4E33-B523-D37EC4F2A43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78877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2A170-49D9-4E33-B523-D37EC4F2A43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14137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5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53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9F03AE-951E-4BC0-9809-030A6767AF6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62575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9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7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71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5693BDC-4700-43A7-A59D-33E83090603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01362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1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8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83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5693BDC-4700-43A7-A59D-33E83090603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08331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6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1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718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34D320-2429-4D03-9AF4-C81C764DC73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606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1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3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733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5693BDC-4700-43A7-A59D-33E83090603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39879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9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4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741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EAB871-65DD-4E01-8FC4-1DE3670A483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13622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59" name="Google Shape;259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260" name="Google Shape;260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37388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66" name="Google Shape;266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 dirty="0"/>
          </a:p>
        </p:txBody>
      </p:sp>
      <p:sp>
        <p:nvSpPr>
          <p:cNvPr id="267" name="Google Shape;267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82281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C537913-2233-4192-9C93-AA0BDF2AC46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73088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</a:t>
            </a:r>
            <a:r>
              <a:rPr lang="en-US" dirty="0" err="1"/>
              <a:t>coud</a:t>
            </a:r>
            <a:r>
              <a:rPr lang="en-US" dirty="0"/>
              <a:t> either be</a:t>
            </a:r>
            <a:r>
              <a:rPr lang="en-US" baseline="0" dirty="0"/>
              <a:t> atypical presentation or there is coexisting underlying GI pathology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030B74-0D92-454F-B37F-E3CBF22B4ED3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0433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ECG demonstrates sinus rhythm with marked ST-segment elevation involving leads V2 to V6, I and </a:t>
            </a:r>
            <a:r>
              <a:rPr lang="en-US" dirty="0" err="1"/>
              <a:t>aVL</a:t>
            </a:r>
            <a:r>
              <a:rPr lang="en-US" dirty="0"/>
              <a:t>, associated with loss of R-wave progression and developing pathological Q waves, consistent with an extensive acute anterolateral ST-elevation myocardial infarction. The likely culprit lesion is a proximal left anterior descending artery occlusion."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030B74-0D92-454F-B37F-E3CBF22B4ED3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0869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Cardiomegaly, Pulmonary vascular congestion, Pulmonary </a:t>
            </a:r>
            <a:r>
              <a:rPr lang="en-US" dirty="0" err="1"/>
              <a:t>oedema,Bilateral</a:t>
            </a:r>
            <a:r>
              <a:rPr lang="en-US" dirty="0"/>
              <a:t> pleural effusions,</a:t>
            </a:r>
          </a:p>
          <a:p>
            <a:r>
              <a:rPr lang="en-US" dirty="0"/>
              <a:t>Overall consistent with:</a:t>
            </a:r>
          </a:p>
          <a:p>
            <a:r>
              <a:rPr lang="en-US" dirty="0"/>
              <a:t>Congestive cardiac failure secondary to extensive acute myocardial infarction.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030B74-0D92-454F-B37F-E3CBF22B4ED3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077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66A6E-FA35-41F3-9930-F9F4B4BA435B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40D01-C0E8-4775-A953-B38CCD46A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92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66A6E-FA35-41F3-9930-F9F4B4BA435B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40D01-C0E8-4775-A953-B38CCD46A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51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66A6E-FA35-41F3-9930-F9F4B4BA435B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40D01-C0E8-4775-A953-B38CCD46A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331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66A6E-FA35-41F3-9930-F9F4B4BA435B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40D01-C0E8-4775-A953-B38CCD46A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046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66A6E-FA35-41F3-9930-F9F4B4BA435B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40D01-C0E8-4775-A953-B38CCD46A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386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66A6E-FA35-41F3-9930-F9F4B4BA435B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40D01-C0E8-4775-A953-B38CCD46A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135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66A6E-FA35-41F3-9930-F9F4B4BA435B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40D01-C0E8-4775-A953-B38CCD46A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069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66A6E-FA35-41F3-9930-F9F4B4BA435B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40D01-C0E8-4775-A953-B38CCD46A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768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66A6E-FA35-41F3-9930-F9F4B4BA435B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40D01-C0E8-4775-A953-B38CCD46A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80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66A6E-FA35-41F3-9930-F9F4B4BA435B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40D01-C0E8-4775-A953-B38CCD46A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284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66A6E-FA35-41F3-9930-F9F4B4BA435B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40D01-C0E8-4775-A953-B38CCD46A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663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66A6E-FA35-41F3-9930-F9F4B4BA435B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A40D01-C0E8-4775-A953-B38CCD46A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594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4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4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4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4.xml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4.xml" 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7.xml" 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4.xml" 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2.xml" 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2.xml" 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2.xml" 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2.xml" 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3.xml" 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2.xml" 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 /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2.xml" 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notesSlide" Target="../notesSlides/notesSlide18.xml" /><Relationship Id="rId1" Type="http://schemas.openxmlformats.org/officeDocument/2006/relationships/slideLayout" Target="../slideLayouts/slideLayout2.xml" 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CASE PRESENTATION</a:t>
            </a:r>
          </a:p>
        </p:txBody>
      </p:sp>
    </p:spTree>
    <p:extLst>
      <p:ext uri="{BB962C8B-B14F-4D97-AF65-F5344CB8AC3E}">
        <p14:creationId xmlns:p14="http://schemas.microsoft.com/office/powerpoint/2010/main" val="146528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Particulars</a:t>
            </a:r>
          </a:p>
        </p:txBody>
      </p:sp>
      <p:sp>
        <p:nvSpPr>
          <p:cNvPr id="1048595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M.A.M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Age: 54 years old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Sex: Female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Residence: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Tabata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Education: primary 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Occupation: Entrepreneur</a:t>
            </a: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96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DOA:01/07/2026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DOC:01/07/2026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Insurance status: Not Insured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Informant: Patient 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Marital status: married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Referral :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Tabata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Direct Aid hospital</a:t>
            </a:r>
          </a:p>
        </p:txBody>
      </p:sp>
    </p:spTree>
    <p:extLst>
      <p:ext uri="{BB962C8B-B14F-4D97-AF65-F5344CB8AC3E}">
        <p14:creationId xmlns:p14="http://schemas.microsoft.com/office/powerpoint/2010/main" val="4200190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Known hypertension for more than 20 years not on </a:t>
            </a:r>
            <a:r>
              <a:rPr lang="en-US" dirty="0" err="1"/>
              <a:t>regula</a:t>
            </a:r>
            <a:r>
              <a:rPr lang="en-US" dirty="0"/>
              <a:t> medications</a:t>
            </a:r>
          </a:p>
          <a:p>
            <a:r>
              <a:rPr lang="en-US" dirty="0"/>
              <a:t>Also known with T2DM for 5 </a:t>
            </a:r>
            <a:r>
              <a:rPr lang="en-US" dirty="0" err="1"/>
              <a:t>yrs</a:t>
            </a:r>
            <a:r>
              <a:rPr lang="en-US" dirty="0"/>
              <a:t> currently on </a:t>
            </a:r>
            <a:r>
              <a:rPr lang="en-US" dirty="0" err="1"/>
              <a:t>germa</a:t>
            </a:r>
            <a:r>
              <a:rPr lang="en-US" dirty="0"/>
              <a:t> 2</a:t>
            </a:r>
          </a:p>
        </p:txBody>
      </p:sp>
    </p:spTree>
    <p:extLst>
      <p:ext uri="{BB962C8B-B14F-4D97-AF65-F5344CB8AC3E}">
        <p14:creationId xmlns:p14="http://schemas.microsoft.com/office/powerpoint/2010/main" val="3401142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Chief Complaints</a:t>
            </a:r>
          </a:p>
        </p:txBody>
      </p:sp>
      <p:sp>
        <p:nvSpPr>
          <p:cNvPr id="104860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Chest pain for 7 days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in Breathing for 4 Day</a:t>
            </a:r>
          </a:p>
        </p:txBody>
      </p:sp>
    </p:spTree>
    <p:extLst>
      <p:ext uri="{BB962C8B-B14F-4D97-AF65-F5344CB8AC3E}">
        <p14:creationId xmlns:p14="http://schemas.microsoft.com/office/powerpoint/2010/main" val="3388640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1E65A-F947-4383-7F34-12F881345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History of presenting illness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9F151-DDB2-C1DE-1C1E-581A3A792BA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Chest pain for 7 days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Gradual onset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progressively worsened over time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 in location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sharp in character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radiated to the back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associated with radiation to the left arm, shoulder, jaw or neck.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18391E-5014-56DE-E56B-4EC54BFE140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pain was associated with abdominal fullness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satiety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Heartburn nausea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several  episodes of non-projectile, non-bilious and non-blood-stained vomiting.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pain became worse after meals and improved when the stomach was empty.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6534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DCD9DA3-79D9-06A7-3079-F6020C49A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History of presenting illness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0DDB00-F14D-06C1-88B7-25A275F14E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Chest for 7 days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associated with 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Diarrhoea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Constipation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Melena or hematemesis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Jaundice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Cough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sputum production</a:t>
            </a:r>
          </a:p>
        </p:txBody>
      </p:sp>
    </p:spTree>
    <p:extLst>
      <p:ext uri="{BB962C8B-B14F-4D97-AF65-F5344CB8AC3E}">
        <p14:creationId xmlns:p14="http://schemas.microsoft.com/office/powerpoint/2010/main" val="4047257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History of presenting illness</a:t>
            </a:r>
            <a:endParaRPr lang="en-US" dirty="0"/>
          </a:p>
        </p:txBody>
      </p:sp>
      <p:sp>
        <p:nvSpPr>
          <p:cNvPr id="104861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in breathing for 4 days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Gradual onset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on exertion initially while climbing hills, but subsequently even at rest.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associated with difficulty lying flat, air hunger at night, awareness of heartbeat and dizziness</a:t>
            </a:r>
          </a:p>
          <a:p>
            <a:pPr marL="0" indent="0"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6520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History of presenting illness</a:t>
            </a:r>
            <a:endParaRPr lang="en-US" dirty="0"/>
          </a:p>
        </p:txBody>
      </p:sp>
      <p:sp>
        <p:nvSpPr>
          <p:cNvPr id="1048616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sz="2600" b="1" noProof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Difficult in breathing for 4 days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Not associated with:</a:t>
            </a: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</a:pPr>
            <a:r>
              <a:rPr lang="en-US" sz="2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Syncope/LOC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Facial/lower limb swelling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urine output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Urinary symptoms</a:t>
            </a: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48617" name="Content Placeholder 3"/>
          <p:cNvSpPr>
            <a:spLocks noGrp="1"/>
          </p:cNvSpPr>
          <p:nvPr>
            <p:ph sz="half" idx="4294967295"/>
          </p:nvPr>
        </p:nvSpPr>
        <p:spPr>
          <a:xfrm>
            <a:off x="7010400" y="182562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0706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 of presenting illness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She reported intermittent fever during the illness not associated with chills or rigors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She also reported unintentional weight loss and headache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She had travelled by bus for approximately five hours shortly before referral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2347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8AD95-70BB-FF75-A457-0E0BB08E8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History of presenting illness</a:t>
            </a:r>
            <a:endParaRPr lang="en-US" dirty="0"/>
          </a:p>
        </p:txBody>
      </p:sp>
      <p:sp>
        <p:nvSpPr>
          <p:cNvPr id="1048621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history of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Convulsions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disturbances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Focal neurological deficit</a:t>
            </a: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55B58-1FEA-5577-8DE4-31D3A7D1193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Painful swallowing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Painful urination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 urethral discharge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urine output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Passing frothy urine</a:t>
            </a:r>
          </a:p>
        </p:txBody>
      </p:sp>
    </p:spTree>
    <p:extLst>
      <p:ext uri="{BB962C8B-B14F-4D97-AF65-F5344CB8AC3E}">
        <p14:creationId xmlns:p14="http://schemas.microsoft.com/office/powerpoint/2010/main" val="5149415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D0F5B-A93C-9A47-0FD7-D0DC08768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History of presenting illness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3C705-B4E8-85A4-7171-41293703B3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95262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History of 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Bleeding per gums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Vomiting blood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Passing black tarry stool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Passing fresh blood in stool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Blood in urine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skin bruising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64B0F5-214E-3BAB-B25E-59AD2F6F6A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057401"/>
            <a:ext cx="5181600" cy="411956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Anterior neck swelling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Heat or cold intolerance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Tremors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Anxiety or irritability</a:t>
            </a:r>
            <a:endParaRPr lang="en-US" sz="2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Excessive thirst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Excessive sweating </a:t>
            </a:r>
          </a:p>
          <a:p>
            <a:pPr marL="0" indent="0"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7518101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B61FA-BA19-722B-4390-64D418329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History of presenting illness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64664-5DE7-E027-2638-65840B6B1A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history of 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IV drug abuse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TB diagnosis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Cigarette smoking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Hepatitis B vaccination</a:t>
            </a:r>
          </a:p>
          <a:p>
            <a:r>
              <a:rPr lang="en-US" sz="2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 sexual partners</a:t>
            </a:r>
          </a:p>
          <a:p>
            <a:endParaRPr lang="en-US" sz="2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dirty="0"/>
          </a:p>
          <a:p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831953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95C08-3FE3-CBC4-9706-7CD24196C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of the other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968A5-A33D-C2C1-DC7A-5E9858E80A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ENT: No history of nosebleed, no ear pain, no ear discharge</a:t>
            </a:r>
          </a:p>
          <a:p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8504886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of illness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attended another health facility 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where ECG reportedly showed STEMI and she was referred to JKCI for further management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407949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Past Medical History</a:t>
            </a:r>
          </a:p>
        </p:txBody>
      </p:sp>
      <p:sp>
        <p:nvSpPr>
          <p:cNvPr id="104863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Admission at JKCI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history of surgery or BT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known food or drug allergies</a:t>
            </a:r>
          </a:p>
          <a:p>
            <a:pPr marL="0" indent="0"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07725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Gynecological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She is post Menopause</a:t>
            </a:r>
          </a:p>
          <a:p>
            <a:r>
              <a:rPr lang="en-US" dirty="0"/>
              <a:t>No PV discharge or Bleeding</a:t>
            </a:r>
          </a:p>
        </p:txBody>
      </p:sp>
    </p:spTree>
    <p:extLst>
      <p:ext uri="{BB962C8B-B14F-4D97-AF65-F5344CB8AC3E}">
        <p14:creationId xmlns:p14="http://schemas.microsoft.com/office/powerpoint/2010/main" val="20480194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Family social history </a:t>
            </a:r>
          </a:p>
        </p:txBody>
      </p:sp>
      <p:sp>
        <p:nvSpPr>
          <p:cNvPr id="1048641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She is married, lives with her husband and daughter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No family history of, similar presentation</a:t>
            </a:r>
            <a:r>
              <a:rPr lang="en-US" sz="2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 any other chronic disease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She used to be drinking beer occasionally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</a:t>
            </a:r>
            <a:r>
              <a:rPr lang="en-US" sz="2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hx</a:t>
            </a:r>
            <a:r>
              <a:rPr lang="en-US" sz="2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Cigar ate smoking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48642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</a:t>
            </a:r>
            <a:r>
              <a:rPr lang="en-US" sz="2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hx</a:t>
            </a:r>
            <a:r>
              <a:rPr lang="en-US" sz="2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sudden death in the family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to work as an Entrepreneur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86250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Dietary History</a:t>
            </a:r>
          </a:p>
        </p:txBody>
      </p:sp>
      <p:sp>
        <p:nvSpPr>
          <p:cNvPr id="1048644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729014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meals per day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Breakfast: tea with bread/chapati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Lunch/ Dinner: stiff porridge/ rice/ with sardines/ meat/beans and vegetables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intake: 2L/day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45" name="Rounded Rectangle 5"/>
          <p:cNvSpPr/>
          <p:nvPr/>
        </p:nvSpPr>
        <p:spPr>
          <a:xfrm>
            <a:off x="838200" y="5903913"/>
            <a:ext cx="10515600" cy="546099"/>
          </a:xfrm>
          <a:prstGeom prst="roundRect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itchFamily="18" charset="0"/>
              </a:rPr>
              <a:t>Conclusion: Adequate in quality </a:t>
            </a:r>
            <a:r>
              <a:rPr lang="en-GB" sz="2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itchFamily="18" charset="0"/>
              </a:rPr>
              <a:t>and </a:t>
            </a:r>
            <a:r>
              <a:rPr kumimoji="0" lang="en-GB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itchFamily="18" charset="0"/>
              </a:rPr>
              <a:t>quantity  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11980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Mrs.M.A.M</a:t>
            </a:r>
            <a:r>
              <a:rPr lang="en-US" dirty="0"/>
              <a:t>. is a postmenopausal female with a background history of long-standing hypertension (&gt;20 years) and type 2 diabetes mellitus (5 years), admitted as a referral from </a:t>
            </a:r>
            <a:r>
              <a:rPr lang="en-US" dirty="0" err="1"/>
              <a:t>Tabata</a:t>
            </a:r>
            <a:r>
              <a:rPr lang="en-US" dirty="0"/>
              <a:t> Hospital with a diagnosis of suspected ST-elevation myocardial infarction (STEMI).</a:t>
            </a:r>
          </a:p>
          <a:p>
            <a:r>
              <a:rPr lang="en-US" dirty="0"/>
              <a:t>Presented with 7 days </a:t>
            </a:r>
            <a:r>
              <a:rPr lang="en-US" dirty="0" err="1"/>
              <a:t>hx</a:t>
            </a:r>
            <a:r>
              <a:rPr lang="en-US" dirty="0"/>
              <a:t> of atypical presentation of angina chest pain associated with dyspeptic symptoms with 3 days </a:t>
            </a:r>
            <a:r>
              <a:rPr lang="en-US" dirty="0" err="1"/>
              <a:t>hx</a:t>
            </a:r>
            <a:r>
              <a:rPr lang="en-US" dirty="0"/>
              <a:t> of symptoms of heart failure</a:t>
            </a:r>
          </a:p>
          <a:p>
            <a:r>
              <a:rPr lang="en-US" dirty="0"/>
              <a:t>Has positive </a:t>
            </a:r>
            <a:r>
              <a:rPr lang="en-US" dirty="0" err="1"/>
              <a:t>hx</a:t>
            </a:r>
            <a:r>
              <a:rPr lang="en-US" dirty="0"/>
              <a:t> of recent travel for 5hrs and positive </a:t>
            </a:r>
            <a:r>
              <a:rPr lang="en-US" dirty="0" err="1"/>
              <a:t>hx</a:t>
            </a:r>
            <a:r>
              <a:rPr lang="en-US" dirty="0"/>
              <a:t> of alcohol use but no </a:t>
            </a:r>
            <a:r>
              <a:rPr lang="en-US" dirty="0" err="1"/>
              <a:t>hx</a:t>
            </a:r>
            <a:r>
              <a:rPr lang="en-US" dirty="0"/>
              <a:t> of </a:t>
            </a:r>
            <a:r>
              <a:rPr lang="en-US" dirty="0" err="1"/>
              <a:t>cigarate</a:t>
            </a:r>
            <a:r>
              <a:rPr lang="en-US" dirty="0"/>
              <a:t> smoking</a:t>
            </a:r>
          </a:p>
        </p:txBody>
      </p:sp>
    </p:spTree>
    <p:extLst>
      <p:ext uri="{BB962C8B-B14F-4D97-AF65-F5344CB8AC3E}">
        <p14:creationId xmlns:p14="http://schemas.microsoft.com/office/powerpoint/2010/main" val="40395180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Examination-1</a:t>
            </a:r>
            <a:endParaRPr lang="en-US" dirty="0"/>
          </a:p>
        </p:txBody>
      </p:sp>
      <p:sp>
        <p:nvSpPr>
          <p:cNvPr id="1048649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14224"/>
            <a:ext cx="5181600" cy="4351338"/>
          </a:xfrm>
        </p:spPr>
        <p:txBody>
          <a:bodyPr>
            <a:no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Fully Conscious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boozing of the skull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hair color and distribution</a:t>
            </a: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Pale conjunctiva, 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conjunctival hemorrhage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malar rash</a:t>
            </a: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50" name="Content Placeholder 3"/>
          <p:cNvSpPr>
            <a:spLocks noGrp="1"/>
          </p:cNvSpPr>
          <p:nvPr>
            <p:ph sz="half" idx="2"/>
          </p:nvPr>
        </p:nvSpPr>
        <p:spPr>
          <a:xfrm>
            <a:off x="6204156" y="1690688"/>
            <a:ext cx="5149644" cy="4486275"/>
          </a:xfrm>
        </p:spPr>
        <p:txBody>
          <a:bodyPr>
            <a:norm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angular cheilitis or stomatitis 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mouth dryness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oral ulceration or thrush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bleeding gums/lips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parotid gland enlargement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nose deformity, no septal perforation</a:t>
            </a: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59160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Examination-2</a:t>
            </a:r>
            <a:endParaRPr lang="en-US" dirty="0"/>
          </a:p>
        </p:txBody>
      </p:sp>
      <p:sp>
        <p:nvSpPr>
          <p:cNvPr id="1048666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Spider naevi 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leukonychia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koilonychia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finger clubbing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nail pitting 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palmar erythema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Dupuytren contracture 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flapping tremors </a:t>
            </a:r>
          </a:p>
        </p:txBody>
      </p:sp>
      <p:sp>
        <p:nvSpPr>
          <p:cNvPr id="1048667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12925"/>
            <a:ext cx="5181600" cy="4351338"/>
          </a:xfrm>
        </p:spPr>
        <p:txBody>
          <a:bodyPr>
            <a:norm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xanthomas 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palpable peripheral lymph node 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Petechiae or ecchymosis</a:t>
            </a: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Mild lower limb edema at the level of ankle bilaterally</a:t>
            </a: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dirty="0"/>
          </a:p>
        </p:txBody>
      </p:sp>
      <p:sp>
        <p:nvSpPr>
          <p:cNvPr id="1048668" name="Rounded Rectangle 5"/>
          <p:cNvSpPr/>
          <p:nvPr/>
        </p:nvSpPr>
        <p:spPr>
          <a:xfrm>
            <a:off x="838200" y="6176962"/>
            <a:ext cx="10515600" cy="539523"/>
          </a:xfrm>
          <a:prstGeom prst="roundRect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itchFamily="18" charset="0"/>
              </a:rPr>
              <a:t>Conclusion: Pale</a:t>
            </a:r>
            <a:r>
              <a:rPr lang="en-GB" sz="2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itchFamily="18" charset="0"/>
              </a:rPr>
              <a:t> with bilateral lower limb pitting </a:t>
            </a:r>
            <a:r>
              <a:rPr lang="en-GB" sz="2200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itchFamily="18" charset="0"/>
              </a:rPr>
              <a:t>edema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52736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5" name="PlaceHolder 1"/>
          <p:cNvSpPr>
            <a:spLocks noGrp="1"/>
          </p:cNvSpPr>
          <p:nvPr>
            <p:ph type="title" idx="4294967295"/>
          </p:nvPr>
        </p:nvSpPr>
        <p:spPr>
          <a:xfrm>
            <a:off x="838080" y="365040"/>
            <a:ext cx="10514880" cy="376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General Examination-3 </a:t>
            </a:r>
            <a:endParaRPr lang="en-US" sz="440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76" name="Content Placeholder 2"/>
          <p:cNvSpPr/>
          <p:nvPr/>
        </p:nvSpPr>
        <p:spPr>
          <a:xfrm>
            <a:off x="609480" y="2007704"/>
            <a:ext cx="5384160" cy="41176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rgbClr val="000000"/>
          </a:fontRef>
        </p:style>
        <p:txBody>
          <a:bodyPr lIns="90000" tIns="45000" rIns="90000" bIns="4500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DejaVu Sans"/>
              <a:cs typeface="+mn-cs"/>
            </a:endParaRPr>
          </a:p>
        </p:txBody>
      </p:sp>
      <p:sp>
        <p:nvSpPr>
          <p:cNvPr id="1048677" name="Rounded Rectangle 4"/>
          <p:cNvSpPr/>
          <p:nvPr/>
        </p:nvSpPr>
        <p:spPr>
          <a:xfrm>
            <a:off x="380880" y="6319776"/>
            <a:ext cx="10972080" cy="40511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rgbClr val="000000"/>
          </a:fontRef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ejaVu Sans"/>
                <a:cs typeface="+mn-cs"/>
              </a:rPr>
              <a:t>Conclusion:  tachypnoea, and</a:t>
            </a:r>
            <a:r>
              <a:rPr kumimoji="0" lang="en-US" sz="2200" b="1" i="0" u="none" strike="noStrike" kern="1200" cap="none" spc="-1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ejaVu Sans"/>
                <a:cs typeface="+mn-cs"/>
              </a:rPr>
              <a:t> Overweight</a:t>
            </a:r>
            <a:endParaRPr kumimoji="0" lang="en-US" sz="2200" b="1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48678" name="PlaceHolder 2"/>
          <p:cNvSpPr>
            <a:spLocks noGrp="1"/>
          </p:cNvSpPr>
          <p:nvPr>
            <p:ph idx="4294967295"/>
          </p:nvPr>
        </p:nvSpPr>
        <p:spPr>
          <a:xfrm>
            <a:off x="807456" y="2295845"/>
            <a:ext cx="4260933" cy="3233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95833"/>
          </a:bodyPr>
          <a:lstStyle/>
          <a:p>
            <a:pPr marL="191880" indent="-191880">
              <a:lnSpc>
                <a:spcPct val="100000"/>
              </a:lnSpc>
              <a:spcBef>
                <a:spcPts val="901"/>
              </a:spcBef>
              <a:buClr>
                <a:srgbClr val="000000"/>
              </a:buClr>
              <a:buFont typeface="Arial"/>
              <a:buChar char="•"/>
            </a:pPr>
            <a:r>
              <a:rPr lang="en-GB" b="0" strike="noStrike" spc="-1" dirty="0">
                <a:latin typeface="Times New Roman"/>
                <a:ea typeface="DejaVu Sans"/>
              </a:rPr>
              <a:t>BP</a:t>
            </a:r>
            <a:r>
              <a:rPr lang="en-GB" spc="-1" dirty="0">
                <a:latin typeface="Times New Roman"/>
                <a:ea typeface="DejaVu Sans"/>
              </a:rPr>
              <a:t>-124/69</a:t>
            </a:r>
            <a:r>
              <a:rPr lang="en-GB" b="0" strike="noStrike" spc="-1" dirty="0">
                <a:latin typeface="Times New Roman"/>
                <a:ea typeface="DejaVu Sans"/>
              </a:rPr>
              <a:t>mmHg </a:t>
            </a:r>
            <a:endParaRPr lang="en-US" b="0" strike="noStrike" spc="-1" dirty="0">
              <a:latin typeface="Arial"/>
            </a:endParaRPr>
          </a:p>
          <a:p>
            <a:pPr marL="191880" indent="-191880">
              <a:lnSpc>
                <a:spcPct val="100000"/>
              </a:lnSpc>
              <a:spcBef>
                <a:spcPts val="901"/>
              </a:spcBef>
              <a:buClr>
                <a:srgbClr val="000000"/>
              </a:buClr>
              <a:buFont typeface="Arial"/>
              <a:buChar char="•"/>
            </a:pPr>
            <a:r>
              <a:rPr lang="en-GB" b="0" strike="noStrike" spc="-1" dirty="0">
                <a:latin typeface="Times New Roman"/>
                <a:ea typeface="DejaVu Sans"/>
              </a:rPr>
              <a:t>PR -</a:t>
            </a:r>
            <a:r>
              <a:rPr lang="en-GB" spc="-1" dirty="0">
                <a:latin typeface="Times New Roman"/>
                <a:ea typeface="DejaVu Sans"/>
              </a:rPr>
              <a:t>86</a:t>
            </a:r>
            <a:r>
              <a:rPr lang="en-GB" b="0" strike="noStrike" spc="-1" dirty="0">
                <a:latin typeface="Times New Roman"/>
                <a:ea typeface="DejaVu Sans"/>
              </a:rPr>
              <a:t>b/m  </a:t>
            </a:r>
            <a:endParaRPr lang="en-US" b="0" strike="noStrike" spc="-1" dirty="0">
              <a:latin typeface="Arial"/>
            </a:endParaRPr>
          </a:p>
          <a:p>
            <a:pPr marL="191880" indent="-191880">
              <a:lnSpc>
                <a:spcPct val="100000"/>
              </a:lnSpc>
              <a:spcBef>
                <a:spcPts val="901"/>
              </a:spcBef>
              <a:buClr>
                <a:srgbClr val="000000"/>
              </a:buClr>
              <a:buFont typeface="Arial"/>
              <a:buChar char="•"/>
            </a:pPr>
            <a:r>
              <a:rPr lang="en-GB" b="0" strike="noStrike" spc="-1" dirty="0">
                <a:latin typeface="Times New Roman"/>
                <a:ea typeface="DejaVu Sans"/>
              </a:rPr>
              <a:t>RR -</a:t>
            </a:r>
            <a:r>
              <a:rPr lang="en-GB" spc="-1" dirty="0">
                <a:latin typeface="Times New Roman"/>
                <a:ea typeface="DejaVu Sans"/>
              </a:rPr>
              <a:t>22</a:t>
            </a:r>
            <a:r>
              <a:rPr lang="en-GB" b="0" strike="noStrike" spc="-1" dirty="0">
                <a:latin typeface="Times New Roman"/>
                <a:ea typeface="DejaVu Sans"/>
              </a:rPr>
              <a:t> </a:t>
            </a:r>
            <a:r>
              <a:rPr lang="en-US" b="0" strike="noStrike" spc="-1" dirty="0">
                <a:latin typeface="Times New Roman"/>
                <a:ea typeface="DejaVu Sans"/>
              </a:rPr>
              <a:t> </a:t>
            </a:r>
            <a:r>
              <a:rPr lang="en-GB" b="0" strike="noStrike" spc="-1" dirty="0">
                <a:latin typeface="Times New Roman"/>
                <a:ea typeface="DejaVu Sans"/>
              </a:rPr>
              <a:t>breaths/min </a:t>
            </a:r>
            <a:endParaRPr lang="en-US" b="0" strike="noStrike" spc="-1" dirty="0">
              <a:latin typeface="Arial"/>
            </a:endParaRPr>
          </a:p>
          <a:p>
            <a:pPr marL="191880" indent="-191880">
              <a:lnSpc>
                <a:spcPct val="100000"/>
              </a:lnSpc>
              <a:spcBef>
                <a:spcPts val="901"/>
              </a:spcBef>
              <a:buClr>
                <a:srgbClr val="000000"/>
              </a:buClr>
              <a:buFont typeface="Arial"/>
              <a:buChar char="•"/>
            </a:pPr>
            <a:r>
              <a:rPr lang="en-US" b="0" strike="noStrike" spc="-1" dirty="0">
                <a:latin typeface="Times New Roman"/>
                <a:ea typeface="DejaVu Sans"/>
              </a:rPr>
              <a:t> SPO2-</a:t>
            </a:r>
            <a:r>
              <a:rPr lang="en-GB" b="0" strike="noStrike" spc="-1" dirty="0">
                <a:latin typeface="Times New Roman"/>
                <a:ea typeface="DejaVu Sans"/>
              </a:rPr>
              <a:t> 94% RA</a:t>
            </a:r>
            <a:endParaRPr lang="en-US" b="0" strike="noStrike" spc="-1" dirty="0">
              <a:latin typeface="Arial"/>
            </a:endParaRPr>
          </a:p>
          <a:p>
            <a:pPr marL="191880" indent="-191880">
              <a:lnSpc>
                <a:spcPct val="100000"/>
              </a:lnSpc>
              <a:spcBef>
                <a:spcPts val="901"/>
              </a:spcBef>
              <a:buClr>
                <a:srgbClr val="000000"/>
              </a:buClr>
              <a:buFont typeface="Arial"/>
              <a:buChar char="•"/>
            </a:pPr>
            <a:r>
              <a:rPr lang="en-GB" b="0" strike="noStrike" spc="-1" dirty="0">
                <a:solidFill>
                  <a:srgbClr val="100505"/>
                </a:solidFill>
                <a:latin typeface="Times New Roman"/>
                <a:ea typeface="DejaVu Sans"/>
              </a:rPr>
              <a:t>T</a:t>
            </a:r>
            <a:r>
              <a:rPr lang="en-US" spc="-1" dirty="0">
                <a:solidFill>
                  <a:srgbClr val="100505"/>
                </a:solidFill>
                <a:latin typeface="Times New Roman"/>
                <a:ea typeface="DejaVu Sans"/>
              </a:rPr>
              <a:t>-</a:t>
            </a:r>
            <a:r>
              <a:rPr lang="en-GB" b="0" strike="noStrike" spc="-1" dirty="0">
                <a:solidFill>
                  <a:srgbClr val="100505"/>
                </a:solidFill>
                <a:latin typeface="Times New Roman"/>
                <a:ea typeface="DejaVu Sans"/>
              </a:rPr>
              <a:t>36.8 ° </a:t>
            </a:r>
            <a:r>
              <a:rPr lang="en-US" b="0" strike="noStrike" spc="-1" dirty="0">
                <a:solidFill>
                  <a:srgbClr val="100505"/>
                </a:solidFill>
                <a:latin typeface="Times New Roman"/>
                <a:ea typeface="DejaVu Sans"/>
              </a:rPr>
              <a:t>Centigrade</a:t>
            </a:r>
            <a:endParaRPr lang="en-US" b="0" strike="noStrike" spc="-1" dirty="0">
              <a:solidFill>
                <a:srgbClr val="000000"/>
              </a:solidFill>
              <a:latin typeface="Arial"/>
            </a:endParaRPr>
          </a:p>
          <a:p>
            <a:pPr marL="191880" indent="-191880">
              <a:lnSpc>
                <a:spcPct val="100000"/>
              </a:lnSpc>
              <a:spcBef>
                <a:spcPts val="901"/>
              </a:spcBef>
              <a:buClr>
                <a:srgbClr val="000000"/>
              </a:buClr>
              <a:buFont typeface="Arial"/>
              <a:buChar char="•"/>
            </a:pPr>
            <a:r>
              <a:rPr lang="en-GB" b="0" strike="noStrike" spc="-1" dirty="0">
                <a:solidFill>
                  <a:srgbClr val="100505"/>
                </a:solidFill>
                <a:latin typeface="Times New Roman"/>
                <a:ea typeface="DejaVu Sans"/>
              </a:rPr>
              <a:t>RBG</a:t>
            </a:r>
            <a:r>
              <a:rPr lang="en-GB" spc="-1" dirty="0">
                <a:solidFill>
                  <a:srgbClr val="100505"/>
                </a:solidFill>
                <a:latin typeface="Times New Roman"/>
                <a:ea typeface="DejaVu Sans"/>
              </a:rPr>
              <a:t>-7.8</a:t>
            </a:r>
            <a:r>
              <a:rPr lang="en-GB" b="0" strike="noStrike" spc="-1" dirty="0">
                <a:solidFill>
                  <a:srgbClr val="100505"/>
                </a:solidFill>
                <a:latin typeface="Times New Roman"/>
                <a:ea typeface="DejaVu Sans"/>
              </a:rPr>
              <a:t>mmol/L</a:t>
            </a:r>
            <a:endParaRPr lang="en-US" b="0" strike="noStrike" spc="-1" dirty="0">
              <a:solidFill>
                <a:srgbClr val="000000"/>
              </a:solidFill>
              <a:latin typeface="Arial"/>
            </a:endParaRPr>
          </a:p>
          <a:p>
            <a:pPr marL="228600"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79" name="Content Placeholder 3"/>
          <p:cNvSpPr/>
          <p:nvPr/>
        </p:nvSpPr>
        <p:spPr>
          <a:xfrm>
            <a:off x="5460397" y="2339843"/>
            <a:ext cx="5384160" cy="452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rgbClr val="000000"/>
          </a:fontRef>
        </p:style>
        <p:txBody>
          <a:bodyPr lIns="90000" tIns="45000" rIns="90000" bIns="45000" anchor="t">
            <a:norm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en-GB" sz="2800" b="0" i="0" u="none" strike="noStrike" kern="1200" cap="none" spc="-1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/>
                <a:ea typeface="Times New Roman"/>
                <a:cs typeface="+mn-cs"/>
              </a:rPr>
              <a:t>Weight- </a:t>
            </a:r>
            <a:r>
              <a:rPr lang="en-GB" sz="2800" spc="-1" dirty="0">
                <a:solidFill>
                  <a:schemeClr val="tx1"/>
                </a:solidFill>
                <a:latin typeface="Times New Roman"/>
                <a:ea typeface="Times New Roman"/>
              </a:rPr>
              <a:t>68</a:t>
            </a:r>
            <a:r>
              <a:rPr kumimoji="0" lang="en-GB" sz="2800" b="0" i="0" u="none" strike="noStrike" kern="1200" cap="none" spc="-1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/>
                <a:ea typeface="Times New Roman"/>
                <a:cs typeface="+mn-cs"/>
              </a:rPr>
              <a:t> Kg</a:t>
            </a: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en-GB" sz="2800" b="0" i="0" u="none" strike="noStrike" kern="1200" cap="none" spc="-1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/>
                <a:ea typeface="Times New Roman"/>
                <a:cs typeface="+mn-cs"/>
              </a:rPr>
              <a:t>Height- 154 cm</a:t>
            </a: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en-GB" sz="2800" b="0" i="0" u="none" strike="noStrike" kern="1200" cap="none" spc="-1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/>
                <a:ea typeface="Times New Roman"/>
                <a:cs typeface="+mn-cs"/>
              </a:rPr>
              <a:t>BMI-  </a:t>
            </a:r>
            <a:r>
              <a:rPr lang="en-GB" sz="2800" spc="-1" dirty="0">
                <a:solidFill>
                  <a:schemeClr val="tx1"/>
                </a:solidFill>
                <a:latin typeface="Times New Roman"/>
                <a:ea typeface="Times New Roman"/>
              </a:rPr>
              <a:t>28.69</a:t>
            </a:r>
            <a:r>
              <a:rPr kumimoji="0" lang="en-GB" sz="2800" b="0" i="0" u="none" strike="noStrike" kern="1200" cap="none" spc="-1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/>
                <a:ea typeface="Times New Roman"/>
                <a:cs typeface="+mn-cs"/>
              </a:rPr>
              <a:t>Kg/m2</a:t>
            </a:r>
          </a:p>
        </p:txBody>
      </p:sp>
      <p:sp>
        <p:nvSpPr>
          <p:cNvPr id="1048680" name="Title 1"/>
          <p:cNvSpPr/>
          <p:nvPr/>
        </p:nvSpPr>
        <p:spPr>
          <a:xfrm>
            <a:off x="678036" y="1030101"/>
            <a:ext cx="11027160" cy="97760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rgbClr val="000000"/>
          </a:fontRef>
        </p:style>
        <p:txBody>
          <a:bodyPr lIns="90000" tIns="45000" rIns="90000" bIns="4500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ejaVu Sans"/>
                <a:cs typeface="+mn-cs"/>
              </a:rPr>
              <a:t>Vital signs and anthropometric measurement</a:t>
            </a:r>
            <a:endParaRPr kumimoji="0" lang="en-US" sz="32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37963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440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Cardiovascular Examination </a:t>
            </a:r>
            <a:endParaRPr lang="en-US" sz="440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713" name="PlaceHolder 2"/>
          <p:cNvSpPr>
            <a:spLocks noGrp="1"/>
          </p:cNvSpPr>
          <p:nvPr>
            <p:ph/>
          </p:nvPr>
        </p:nvSpPr>
        <p:spPr>
          <a:xfrm>
            <a:off x="609480" y="161352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228600" indent="-2286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6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Warm extremities</a:t>
            </a:r>
            <a:endParaRPr lang="en-US" sz="2600" b="0" strike="noStrike" spc="-1" dirty="0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6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Pulse rate </a:t>
            </a:r>
            <a:r>
              <a:rPr lang="en-GB" sz="2600" spc="-1" dirty="0">
                <a:solidFill>
                  <a:srgbClr val="000000"/>
                </a:solidFill>
                <a:latin typeface="Times New Roman"/>
                <a:ea typeface="DejaVu Sans"/>
              </a:rPr>
              <a:t>86 </a:t>
            </a:r>
            <a:r>
              <a:rPr lang="en-GB" sz="26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beats/min</a:t>
            </a:r>
            <a:endParaRPr lang="en-US" sz="2600" b="0" strike="noStrike" spc="-1" dirty="0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6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Regular radial pulse, good volume, non collapsing, synchronised with  brachial, femoral, popliteal, dorsalis pedis pulses</a:t>
            </a:r>
            <a:endParaRPr lang="en-US" sz="2600" b="0" strike="noStrike" spc="-1" dirty="0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6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No raised jugular venous pressure</a:t>
            </a:r>
          </a:p>
          <a:p>
            <a:pPr marL="228600" indent="-2286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600" spc="-1" dirty="0">
                <a:solidFill>
                  <a:srgbClr val="000000"/>
                </a:solidFill>
                <a:latin typeface="Times New Roman"/>
              </a:rPr>
              <a:t>No precordial hyperactivity</a:t>
            </a:r>
            <a:endParaRPr lang="en-US" sz="2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714" name="PlaceHolder 3"/>
          <p:cNvSpPr>
            <a:spLocks noGrp="1"/>
          </p:cNvSpPr>
          <p:nvPr>
            <p:ph/>
          </p:nvPr>
        </p:nvSpPr>
        <p:spPr>
          <a:xfrm>
            <a:off x="617220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57200" indent="-4572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GB" sz="26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No parasternal or apical heave</a:t>
            </a:r>
          </a:p>
          <a:p>
            <a:pPr marL="457200" indent="-4572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GB" sz="2600" spc="-1" dirty="0">
                <a:solidFill>
                  <a:srgbClr val="000000"/>
                </a:solidFill>
                <a:latin typeface="Times New Roman"/>
              </a:rPr>
              <a:t>No thrill </a:t>
            </a:r>
            <a:endParaRPr lang="en-US" sz="2600" b="0" strike="noStrike" spc="-1" dirty="0">
              <a:solidFill>
                <a:srgbClr val="000000"/>
              </a:solidFill>
              <a:latin typeface="Arial"/>
            </a:endParaRPr>
          </a:p>
          <a:p>
            <a:pPr marL="457200" indent="-4572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GB" sz="2600" b="0" strike="noStrike" spc="-1" dirty="0">
                <a:latin typeface="Times New Roman"/>
                <a:ea typeface="DejaVu Sans"/>
              </a:rPr>
              <a:t>Apex beat 6</a:t>
            </a:r>
            <a:r>
              <a:rPr lang="en-GB" sz="2600" b="0" strike="noStrike" spc="-1" baseline="30000" dirty="0">
                <a:latin typeface="Times New Roman"/>
                <a:ea typeface="DejaVu Sans"/>
              </a:rPr>
              <a:t>th</a:t>
            </a:r>
            <a:r>
              <a:rPr lang="en-GB" sz="2600" b="0" strike="noStrike" spc="-1" dirty="0">
                <a:latin typeface="Times New Roman"/>
                <a:ea typeface="DejaVu Sans"/>
              </a:rPr>
              <a:t> ICS lateral MCL</a:t>
            </a:r>
            <a:endParaRPr lang="en-US" sz="2600" b="0" strike="noStrike" spc="-1" dirty="0">
              <a:latin typeface="Arial"/>
            </a:endParaRPr>
          </a:p>
          <a:p>
            <a:pPr marL="457200" indent="-4572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GB" sz="26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No pericardial friction rub</a:t>
            </a:r>
            <a:endParaRPr lang="en-US" sz="2600" b="0" strike="noStrike" spc="-1" dirty="0">
              <a:solidFill>
                <a:srgbClr val="000000"/>
              </a:solidFill>
              <a:latin typeface="Arial"/>
            </a:endParaRPr>
          </a:p>
          <a:p>
            <a:pPr marL="457200" indent="-4572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GB" sz="26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S1 and S2 heard,</a:t>
            </a:r>
            <a:r>
              <a:rPr lang="en-GB" sz="2600" spc="-1" dirty="0">
                <a:solidFill>
                  <a:srgbClr val="000000"/>
                </a:solidFill>
                <a:latin typeface="Times New Roman"/>
                <a:ea typeface="DejaVu Sans"/>
              </a:rPr>
              <a:t> pan systolic murmur at mitral Area radiating to the axillar and loud P2</a:t>
            </a:r>
          </a:p>
          <a:p>
            <a:pPr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</a:pPr>
            <a:endParaRPr lang="en-GB" sz="2600" spc="-1" dirty="0">
              <a:latin typeface="Times New Roman"/>
              <a:ea typeface="DejaVu Sans"/>
            </a:endParaRPr>
          </a:p>
          <a:p>
            <a:pPr marL="457200" indent="-4572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en-GB" sz="2600" b="0" strike="noStrike" spc="-1" dirty="0">
              <a:solidFill>
                <a:srgbClr val="FF0000"/>
              </a:solidFill>
              <a:latin typeface="Times New Roman"/>
              <a:ea typeface="DejaVu Sans"/>
            </a:endParaRPr>
          </a:p>
          <a:p>
            <a:pPr marL="457200" indent="-4572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en-GB" sz="2600" spc="-1" dirty="0">
              <a:solidFill>
                <a:srgbClr val="FF0000"/>
              </a:solidFill>
              <a:latin typeface="Times New Roman"/>
              <a:ea typeface="DejaVu Sans"/>
            </a:endParaRPr>
          </a:p>
          <a:p>
            <a:pPr marL="457200" indent="-4572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en-GB" sz="2600" b="0" strike="noStrike" spc="-1" dirty="0">
              <a:solidFill>
                <a:srgbClr val="FF0000"/>
              </a:solidFill>
              <a:latin typeface="Times New Roman"/>
              <a:ea typeface="DejaVu Sans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</a:pPr>
            <a:endParaRPr lang="en-US" sz="2600" b="0" strike="noStrike" spc="-1" dirty="0">
              <a:solidFill>
                <a:srgbClr val="000000"/>
              </a:solidFill>
              <a:latin typeface="Arial"/>
            </a:endParaRPr>
          </a:p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715" name="Rounded Rectangle 2"/>
          <p:cNvSpPr/>
          <p:nvPr/>
        </p:nvSpPr>
        <p:spPr>
          <a:xfrm>
            <a:off x="609480" y="5964120"/>
            <a:ext cx="10972080" cy="752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rgbClr val="000000"/>
          </a:fontRef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1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ejaVu Sans"/>
                <a:cs typeface="+mn-cs"/>
              </a:rPr>
              <a:t>Conclusion: </a:t>
            </a:r>
            <a:r>
              <a:rPr kumimoji="0" lang="en-US" sz="2200" b="1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ejaVu Sans"/>
                <a:cs typeface="+mn-cs"/>
              </a:rPr>
              <a:t> Cardiomegaly and</a:t>
            </a:r>
            <a:r>
              <a:rPr kumimoji="0" lang="en-US" sz="2200" b="1" i="0" u="none" strike="noStrike" kern="1200" cap="none" spc="-1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ejaVu Sans"/>
                <a:cs typeface="+mn-cs"/>
              </a:rPr>
              <a:t> Mitral Regurgitation and Pulmonary HTN</a:t>
            </a:r>
            <a:endParaRPr kumimoji="0" lang="en-US" sz="2200" b="1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sz="22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63094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Respiratory System Examination-1</a:t>
            </a:r>
          </a:p>
        </p:txBody>
      </p:sp>
      <p:sp>
        <p:nvSpPr>
          <p:cNvPr id="104869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RR=22 breaths per min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chest contour 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traditional marks or scar 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Bilateral symmetrical  chest movements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Bilateral symmetrical chest expansion  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Trachea is centrally located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palpable mass</a:t>
            </a:r>
          </a:p>
          <a:p>
            <a:endParaRPr lang="en-US" sz="2600" dirty="0"/>
          </a:p>
          <a:p>
            <a:endParaRPr lang="en-US" sz="2600" dirty="0"/>
          </a:p>
          <a:p>
            <a:endParaRPr lang="en-US" sz="2600" dirty="0"/>
          </a:p>
          <a:p>
            <a:endParaRPr lang="en-US" sz="2600" dirty="0"/>
          </a:p>
          <a:p>
            <a:endParaRPr lang="en-US" sz="2600" dirty="0"/>
          </a:p>
          <a:p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40369423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Respiratory Examination -2 </a:t>
            </a:r>
          </a:p>
        </p:txBody>
      </p:sp>
      <p:sp>
        <p:nvSpPr>
          <p:cNvPr id="1048697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area of tenderness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tactile vocal fremitus,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dull percussion note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infrascapular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both lungs more on the right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vesicular breath  breath sounds heard bilateral with reduced breath sound on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infrascapular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both lung more on the right lung and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creaitations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dirty="0"/>
          </a:p>
        </p:txBody>
      </p:sp>
      <p:sp>
        <p:nvSpPr>
          <p:cNvPr id="1048698" name="Rounded Rectangle 6"/>
          <p:cNvSpPr/>
          <p:nvPr/>
        </p:nvSpPr>
        <p:spPr>
          <a:xfrm>
            <a:off x="491320" y="5390866"/>
            <a:ext cx="10972800" cy="13210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rgbClr val="000000"/>
          </a:fontRef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GB" sz="2200" b="1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ejaVu Sans"/>
              </a:rPr>
              <a:t>Conclusion:</a:t>
            </a:r>
            <a:r>
              <a:rPr lang="en-GB" sz="2200" b="1" spc="-1" dirty="0" err="1">
                <a:latin typeface="Times New Roman"/>
                <a:ea typeface="DejaVu Sans"/>
              </a:rPr>
              <a:t>Tachypnoea,features</a:t>
            </a:r>
            <a:r>
              <a:rPr lang="en-GB" sz="2200" b="1" spc="-1" dirty="0">
                <a:latin typeface="Times New Roman"/>
                <a:ea typeface="DejaVu Sans"/>
              </a:rPr>
              <a:t> suggestive of  pulmonary </a:t>
            </a:r>
            <a:r>
              <a:rPr lang="en-GB" sz="2200" b="1" spc="-1" dirty="0" err="1">
                <a:latin typeface="Times New Roman"/>
                <a:ea typeface="DejaVu Sans"/>
              </a:rPr>
              <a:t>edema</a:t>
            </a:r>
            <a:r>
              <a:rPr lang="en-GB" sz="2200" b="1" spc="-1" dirty="0">
                <a:latin typeface="Times New Roman"/>
                <a:ea typeface="DejaVu Sans"/>
              </a:rPr>
              <a:t> and pleural effusion</a:t>
            </a:r>
            <a:endParaRPr kumimoji="0" lang="en-US" sz="2200" b="1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01208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Nervous System-1</a:t>
            </a:r>
            <a:endParaRPr lang="en-US" dirty="0"/>
          </a:p>
        </p:txBody>
      </p:sp>
      <p:sp>
        <p:nvSpPr>
          <p:cNvPr id="104872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8000"/>
              </a:lnSpc>
              <a:buNone/>
            </a:pPr>
            <a:r>
              <a:rPr lang="en-GB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centres</a:t>
            </a:r>
            <a:endParaRPr lang="en-GB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8000"/>
              </a:lnSpc>
            </a:pP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Conscious</a:t>
            </a:r>
          </a:p>
          <a:p>
            <a:pPr>
              <a:lnSpc>
                <a:spcPct val="108000"/>
              </a:lnSpc>
            </a:pP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Glasgow Coma Score – 15/15 </a:t>
            </a:r>
          </a:p>
          <a:p>
            <a:pPr>
              <a:lnSpc>
                <a:spcPct val="108000"/>
              </a:lnSpc>
            </a:pP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Oriented to tome, place and person</a:t>
            </a:r>
          </a:p>
          <a:p>
            <a:pPr>
              <a:lnSpc>
                <a:spcPct val="108000"/>
              </a:lnSpc>
            </a:pP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short- and long-term memory</a:t>
            </a:r>
          </a:p>
          <a:p>
            <a:pPr>
              <a:lnSpc>
                <a:spcPct val="108000"/>
              </a:lnSpc>
            </a:pP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Coherent speech</a:t>
            </a:r>
          </a:p>
        </p:txBody>
      </p:sp>
      <p:sp>
        <p:nvSpPr>
          <p:cNvPr id="1048730" name="Rounded Rectangle 3"/>
          <p:cNvSpPr/>
          <p:nvPr/>
        </p:nvSpPr>
        <p:spPr>
          <a:xfrm>
            <a:off x="838200" y="6219825"/>
            <a:ext cx="10515600" cy="546099"/>
          </a:xfrm>
          <a:prstGeom prst="roundRect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itchFamily="18" charset="0"/>
              </a:rPr>
              <a:t>Conclusion: Normal higher centre examination 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90340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Nervous System-2</a:t>
            </a:r>
            <a:endParaRPr lang="en-US" dirty="0"/>
          </a:p>
        </p:txBody>
      </p:sp>
      <p:sp>
        <p:nvSpPr>
          <p:cNvPr id="104873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8000"/>
              </a:lnSpc>
              <a:buNone/>
            </a:pPr>
            <a:r>
              <a:rPr lang="en-GB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Signs of meningeal irritation</a:t>
            </a: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661307" lvl="1" indent="-204107">
              <a:lnSpc>
                <a:spcPct val="108000"/>
              </a:lnSpc>
              <a:spcBef>
                <a:spcPts val="500"/>
              </a:spcBef>
              <a:defRPr sz="2400"/>
            </a:pP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Neck was soft </a:t>
            </a:r>
          </a:p>
          <a:p>
            <a:pPr marL="661307" lvl="1" indent="-204107">
              <a:lnSpc>
                <a:spcPct val="108000"/>
              </a:lnSpc>
              <a:spcBef>
                <a:spcPts val="500"/>
              </a:spcBef>
              <a:defRPr sz="2400"/>
            </a:pP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Brudzinski sign</a:t>
            </a:r>
          </a:p>
          <a:p>
            <a:pPr marL="661307" lvl="1" indent="-204107">
              <a:lnSpc>
                <a:spcPct val="108000"/>
              </a:lnSpc>
              <a:spcBef>
                <a:spcPts val="500"/>
              </a:spcBef>
              <a:defRPr sz="2400"/>
            </a:pP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Kernig’s sign</a:t>
            </a:r>
          </a:p>
          <a:p>
            <a:pPr marL="0" indent="0">
              <a:lnSpc>
                <a:spcPct val="108000"/>
              </a:lnSpc>
              <a:buSzTx/>
              <a:buNone/>
              <a:defRPr sz="2400"/>
            </a:pPr>
            <a:endParaRPr lang="en-GB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8000"/>
              </a:lnSpc>
              <a:buSzTx/>
              <a:buNone/>
              <a:defRPr sz="2400"/>
            </a:pPr>
            <a:endParaRPr lang="en-GB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736" name="Rounded Rectangle 3"/>
          <p:cNvSpPr/>
          <p:nvPr/>
        </p:nvSpPr>
        <p:spPr>
          <a:xfrm>
            <a:off x="838200" y="6180069"/>
            <a:ext cx="10515600" cy="546099"/>
          </a:xfrm>
          <a:prstGeom prst="roundRect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itchFamily="18" charset="0"/>
              </a:rPr>
              <a:t>Conclusion: No sign of meningeal irritation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39857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Nervous System-3</a:t>
            </a:r>
            <a:endParaRPr lang="en-US" dirty="0"/>
          </a:p>
        </p:txBody>
      </p:sp>
      <p:sp>
        <p:nvSpPr>
          <p:cNvPr id="1048738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Cranial nerve examination</a:t>
            </a:r>
            <a:endParaRPr lang="en-GB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 I: Could smell in both nostrils</a:t>
            </a:r>
          </a:p>
          <a:p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 II: </a:t>
            </a:r>
          </a:p>
          <a:p>
            <a:pPr lvl="1">
              <a:spcBef>
                <a:spcPts val="500"/>
              </a:spcBef>
              <a:buFont typeface="Wingdings" pitchFamily="2" charset="2"/>
              <a:buChar char="ü"/>
              <a:defRPr sz="2400"/>
            </a:pP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Pupils  normal size, shape, responding to light </a:t>
            </a:r>
          </a:p>
          <a:p>
            <a:pPr lvl="1">
              <a:spcBef>
                <a:spcPts val="500"/>
              </a:spcBef>
              <a:buFont typeface="Wingdings" pitchFamily="2" charset="2"/>
              <a:buChar char="ü"/>
              <a:defRPr sz="2400"/>
            </a:pP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visual fields</a:t>
            </a:r>
          </a:p>
          <a:p>
            <a:pPr lvl="1">
              <a:spcBef>
                <a:spcPts val="500"/>
              </a:spcBef>
              <a:buFont typeface="Wingdings" pitchFamily="2" charset="2"/>
              <a:buChar char="ü"/>
              <a:defRPr sz="2400"/>
            </a:pP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Colour vision normal</a:t>
            </a:r>
          </a:p>
          <a:p>
            <a:pPr lvl="1">
              <a:buFont typeface="Wingdings" pitchFamily="2" charset="2"/>
              <a:buChar char="ü"/>
            </a:pP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fundoscopy</a:t>
            </a:r>
          </a:p>
          <a:p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 III, IV and VI </a:t>
            </a:r>
          </a:p>
          <a:p>
            <a:pPr lvl="1">
              <a:buFont typeface="Wingdings" pitchFamily="2" charset="2"/>
              <a:buChar char="ü"/>
            </a:pP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ocular movements </a:t>
            </a: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85222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Nervous System-4</a:t>
            </a:r>
            <a:endParaRPr lang="en-US" dirty="0"/>
          </a:p>
        </p:txBody>
      </p:sp>
      <p:sp>
        <p:nvSpPr>
          <p:cNvPr id="104874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Cranial nerve examination:</a:t>
            </a:r>
            <a:endParaRPr lang="en-GB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 V : Could clench teeth with normal sensation on the face</a:t>
            </a:r>
          </a:p>
          <a:p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 VII: Normal facial expression</a:t>
            </a:r>
          </a:p>
          <a:p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 VIII: Could hear normally on both ears</a:t>
            </a:r>
          </a:p>
          <a:p>
            <a:pPr>
              <a:lnSpc>
                <a:spcPct val="81000"/>
              </a:lnSpc>
            </a:pP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 IX : Could swallow normally </a:t>
            </a:r>
          </a:p>
          <a:p>
            <a:pPr>
              <a:lnSpc>
                <a:spcPct val="81000"/>
              </a:lnSpc>
            </a:pP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  X: Gag reflex present</a:t>
            </a:r>
          </a:p>
          <a:p>
            <a:pPr>
              <a:lnSpc>
                <a:spcPct val="81000"/>
              </a:lnSpc>
            </a:pP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 XI: Can turn neck sideways against resistance</a:t>
            </a:r>
          </a:p>
          <a:p>
            <a:pPr>
              <a:lnSpc>
                <a:spcPct val="81000"/>
              </a:lnSpc>
            </a:pP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 XII: No tongue deviation,  no atrophy, no fasciculation</a:t>
            </a:r>
          </a:p>
          <a:p>
            <a:endParaRPr lang="en-GB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744" name="Rounded Rectangle 3"/>
          <p:cNvSpPr/>
          <p:nvPr/>
        </p:nvSpPr>
        <p:spPr>
          <a:xfrm>
            <a:off x="838200" y="6219825"/>
            <a:ext cx="10515600" cy="546099"/>
          </a:xfrm>
          <a:prstGeom prst="roundRect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itchFamily="18" charset="0"/>
              </a:rPr>
              <a:t>Conclusion: Normal cranial nerves findings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48095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42565"/>
            <a:ext cx="9111096" cy="679618"/>
          </a:xfrm>
        </p:spPr>
        <p:txBody>
          <a:bodyPr>
            <a:noAutofit/>
          </a:bodyPr>
          <a:lstStyle/>
          <a:p>
            <a:r>
              <a:rPr lang="en-US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Motor System Examination-5</a:t>
            </a:r>
            <a:endParaRPr lang="en-GB" dirty="0"/>
          </a:p>
        </p:txBody>
      </p:sp>
      <p:graphicFrame>
        <p:nvGraphicFramePr>
          <p:cNvPr id="263" name="Google Shape;263;p29"/>
          <p:cNvGraphicFramePr/>
          <p:nvPr/>
        </p:nvGraphicFramePr>
        <p:xfrm>
          <a:off x="713984" y="1741118"/>
          <a:ext cx="10459231" cy="4593824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019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815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80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4853"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UPPER LIMBS</a:t>
                      </a:r>
                      <a:endParaRPr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25721" marB="25721"/>
                </a:tc>
                <a:tc hMerge="1">
                  <a:txBody>
                    <a:bodyPr/>
                    <a:lstStyle/>
                    <a:p>
                      <a:endParaRPr lang="en-TZ"/>
                    </a:p>
                  </a:txBody>
                  <a:tcPr marL="68588" marR="68588" marT="25721" marB="25721"/>
                </a:tc>
                <a:tc hMerge="1">
                  <a:txBody>
                    <a:bodyPr/>
                    <a:lstStyle/>
                    <a:p>
                      <a:endParaRPr lang="en-TZ"/>
                    </a:p>
                  </a:txBody>
                  <a:tcPr marL="68588" marR="68588" marT="25721" marB="2572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85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25721" marB="25721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dirty="0"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LEFT LIMB</a:t>
                      </a:r>
                      <a:endParaRPr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25721" marB="25721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dirty="0"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RIGHT LIMB</a:t>
                      </a:r>
                      <a:endParaRPr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25721" marB="2572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98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Fasciculation</a:t>
                      </a:r>
                    </a:p>
                  </a:txBody>
                  <a:tcPr marL="68588" marR="68588" marT="25721" marB="25721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dirty="0"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None</a:t>
                      </a:r>
                      <a:endParaRPr sz="2400" b="0" dirty="0">
                        <a:latin typeface="Times New Roman" panose="02020603050405020304" pitchFamily="18" charset="0"/>
                        <a:ea typeface="Times New Roman" panose="02020603050405020304"/>
                        <a:cs typeface="Times New Roman" panose="02020603050405020304" pitchFamily="18" charset="0"/>
                        <a:sym typeface="Times New Roman" panose="02020603050405020304"/>
                      </a:endParaRPr>
                    </a:p>
                  </a:txBody>
                  <a:tcPr marL="68588" marR="68588" marT="25721" marB="25721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dirty="0"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None</a:t>
                      </a:r>
                      <a:endParaRPr sz="2400" b="0" dirty="0">
                        <a:latin typeface="Times New Roman" panose="02020603050405020304" pitchFamily="18" charset="0"/>
                        <a:ea typeface="Times New Roman" panose="02020603050405020304"/>
                        <a:cs typeface="Times New Roman" panose="02020603050405020304" pitchFamily="18" charset="0"/>
                        <a:sym typeface="Times New Roman" panose="02020603050405020304"/>
                      </a:endParaRPr>
                    </a:p>
                  </a:txBody>
                  <a:tcPr marL="68588" marR="68588" marT="25721" marB="2572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101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Bulkiness</a:t>
                      </a: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8" marR="68588" marT="25721" marB="25721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Pts val="2400"/>
                        <a:buFont typeface="Times New Roman" panose="02020603050405020304"/>
                        <a:buNone/>
                        <a:defRPr/>
                      </a:pPr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Normal bulkiness in all muscle groups</a:t>
                      </a:r>
                    </a:p>
                  </a:txBody>
                  <a:tcPr marL="68588" marR="68588" marT="25721" marB="25721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Normal bulkiness in all muscle groups</a:t>
                      </a:r>
                    </a:p>
                  </a:txBody>
                  <a:tcPr marL="68588" marR="68588" marT="25721" marB="2572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99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Tone</a:t>
                      </a: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8" marR="68588" marT="25721" marB="25721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dirty="0"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Normal</a:t>
                      </a:r>
                      <a:endParaRPr sz="2400" b="0" dirty="0">
                        <a:latin typeface="Times New Roman" panose="02020603050405020304" pitchFamily="18" charset="0"/>
                        <a:ea typeface="Times New Roman" panose="02020603050405020304"/>
                        <a:cs typeface="Times New Roman" panose="02020603050405020304" pitchFamily="18" charset="0"/>
                        <a:sym typeface="Times New Roman" panose="02020603050405020304"/>
                      </a:endParaRPr>
                    </a:p>
                  </a:txBody>
                  <a:tcPr marL="68588" marR="68588" marT="25721" marB="25721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dirty="0"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Normal</a:t>
                      </a:r>
                      <a:endParaRPr sz="2400" b="0" dirty="0">
                        <a:latin typeface="Times New Roman" panose="02020603050405020304" pitchFamily="18" charset="0"/>
                        <a:ea typeface="Times New Roman" panose="02020603050405020304"/>
                        <a:cs typeface="Times New Roman" panose="02020603050405020304" pitchFamily="18" charset="0"/>
                        <a:sym typeface="Times New Roman" panose="02020603050405020304"/>
                      </a:endParaRPr>
                    </a:p>
                  </a:txBody>
                  <a:tcPr marL="68588" marR="68588" marT="25721" marB="2572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3335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dirty="0"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Power</a:t>
                      </a:r>
                      <a:endParaRPr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25721" marB="25721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dirty="0"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Arm: Flexors, extensors, abductors, adductors 5/5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400" b="0" dirty="0"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Forearm: Flexors 5/5, Extensors 5/5</a:t>
                      </a:r>
                    </a:p>
                  </a:txBody>
                  <a:tcPr marL="68588" marR="68588" marT="25721" marB="25721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400" b="0" dirty="0"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 Arm: Flexors, extensors, abductors, adductors 5/5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400" b="0" dirty="0"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Forearm: Flexors 5/5, Extensors 5/5</a:t>
                      </a:r>
                    </a:p>
                  </a:txBody>
                  <a:tcPr marL="68588" marR="68588" marT="25721" marB="2572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9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dirty="0"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Reflex</a:t>
                      </a:r>
                      <a:endParaRPr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25721" marB="25721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dirty="0"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Normal</a:t>
                      </a:r>
                      <a:endParaRPr sz="2400" b="0" dirty="0">
                        <a:latin typeface="Times New Roman" panose="02020603050405020304" pitchFamily="18" charset="0"/>
                        <a:ea typeface="Times New Roman" panose="02020603050405020304"/>
                        <a:cs typeface="Times New Roman" panose="02020603050405020304" pitchFamily="18" charset="0"/>
                        <a:sym typeface="Times New Roman" panose="02020603050405020304"/>
                      </a:endParaRPr>
                    </a:p>
                  </a:txBody>
                  <a:tcPr marL="68588" marR="68588" marT="25721" marB="25721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dirty="0"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Normal</a:t>
                      </a:r>
                      <a:endParaRPr sz="2400" b="0" dirty="0">
                        <a:latin typeface="Times New Roman" panose="02020603050405020304" pitchFamily="18" charset="0"/>
                        <a:ea typeface="Times New Roman" panose="02020603050405020304"/>
                        <a:cs typeface="Times New Roman" panose="02020603050405020304" pitchFamily="18" charset="0"/>
                        <a:sym typeface="Times New Roman" panose="02020603050405020304"/>
                      </a:endParaRPr>
                    </a:p>
                  </a:txBody>
                  <a:tcPr marL="68588" marR="68588" marT="25721" marB="25721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ounded Rectangle 3"/>
          <p:cNvSpPr/>
          <p:nvPr/>
        </p:nvSpPr>
        <p:spPr>
          <a:xfrm>
            <a:off x="505216" y="6397590"/>
            <a:ext cx="10972800" cy="341413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37644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9" name="Google Shape;269;p30"/>
          <p:cNvGraphicFramePr/>
          <p:nvPr>
            <p:extLst>
              <p:ext uri="{D42A27DB-BD31-4B8C-83A1-F6EECF244321}">
                <p14:modId xmlns:p14="http://schemas.microsoft.com/office/powerpoint/2010/main" val="96051794"/>
              </p:ext>
            </p:extLst>
          </p:nvPr>
        </p:nvGraphicFramePr>
        <p:xfrm>
          <a:off x="1023937" y="1473675"/>
          <a:ext cx="10712952" cy="4697824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1087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41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200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7131"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LOWER LIMBS</a:t>
                      </a:r>
                      <a:endParaRPr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569" marR="38569" marT="19294" marB="19294"/>
                </a:tc>
                <a:tc hMerge="1">
                  <a:txBody>
                    <a:bodyPr/>
                    <a:lstStyle/>
                    <a:p>
                      <a:endParaRPr lang="en-TZ"/>
                    </a:p>
                  </a:txBody>
                  <a:tcPr marL="38569" marR="38569" marT="19294" marB="19294"/>
                </a:tc>
                <a:tc hMerge="1">
                  <a:txBody>
                    <a:bodyPr/>
                    <a:lstStyle/>
                    <a:p>
                      <a:endParaRPr lang="en-TZ"/>
                    </a:p>
                  </a:txBody>
                  <a:tcPr marL="38569" marR="38569" marT="19294" marB="1929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13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569" marR="38569" marT="19294" marB="19294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dirty="0"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LEFT  LIMB</a:t>
                      </a:r>
                      <a:endParaRPr sz="2400" b="1" dirty="0">
                        <a:latin typeface="Times New Roman" panose="02020603050405020304" pitchFamily="18" charset="0"/>
                        <a:ea typeface="Times New Roman" panose="02020603050405020304"/>
                        <a:cs typeface="Times New Roman" panose="02020603050405020304" pitchFamily="18" charset="0"/>
                        <a:sym typeface="Times New Roman" panose="02020603050405020304"/>
                      </a:endParaRPr>
                    </a:p>
                  </a:txBody>
                  <a:tcPr marL="38569" marR="38569" marT="19294" marB="19294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dirty="0"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RIGHT LIMB </a:t>
                      </a:r>
                      <a:endParaRPr sz="2400" b="1" dirty="0">
                        <a:latin typeface="Times New Roman" panose="02020603050405020304" pitchFamily="18" charset="0"/>
                        <a:ea typeface="Times New Roman" panose="02020603050405020304"/>
                        <a:cs typeface="Times New Roman" panose="02020603050405020304" pitchFamily="18" charset="0"/>
                        <a:sym typeface="Times New Roman" panose="02020603050405020304"/>
                      </a:endParaRPr>
                    </a:p>
                  </a:txBody>
                  <a:tcPr marL="38569" marR="38569" marT="19294" marB="1929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713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dirty="0"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Fasciculations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569" marR="38569" marT="19294" marB="19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None</a:t>
                      </a:r>
                    </a:p>
                  </a:txBody>
                  <a:tcPr marL="38569" marR="38569" marT="19294" marB="19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None</a:t>
                      </a:r>
                    </a:p>
                  </a:txBody>
                  <a:tcPr marL="38569" marR="38569" marT="19294" marB="1929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713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dirty="0"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Bulkiness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569" marR="38569" marT="19294" marB="19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dirty="0"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Normal</a:t>
                      </a:r>
                    </a:p>
                  </a:txBody>
                  <a:tcPr marL="38569" marR="38569" marT="19294" marB="19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dirty="0"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Normal</a:t>
                      </a:r>
                    </a:p>
                  </a:txBody>
                  <a:tcPr marL="38569" marR="38569" marT="19294" marB="1929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713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dirty="0"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Tone 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569" marR="38569" marT="19294" marB="1929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704020202020204"/>
                        <a:buNone/>
                        <a:defRPr/>
                      </a:pPr>
                      <a:r>
                        <a:rPr lang="en-US" sz="2400" b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Normal</a:t>
                      </a:r>
                    </a:p>
                  </a:txBody>
                  <a:tcPr marL="38569" marR="38569" marT="19294" marB="19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Normal </a:t>
                      </a:r>
                    </a:p>
                  </a:txBody>
                  <a:tcPr marL="38569" marR="38569" marT="19294" marB="1929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636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dirty="0"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Power 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569" marR="38569" marT="19294" marB="19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baseline="0" dirty="0"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Thigh: 5/5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baseline="0" dirty="0"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Leg: flexors - extensors –5/5</a:t>
                      </a:r>
                    </a:p>
                  </a:txBody>
                  <a:tcPr marL="38569" marR="38569" marT="19294" marB="19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baseline="0" dirty="0"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Thigh: 5/5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baseline="0" dirty="0"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Leg: flexors – 5/5</a:t>
                      </a:r>
                    </a:p>
                  </a:txBody>
                  <a:tcPr marL="38569" marR="38569" marT="19294" marB="1929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6260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dirty="0"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Deep tendon reflex 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cap="none" dirty="0"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Ankle reflex</a:t>
                      </a:r>
                    </a:p>
                  </a:txBody>
                  <a:tcPr marL="38569" marR="38569" marT="19294" marB="19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Normal</a:t>
                      </a:r>
                      <a:endParaRPr lang="en-US" sz="24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Times New Roman" panose="02020603050405020304"/>
                        <a:cs typeface="Times New Roman" panose="02020603050405020304" pitchFamily="18" charset="0"/>
                        <a:sym typeface="Times New Roman" panose="02020603050405020304"/>
                      </a:endParaRPr>
                    </a:p>
                  </a:txBody>
                  <a:tcPr marL="38569" marR="38569" marT="19294" marB="19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Normal</a:t>
                      </a:r>
                    </a:p>
                  </a:txBody>
                  <a:tcPr marL="38569" marR="38569" marT="19294" marB="1929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5636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dirty="0"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Plantar reflex 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569" marR="38569" marT="19294" marB="1929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704020202020204"/>
                        <a:buNone/>
                        <a:defRPr/>
                      </a:pPr>
                      <a:r>
                        <a:rPr lang="en-US" sz="2400" b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Equivocal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dirty="0"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                                             </a:t>
                      </a:r>
                    </a:p>
                  </a:txBody>
                  <a:tcPr marL="38569" marR="38569" marT="19294" marB="1929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704020202020204"/>
                        <a:buNone/>
                        <a:defRPr/>
                      </a:pPr>
                      <a:r>
                        <a:rPr lang="en-US" sz="2400" b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Equivocal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2400" b="0" dirty="0">
                        <a:latin typeface="Times New Roman" panose="02020603050405020304" pitchFamily="18" charset="0"/>
                        <a:ea typeface="Times New Roman" panose="02020603050405020304"/>
                        <a:cs typeface="Times New Roman" panose="02020603050405020304" pitchFamily="18" charset="0"/>
                        <a:sym typeface="Times New Roman" panose="02020603050405020304"/>
                      </a:endParaRPr>
                    </a:p>
                  </a:txBody>
                  <a:tcPr marL="38569" marR="38569" marT="19294" marB="19294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152650" y="263438"/>
            <a:ext cx="7886700" cy="628651"/>
          </a:xfrm>
        </p:spPr>
        <p:txBody>
          <a:bodyPr>
            <a:noAutofit/>
          </a:bodyPr>
          <a:lstStyle/>
          <a:p>
            <a:r>
              <a:rPr lang="en-US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Motor System Examination -6</a:t>
            </a: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1023937" y="6240045"/>
            <a:ext cx="10972800" cy="55647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" panose="02020603050405020304" pitchFamily="18" charset="0"/>
              <a:ea typeface="+mn-ea"/>
              <a:cs typeface="Times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Times" panose="02020603050405020304" pitchFamily="18" charset="0"/>
              </a:rPr>
              <a:t>Conclusion: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Times" panose="02020603050405020304" pitchFamily="18" charset="0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Times" panose="02020603050405020304" pitchFamily="18" charset="0"/>
              </a:rPr>
              <a:t> </a:t>
            </a:r>
            <a:r>
              <a:rPr kumimoji="0" lang="en-GB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Times" panose="02020603050405020304" pitchFamily="18" charset="0"/>
              </a:rPr>
              <a:t>Normal  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" panose="02020603050405020304" pitchFamily="18" charset="0"/>
              <a:ea typeface="+mn-ea"/>
              <a:cs typeface="Times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" panose="02020603050405020304" pitchFamily="18" charset="0"/>
              <a:ea typeface="+mn-ea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16261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Anterior Neck Examination </a:t>
            </a:r>
          </a:p>
        </p:txBody>
      </p:sp>
      <p:sp>
        <p:nvSpPr>
          <p:cNvPr id="1048700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visible neck swelling 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scars , redness or dilated veins over the anterior neck 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Thyroid gland non palpable, no nodules or tenderness, no cervical lymphadenopathy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bruit heard over the thyroid </a:t>
            </a: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701" name="Rounded Rectangle 6"/>
          <p:cNvSpPr/>
          <p:nvPr/>
        </p:nvSpPr>
        <p:spPr>
          <a:xfrm>
            <a:off x="276605" y="6302160"/>
            <a:ext cx="10848153" cy="555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rgbClr val="000000"/>
          </a:fontRef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GB" sz="240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Conclusion :Normal anterior neck  examination</a:t>
            </a:r>
            <a:endParaRPr kumimoji="0" lang="en-US" sz="240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2293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Abdominal Examination-1</a:t>
            </a:r>
          </a:p>
        </p:txBody>
      </p:sp>
      <p:sp>
        <p:nvSpPr>
          <p:cNvPr id="1048720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abdominal contour moves with respiration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Umbilicus inverted and centrally located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visible veins 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surgical scars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tenderness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Liver span 12cm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Spleen could not be palpated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Kidneys not bimanually palpable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shifting dullness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Tympanic note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bowel sounds, no renal bruits, no aortic bruits</a:t>
            </a: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721" name="Rounded Rectangle 2"/>
          <p:cNvSpPr/>
          <p:nvPr/>
        </p:nvSpPr>
        <p:spPr>
          <a:xfrm>
            <a:off x="609480" y="6176962"/>
            <a:ext cx="10972080" cy="53847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rgbClr val="000000"/>
          </a:fontRef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1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ejaVu Sans"/>
                <a:cs typeface="+mn-cs"/>
              </a:rPr>
              <a:t>Conclusion: </a:t>
            </a:r>
            <a:r>
              <a:rPr kumimoji="0" lang="en-US" sz="2200" b="1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DejaVu Sans"/>
                <a:cs typeface="+mn-cs"/>
              </a:rPr>
              <a:t>Normal  PAE</a:t>
            </a:r>
            <a:endParaRPr kumimoji="0" lang="en-US" sz="2200" b="1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sz="22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43218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5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Abdominal Examination-2</a:t>
            </a:r>
          </a:p>
        </p:txBody>
      </p:sp>
      <p:sp>
        <p:nvSpPr>
          <p:cNvPr id="1048726" name="Content Placeholder 4"/>
          <p:cNvSpPr>
            <a:spLocks noGrp="1"/>
          </p:cNvSpPr>
          <p:nvPr>
            <p:ph idx="1"/>
          </p:nvPr>
        </p:nvSpPr>
        <p:spPr>
          <a:xfrm>
            <a:off x="838200" y="161717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DRE</a:t>
            </a:r>
          </a:p>
          <a:p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anal verge</a:t>
            </a:r>
          </a:p>
          <a:p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sphincter tone</a:t>
            </a:r>
          </a:p>
          <a:p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 rectal mucosa</a:t>
            </a:r>
          </a:p>
          <a:p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Gloved finger stained with brown coloured stool</a:t>
            </a:r>
          </a:p>
          <a:p>
            <a:endParaRPr lang="en-GB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GB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727" name="Rounded Rectangle 4"/>
          <p:cNvSpPr/>
          <p:nvPr/>
        </p:nvSpPr>
        <p:spPr>
          <a:xfrm>
            <a:off x="485052" y="5729468"/>
            <a:ext cx="10972080" cy="62503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rgbClr val="000000"/>
          </a:fontRef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Conclusion: </a:t>
            </a:r>
            <a:r>
              <a:rPr kumimoji="0" lang="en-GB" sz="280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normal DRE findings</a:t>
            </a:r>
            <a:endParaRPr kumimoji="0" lang="en-GB" sz="28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12332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11977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Mrs. M.A.M. is a postmenopausal female with a background history of long-standing hypertension (&gt;20 years) and type 2 diabetes mellitus (5 years), admitted as a referral from </a:t>
            </a:r>
            <a:r>
              <a:rPr lang="en-US" dirty="0" err="1"/>
              <a:t>Tabata</a:t>
            </a:r>
            <a:r>
              <a:rPr lang="en-US" dirty="0"/>
              <a:t> Hospital with a diagnosis of suspected ST-elevation myocardial infarction (STEMI)</a:t>
            </a:r>
          </a:p>
          <a:p>
            <a:r>
              <a:rPr lang="en-US" dirty="0"/>
              <a:t>Presented with 7 days </a:t>
            </a:r>
            <a:r>
              <a:rPr lang="en-US" dirty="0" err="1"/>
              <a:t>hx</a:t>
            </a:r>
            <a:r>
              <a:rPr lang="en-US" dirty="0"/>
              <a:t> of atypical presentation of angina chest pain associated with dyspeptic symptoms with 3 days </a:t>
            </a:r>
            <a:r>
              <a:rPr lang="en-US" dirty="0" err="1"/>
              <a:t>hx</a:t>
            </a:r>
            <a:r>
              <a:rPr lang="en-US" dirty="0"/>
              <a:t> of symptoms of heart failure</a:t>
            </a:r>
          </a:p>
          <a:p>
            <a:r>
              <a:rPr lang="en-US" dirty="0"/>
              <a:t>Has positive </a:t>
            </a:r>
            <a:r>
              <a:rPr lang="en-US" dirty="0" err="1"/>
              <a:t>hx</a:t>
            </a:r>
            <a:r>
              <a:rPr lang="en-US" dirty="0"/>
              <a:t> of recent travel for 5hrs and positive </a:t>
            </a:r>
            <a:r>
              <a:rPr lang="en-US" dirty="0" err="1"/>
              <a:t>hx</a:t>
            </a:r>
            <a:r>
              <a:rPr lang="en-US" dirty="0"/>
              <a:t> of alcohol use but no </a:t>
            </a:r>
            <a:r>
              <a:rPr lang="en-US" dirty="0" err="1"/>
              <a:t>hx</a:t>
            </a:r>
            <a:r>
              <a:rPr lang="en-US" dirty="0"/>
              <a:t> of </a:t>
            </a:r>
            <a:r>
              <a:rPr lang="en-US" dirty="0" err="1"/>
              <a:t>cigarate</a:t>
            </a:r>
            <a:r>
              <a:rPr lang="en-US" dirty="0"/>
              <a:t> smoking</a:t>
            </a:r>
          </a:p>
          <a:p>
            <a:r>
              <a:rPr lang="en-US" dirty="0"/>
              <a:t>O/E </a:t>
            </a:r>
            <a:r>
              <a:rPr lang="en-US" dirty="0" err="1"/>
              <a:t>conscious,pale,tachypneac</a:t>
            </a:r>
            <a:r>
              <a:rPr lang="en-US" dirty="0"/>
              <a:t>(RR 22),bilateral lower limb </a:t>
            </a:r>
            <a:r>
              <a:rPr lang="en-US" dirty="0" err="1"/>
              <a:t>edema,cardiomegaly,mitral</a:t>
            </a:r>
            <a:r>
              <a:rPr lang="en-US" dirty="0"/>
              <a:t> regurgitation with features of </a:t>
            </a:r>
            <a:r>
              <a:rPr lang="en-US" dirty="0" err="1"/>
              <a:t>pulmonarary</a:t>
            </a:r>
            <a:r>
              <a:rPr lang="en-US" dirty="0"/>
              <a:t> edema and pleural effusion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87580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Diagnostic Formulation</a:t>
            </a:r>
          </a:p>
        </p:txBody>
      </p:sp>
    </p:spTree>
    <p:extLst>
      <p:ext uri="{BB962C8B-B14F-4D97-AF65-F5344CB8AC3E}">
        <p14:creationId xmlns:p14="http://schemas.microsoft.com/office/powerpoint/2010/main" val="33001823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Acute chest pain syndrome</a:t>
            </a:r>
          </a:p>
          <a:p>
            <a:r>
              <a:rPr lang="en-US" dirty="0"/>
              <a:t>Acute decompensated heart failure</a:t>
            </a:r>
          </a:p>
          <a:p>
            <a:r>
              <a:rPr lang="en-US" dirty="0"/>
              <a:t>Pulmonary </a:t>
            </a:r>
            <a:r>
              <a:rPr lang="en-US" dirty="0" err="1"/>
              <a:t>oedema</a:t>
            </a:r>
            <a:endParaRPr lang="en-US" dirty="0"/>
          </a:p>
          <a:p>
            <a:r>
              <a:rPr lang="en-US" dirty="0"/>
              <a:t>Bilateral pleural effusions</a:t>
            </a:r>
          </a:p>
          <a:p>
            <a:r>
              <a:rPr lang="en-US" dirty="0"/>
              <a:t>Long-standing hypertension</a:t>
            </a:r>
          </a:p>
          <a:p>
            <a:r>
              <a:rPr lang="en-US" dirty="0"/>
              <a:t>Type 2 diabetes mellitus</a:t>
            </a:r>
          </a:p>
          <a:p>
            <a:r>
              <a:rPr lang="en-US" dirty="0"/>
              <a:t>Possible acute  mitral regurgitation</a:t>
            </a:r>
          </a:p>
          <a:p>
            <a:r>
              <a:rPr lang="en-US" dirty="0"/>
              <a:t>Possible pulmonary hypertension</a:t>
            </a:r>
          </a:p>
        </p:txBody>
      </p:sp>
    </p:spTree>
    <p:extLst>
      <p:ext uri="{BB962C8B-B14F-4D97-AF65-F5344CB8AC3E}">
        <p14:creationId xmlns:p14="http://schemas.microsoft.com/office/powerpoint/2010/main" val="38400163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Provisional diagnosis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.Acute heart failure sec to ischemic heart disease presented with</a:t>
            </a:r>
          </a:p>
          <a:p>
            <a:r>
              <a:rPr lang="en-US" dirty="0"/>
              <a:t>pulmonary edema</a:t>
            </a:r>
          </a:p>
          <a:p>
            <a:r>
              <a:rPr lang="en-US" dirty="0"/>
              <a:t>Bilateral pleural effusion</a:t>
            </a:r>
          </a:p>
          <a:p>
            <a:pPr marL="0" indent="0">
              <a:buNone/>
            </a:pPr>
            <a:r>
              <a:rPr lang="en-US" dirty="0"/>
              <a:t>Differential diagnosis of: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STEMI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Acute Aortic syndrome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Pulmonary embolism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Peptic Ulcer Disease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7740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 Elevation Myocardial Infarction(STEMI)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Point for:</a:t>
            </a:r>
          </a:p>
          <a:p>
            <a:r>
              <a:rPr lang="en-US" dirty="0"/>
              <a:t>Angina Chest pain</a:t>
            </a:r>
          </a:p>
          <a:p>
            <a:r>
              <a:rPr lang="en-US" dirty="0"/>
              <a:t>Features of </a:t>
            </a:r>
            <a:r>
              <a:rPr lang="en-US" dirty="0" err="1"/>
              <a:t>heartfailure</a:t>
            </a:r>
            <a:r>
              <a:rPr lang="en-US" dirty="0"/>
              <a:t> after chest pain</a:t>
            </a:r>
          </a:p>
          <a:p>
            <a:r>
              <a:rPr lang="en-US" dirty="0"/>
              <a:t>Pulmonary edema</a:t>
            </a:r>
          </a:p>
          <a:p>
            <a:r>
              <a:rPr lang="en-US" dirty="0"/>
              <a:t>Long standing hypertension</a:t>
            </a:r>
          </a:p>
          <a:p>
            <a:r>
              <a:rPr lang="en-US" dirty="0"/>
              <a:t>Diabetes</a:t>
            </a:r>
          </a:p>
          <a:p>
            <a:pPr marL="0" indent="0">
              <a:buNone/>
            </a:pPr>
            <a:r>
              <a:rPr lang="en-US" dirty="0"/>
              <a:t>Points against:</a:t>
            </a:r>
          </a:p>
          <a:p>
            <a:r>
              <a:rPr lang="en-US" dirty="0"/>
              <a:t>Characteristics of chest pain radiation and association of the pain with dyspeptic syndrome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5264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Acute Aortic Syndrome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Points for:</a:t>
            </a:r>
          </a:p>
          <a:p>
            <a:r>
              <a:rPr lang="en-US" dirty="0"/>
              <a:t>Chest pain that radiates to the back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Points against:</a:t>
            </a:r>
          </a:p>
          <a:p>
            <a:r>
              <a:rPr lang="en-US" dirty="0"/>
              <a:t>Hemodynamics stability</a:t>
            </a:r>
          </a:p>
          <a:p>
            <a:r>
              <a:rPr lang="en-US" dirty="0"/>
              <a:t>Mo pulse deficit</a:t>
            </a:r>
          </a:p>
          <a:p>
            <a:r>
              <a:rPr lang="en-US" dirty="0"/>
              <a:t>No neurological </a:t>
            </a:r>
            <a:r>
              <a:rPr lang="en-US" dirty="0" err="1"/>
              <a:t>defecit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7864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Pulmonary embolism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Points for:</a:t>
            </a:r>
          </a:p>
          <a:p>
            <a:r>
              <a:rPr lang="en-US" dirty="0"/>
              <a:t>Dyspnea</a:t>
            </a:r>
          </a:p>
          <a:p>
            <a:r>
              <a:rPr lang="en-US" dirty="0"/>
              <a:t>Recent prolong travel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Points against:</a:t>
            </a:r>
          </a:p>
          <a:p>
            <a:r>
              <a:rPr lang="en-US" dirty="0"/>
              <a:t>Preceding prolonged chest pain</a:t>
            </a:r>
          </a:p>
          <a:p>
            <a:r>
              <a:rPr lang="en-US" dirty="0"/>
              <a:t>Pulmonary edema</a:t>
            </a:r>
          </a:p>
        </p:txBody>
      </p:sp>
    </p:spTree>
    <p:extLst>
      <p:ext uri="{BB962C8B-B14F-4D97-AF65-F5344CB8AC3E}">
        <p14:creationId xmlns:p14="http://schemas.microsoft.com/office/powerpoint/2010/main" val="60453468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Peptic ulcer disease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Points for:</a:t>
            </a:r>
          </a:p>
          <a:p>
            <a:r>
              <a:rPr lang="en-US" dirty="0"/>
              <a:t>Dyspeptic symptoms</a:t>
            </a:r>
          </a:p>
          <a:p>
            <a:r>
              <a:rPr lang="en-US" dirty="0"/>
              <a:t>Post prandial worsening of the pain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Points against:</a:t>
            </a:r>
          </a:p>
          <a:p>
            <a:r>
              <a:rPr lang="en-US" dirty="0"/>
              <a:t>Does not explain </a:t>
            </a:r>
            <a:r>
              <a:rPr lang="en-US" dirty="0" err="1"/>
              <a:t>pukmonary</a:t>
            </a:r>
            <a:r>
              <a:rPr lang="en-US" dirty="0"/>
              <a:t> edema</a:t>
            </a:r>
          </a:p>
        </p:txBody>
      </p:sp>
    </p:spTree>
    <p:extLst>
      <p:ext uri="{BB962C8B-B14F-4D97-AF65-F5344CB8AC3E}">
        <p14:creationId xmlns:p14="http://schemas.microsoft.com/office/powerpoint/2010/main" val="32862584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Investigations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IMMEDIATE investigation</a:t>
            </a:r>
          </a:p>
          <a:p>
            <a:r>
              <a:rPr lang="en-US" dirty="0"/>
              <a:t>ECG &amp; ECHO</a:t>
            </a:r>
          </a:p>
          <a:p>
            <a:r>
              <a:rPr lang="en-US" dirty="0"/>
              <a:t>Chest x ray</a:t>
            </a:r>
          </a:p>
          <a:p>
            <a:r>
              <a:rPr lang="en-US" dirty="0"/>
              <a:t>Troponin I</a:t>
            </a:r>
          </a:p>
          <a:p>
            <a:pPr marL="0" indent="0">
              <a:buNone/>
            </a:pPr>
            <a:r>
              <a:rPr lang="en-US" dirty="0"/>
              <a:t>Laboratory investigation</a:t>
            </a:r>
          </a:p>
          <a:p>
            <a:pPr marL="0" indent="0">
              <a:buNone/>
            </a:pPr>
            <a:r>
              <a:rPr lang="en-US" dirty="0" err="1"/>
              <a:t>FBP,Renal</a:t>
            </a:r>
            <a:r>
              <a:rPr lang="en-US" dirty="0"/>
              <a:t> functions </a:t>
            </a:r>
            <a:r>
              <a:rPr lang="en-US" dirty="0" err="1"/>
              <a:t>test,liver</a:t>
            </a:r>
            <a:r>
              <a:rPr lang="en-US" dirty="0"/>
              <a:t> function tests,electrolytes,HBA1C,lipid </a:t>
            </a:r>
            <a:r>
              <a:rPr lang="en-US" dirty="0" err="1"/>
              <a:t>profile,coagulation</a:t>
            </a:r>
            <a:r>
              <a:rPr lang="en-US" dirty="0"/>
              <a:t> </a:t>
            </a:r>
            <a:r>
              <a:rPr lang="en-US" dirty="0" err="1"/>
              <a:t>profile,BNP</a:t>
            </a:r>
            <a:r>
              <a:rPr lang="en-US" dirty="0"/>
              <a:t>/NT-</a:t>
            </a:r>
            <a:r>
              <a:rPr lang="en-US" dirty="0" err="1"/>
              <a:t>proBNP,ABG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DEFINITIVE</a:t>
            </a:r>
          </a:p>
          <a:p>
            <a:pPr marL="0" indent="0">
              <a:buNone/>
            </a:pPr>
            <a:r>
              <a:rPr lang="en-US" dirty="0"/>
              <a:t>Coronary angiography</a:t>
            </a:r>
          </a:p>
        </p:txBody>
      </p:sp>
    </p:spTree>
    <p:extLst>
      <p:ext uri="{BB962C8B-B14F-4D97-AF65-F5344CB8AC3E}">
        <p14:creationId xmlns:p14="http://schemas.microsoft.com/office/powerpoint/2010/main" val="57636575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ECG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191070" y="-886410"/>
            <a:ext cx="5047861" cy="10011749"/>
          </a:xfrm>
        </p:spPr>
      </p:pic>
    </p:spTree>
    <p:extLst>
      <p:ext uri="{BB962C8B-B14F-4D97-AF65-F5344CB8AC3E}">
        <p14:creationId xmlns:p14="http://schemas.microsoft.com/office/powerpoint/2010/main" val="215265925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Chest x ray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2408" y="1352940"/>
            <a:ext cx="6755363" cy="5505060"/>
          </a:xfrm>
        </p:spPr>
      </p:pic>
    </p:spTree>
    <p:extLst>
      <p:ext uri="{BB962C8B-B14F-4D97-AF65-F5344CB8AC3E}">
        <p14:creationId xmlns:p14="http://schemas.microsoft.com/office/powerpoint/2010/main" val="238602166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ECHO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VEF approximately 25–40%.</a:t>
            </a:r>
          </a:p>
          <a:p>
            <a:r>
              <a:rPr lang="en-US" dirty="0"/>
              <a:t>Anterior wall </a:t>
            </a:r>
            <a:r>
              <a:rPr lang="en-US" dirty="0" err="1"/>
              <a:t>hypokinesia</a:t>
            </a:r>
            <a:r>
              <a:rPr lang="en-US" dirty="0"/>
              <a:t>/akinesia.</a:t>
            </a:r>
          </a:p>
          <a:p>
            <a:r>
              <a:rPr lang="en-US" dirty="0"/>
              <a:t>Left ventricular apical thrombus</a:t>
            </a:r>
          </a:p>
          <a:p>
            <a:r>
              <a:rPr lang="en-US" dirty="0"/>
              <a:t>Mild to moderate mitral regurgitation</a:t>
            </a:r>
          </a:p>
          <a:p>
            <a:r>
              <a:rPr lang="en-US" dirty="0"/>
              <a:t>Pulmonary Hypertension</a:t>
            </a:r>
          </a:p>
        </p:txBody>
      </p:sp>
    </p:spTree>
    <p:extLst>
      <p:ext uri="{BB962C8B-B14F-4D97-AF65-F5344CB8AC3E}">
        <p14:creationId xmlns:p14="http://schemas.microsoft.com/office/powerpoint/2010/main" val="327483927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CAG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100% thrombotic occlusion of proximal LAD</a:t>
            </a:r>
          </a:p>
          <a:p>
            <a:r>
              <a:rPr lang="en-US" dirty="0"/>
              <a:t>PCI done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22978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Iv furosemide 60mg </a:t>
            </a:r>
            <a:r>
              <a:rPr lang="en-US" dirty="0" err="1"/>
              <a:t>bd</a:t>
            </a:r>
            <a:endParaRPr lang="en-US" dirty="0"/>
          </a:p>
          <a:p>
            <a:r>
              <a:rPr lang="en-US" dirty="0" err="1"/>
              <a:t>Inj</a:t>
            </a:r>
            <a:r>
              <a:rPr lang="en-US" dirty="0"/>
              <a:t> enoxaparin 40mg </a:t>
            </a:r>
            <a:r>
              <a:rPr lang="en-US" dirty="0" err="1"/>
              <a:t>bd</a:t>
            </a:r>
            <a:endParaRPr lang="en-US" dirty="0"/>
          </a:p>
          <a:p>
            <a:r>
              <a:rPr lang="en-US" dirty="0"/>
              <a:t>T </a:t>
            </a:r>
            <a:r>
              <a:rPr lang="en-US" dirty="0" err="1"/>
              <a:t>dapagliflozin</a:t>
            </a:r>
            <a:r>
              <a:rPr lang="en-US" dirty="0"/>
              <a:t> 10mg OD</a:t>
            </a:r>
          </a:p>
          <a:p>
            <a:r>
              <a:rPr lang="en-US" dirty="0"/>
              <a:t>T valsartan/</a:t>
            </a:r>
            <a:r>
              <a:rPr lang="en-US" dirty="0" err="1"/>
              <a:t>sacubiltrin</a:t>
            </a:r>
            <a:r>
              <a:rPr lang="en-US" dirty="0"/>
              <a:t> 50mg OD</a:t>
            </a:r>
          </a:p>
          <a:p>
            <a:r>
              <a:rPr lang="en-US" dirty="0"/>
              <a:t>T </a:t>
            </a:r>
            <a:r>
              <a:rPr lang="en-US" dirty="0" err="1"/>
              <a:t>eplenorone</a:t>
            </a:r>
            <a:r>
              <a:rPr lang="en-US" dirty="0"/>
              <a:t> 25mg OD</a:t>
            </a:r>
          </a:p>
          <a:p>
            <a:r>
              <a:rPr lang="en-US" dirty="0"/>
              <a:t>T </a:t>
            </a:r>
            <a:r>
              <a:rPr lang="en-US" dirty="0" err="1"/>
              <a:t>germa</a:t>
            </a:r>
            <a:r>
              <a:rPr lang="en-US" dirty="0"/>
              <a:t> 2 OD</a:t>
            </a:r>
          </a:p>
          <a:p>
            <a:r>
              <a:rPr lang="en-US" dirty="0"/>
              <a:t>T atorvastatin 40mg od</a:t>
            </a:r>
          </a:p>
        </p:txBody>
      </p:sp>
    </p:spTree>
    <p:extLst>
      <p:ext uri="{BB962C8B-B14F-4D97-AF65-F5344CB8AC3E}">
        <p14:creationId xmlns:p14="http://schemas.microsoft.com/office/powerpoint/2010/main" val="12062381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points for discussion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STEMI in diabetic patients frequently presents atypically.</a:t>
            </a:r>
          </a:p>
          <a:p>
            <a:r>
              <a:rPr lang="en-US" dirty="0"/>
              <a:t>Acute heart failure developing after chest pain strongly suggests extensive myocardial infarction.</a:t>
            </a:r>
          </a:p>
          <a:p>
            <a:r>
              <a:rPr lang="en-US" dirty="0"/>
              <a:t>A new pan systolic murmur after STEMI should prompt urgent evaluation for papillary muscle dysfunction or rupture causing acute mitral regurgitation.</a:t>
            </a:r>
          </a:p>
          <a:p>
            <a:r>
              <a:rPr lang="en-US" dirty="0"/>
              <a:t>Echocardiography is essential to assess left ventricular function, identify regional wall motion abnormalities, quantify mitral regurgitation, and detect mechanical complications.</a:t>
            </a:r>
          </a:p>
          <a:p>
            <a:r>
              <a:rPr lang="en-US" dirty="0"/>
              <a:t>Patients presenting late (&gt;24 hours after symptom onset) still benefit from coronary angiography when there is ongoing ischemia, heart failure, or evidence of viable myocardium.</a:t>
            </a:r>
          </a:p>
        </p:txBody>
      </p:sp>
    </p:spTree>
    <p:extLst>
      <p:ext uri="{BB962C8B-B14F-4D97-AF65-F5344CB8AC3E}">
        <p14:creationId xmlns:p14="http://schemas.microsoft.com/office/powerpoint/2010/main" val="25323894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546</TotalTime>
  <Words>1916</Words>
  <Application>Microsoft Office PowerPoint</Application>
  <PresentationFormat>Widescreen</PresentationFormat>
  <Paragraphs>433</Paragraphs>
  <Slides>49</Slides>
  <Notes>18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0" baseType="lpstr">
      <vt:lpstr>Office Theme</vt:lpstr>
      <vt:lpstr>CASE PRESENTATION</vt:lpstr>
      <vt:lpstr>Patient Particulars</vt:lpstr>
      <vt:lpstr>INTRODUCTION </vt:lpstr>
      <vt:lpstr>Chief Complaints</vt:lpstr>
      <vt:lpstr>History of presenting illness</vt:lpstr>
      <vt:lpstr>History of presenting illness</vt:lpstr>
      <vt:lpstr>History of presenting illness</vt:lpstr>
      <vt:lpstr>History of presenting illness</vt:lpstr>
      <vt:lpstr>History of presenting illness</vt:lpstr>
      <vt:lpstr> History of presenting illness</vt:lpstr>
      <vt:lpstr>History of presenting illness</vt:lpstr>
      <vt:lpstr>History of presenting illness</vt:lpstr>
      <vt:lpstr>Review of the other systems</vt:lpstr>
      <vt:lpstr>Course of illness</vt:lpstr>
      <vt:lpstr>Past Medical History</vt:lpstr>
      <vt:lpstr>Gynecological history</vt:lpstr>
      <vt:lpstr>Family social history </vt:lpstr>
      <vt:lpstr>Dietary History</vt:lpstr>
      <vt:lpstr>Summary 1</vt:lpstr>
      <vt:lpstr>General Examination-1</vt:lpstr>
      <vt:lpstr>General Examination-2</vt:lpstr>
      <vt:lpstr>General Examination-3 </vt:lpstr>
      <vt:lpstr>Cardiovascular Examination </vt:lpstr>
      <vt:lpstr>Respiratory System Examination-1</vt:lpstr>
      <vt:lpstr>Respiratory Examination -2 </vt:lpstr>
      <vt:lpstr>Nervous System-1</vt:lpstr>
      <vt:lpstr>Nervous System-2</vt:lpstr>
      <vt:lpstr>Nervous System-3</vt:lpstr>
      <vt:lpstr>Nervous System-4</vt:lpstr>
      <vt:lpstr>Motor System Examination-5</vt:lpstr>
      <vt:lpstr>Motor System Examination -6</vt:lpstr>
      <vt:lpstr>Anterior Neck Examination </vt:lpstr>
      <vt:lpstr>Abdominal Examination-1</vt:lpstr>
      <vt:lpstr>Abdominal Examination-2</vt:lpstr>
      <vt:lpstr>Summary 2</vt:lpstr>
      <vt:lpstr>Diagnostic Formulation</vt:lpstr>
      <vt:lpstr>PROBLEM LIST</vt:lpstr>
      <vt:lpstr>Provisional diagnosis</vt:lpstr>
      <vt:lpstr>ST Elevation Myocardial Infarction(STEMI)</vt:lpstr>
      <vt:lpstr>Acute Aortic Syndrome</vt:lpstr>
      <vt:lpstr>Pulmonary embolism</vt:lpstr>
      <vt:lpstr>Peptic ulcer disease</vt:lpstr>
      <vt:lpstr>Investigations</vt:lpstr>
      <vt:lpstr>ECG</vt:lpstr>
      <vt:lpstr>Chest x ray</vt:lpstr>
      <vt:lpstr>ECHO</vt:lpstr>
      <vt:lpstr>CAG FINDINGS</vt:lpstr>
      <vt:lpstr>Management</vt:lpstr>
      <vt:lpstr>Learning points for discussion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PRESENTATION</dc:title>
  <dc:creator>user09</dc:creator>
  <cp:lastModifiedBy>swabrahmahuna@gmail.com</cp:lastModifiedBy>
  <cp:revision>35</cp:revision>
  <dcterms:created xsi:type="dcterms:W3CDTF">2026-07-17T04:07:45Z</dcterms:created>
  <dcterms:modified xsi:type="dcterms:W3CDTF">2026-07-18T16:51:18Z</dcterms:modified>
</cp:coreProperties>
</file>