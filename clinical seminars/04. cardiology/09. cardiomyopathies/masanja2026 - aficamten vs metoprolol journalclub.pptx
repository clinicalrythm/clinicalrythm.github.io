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67" r:id="rId2"/>
    <p:sldId id="256" r:id="rId3"/>
    <p:sldId id="257" r:id="rId4"/>
    <p:sldId id="259" r:id="rId5"/>
    <p:sldId id="260" r:id="rId6"/>
    <p:sldId id="272" r:id="rId7"/>
    <p:sldId id="261" r:id="rId8"/>
    <p:sldId id="258" r:id="rId9"/>
    <p:sldId id="263" r:id="rId10"/>
    <p:sldId id="318" r:id="rId11"/>
    <p:sldId id="270" r:id="rId12"/>
    <p:sldId id="271" r:id="rId13"/>
    <p:sldId id="264" r:id="rId14"/>
    <p:sldId id="265" r:id="rId15"/>
    <p:sldId id="266" r:id="rId16"/>
    <p:sldId id="330" r:id="rId17"/>
    <p:sldId id="295" r:id="rId18"/>
    <p:sldId id="296" r:id="rId19"/>
    <p:sldId id="300" r:id="rId20"/>
    <p:sldId id="331" r:id="rId21"/>
    <p:sldId id="273" r:id="rId22"/>
    <p:sldId id="332" r:id="rId23"/>
    <p:sldId id="333" r:id="rId24"/>
    <p:sldId id="297" r:id="rId25"/>
    <p:sldId id="298" r:id="rId26"/>
    <p:sldId id="320" r:id="rId27"/>
    <p:sldId id="319" r:id="rId28"/>
    <p:sldId id="277" r:id="rId29"/>
    <p:sldId id="279" r:id="rId30"/>
    <p:sldId id="334" r:id="rId31"/>
    <p:sldId id="291" r:id="rId32"/>
    <p:sldId id="292" r:id="rId33"/>
    <p:sldId id="293" r:id="rId34"/>
    <p:sldId id="294" r:id="rId35"/>
    <p:sldId id="323" r:id="rId36"/>
    <p:sldId id="324" r:id="rId37"/>
    <p:sldId id="325" r:id="rId38"/>
    <p:sldId id="326" r:id="rId39"/>
    <p:sldId id="327" r:id="rId40"/>
    <p:sldId id="328" r:id="rId41"/>
    <p:sldId id="329" r:id="rId42"/>
  </p:sldIdLst>
  <p:sldSz cx="12192000" cy="6858000"/>
  <p:notesSz cx="6858000" cy="9144000"/>
  <p:defaultText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24"/>
    <p:restoredTop sz="76617"/>
  </p:normalViewPr>
  <p:slideViewPr>
    <p:cSldViewPr snapToGrid="0">
      <p:cViewPr varScale="1">
        <p:scale>
          <a:sx n="73" d="100"/>
          <a:sy n="73" d="100"/>
        </p:scale>
        <p:origin x="1552" y="19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CDC9F9-B287-BD42-93BA-2894084464E3}" type="datetimeFigureOut">
              <a:rPr lang="en-TZ" smtClean="0"/>
              <a:t>23/07/2026</a:t>
            </a:fld>
            <a:endParaRPr lang="en-T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T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T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194E5B-EE41-EE42-8553-FD2040835449}" type="slidenum">
              <a:rPr lang="en-TZ" smtClean="0"/>
              <a:t>‹#›</a:t>
            </a:fld>
            <a:endParaRPr lang="en-TZ"/>
          </a:p>
        </p:txBody>
      </p:sp>
    </p:spTree>
    <p:extLst>
      <p:ext uri="{BB962C8B-B14F-4D97-AF65-F5344CB8AC3E}">
        <p14:creationId xmlns:p14="http://schemas.microsoft.com/office/powerpoint/2010/main" val="3483033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TZ" dirty="0"/>
              <a:t>Goodmorning and welcome to todays journal club presentation , where I . </a:t>
            </a:r>
            <a:r>
              <a:rPr lang="en-GB" dirty="0"/>
              <a:t> First part</a:t>
            </a:r>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1</a:t>
            </a:fld>
            <a:endParaRPr lang="en-TZ"/>
          </a:p>
        </p:txBody>
      </p:sp>
    </p:spTree>
    <p:extLst>
      <p:ext uri="{BB962C8B-B14F-4D97-AF65-F5344CB8AC3E}">
        <p14:creationId xmlns:p14="http://schemas.microsoft.com/office/powerpoint/2010/main" val="14104553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GB" dirty="0">
                <a:effectLst/>
                <a:latin typeface="Helvetica" pitchFamily="2" charset="0"/>
              </a:rPr>
              <a:t>This was a prespecified secondary analysis of the MAPLE-HCM study, a phase 3, randomized, active-control trial conducted from June 2023 to March 2025</a:t>
            </a:r>
          </a:p>
          <a:p>
            <a:pPr marL="228600" indent="-228600">
              <a:buFont typeface="+mj-lt"/>
              <a:buAutoNum type="arabicPeriod"/>
            </a:pPr>
            <a:r>
              <a:rPr lang="en-GB" dirty="0">
                <a:effectLst/>
                <a:latin typeface="Helvetica" pitchFamily="2" charset="0"/>
              </a:rPr>
              <a:t>At 71 sites in North America, South America, Europe, Israel, and China.</a:t>
            </a:r>
          </a:p>
          <a:p>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2</a:t>
            </a:fld>
            <a:endParaRPr lang="en-TZ"/>
          </a:p>
        </p:txBody>
      </p:sp>
    </p:spTree>
    <p:extLst>
      <p:ext uri="{BB962C8B-B14F-4D97-AF65-F5344CB8AC3E}">
        <p14:creationId xmlns:p14="http://schemas.microsoft.com/office/powerpoint/2010/main" val="2191042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GB" b="1" i="0" dirty="0">
                <a:solidFill>
                  <a:srgbClr val="111827"/>
                </a:solidFill>
                <a:effectLst/>
                <a:latin typeface="Manrope" pitchFamily="2" charset="0"/>
              </a:rPr>
              <a:t>Unexplained left ventricular hypertrophy</a:t>
            </a:r>
            <a:r>
              <a:rPr lang="en-GB" b="0" i="0" dirty="0">
                <a:solidFill>
                  <a:srgbClr val="374151"/>
                </a:solidFill>
                <a:effectLst/>
                <a:latin typeface="Manrope" pitchFamily="2" charset="0"/>
              </a:rPr>
              <a:t> (often asymmetric examples: papillary muscles, the septum) with a </a:t>
            </a:r>
            <a:r>
              <a:rPr lang="en-GB" b="1" i="0" dirty="0">
                <a:solidFill>
                  <a:srgbClr val="111827"/>
                </a:solidFill>
                <a:effectLst/>
                <a:latin typeface="Manrope" pitchFamily="2" charset="0"/>
              </a:rPr>
              <a:t>non-dilated LV</a:t>
            </a:r>
            <a:r>
              <a:rPr lang="en-GB" b="0" i="0" dirty="0">
                <a:solidFill>
                  <a:srgbClr val="374151"/>
                </a:solidFill>
                <a:effectLst/>
                <a:latin typeface="Manrope" pitchFamily="2" charset="0"/>
              </a:rPr>
              <a:t> and </a:t>
            </a:r>
            <a:r>
              <a:rPr lang="en-GB" b="1" i="0" dirty="0">
                <a:solidFill>
                  <a:srgbClr val="111827"/>
                </a:solidFill>
                <a:effectLst/>
                <a:latin typeface="Manrope" pitchFamily="2" charset="0"/>
              </a:rPr>
              <a:t>preserved or increased EF</a:t>
            </a:r>
            <a:endParaRPr lang="en-GB" b="0" i="0" dirty="0">
              <a:solidFill>
                <a:srgbClr val="374151"/>
              </a:solidFill>
              <a:effectLst/>
              <a:latin typeface="Manrope" pitchFamily="2" charset="0"/>
            </a:endParaRPr>
          </a:p>
          <a:p>
            <a:pPr marL="228600" indent="-228600">
              <a:buFont typeface="+mj-lt"/>
              <a:buAutoNum type="arabicPeriod"/>
            </a:pPr>
            <a:r>
              <a:rPr lang="en-GB" b="0" i="0" dirty="0">
                <a:solidFill>
                  <a:srgbClr val="374151"/>
                </a:solidFill>
                <a:effectLst/>
                <a:latin typeface="Manrope" pitchFamily="2" charset="0"/>
              </a:rPr>
              <a:t>It is diagnosed primarily by echocardiography/CMR after excluding loading conditions (e.g., hypertension, aortic stenosis) and phenocopies</a:t>
            </a:r>
            <a:r>
              <a:rPr lang="en-GB" b="1" i="0" dirty="0">
                <a:solidFill>
                  <a:srgbClr val="111827"/>
                </a:solidFill>
                <a:effectLst/>
                <a:latin typeface="Manrope" pitchFamily="2" charset="0"/>
              </a:rPr>
              <a:t>/mimics</a:t>
            </a:r>
            <a:r>
              <a:rPr lang="en-GB" b="0" i="0" dirty="0">
                <a:solidFill>
                  <a:srgbClr val="374151"/>
                </a:solidFill>
                <a:effectLst/>
                <a:latin typeface="Manrope" pitchFamily="2" charset="0"/>
              </a:rPr>
              <a:t>: cardiac amyloidosis, Anderson-Fabry disease, glycogen storage diseases, athlete's heart</a:t>
            </a:r>
          </a:p>
          <a:p>
            <a:pPr marL="228600" indent="-228600">
              <a:buFont typeface="+mj-lt"/>
              <a:buAutoNum type="arabicPeriod"/>
            </a:pPr>
            <a:r>
              <a:rPr lang="en-GB" b="0" i="0" dirty="0">
                <a:solidFill>
                  <a:srgbClr val="374151"/>
                </a:solidFill>
                <a:effectLst/>
                <a:latin typeface="Manrope" pitchFamily="2" charset="0"/>
              </a:rPr>
              <a:t>2024 AHA/ACC guideline emphasizes routine </a:t>
            </a:r>
            <a:r>
              <a:rPr lang="en-GB" b="1" i="0" dirty="0">
                <a:solidFill>
                  <a:srgbClr val="111827"/>
                </a:solidFill>
                <a:effectLst/>
                <a:latin typeface="Manrope" pitchFamily="2" charset="0"/>
              </a:rPr>
              <a:t>3-generation family history</a:t>
            </a:r>
            <a:r>
              <a:rPr lang="en-GB" b="0" i="0" dirty="0">
                <a:solidFill>
                  <a:srgbClr val="374151"/>
                </a:solidFill>
                <a:effectLst/>
                <a:latin typeface="Manrope" pitchFamily="2" charset="0"/>
              </a:rPr>
              <a:t> and genetic/family screening.</a:t>
            </a:r>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3</a:t>
            </a:fld>
            <a:endParaRPr lang="en-TZ"/>
          </a:p>
        </p:txBody>
      </p:sp>
    </p:spTree>
    <p:extLst>
      <p:ext uri="{BB962C8B-B14F-4D97-AF65-F5344CB8AC3E}">
        <p14:creationId xmlns:p14="http://schemas.microsoft.com/office/powerpoint/2010/main" val="4072584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GB" dirty="0"/>
              <a:t>Although the development of modern cardiovascular imaging with echocardiography &gt;50 years ago increased in diagnosis even in Africa, still it’s the minority of cases that are identified</a:t>
            </a:r>
          </a:p>
          <a:p>
            <a:pPr marL="228600" indent="-228600">
              <a:buFont typeface="+mj-lt"/>
              <a:buAutoNum type="arabicPeriod"/>
            </a:pPr>
            <a:r>
              <a:rPr lang="en-GB" b="0" i="0" dirty="0" err="1">
                <a:solidFill>
                  <a:srgbClr val="212121"/>
                </a:solidFill>
                <a:effectLst/>
                <a:latin typeface="system-ui"/>
              </a:rPr>
              <a:t>Adaya</a:t>
            </a:r>
            <a:r>
              <a:rPr lang="en-GB" b="0" i="0" dirty="0">
                <a:solidFill>
                  <a:srgbClr val="212121"/>
                </a:solidFill>
                <a:effectLst/>
                <a:latin typeface="system-ui"/>
              </a:rPr>
              <a:t> </a:t>
            </a:r>
            <a:r>
              <a:rPr lang="en-GB" b="0" i="0" dirty="0">
                <a:solidFill>
                  <a:srgbClr val="5B616B"/>
                </a:solidFill>
                <a:effectLst/>
                <a:latin typeface="system-ui"/>
              </a:rPr>
              <a:t>Circulation</a:t>
            </a:r>
            <a:r>
              <a:rPr lang="en-GB" b="0" i="0" dirty="0">
                <a:solidFill>
                  <a:srgbClr val="0071BC"/>
                </a:solidFill>
                <a:effectLst/>
                <a:latin typeface="system-ui"/>
              </a:rPr>
              <a:t> </a:t>
            </a:r>
            <a:r>
              <a:rPr lang="en-GB" b="0" i="0" dirty="0">
                <a:solidFill>
                  <a:srgbClr val="5B616B"/>
                </a:solidFill>
                <a:effectLst/>
                <a:latin typeface="system-ui"/>
              </a:rPr>
              <a:t>2019  </a:t>
            </a:r>
            <a:r>
              <a:rPr lang="en-GB" b="0" i="0" dirty="0">
                <a:solidFill>
                  <a:srgbClr val="212121"/>
                </a:solidFill>
                <a:effectLst/>
                <a:latin typeface="system-ui"/>
              </a:rPr>
              <a:t>Chief Coroner of Ontario database encompassing all deaths attended by the coroner, we identified all HCM-related SCDs in individuals 10 to 45 years of age between 2005 and 2016 (70 million person-years)</a:t>
            </a:r>
            <a:endParaRPr lang="en-GB" dirty="0"/>
          </a:p>
          <a:p>
            <a:pPr marL="228600" indent="-228600">
              <a:buFont typeface="+mj-lt"/>
              <a:buAutoNum type="arabicPeriod"/>
            </a:pPr>
            <a:r>
              <a:rPr lang="en-GB" dirty="0"/>
              <a:t>IMHOTEP was a small pilot study this tertiary referral registry does not reflect population prevalence and likely underestimates </a:t>
            </a:r>
            <a:r>
              <a:rPr lang="en-GB" u="sng" dirty="0"/>
              <a:t>asymptomatic HCM as it looked at those with symptoms. </a:t>
            </a:r>
            <a:r>
              <a:rPr lang="en-GB" b="0" i="0" dirty="0">
                <a:solidFill>
                  <a:srgbClr val="1F1F1F"/>
                </a:solidFill>
                <a:effectLst/>
                <a:latin typeface="ElsevierGulliver"/>
              </a:rPr>
              <a:t> </a:t>
            </a:r>
            <a:r>
              <a:rPr lang="en-GB" b="0" i="1" dirty="0">
                <a:solidFill>
                  <a:srgbClr val="1F1F1F"/>
                </a:solidFill>
                <a:effectLst/>
                <a:latin typeface="ElsevierGulliver"/>
              </a:rPr>
              <a:t>incident</a:t>
            </a:r>
            <a:r>
              <a:rPr lang="en-GB" b="0" i="0" dirty="0">
                <a:solidFill>
                  <a:srgbClr val="1F1F1F"/>
                </a:solidFill>
                <a:effectLst/>
                <a:latin typeface="ElsevierGulliver"/>
              </a:rPr>
              <a:t> (newly diagnosed) and </a:t>
            </a:r>
            <a:r>
              <a:rPr lang="en-GB" b="0" i="1" dirty="0">
                <a:solidFill>
                  <a:srgbClr val="1F1F1F"/>
                </a:solidFill>
                <a:effectLst/>
                <a:latin typeface="ElsevierGulliver"/>
              </a:rPr>
              <a:t>prevalent</a:t>
            </a:r>
            <a:r>
              <a:rPr lang="en-GB" b="0" i="0" dirty="0">
                <a:solidFill>
                  <a:srgbClr val="1F1F1F"/>
                </a:solidFill>
                <a:effectLst/>
                <a:latin typeface="ElsevierGulliver"/>
              </a:rPr>
              <a:t> (existing) cases were recruited  (October – December)</a:t>
            </a:r>
            <a:endParaRPr lang="en-GB" dirty="0"/>
          </a:p>
          <a:p>
            <a:pPr marL="228600" indent="-228600">
              <a:buFont typeface="+mj-lt"/>
              <a:buAutoNum type="arabicPeriod"/>
            </a:pPr>
            <a:r>
              <a:rPr lang="en-GB" dirty="0"/>
              <a:t>The cited study from Tanzania is form single centre, selection bias as it centred at hospital, prevalence may be more or less now  factoring in that the majority of patient can be asymptomatic as will see.</a:t>
            </a:r>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4</a:t>
            </a:fld>
            <a:endParaRPr lang="en-TZ"/>
          </a:p>
        </p:txBody>
      </p:sp>
    </p:spTree>
    <p:extLst>
      <p:ext uri="{BB962C8B-B14F-4D97-AF65-F5344CB8AC3E}">
        <p14:creationId xmlns:p14="http://schemas.microsoft.com/office/powerpoint/2010/main" val="1038905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GB" dirty="0"/>
              <a:t>More than 1,400 mutations </a:t>
            </a:r>
            <a:r>
              <a:rPr lang="en-GB" dirty="0" err="1"/>
              <a:t>varients</a:t>
            </a:r>
            <a:r>
              <a:rPr lang="en-GB" dirty="0"/>
              <a:t> </a:t>
            </a:r>
            <a:r>
              <a:rPr lang="en-GB" b="0" i="0" dirty="0">
                <a:solidFill>
                  <a:srgbClr val="1B1B1B"/>
                </a:solidFill>
                <a:effectLst/>
                <a:latin typeface="Cambria" panose="02040503050406030204" pitchFamily="18" charset="0"/>
              </a:rPr>
              <a:t>encoding eight sarcomere proteins </a:t>
            </a:r>
            <a:r>
              <a:rPr lang="en-GB" dirty="0"/>
              <a:t>sarcomere genes have been linked to hypertrophic cardiomyopathy</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l-GR" dirty="0"/>
              <a:t>β-</a:t>
            </a:r>
            <a:r>
              <a:rPr lang="en-GB" dirty="0"/>
              <a:t>cardiac myosin is an ATPase motor protein that uses ATP to drive actin–myosin cross-bridge cycling and cardiac contraction.</a:t>
            </a:r>
          </a:p>
          <a:p>
            <a:pPr marL="228600" indent="-228600">
              <a:buFont typeface="+mj-lt"/>
              <a:buAutoNum type="arabicPeriod"/>
            </a:pPr>
            <a:r>
              <a:rPr lang="en-GB" dirty="0"/>
              <a:t>Mutations, especially in MYH7 and MYBPC3, translation changes where more myosin heads  are active, increasing hypercontractility, ATP use, and oxidative stress.</a:t>
            </a:r>
          </a:p>
          <a:p>
            <a:pPr marL="228600" indent="-228600">
              <a:buFont typeface="+mj-lt"/>
              <a:buAutoNum type="arabicPeriod"/>
            </a:pPr>
            <a:r>
              <a:rPr lang="en-GB" b="0" i="0" dirty="0">
                <a:solidFill>
                  <a:srgbClr val="374151"/>
                </a:solidFill>
                <a:effectLst/>
                <a:latin typeface="Manrope" pitchFamily="2" charset="0"/>
              </a:rPr>
              <a:t>The energetic/Ca²⁺-handling stress triggers downstream stress-</a:t>
            </a:r>
            <a:r>
              <a:rPr lang="en-GB" b="0" i="0" dirty="0" err="1">
                <a:solidFill>
                  <a:srgbClr val="374151"/>
                </a:solidFill>
                <a:effectLst/>
                <a:latin typeface="Manrope" pitchFamily="2" charset="0"/>
              </a:rPr>
              <a:t>signaling</a:t>
            </a:r>
            <a:r>
              <a:rPr lang="en-GB" b="0" i="0" dirty="0">
                <a:solidFill>
                  <a:srgbClr val="374151"/>
                </a:solidFill>
                <a:effectLst/>
                <a:latin typeface="Manrope" pitchFamily="2" charset="0"/>
              </a:rPr>
              <a:t> and myocardial </a:t>
            </a:r>
            <a:r>
              <a:rPr lang="en-GB" b="0" i="0" dirty="0" err="1">
                <a:solidFill>
                  <a:srgbClr val="374151"/>
                </a:solidFill>
                <a:effectLst/>
                <a:latin typeface="Manrope" pitchFamily="2" charset="0"/>
              </a:rPr>
              <a:t>remodeling</a:t>
            </a:r>
            <a:r>
              <a:rPr lang="en-GB" b="0" i="0" dirty="0">
                <a:solidFill>
                  <a:srgbClr val="374151"/>
                </a:solidFill>
                <a:effectLst/>
                <a:latin typeface="Manrope" pitchFamily="2" charset="0"/>
              </a:rPr>
              <a:t>, leading to</a:t>
            </a:r>
            <a:r>
              <a:rPr lang="en-GB" dirty="0"/>
              <a:t> myocyte hypertrophy, fibrosis, and microvascular ischemia as muscle growth exceeds its blood supply.</a:t>
            </a:r>
          </a:p>
          <a:p>
            <a:pPr marL="228600" indent="-228600">
              <a:buFont typeface="+mj-lt"/>
              <a:buAutoNum type="arabicPeriod"/>
            </a:pPr>
            <a:r>
              <a:rPr lang="en-GB" dirty="0"/>
              <a:t>Septal hypertrophy, systolic anterior motion, and hypercontractility produce dynamic LVOT obstruction, while </a:t>
            </a:r>
            <a:r>
              <a:rPr lang="en-GB" dirty="0" err="1"/>
              <a:t>remodeling</a:t>
            </a:r>
            <a:r>
              <a:rPr lang="en-GB" dirty="0"/>
              <a:t> with fibrosis causes diastolic dysfunction, arrhythmias, heart failure, and sudden cardiac death from ventricular </a:t>
            </a:r>
            <a:r>
              <a:rPr lang="en-GB" dirty="0" err="1"/>
              <a:t>tachyarrythmias</a:t>
            </a:r>
            <a:endParaRPr lang="en-GB" b="0" i="0" dirty="0">
              <a:solidFill>
                <a:srgbClr val="374151"/>
              </a:solidFill>
              <a:effectLst/>
              <a:latin typeface="Manrope" pitchFamily="2" charset="0"/>
            </a:endParaRPr>
          </a:p>
          <a:p>
            <a:pPr marL="228600" indent="-228600">
              <a:buFont typeface="+mj-lt"/>
              <a:buAutoNum type="arabicPeriod"/>
            </a:pPr>
            <a:r>
              <a:rPr lang="en-GB" b="1" dirty="0" err="1"/>
              <a:t>Ntusi</a:t>
            </a:r>
            <a:r>
              <a:rPr lang="en-GB" b="1" dirty="0"/>
              <a:t> et al. (2016)</a:t>
            </a:r>
            <a:r>
              <a:rPr lang="en-GB" dirty="0"/>
              <a:t> conducted a </a:t>
            </a:r>
            <a:r>
              <a:rPr lang="en-GB" b="1" dirty="0"/>
              <a:t>prospective longitudinal cohort study</a:t>
            </a:r>
            <a:r>
              <a:rPr lang="en-GB" dirty="0"/>
              <a:t> of 43 South African HCM patients and found a </a:t>
            </a:r>
            <a:r>
              <a:rPr lang="en-GB" b="1" dirty="0"/>
              <a:t>28.6% genetic diagnostic yield</a:t>
            </a:r>
            <a:r>
              <a:rPr lang="en-GB" dirty="0"/>
              <a:t>, with all pathogenic variants occurring in </a:t>
            </a:r>
            <a:r>
              <a:rPr lang="en-GB" b="1" dirty="0"/>
              <a:t>MYH7</a:t>
            </a:r>
            <a:r>
              <a:rPr lang="en-GB" dirty="0"/>
              <a:t> and </a:t>
            </a:r>
            <a:r>
              <a:rPr lang="en-GB" b="1" dirty="0"/>
              <a:t>MYBPC3</a:t>
            </a:r>
            <a:r>
              <a:rPr lang="en-GB" dirty="0"/>
              <a:t>, mirroring the predominant </a:t>
            </a:r>
            <a:r>
              <a:rPr lang="en-GB" dirty="0" err="1"/>
              <a:t>sarcomeric</a:t>
            </a:r>
            <a:r>
              <a:rPr lang="en-GB" dirty="0"/>
              <a:t> genes identified in European populations, although with a lower overall yield (28.6% vs 40–70%)</a:t>
            </a:r>
          </a:p>
          <a:p>
            <a:pPr marL="228600" indent="-228600">
              <a:buFont typeface="+mj-lt"/>
              <a:buAutoNum type="arabicPeriod"/>
            </a:pPr>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5</a:t>
            </a:fld>
            <a:endParaRPr lang="en-TZ"/>
          </a:p>
        </p:txBody>
      </p:sp>
    </p:spTree>
    <p:extLst>
      <p:ext uri="{BB962C8B-B14F-4D97-AF65-F5344CB8AC3E}">
        <p14:creationId xmlns:p14="http://schemas.microsoft.com/office/powerpoint/2010/main" val="4216003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GB" dirty="0">
                <a:effectLst/>
                <a:latin typeface="Helvetica" pitchFamily="2" charset="0"/>
              </a:rPr>
              <a:t>In patients with HCM, exercise stress testing is safe and provides information on the severity and mechanism of functional limitation. Particularly when combined with simultaneous analysis of respiratory gases (</a:t>
            </a:r>
            <a:r>
              <a:rPr lang="en-GB" dirty="0" err="1">
                <a:effectLst/>
                <a:latin typeface="Helvetica" pitchFamily="2" charset="0"/>
              </a:rPr>
              <a:t>ie</a:t>
            </a:r>
            <a:r>
              <a:rPr lang="en-GB" dirty="0">
                <a:effectLst/>
                <a:latin typeface="Helvetica" pitchFamily="2" charset="0"/>
              </a:rPr>
              <a:t>, cardiopulmonary exercise test [CPET]), lower exercise capacity is strongly prognostic of adverse events, including death, HF, and ventricular arrhythmias in both adults and children.</a:t>
            </a:r>
            <a:endParaRPr lang="en-US" sz="1200" dirty="0">
              <a:solidFill>
                <a:srgbClr val="1D1D1F"/>
              </a:solidFill>
              <a:latin typeface="Aptos" pitchFamily="34" charset="0"/>
              <a:ea typeface="Aptos" pitchFamily="34" charset="-122"/>
              <a:cs typeface="Aptos" pitchFamily="34" charset="-120"/>
            </a:endParaRPr>
          </a:p>
          <a:p>
            <a:pPr marL="228600" indent="-228600">
              <a:buFont typeface="+mj-lt"/>
              <a:buAutoNum type="arabicPeriod"/>
            </a:pPr>
            <a:r>
              <a:rPr lang="en-US" sz="1200" dirty="0">
                <a:solidFill>
                  <a:srgbClr val="1D1D1F"/>
                </a:solidFill>
                <a:latin typeface="Aptos" pitchFamily="34" charset="0"/>
                <a:ea typeface="Aptos" pitchFamily="34" charset="-122"/>
                <a:cs typeface="Aptos" pitchFamily="34" charset="-120"/>
              </a:rPr>
              <a:t>Reduced CO due to Dynamic LVOT obstruction (from factors like systolic anterior motion of the mitral valve: where they coaptate anterior not closer to lateral wall which is normal). It also increases with contractility and reduced preload.</a:t>
            </a:r>
            <a:endParaRPr lang="en-US" sz="1200" dirty="0"/>
          </a:p>
          <a:p>
            <a:pPr marL="228600" indent="-228600">
              <a:buFont typeface="+mj-lt"/>
              <a:buAutoNum type="arabicPeriod"/>
            </a:pPr>
            <a:r>
              <a:rPr lang="en-US" sz="1200" dirty="0">
                <a:solidFill>
                  <a:srgbClr val="1D1D1F"/>
                </a:solidFill>
                <a:latin typeface="Aptos" pitchFamily="34" charset="0"/>
                <a:ea typeface="Aptos" pitchFamily="34" charset="-122"/>
                <a:cs typeface="Aptos" pitchFamily="34" charset="-120"/>
              </a:rPr>
              <a:t>Secondary mitral regurgitation + pulmonary hypertension reduces ventilatory efficiency (as the congestion impairs exchange, and VQ mismatch).</a:t>
            </a:r>
            <a:endParaRPr lang="en-US" sz="1200" dirty="0"/>
          </a:p>
          <a:p>
            <a:pPr marL="228600" indent="-228600">
              <a:buFont typeface="+mj-lt"/>
              <a:buAutoNum type="arabicPeriod"/>
            </a:pPr>
            <a:r>
              <a:rPr lang="en-US" sz="1200" dirty="0">
                <a:solidFill>
                  <a:srgbClr val="1D1D1F"/>
                </a:solidFill>
                <a:latin typeface="Aptos" pitchFamily="34" charset="0"/>
                <a:ea typeface="Aptos" pitchFamily="34" charset="-122"/>
                <a:cs typeface="Aptos" pitchFamily="34" charset="-120"/>
              </a:rPr>
              <a:t>Myocardial ischemia (demand supply mismatch as hypertrophied muscle mass exceeds intramural coronaries supply) and diastolic dysfunction (reduced LV compliance from fibrosis and hypertrophy)  impairs stroke-volume reserve </a:t>
            </a:r>
            <a:r>
              <a:rPr lang="en-US" sz="1200" dirty="0" err="1">
                <a:solidFill>
                  <a:srgbClr val="1D1D1F"/>
                </a:solidFill>
                <a:latin typeface="Aptos" pitchFamily="34" charset="0"/>
                <a:ea typeface="Aptos" pitchFamily="34" charset="-122"/>
                <a:cs typeface="Aptos" pitchFamily="34" charset="-120"/>
              </a:rPr>
              <a:t>i.e</a:t>
            </a:r>
            <a:r>
              <a:rPr lang="en-US" sz="1200" dirty="0">
                <a:solidFill>
                  <a:srgbClr val="1D1D1F"/>
                </a:solidFill>
                <a:latin typeface="Aptos" pitchFamily="34" charset="0"/>
                <a:ea typeface="Aptos" pitchFamily="34" charset="-122"/>
                <a:cs typeface="Aptos" pitchFamily="34" charset="-120"/>
              </a:rPr>
              <a:t> preload</a:t>
            </a:r>
            <a:endParaRPr lang="en-US" sz="1200" dirty="0"/>
          </a:p>
          <a:p>
            <a:pPr marL="228600" indent="-228600">
              <a:buFont typeface="+mj-lt"/>
              <a:buAutoNum type="arabicPeriod"/>
            </a:pPr>
            <a:r>
              <a:rPr lang="en-US" sz="1200" dirty="0">
                <a:solidFill>
                  <a:srgbClr val="1D1D1F"/>
                </a:solidFill>
                <a:latin typeface="Aptos" pitchFamily="34" charset="0"/>
                <a:ea typeface="Aptos" pitchFamily="34" charset="-122"/>
                <a:cs typeface="Aptos" pitchFamily="34" charset="-120"/>
              </a:rPr>
              <a:t>Chronotropic response becomes critical because heart-rate augmentation is a major contributor to exercise cardiac output.</a:t>
            </a:r>
          </a:p>
          <a:p>
            <a:pPr marL="228600" indent="-228600">
              <a:buFont typeface="+mj-lt"/>
              <a:buAutoNum type="arabicPeriod"/>
            </a:pPr>
            <a:r>
              <a:rPr lang="en-GB" dirty="0"/>
              <a:t>Peak VO2 is the highest rate of oxygen your body uses during a specific exercise test.</a:t>
            </a:r>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6</a:t>
            </a:fld>
            <a:endParaRPr lang="en-TZ"/>
          </a:p>
        </p:txBody>
      </p:sp>
    </p:spTree>
    <p:extLst>
      <p:ext uri="{BB962C8B-B14F-4D97-AF65-F5344CB8AC3E}">
        <p14:creationId xmlns:p14="http://schemas.microsoft.com/office/powerpoint/2010/main" val="3736768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GB" b="1" dirty="0"/>
              <a:t>Implantable Cardioverter-Defibrillator</a:t>
            </a:r>
            <a:r>
              <a:rPr lang="en-GB" dirty="0"/>
              <a:t>.</a:t>
            </a:r>
          </a:p>
          <a:p>
            <a:pPr marL="228600" indent="-228600">
              <a:buFont typeface="+mj-lt"/>
              <a:buAutoNum type="arabicPeriod"/>
            </a:pPr>
            <a:r>
              <a:rPr lang="en-GB" dirty="0"/>
              <a:t>The 2024 AHA/ACC  guideline’s recommendation for a </a:t>
            </a:r>
            <a:r>
              <a:rPr lang="en-GB" b="1" dirty="0"/>
              <a:t>cardiac myosin inhibitor</a:t>
            </a:r>
            <a:r>
              <a:rPr lang="en-GB" dirty="0"/>
              <a:t> after inadequate response to first-line beta-blockers or </a:t>
            </a:r>
            <a:r>
              <a:rPr lang="en-GB" dirty="0" err="1"/>
              <a:t>nondihydropyridine</a:t>
            </a:r>
            <a:r>
              <a:rPr lang="en-GB" dirty="0"/>
              <a:t> calcium-channel blockers was based principally on </a:t>
            </a:r>
            <a:r>
              <a:rPr lang="en-GB" dirty="0" err="1"/>
              <a:t>mavacamten</a:t>
            </a:r>
            <a:r>
              <a:rPr lang="en-GB" dirty="0"/>
              <a:t> evidence and availability. It does not mean aficamten was ineffective; it simply had not yet crossed the required sequence of: </a:t>
            </a:r>
            <a:r>
              <a:rPr lang="en-GB" b="1" dirty="0"/>
              <a:t>Phase 3 evidence → regulatory approval → clinical availability → guideline evidence review and update.</a:t>
            </a:r>
            <a:endParaRPr lang="en-TZ" dirty="0"/>
          </a:p>
          <a:p>
            <a:pPr marL="228600" indent="-228600">
              <a:buFont typeface="+mj-lt"/>
              <a:buAutoNum type="arabicPeriod"/>
            </a:pPr>
            <a:r>
              <a:rPr lang="en-GB" dirty="0"/>
              <a:t>MAPLE-HCM now provides stronger evidence for aficamten than was available during guideline development, showing aficamten monotherapy was superior to metoprolol for exercise capacity and several clinical and haemodynamic outcomes; pivotal comparative evidence and FDA approval only emerged in 2025. It is therefore likely to be considered in a future focused update or full guideline revision.</a:t>
            </a:r>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7</a:t>
            </a:fld>
            <a:endParaRPr lang="en-TZ"/>
          </a:p>
        </p:txBody>
      </p:sp>
    </p:spTree>
    <p:extLst>
      <p:ext uri="{BB962C8B-B14F-4D97-AF65-F5344CB8AC3E}">
        <p14:creationId xmlns:p14="http://schemas.microsoft.com/office/powerpoint/2010/main" val="2994604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l-GR" b="1" dirty="0"/>
              <a:t>β-</a:t>
            </a:r>
            <a:r>
              <a:rPr lang="en-GB" b="1" dirty="0"/>
              <a:t>cardiac myosin itself is an ATPase enzyme.</a:t>
            </a:r>
            <a:r>
              <a:rPr lang="en-GB" dirty="0"/>
              <a:t> It </a:t>
            </a:r>
            <a:r>
              <a:rPr lang="en-GB" dirty="0" err="1"/>
              <a:t>hydrolyzes</a:t>
            </a:r>
            <a:r>
              <a:rPr lang="en-GB" dirty="0"/>
              <a:t> ATP to generate force during actin–myosin cross-bridge cycling. </a:t>
            </a:r>
            <a:r>
              <a:rPr lang="en-GB" dirty="0">
                <a:effectLst/>
                <a:latin typeface="Helvetica" pitchFamily="2" charset="0"/>
              </a:rPr>
              <a:t>AFI by reversibly binding to cardiac myosin at </a:t>
            </a:r>
            <a:r>
              <a:rPr lang="en-GB" dirty="0" err="1">
                <a:effectLst/>
                <a:latin typeface="Helvetica" pitchFamily="2" charset="0"/>
              </a:rPr>
              <a:t>anllosteric</a:t>
            </a:r>
            <a:r>
              <a:rPr lang="en-GB" dirty="0">
                <a:effectLst/>
                <a:latin typeface="Helvetica" pitchFamily="2" charset="0"/>
              </a:rPr>
              <a:t> site and </a:t>
            </a:r>
            <a:r>
              <a:rPr lang="en-GB" dirty="0"/>
              <a:t>slows this hydrolysis (organic phosphate release) and more myosin are in off state not interacting with actin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effectLst/>
                <a:latin typeface="Helvetica" pitchFamily="2" charset="0"/>
              </a:rPr>
              <a:t>stabilizing the myosin pre–power stroke state, and reducing excessive myosin-actin cross-bridges decreases myocardial hypercontractility which is the driver of disease manifestation</a:t>
            </a:r>
            <a:r>
              <a:rPr lang="en-GB" dirty="0">
                <a:effectLst/>
                <a:latin typeface="+mn-lt"/>
              </a:rPr>
              <a:t> as complain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effectLst/>
                <a:latin typeface="+mn-lt"/>
              </a:rPr>
              <a:t>Has no effect on HR</a:t>
            </a:r>
            <a:endParaRPr lang="en-GB" dirty="0">
              <a:effectLst/>
              <a:latin typeface="Helvetica" pitchFamily="2" charset="0"/>
            </a:endParaRPr>
          </a:p>
          <a:p>
            <a:pPr marL="228600" indent="-228600">
              <a:buFont typeface="+mj-lt"/>
              <a:buAutoNum type="arabicPeriod"/>
            </a:pPr>
            <a:r>
              <a:rPr lang="en-GB" dirty="0"/>
              <a:t>The shorter half-life is probably </a:t>
            </a:r>
            <a:r>
              <a:rPr lang="en-GB" dirty="0" err="1"/>
              <a:t>aficamten’s</a:t>
            </a:r>
            <a:r>
              <a:rPr lang="en-GB" dirty="0"/>
              <a:t> clearest practical pharmacological distinction. </a:t>
            </a:r>
            <a:r>
              <a:rPr lang="en-GB" u="sng" dirty="0" err="1"/>
              <a:t>Mavacamten</a:t>
            </a:r>
            <a:r>
              <a:rPr lang="en-GB" u="sng" dirty="0"/>
              <a:t> can persist for several weeks</a:t>
            </a:r>
            <a:r>
              <a:rPr lang="en-GB" dirty="0"/>
              <a:t>, particularly in CYP2C19 poor metabolizers, whereas </a:t>
            </a:r>
            <a:r>
              <a:rPr lang="en-GB" dirty="0" err="1"/>
              <a:t>aficamten’s</a:t>
            </a:r>
            <a:r>
              <a:rPr lang="en-GB" dirty="0"/>
              <a:t> effect should resolve more rapidly following interruption. However, this theoretical convenience should not be interpreted as proven clinical superiority. Both drugs can cause systolic dysfunction and require careful echocardiographic titration. </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err="1">
                <a:solidFill>
                  <a:srgbClr val="1D1D1F"/>
                </a:solidFill>
              </a:rPr>
              <a:t>Aficamten</a:t>
            </a:r>
            <a:r>
              <a:rPr lang="en-US" sz="1200" b="1" dirty="0">
                <a:solidFill>
                  <a:srgbClr val="1D1D1F"/>
                </a:solidFill>
              </a:rPr>
              <a:t>: why this specific myosin inhibitor?</a:t>
            </a:r>
            <a:endParaRPr lang="en-US" sz="1200" dirty="0"/>
          </a:p>
          <a:p>
            <a:endParaRPr lang="en-GB" dirty="0"/>
          </a:p>
          <a:p>
            <a:pPr marL="171450" indent="-171450">
              <a:buFont typeface="Arial" panose="020B0604020202020204" pitchFamily="34" charset="0"/>
              <a:buChar char="•"/>
            </a:pPr>
            <a:r>
              <a:rPr lang="en-US" sz="1200" dirty="0">
                <a:solidFill>
                  <a:srgbClr val="1D1D1F"/>
                </a:solidFill>
                <a:latin typeface="Aptos" pitchFamily="34" charset="0"/>
                <a:ea typeface="Aptos" pitchFamily="34" charset="-122"/>
                <a:cs typeface="Aptos" pitchFamily="34" charset="-120"/>
              </a:rPr>
              <a:t>Next-in-class cardiac myosin inhibitor designed for easier dose management and a wider therapeutic window.</a:t>
            </a:r>
            <a:endParaRPr lang="en-US" sz="1200" dirty="0"/>
          </a:p>
          <a:p>
            <a:pPr marL="171450" indent="-171450">
              <a:buFont typeface="Arial" panose="020B0604020202020204" pitchFamily="34" charset="0"/>
              <a:buChar char="•"/>
            </a:pPr>
            <a:r>
              <a:rPr lang="en-US" sz="1200" dirty="0">
                <a:solidFill>
                  <a:srgbClr val="1D1D1F"/>
                </a:solidFill>
                <a:latin typeface="Aptos" pitchFamily="34" charset="0"/>
                <a:ea typeface="Aptos" pitchFamily="34" charset="-122"/>
                <a:cs typeface="Aptos" pitchFamily="34" charset="-120"/>
              </a:rPr>
              <a:t>Half-life about 3.4 days - shorter than </a:t>
            </a:r>
            <a:r>
              <a:rPr lang="en-US" sz="1200" dirty="0" err="1">
                <a:solidFill>
                  <a:srgbClr val="1D1D1F"/>
                </a:solidFill>
                <a:latin typeface="Aptos" pitchFamily="34" charset="0"/>
                <a:ea typeface="Aptos" pitchFamily="34" charset="-122"/>
                <a:cs typeface="Aptos" pitchFamily="34" charset="-120"/>
              </a:rPr>
              <a:t>mavacamten</a:t>
            </a:r>
            <a:r>
              <a:rPr lang="en-US" sz="1200" dirty="0">
                <a:solidFill>
                  <a:srgbClr val="1D1D1F"/>
                </a:solidFill>
                <a:latin typeface="Aptos" pitchFamily="34" charset="0"/>
                <a:ea typeface="Aptos" pitchFamily="34" charset="-122"/>
                <a:cs typeface="Aptos" pitchFamily="34" charset="-120"/>
              </a:rPr>
              <a:t>, allowing faster adjustment if LVEF falls or symptoms change.</a:t>
            </a:r>
            <a:endParaRPr lang="en-US" sz="1200" dirty="0"/>
          </a:p>
          <a:p>
            <a:pPr marL="171450" indent="-171450">
              <a:buFont typeface="Arial" panose="020B0604020202020204" pitchFamily="34" charset="0"/>
              <a:buChar char="•"/>
            </a:pPr>
            <a:r>
              <a:rPr lang="en-US" sz="1200" dirty="0">
                <a:solidFill>
                  <a:srgbClr val="1D1D1F"/>
                </a:solidFill>
                <a:latin typeface="Aptos" pitchFamily="34" charset="0"/>
                <a:ea typeface="Aptos" pitchFamily="34" charset="-122"/>
                <a:cs typeface="Aptos" pitchFamily="34" charset="-120"/>
              </a:rPr>
              <a:t>Low pharmacokinetic variability and metabolism through multiple CYP pathways - lower likelihood of clinically relevant drug-drug interactions.</a:t>
            </a:r>
            <a:endParaRPr lang="en-US" sz="1200" dirty="0"/>
          </a:p>
          <a:p>
            <a:pPr marL="171450" indent="-171450">
              <a:buFont typeface="Arial" panose="020B0604020202020204" pitchFamily="34" charset="0"/>
              <a:buChar char="•"/>
            </a:pPr>
            <a:r>
              <a:rPr lang="en-US" sz="1200" dirty="0">
                <a:solidFill>
                  <a:srgbClr val="1D1D1F"/>
                </a:solidFill>
                <a:latin typeface="Aptos" pitchFamily="34" charset="0"/>
                <a:ea typeface="Aptos" pitchFamily="34" charset="-122"/>
                <a:cs typeface="Aptos" pitchFamily="34" charset="-120"/>
              </a:rPr>
              <a:t>Shallow dose-response relationship - intended to reduce abrupt excessive negative inotropy.</a:t>
            </a:r>
            <a:endParaRPr lang="en-US" sz="1200" dirty="0"/>
          </a:p>
          <a:p>
            <a:pPr marL="171450" indent="-171450">
              <a:buFont typeface="Arial" panose="020B0604020202020204" pitchFamily="34" charset="0"/>
              <a:buChar char="•"/>
            </a:pPr>
            <a:r>
              <a:rPr lang="en-US" sz="1200" dirty="0">
                <a:solidFill>
                  <a:srgbClr val="1D1D1F"/>
                </a:solidFill>
                <a:latin typeface="Aptos" pitchFamily="34" charset="0"/>
                <a:ea typeface="Aptos" pitchFamily="34" charset="-122"/>
                <a:cs typeface="Aptos" pitchFamily="34" charset="-120"/>
              </a:rPr>
              <a:t>Phase 2/3 development showed symptom, LVOT-G, pVO2, and biomarker improvements when added to standard therapy.</a:t>
            </a:r>
            <a:endParaRPr lang="en-US" sz="1200" dirty="0"/>
          </a:p>
          <a:p>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8</a:t>
            </a:fld>
            <a:endParaRPr lang="en-TZ"/>
          </a:p>
        </p:txBody>
      </p:sp>
    </p:spTree>
    <p:extLst>
      <p:ext uri="{BB962C8B-B14F-4D97-AF65-F5344CB8AC3E}">
        <p14:creationId xmlns:p14="http://schemas.microsoft.com/office/powerpoint/2010/main" val="3148871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9</a:t>
            </a:fld>
            <a:endParaRPr lang="en-TZ"/>
          </a:p>
        </p:txBody>
      </p:sp>
    </p:spTree>
    <p:extLst>
      <p:ext uri="{BB962C8B-B14F-4D97-AF65-F5344CB8AC3E}">
        <p14:creationId xmlns:p14="http://schemas.microsoft.com/office/powerpoint/2010/main" val="3076310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err="1"/>
              <a:t>Thre</a:t>
            </a:r>
            <a:r>
              <a:rPr lang="en-GB" dirty="0"/>
              <a:t> have been two recent trials on aficamten 1 phase 3 and 1 phase 2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dirty="0"/>
              <a:t>A</a:t>
            </a:r>
            <a:r>
              <a:rPr lang="en-TZ" dirty="0"/>
              <a:t>cross all the literature  comprehensive </a:t>
            </a:r>
            <a:r>
              <a:rPr lang="en-GB" dirty="0">
                <a:effectLst/>
                <a:latin typeface="Helvetica" pitchFamily="2" charset="0"/>
              </a:rPr>
              <a:t>CPET measures of exercise performance have not been previously compared and changes in </a:t>
            </a:r>
            <a:r>
              <a:rPr lang="en-GB" dirty="0" err="1">
                <a:effectLst/>
                <a:latin typeface="Helvetica" pitchFamily="2" charset="0"/>
              </a:rPr>
              <a:t>oHCM</a:t>
            </a:r>
            <a:r>
              <a:rPr lang="en-GB" dirty="0">
                <a:effectLst/>
                <a:latin typeface="Helvetica" pitchFamily="2" charset="0"/>
              </a:rPr>
              <a:t> disease severity correlation with changes in pVO2 were not studied despites the evidence that lower exercise capacity is strongly prognostic of adverse events, including death, HF, and ventricular arrhythmias in both adults and children.</a:t>
            </a:r>
            <a:endParaRPr lang="en-US" sz="1200" dirty="0">
              <a:solidFill>
                <a:srgbClr val="1D1D1F"/>
              </a:solidFill>
              <a:latin typeface="Aptos" pitchFamily="34" charset="0"/>
              <a:ea typeface="Aptos" pitchFamily="34" charset="-122"/>
              <a:cs typeface="Aptos" pitchFamily="34" charset="-120"/>
            </a:endParaRPr>
          </a:p>
          <a:p>
            <a:pPr marL="228600" indent="-228600">
              <a:buFont typeface="+mj-lt"/>
              <a:buAutoNum type="arabicPeriod"/>
            </a:pPr>
            <a:endParaRPr lang="en-GB" dirty="0">
              <a:effectLst/>
              <a:latin typeface="Helvetica" pitchFamily="2" charset="0"/>
            </a:endParaRPr>
          </a:p>
        </p:txBody>
      </p:sp>
      <p:sp>
        <p:nvSpPr>
          <p:cNvPr id="4" name="Slide Number Placeholder 3"/>
          <p:cNvSpPr>
            <a:spLocks noGrp="1"/>
          </p:cNvSpPr>
          <p:nvPr>
            <p:ph type="sldNum" sz="quarter" idx="5"/>
          </p:nvPr>
        </p:nvSpPr>
        <p:spPr/>
        <p:txBody>
          <a:bodyPr/>
          <a:lstStyle/>
          <a:p>
            <a:fld id="{B3194E5B-EE41-EE42-8553-FD2040835449}" type="slidenum">
              <a:rPr lang="en-TZ" smtClean="0"/>
              <a:t>10</a:t>
            </a:fld>
            <a:endParaRPr lang="en-TZ"/>
          </a:p>
        </p:txBody>
      </p:sp>
    </p:spTree>
    <p:extLst>
      <p:ext uri="{BB962C8B-B14F-4D97-AF65-F5344CB8AC3E}">
        <p14:creationId xmlns:p14="http://schemas.microsoft.com/office/powerpoint/2010/main" val="3960809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11</a:t>
            </a:fld>
            <a:endParaRPr lang="en-TZ"/>
          </a:p>
        </p:txBody>
      </p:sp>
    </p:spTree>
    <p:extLst>
      <p:ext uri="{BB962C8B-B14F-4D97-AF65-F5344CB8AC3E}">
        <p14:creationId xmlns:p14="http://schemas.microsoft.com/office/powerpoint/2010/main" val="14235999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solidFill>
                  <a:srgbClr val="0B2D4D"/>
                </a:solidFill>
              </a:rPr>
              <a:t>The key issue: does treating the sarcomere preserve the patient’s ability to exercise better than blunting adrenergic drive?</a:t>
            </a:r>
            <a:endParaRPr lang="en-US" sz="1200" dirty="0"/>
          </a:p>
          <a:p>
            <a:pPr marL="171450" indent="-171450">
              <a:buFont typeface="Arial" panose="020B0604020202020204" pitchFamily="34" charset="0"/>
              <a:buChar char="•"/>
            </a:pPr>
            <a:endParaRPr lang="en-TZ" dirty="0"/>
          </a:p>
          <a:p>
            <a:pPr marL="171450" indent="-171450">
              <a:buFont typeface="Arial" panose="020B0604020202020204" pitchFamily="34" charset="0"/>
              <a:buChar char="•"/>
            </a:pPr>
            <a:r>
              <a:rPr lang="en-US" sz="1200" dirty="0">
                <a:solidFill>
                  <a:srgbClr val="1D1D1F"/>
                </a:solidFill>
                <a:latin typeface="Aptos" pitchFamily="34" charset="0"/>
                <a:ea typeface="Aptos" pitchFamily="34" charset="-122"/>
                <a:cs typeface="Aptos" pitchFamily="34" charset="-120"/>
              </a:rPr>
              <a:t>If a CMI works only as add-on therapy, beta-blocker adverse effects remain part of the treatment burden.</a:t>
            </a:r>
            <a:endParaRPr lang="en-US" sz="1200" dirty="0"/>
          </a:p>
          <a:p>
            <a:pPr marL="171450" indent="-171450">
              <a:buFont typeface="Arial" panose="020B0604020202020204" pitchFamily="34" charset="0"/>
              <a:buChar char="•"/>
            </a:pPr>
            <a:r>
              <a:rPr lang="en-US" sz="1200" dirty="0">
                <a:solidFill>
                  <a:srgbClr val="1D1D1F"/>
                </a:solidFill>
                <a:latin typeface="Aptos" pitchFamily="34" charset="0"/>
                <a:ea typeface="Aptos" pitchFamily="34" charset="-122"/>
                <a:cs typeface="Aptos" pitchFamily="34" charset="-120"/>
              </a:rPr>
              <a:t>If a CMI works as monotherapy, it may become a first-line option for newly diagnosed symptomatic </a:t>
            </a:r>
            <a:r>
              <a:rPr lang="en-US" sz="1200" dirty="0" err="1">
                <a:solidFill>
                  <a:srgbClr val="1D1D1F"/>
                </a:solidFill>
                <a:latin typeface="Aptos" pitchFamily="34" charset="0"/>
                <a:ea typeface="Aptos" pitchFamily="34" charset="-122"/>
                <a:cs typeface="Aptos" pitchFamily="34" charset="-120"/>
              </a:rPr>
              <a:t>oHCM</a:t>
            </a:r>
            <a:r>
              <a:rPr lang="en-US" sz="1200" dirty="0">
                <a:solidFill>
                  <a:srgbClr val="1D1D1F"/>
                </a:solidFill>
                <a:latin typeface="Aptos" pitchFamily="34" charset="0"/>
                <a:ea typeface="Aptos" pitchFamily="34" charset="-122"/>
                <a:cs typeface="Aptos" pitchFamily="34" charset="-120"/>
              </a:rPr>
              <a:t>.</a:t>
            </a:r>
            <a:endParaRPr lang="en-US" sz="1200" dirty="0"/>
          </a:p>
          <a:p>
            <a:pPr marL="171450" indent="-171450">
              <a:buFont typeface="Arial" panose="020B0604020202020204" pitchFamily="34" charset="0"/>
              <a:buChar char="•"/>
            </a:pPr>
            <a:r>
              <a:rPr lang="en-US" sz="1200" dirty="0">
                <a:solidFill>
                  <a:srgbClr val="1D1D1F"/>
                </a:solidFill>
                <a:latin typeface="Aptos" pitchFamily="34" charset="0"/>
                <a:ea typeface="Aptos" pitchFamily="34" charset="-122"/>
                <a:cs typeface="Aptos" pitchFamily="34" charset="-120"/>
              </a:rPr>
              <a:t>Monotherapy may simplify treatment and avoid chronotropic limitation.</a:t>
            </a:r>
            <a:endParaRPr lang="en-US" sz="1200" dirty="0"/>
          </a:p>
          <a:p>
            <a:pPr marL="171450" indent="-171450">
              <a:buFont typeface="Arial" panose="020B0604020202020204" pitchFamily="34" charset="0"/>
              <a:buChar char="•"/>
            </a:pPr>
            <a:r>
              <a:rPr lang="en-US" sz="1200" dirty="0">
                <a:solidFill>
                  <a:srgbClr val="1D1D1F"/>
                </a:solidFill>
                <a:latin typeface="Aptos" pitchFamily="34" charset="0"/>
                <a:ea typeface="Aptos" pitchFamily="34" charset="-122"/>
                <a:cs typeface="Aptos" pitchFamily="34" charset="-120"/>
              </a:rPr>
              <a:t>A direct comparison is necessary because placebo add-on trials cannot prove superiority over standard care.</a:t>
            </a:r>
            <a:endParaRPr lang="en-US" sz="1200" dirty="0"/>
          </a:p>
          <a:p>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13</a:t>
            </a:fld>
            <a:endParaRPr lang="en-TZ"/>
          </a:p>
        </p:txBody>
      </p:sp>
    </p:spTree>
    <p:extLst>
      <p:ext uri="{BB962C8B-B14F-4D97-AF65-F5344CB8AC3E}">
        <p14:creationId xmlns:p14="http://schemas.microsoft.com/office/powerpoint/2010/main" val="34620724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sz="1200" dirty="0">
                <a:solidFill>
                  <a:srgbClr val="1D1D1F"/>
                </a:solidFill>
                <a:latin typeface="Aptos" pitchFamily="34" charset="0"/>
                <a:ea typeface="Aptos" pitchFamily="34" charset="-122"/>
                <a:cs typeface="Aptos" pitchFamily="34" charset="-120"/>
              </a:rPr>
              <a:t>Exercise limitation is life-altering: activities of daily living, work capacity, and quality of life decline.</a:t>
            </a:r>
            <a:endParaRPr lang="en-US" sz="1200" dirty="0"/>
          </a:p>
          <a:p>
            <a:pPr marL="228600" indent="-228600">
              <a:buFont typeface="+mj-lt"/>
              <a:buAutoNum type="arabicPeriod"/>
            </a:pPr>
            <a:r>
              <a:rPr lang="en-US" sz="1200" dirty="0">
                <a:solidFill>
                  <a:srgbClr val="1D1D1F"/>
                </a:solidFill>
                <a:latin typeface="Aptos" pitchFamily="34" charset="0"/>
                <a:ea typeface="Aptos" pitchFamily="34" charset="-122"/>
                <a:cs typeface="Aptos" pitchFamily="34" charset="-120"/>
              </a:rPr>
              <a:t>Objective exercise capacity is prognostic: lower pVO2 predicts worse outcomes in HCM cohorts.</a:t>
            </a:r>
            <a:endParaRPr lang="en-US" sz="1200" dirty="0"/>
          </a:p>
          <a:p>
            <a:pPr marL="228600" indent="-228600">
              <a:buFont typeface="+mj-lt"/>
              <a:buAutoNum type="arabicPeriod"/>
            </a:pPr>
            <a:r>
              <a:rPr lang="en-US" sz="1200" dirty="0">
                <a:solidFill>
                  <a:srgbClr val="1D1D1F"/>
                </a:solidFill>
                <a:latin typeface="Aptos" pitchFamily="34" charset="0"/>
                <a:ea typeface="Aptos" pitchFamily="34" charset="-122"/>
                <a:cs typeface="Aptos" pitchFamily="34" charset="-120"/>
              </a:rPr>
              <a:t>Therefore, an intervention that improves exercise physiology may be clinically meaningful beyond symptom scores.</a:t>
            </a:r>
            <a:endParaRPr lang="en-US" sz="1200" dirty="0">
              <a:solidFill>
                <a:srgbClr val="1D1D1F"/>
              </a:solidFill>
              <a:latin typeface="Aptos" pitchFamily="34" charset="0"/>
            </a:endParaRPr>
          </a:p>
          <a:p>
            <a:pPr marL="228600" indent="-228600">
              <a:lnSpc>
                <a:spcPts val="3140"/>
              </a:lnSpc>
              <a:buFont typeface="+mj-lt"/>
              <a:buAutoNum type="arabicPeriod"/>
            </a:pPr>
            <a:r>
              <a:rPr lang="en-US" dirty="0"/>
              <a:t>NYHA class improvement</a:t>
            </a:r>
          </a:p>
          <a:p>
            <a:pPr marL="228600" indent="-228600">
              <a:lnSpc>
                <a:spcPts val="3140"/>
              </a:lnSpc>
              <a:buFont typeface="+mj-lt"/>
              <a:buAutoNum type="arabicPeriod"/>
            </a:pPr>
            <a:r>
              <a:rPr lang="en-US" dirty="0"/>
              <a:t>Change in KCCQ-CSS (health status)</a:t>
            </a:r>
          </a:p>
          <a:p>
            <a:pPr marL="228600" indent="-228600">
              <a:lnSpc>
                <a:spcPts val="3140"/>
              </a:lnSpc>
              <a:buFont typeface="+mj-lt"/>
              <a:buAutoNum type="arabicPeriod"/>
            </a:pPr>
            <a:r>
              <a:rPr lang="en-US" dirty="0"/>
              <a:t>Change in NT-</a:t>
            </a:r>
            <a:r>
              <a:rPr lang="en-US" dirty="0" err="1"/>
              <a:t>proBNP</a:t>
            </a:r>
            <a:r>
              <a:rPr lang="en-US" dirty="0"/>
              <a:t> (myocardial stress)</a:t>
            </a:r>
          </a:p>
          <a:p>
            <a:pPr marL="228600" indent="-228600">
              <a:lnSpc>
                <a:spcPts val="3140"/>
              </a:lnSpc>
              <a:buFont typeface="+mj-lt"/>
              <a:buAutoNum type="arabicPeriod"/>
            </a:pPr>
            <a:r>
              <a:rPr lang="en-US" dirty="0"/>
              <a:t>Change in post-Valsalva LVOT gradient</a:t>
            </a:r>
          </a:p>
          <a:p>
            <a:pPr marL="171450" indent="-171450">
              <a:buFont typeface="Arial" panose="020B0604020202020204" pitchFamily="34" charset="0"/>
              <a:buChar char="•"/>
            </a:pPr>
            <a:endParaRPr lang="en-US" sz="1200" dirty="0"/>
          </a:p>
          <a:p>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14</a:t>
            </a:fld>
            <a:endParaRPr lang="en-TZ"/>
          </a:p>
        </p:txBody>
      </p:sp>
    </p:spTree>
    <p:extLst>
      <p:ext uri="{BB962C8B-B14F-4D97-AF65-F5344CB8AC3E}">
        <p14:creationId xmlns:p14="http://schemas.microsoft.com/office/powerpoint/2010/main" val="31594747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Evidence of left ventricular outflow tract obstruction:        </a:t>
            </a:r>
          </a:p>
          <a:p>
            <a:r>
              <a:rPr lang="en-US" altLang="en-US" dirty="0"/>
              <a:t>Resting LVOT gradient ≥30 mmHg, and/or</a:t>
            </a:r>
          </a:p>
          <a:p>
            <a:endParaRPr lang="en-US" altLang="en-US" dirty="0"/>
          </a:p>
          <a:p>
            <a:r>
              <a:rPr lang="en-US" altLang="en-US" b="1" dirty="0"/>
              <a:t>pVO2 - peak oxygen uptake,</a:t>
            </a:r>
          </a:p>
          <a:p>
            <a:r>
              <a:rPr lang="en-US" b="1" dirty="0">
                <a:solidFill>
                  <a:srgbClr val="1F1F1F"/>
                </a:solidFill>
                <a:latin typeface="Times New Roman" panose="02020603050405020304" pitchFamily="18" charset="0"/>
                <a:ea typeface="Times New Roman" panose="02020603050405020304" pitchFamily="34" charset="-122"/>
                <a:cs typeface="Times New Roman" panose="02020603050405020304" pitchFamily="34" charset="-120"/>
                <a:sym typeface="+mn-ea"/>
              </a:rPr>
              <a:t>Objective exercise intolerance</a:t>
            </a:r>
          </a:p>
          <a:p>
            <a:pPr marL="0" indent="0">
              <a:buNone/>
            </a:pPr>
            <a:endParaRPr lang="en-US" altLang="en-US" b="1" dirty="0">
              <a:solidFill>
                <a:srgbClr val="1F1F1F"/>
              </a:solidFill>
              <a:latin typeface="Times New Roman" panose="02020603050405020304" pitchFamily="18" charset="0"/>
              <a:cs typeface="Times New Roman" panose="02020603050405020304" pitchFamily="34" charset="-120"/>
              <a:sym typeface="+mn-ea"/>
            </a:endParaRPr>
          </a:p>
          <a:p>
            <a:r>
              <a:rPr lang="en-US" altLang="en-US" dirty="0"/>
              <a:t>Evidence of left ventricular outflow tract obstruction:        </a:t>
            </a:r>
          </a:p>
          <a:p>
            <a:r>
              <a:rPr lang="en-US" altLang="en-US" dirty="0"/>
              <a:t>Resting LVOT gradient ≥30 mmHg, and/or</a:t>
            </a:r>
          </a:p>
          <a:p>
            <a:r>
              <a:rPr lang="en-US" altLang="en-US" dirty="0"/>
              <a:t>Post-Valsalva LVOT gradient ≥50 mmHg.</a:t>
            </a:r>
          </a:p>
          <a:p>
            <a:endParaRPr lang="en-US" altLang="en-US" dirty="0"/>
          </a:p>
          <a:p>
            <a:r>
              <a:rPr lang="en-US" altLang="en-US" b="1" dirty="0"/>
              <a:t>pVO2 - peak oxygen uptake; RER- respiratory exchange ratio.</a:t>
            </a:r>
          </a:p>
          <a:p>
            <a:pPr marL="0" indent="0">
              <a:buNone/>
            </a:pPr>
            <a:r>
              <a:rPr lang="en-US" b="1" dirty="0">
                <a:solidFill>
                  <a:srgbClr val="1F1F1F"/>
                </a:solidFill>
                <a:latin typeface="Times New Roman" panose="02020603050405020304" pitchFamily="18" charset="0"/>
                <a:ea typeface="Times New Roman" panose="02020603050405020304" pitchFamily="34" charset="-122"/>
                <a:cs typeface="Times New Roman" panose="02020603050405020304" pitchFamily="34" charset="-120"/>
                <a:sym typeface="+mn-ea"/>
              </a:rPr>
              <a:t>Objective exercise intolerance</a:t>
            </a:r>
            <a:endParaRPr lang="en-US" altLang="en-US" b="1" dirty="0"/>
          </a:p>
          <a:p>
            <a:pPr marL="0" indent="0">
              <a:buNone/>
            </a:pPr>
            <a:endParaRPr lang="en-US" altLang="en-US" b="1" dirty="0"/>
          </a:p>
          <a:p>
            <a:endParaRPr lang="en-US" dirty="0"/>
          </a:p>
        </p:txBody>
      </p:sp>
      <p:sp>
        <p:nvSpPr>
          <p:cNvPr id="4" name="Slide Number Placeholder 3"/>
          <p:cNvSpPr>
            <a:spLocks noGrp="1"/>
          </p:cNvSpPr>
          <p:nvPr>
            <p:ph type="sldNum" sz="quarter" idx="5"/>
          </p:nvPr>
        </p:nvSpPr>
        <p:spPr/>
        <p:txBody>
          <a:bodyPr/>
          <a:lstStyle/>
          <a:p>
            <a:fld id="{B3194E5B-EE41-EE42-8553-FD2040835449}" type="slidenum">
              <a:rPr lang="en-US" smtClean="0"/>
              <a:t>17</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solidFill>
                  <a:srgbClr val="1F1F1F"/>
                </a:solidFill>
                <a:latin typeface="Times New Roman" panose="02020603050405020304" pitchFamily="18" charset="0"/>
                <a:ea typeface="Times New Roman" panose="02020603050405020304" pitchFamily="34" charset="-122"/>
                <a:cs typeface="Times New Roman" panose="02020603050405020304" pitchFamily="34" charset="-120"/>
                <a:sym typeface="+mn-ea"/>
              </a:rPr>
              <a:t>Study personnel and participants remained blinded through database lock.</a:t>
            </a:r>
            <a:endParaRPr lang="en-US" dirty="0"/>
          </a:p>
          <a:p>
            <a:pPr marL="171450" indent="-171450">
              <a:buFont typeface="Arial" panose="020B0604020202020204" pitchFamily="34" charset="0"/>
              <a:buChar char="•"/>
            </a:pPr>
            <a:r>
              <a:rPr lang="en-US" dirty="0">
                <a:solidFill>
                  <a:srgbClr val="1F1F1F"/>
                </a:solidFill>
                <a:latin typeface="Times New Roman" panose="02020603050405020304" pitchFamily="18" charset="0"/>
                <a:ea typeface="Times New Roman" panose="02020603050405020304" pitchFamily="34" charset="-122"/>
                <a:cs typeface="Times New Roman" panose="02020603050405020304" pitchFamily="34" charset="-120"/>
                <a:sym typeface="+mn-ea"/>
              </a:rPr>
              <a:t>Blinding extended to treatment assignment, dosing, NT-</a:t>
            </a:r>
            <a:r>
              <a:rPr lang="en-US" dirty="0" err="1">
                <a:solidFill>
                  <a:srgbClr val="1F1F1F"/>
                </a:solidFill>
                <a:latin typeface="Times New Roman" panose="02020603050405020304" pitchFamily="18" charset="0"/>
                <a:ea typeface="Times New Roman" panose="02020603050405020304" pitchFamily="34" charset="-122"/>
                <a:cs typeface="Times New Roman" panose="02020603050405020304" pitchFamily="34" charset="-120"/>
                <a:sym typeface="+mn-ea"/>
              </a:rPr>
              <a:t>proBNP</a:t>
            </a:r>
            <a:r>
              <a:rPr lang="en-US" dirty="0">
                <a:solidFill>
                  <a:srgbClr val="1F1F1F"/>
                </a:solidFill>
                <a:latin typeface="Times New Roman" panose="02020603050405020304" pitchFamily="18" charset="0"/>
                <a:ea typeface="Times New Roman" panose="02020603050405020304" pitchFamily="34" charset="-122"/>
                <a:cs typeface="Times New Roman" panose="02020603050405020304" pitchFamily="34" charset="-120"/>
                <a:sym typeface="+mn-ea"/>
              </a:rPr>
              <a:t> levels and echocardiogram measures.</a:t>
            </a:r>
          </a:p>
          <a:p>
            <a:pPr marL="171450" indent="-171450">
              <a:buFont typeface="Arial" panose="020B0604020202020204" pitchFamily="34" charset="0"/>
              <a:buChar char="•"/>
            </a:pPr>
            <a:r>
              <a:rPr lang="en-US" altLang="en-US" b="1" dirty="0">
                <a:solidFill>
                  <a:srgbClr val="1F1F1F"/>
                </a:solidFill>
                <a:latin typeface="Times New Roman" panose="02020603050405020304" pitchFamily="18" charset="0"/>
                <a:ea typeface="Times New Roman" panose="02020603050405020304" pitchFamily="34" charset="-122"/>
                <a:cs typeface="Times New Roman" panose="02020603050405020304" pitchFamily="34" charset="-120"/>
                <a:sym typeface="+mn-ea"/>
              </a:rPr>
              <a:t>Stratification factors were subsequently used as covariates in the ANCOVA model</a:t>
            </a:r>
          </a:p>
          <a:p>
            <a:pPr marL="171450" indent="-171450">
              <a:buFont typeface="Arial" panose="020B0604020202020204" pitchFamily="34" charset="0"/>
              <a:buChar char="•"/>
            </a:pPr>
            <a:endParaRPr lang="en-US" b="1" dirty="0"/>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3194E5B-EE41-EE42-8553-FD2040835449}" type="slidenum">
              <a:rPr lang="en-US" smtClean="0"/>
              <a:t>18</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dose escalation x 3 weeks.</a:t>
            </a:r>
          </a:p>
          <a:p>
            <a:r>
              <a:rPr lang="en-US"/>
              <a:t>HR &gt; 55b/m or &lt;50b/m</a:t>
            </a:r>
          </a:p>
          <a:p>
            <a:r>
              <a:rPr lang="en-US"/>
              <a:t>SBP &gt;90  or less than 90</a:t>
            </a:r>
          </a:p>
          <a:p>
            <a:r>
              <a:rPr lang="en-US"/>
              <a:t>LVEF &gt; 55 40-49 reduce   &lt; 40. tempo discontinue</a:t>
            </a:r>
          </a:p>
          <a:p>
            <a:r>
              <a:rPr lang="en-US"/>
              <a:t>POST VALSAVA LVOT Gradient &gt; 30 or &lt; 30</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b="1" dirty="0"/>
              <a:t>The submaximal graphs reflect daily-activity physiology:</a:t>
            </a:r>
            <a:r>
              <a:rPr lang="en-GB" dirty="0"/>
              <a:t> a steeper VE/VCO₂ slope means inefficient ventilation from raised filling pressures, while an earlier anaerobic threshold shows reduced oxygen delivery at lower workloads. </a:t>
            </a:r>
            <a:r>
              <a:rPr lang="en-GB" b="1" dirty="0"/>
              <a:t>Why:</a:t>
            </a:r>
            <a:r>
              <a:rPr lang="en-GB" dirty="0"/>
              <a:t> LVOTO and diastolic dysfunction limit stroke-volume rise and increase pulmonary pressures. </a:t>
            </a:r>
          </a:p>
          <a:p>
            <a:pPr marL="171450" indent="-171450">
              <a:buFont typeface="Arial" panose="020B0604020202020204" pitchFamily="34" charset="0"/>
              <a:buChar char="•"/>
            </a:pPr>
            <a:r>
              <a:rPr lang="en-GB" b="1" dirty="0"/>
              <a:t>The peak workload graph reflects maximal functional capacity:</a:t>
            </a:r>
            <a:r>
              <a:rPr lang="en-GB" dirty="0"/>
              <a:t> patients stop earlier because LVOT obstruction, impaired filling, and limited stroke-volume reserve restrict cardiac-output augmentation. </a:t>
            </a:r>
            <a:r>
              <a:rPr lang="en-GB" b="1" dirty="0"/>
              <a:t>Why:</a:t>
            </a:r>
            <a:r>
              <a:rPr lang="en-GB" dirty="0"/>
              <a:t> the heart cannot increase forward flow enough to match muscle oxygen demand. </a:t>
            </a:r>
          </a:p>
          <a:p>
            <a:pPr marL="171450" indent="-171450">
              <a:buFont typeface="Arial" panose="020B0604020202020204" pitchFamily="34" charset="0"/>
              <a:buChar char="•"/>
            </a:pPr>
            <a:r>
              <a:rPr lang="en-GB" b="1" dirty="0"/>
              <a:t>The heart-rate graph assesses chronotropic reserve:</a:t>
            </a:r>
            <a:r>
              <a:rPr lang="en-GB" dirty="0"/>
              <a:t> a flatter response means the heart cannot raise cardiac output adequately, often because beta-blockers blunt sinus-node activation. </a:t>
            </a:r>
            <a:r>
              <a:rPr lang="en-GB" b="1" dirty="0"/>
              <a:t>Why:</a:t>
            </a:r>
            <a:r>
              <a:rPr lang="en-GB" dirty="0"/>
              <a:t> when stroke volume is fixed, exercise depends more heavily on heart-rate increase. </a:t>
            </a:r>
          </a:p>
          <a:p>
            <a:pPr marL="171450" indent="-171450">
              <a:buFont typeface="Arial" panose="020B0604020202020204" pitchFamily="34" charset="0"/>
              <a:buChar char="•"/>
            </a:pPr>
            <a:r>
              <a:rPr lang="en-GB" b="1" dirty="0"/>
              <a:t>The recovery graph shows how quickly VO₂ falls:</a:t>
            </a:r>
            <a:r>
              <a:rPr lang="en-GB" dirty="0"/>
              <a:t> a slower decline indicates delayed restoration of cardiac output and prolonged repayment of the accumulated oxygen deficit. </a:t>
            </a:r>
            <a:r>
              <a:rPr lang="en-GB" b="1" dirty="0"/>
              <a:t>Why:</a:t>
            </a:r>
            <a:r>
              <a:rPr lang="en-GB" dirty="0"/>
              <a:t> impaired circulation during exercise leaves greater metabolic debt after stopping. </a:t>
            </a:r>
          </a:p>
          <a:p>
            <a:pPr marL="171450" indent="-171450">
              <a:buFont typeface="Arial" panose="020B0604020202020204" pitchFamily="34" charset="0"/>
              <a:buChar char="•"/>
            </a:pPr>
            <a:r>
              <a:rPr lang="en-GB" b="1" dirty="0"/>
              <a:t>The composite panel shows circulatory power:</a:t>
            </a:r>
            <a:r>
              <a:rPr lang="en-GB" dirty="0"/>
              <a:t> peak VO₂ multiplied by peak systolic pressure combines oxygen transport with the ability to maintain systemic perfusion during exercise. </a:t>
            </a:r>
            <a:r>
              <a:rPr lang="en-GB" b="1" dirty="0"/>
              <a:t>Why:</a:t>
            </a:r>
            <a:r>
              <a:rPr lang="en-GB" dirty="0"/>
              <a:t> </a:t>
            </a:r>
            <a:r>
              <a:rPr lang="en-GB" dirty="0" err="1"/>
              <a:t>oHCM</a:t>
            </a:r>
            <a:r>
              <a:rPr lang="en-GB" dirty="0"/>
              <a:t> may impair both oxygen delivery and the blood-pressure response. </a:t>
            </a:r>
          </a:p>
          <a:p>
            <a:pPr marL="171450" indent="-171450">
              <a:buFont typeface="Arial" panose="020B0604020202020204" pitchFamily="34" charset="0"/>
              <a:buChar char="•"/>
            </a:pPr>
            <a:r>
              <a:rPr lang="en-GB" b="1" dirty="0"/>
              <a:t>Overall, </a:t>
            </a:r>
            <a:r>
              <a:rPr lang="en-GB" b="1" dirty="0" err="1"/>
              <a:t>aficamten</a:t>
            </a:r>
            <a:r>
              <a:rPr lang="en-GB" b="1" dirty="0"/>
              <a:t> shifts these curves toward better performance</a:t>
            </a:r>
            <a:r>
              <a:rPr lang="en-GB" dirty="0"/>
              <a:t> by reducing </a:t>
            </a:r>
            <a:r>
              <a:rPr lang="en-GB" dirty="0" err="1"/>
              <a:t>sarcomeric</a:t>
            </a:r>
            <a:r>
              <a:rPr lang="en-GB" dirty="0"/>
              <a:t> hypercontractility and LVOT obstruction while preserving the physiological heart-rate response. </a:t>
            </a:r>
            <a:r>
              <a:rPr lang="en-GB" b="1" dirty="0"/>
              <a:t>Why:</a:t>
            </a:r>
            <a:r>
              <a:rPr lang="en-GB" dirty="0"/>
              <a:t> it improves </a:t>
            </a:r>
            <a:r>
              <a:rPr lang="en-GB" dirty="0" err="1"/>
              <a:t>haemodynamics</a:t>
            </a:r>
            <a:r>
              <a:rPr lang="en-GB" dirty="0"/>
              <a:t> without the chronotropic suppression produced by beta-blockade</a:t>
            </a:r>
            <a:endParaRPr lang="en-US" dirty="0"/>
          </a:p>
        </p:txBody>
      </p:sp>
      <p:sp>
        <p:nvSpPr>
          <p:cNvPr id="4" name="Slide Number Placeholder 3"/>
          <p:cNvSpPr>
            <a:spLocks noGrp="1"/>
          </p:cNvSpPr>
          <p:nvPr>
            <p:ph type="sldNum" sz="quarter" idx="5"/>
          </p:nvPr>
        </p:nvSpPr>
        <p:spPr/>
        <p:txBody>
          <a:bodyPr/>
          <a:lstStyle/>
          <a:p>
            <a:fld id="{B3194E5B-EE41-EE42-8553-FD2040835449}" type="slidenum">
              <a:rPr lang="en-US" smtClean="0"/>
              <a:t>21</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4" name="Slide Image Placeholder 1"/>
          <p:cNvSpPr>
            <a:spLocks noGrp="1" noRot="1" noChangeAspect="1"/>
          </p:cNvSpPr>
          <p:nvPr>
            <p:ph type="sldImg"/>
          </p:nvPr>
        </p:nvSpPr>
        <p:spPr/>
      </p:sp>
      <p:sp>
        <p:nvSpPr>
          <p:cNvPr id="1048625" name="Notes Placeholder 2"/>
          <p:cNvSpPr>
            <a:spLocks noGrp="1"/>
          </p:cNvSpPr>
          <p:nvPr>
            <p:ph type="body" idx="1"/>
          </p:nvPr>
        </p:nvSpPr>
        <p:spPr/>
        <p:txBody>
          <a:bodyPr/>
          <a:lstStyle/>
          <a:p>
            <a:r>
              <a:rPr lang="en-US" dirty="0"/>
              <a:t>CPET-Cardiopulmonary </a:t>
            </a:r>
            <a:r>
              <a:rPr lang="en-US" dirty="0" err="1"/>
              <a:t>testing,KCCQ</a:t>
            </a:r>
            <a:r>
              <a:rPr lang="en-US" dirty="0"/>
              <a:t>-CSS(</a:t>
            </a:r>
            <a:r>
              <a:rPr lang="en-US" b="1" dirty="0"/>
              <a:t>Kansas City Cardiomyopathy Questionnaire–Clinical Summary Score (KCCQ-CSS)</a:t>
            </a:r>
            <a:r>
              <a:rPr lang="en-US" dirty="0"/>
              <a:t>.</a:t>
            </a:r>
          </a:p>
          <a:p>
            <a:r>
              <a:rPr lang="en-US" dirty="0"/>
              <a:t>LVMI-Left Ventricular mass </a:t>
            </a:r>
            <a:r>
              <a:rPr lang="en-US" dirty="0" err="1"/>
              <a:t>index,  LAVI</a:t>
            </a:r>
            <a:r>
              <a:rPr lang="en-US" dirty="0"/>
              <a:t>-left atrial volume index</a:t>
            </a:r>
          </a:p>
          <a:p>
            <a:r>
              <a:rPr lang="en-US" dirty="0">
                <a:solidFill>
                  <a:srgbClr val="5A5A6B"/>
                </a:solidFill>
                <a:latin typeface="Times New Roman" panose="02020603050405020304" pitchFamily="18" charset="0"/>
                <a:ea typeface="Calibri" panose="020F0502020204030204" pitchFamily="34" charset="-122"/>
                <a:cs typeface="Times New Roman" panose="02020603050405020304" pitchFamily="18" charset="0"/>
                <a:sym typeface="+mn-ea"/>
              </a:rPr>
              <a:t>Major adverse cardiac events (CV death, cardiac arrest, stroke, MI, CV hospitalization) and incidence of LVEF &lt; 50%</a:t>
            </a:r>
            <a:endParaRPr lang="en-US" dirty="0">
              <a:solidFill>
                <a:srgbClr val="5A5A6B"/>
              </a:solidFill>
              <a:latin typeface="Times New Roman" panose="02020603050405020304" pitchFamily="18" charset="0"/>
              <a:ea typeface="Calibri" panose="020F0502020204030204" pitchFamily="34" charset="-122"/>
              <a:cs typeface="Times New Roman" panose="02020603050405020304" pitchFamily="18" charset="0"/>
            </a:endParaRPr>
          </a:p>
          <a:p>
            <a:endParaRPr lang="en-US" dirty="0"/>
          </a:p>
        </p:txBody>
      </p:sp>
      <p:sp>
        <p:nvSpPr>
          <p:cNvPr id="1048626" name="Slide Number Placeholder 3"/>
          <p:cNvSpPr>
            <a:spLocks noGrp="1"/>
          </p:cNvSpPr>
          <p:nvPr>
            <p:ph type="sldNum" sz="quarter" idx="5"/>
          </p:nvPr>
        </p:nvSpPr>
        <p:spPr/>
        <p:txBody>
          <a:bodyPr/>
          <a:lstStyle/>
          <a:p>
            <a:fld id="{E77F2BF3-05BF-45B1-ACBD-08A08D058A2E}" type="slidenum">
              <a:rPr lang="en-US" smtClean="0"/>
              <a:t>22</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n - 170</a:t>
            </a:r>
          </a:p>
          <a:p>
            <a:r>
              <a:rPr lang="en-US"/>
              <a:t>but 175 candidate was enrolled- provide buffer, and increase precisions of data.</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b="1" dirty="0">
                <a:solidFill>
                  <a:srgbClr val="A80F2A"/>
                </a:solidFill>
              </a:rPr>
              <a:t>Appraisal point: industry sponsorship and author ties should be transparently acknowledged when interpreting the results.</a:t>
            </a:r>
          </a:p>
          <a:p>
            <a:endParaRPr lang="en-US" dirty="0"/>
          </a:p>
        </p:txBody>
      </p:sp>
      <p:sp>
        <p:nvSpPr>
          <p:cNvPr id="4" name="Slide Number Placeholder 3"/>
          <p:cNvSpPr>
            <a:spLocks noGrp="1"/>
          </p:cNvSpPr>
          <p:nvPr>
            <p:ph type="sldNum" sz="quarter" idx="5"/>
          </p:nvPr>
        </p:nvSpPr>
        <p:spPr/>
        <p:txBody>
          <a:bodyPr/>
          <a:lstStyle/>
          <a:p>
            <a:fld id="{B3194E5B-EE41-EE42-8553-FD2040835449}" type="slidenum">
              <a:rPr lang="en-US" smtClean="0"/>
              <a:t>25</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26</a:t>
            </a:fld>
            <a:endParaRPr lang="en-TZ"/>
          </a:p>
        </p:txBody>
      </p:sp>
    </p:spTree>
    <p:extLst>
      <p:ext uri="{BB962C8B-B14F-4D97-AF65-F5344CB8AC3E}">
        <p14:creationId xmlns:p14="http://schemas.microsoft.com/office/powerpoint/2010/main" val="33538774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27</a:t>
            </a:fld>
            <a:endParaRPr lang="en-TZ"/>
          </a:p>
        </p:txBody>
      </p:sp>
    </p:spTree>
    <p:extLst>
      <p:ext uri="{BB962C8B-B14F-4D97-AF65-F5344CB8AC3E}">
        <p14:creationId xmlns:p14="http://schemas.microsoft.com/office/powerpoint/2010/main" val="29435063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34</a:t>
            </a:fld>
            <a:endParaRPr lang="en-TZ"/>
          </a:p>
        </p:txBody>
      </p:sp>
    </p:spTree>
    <p:extLst>
      <p:ext uri="{BB962C8B-B14F-4D97-AF65-F5344CB8AC3E}">
        <p14:creationId xmlns:p14="http://schemas.microsoft.com/office/powerpoint/2010/main" val="18840126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35</a:t>
            </a:fld>
            <a:endParaRPr lang="en-TZ"/>
          </a:p>
        </p:txBody>
      </p:sp>
    </p:spTree>
    <p:extLst>
      <p:ext uri="{BB962C8B-B14F-4D97-AF65-F5344CB8AC3E}">
        <p14:creationId xmlns:p14="http://schemas.microsoft.com/office/powerpoint/2010/main" val="42262349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36</a:t>
            </a:fld>
            <a:endParaRPr lang="en-TZ"/>
          </a:p>
        </p:txBody>
      </p:sp>
    </p:spTree>
    <p:extLst>
      <p:ext uri="{BB962C8B-B14F-4D97-AF65-F5344CB8AC3E}">
        <p14:creationId xmlns:p14="http://schemas.microsoft.com/office/powerpoint/2010/main" val="41632740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37</a:t>
            </a:fld>
            <a:endParaRPr lang="en-TZ"/>
          </a:p>
        </p:txBody>
      </p:sp>
    </p:spTree>
    <p:extLst>
      <p:ext uri="{BB962C8B-B14F-4D97-AF65-F5344CB8AC3E}">
        <p14:creationId xmlns:p14="http://schemas.microsoft.com/office/powerpoint/2010/main" val="2567535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38</a:t>
            </a:fld>
            <a:endParaRPr lang="en-TZ"/>
          </a:p>
        </p:txBody>
      </p:sp>
    </p:spTree>
    <p:extLst>
      <p:ext uri="{BB962C8B-B14F-4D97-AF65-F5344CB8AC3E}">
        <p14:creationId xmlns:p14="http://schemas.microsoft.com/office/powerpoint/2010/main" val="31558670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39</a:t>
            </a:fld>
            <a:endParaRPr lang="en-TZ"/>
          </a:p>
        </p:txBody>
      </p:sp>
    </p:spTree>
    <p:extLst>
      <p:ext uri="{BB962C8B-B14F-4D97-AF65-F5344CB8AC3E}">
        <p14:creationId xmlns:p14="http://schemas.microsoft.com/office/powerpoint/2010/main" val="12874517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Z" dirty="0"/>
          </a:p>
        </p:txBody>
      </p:sp>
      <p:sp>
        <p:nvSpPr>
          <p:cNvPr id="4" name="Slide Number Placeholder 3"/>
          <p:cNvSpPr>
            <a:spLocks noGrp="1"/>
          </p:cNvSpPr>
          <p:nvPr>
            <p:ph type="sldNum" sz="quarter" idx="5"/>
          </p:nvPr>
        </p:nvSpPr>
        <p:spPr/>
        <p:txBody>
          <a:bodyPr/>
          <a:lstStyle/>
          <a:p>
            <a:fld id="{B3194E5B-EE41-EE42-8553-FD2040835449}" type="slidenum">
              <a:rPr lang="en-TZ" smtClean="0"/>
              <a:t>40</a:t>
            </a:fld>
            <a:endParaRPr lang="en-TZ"/>
          </a:p>
        </p:txBody>
      </p:sp>
    </p:spTree>
    <p:extLst>
      <p:ext uri="{BB962C8B-B14F-4D97-AF65-F5344CB8AC3E}">
        <p14:creationId xmlns:p14="http://schemas.microsoft.com/office/powerpoint/2010/main" val="2028304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8D732-5F65-DA80-83D8-576AFBF3DDD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TZ"/>
          </a:p>
        </p:txBody>
      </p:sp>
      <p:sp>
        <p:nvSpPr>
          <p:cNvPr id="3" name="Subtitle 2">
            <a:extLst>
              <a:ext uri="{FF2B5EF4-FFF2-40B4-BE49-F238E27FC236}">
                <a16:creationId xmlns:a16="http://schemas.microsoft.com/office/drawing/2014/main" id="{4828CEF5-0246-ED5D-58F6-56DB886C97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TZ"/>
          </a:p>
        </p:txBody>
      </p:sp>
      <p:sp>
        <p:nvSpPr>
          <p:cNvPr id="4" name="Date Placeholder 3">
            <a:extLst>
              <a:ext uri="{FF2B5EF4-FFF2-40B4-BE49-F238E27FC236}">
                <a16:creationId xmlns:a16="http://schemas.microsoft.com/office/drawing/2014/main" id="{AF47ADB7-1FB4-3E2C-6378-5DB296672C5F}"/>
              </a:ext>
            </a:extLst>
          </p:cNvPr>
          <p:cNvSpPr>
            <a:spLocks noGrp="1"/>
          </p:cNvSpPr>
          <p:nvPr>
            <p:ph type="dt" sz="half" idx="10"/>
          </p:nvPr>
        </p:nvSpPr>
        <p:spPr/>
        <p:txBody>
          <a:bodyPr/>
          <a:lstStyle/>
          <a:p>
            <a:fld id="{95F8F312-CEAF-A549-AB5E-2C43D955C401}" type="datetimeFigureOut">
              <a:rPr lang="en-TZ" smtClean="0"/>
              <a:t>23/07/2026</a:t>
            </a:fld>
            <a:endParaRPr lang="en-TZ"/>
          </a:p>
        </p:txBody>
      </p:sp>
      <p:sp>
        <p:nvSpPr>
          <p:cNvPr id="5" name="Footer Placeholder 4">
            <a:extLst>
              <a:ext uri="{FF2B5EF4-FFF2-40B4-BE49-F238E27FC236}">
                <a16:creationId xmlns:a16="http://schemas.microsoft.com/office/drawing/2014/main" id="{6787CCB2-0BDD-93A2-0864-5ADD28C54FD4}"/>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FB4E7594-B47A-9589-0482-C0C5A454AE59}"/>
              </a:ext>
            </a:extLst>
          </p:cNvPr>
          <p:cNvSpPr>
            <a:spLocks noGrp="1"/>
          </p:cNvSpPr>
          <p:nvPr>
            <p:ph type="sldNum" sz="quarter" idx="12"/>
          </p:nvPr>
        </p:nvSpPr>
        <p:spPr/>
        <p:txBody>
          <a:bodyPr/>
          <a:lstStyle/>
          <a:p>
            <a:fld id="{543C1896-EE42-7144-8ACD-C410FBC8FC66}" type="slidenum">
              <a:rPr lang="en-TZ" smtClean="0"/>
              <a:t>‹#›</a:t>
            </a:fld>
            <a:endParaRPr lang="en-TZ"/>
          </a:p>
        </p:txBody>
      </p:sp>
    </p:spTree>
    <p:extLst>
      <p:ext uri="{BB962C8B-B14F-4D97-AF65-F5344CB8AC3E}">
        <p14:creationId xmlns:p14="http://schemas.microsoft.com/office/powerpoint/2010/main" val="2510889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8E178-2D05-2710-3506-00D447BEAB3F}"/>
              </a:ext>
            </a:extLst>
          </p:cNvPr>
          <p:cNvSpPr>
            <a:spLocks noGrp="1"/>
          </p:cNvSpPr>
          <p:nvPr>
            <p:ph type="title"/>
          </p:nvPr>
        </p:nvSpPr>
        <p:spPr/>
        <p:txBody>
          <a:bodyPr/>
          <a:lstStyle/>
          <a:p>
            <a:r>
              <a:rPr lang="en-GB"/>
              <a:t>Click to edit Master title style</a:t>
            </a:r>
            <a:endParaRPr lang="en-TZ"/>
          </a:p>
        </p:txBody>
      </p:sp>
      <p:sp>
        <p:nvSpPr>
          <p:cNvPr id="3" name="Content Placeholder 2">
            <a:extLst>
              <a:ext uri="{FF2B5EF4-FFF2-40B4-BE49-F238E27FC236}">
                <a16:creationId xmlns:a16="http://schemas.microsoft.com/office/drawing/2014/main" id="{DEF736F6-A1F1-5EAB-5E85-B8BA33BCC68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TZ"/>
          </a:p>
        </p:txBody>
      </p:sp>
      <p:sp>
        <p:nvSpPr>
          <p:cNvPr id="4" name="Date Placeholder 3">
            <a:extLst>
              <a:ext uri="{FF2B5EF4-FFF2-40B4-BE49-F238E27FC236}">
                <a16:creationId xmlns:a16="http://schemas.microsoft.com/office/drawing/2014/main" id="{3020378B-EFD9-8600-ECED-38F121E30E11}"/>
              </a:ext>
            </a:extLst>
          </p:cNvPr>
          <p:cNvSpPr>
            <a:spLocks noGrp="1"/>
          </p:cNvSpPr>
          <p:nvPr>
            <p:ph type="dt" sz="half" idx="10"/>
          </p:nvPr>
        </p:nvSpPr>
        <p:spPr/>
        <p:txBody>
          <a:bodyPr/>
          <a:lstStyle/>
          <a:p>
            <a:fld id="{95F8F312-CEAF-A549-AB5E-2C43D955C401}" type="datetimeFigureOut">
              <a:rPr lang="en-TZ" smtClean="0"/>
              <a:t>23/07/2026</a:t>
            </a:fld>
            <a:endParaRPr lang="en-TZ"/>
          </a:p>
        </p:txBody>
      </p:sp>
      <p:sp>
        <p:nvSpPr>
          <p:cNvPr id="5" name="Footer Placeholder 4">
            <a:extLst>
              <a:ext uri="{FF2B5EF4-FFF2-40B4-BE49-F238E27FC236}">
                <a16:creationId xmlns:a16="http://schemas.microsoft.com/office/drawing/2014/main" id="{1D7D4BFA-ADE1-3758-399F-65A59A8F2AF9}"/>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8A959DDC-240B-288D-2406-A05D060FECF6}"/>
              </a:ext>
            </a:extLst>
          </p:cNvPr>
          <p:cNvSpPr>
            <a:spLocks noGrp="1"/>
          </p:cNvSpPr>
          <p:nvPr>
            <p:ph type="sldNum" sz="quarter" idx="12"/>
          </p:nvPr>
        </p:nvSpPr>
        <p:spPr/>
        <p:txBody>
          <a:bodyPr/>
          <a:lstStyle/>
          <a:p>
            <a:fld id="{543C1896-EE42-7144-8ACD-C410FBC8FC66}" type="slidenum">
              <a:rPr lang="en-TZ" smtClean="0"/>
              <a:t>‹#›</a:t>
            </a:fld>
            <a:endParaRPr lang="en-TZ"/>
          </a:p>
        </p:txBody>
      </p:sp>
    </p:spTree>
    <p:extLst>
      <p:ext uri="{BB962C8B-B14F-4D97-AF65-F5344CB8AC3E}">
        <p14:creationId xmlns:p14="http://schemas.microsoft.com/office/powerpoint/2010/main" val="2964896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16582-DCBE-B4CE-16CA-F6D15434B0F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TZ"/>
          </a:p>
        </p:txBody>
      </p:sp>
      <p:sp>
        <p:nvSpPr>
          <p:cNvPr id="3" name="Text Placeholder 2">
            <a:extLst>
              <a:ext uri="{FF2B5EF4-FFF2-40B4-BE49-F238E27FC236}">
                <a16:creationId xmlns:a16="http://schemas.microsoft.com/office/drawing/2014/main" id="{EF5DB5C7-3D63-62AB-21B7-7ADAF1CB42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2E14703-4B72-6714-D1FD-2079A260D106}"/>
              </a:ext>
            </a:extLst>
          </p:cNvPr>
          <p:cNvSpPr>
            <a:spLocks noGrp="1"/>
          </p:cNvSpPr>
          <p:nvPr>
            <p:ph type="dt" sz="half" idx="10"/>
          </p:nvPr>
        </p:nvSpPr>
        <p:spPr/>
        <p:txBody>
          <a:bodyPr/>
          <a:lstStyle/>
          <a:p>
            <a:fld id="{95F8F312-CEAF-A549-AB5E-2C43D955C401}" type="datetimeFigureOut">
              <a:rPr lang="en-TZ" smtClean="0"/>
              <a:t>23/07/2026</a:t>
            </a:fld>
            <a:endParaRPr lang="en-TZ"/>
          </a:p>
        </p:txBody>
      </p:sp>
      <p:sp>
        <p:nvSpPr>
          <p:cNvPr id="5" name="Footer Placeholder 4">
            <a:extLst>
              <a:ext uri="{FF2B5EF4-FFF2-40B4-BE49-F238E27FC236}">
                <a16:creationId xmlns:a16="http://schemas.microsoft.com/office/drawing/2014/main" id="{48239287-5DCB-46F3-5583-E62DBE2A4F12}"/>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8E6EF163-008D-CA54-919C-C080D5532D8E}"/>
              </a:ext>
            </a:extLst>
          </p:cNvPr>
          <p:cNvSpPr>
            <a:spLocks noGrp="1"/>
          </p:cNvSpPr>
          <p:nvPr>
            <p:ph type="sldNum" sz="quarter" idx="12"/>
          </p:nvPr>
        </p:nvSpPr>
        <p:spPr/>
        <p:txBody>
          <a:bodyPr/>
          <a:lstStyle/>
          <a:p>
            <a:fld id="{543C1896-EE42-7144-8ACD-C410FBC8FC66}" type="slidenum">
              <a:rPr lang="en-TZ" smtClean="0"/>
              <a:t>‹#›</a:t>
            </a:fld>
            <a:endParaRPr lang="en-TZ"/>
          </a:p>
        </p:txBody>
      </p:sp>
    </p:spTree>
    <p:extLst>
      <p:ext uri="{BB962C8B-B14F-4D97-AF65-F5344CB8AC3E}">
        <p14:creationId xmlns:p14="http://schemas.microsoft.com/office/powerpoint/2010/main" val="1763211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62D12-013E-1214-2645-A45C1CFDE406}"/>
              </a:ext>
            </a:extLst>
          </p:cNvPr>
          <p:cNvSpPr>
            <a:spLocks noGrp="1"/>
          </p:cNvSpPr>
          <p:nvPr>
            <p:ph type="title"/>
          </p:nvPr>
        </p:nvSpPr>
        <p:spPr/>
        <p:txBody>
          <a:bodyPr/>
          <a:lstStyle/>
          <a:p>
            <a:r>
              <a:rPr lang="en-GB"/>
              <a:t>Click to edit Master title style</a:t>
            </a:r>
            <a:endParaRPr lang="en-TZ"/>
          </a:p>
        </p:txBody>
      </p:sp>
      <p:sp>
        <p:nvSpPr>
          <p:cNvPr id="3" name="Content Placeholder 2">
            <a:extLst>
              <a:ext uri="{FF2B5EF4-FFF2-40B4-BE49-F238E27FC236}">
                <a16:creationId xmlns:a16="http://schemas.microsoft.com/office/drawing/2014/main" id="{44596C50-3144-4E0E-9229-0688D2D81CE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TZ"/>
          </a:p>
        </p:txBody>
      </p:sp>
      <p:sp>
        <p:nvSpPr>
          <p:cNvPr id="4" name="Content Placeholder 3">
            <a:extLst>
              <a:ext uri="{FF2B5EF4-FFF2-40B4-BE49-F238E27FC236}">
                <a16:creationId xmlns:a16="http://schemas.microsoft.com/office/drawing/2014/main" id="{63F1B1AA-298E-08C4-53C3-14FC7511463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TZ"/>
          </a:p>
        </p:txBody>
      </p:sp>
      <p:sp>
        <p:nvSpPr>
          <p:cNvPr id="5" name="Date Placeholder 4">
            <a:extLst>
              <a:ext uri="{FF2B5EF4-FFF2-40B4-BE49-F238E27FC236}">
                <a16:creationId xmlns:a16="http://schemas.microsoft.com/office/drawing/2014/main" id="{0328FEB2-452F-49BB-5093-D06957724CE7}"/>
              </a:ext>
            </a:extLst>
          </p:cNvPr>
          <p:cNvSpPr>
            <a:spLocks noGrp="1"/>
          </p:cNvSpPr>
          <p:nvPr>
            <p:ph type="dt" sz="half" idx="10"/>
          </p:nvPr>
        </p:nvSpPr>
        <p:spPr/>
        <p:txBody>
          <a:bodyPr/>
          <a:lstStyle/>
          <a:p>
            <a:fld id="{95F8F312-CEAF-A549-AB5E-2C43D955C401}" type="datetimeFigureOut">
              <a:rPr lang="en-TZ" smtClean="0"/>
              <a:t>23/07/2026</a:t>
            </a:fld>
            <a:endParaRPr lang="en-TZ"/>
          </a:p>
        </p:txBody>
      </p:sp>
      <p:sp>
        <p:nvSpPr>
          <p:cNvPr id="6" name="Footer Placeholder 5">
            <a:extLst>
              <a:ext uri="{FF2B5EF4-FFF2-40B4-BE49-F238E27FC236}">
                <a16:creationId xmlns:a16="http://schemas.microsoft.com/office/drawing/2014/main" id="{B5B70A29-7463-3EE5-A10A-B31DA9ECDBD8}"/>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2CB26D2A-42EB-7602-F331-610561DF7C66}"/>
              </a:ext>
            </a:extLst>
          </p:cNvPr>
          <p:cNvSpPr>
            <a:spLocks noGrp="1"/>
          </p:cNvSpPr>
          <p:nvPr>
            <p:ph type="sldNum" sz="quarter" idx="12"/>
          </p:nvPr>
        </p:nvSpPr>
        <p:spPr/>
        <p:txBody>
          <a:bodyPr/>
          <a:lstStyle/>
          <a:p>
            <a:fld id="{543C1896-EE42-7144-8ACD-C410FBC8FC66}" type="slidenum">
              <a:rPr lang="en-TZ" smtClean="0"/>
              <a:t>‹#›</a:t>
            </a:fld>
            <a:endParaRPr lang="en-TZ"/>
          </a:p>
        </p:txBody>
      </p:sp>
    </p:spTree>
    <p:extLst>
      <p:ext uri="{BB962C8B-B14F-4D97-AF65-F5344CB8AC3E}">
        <p14:creationId xmlns:p14="http://schemas.microsoft.com/office/powerpoint/2010/main" val="432699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D815B-A1E5-7C50-4A03-FB4AB38D2703}"/>
              </a:ext>
            </a:extLst>
          </p:cNvPr>
          <p:cNvSpPr>
            <a:spLocks noGrp="1"/>
          </p:cNvSpPr>
          <p:nvPr>
            <p:ph type="title"/>
          </p:nvPr>
        </p:nvSpPr>
        <p:spPr>
          <a:xfrm>
            <a:off x="839788" y="365125"/>
            <a:ext cx="10515600" cy="1325563"/>
          </a:xfrm>
        </p:spPr>
        <p:txBody>
          <a:bodyPr/>
          <a:lstStyle/>
          <a:p>
            <a:r>
              <a:rPr lang="en-GB"/>
              <a:t>Click to edit Master title style</a:t>
            </a:r>
            <a:endParaRPr lang="en-TZ"/>
          </a:p>
        </p:txBody>
      </p:sp>
      <p:sp>
        <p:nvSpPr>
          <p:cNvPr id="3" name="Text Placeholder 2">
            <a:extLst>
              <a:ext uri="{FF2B5EF4-FFF2-40B4-BE49-F238E27FC236}">
                <a16:creationId xmlns:a16="http://schemas.microsoft.com/office/drawing/2014/main" id="{12F9F180-3616-12B3-8CCF-CE150D41BE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77CC3AF-D082-D3DF-FEC4-97F6AFFB946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TZ"/>
          </a:p>
        </p:txBody>
      </p:sp>
      <p:sp>
        <p:nvSpPr>
          <p:cNvPr id="5" name="Text Placeholder 4">
            <a:extLst>
              <a:ext uri="{FF2B5EF4-FFF2-40B4-BE49-F238E27FC236}">
                <a16:creationId xmlns:a16="http://schemas.microsoft.com/office/drawing/2014/main" id="{1A195F28-199C-02EE-5D71-71B83CB38C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5C71BC6-2D48-33FD-A54A-DADAE6F16BF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TZ"/>
          </a:p>
        </p:txBody>
      </p:sp>
      <p:sp>
        <p:nvSpPr>
          <p:cNvPr id="7" name="Date Placeholder 6">
            <a:extLst>
              <a:ext uri="{FF2B5EF4-FFF2-40B4-BE49-F238E27FC236}">
                <a16:creationId xmlns:a16="http://schemas.microsoft.com/office/drawing/2014/main" id="{5A447F58-C936-CB86-997E-D9E11FB5DB32}"/>
              </a:ext>
            </a:extLst>
          </p:cNvPr>
          <p:cNvSpPr>
            <a:spLocks noGrp="1"/>
          </p:cNvSpPr>
          <p:nvPr>
            <p:ph type="dt" sz="half" idx="10"/>
          </p:nvPr>
        </p:nvSpPr>
        <p:spPr/>
        <p:txBody>
          <a:bodyPr/>
          <a:lstStyle/>
          <a:p>
            <a:fld id="{95F8F312-CEAF-A549-AB5E-2C43D955C401}" type="datetimeFigureOut">
              <a:rPr lang="en-TZ" smtClean="0"/>
              <a:t>23/07/2026</a:t>
            </a:fld>
            <a:endParaRPr lang="en-TZ"/>
          </a:p>
        </p:txBody>
      </p:sp>
      <p:sp>
        <p:nvSpPr>
          <p:cNvPr id="8" name="Footer Placeholder 7">
            <a:extLst>
              <a:ext uri="{FF2B5EF4-FFF2-40B4-BE49-F238E27FC236}">
                <a16:creationId xmlns:a16="http://schemas.microsoft.com/office/drawing/2014/main" id="{6B2D1502-3747-C583-A533-4144EBBF1109}"/>
              </a:ext>
            </a:extLst>
          </p:cNvPr>
          <p:cNvSpPr>
            <a:spLocks noGrp="1"/>
          </p:cNvSpPr>
          <p:nvPr>
            <p:ph type="ftr" sz="quarter" idx="11"/>
          </p:nvPr>
        </p:nvSpPr>
        <p:spPr/>
        <p:txBody>
          <a:bodyPr/>
          <a:lstStyle/>
          <a:p>
            <a:endParaRPr lang="en-TZ"/>
          </a:p>
        </p:txBody>
      </p:sp>
      <p:sp>
        <p:nvSpPr>
          <p:cNvPr id="9" name="Slide Number Placeholder 8">
            <a:extLst>
              <a:ext uri="{FF2B5EF4-FFF2-40B4-BE49-F238E27FC236}">
                <a16:creationId xmlns:a16="http://schemas.microsoft.com/office/drawing/2014/main" id="{75283B4A-5F02-181D-CF81-3829CF945201}"/>
              </a:ext>
            </a:extLst>
          </p:cNvPr>
          <p:cNvSpPr>
            <a:spLocks noGrp="1"/>
          </p:cNvSpPr>
          <p:nvPr>
            <p:ph type="sldNum" sz="quarter" idx="12"/>
          </p:nvPr>
        </p:nvSpPr>
        <p:spPr/>
        <p:txBody>
          <a:bodyPr/>
          <a:lstStyle/>
          <a:p>
            <a:fld id="{543C1896-EE42-7144-8ACD-C410FBC8FC66}" type="slidenum">
              <a:rPr lang="en-TZ" smtClean="0"/>
              <a:t>‹#›</a:t>
            </a:fld>
            <a:endParaRPr lang="en-TZ"/>
          </a:p>
        </p:txBody>
      </p:sp>
    </p:spTree>
    <p:extLst>
      <p:ext uri="{BB962C8B-B14F-4D97-AF65-F5344CB8AC3E}">
        <p14:creationId xmlns:p14="http://schemas.microsoft.com/office/powerpoint/2010/main" val="3199572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D874D-5CF6-0177-43B6-AA9618957711}"/>
              </a:ext>
            </a:extLst>
          </p:cNvPr>
          <p:cNvSpPr>
            <a:spLocks noGrp="1"/>
          </p:cNvSpPr>
          <p:nvPr>
            <p:ph type="title"/>
          </p:nvPr>
        </p:nvSpPr>
        <p:spPr/>
        <p:txBody>
          <a:bodyPr/>
          <a:lstStyle/>
          <a:p>
            <a:r>
              <a:rPr lang="en-GB"/>
              <a:t>Click to edit Master title style</a:t>
            </a:r>
            <a:endParaRPr lang="en-TZ"/>
          </a:p>
        </p:txBody>
      </p:sp>
      <p:sp>
        <p:nvSpPr>
          <p:cNvPr id="3" name="Date Placeholder 2">
            <a:extLst>
              <a:ext uri="{FF2B5EF4-FFF2-40B4-BE49-F238E27FC236}">
                <a16:creationId xmlns:a16="http://schemas.microsoft.com/office/drawing/2014/main" id="{365FAA41-0743-A79F-FE27-0030A9A8EE16}"/>
              </a:ext>
            </a:extLst>
          </p:cNvPr>
          <p:cNvSpPr>
            <a:spLocks noGrp="1"/>
          </p:cNvSpPr>
          <p:nvPr>
            <p:ph type="dt" sz="half" idx="10"/>
          </p:nvPr>
        </p:nvSpPr>
        <p:spPr/>
        <p:txBody>
          <a:bodyPr/>
          <a:lstStyle/>
          <a:p>
            <a:fld id="{95F8F312-CEAF-A549-AB5E-2C43D955C401}" type="datetimeFigureOut">
              <a:rPr lang="en-TZ" smtClean="0"/>
              <a:t>23/07/2026</a:t>
            </a:fld>
            <a:endParaRPr lang="en-TZ"/>
          </a:p>
        </p:txBody>
      </p:sp>
      <p:sp>
        <p:nvSpPr>
          <p:cNvPr id="4" name="Footer Placeholder 3">
            <a:extLst>
              <a:ext uri="{FF2B5EF4-FFF2-40B4-BE49-F238E27FC236}">
                <a16:creationId xmlns:a16="http://schemas.microsoft.com/office/drawing/2014/main" id="{C74AD13F-3A47-5BE0-3598-4FB5F976F34F}"/>
              </a:ext>
            </a:extLst>
          </p:cNvPr>
          <p:cNvSpPr>
            <a:spLocks noGrp="1"/>
          </p:cNvSpPr>
          <p:nvPr>
            <p:ph type="ftr" sz="quarter" idx="11"/>
          </p:nvPr>
        </p:nvSpPr>
        <p:spPr/>
        <p:txBody>
          <a:bodyPr/>
          <a:lstStyle/>
          <a:p>
            <a:endParaRPr lang="en-TZ"/>
          </a:p>
        </p:txBody>
      </p:sp>
      <p:sp>
        <p:nvSpPr>
          <p:cNvPr id="5" name="Slide Number Placeholder 4">
            <a:extLst>
              <a:ext uri="{FF2B5EF4-FFF2-40B4-BE49-F238E27FC236}">
                <a16:creationId xmlns:a16="http://schemas.microsoft.com/office/drawing/2014/main" id="{15525F3E-1A72-2D26-316F-85AFCFD9478C}"/>
              </a:ext>
            </a:extLst>
          </p:cNvPr>
          <p:cNvSpPr>
            <a:spLocks noGrp="1"/>
          </p:cNvSpPr>
          <p:nvPr>
            <p:ph type="sldNum" sz="quarter" idx="12"/>
          </p:nvPr>
        </p:nvSpPr>
        <p:spPr/>
        <p:txBody>
          <a:bodyPr/>
          <a:lstStyle/>
          <a:p>
            <a:fld id="{543C1896-EE42-7144-8ACD-C410FBC8FC66}" type="slidenum">
              <a:rPr lang="en-TZ" smtClean="0"/>
              <a:t>‹#›</a:t>
            </a:fld>
            <a:endParaRPr lang="en-TZ"/>
          </a:p>
        </p:txBody>
      </p:sp>
    </p:spTree>
    <p:extLst>
      <p:ext uri="{BB962C8B-B14F-4D97-AF65-F5344CB8AC3E}">
        <p14:creationId xmlns:p14="http://schemas.microsoft.com/office/powerpoint/2010/main" val="971938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412FD6-7778-29E0-344B-0AAD69BA5BEF}"/>
              </a:ext>
            </a:extLst>
          </p:cNvPr>
          <p:cNvSpPr>
            <a:spLocks noGrp="1"/>
          </p:cNvSpPr>
          <p:nvPr>
            <p:ph type="dt" sz="half" idx="10"/>
          </p:nvPr>
        </p:nvSpPr>
        <p:spPr/>
        <p:txBody>
          <a:bodyPr/>
          <a:lstStyle/>
          <a:p>
            <a:fld id="{95F8F312-CEAF-A549-AB5E-2C43D955C401}" type="datetimeFigureOut">
              <a:rPr lang="en-TZ" smtClean="0"/>
              <a:t>23/07/2026</a:t>
            </a:fld>
            <a:endParaRPr lang="en-TZ"/>
          </a:p>
        </p:txBody>
      </p:sp>
      <p:sp>
        <p:nvSpPr>
          <p:cNvPr id="3" name="Footer Placeholder 2">
            <a:extLst>
              <a:ext uri="{FF2B5EF4-FFF2-40B4-BE49-F238E27FC236}">
                <a16:creationId xmlns:a16="http://schemas.microsoft.com/office/drawing/2014/main" id="{D892385A-9D28-CF55-EA06-13DE09F55D97}"/>
              </a:ext>
            </a:extLst>
          </p:cNvPr>
          <p:cNvSpPr>
            <a:spLocks noGrp="1"/>
          </p:cNvSpPr>
          <p:nvPr>
            <p:ph type="ftr" sz="quarter" idx="11"/>
          </p:nvPr>
        </p:nvSpPr>
        <p:spPr/>
        <p:txBody>
          <a:bodyPr/>
          <a:lstStyle/>
          <a:p>
            <a:endParaRPr lang="en-TZ"/>
          </a:p>
        </p:txBody>
      </p:sp>
      <p:sp>
        <p:nvSpPr>
          <p:cNvPr id="4" name="Slide Number Placeholder 3">
            <a:extLst>
              <a:ext uri="{FF2B5EF4-FFF2-40B4-BE49-F238E27FC236}">
                <a16:creationId xmlns:a16="http://schemas.microsoft.com/office/drawing/2014/main" id="{F23E6D5F-F394-7ECF-1758-D90BFB1C35A3}"/>
              </a:ext>
            </a:extLst>
          </p:cNvPr>
          <p:cNvSpPr>
            <a:spLocks noGrp="1"/>
          </p:cNvSpPr>
          <p:nvPr>
            <p:ph type="sldNum" sz="quarter" idx="12"/>
          </p:nvPr>
        </p:nvSpPr>
        <p:spPr/>
        <p:txBody>
          <a:bodyPr/>
          <a:lstStyle/>
          <a:p>
            <a:fld id="{543C1896-EE42-7144-8ACD-C410FBC8FC66}" type="slidenum">
              <a:rPr lang="en-TZ" smtClean="0"/>
              <a:t>‹#›</a:t>
            </a:fld>
            <a:endParaRPr lang="en-TZ"/>
          </a:p>
        </p:txBody>
      </p:sp>
    </p:spTree>
    <p:extLst>
      <p:ext uri="{BB962C8B-B14F-4D97-AF65-F5344CB8AC3E}">
        <p14:creationId xmlns:p14="http://schemas.microsoft.com/office/powerpoint/2010/main" val="210183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C2E70-E2DD-3A75-5E0A-3209703A535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TZ"/>
          </a:p>
        </p:txBody>
      </p:sp>
      <p:sp>
        <p:nvSpPr>
          <p:cNvPr id="3" name="Content Placeholder 2">
            <a:extLst>
              <a:ext uri="{FF2B5EF4-FFF2-40B4-BE49-F238E27FC236}">
                <a16:creationId xmlns:a16="http://schemas.microsoft.com/office/drawing/2014/main" id="{5E84C95A-F40D-B972-04D2-6D460D660A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TZ"/>
          </a:p>
        </p:txBody>
      </p:sp>
      <p:sp>
        <p:nvSpPr>
          <p:cNvPr id="4" name="Text Placeholder 3">
            <a:extLst>
              <a:ext uri="{FF2B5EF4-FFF2-40B4-BE49-F238E27FC236}">
                <a16:creationId xmlns:a16="http://schemas.microsoft.com/office/drawing/2014/main" id="{7634BBFE-076A-AB7E-DC67-274EED7561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231C2BE-340C-BAA5-F841-235DF4EB7A28}"/>
              </a:ext>
            </a:extLst>
          </p:cNvPr>
          <p:cNvSpPr>
            <a:spLocks noGrp="1"/>
          </p:cNvSpPr>
          <p:nvPr>
            <p:ph type="dt" sz="half" idx="10"/>
          </p:nvPr>
        </p:nvSpPr>
        <p:spPr/>
        <p:txBody>
          <a:bodyPr/>
          <a:lstStyle/>
          <a:p>
            <a:fld id="{95F8F312-CEAF-A549-AB5E-2C43D955C401}" type="datetimeFigureOut">
              <a:rPr lang="en-TZ" smtClean="0"/>
              <a:t>23/07/2026</a:t>
            </a:fld>
            <a:endParaRPr lang="en-TZ"/>
          </a:p>
        </p:txBody>
      </p:sp>
      <p:sp>
        <p:nvSpPr>
          <p:cNvPr id="6" name="Footer Placeholder 5">
            <a:extLst>
              <a:ext uri="{FF2B5EF4-FFF2-40B4-BE49-F238E27FC236}">
                <a16:creationId xmlns:a16="http://schemas.microsoft.com/office/drawing/2014/main" id="{BA9D3271-FFD0-824F-D03E-2048E435A3EC}"/>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794225A3-B50B-E41D-FF58-0028D2D22619}"/>
              </a:ext>
            </a:extLst>
          </p:cNvPr>
          <p:cNvSpPr>
            <a:spLocks noGrp="1"/>
          </p:cNvSpPr>
          <p:nvPr>
            <p:ph type="sldNum" sz="quarter" idx="12"/>
          </p:nvPr>
        </p:nvSpPr>
        <p:spPr/>
        <p:txBody>
          <a:bodyPr/>
          <a:lstStyle/>
          <a:p>
            <a:fld id="{543C1896-EE42-7144-8ACD-C410FBC8FC66}" type="slidenum">
              <a:rPr lang="en-TZ" smtClean="0"/>
              <a:t>‹#›</a:t>
            </a:fld>
            <a:endParaRPr lang="en-TZ"/>
          </a:p>
        </p:txBody>
      </p:sp>
    </p:spTree>
    <p:extLst>
      <p:ext uri="{BB962C8B-B14F-4D97-AF65-F5344CB8AC3E}">
        <p14:creationId xmlns:p14="http://schemas.microsoft.com/office/powerpoint/2010/main" val="1629408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FAA1C-D31D-D5BF-4248-A3436943321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TZ"/>
          </a:p>
        </p:txBody>
      </p:sp>
      <p:sp>
        <p:nvSpPr>
          <p:cNvPr id="3" name="Picture Placeholder 2">
            <a:extLst>
              <a:ext uri="{FF2B5EF4-FFF2-40B4-BE49-F238E27FC236}">
                <a16:creationId xmlns:a16="http://schemas.microsoft.com/office/drawing/2014/main" id="{F6CB9E63-C67A-D71E-2515-61C99FC832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Z"/>
          </a:p>
        </p:txBody>
      </p:sp>
      <p:sp>
        <p:nvSpPr>
          <p:cNvPr id="4" name="Text Placeholder 3">
            <a:extLst>
              <a:ext uri="{FF2B5EF4-FFF2-40B4-BE49-F238E27FC236}">
                <a16:creationId xmlns:a16="http://schemas.microsoft.com/office/drawing/2014/main" id="{CB781120-DF62-E661-FF9A-3B271A8F3E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1730864-7BD5-CC76-075C-1A68465D9E41}"/>
              </a:ext>
            </a:extLst>
          </p:cNvPr>
          <p:cNvSpPr>
            <a:spLocks noGrp="1"/>
          </p:cNvSpPr>
          <p:nvPr>
            <p:ph type="dt" sz="half" idx="10"/>
          </p:nvPr>
        </p:nvSpPr>
        <p:spPr/>
        <p:txBody>
          <a:bodyPr/>
          <a:lstStyle/>
          <a:p>
            <a:fld id="{95F8F312-CEAF-A549-AB5E-2C43D955C401}" type="datetimeFigureOut">
              <a:rPr lang="en-TZ" smtClean="0"/>
              <a:t>23/07/2026</a:t>
            </a:fld>
            <a:endParaRPr lang="en-TZ"/>
          </a:p>
        </p:txBody>
      </p:sp>
      <p:sp>
        <p:nvSpPr>
          <p:cNvPr id="6" name="Footer Placeholder 5">
            <a:extLst>
              <a:ext uri="{FF2B5EF4-FFF2-40B4-BE49-F238E27FC236}">
                <a16:creationId xmlns:a16="http://schemas.microsoft.com/office/drawing/2014/main" id="{8F43F849-0A79-BD62-6AB6-EDC6E76CC3C9}"/>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7A17D15F-817C-8712-9898-C28185304686}"/>
              </a:ext>
            </a:extLst>
          </p:cNvPr>
          <p:cNvSpPr>
            <a:spLocks noGrp="1"/>
          </p:cNvSpPr>
          <p:nvPr>
            <p:ph type="sldNum" sz="quarter" idx="12"/>
          </p:nvPr>
        </p:nvSpPr>
        <p:spPr/>
        <p:txBody>
          <a:bodyPr/>
          <a:lstStyle/>
          <a:p>
            <a:fld id="{543C1896-EE42-7144-8ACD-C410FBC8FC66}" type="slidenum">
              <a:rPr lang="en-TZ" smtClean="0"/>
              <a:t>‹#›</a:t>
            </a:fld>
            <a:endParaRPr lang="en-TZ"/>
          </a:p>
        </p:txBody>
      </p:sp>
    </p:spTree>
    <p:extLst>
      <p:ext uri="{BB962C8B-B14F-4D97-AF65-F5344CB8AC3E}">
        <p14:creationId xmlns:p14="http://schemas.microsoft.com/office/powerpoint/2010/main" val="585839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8277D-01F1-FCA1-C1C2-23FD3A699580}"/>
              </a:ext>
            </a:extLst>
          </p:cNvPr>
          <p:cNvSpPr>
            <a:spLocks noGrp="1"/>
          </p:cNvSpPr>
          <p:nvPr>
            <p:ph type="title"/>
          </p:nvPr>
        </p:nvSpPr>
        <p:spPr/>
        <p:txBody>
          <a:bodyPr/>
          <a:lstStyle/>
          <a:p>
            <a:r>
              <a:rPr lang="en-GB"/>
              <a:t>Click to edit Master title style</a:t>
            </a:r>
            <a:endParaRPr lang="en-TZ"/>
          </a:p>
        </p:txBody>
      </p:sp>
      <p:sp>
        <p:nvSpPr>
          <p:cNvPr id="3" name="Vertical Text Placeholder 2">
            <a:extLst>
              <a:ext uri="{FF2B5EF4-FFF2-40B4-BE49-F238E27FC236}">
                <a16:creationId xmlns:a16="http://schemas.microsoft.com/office/drawing/2014/main" id="{470CD1E4-01BA-E4EE-59B0-D543B45CC54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TZ"/>
          </a:p>
        </p:txBody>
      </p:sp>
      <p:sp>
        <p:nvSpPr>
          <p:cNvPr id="4" name="Date Placeholder 3">
            <a:extLst>
              <a:ext uri="{FF2B5EF4-FFF2-40B4-BE49-F238E27FC236}">
                <a16:creationId xmlns:a16="http://schemas.microsoft.com/office/drawing/2014/main" id="{79F178EA-4B6A-000E-3687-AF48DBFD8BFF}"/>
              </a:ext>
            </a:extLst>
          </p:cNvPr>
          <p:cNvSpPr>
            <a:spLocks noGrp="1"/>
          </p:cNvSpPr>
          <p:nvPr>
            <p:ph type="dt" sz="half" idx="10"/>
          </p:nvPr>
        </p:nvSpPr>
        <p:spPr/>
        <p:txBody>
          <a:bodyPr/>
          <a:lstStyle/>
          <a:p>
            <a:fld id="{95F8F312-CEAF-A549-AB5E-2C43D955C401}" type="datetimeFigureOut">
              <a:rPr lang="en-TZ" smtClean="0"/>
              <a:t>23/07/2026</a:t>
            </a:fld>
            <a:endParaRPr lang="en-TZ"/>
          </a:p>
        </p:txBody>
      </p:sp>
      <p:sp>
        <p:nvSpPr>
          <p:cNvPr id="5" name="Footer Placeholder 4">
            <a:extLst>
              <a:ext uri="{FF2B5EF4-FFF2-40B4-BE49-F238E27FC236}">
                <a16:creationId xmlns:a16="http://schemas.microsoft.com/office/drawing/2014/main" id="{4AA3A157-5CC2-4E48-DA9A-CD8802023EBB}"/>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7B1CD5D8-3746-439A-2249-1CCCCE52D381}"/>
              </a:ext>
            </a:extLst>
          </p:cNvPr>
          <p:cNvSpPr>
            <a:spLocks noGrp="1"/>
          </p:cNvSpPr>
          <p:nvPr>
            <p:ph type="sldNum" sz="quarter" idx="12"/>
          </p:nvPr>
        </p:nvSpPr>
        <p:spPr/>
        <p:txBody>
          <a:bodyPr/>
          <a:lstStyle/>
          <a:p>
            <a:fld id="{543C1896-EE42-7144-8ACD-C410FBC8FC66}" type="slidenum">
              <a:rPr lang="en-TZ" smtClean="0"/>
              <a:t>‹#›</a:t>
            </a:fld>
            <a:endParaRPr lang="en-TZ"/>
          </a:p>
        </p:txBody>
      </p:sp>
    </p:spTree>
    <p:extLst>
      <p:ext uri="{BB962C8B-B14F-4D97-AF65-F5344CB8AC3E}">
        <p14:creationId xmlns:p14="http://schemas.microsoft.com/office/powerpoint/2010/main" val="1872710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FC1F1F-3F0B-F899-362B-F3953835565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TZ"/>
          </a:p>
        </p:txBody>
      </p:sp>
      <p:sp>
        <p:nvSpPr>
          <p:cNvPr id="3" name="Vertical Text Placeholder 2">
            <a:extLst>
              <a:ext uri="{FF2B5EF4-FFF2-40B4-BE49-F238E27FC236}">
                <a16:creationId xmlns:a16="http://schemas.microsoft.com/office/drawing/2014/main" id="{41C5CE0A-A998-67F6-6B24-E3A0B88CA86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TZ"/>
          </a:p>
        </p:txBody>
      </p:sp>
      <p:sp>
        <p:nvSpPr>
          <p:cNvPr id="4" name="Date Placeholder 3">
            <a:extLst>
              <a:ext uri="{FF2B5EF4-FFF2-40B4-BE49-F238E27FC236}">
                <a16:creationId xmlns:a16="http://schemas.microsoft.com/office/drawing/2014/main" id="{3D235050-7EB6-BDD5-327F-DD28916425E3}"/>
              </a:ext>
            </a:extLst>
          </p:cNvPr>
          <p:cNvSpPr>
            <a:spLocks noGrp="1"/>
          </p:cNvSpPr>
          <p:nvPr>
            <p:ph type="dt" sz="half" idx="10"/>
          </p:nvPr>
        </p:nvSpPr>
        <p:spPr/>
        <p:txBody>
          <a:bodyPr/>
          <a:lstStyle/>
          <a:p>
            <a:fld id="{95F8F312-CEAF-A549-AB5E-2C43D955C401}" type="datetimeFigureOut">
              <a:rPr lang="en-TZ" smtClean="0"/>
              <a:t>23/07/2026</a:t>
            </a:fld>
            <a:endParaRPr lang="en-TZ"/>
          </a:p>
        </p:txBody>
      </p:sp>
      <p:sp>
        <p:nvSpPr>
          <p:cNvPr id="5" name="Footer Placeholder 4">
            <a:extLst>
              <a:ext uri="{FF2B5EF4-FFF2-40B4-BE49-F238E27FC236}">
                <a16:creationId xmlns:a16="http://schemas.microsoft.com/office/drawing/2014/main" id="{69175F75-E057-2505-EA47-B1BC55674FD2}"/>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8F1570B9-4EE9-2E5F-86EF-D9B21B7A2E3B}"/>
              </a:ext>
            </a:extLst>
          </p:cNvPr>
          <p:cNvSpPr>
            <a:spLocks noGrp="1"/>
          </p:cNvSpPr>
          <p:nvPr>
            <p:ph type="sldNum" sz="quarter" idx="12"/>
          </p:nvPr>
        </p:nvSpPr>
        <p:spPr/>
        <p:txBody>
          <a:bodyPr/>
          <a:lstStyle/>
          <a:p>
            <a:fld id="{543C1896-EE42-7144-8ACD-C410FBC8FC66}" type="slidenum">
              <a:rPr lang="en-TZ" smtClean="0"/>
              <a:t>‹#›</a:t>
            </a:fld>
            <a:endParaRPr lang="en-TZ"/>
          </a:p>
        </p:txBody>
      </p:sp>
    </p:spTree>
    <p:extLst>
      <p:ext uri="{BB962C8B-B14F-4D97-AF65-F5344CB8AC3E}">
        <p14:creationId xmlns:p14="http://schemas.microsoft.com/office/powerpoint/2010/main" val="1243426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1CEDC6-5B3F-3AC5-A656-CC96F89504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TZ"/>
          </a:p>
        </p:txBody>
      </p:sp>
      <p:sp>
        <p:nvSpPr>
          <p:cNvPr id="3" name="Text Placeholder 2">
            <a:extLst>
              <a:ext uri="{FF2B5EF4-FFF2-40B4-BE49-F238E27FC236}">
                <a16:creationId xmlns:a16="http://schemas.microsoft.com/office/drawing/2014/main" id="{C3F91268-743F-0020-5F95-E61D8265ED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TZ"/>
          </a:p>
        </p:txBody>
      </p:sp>
      <p:sp>
        <p:nvSpPr>
          <p:cNvPr id="4" name="Date Placeholder 3">
            <a:extLst>
              <a:ext uri="{FF2B5EF4-FFF2-40B4-BE49-F238E27FC236}">
                <a16:creationId xmlns:a16="http://schemas.microsoft.com/office/drawing/2014/main" id="{8EF3E863-DFEA-0B9C-6F81-90D27B9CD5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F8F312-CEAF-A549-AB5E-2C43D955C401}" type="datetimeFigureOut">
              <a:rPr lang="en-TZ" smtClean="0"/>
              <a:t>23/07/2026</a:t>
            </a:fld>
            <a:endParaRPr lang="en-TZ"/>
          </a:p>
        </p:txBody>
      </p:sp>
      <p:sp>
        <p:nvSpPr>
          <p:cNvPr id="5" name="Footer Placeholder 4">
            <a:extLst>
              <a:ext uri="{FF2B5EF4-FFF2-40B4-BE49-F238E27FC236}">
                <a16:creationId xmlns:a16="http://schemas.microsoft.com/office/drawing/2014/main" id="{784D6A44-6CB5-D565-E396-230CD0717F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TZ"/>
          </a:p>
        </p:txBody>
      </p:sp>
      <p:sp>
        <p:nvSpPr>
          <p:cNvPr id="6" name="Slide Number Placeholder 5">
            <a:extLst>
              <a:ext uri="{FF2B5EF4-FFF2-40B4-BE49-F238E27FC236}">
                <a16:creationId xmlns:a16="http://schemas.microsoft.com/office/drawing/2014/main" id="{69938140-EF92-49E9-2DD2-7FC250A5A8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3C1896-EE42-7144-8ACD-C410FBC8FC66}" type="slidenum">
              <a:rPr lang="en-TZ" smtClean="0"/>
              <a:t>‹#›</a:t>
            </a:fld>
            <a:endParaRPr lang="en-TZ"/>
          </a:p>
        </p:txBody>
      </p:sp>
    </p:spTree>
    <p:extLst>
      <p:ext uri="{BB962C8B-B14F-4D97-AF65-F5344CB8AC3E}">
        <p14:creationId xmlns:p14="http://schemas.microsoft.com/office/powerpoint/2010/main" val="37572489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E4EFA6-B24B-1C17-4B73-203528E08262}"/>
              </a:ext>
            </a:extLst>
          </p:cNvPr>
          <p:cNvSpPr>
            <a:spLocks noGrp="1"/>
          </p:cNvSpPr>
          <p:nvPr>
            <p:ph type="ctrTitle"/>
          </p:nvPr>
        </p:nvSpPr>
        <p:spPr/>
        <p:txBody>
          <a:bodyPr/>
          <a:lstStyle/>
          <a:p>
            <a:r>
              <a:rPr lang="en-TZ" b="1" dirty="0"/>
              <a:t>JOURNAL CLUB PRESENTATION</a:t>
            </a:r>
          </a:p>
        </p:txBody>
      </p:sp>
      <p:sp>
        <p:nvSpPr>
          <p:cNvPr id="5" name="Subtitle 4">
            <a:extLst>
              <a:ext uri="{FF2B5EF4-FFF2-40B4-BE49-F238E27FC236}">
                <a16:creationId xmlns:a16="http://schemas.microsoft.com/office/drawing/2014/main" id="{ACFD51E7-0638-6AE0-AA35-3DC4DBDD2993}"/>
              </a:ext>
            </a:extLst>
          </p:cNvPr>
          <p:cNvSpPr>
            <a:spLocks noGrp="1"/>
          </p:cNvSpPr>
          <p:nvPr>
            <p:ph type="subTitle" idx="1"/>
          </p:nvPr>
        </p:nvSpPr>
        <p:spPr>
          <a:xfrm>
            <a:off x="1524000" y="4642338"/>
            <a:ext cx="9144000" cy="1787770"/>
          </a:xfrm>
        </p:spPr>
        <p:txBody>
          <a:bodyPr>
            <a:normAutofit fontScale="92500"/>
          </a:bodyPr>
          <a:lstStyle/>
          <a:p>
            <a:pPr algn="l"/>
            <a:r>
              <a:rPr lang="en-TZ" b="1" dirty="0"/>
              <a:t>PRESENTORS:</a:t>
            </a:r>
          </a:p>
          <a:p>
            <a:pPr marL="457200" indent="-457200" algn="l">
              <a:buAutoNum type="arabicPeriod"/>
            </a:pPr>
            <a:r>
              <a:rPr lang="en-TZ" dirty="0"/>
              <a:t>DR. SILAS GAMBA</a:t>
            </a:r>
          </a:p>
          <a:p>
            <a:pPr marL="457200" indent="-457200" algn="l">
              <a:buAutoNum type="arabicPeriod"/>
            </a:pPr>
            <a:r>
              <a:rPr lang="en-TZ" dirty="0"/>
              <a:t>DR. JAMES MASANJA</a:t>
            </a:r>
          </a:p>
          <a:p>
            <a:pPr marL="457200" indent="-457200" algn="l">
              <a:buAutoNum type="arabicPeriod"/>
            </a:pPr>
            <a:r>
              <a:rPr lang="en-TZ" dirty="0"/>
              <a:t>DR. JAMES JINGU					</a:t>
            </a:r>
            <a:r>
              <a:rPr lang="en-TZ" b="1" dirty="0"/>
              <a:t>DATE: 24</a:t>
            </a:r>
            <a:r>
              <a:rPr lang="en-TZ" b="1" baseline="30000" dirty="0"/>
              <a:t>th</a:t>
            </a:r>
            <a:r>
              <a:rPr lang="en-TZ" b="1" dirty="0"/>
              <a:t> JULY 2026</a:t>
            </a:r>
          </a:p>
        </p:txBody>
      </p:sp>
    </p:spTree>
    <p:extLst>
      <p:ext uri="{BB962C8B-B14F-4D97-AF65-F5344CB8AC3E}">
        <p14:creationId xmlns:p14="http://schemas.microsoft.com/office/powerpoint/2010/main" val="1743530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610DF87-F07D-194D-AD12-447DB232F745}"/>
              </a:ext>
            </a:extLst>
          </p:cNvPr>
          <p:cNvSpPr>
            <a:spLocks noGrp="1"/>
          </p:cNvSpPr>
          <p:nvPr>
            <p:ph type="subTitle" idx="1"/>
          </p:nvPr>
        </p:nvSpPr>
        <p:spPr>
          <a:xfrm>
            <a:off x="1524000" y="5455639"/>
            <a:ext cx="9144000" cy="1076664"/>
          </a:xfrm>
        </p:spPr>
        <p:txBody>
          <a:bodyPr>
            <a:normAutofit fontScale="85000" lnSpcReduction="20000"/>
          </a:bodyPr>
          <a:lstStyle/>
          <a:p>
            <a:r>
              <a:rPr lang="en-GB" dirty="0">
                <a:effectLst/>
                <a:latin typeface="Helvetica" pitchFamily="2" charset="0"/>
              </a:rPr>
              <a:t>Phase 3 RCT, active control done  from June 2023 to March 2025 </a:t>
            </a:r>
            <a:endParaRPr lang="en-GB" dirty="0"/>
          </a:p>
          <a:p>
            <a:r>
              <a:rPr lang="en-GB" dirty="0"/>
              <a:t>JAMA </a:t>
            </a:r>
            <a:r>
              <a:rPr lang="en-GB" dirty="0" err="1"/>
              <a:t>Cardiol</a:t>
            </a:r>
            <a:r>
              <a:rPr lang="en-GB" dirty="0"/>
              <a:t>. doi:10.1001/jamacardio.2026.1730</a:t>
            </a:r>
          </a:p>
          <a:p>
            <a:r>
              <a:rPr lang="en-GB" dirty="0"/>
              <a:t>Published online June 17, 2026.</a:t>
            </a:r>
          </a:p>
        </p:txBody>
      </p:sp>
      <p:pic>
        <p:nvPicPr>
          <p:cNvPr id="6" name="Picture 5">
            <a:extLst>
              <a:ext uri="{FF2B5EF4-FFF2-40B4-BE49-F238E27FC236}">
                <a16:creationId xmlns:a16="http://schemas.microsoft.com/office/drawing/2014/main" id="{6E964228-DBAD-71BB-A13D-9A4633B9D764}"/>
              </a:ext>
            </a:extLst>
          </p:cNvPr>
          <p:cNvPicPr>
            <a:picLocks noChangeAspect="1"/>
          </p:cNvPicPr>
          <p:nvPr/>
        </p:nvPicPr>
        <p:blipFill>
          <a:blip r:embed="rId3"/>
          <a:stretch>
            <a:fillRect/>
          </a:stretch>
        </p:blipFill>
        <p:spPr>
          <a:xfrm>
            <a:off x="702558" y="809437"/>
            <a:ext cx="10786884" cy="4646202"/>
          </a:xfrm>
          <a:prstGeom prst="rect">
            <a:avLst/>
          </a:prstGeom>
          <a:ln w="635">
            <a:noFill/>
          </a:ln>
        </p:spPr>
      </p:pic>
    </p:spTree>
    <p:extLst>
      <p:ext uri="{BB962C8B-B14F-4D97-AF65-F5344CB8AC3E}">
        <p14:creationId xmlns:p14="http://schemas.microsoft.com/office/powerpoint/2010/main" val="436296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EE081-0258-0F5F-34CB-8E5CF1D16CF4}"/>
              </a:ext>
            </a:extLst>
          </p:cNvPr>
          <p:cNvSpPr>
            <a:spLocks noGrp="1"/>
          </p:cNvSpPr>
          <p:nvPr>
            <p:ph type="title"/>
          </p:nvPr>
        </p:nvSpPr>
        <p:spPr/>
        <p:txBody>
          <a:bodyPr/>
          <a:lstStyle/>
          <a:p>
            <a:pPr algn="ctr"/>
            <a:r>
              <a:rPr lang="en-TZ" b="1" dirty="0"/>
              <a:t>INTRODUCTION</a:t>
            </a:r>
          </a:p>
        </p:txBody>
      </p:sp>
      <p:sp>
        <p:nvSpPr>
          <p:cNvPr id="3" name="Content Placeholder 2">
            <a:extLst>
              <a:ext uri="{FF2B5EF4-FFF2-40B4-BE49-F238E27FC236}">
                <a16:creationId xmlns:a16="http://schemas.microsoft.com/office/drawing/2014/main" id="{9CE14E69-9A87-208E-A84B-2196DE8AE84D}"/>
              </a:ext>
            </a:extLst>
          </p:cNvPr>
          <p:cNvSpPr>
            <a:spLocks noGrp="1"/>
          </p:cNvSpPr>
          <p:nvPr>
            <p:ph idx="1"/>
          </p:nvPr>
        </p:nvSpPr>
        <p:spPr>
          <a:xfrm>
            <a:off x="838200" y="1531086"/>
            <a:ext cx="8066314" cy="4351338"/>
          </a:xfrm>
        </p:spPr>
        <p:txBody>
          <a:bodyPr>
            <a:noAutofit/>
          </a:bodyPr>
          <a:lstStyle/>
          <a:p>
            <a:pPr>
              <a:lnSpc>
                <a:spcPct val="150000"/>
              </a:lnSpc>
            </a:pPr>
            <a:r>
              <a:rPr lang="en-GB" dirty="0"/>
              <a:t>HCM is a autosomal - dominant genetic disorder </a:t>
            </a:r>
          </a:p>
          <a:p>
            <a:pPr>
              <a:lnSpc>
                <a:spcPct val="150000"/>
              </a:lnSpc>
            </a:pPr>
            <a:r>
              <a:rPr lang="en-GB" dirty="0"/>
              <a:t>Is characterized by LVH (often asymmetric) unexplained by other condition (e.g., HTN, aortic stenosis, amyloidosis)  with a non-dilated LV </a:t>
            </a:r>
          </a:p>
          <a:p>
            <a:pPr>
              <a:lnSpc>
                <a:spcPct val="150000"/>
              </a:lnSpc>
            </a:pPr>
            <a:r>
              <a:rPr lang="en-GB" dirty="0"/>
              <a:t>Is often silent until presents with exertional symptoms, AF, HF, or sudden death</a:t>
            </a:r>
          </a:p>
        </p:txBody>
      </p:sp>
      <p:sp>
        <p:nvSpPr>
          <p:cNvPr id="4" name="TextBox 3">
            <a:extLst>
              <a:ext uri="{FF2B5EF4-FFF2-40B4-BE49-F238E27FC236}">
                <a16:creationId xmlns:a16="http://schemas.microsoft.com/office/drawing/2014/main" id="{E2166CAE-E130-9E59-D8E8-1D4AA31D012F}"/>
              </a:ext>
            </a:extLst>
          </p:cNvPr>
          <p:cNvSpPr txBox="1"/>
          <p:nvPr/>
        </p:nvSpPr>
        <p:spPr>
          <a:xfrm>
            <a:off x="838200" y="6092729"/>
            <a:ext cx="10515600" cy="646331"/>
          </a:xfrm>
          <a:prstGeom prst="rect">
            <a:avLst/>
          </a:prstGeom>
          <a:noFill/>
          <a:ln>
            <a:solidFill>
              <a:schemeClr val="accent1"/>
            </a:solidFill>
          </a:ln>
        </p:spPr>
        <p:txBody>
          <a:bodyPr wrap="square" rtlCol="0">
            <a:spAutoFit/>
          </a:bodyPr>
          <a:lstStyle/>
          <a:p>
            <a:pPr algn="just"/>
            <a:r>
              <a:rPr lang="en-GB" dirty="0" err="1"/>
              <a:t>Ommen</a:t>
            </a:r>
            <a:r>
              <a:rPr lang="en-GB" dirty="0"/>
              <a:t> SR, Ho CY, et al. 2024 AHA/ACC/AMSSM/HRS/PACES/SCMR Guideline for the Management of Hypertrophic Cardiomyopathy. </a:t>
            </a:r>
            <a:r>
              <a:rPr lang="en-GB" i="1" dirty="0"/>
              <a:t>Circulation.</a:t>
            </a:r>
            <a:r>
              <a:rPr lang="en-GB" dirty="0"/>
              <a:t> 2024;149:e1239–e1311. doi:10.1161/CIR.0000000000001250.</a:t>
            </a:r>
          </a:p>
        </p:txBody>
      </p:sp>
      <p:pic>
        <p:nvPicPr>
          <p:cNvPr id="1026" name="Picture 2" descr="Fig. 1: Left ventricular outflow tract obstruction.">
            <a:extLst>
              <a:ext uri="{FF2B5EF4-FFF2-40B4-BE49-F238E27FC236}">
                <a16:creationId xmlns:a16="http://schemas.microsoft.com/office/drawing/2014/main" id="{61DEFC92-81BD-131E-BB2E-D6E6E7CEC4A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 t="5708" r="49474"/>
          <a:stretch/>
        </p:blipFill>
        <p:spPr bwMode="auto">
          <a:xfrm>
            <a:off x="8338458" y="1772887"/>
            <a:ext cx="3015342" cy="3867735"/>
          </a:xfrm>
          <a:prstGeom prst="rect">
            <a:avLst/>
          </a:prstGeom>
          <a:noFill/>
          <a:ln w="6350">
            <a:solidFill>
              <a:srgbClr val="00206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669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5E0F6-E426-CA45-BD4B-ACDE47981D91}"/>
              </a:ext>
            </a:extLst>
          </p:cNvPr>
          <p:cNvSpPr>
            <a:spLocks noGrp="1"/>
          </p:cNvSpPr>
          <p:nvPr>
            <p:ph type="title"/>
          </p:nvPr>
        </p:nvSpPr>
        <p:spPr/>
        <p:txBody>
          <a:bodyPr/>
          <a:lstStyle/>
          <a:p>
            <a:pPr algn="ctr"/>
            <a:r>
              <a:rPr lang="en-TZ" b="1" dirty="0"/>
              <a:t>EPIDEMIOLOGY</a:t>
            </a:r>
          </a:p>
        </p:txBody>
      </p:sp>
      <p:sp>
        <p:nvSpPr>
          <p:cNvPr id="3" name="Content Placeholder 2">
            <a:extLst>
              <a:ext uri="{FF2B5EF4-FFF2-40B4-BE49-F238E27FC236}">
                <a16:creationId xmlns:a16="http://schemas.microsoft.com/office/drawing/2014/main" id="{93425452-08E3-5B28-8ACD-8855C80988D3}"/>
              </a:ext>
            </a:extLst>
          </p:cNvPr>
          <p:cNvSpPr>
            <a:spLocks noGrp="1"/>
          </p:cNvSpPr>
          <p:nvPr>
            <p:ph idx="1"/>
          </p:nvPr>
        </p:nvSpPr>
        <p:spPr>
          <a:xfrm>
            <a:off x="838201" y="1520825"/>
            <a:ext cx="10515599" cy="4351338"/>
          </a:xfrm>
        </p:spPr>
        <p:txBody>
          <a:bodyPr>
            <a:normAutofit/>
          </a:bodyPr>
          <a:lstStyle/>
          <a:p>
            <a:pPr>
              <a:lnSpc>
                <a:spcPct val="150000"/>
              </a:lnSpc>
            </a:pPr>
            <a:r>
              <a:rPr lang="en-GB" dirty="0"/>
              <a:t>Worldwide prevalence of around 1:500, but only minority of cases (10%) are identified clinically; (prevalent up to 70% of SCD cases)</a:t>
            </a:r>
          </a:p>
          <a:p>
            <a:pPr>
              <a:lnSpc>
                <a:spcPct val="150000"/>
              </a:lnSpc>
            </a:pPr>
            <a:r>
              <a:rPr lang="en-GB" dirty="0"/>
              <a:t>In 2024 IMHOTEP registry from South Africa and Mozambique, HCM represented 70 of 665 cardiomyopathy cases (10.5%)</a:t>
            </a:r>
          </a:p>
          <a:p>
            <a:pPr>
              <a:lnSpc>
                <a:spcPct val="150000"/>
              </a:lnSpc>
            </a:pPr>
            <a:r>
              <a:rPr lang="en-GB" dirty="0"/>
              <a:t>In Tanzania, Maro et al 2006  reported  0.19% prevalence among 6680 patients referred for ECHO at MNH</a:t>
            </a:r>
            <a:endParaRPr lang="en-TZ" dirty="0"/>
          </a:p>
        </p:txBody>
      </p:sp>
      <p:sp>
        <p:nvSpPr>
          <p:cNvPr id="6" name="TextBox 5">
            <a:extLst>
              <a:ext uri="{FF2B5EF4-FFF2-40B4-BE49-F238E27FC236}">
                <a16:creationId xmlns:a16="http://schemas.microsoft.com/office/drawing/2014/main" id="{B59A90E6-3DBA-F3D7-A26C-486F57EA1811}"/>
              </a:ext>
            </a:extLst>
          </p:cNvPr>
          <p:cNvSpPr txBox="1"/>
          <p:nvPr/>
        </p:nvSpPr>
        <p:spPr>
          <a:xfrm>
            <a:off x="838200" y="6092729"/>
            <a:ext cx="10515600" cy="646331"/>
          </a:xfrm>
          <a:prstGeom prst="rect">
            <a:avLst/>
          </a:prstGeom>
          <a:noFill/>
          <a:ln>
            <a:solidFill>
              <a:schemeClr val="accent1"/>
            </a:solidFill>
          </a:ln>
        </p:spPr>
        <p:txBody>
          <a:bodyPr wrap="square" rtlCol="0">
            <a:spAutoFit/>
          </a:bodyPr>
          <a:lstStyle/>
          <a:p>
            <a:pPr algn="just"/>
            <a:r>
              <a:rPr lang="en-GB" dirty="0"/>
              <a:t>Maro EE, </a:t>
            </a:r>
            <a:r>
              <a:rPr lang="en-GB" dirty="0" err="1"/>
              <a:t>Janabi</a:t>
            </a:r>
            <a:r>
              <a:rPr lang="en-GB" dirty="0"/>
              <a:t> M, Kaushik R. Clinical and echocardiographic study of hypertrophic cardiomyopathy in Tanzania. </a:t>
            </a:r>
            <a:r>
              <a:rPr lang="en-GB" i="1" dirty="0"/>
              <a:t>Trop </a:t>
            </a:r>
            <a:r>
              <a:rPr lang="en-GB" i="1" dirty="0" err="1"/>
              <a:t>Doct</a:t>
            </a:r>
            <a:r>
              <a:rPr lang="en-GB" i="1" dirty="0"/>
              <a:t>.</a:t>
            </a:r>
            <a:r>
              <a:rPr lang="en-GB" dirty="0"/>
              <a:t> 2006;36:225–227. doi:10.1258/004947506778604904. </a:t>
            </a:r>
          </a:p>
        </p:txBody>
      </p:sp>
    </p:spTree>
    <p:extLst>
      <p:ext uri="{BB962C8B-B14F-4D97-AF65-F5344CB8AC3E}">
        <p14:creationId xmlns:p14="http://schemas.microsoft.com/office/powerpoint/2010/main" val="2002995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12931-6BD6-8D6C-4FD7-E42FE56A4E94}"/>
              </a:ext>
            </a:extLst>
          </p:cNvPr>
          <p:cNvSpPr>
            <a:spLocks noGrp="1"/>
          </p:cNvSpPr>
          <p:nvPr>
            <p:ph type="title"/>
          </p:nvPr>
        </p:nvSpPr>
        <p:spPr/>
        <p:txBody>
          <a:bodyPr/>
          <a:lstStyle/>
          <a:p>
            <a:pPr algn="ctr"/>
            <a:r>
              <a:rPr lang="en-TZ" b="1" dirty="0"/>
              <a:t>PATHOGENESIS</a:t>
            </a:r>
          </a:p>
        </p:txBody>
      </p:sp>
      <p:pic>
        <p:nvPicPr>
          <p:cNvPr id="5" name="Content Placeholder 4">
            <a:extLst>
              <a:ext uri="{FF2B5EF4-FFF2-40B4-BE49-F238E27FC236}">
                <a16:creationId xmlns:a16="http://schemas.microsoft.com/office/drawing/2014/main" id="{3316093F-4C5C-FCD3-BD48-CC3E319CE3C8}"/>
              </a:ext>
            </a:extLst>
          </p:cNvPr>
          <p:cNvPicPr>
            <a:picLocks noGrp="1" noChangeAspect="1"/>
          </p:cNvPicPr>
          <p:nvPr>
            <p:ph idx="1"/>
          </p:nvPr>
        </p:nvPicPr>
        <p:blipFill>
          <a:blip r:embed="rId3"/>
          <a:stretch>
            <a:fillRect/>
          </a:stretch>
        </p:blipFill>
        <p:spPr>
          <a:xfrm>
            <a:off x="751252" y="1568634"/>
            <a:ext cx="5842977" cy="4405312"/>
          </a:xfrm>
          <a:prstGeom prst="rect">
            <a:avLst/>
          </a:prstGeom>
        </p:spPr>
      </p:pic>
      <p:pic>
        <p:nvPicPr>
          <p:cNvPr id="6" name="Picture 5">
            <a:extLst>
              <a:ext uri="{FF2B5EF4-FFF2-40B4-BE49-F238E27FC236}">
                <a16:creationId xmlns:a16="http://schemas.microsoft.com/office/drawing/2014/main" id="{CF1955A0-BE02-0AAF-2FFE-F11A3D8C292D}"/>
              </a:ext>
            </a:extLst>
          </p:cNvPr>
          <p:cNvPicPr>
            <a:picLocks noChangeAspect="1"/>
          </p:cNvPicPr>
          <p:nvPr/>
        </p:nvPicPr>
        <p:blipFill rotWithShape="1">
          <a:blip r:embed="rId4"/>
          <a:srcRect l="2693" r="12967"/>
          <a:stretch/>
        </p:blipFill>
        <p:spPr>
          <a:xfrm>
            <a:off x="6594229" y="1690688"/>
            <a:ext cx="4759571" cy="4161203"/>
          </a:xfrm>
          <a:prstGeom prst="rect">
            <a:avLst/>
          </a:prstGeom>
          <a:ln>
            <a:solidFill>
              <a:schemeClr val="accent1"/>
            </a:solidFill>
          </a:ln>
        </p:spPr>
      </p:pic>
      <p:sp>
        <p:nvSpPr>
          <p:cNvPr id="8" name="TextBox 7">
            <a:extLst>
              <a:ext uri="{FF2B5EF4-FFF2-40B4-BE49-F238E27FC236}">
                <a16:creationId xmlns:a16="http://schemas.microsoft.com/office/drawing/2014/main" id="{14BFFD22-DEDC-8B65-9C55-590460FF4870}"/>
              </a:ext>
            </a:extLst>
          </p:cNvPr>
          <p:cNvSpPr txBox="1"/>
          <p:nvPr/>
        </p:nvSpPr>
        <p:spPr>
          <a:xfrm>
            <a:off x="838200" y="6092729"/>
            <a:ext cx="10515600" cy="646331"/>
          </a:xfrm>
          <a:prstGeom prst="rect">
            <a:avLst/>
          </a:prstGeom>
          <a:noFill/>
          <a:ln>
            <a:solidFill>
              <a:schemeClr val="accent1"/>
            </a:solidFill>
          </a:ln>
        </p:spPr>
        <p:txBody>
          <a:bodyPr wrap="square" rtlCol="0">
            <a:spAutoFit/>
          </a:bodyPr>
          <a:lstStyle/>
          <a:p>
            <a:pPr algn="just"/>
            <a:r>
              <a:rPr lang="en-GB" dirty="0"/>
              <a:t>Maron BJ, Desai MY, Nishimura RA, et al. Diagnosis and Evaluation of Hypertrophic Cardiomyopathy: JACC State-of-the-Art Review. </a:t>
            </a:r>
            <a:r>
              <a:rPr lang="en-GB" i="1" dirty="0"/>
              <a:t>J Am Coll </a:t>
            </a:r>
            <a:r>
              <a:rPr lang="en-GB" i="1" dirty="0" err="1"/>
              <a:t>Cardiol</a:t>
            </a:r>
            <a:r>
              <a:rPr lang="en-GB" i="1" dirty="0"/>
              <a:t>.</a:t>
            </a:r>
            <a:r>
              <a:rPr lang="en-GB" dirty="0"/>
              <a:t> 2022;79(4):372–389. doi:10.1016/j.jacc.2021.12.002</a:t>
            </a:r>
          </a:p>
        </p:txBody>
      </p:sp>
      <p:pic>
        <p:nvPicPr>
          <p:cNvPr id="4" name="Picture 3">
            <a:extLst>
              <a:ext uri="{FF2B5EF4-FFF2-40B4-BE49-F238E27FC236}">
                <a16:creationId xmlns:a16="http://schemas.microsoft.com/office/drawing/2014/main" id="{DF166479-EA88-4DE6-5149-67C9F6E6EE7C}"/>
              </a:ext>
            </a:extLst>
          </p:cNvPr>
          <p:cNvPicPr>
            <a:picLocks noChangeAspect="1"/>
          </p:cNvPicPr>
          <p:nvPr/>
        </p:nvPicPr>
        <p:blipFill rotWithShape="1">
          <a:blip r:embed="rId5"/>
          <a:srcRect l="9539" t="7843" r="9437"/>
          <a:stretch/>
        </p:blipFill>
        <p:spPr>
          <a:xfrm>
            <a:off x="3172230" y="2600191"/>
            <a:ext cx="927402" cy="755068"/>
          </a:xfrm>
          <a:prstGeom prst="rect">
            <a:avLst/>
          </a:prstGeom>
        </p:spPr>
      </p:pic>
    </p:spTree>
    <p:extLst>
      <p:ext uri="{BB962C8B-B14F-4D97-AF65-F5344CB8AC3E}">
        <p14:creationId xmlns:p14="http://schemas.microsoft.com/office/powerpoint/2010/main" val="3185299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CF96C-DA4E-986E-45F2-B51A19CE39AD}"/>
              </a:ext>
            </a:extLst>
          </p:cNvPr>
          <p:cNvSpPr>
            <a:spLocks noGrp="1"/>
          </p:cNvSpPr>
          <p:nvPr>
            <p:ph type="title"/>
          </p:nvPr>
        </p:nvSpPr>
        <p:spPr/>
        <p:txBody>
          <a:bodyPr/>
          <a:lstStyle/>
          <a:p>
            <a:pPr algn="ctr"/>
            <a:r>
              <a:rPr lang="en-TZ" b="1" dirty="0"/>
              <a:t>EVALUATION</a:t>
            </a:r>
          </a:p>
        </p:txBody>
      </p:sp>
      <p:sp>
        <p:nvSpPr>
          <p:cNvPr id="3" name="Content Placeholder 2">
            <a:extLst>
              <a:ext uri="{FF2B5EF4-FFF2-40B4-BE49-F238E27FC236}">
                <a16:creationId xmlns:a16="http://schemas.microsoft.com/office/drawing/2014/main" id="{735974B0-61AA-7D59-77C4-F847ADE35EC9}"/>
              </a:ext>
            </a:extLst>
          </p:cNvPr>
          <p:cNvSpPr>
            <a:spLocks noGrp="1"/>
          </p:cNvSpPr>
          <p:nvPr>
            <p:ph idx="1"/>
          </p:nvPr>
        </p:nvSpPr>
        <p:spPr>
          <a:xfrm>
            <a:off x="838200" y="1402821"/>
            <a:ext cx="10515600" cy="4486275"/>
          </a:xfrm>
        </p:spPr>
        <p:txBody>
          <a:bodyPr>
            <a:noAutofit/>
          </a:bodyPr>
          <a:lstStyle/>
          <a:p>
            <a:pPr>
              <a:lnSpc>
                <a:spcPts val="4360"/>
              </a:lnSpc>
            </a:pPr>
            <a:r>
              <a:rPr lang="en-GB" dirty="0"/>
              <a:t>Presence of crescendo-decrescendo systolic murmur from LVOTO</a:t>
            </a:r>
          </a:p>
          <a:p>
            <a:pPr>
              <a:lnSpc>
                <a:spcPts val="4360"/>
              </a:lnSpc>
            </a:pPr>
            <a:r>
              <a:rPr lang="en-GB" dirty="0"/>
              <a:t>On CMR/ECHO: maximal end diastolic LV  thickness≥15 mm anywhere in LV or (13–14 mm if 1st degree relatives has HCM)</a:t>
            </a:r>
          </a:p>
          <a:p>
            <a:pPr>
              <a:lnSpc>
                <a:spcPts val="4360"/>
              </a:lnSpc>
            </a:pPr>
            <a:r>
              <a:rPr lang="en-GB" dirty="0"/>
              <a:t>Exercise limitation occur if resting/provoked LVOT gradient &gt;50 mmHg</a:t>
            </a:r>
          </a:p>
          <a:p>
            <a:pPr>
              <a:lnSpc>
                <a:spcPts val="4360"/>
              </a:lnSpc>
            </a:pPr>
            <a:r>
              <a:rPr lang="en-GB" b="1" dirty="0"/>
              <a:t>Cardiopulmonary exercise testing </a:t>
            </a:r>
            <a:r>
              <a:rPr lang="en-GB" dirty="0"/>
              <a:t>identifies what exactly during fails</a:t>
            </a:r>
            <a:r>
              <a:rPr lang="en-TZ" dirty="0"/>
              <a:t> (i.e </a:t>
            </a:r>
            <a:r>
              <a:rPr lang="en-GB" dirty="0"/>
              <a:t>ventilation, O</a:t>
            </a:r>
            <a:r>
              <a:rPr lang="en-GB" baseline="-25000" dirty="0"/>
              <a:t>2</a:t>
            </a:r>
            <a:r>
              <a:rPr lang="en-GB" dirty="0"/>
              <a:t> uptake, CO</a:t>
            </a:r>
            <a:r>
              <a:rPr lang="en-GB" baseline="-25000" dirty="0"/>
              <a:t>2</a:t>
            </a:r>
            <a:r>
              <a:rPr lang="en-GB" dirty="0"/>
              <a:t>, HR, BP )— from start, maximal effort to recovery, with low capacity strongly prognostic of adverse events</a:t>
            </a:r>
          </a:p>
        </p:txBody>
      </p:sp>
      <p:sp>
        <p:nvSpPr>
          <p:cNvPr id="4" name="TextBox 3">
            <a:extLst>
              <a:ext uri="{FF2B5EF4-FFF2-40B4-BE49-F238E27FC236}">
                <a16:creationId xmlns:a16="http://schemas.microsoft.com/office/drawing/2014/main" id="{96376FC2-4E0C-0C40-6552-24369B7F87C0}"/>
              </a:ext>
            </a:extLst>
          </p:cNvPr>
          <p:cNvSpPr txBox="1"/>
          <p:nvPr/>
        </p:nvSpPr>
        <p:spPr>
          <a:xfrm>
            <a:off x="838200" y="6092729"/>
            <a:ext cx="10515600" cy="646331"/>
          </a:xfrm>
          <a:prstGeom prst="rect">
            <a:avLst/>
          </a:prstGeom>
          <a:noFill/>
          <a:ln>
            <a:solidFill>
              <a:schemeClr val="accent1"/>
            </a:solidFill>
          </a:ln>
        </p:spPr>
        <p:txBody>
          <a:bodyPr wrap="square" rtlCol="0">
            <a:spAutoFit/>
          </a:bodyPr>
          <a:lstStyle/>
          <a:p>
            <a:pPr algn="just"/>
            <a:r>
              <a:rPr lang="en-GB" dirty="0"/>
              <a:t>Maron BJ, Desai MY, RA, et al. Diagnosis and Evaluation of Hypertrophic Cardiomyopathy: JACC State-of-the-Art Review. </a:t>
            </a:r>
            <a:r>
              <a:rPr lang="en-GB" i="1" dirty="0"/>
              <a:t>J Am Coll </a:t>
            </a:r>
            <a:r>
              <a:rPr lang="en-GB" i="1" dirty="0" err="1"/>
              <a:t>Cardiol</a:t>
            </a:r>
            <a:r>
              <a:rPr lang="en-GB" i="1" dirty="0"/>
              <a:t>.</a:t>
            </a:r>
            <a:r>
              <a:rPr lang="en-GB" dirty="0"/>
              <a:t> 2022;79(4):372–389. doi:10.1016/j.jacc.2021.12.002</a:t>
            </a:r>
          </a:p>
        </p:txBody>
      </p:sp>
    </p:spTree>
    <p:extLst>
      <p:ext uri="{BB962C8B-B14F-4D97-AF65-F5344CB8AC3E}">
        <p14:creationId xmlns:p14="http://schemas.microsoft.com/office/powerpoint/2010/main" val="3287980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99AE1-BA54-F0C4-0C1E-A7B74CAC7264}"/>
              </a:ext>
            </a:extLst>
          </p:cNvPr>
          <p:cNvSpPr>
            <a:spLocks noGrp="1"/>
          </p:cNvSpPr>
          <p:nvPr>
            <p:ph type="title"/>
          </p:nvPr>
        </p:nvSpPr>
        <p:spPr/>
        <p:txBody>
          <a:bodyPr/>
          <a:lstStyle/>
          <a:p>
            <a:pPr algn="ctr"/>
            <a:r>
              <a:rPr lang="en-TZ" b="1" dirty="0"/>
              <a:t>MANAGEMENT</a:t>
            </a:r>
          </a:p>
        </p:txBody>
      </p:sp>
      <p:sp>
        <p:nvSpPr>
          <p:cNvPr id="3" name="Content Placeholder 2">
            <a:extLst>
              <a:ext uri="{FF2B5EF4-FFF2-40B4-BE49-F238E27FC236}">
                <a16:creationId xmlns:a16="http://schemas.microsoft.com/office/drawing/2014/main" id="{CC1AB9F7-52C7-A86E-4D8E-04125698A190}"/>
              </a:ext>
            </a:extLst>
          </p:cNvPr>
          <p:cNvSpPr>
            <a:spLocks noGrp="1"/>
          </p:cNvSpPr>
          <p:nvPr>
            <p:ph idx="1"/>
          </p:nvPr>
        </p:nvSpPr>
        <p:spPr>
          <a:xfrm>
            <a:off x="838200" y="1503892"/>
            <a:ext cx="6641124" cy="4351338"/>
          </a:xfrm>
        </p:spPr>
        <p:txBody>
          <a:bodyPr>
            <a:noAutofit/>
          </a:bodyPr>
          <a:lstStyle/>
          <a:p>
            <a:pPr>
              <a:lnSpc>
                <a:spcPct val="150000"/>
              </a:lnSpc>
            </a:pPr>
            <a:r>
              <a:rPr lang="en-GB" dirty="0"/>
              <a:t>Evolved from symptom control to durable relief of LVOTO, SCD prevention</a:t>
            </a:r>
          </a:p>
          <a:p>
            <a:pPr>
              <a:lnSpc>
                <a:spcPct val="150000"/>
              </a:lnSpc>
            </a:pPr>
            <a:r>
              <a:rPr lang="en-GB" dirty="0"/>
              <a:t>1980s: negative inotropes (bb → CCBs)</a:t>
            </a:r>
          </a:p>
          <a:p>
            <a:pPr>
              <a:lnSpc>
                <a:spcPct val="150000"/>
              </a:lnSpc>
            </a:pPr>
            <a:r>
              <a:rPr lang="en-GB" dirty="0"/>
              <a:t>2010s: Septal Reduction Therapy + ICD + AF anticoagulation reduce “fatal pathways” (obstruction HF, SCD, embolism)</a:t>
            </a:r>
          </a:p>
        </p:txBody>
      </p:sp>
      <p:pic>
        <p:nvPicPr>
          <p:cNvPr id="7" name="Picture 6">
            <a:extLst>
              <a:ext uri="{FF2B5EF4-FFF2-40B4-BE49-F238E27FC236}">
                <a16:creationId xmlns:a16="http://schemas.microsoft.com/office/drawing/2014/main" id="{00196BFC-C75B-8335-EAB9-371AFDC571EA}"/>
              </a:ext>
            </a:extLst>
          </p:cNvPr>
          <p:cNvPicPr>
            <a:picLocks noChangeAspect="1"/>
          </p:cNvPicPr>
          <p:nvPr/>
        </p:nvPicPr>
        <p:blipFill rotWithShape="1">
          <a:blip r:embed="rId3"/>
          <a:srcRect r="3145"/>
          <a:stretch/>
        </p:blipFill>
        <p:spPr>
          <a:xfrm>
            <a:off x="7479324" y="1690688"/>
            <a:ext cx="3874477" cy="4132167"/>
          </a:xfrm>
          <a:prstGeom prst="rect">
            <a:avLst/>
          </a:prstGeom>
        </p:spPr>
      </p:pic>
      <p:sp>
        <p:nvSpPr>
          <p:cNvPr id="8" name="TextBox 7">
            <a:extLst>
              <a:ext uri="{FF2B5EF4-FFF2-40B4-BE49-F238E27FC236}">
                <a16:creationId xmlns:a16="http://schemas.microsoft.com/office/drawing/2014/main" id="{CDF5A3D1-914C-921B-2CCE-C65DD484553C}"/>
              </a:ext>
            </a:extLst>
          </p:cNvPr>
          <p:cNvSpPr txBox="1"/>
          <p:nvPr/>
        </p:nvSpPr>
        <p:spPr>
          <a:xfrm>
            <a:off x="838200" y="6126189"/>
            <a:ext cx="10515600" cy="646331"/>
          </a:xfrm>
          <a:prstGeom prst="rect">
            <a:avLst/>
          </a:prstGeom>
          <a:noFill/>
          <a:ln>
            <a:solidFill>
              <a:schemeClr val="accent1"/>
            </a:solidFill>
          </a:ln>
        </p:spPr>
        <p:txBody>
          <a:bodyPr wrap="square" rtlCol="0">
            <a:spAutoFit/>
          </a:bodyPr>
          <a:lstStyle/>
          <a:p>
            <a:pPr algn="just"/>
            <a:r>
              <a:rPr lang="en-GB" dirty="0" err="1"/>
              <a:t>Ommen</a:t>
            </a:r>
            <a:r>
              <a:rPr lang="en-GB" dirty="0"/>
              <a:t> SR, Ho CY, et al. 2024 AHA/ACC/AMSSM/HRS/PACES/SCMR Guideline for the Management of Hypertrophic Cardiomyopathy. </a:t>
            </a:r>
            <a:r>
              <a:rPr lang="en-GB" i="1" dirty="0"/>
              <a:t>Circulation.</a:t>
            </a:r>
            <a:r>
              <a:rPr lang="en-GB" dirty="0"/>
              <a:t> 2024;149:e1239–e1311. doi:10.1161/CIR.0000000000001250.</a:t>
            </a:r>
          </a:p>
        </p:txBody>
      </p:sp>
    </p:spTree>
    <p:extLst>
      <p:ext uri="{BB962C8B-B14F-4D97-AF65-F5344CB8AC3E}">
        <p14:creationId xmlns:p14="http://schemas.microsoft.com/office/powerpoint/2010/main" val="3121852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EE081-0258-0F5F-34CB-8E5CF1D16CF4}"/>
              </a:ext>
            </a:extLst>
          </p:cNvPr>
          <p:cNvSpPr>
            <a:spLocks noGrp="1"/>
          </p:cNvSpPr>
          <p:nvPr>
            <p:ph type="title"/>
          </p:nvPr>
        </p:nvSpPr>
        <p:spPr/>
        <p:txBody>
          <a:bodyPr/>
          <a:lstStyle/>
          <a:p>
            <a:pPr algn="ctr"/>
            <a:r>
              <a:rPr lang="en-TZ" b="1" dirty="0"/>
              <a:t>AFICAMTEN</a:t>
            </a:r>
          </a:p>
        </p:txBody>
      </p:sp>
      <p:pic>
        <p:nvPicPr>
          <p:cNvPr id="5" name="Content Placeholder 4">
            <a:extLst>
              <a:ext uri="{FF2B5EF4-FFF2-40B4-BE49-F238E27FC236}">
                <a16:creationId xmlns:a16="http://schemas.microsoft.com/office/drawing/2014/main" id="{0823B72C-6DF6-A425-C0F2-477885FC188D}"/>
              </a:ext>
            </a:extLst>
          </p:cNvPr>
          <p:cNvPicPr>
            <a:picLocks noGrp="1" noChangeAspect="1"/>
          </p:cNvPicPr>
          <p:nvPr>
            <p:ph idx="1"/>
          </p:nvPr>
        </p:nvPicPr>
        <p:blipFill>
          <a:blip r:embed="rId3"/>
          <a:stretch>
            <a:fillRect/>
          </a:stretch>
        </p:blipFill>
        <p:spPr>
          <a:xfrm>
            <a:off x="838200" y="1690689"/>
            <a:ext cx="10515600" cy="3051432"/>
          </a:xfrm>
          <a:prstGeom prst="rect">
            <a:avLst/>
          </a:prstGeom>
        </p:spPr>
      </p:pic>
      <p:sp>
        <p:nvSpPr>
          <p:cNvPr id="8" name="TextBox 7">
            <a:extLst>
              <a:ext uri="{FF2B5EF4-FFF2-40B4-BE49-F238E27FC236}">
                <a16:creationId xmlns:a16="http://schemas.microsoft.com/office/drawing/2014/main" id="{EEC1F9FB-01CF-14F1-7F26-76042EBF028E}"/>
              </a:ext>
            </a:extLst>
          </p:cNvPr>
          <p:cNvSpPr txBox="1"/>
          <p:nvPr/>
        </p:nvSpPr>
        <p:spPr>
          <a:xfrm>
            <a:off x="838200" y="5041344"/>
            <a:ext cx="10515600" cy="950132"/>
          </a:xfrm>
          <a:prstGeom prst="rect">
            <a:avLst/>
          </a:prstGeom>
          <a:noFill/>
        </p:spPr>
        <p:txBody>
          <a:bodyPr wrap="square" rtlCol="0">
            <a:spAutoFit/>
          </a:bodyPr>
          <a:lstStyle/>
          <a:p>
            <a:pPr algn="ctr">
              <a:lnSpc>
                <a:spcPts val="3420"/>
              </a:lnSpc>
            </a:pPr>
            <a:r>
              <a:rPr lang="en-TZ" sz="2800" b="1" dirty="0">
                <a:latin typeface="Calibri" panose="020F0502020204030204" pitchFamily="34" charset="0"/>
                <a:cs typeface="Calibri" panose="020F0502020204030204" pitchFamily="34" charset="0"/>
              </a:rPr>
              <a:t>PD: </a:t>
            </a:r>
            <a:r>
              <a:rPr lang="en-TZ" sz="2800" dirty="0">
                <a:latin typeface="Calibri" panose="020F0502020204030204" pitchFamily="34" charset="0"/>
                <a:cs typeface="Calibri" panose="020F0502020204030204" pitchFamily="34" charset="0"/>
              </a:rPr>
              <a:t>No effect on HR.  </a:t>
            </a:r>
            <a:r>
              <a:rPr lang="en-TZ" sz="2800" b="1" dirty="0">
                <a:latin typeface="Calibri" panose="020F0502020204030204" pitchFamily="34" charset="0"/>
                <a:cs typeface="Calibri" panose="020F0502020204030204" pitchFamily="34" charset="0"/>
              </a:rPr>
              <a:t>SE:</a:t>
            </a:r>
            <a:r>
              <a:rPr lang="en-TZ" sz="2800" dirty="0">
                <a:latin typeface="Calibri" panose="020F0502020204030204" pitchFamily="34" charset="0"/>
                <a:cs typeface="Calibri" panose="020F0502020204030204" pitchFamily="34" charset="0"/>
              </a:rPr>
              <a:t> high dose - </a:t>
            </a:r>
            <a:r>
              <a:rPr lang="en-GB" sz="2800" dirty="0">
                <a:latin typeface="Calibri" panose="020F0502020204030204" pitchFamily="34" charset="0"/>
                <a:cs typeface="Calibri" panose="020F0502020204030204" pitchFamily="34" charset="0"/>
              </a:rPr>
              <a:t>reduce LVEF, Dizziness and Fatigue</a:t>
            </a:r>
            <a:endParaRPr lang="en-TZ" sz="2800" dirty="0">
              <a:latin typeface="Calibri" panose="020F0502020204030204" pitchFamily="34" charset="0"/>
              <a:cs typeface="Calibri" panose="020F0502020204030204" pitchFamily="34" charset="0"/>
            </a:endParaRPr>
          </a:p>
          <a:p>
            <a:pPr algn="ctr">
              <a:lnSpc>
                <a:spcPts val="3420"/>
              </a:lnSpc>
            </a:pPr>
            <a:r>
              <a:rPr lang="en-GB" sz="2800" b="1" i="0" dirty="0">
                <a:effectLst/>
                <a:latin typeface="Calibri" panose="020F0502020204030204" pitchFamily="34" charset="0"/>
                <a:cs typeface="Calibri" panose="020F0502020204030204" pitchFamily="34" charset="0"/>
              </a:rPr>
              <a:t>PK: </a:t>
            </a:r>
            <a:r>
              <a:rPr lang="en-GB" sz="2800" b="0" i="0" dirty="0">
                <a:effectLst/>
                <a:latin typeface="Calibri" panose="020F0502020204030204" pitchFamily="34" charset="0"/>
                <a:cs typeface="Calibri" panose="020F0502020204030204" pitchFamily="34" charset="0"/>
              </a:rPr>
              <a:t>Shorter </a:t>
            </a:r>
            <a:r>
              <a:rPr lang="en-GB" sz="2800" i="0" dirty="0">
                <a:effectLst/>
                <a:latin typeface="Calibri" panose="020F0502020204030204" pitchFamily="34" charset="0"/>
                <a:cs typeface="Calibri" panose="020F0502020204030204" pitchFamily="34" charset="0"/>
              </a:rPr>
              <a:t>predictable t½ 75–85; </a:t>
            </a:r>
            <a:r>
              <a:rPr lang="en-GB" sz="2800" dirty="0">
                <a:latin typeface="Calibri" panose="020F0502020204030204" pitchFamily="34" charset="0"/>
                <a:cs typeface="Calibri" panose="020F0502020204030204" pitchFamily="34" charset="0"/>
              </a:rPr>
              <a:t> H</a:t>
            </a:r>
            <a:r>
              <a:rPr lang="en-GB" sz="2800" b="0" i="0" dirty="0">
                <a:effectLst/>
                <a:latin typeface="Calibri" panose="020F0502020204030204" pitchFamily="34" charset="0"/>
                <a:cs typeface="Calibri" panose="020F0502020204030204" pitchFamily="34" charset="0"/>
              </a:rPr>
              <a:t>epatic metabolism, biliary excreted</a:t>
            </a:r>
          </a:p>
        </p:txBody>
      </p:sp>
      <p:sp>
        <p:nvSpPr>
          <p:cNvPr id="3" name="TextBox 2">
            <a:extLst>
              <a:ext uri="{FF2B5EF4-FFF2-40B4-BE49-F238E27FC236}">
                <a16:creationId xmlns:a16="http://schemas.microsoft.com/office/drawing/2014/main" id="{0BD3C65E-44AA-30C8-2A20-43702A054C44}"/>
              </a:ext>
            </a:extLst>
          </p:cNvPr>
          <p:cNvSpPr txBox="1"/>
          <p:nvPr/>
        </p:nvSpPr>
        <p:spPr>
          <a:xfrm>
            <a:off x="838200" y="6092729"/>
            <a:ext cx="10515600" cy="646331"/>
          </a:xfrm>
          <a:prstGeom prst="rect">
            <a:avLst/>
          </a:prstGeom>
          <a:noFill/>
          <a:ln>
            <a:solidFill>
              <a:schemeClr val="accent1"/>
            </a:solidFill>
          </a:ln>
        </p:spPr>
        <p:txBody>
          <a:bodyPr wrap="square" rtlCol="0">
            <a:spAutoFit/>
          </a:bodyPr>
          <a:lstStyle/>
          <a:p>
            <a:pPr algn="just"/>
            <a:r>
              <a:rPr lang="en-GB" dirty="0"/>
              <a:t>Maron BJ, Desai MY, Nishimura RA, et al. Diagnosis and Evaluation of Hypertrophic Cardiomyopathy: JACC State-of-the-Art Review. </a:t>
            </a:r>
            <a:r>
              <a:rPr lang="en-GB" i="1" dirty="0"/>
              <a:t>J Am Coll </a:t>
            </a:r>
            <a:r>
              <a:rPr lang="en-GB" i="1" dirty="0" err="1"/>
              <a:t>Cardiol</a:t>
            </a:r>
            <a:r>
              <a:rPr lang="en-GB" i="1" dirty="0"/>
              <a:t>.</a:t>
            </a:r>
            <a:r>
              <a:rPr lang="en-GB" dirty="0"/>
              <a:t> 2022;79(4):372–389. doi:10.1016/j.jacc.2021.12.002</a:t>
            </a:r>
          </a:p>
        </p:txBody>
      </p:sp>
    </p:spTree>
    <p:extLst>
      <p:ext uri="{BB962C8B-B14F-4D97-AF65-F5344CB8AC3E}">
        <p14:creationId xmlns:p14="http://schemas.microsoft.com/office/powerpoint/2010/main" val="1742607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27420-E104-75AB-5775-43B9F6B8A3C8}"/>
              </a:ext>
            </a:extLst>
          </p:cNvPr>
          <p:cNvSpPr>
            <a:spLocks noGrp="1"/>
          </p:cNvSpPr>
          <p:nvPr>
            <p:ph type="title"/>
          </p:nvPr>
        </p:nvSpPr>
        <p:spPr/>
        <p:txBody>
          <a:bodyPr/>
          <a:lstStyle/>
          <a:p>
            <a:pPr algn="ctr"/>
            <a:r>
              <a:rPr lang="en-TZ" b="1" dirty="0"/>
              <a:t>LITERATURE REVIEW</a:t>
            </a:r>
          </a:p>
        </p:txBody>
      </p:sp>
      <p:graphicFrame>
        <p:nvGraphicFramePr>
          <p:cNvPr id="7" name="Content Placeholder 6">
            <a:extLst>
              <a:ext uri="{FF2B5EF4-FFF2-40B4-BE49-F238E27FC236}">
                <a16:creationId xmlns:a16="http://schemas.microsoft.com/office/drawing/2014/main" id="{A482F5C0-9D4D-E800-F279-BC7F236632EC}"/>
              </a:ext>
            </a:extLst>
          </p:cNvPr>
          <p:cNvGraphicFramePr>
            <a:graphicFrameLocks noGrp="1"/>
          </p:cNvGraphicFramePr>
          <p:nvPr>
            <p:ph idx="1"/>
            <p:extLst>
              <p:ext uri="{D42A27DB-BD31-4B8C-83A1-F6EECF244321}">
                <p14:modId xmlns:p14="http://schemas.microsoft.com/office/powerpoint/2010/main" val="3560707992"/>
              </p:ext>
            </p:extLst>
          </p:nvPr>
        </p:nvGraphicFramePr>
        <p:xfrm>
          <a:off x="445476" y="1706752"/>
          <a:ext cx="11301048" cy="4816095"/>
        </p:xfrm>
        <a:graphic>
          <a:graphicData uri="http://schemas.openxmlformats.org/drawingml/2006/table">
            <a:tbl>
              <a:tblPr firstRow="1" firstCol="1" bandRow="1">
                <a:tableStyleId>{7E9639D4-E3E2-4D34-9284-5A2195B3D0D7}</a:tableStyleId>
              </a:tblPr>
              <a:tblGrid>
                <a:gridCol w="2552905">
                  <a:extLst>
                    <a:ext uri="{9D8B030D-6E8A-4147-A177-3AD203B41FA5}">
                      <a16:colId xmlns:a16="http://schemas.microsoft.com/office/drawing/2014/main" val="1530149588"/>
                    </a:ext>
                  </a:extLst>
                </a:gridCol>
                <a:gridCol w="3444949">
                  <a:extLst>
                    <a:ext uri="{9D8B030D-6E8A-4147-A177-3AD203B41FA5}">
                      <a16:colId xmlns:a16="http://schemas.microsoft.com/office/drawing/2014/main" val="1040444801"/>
                    </a:ext>
                  </a:extLst>
                </a:gridCol>
                <a:gridCol w="2477932">
                  <a:extLst>
                    <a:ext uri="{9D8B030D-6E8A-4147-A177-3AD203B41FA5}">
                      <a16:colId xmlns:a16="http://schemas.microsoft.com/office/drawing/2014/main" val="3851014808"/>
                    </a:ext>
                  </a:extLst>
                </a:gridCol>
                <a:gridCol w="2825262">
                  <a:extLst>
                    <a:ext uri="{9D8B030D-6E8A-4147-A177-3AD203B41FA5}">
                      <a16:colId xmlns:a16="http://schemas.microsoft.com/office/drawing/2014/main" val="2858821807"/>
                    </a:ext>
                  </a:extLst>
                </a:gridCol>
              </a:tblGrid>
              <a:tr h="438405">
                <a:tc>
                  <a:txBody>
                    <a:bodyPr/>
                    <a:lstStyle/>
                    <a:p>
                      <a:pPr algn="ctr"/>
                      <a:r>
                        <a:rPr lang="en-TZ" sz="2600" kern="100" dirty="0">
                          <a:effectLst/>
                        </a:rPr>
                        <a:t>TRIAL; YEAR</a:t>
                      </a:r>
                      <a:endParaRPr lang="en-TZ" sz="2600" kern="100" dirty="0">
                        <a:effectLst/>
                        <a:latin typeface="+mn-lt"/>
                        <a:ea typeface="Times New Roman" panose="02020603050405020304" pitchFamily="18" charset="0"/>
                        <a:cs typeface="Calibri" panose="020F0502020204030204" pitchFamily="34" charset="0"/>
                      </a:endParaRPr>
                    </a:p>
                  </a:txBody>
                  <a:tcPr marL="9525" marR="9525" marT="9525" marB="9525" anchor="ctr">
                    <a:lnB w="12700" cap="flat" cmpd="sng" algn="ctr">
                      <a:solidFill>
                        <a:schemeClr val="tx1"/>
                      </a:solidFill>
                      <a:prstDash val="solid"/>
                      <a:round/>
                      <a:headEnd type="none" w="med" len="med"/>
                      <a:tailEnd type="none" w="med" len="med"/>
                    </a:lnB>
                  </a:tcPr>
                </a:tc>
                <a:tc>
                  <a:txBody>
                    <a:bodyPr/>
                    <a:lstStyle/>
                    <a:p>
                      <a:pPr algn="ctr"/>
                      <a:r>
                        <a:rPr lang="en-TZ" sz="2600" kern="100" dirty="0">
                          <a:effectLst/>
                        </a:rPr>
                        <a:t>DESIGN</a:t>
                      </a:r>
                      <a:endParaRPr lang="en-TZ" sz="2600" kern="100" dirty="0">
                        <a:effectLst/>
                        <a:latin typeface="+mn-lt"/>
                        <a:ea typeface="Times New Roman" panose="02020603050405020304" pitchFamily="18" charset="0"/>
                        <a:cs typeface="Calibri" panose="020F0502020204030204" pitchFamily="34" charset="0"/>
                      </a:endParaRPr>
                    </a:p>
                  </a:txBody>
                  <a:tcPr marL="9525" marR="9525" marT="9525" marB="9525" anchor="ctr">
                    <a:lnB w="12700" cap="flat" cmpd="sng" algn="ctr">
                      <a:solidFill>
                        <a:schemeClr val="tx1"/>
                      </a:solidFill>
                      <a:prstDash val="solid"/>
                      <a:round/>
                      <a:headEnd type="none" w="med" len="med"/>
                      <a:tailEnd type="none" w="med" len="med"/>
                    </a:lnB>
                  </a:tcPr>
                </a:tc>
                <a:tc>
                  <a:txBody>
                    <a:bodyPr/>
                    <a:lstStyle/>
                    <a:p>
                      <a:pPr algn="ctr"/>
                      <a:r>
                        <a:rPr lang="en-TZ" sz="2600" kern="100" dirty="0">
                          <a:effectLst/>
                        </a:rPr>
                        <a:t>KEY FINDINGS</a:t>
                      </a:r>
                      <a:endParaRPr lang="en-TZ" sz="2600" kern="100" dirty="0">
                        <a:effectLst/>
                        <a:latin typeface="+mn-lt"/>
                        <a:ea typeface="Times New Roman" panose="02020603050405020304" pitchFamily="18" charset="0"/>
                        <a:cs typeface="Calibri" panose="020F0502020204030204" pitchFamily="34" charset="0"/>
                      </a:endParaRPr>
                    </a:p>
                  </a:txBody>
                  <a:tcPr marL="9525" marR="9525" marT="9525" marB="9525" anchor="ctr">
                    <a:lnB w="12700" cap="flat" cmpd="sng" algn="ctr">
                      <a:solidFill>
                        <a:schemeClr val="tx1"/>
                      </a:solidFill>
                      <a:prstDash val="solid"/>
                      <a:round/>
                      <a:headEnd type="none" w="med" len="med"/>
                      <a:tailEnd type="none" w="med" len="med"/>
                    </a:lnB>
                  </a:tcPr>
                </a:tc>
                <a:tc>
                  <a:txBody>
                    <a:bodyPr/>
                    <a:lstStyle/>
                    <a:p>
                      <a:pPr algn="ctr"/>
                      <a:r>
                        <a:rPr lang="en-TZ" sz="2600" kern="100" dirty="0">
                          <a:effectLst/>
                        </a:rPr>
                        <a:t>GAPS</a:t>
                      </a:r>
                      <a:endParaRPr lang="en-TZ" sz="2600" kern="100" dirty="0">
                        <a:effectLst/>
                        <a:latin typeface="+mn-lt"/>
                        <a:ea typeface="Times New Roman" panose="02020603050405020304" pitchFamily="18" charset="0"/>
                        <a:cs typeface="Calibri" panose="020F0502020204030204" pitchFamily="34" charset="0"/>
                      </a:endParaRPr>
                    </a:p>
                  </a:txBody>
                  <a:tcPr marL="9525" marR="9525" marT="9525" marB="9525"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5739377"/>
                  </a:ext>
                </a:extLst>
              </a:tr>
              <a:tr h="2361159">
                <a:tc>
                  <a:txBody>
                    <a:bodyPr/>
                    <a:lstStyle/>
                    <a:p>
                      <a:pPr algn="ctr"/>
                      <a:r>
                        <a:rPr lang="en-TZ" sz="2600" kern="100" dirty="0">
                          <a:effectLst/>
                        </a:rPr>
                        <a:t>EXPLORER-HCM</a:t>
                      </a:r>
                    </a:p>
                    <a:p>
                      <a:pPr algn="ctr"/>
                      <a:r>
                        <a:rPr lang="en-TZ" sz="2600" kern="100" dirty="0">
                          <a:effectLst/>
                        </a:rPr>
                        <a:t>Olivotto et al 2020</a:t>
                      </a:r>
                    </a:p>
                    <a:p>
                      <a:pPr algn="ctr"/>
                      <a:endParaRPr lang="en-TZ" sz="2600" kern="100" dirty="0">
                        <a:effectLst/>
                      </a:endParaRPr>
                    </a:p>
                    <a:p>
                      <a:pPr algn="ctr"/>
                      <a:r>
                        <a:rPr lang="en-TZ" sz="2600" b="0" kern="100" dirty="0">
                          <a:effectLst/>
                        </a:rPr>
                        <a:t>68 centres; </a:t>
                      </a:r>
                    </a:p>
                    <a:p>
                      <a:pPr algn="ctr"/>
                      <a:r>
                        <a:rPr lang="en-TZ" sz="2600" b="0" kern="100" dirty="0">
                          <a:effectLst/>
                        </a:rPr>
                        <a:t>North America and Europe</a:t>
                      </a:r>
                    </a:p>
                    <a:p>
                      <a:pPr algn="ctr"/>
                      <a:endParaRPr lang="en-TZ" sz="2600" b="0" i="1" kern="100" dirty="0">
                        <a:effectLst/>
                        <a:latin typeface="Calibri" panose="020F0502020204030204" pitchFamily="34" charset="0"/>
                        <a:ea typeface="Times New Roman" panose="02020603050405020304" pitchFamily="18" charset="0"/>
                        <a:cs typeface="Calibri" panose="020F0502020204030204" pitchFamily="34"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TZ" sz="2600" kern="100" dirty="0">
                        <a:effectLst/>
                      </a:endParaRPr>
                    </a:p>
                    <a:p>
                      <a:pPr algn="ctr"/>
                      <a:r>
                        <a:rPr lang="en-TZ" sz="2600" kern="100" dirty="0">
                          <a:effectLst/>
                        </a:rPr>
                        <a:t>Phase 3 double-blind RCT;  n=251 </a:t>
                      </a:r>
                      <a:r>
                        <a:rPr lang="en-GB" sz="2600" dirty="0"/>
                        <a:t>symptomatic </a:t>
                      </a:r>
                      <a:r>
                        <a:rPr lang="en-GB" sz="2600" dirty="0" err="1"/>
                        <a:t>oHCM</a:t>
                      </a:r>
                      <a:r>
                        <a:rPr lang="en-TZ" sz="2600" kern="100" dirty="0">
                          <a:effectLst/>
                        </a:rPr>
                        <a:t>, 30 weeks</a:t>
                      </a:r>
                    </a:p>
                    <a:p>
                      <a:pPr algn="ctr"/>
                      <a:endParaRPr lang="en-TZ" sz="2600" kern="100" dirty="0">
                        <a:effectLs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TZ" sz="2600" kern="100" dirty="0">
                          <a:effectLst/>
                        </a:rPr>
                        <a:t>mavacamten vs placebo </a:t>
                      </a:r>
                      <a:r>
                        <a:rPr lang="en-GB" sz="2600" dirty="0"/>
                        <a:t>alongside SoC- </a:t>
                      </a:r>
                      <a:r>
                        <a:rPr lang="el-GR" sz="2600" dirty="0"/>
                        <a:t>β</a:t>
                      </a:r>
                      <a:r>
                        <a:rPr lang="en-US" sz="2600" dirty="0"/>
                        <a:t>B</a:t>
                      </a:r>
                      <a:r>
                        <a:rPr lang="en-GB" sz="2600" dirty="0"/>
                        <a:t> or CCB</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2600" b="1"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GB" sz="2600" b="1" dirty="0"/>
                        <a:t>PE:</a:t>
                      </a:r>
                      <a:r>
                        <a:rPr lang="en-GB" sz="2600" dirty="0"/>
                        <a:t> ≥1.5 mL/kg/min increase in </a:t>
                      </a:r>
                      <a:r>
                        <a:rPr lang="en-GB" sz="2600" dirty="0" err="1"/>
                        <a:t>pVO</a:t>
                      </a:r>
                      <a:r>
                        <a:rPr lang="en-GB" sz="2600" dirty="0"/>
                        <a:t>₂ with ≥1 NYHA-class improvement</a:t>
                      </a:r>
                      <a:r>
                        <a:rPr lang="en-TZ" sz="2600" kern="100" dirty="0">
                          <a:effectLst/>
                        </a:rPr>
                        <a:t> </a:t>
                      </a:r>
                      <a:endParaRPr lang="en-TZ" sz="2600" kern="100" dirty="0">
                        <a:effectLst/>
                        <a:latin typeface="Calibri" panose="020F0502020204030204" pitchFamily="34" charset="0"/>
                        <a:cs typeface="Calibri" panose="020F0502020204030204" pitchFamily="34" charset="0"/>
                      </a:endParaRPr>
                    </a:p>
                  </a:txBody>
                  <a:tcPr marL="9525" marR="9525" marT="9525" marB="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TZ" sz="2600" kern="100" dirty="0">
                          <a:effectLst/>
                        </a:rPr>
                        <a:t>Primary endpoint: 37% vs 17%; difference 19.4%, P=0.0005; </a:t>
                      </a:r>
                    </a:p>
                    <a:p>
                      <a:pPr algn="ctr"/>
                      <a:endParaRPr lang="en-TZ" sz="2600" kern="100" dirty="0">
                        <a:effectLst/>
                      </a:endParaRPr>
                    </a:p>
                    <a:p>
                      <a:pPr algn="ctr"/>
                      <a:r>
                        <a:rPr lang="en-GB" sz="2600" b="0" dirty="0"/>
                        <a:t>NYHA improvement occurred in 65% vs 31% P=0.0006</a:t>
                      </a:r>
                      <a:endParaRPr lang="en-TZ" sz="2600" b="0" kern="100" dirty="0">
                        <a:effectLst/>
                        <a:latin typeface="Calibri" panose="020F0502020204030204" pitchFamily="34" charset="0"/>
                        <a:ea typeface="Times New Roman" panose="02020603050405020304" pitchFamily="18" charset="0"/>
                        <a:cs typeface="Calibri" panose="020F0502020204030204" pitchFamily="34"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TZ" sz="2600" kern="100" dirty="0">
                          <a:effectLst/>
                        </a:rPr>
                        <a:t>Placebo—not active-treatment—comparison</a:t>
                      </a:r>
                    </a:p>
                    <a:p>
                      <a:pPr algn="ctr"/>
                      <a:endParaRPr lang="en-TZ" sz="2600" kern="100" dirty="0">
                        <a:effectLst/>
                      </a:endParaRPr>
                    </a:p>
                    <a:p>
                      <a:pPr algn="ctr"/>
                      <a:r>
                        <a:rPr lang="en-TZ" sz="2600" kern="100" dirty="0">
                          <a:effectLst/>
                        </a:rPr>
                        <a:t>T</a:t>
                      </a:r>
                      <a:r>
                        <a:rPr lang="en-GB" sz="2600" dirty="0" err="1"/>
                        <a:t>ested</a:t>
                      </a:r>
                      <a:r>
                        <a:rPr lang="en-GB" sz="2600" dirty="0"/>
                        <a:t> </a:t>
                      </a:r>
                      <a:r>
                        <a:rPr lang="en-GB" sz="2600" b="1" dirty="0"/>
                        <a:t>as add-on therapy</a:t>
                      </a: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5883753"/>
                  </a:ext>
                </a:extLst>
              </a:tr>
            </a:tbl>
          </a:graphicData>
        </a:graphic>
      </p:graphicFrame>
    </p:spTree>
    <p:extLst>
      <p:ext uri="{BB962C8B-B14F-4D97-AF65-F5344CB8AC3E}">
        <p14:creationId xmlns:p14="http://schemas.microsoft.com/office/powerpoint/2010/main" val="380153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3F6AD-8C41-2803-FC58-E340C6E2A6F6}"/>
              </a:ext>
            </a:extLst>
          </p:cNvPr>
          <p:cNvSpPr>
            <a:spLocks noGrp="1"/>
          </p:cNvSpPr>
          <p:nvPr>
            <p:ph type="title"/>
          </p:nvPr>
        </p:nvSpPr>
        <p:spPr/>
        <p:txBody>
          <a:bodyPr/>
          <a:lstStyle/>
          <a:p>
            <a:pPr algn="ctr"/>
            <a:r>
              <a:rPr lang="en-TZ" b="1" dirty="0"/>
              <a:t>LITERATURE REVIEW</a:t>
            </a:r>
            <a:endParaRPr lang="en-TZ" dirty="0"/>
          </a:p>
        </p:txBody>
      </p:sp>
      <p:graphicFrame>
        <p:nvGraphicFramePr>
          <p:cNvPr id="4" name="Content Placeholder 3">
            <a:extLst>
              <a:ext uri="{FF2B5EF4-FFF2-40B4-BE49-F238E27FC236}">
                <a16:creationId xmlns:a16="http://schemas.microsoft.com/office/drawing/2014/main" id="{B08C246A-B989-0A4C-C2DE-714A845F4850}"/>
              </a:ext>
            </a:extLst>
          </p:cNvPr>
          <p:cNvGraphicFramePr>
            <a:graphicFrameLocks noGrp="1"/>
          </p:cNvGraphicFramePr>
          <p:nvPr>
            <p:ph idx="1"/>
            <p:extLst>
              <p:ext uri="{D42A27DB-BD31-4B8C-83A1-F6EECF244321}">
                <p14:modId xmlns:p14="http://schemas.microsoft.com/office/powerpoint/2010/main" val="4018030105"/>
              </p:ext>
            </p:extLst>
          </p:nvPr>
        </p:nvGraphicFramePr>
        <p:xfrm>
          <a:off x="609600" y="1524000"/>
          <a:ext cx="11113477" cy="5138936"/>
        </p:xfrm>
        <a:graphic>
          <a:graphicData uri="http://schemas.openxmlformats.org/drawingml/2006/table">
            <a:tbl>
              <a:tblPr firstRow="1" firstCol="1" bandRow="1">
                <a:tableStyleId>{7E9639D4-E3E2-4D34-9284-5A2195B3D0D7}</a:tableStyleId>
              </a:tblPr>
              <a:tblGrid>
                <a:gridCol w="2410047">
                  <a:extLst>
                    <a:ext uri="{9D8B030D-6E8A-4147-A177-3AD203B41FA5}">
                      <a16:colId xmlns:a16="http://schemas.microsoft.com/office/drawing/2014/main" val="3045898482"/>
                    </a:ext>
                  </a:extLst>
                </a:gridCol>
                <a:gridCol w="3076354">
                  <a:extLst>
                    <a:ext uri="{9D8B030D-6E8A-4147-A177-3AD203B41FA5}">
                      <a16:colId xmlns:a16="http://schemas.microsoft.com/office/drawing/2014/main" val="2092997631"/>
                    </a:ext>
                  </a:extLst>
                </a:gridCol>
                <a:gridCol w="3235569">
                  <a:extLst>
                    <a:ext uri="{9D8B030D-6E8A-4147-A177-3AD203B41FA5}">
                      <a16:colId xmlns:a16="http://schemas.microsoft.com/office/drawing/2014/main" val="2662487892"/>
                    </a:ext>
                  </a:extLst>
                </a:gridCol>
                <a:gridCol w="2391507">
                  <a:extLst>
                    <a:ext uri="{9D8B030D-6E8A-4147-A177-3AD203B41FA5}">
                      <a16:colId xmlns:a16="http://schemas.microsoft.com/office/drawing/2014/main" val="1574917438"/>
                    </a:ext>
                  </a:extLst>
                </a:gridCol>
              </a:tblGrid>
              <a:tr h="454047">
                <a:tc>
                  <a:txBody>
                    <a:bodyPr/>
                    <a:lstStyle/>
                    <a:p>
                      <a:pPr algn="ctr"/>
                      <a:r>
                        <a:rPr lang="en-TZ" sz="2300" kern="100" dirty="0">
                          <a:effectLst/>
                          <a:latin typeface="+mn-lt"/>
                          <a:cs typeface="Calibri" panose="020F0502020204030204" pitchFamily="34" charset="0"/>
                        </a:rPr>
                        <a:t>TRIAL; YEAR</a:t>
                      </a:r>
                      <a:endParaRPr lang="en-TZ" sz="2300" kern="100" dirty="0">
                        <a:effectLst/>
                        <a:latin typeface="+mn-lt"/>
                        <a:ea typeface="Times New Roman" panose="02020603050405020304" pitchFamily="18" charset="0"/>
                        <a:cs typeface="Calibri" panose="020F0502020204030204" pitchFamily="34"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TZ" sz="2300" kern="100" dirty="0">
                          <a:effectLst/>
                          <a:latin typeface="+mn-lt"/>
                          <a:cs typeface="Calibri" panose="020F0502020204030204" pitchFamily="34" charset="0"/>
                        </a:rPr>
                        <a:t>DESIGN</a:t>
                      </a:r>
                      <a:endParaRPr lang="en-TZ" sz="2300" kern="100" dirty="0">
                        <a:effectLst/>
                        <a:latin typeface="+mn-lt"/>
                        <a:ea typeface="Times New Roman" panose="02020603050405020304" pitchFamily="18" charset="0"/>
                        <a:cs typeface="Calibri" panose="020F0502020204030204" pitchFamily="34"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TZ" sz="2300" kern="100" dirty="0">
                          <a:effectLst/>
                          <a:latin typeface="+mn-lt"/>
                          <a:cs typeface="Calibri" panose="020F0502020204030204" pitchFamily="34" charset="0"/>
                        </a:rPr>
                        <a:t>KEY FINDINGS</a:t>
                      </a:r>
                      <a:endParaRPr lang="en-TZ" sz="2300" kern="100" dirty="0">
                        <a:effectLst/>
                        <a:latin typeface="+mn-lt"/>
                        <a:ea typeface="Times New Roman" panose="02020603050405020304" pitchFamily="18" charset="0"/>
                        <a:cs typeface="Calibri" panose="020F0502020204030204" pitchFamily="34"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TZ" sz="2300" kern="100" dirty="0">
                          <a:effectLst/>
                          <a:latin typeface="+mn-lt"/>
                          <a:cs typeface="Calibri" panose="020F0502020204030204" pitchFamily="34" charset="0"/>
                        </a:rPr>
                        <a:t>GAPS</a:t>
                      </a:r>
                      <a:endParaRPr lang="en-TZ" sz="2300" kern="100" dirty="0">
                        <a:effectLst/>
                        <a:latin typeface="+mn-lt"/>
                        <a:ea typeface="Times New Roman" panose="02020603050405020304" pitchFamily="18" charset="0"/>
                        <a:cs typeface="Calibri" panose="020F0502020204030204" pitchFamily="34"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3426617"/>
                  </a:ext>
                </a:extLst>
              </a:tr>
              <a:tr h="2231249">
                <a:tc>
                  <a:txBody>
                    <a:bodyPr/>
                    <a:lstStyle/>
                    <a:p>
                      <a:pPr algn="ctr"/>
                      <a:r>
                        <a:rPr lang="en-TZ" sz="2300" kern="100" dirty="0">
                          <a:effectLst/>
                          <a:latin typeface="+mn-lt"/>
                          <a:cs typeface="Calibri" panose="020F0502020204030204" pitchFamily="34" charset="0"/>
                        </a:rPr>
                        <a:t>SEQUOIA-HCM</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TZ" sz="2300" kern="100" dirty="0">
                        <a:effectLst/>
                        <a:latin typeface="+mn-lt"/>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TZ" sz="2300" kern="100" dirty="0">
                          <a:effectLst/>
                          <a:latin typeface="+mn-lt"/>
                          <a:cs typeface="Calibri" panose="020F0502020204030204" pitchFamily="34" charset="0"/>
                        </a:rPr>
                        <a:t>Maron et al 2024</a:t>
                      </a:r>
                    </a:p>
                    <a:p>
                      <a:pPr marL="0" marR="0" lvl="0" indent="0" algn="ctr" defTabSz="914400" rtl="0" eaLnBrk="1" fontAlgn="auto" latinLnBrk="0" hangingPunct="1">
                        <a:lnSpc>
                          <a:spcPct val="100000"/>
                        </a:lnSpc>
                        <a:spcBef>
                          <a:spcPts val="0"/>
                        </a:spcBef>
                        <a:spcAft>
                          <a:spcPts val="0"/>
                        </a:spcAft>
                        <a:buClrTx/>
                        <a:buSzTx/>
                        <a:buFontTx/>
                        <a:buNone/>
                        <a:tabLst/>
                        <a:defRPr/>
                      </a:pPr>
                      <a:r>
                        <a:rPr lang="en-TZ" sz="2300" b="0" kern="100" dirty="0">
                          <a:effectLst/>
                          <a:latin typeface="+mn-lt"/>
                          <a:cs typeface="Calibri" panose="020F0502020204030204" pitchFamily="34" charset="0"/>
                        </a:rPr>
                        <a:t>North America, Europe &amp; China</a:t>
                      </a:r>
                      <a:endParaRPr lang="en-TZ" sz="2300" b="0" i="1" kern="100" dirty="0">
                        <a:effectLst/>
                        <a:latin typeface="+mn-lt"/>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TZ" sz="2300" kern="100" dirty="0">
                          <a:effectLst/>
                          <a:latin typeface="+mn-lt"/>
                          <a:cs typeface="Calibri" panose="020F0502020204030204" pitchFamily="34" charset="0"/>
                        </a:rPr>
                        <a:t>Phase 3 double-blind RCT; n=282, 24 weeks</a:t>
                      </a:r>
                    </a:p>
                    <a:p>
                      <a:pPr algn="ctr"/>
                      <a:r>
                        <a:rPr lang="en-TZ" sz="2300" kern="100" dirty="0">
                          <a:effectLst/>
                          <a:latin typeface="+mn-lt"/>
                          <a:cs typeface="Calibri" panose="020F0502020204030204" pitchFamily="34" charset="0"/>
                        </a:rPr>
                        <a:t>Aficamten vs placebo; </a:t>
                      </a:r>
                    </a:p>
                    <a:p>
                      <a:pPr algn="ctr"/>
                      <a:endParaRPr lang="en-TZ" sz="2300" b="1" kern="100" dirty="0">
                        <a:effectLst/>
                        <a:latin typeface="+mn-lt"/>
                        <a:cs typeface="Calibri" panose="020F0502020204030204" pitchFamily="34" charset="0"/>
                      </a:endParaRPr>
                    </a:p>
                    <a:p>
                      <a:pPr algn="ctr"/>
                      <a:r>
                        <a:rPr lang="en-GB" sz="2300" b="1" kern="100" dirty="0">
                          <a:effectLst/>
                          <a:latin typeface="+mn-lt"/>
                          <a:cs typeface="Calibri" panose="020F0502020204030204" pitchFamily="34" charset="0"/>
                        </a:rPr>
                        <a:t>PE</a:t>
                      </a:r>
                      <a:r>
                        <a:rPr lang="en-GB" sz="2300" b="1" dirty="0">
                          <a:latin typeface="+mn-lt"/>
                          <a:cs typeface="Calibri" panose="020F0502020204030204" pitchFamily="34" charset="0"/>
                        </a:rPr>
                        <a:t>:</a:t>
                      </a:r>
                      <a:r>
                        <a:rPr lang="en-GB" sz="2300" dirty="0">
                          <a:latin typeface="+mn-lt"/>
                          <a:cs typeface="Calibri" panose="020F0502020204030204" pitchFamily="34" charset="0"/>
                        </a:rPr>
                        <a:t> </a:t>
                      </a:r>
                      <a:r>
                        <a:rPr lang="en-GB" sz="2300" dirty="0" err="1">
                          <a:latin typeface="+mn-lt"/>
                          <a:cs typeface="Calibri" panose="020F0502020204030204" pitchFamily="34" charset="0"/>
                        </a:rPr>
                        <a:t>pVO</a:t>
                      </a:r>
                      <a:r>
                        <a:rPr lang="en-GB" sz="2300" dirty="0">
                          <a:latin typeface="+mn-lt"/>
                          <a:cs typeface="Calibri" panose="020F0502020204030204" pitchFamily="34" charset="0"/>
                        </a:rPr>
                        <a:t>₂ change from baseline, ≥1 NYHA-class</a:t>
                      </a:r>
                      <a:endParaRPr lang="en-TZ" sz="2300" kern="100" dirty="0">
                        <a:effectLst/>
                        <a:latin typeface="+mn-lt"/>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TZ" sz="2300" kern="100" dirty="0">
                          <a:effectLst/>
                          <a:latin typeface="+mn-lt"/>
                          <a:cs typeface="Calibri" panose="020F0502020204030204" pitchFamily="34" charset="0"/>
                        </a:rPr>
                        <a:t>Peak VO₂ difference +1.74 mL/kg/min; 95% CI 1.04–2.44; P=0.000002. </a:t>
                      </a:r>
                    </a:p>
                    <a:p>
                      <a:pPr algn="ctr"/>
                      <a:endParaRPr lang="en-TZ" sz="2300" kern="100" dirty="0">
                        <a:effectLst/>
                        <a:latin typeface="+mn-lt"/>
                        <a:cs typeface="Calibri" panose="020F0502020204030204" pitchFamily="34" charset="0"/>
                      </a:endParaRPr>
                    </a:p>
                    <a:p>
                      <a:pPr algn="ctr"/>
                      <a:r>
                        <a:rPr lang="en-GB" sz="2300" kern="100" dirty="0">
                          <a:effectLst/>
                          <a:latin typeface="+mn-lt"/>
                          <a:cs typeface="Calibri" panose="020F0502020204030204" pitchFamily="34" charset="0"/>
                        </a:rPr>
                        <a:t>NYHA class improved in 58.5% vs 24.3%  P=</a:t>
                      </a:r>
                      <a:r>
                        <a:rPr lang="en-GB" sz="2300" dirty="0">
                          <a:latin typeface="+mn-lt"/>
                          <a:cs typeface="Calibri" panose="020F0502020204030204" pitchFamily="34" charset="0"/>
                        </a:rPr>
                        <a:t>0.001.</a:t>
                      </a:r>
                      <a:endParaRPr lang="en-TZ" sz="2300" kern="100" dirty="0">
                        <a:effectLst/>
                        <a:latin typeface="+mn-lt"/>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TZ" sz="2300" kern="100" dirty="0">
                          <a:effectLst/>
                          <a:latin typeface="+mn-lt"/>
                          <a:cs typeface="Calibri" panose="020F0502020204030204" pitchFamily="34" charset="0"/>
                        </a:rPr>
                        <a:t>Placebo add-on comparison; no direct comparison with first-line, </a:t>
                      </a:r>
                      <a:r>
                        <a:rPr lang="en-GB" sz="2300" kern="100" dirty="0">
                          <a:effectLst/>
                          <a:latin typeface="+mn-lt"/>
                          <a:ea typeface="Times New Roman" panose="02020603050405020304" pitchFamily="18" charset="0"/>
                          <a:cs typeface="Calibri" panose="020F0502020204030204" pitchFamily="34" charset="0"/>
                        </a:rPr>
                        <a:t>CPET measures  not fully assessed</a:t>
                      </a:r>
                      <a:endParaRPr lang="en-TZ" sz="2300" kern="100" dirty="0">
                        <a:effectLst/>
                        <a:latin typeface="+mn-lt"/>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407510"/>
                  </a:ext>
                </a:extLst>
              </a:tr>
              <a:tr h="2283579">
                <a:tc>
                  <a:txBody>
                    <a:bodyPr/>
                    <a:lstStyle/>
                    <a:p>
                      <a:pPr algn="ctr"/>
                      <a:r>
                        <a:rPr lang="en-GB" sz="2300" kern="100" dirty="0">
                          <a:effectLst/>
                          <a:latin typeface="+mn-lt"/>
                          <a:cs typeface="Calibri" panose="020F0502020204030204" pitchFamily="34" charset="0"/>
                        </a:rPr>
                        <a:t>FOREST-HCM SoC-withdrawal analysis</a:t>
                      </a:r>
                    </a:p>
                    <a:p>
                      <a:pPr algn="ctr"/>
                      <a:endParaRPr lang="en-TZ" sz="2300" kern="100" dirty="0">
                        <a:effectLst/>
                        <a:latin typeface="+mn-lt"/>
                        <a:cs typeface="Calibri" panose="020F0502020204030204" pitchFamily="34" charset="0"/>
                      </a:endParaRPr>
                    </a:p>
                    <a:p>
                      <a:pPr algn="ctr"/>
                      <a:r>
                        <a:rPr lang="en-TZ" sz="2300" kern="100" dirty="0">
                          <a:effectLst/>
                          <a:latin typeface="+mn-lt"/>
                          <a:cs typeface="Calibri" panose="020F0502020204030204" pitchFamily="34" charset="0"/>
                        </a:rPr>
                        <a:t>Masri et al 2024</a:t>
                      </a:r>
                    </a:p>
                    <a:p>
                      <a:pPr algn="ctr"/>
                      <a:endParaRPr lang="en-TZ" sz="2300" kern="100" dirty="0">
                        <a:effectLst/>
                        <a:latin typeface="+mn-lt"/>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300" kern="100" dirty="0">
                          <a:effectLst/>
                          <a:latin typeface="+mn-lt"/>
                          <a:cs typeface="Calibri" panose="020F0502020204030204" pitchFamily="34" charset="0"/>
                        </a:rPr>
                        <a:t>Open-label extension; n=136 with </a:t>
                      </a:r>
                      <a:r>
                        <a:rPr lang="en-GB" sz="2300" kern="100" dirty="0" err="1">
                          <a:effectLst/>
                          <a:latin typeface="+mn-lt"/>
                          <a:cs typeface="Calibri" panose="020F0502020204030204" pitchFamily="34" charset="0"/>
                        </a:rPr>
                        <a:t>oHCM</a:t>
                      </a:r>
                      <a:r>
                        <a:rPr lang="en-GB" sz="2300" kern="100" dirty="0">
                          <a:effectLst/>
                          <a:latin typeface="+mn-lt"/>
                          <a:cs typeface="Calibri" panose="020F0502020204030204" pitchFamily="34" charset="0"/>
                        </a:rPr>
                        <a:t>, followed ≥24 weeks;</a:t>
                      </a:r>
                    </a:p>
                    <a:p>
                      <a:pPr algn="ctr"/>
                      <a:r>
                        <a:rPr lang="en-GB" sz="2300" kern="100" dirty="0">
                          <a:effectLst/>
                          <a:latin typeface="+mn-lt"/>
                          <a:cs typeface="Calibri" panose="020F0502020204030204" pitchFamily="34" charset="0"/>
                        </a:rPr>
                        <a:t> </a:t>
                      </a:r>
                    </a:p>
                    <a:p>
                      <a:pPr algn="ctr"/>
                      <a:r>
                        <a:rPr lang="en-GB" sz="2300" kern="100" dirty="0">
                          <a:effectLst/>
                          <a:latin typeface="+mn-lt"/>
                          <a:cs typeface="Calibri" panose="020F0502020204030204" pitchFamily="34" charset="0"/>
                        </a:rPr>
                        <a:t>Withdrawal (≥ 50% dose of ≥1 med after ≥4 weeks on aficamten</a:t>
                      </a:r>
                      <a:endParaRPr lang="en-TZ" sz="2300" kern="100" dirty="0">
                        <a:effectLst/>
                        <a:latin typeface="+mn-lt"/>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2300" kern="100" dirty="0">
                          <a:effectLst/>
                          <a:latin typeface="+mn-lt"/>
                          <a:cs typeface="Calibri" panose="020F0502020204030204" pitchFamily="34" charset="0"/>
                        </a:rPr>
                        <a:t>Withdrawal successful in 45.8%</a:t>
                      </a:r>
                      <a:r>
                        <a:rPr lang="en-TZ" sz="2300" dirty="0">
                          <a:latin typeface="+mn-lt"/>
                          <a:cs typeface="Calibri" panose="020F0502020204030204" pitchFamily="34" charset="0"/>
                        </a:rPr>
                        <a:t>,</a:t>
                      </a:r>
                      <a:r>
                        <a:rPr lang="en-GB" sz="2300" kern="100" dirty="0">
                          <a:effectLst/>
                          <a:latin typeface="+mn-lt"/>
                          <a:cs typeface="Calibri" panose="020F0502020204030204" pitchFamily="34" charset="0"/>
                        </a:rPr>
                        <a:t> p&lt;0.0001 achieved aficamten monotherapy</a:t>
                      </a:r>
                    </a:p>
                    <a:p>
                      <a:pPr marL="0" marR="0" indent="0" algn="ctr" defTabSz="914400" rtl="0" eaLnBrk="1" fontAlgn="auto" latinLnBrk="0" hangingPunct="1">
                        <a:lnSpc>
                          <a:spcPct val="100000"/>
                        </a:lnSpc>
                        <a:spcBef>
                          <a:spcPts val="0"/>
                        </a:spcBef>
                        <a:spcAft>
                          <a:spcPts val="0"/>
                        </a:spcAft>
                        <a:buClrTx/>
                        <a:buSzTx/>
                        <a:buFontTx/>
                        <a:buNone/>
                        <a:tabLst/>
                        <a:defRPr/>
                      </a:pPr>
                      <a:endParaRPr lang="en-GB" sz="2300" kern="100" dirty="0">
                        <a:effectLst/>
                        <a:latin typeface="+mn-lt"/>
                        <a:cs typeface="Calibri" panose="020F0502020204030204" pitchFamily="34"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GB" sz="2300" kern="100" dirty="0">
                          <a:effectLst/>
                          <a:latin typeface="+mn-lt"/>
                          <a:ea typeface="Times New Roman" panose="02020603050405020304" pitchFamily="18" charset="0"/>
                          <a:cs typeface="Calibri" panose="020F0502020204030204" pitchFamily="34" charset="0"/>
                        </a:rPr>
                        <a:t>No group differences in NYHA response, p=0.70;</a:t>
                      </a:r>
                      <a:endParaRPr lang="en-TZ" sz="2300" kern="100" dirty="0">
                        <a:effectLst/>
                        <a:latin typeface="+mn-lt"/>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TZ" sz="2300" kern="100" dirty="0">
                          <a:effectLst/>
                          <a:latin typeface="+mn-lt"/>
                          <a:cs typeface="Calibri" panose="020F0502020204030204" pitchFamily="34" charset="0"/>
                        </a:rPr>
                        <a:t>No randomized control; open-label and attrition bias limits d</a:t>
                      </a:r>
                      <a:r>
                        <a:rPr lang="en-GB" sz="2300" kern="100" dirty="0" err="1">
                          <a:effectLst/>
                          <a:latin typeface="+mn-lt"/>
                          <a:cs typeface="Calibri" panose="020F0502020204030204" pitchFamily="34" charset="0"/>
                        </a:rPr>
                        <a:t>efinite</a:t>
                      </a:r>
                      <a:r>
                        <a:rPr lang="en-GB" sz="2300" kern="100" dirty="0">
                          <a:effectLst/>
                          <a:latin typeface="+mn-lt"/>
                          <a:cs typeface="Calibri" panose="020F0502020204030204" pitchFamily="34" charset="0"/>
                        </a:rPr>
                        <a:t> proof</a:t>
                      </a:r>
                      <a:endParaRPr lang="en-TZ" sz="2300" kern="100" dirty="0">
                        <a:effectLst/>
                        <a:latin typeface="+mn-lt"/>
                        <a:ea typeface="Times New Roman" panose="02020603050405020304" pitchFamily="18" charset="0"/>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6284534"/>
                  </a:ext>
                </a:extLst>
              </a:tr>
            </a:tbl>
          </a:graphicData>
        </a:graphic>
      </p:graphicFrame>
    </p:spTree>
    <p:extLst>
      <p:ext uri="{BB962C8B-B14F-4D97-AF65-F5344CB8AC3E}">
        <p14:creationId xmlns:p14="http://schemas.microsoft.com/office/powerpoint/2010/main" val="1799196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5BD3C-FF7B-AB2F-DC05-925EA44B91C6}"/>
              </a:ext>
            </a:extLst>
          </p:cNvPr>
          <p:cNvSpPr>
            <a:spLocks noGrp="1"/>
          </p:cNvSpPr>
          <p:nvPr>
            <p:ph type="title"/>
          </p:nvPr>
        </p:nvSpPr>
        <p:spPr/>
        <p:txBody>
          <a:bodyPr/>
          <a:lstStyle/>
          <a:p>
            <a:pPr algn="ctr"/>
            <a:r>
              <a:rPr lang="en-TZ" b="1" dirty="0"/>
              <a:t>PROBLEM STATEMENT</a:t>
            </a:r>
          </a:p>
        </p:txBody>
      </p:sp>
      <p:sp>
        <p:nvSpPr>
          <p:cNvPr id="3" name="Content Placeholder 2">
            <a:extLst>
              <a:ext uri="{FF2B5EF4-FFF2-40B4-BE49-F238E27FC236}">
                <a16:creationId xmlns:a16="http://schemas.microsoft.com/office/drawing/2014/main" id="{88294CDC-EFBA-6027-03D3-B38A61AA04C5}"/>
              </a:ext>
            </a:extLst>
          </p:cNvPr>
          <p:cNvSpPr>
            <a:spLocks noGrp="1"/>
          </p:cNvSpPr>
          <p:nvPr>
            <p:ph idx="1"/>
          </p:nvPr>
        </p:nvSpPr>
        <p:spPr>
          <a:xfrm>
            <a:off x="838200" y="1571625"/>
            <a:ext cx="10515600" cy="4351338"/>
          </a:xfrm>
        </p:spPr>
        <p:txBody>
          <a:bodyPr>
            <a:normAutofit/>
          </a:bodyPr>
          <a:lstStyle/>
          <a:p>
            <a:pPr>
              <a:lnSpc>
                <a:spcPct val="150000"/>
              </a:lnSpc>
            </a:pPr>
            <a:r>
              <a:rPr lang="en-GB" dirty="0"/>
              <a:t>In obstructive hypertrophic cardiomyopathy, exercise intolerance is common, substantially limits daily functioning, and is strongly associated with adverse outcomes</a:t>
            </a:r>
          </a:p>
          <a:p>
            <a:pPr>
              <a:lnSpc>
                <a:spcPct val="150000"/>
              </a:lnSpc>
            </a:pPr>
            <a:r>
              <a:rPr lang="en-GB" dirty="0"/>
              <a:t>However, current first-line beta-blocker therapy may reduce heart rate and inadvertently  exercise capacity, while evidence supporting cardiac myosin inhibitors as initial monotherapy remains limited</a:t>
            </a:r>
          </a:p>
        </p:txBody>
      </p:sp>
    </p:spTree>
    <p:extLst>
      <p:ext uri="{BB962C8B-B14F-4D97-AF65-F5344CB8AC3E}">
        <p14:creationId xmlns:p14="http://schemas.microsoft.com/office/powerpoint/2010/main" val="3218782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5C589-1DD5-2064-92BB-7E75A8B97A24}"/>
              </a:ext>
            </a:extLst>
          </p:cNvPr>
          <p:cNvSpPr>
            <a:spLocks noGrp="1"/>
          </p:cNvSpPr>
          <p:nvPr>
            <p:ph type="title"/>
          </p:nvPr>
        </p:nvSpPr>
        <p:spPr/>
        <p:txBody>
          <a:bodyPr/>
          <a:lstStyle/>
          <a:p>
            <a:pPr algn="ctr"/>
            <a:r>
              <a:rPr lang="en-TZ" b="1" dirty="0"/>
              <a:t>RATIONALE</a:t>
            </a:r>
          </a:p>
        </p:txBody>
      </p:sp>
      <p:sp>
        <p:nvSpPr>
          <p:cNvPr id="3" name="Content Placeholder 2">
            <a:extLst>
              <a:ext uri="{FF2B5EF4-FFF2-40B4-BE49-F238E27FC236}">
                <a16:creationId xmlns:a16="http://schemas.microsoft.com/office/drawing/2014/main" id="{9476F896-CF54-E42D-FAD9-B8DFA80929E5}"/>
              </a:ext>
            </a:extLst>
          </p:cNvPr>
          <p:cNvSpPr>
            <a:spLocks noGrp="1"/>
          </p:cNvSpPr>
          <p:nvPr>
            <p:ph idx="1"/>
          </p:nvPr>
        </p:nvSpPr>
        <p:spPr>
          <a:xfrm>
            <a:off x="838200" y="1690688"/>
            <a:ext cx="10515600" cy="4351338"/>
          </a:xfrm>
        </p:spPr>
        <p:txBody>
          <a:bodyPr>
            <a:noAutofit/>
          </a:bodyPr>
          <a:lstStyle/>
          <a:p>
            <a:pPr>
              <a:lnSpc>
                <a:spcPct val="150000"/>
              </a:lnSpc>
            </a:pPr>
            <a:r>
              <a:rPr lang="en-GB" dirty="0"/>
              <a:t>Cardiac myosin inhibitors directly targeting sarcomere hypercontractility, improve obstruction without the cost of blunting heart-rate response and limiting exercise capacity like </a:t>
            </a:r>
            <a:r>
              <a:rPr lang="el-GR" dirty="0"/>
              <a:t>β-</a:t>
            </a:r>
            <a:r>
              <a:rPr lang="en-GB" dirty="0"/>
              <a:t>blockers </a:t>
            </a:r>
          </a:p>
          <a:p>
            <a:pPr>
              <a:lnSpc>
                <a:spcPct val="150000"/>
              </a:lnSpc>
            </a:pPr>
            <a:r>
              <a:rPr lang="en-GB" dirty="0"/>
              <a:t>The study directly compared aficamten with metoprolol using CPET measures to determine which produced better physiological adaptation during exercise and changes in </a:t>
            </a:r>
            <a:r>
              <a:rPr lang="en-GB" dirty="0" err="1"/>
              <a:t>oHCM</a:t>
            </a:r>
            <a:r>
              <a:rPr lang="en-GB" dirty="0"/>
              <a:t> disease severity</a:t>
            </a:r>
          </a:p>
          <a:p>
            <a:pPr>
              <a:lnSpc>
                <a:spcPct val="150000"/>
              </a:lnSpc>
            </a:pPr>
            <a:endParaRPr lang="en-GB" dirty="0"/>
          </a:p>
        </p:txBody>
      </p:sp>
    </p:spTree>
    <p:extLst>
      <p:ext uri="{BB962C8B-B14F-4D97-AF65-F5344CB8AC3E}">
        <p14:creationId xmlns:p14="http://schemas.microsoft.com/office/powerpoint/2010/main" val="1623223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2AB2-7E19-1849-4BFF-47B2FA9AFEB4}"/>
              </a:ext>
            </a:extLst>
          </p:cNvPr>
          <p:cNvSpPr>
            <a:spLocks noGrp="1"/>
          </p:cNvSpPr>
          <p:nvPr>
            <p:ph type="title"/>
          </p:nvPr>
        </p:nvSpPr>
        <p:spPr/>
        <p:txBody>
          <a:bodyPr/>
          <a:lstStyle/>
          <a:p>
            <a:pPr algn="ctr"/>
            <a:r>
              <a:rPr lang="en-TZ" b="1" dirty="0"/>
              <a:t>BROAD OBJECTIVE</a:t>
            </a:r>
          </a:p>
        </p:txBody>
      </p:sp>
      <p:sp>
        <p:nvSpPr>
          <p:cNvPr id="3" name="Content Placeholder 2">
            <a:extLst>
              <a:ext uri="{FF2B5EF4-FFF2-40B4-BE49-F238E27FC236}">
                <a16:creationId xmlns:a16="http://schemas.microsoft.com/office/drawing/2014/main" id="{6C694D3C-6DF7-07EA-EA77-FCACD51C40E0}"/>
              </a:ext>
            </a:extLst>
          </p:cNvPr>
          <p:cNvSpPr>
            <a:spLocks noGrp="1"/>
          </p:cNvSpPr>
          <p:nvPr>
            <p:ph idx="1"/>
          </p:nvPr>
        </p:nvSpPr>
        <p:spPr/>
        <p:txBody>
          <a:bodyPr>
            <a:noAutofit/>
          </a:bodyPr>
          <a:lstStyle/>
          <a:p>
            <a:pPr>
              <a:lnSpc>
                <a:spcPct val="150000"/>
              </a:lnSpc>
            </a:pPr>
            <a:r>
              <a:rPr lang="en-GB" dirty="0"/>
              <a:t>To evaluate the effect of treatment with aficamten compared to metoprolol on comprehensive measures of exercise capacity on cardiopulmonary exercise testing in participants and changes disease severity  among patients with symptomatic obstructive HCM</a:t>
            </a:r>
          </a:p>
          <a:p>
            <a:pPr>
              <a:lnSpc>
                <a:spcPct val="150000"/>
              </a:lnSpc>
            </a:pPr>
            <a:endParaRPr lang="en-GB" dirty="0"/>
          </a:p>
          <a:p>
            <a:pPr marL="0" indent="0">
              <a:lnSpc>
                <a:spcPct val="150000"/>
              </a:lnSpc>
              <a:buNone/>
            </a:pPr>
            <a:endParaRPr lang="en-TZ" dirty="0"/>
          </a:p>
        </p:txBody>
      </p:sp>
    </p:spTree>
    <p:extLst>
      <p:ext uri="{BB962C8B-B14F-4D97-AF65-F5344CB8AC3E}">
        <p14:creationId xmlns:p14="http://schemas.microsoft.com/office/powerpoint/2010/main" val="3731553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19C5C-CEB9-ED4B-CDB7-0E2CF8D1EDB9}"/>
              </a:ext>
            </a:extLst>
          </p:cNvPr>
          <p:cNvSpPr>
            <a:spLocks noGrp="1"/>
          </p:cNvSpPr>
          <p:nvPr>
            <p:ph type="title"/>
          </p:nvPr>
        </p:nvSpPr>
        <p:spPr/>
        <p:txBody>
          <a:bodyPr/>
          <a:lstStyle/>
          <a:p>
            <a:pPr algn="ctr"/>
            <a:r>
              <a:rPr lang="en-TZ" b="1" dirty="0"/>
              <a:t>SPECIFIC OBJECTIVES</a:t>
            </a:r>
          </a:p>
        </p:txBody>
      </p:sp>
      <p:sp>
        <p:nvSpPr>
          <p:cNvPr id="3" name="Content Placeholder 2">
            <a:extLst>
              <a:ext uri="{FF2B5EF4-FFF2-40B4-BE49-F238E27FC236}">
                <a16:creationId xmlns:a16="http://schemas.microsoft.com/office/drawing/2014/main" id="{CD5BDFF0-063A-5535-1B78-CD8C81E24CBC}"/>
              </a:ext>
            </a:extLst>
          </p:cNvPr>
          <p:cNvSpPr>
            <a:spLocks noGrp="1"/>
          </p:cNvSpPr>
          <p:nvPr>
            <p:ph idx="1"/>
          </p:nvPr>
        </p:nvSpPr>
        <p:spPr>
          <a:xfrm>
            <a:off x="838200" y="1690688"/>
            <a:ext cx="10515600" cy="4351338"/>
          </a:xfrm>
        </p:spPr>
        <p:txBody>
          <a:bodyPr>
            <a:noAutofit/>
          </a:bodyPr>
          <a:lstStyle/>
          <a:p>
            <a:pPr marL="0" indent="0">
              <a:lnSpc>
                <a:spcPts val="3580"/>
              </a:lnSpc>
              <a:buNone/>
            </a:pPr>
            <a:r>
              <a:rPr lang="en-GB" dirty="0"/>
              <a:t>To evaluate:</a:t>
            </a:r>
          </a:p>
          <a:p>
            <a:pPr marL="514350" indent="-514350">
              <a:lnSpc>
                <a:spcPts val="3580"/>
              </a:lnSpc>
              <a:buFont typeface="+mj-lt"/>
              <a:buAutoNum type="arabicPeriod"/>
            </a:pPr>
            <a:r>
              <a:rPr lang="en-GB" dirty="0"/>
              <a:t>Effect of Aficamten vs Metoprolol on  pVO2 and CPET parameters </a:t>
            </a:r>
          </a:p>
          <a:p>
            <a:pPr marL="514350" indent="-514350">
              <a:lnSpc>
                <a:spcPts val="3580"/>
              </a:lnSpc>
              <a:buFont typeface="+mj-lt"/>
              <a:buAutoNum type="arabicPeriod"/>
            </a:pPr>
            <a:r>
              <a:rPr lang="en-GB" dirty="0"/>
              <a:t>Effect of Aficamten vs Metoprolol on Symptoms (by NYHA class) </a:t>
            </a:r>
          </a:p>
          <a:p>
            <a:pPr marL="514350" indent="-514350">
              <a:lnSpc>
                <a:spcPts val="3580"/>
              </a:lnSpc>
              <a:buFont typeface="+mj-lt"/>
              <a:buAutoNum type="arabicPeriod"/>
            </a:pPr>
            <a:r>
              <a:rPr lang="en-GB" dirty="0"/>
              <a:t>Effect of Aficamten vs Metoprolol on Participant health status ( by KCCQ)</a:t>
            </a:r>
          </a:p>
          <a:p>
            <a:pPr marL="514350" indent="-514350">
              <a:lnSpc>
                <a:spcPts val="3580"/>
              </a:lnSpc>
              <a:buFont typeface="+mj-lt"/>
              <a:buAutoNum type="arabicPeriod"/>
            </a:pPr>
            <a:r>
              <a:rPr lang="en-GB" dirty="0"/>
              <a:t>Effect of Aficamten vs Metoprolol on NT-</a:t>
            </a:r>
            <a:r>
              <a:rPr lang="en-GB" dirty="0" err="1"/>
              <a:t>proBNP</a:t>
            </a:r>
            <a:r>
              <a:rPr lang="en-GB" dirty="0"/>
              <a:t> level</a:t>
            </a:r>
          </a:p>
          <a:p>
            <a:pPr marL="514350" indent="-514350">
              <a:lnSpc>
                <a:spcPts val="3580"/>
              </a:lnSpc>
              <a:buFont typeface="+mj-lt"/>
              <a:buAutoNum type="arabicPeriod"/>
            </a:pPr>
            <a:r>
              <a:rPr lang="en-GB" dirty="0"/>
              <a:t>Effect of Aficamten vs Metoprolol on post- Valsalva LVOT gradient</a:t>
            </a:r>
          </a:p>
        </p:txBody>
      </p:sp>
    </p:spTree>
    <p:extLst>
      <p:ext uri="{BB962C8B-B14F-4D97-AF65-F5344CB8AC3E}">
        <p14:creationId xmlns:p14="http://schemas.microsoft.com/office/powerpoint/2010/main" val="3041293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524000" y="2235200"/>
            <a:ext cx="9144000" cy="2387600"/>
          </a:xfrm>
        </p:spPr>
        <p:txBody>
          <a:bodyPr/>
          <a:lstStyle/>
          <a:p>
            <a:r>
              <a:rPr lang="en-US" b="1" dirty="0"/>
              <a:t>METHODOLOGY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METHODOLOGY</a:t>
            </a:r>
          </a:p>
        </p:txBody>
      </p:sp>
      <p:sp>
        <p:nvSpPr>
          <p:cNvPr id="3" name="Content Placeholder 2"/>
          <p:cNvSpPr>
            <a:spLocks noGrp="1"/>
          </p:cNvSpPr>
          <p:nvPr>
            <p:ph idx="1"/>
          </p:nvPr>
        </p:nvSpPr>
        <p:spPr>
          <a:xfrm>
            <a:off x="3265715" y="1690688"/>
            <a:ext cx="8088085" cy="4351338"/>
          </a:xfrm>
        </p:spPr>
        <p:txBody>
          <a:bodyPr>
            <a:noAutofit/>
          </a:bodyPr>
          <a:lstStyle/>
          <a:p>
            <a:pPr>
              <a:lnSpc>
                <a:spcPct val="150000"/>
              </a:lnSpc>
            </a:pPr>
            <a:r>
              <a:rPr lang="en-US" dirty="0">
                <a:latin typeface="Calibri" panose="020F0502020204030204" pitchFamily="34" charset="0"/>
                <a:cs typeface="Calibri" panose="020F0502020204030204" pitchFamily="34" charset="0"/>
              </a:rPr>
              <a:t>175 participants were randomized, followed from </a:t>
            </a:r>
            <a:r>
              <a:rPr kumimoji="0" lang="en-US"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30th June 2023  to March 2025</a:t>
            </a:r>
          </a:p>
          <a:p>
            <a:pPr>
              <a:lnSpc>
                <a:spcPct val="150000"/>
              </a:lnSpc>
            </a:pPr>
            <a:endParaRPr kumimoji="0" lang="en-US" sz="1000" b="0" i="0" u="none" strike="noStrike" kern="1200" cap="none" spc="0" normalizeH="0" baseline="0" noProof="0" dirty="0">
              <a:ln>
                <a:noFill/>
              </a:ln>
              <a:effectLst/>
              <a:uLnTx/>
              <a:uFillTx/>
              <a:latin typeface="Calibri" panose="020F0502020204030204" pitchFamily="34" charset="0"/>
              <a:cs typeface="Calibri" panose="020F0502020204030204" pitchFamily="34" charset="0"/>
            </a:endParaRPr>
          </a:p>
          <a:p>
            <a:pPr>
              <a:lnSpc>
                <a:spcPct val="150000"/>
              </a:lnSpc>
              <a:spcBef>
                <a:spcPts val="0"/>
              </a:spcBef>
              <a:defRPr/>
            </a:pPr>
            <a:r>
              <a:rPr lang="en-US" dirty="0">
                <a:latin typeface="Calibri" panose="020F0502020204030204" pitchFamily="34" charset="0"/>
                <a:ea typeface="Times New Roman" panose="02020603050405020304" pitchFamily="34" charset="-122"/>
                <a:cs typeface="Calibri" panose="020F0502020204030204" pitchFamily="34" charset="0"/>
                <a:sym typeface="+mn-ea"/>
              </a:rPr>
              <a:t>71 sites across North America, South America, Europe, Israel, and China</a:t>
            </a:r>
          </a:p>
          <a:p>
            <a:pPr>
              <a:lnSpc>
                <a:spcPct val="150000"/>
              </a:lnSpc>
              <a:spcBef>
                <a:spcPts val="0"/>
              </a:spcBef>
              <a:defRPr/>
            </a:pPr>
            <a:endParaRPr lang="en-US" sz="1000" dirty="0">
              <a:latin typeface="Calibri" panose="020F0502020204030204" pitchFamily="34" charset="0"/>
              <a:cs typeface="Calibri" panose="020F0502020204030204" pitchFamily="34" charset="0"/>
            </a:endParaRPr>
          </a:p>
          <a:p>
            <a:pPr>
              <a:lnSpc>
                <a:spcPct val="150000"/>
              </a:lnSpc>
              <a:spcBef>
                <a:spcPts val="0"/>
              </a:spcBef>
              <a:defRPr/>
            </a:pPr>
            <a:r>
              <a:rPr lang="en-US" dirty="0">
                <a:latin typeface="Calibri" panose="020F0502020204030204" pitchFamily="34" charset="0"/>
                <a:ea typeface="Times New Roman" panose="02020603050405020304" pitchFamily="34" charset="-122"/>
                <a:cs typeface="Calibri" panose="020F0502020204030204" pitchFamily="34" charset="0"/>
                <a:sym typeface="+mn-ea"/>
              </a:rPr>
              <a:t>Phase 3 randomized, double-dummy, double-blind, active-control trial</a:t>
            </a:r>
            <a:endParaRPr lang="en-US" dirty="0">
              <a:latin typeface="Calibri" panose="020F0502020204030204" pitchFamily="34" charset="0"/>
              <a:cs typeface="Calibri" panose="020F0502020204030204" pitchFamily="34" charset="0"/>
            </a:endParaRPr>
          </a:p>
          <a:p>
            <a:pPr marR="0" lvl="0" algn="l" defTabSz="914400" rtl="0" eaLnBrk="1" fontAlgn="auto" latinLnBrk="0" hangingPunct="1">
              <a:lnSpc>
                <a:spcPct val="150000"/>
              </a:lnSpc>
              <a:spcBef>
                <a:spcPts val="0"/>
              </a:spcBef>
              <a:spcAft>
                <a:spcPts val="0"/>
              </a:spcAft>
              <a:buClrTx/>
              <a:buSzTx/>
              <a:defRPr/>
            </a:pPr>
            <a:endParaRPr kumimoji="0" lang="en-US" b="0" i="0" u="none" strike="noStrike" kern="1200" cap="none" spc="0" normalizeH="0" baseline="0" noProof="0" dirty="0">
              <a:ln>
                <a:noFill/>
              </a:ln>
              <a:effectLst/>
              <a:uLnTx/>
              <a:uFillTx/>
              <a:latin typeface="Calibri" panose="020F0502020204030204" pitchFamily="34" charset="0"/>
              <a:cs typeface="Calibri" panose="020F0502020204030204" pitchFamily="34" charset="0"/>
            </a:endParaRPr>
          </a:p>
          <a:p>
            <a:pPr marR="0" lvl="0" algn="l" defTabSz="914400" rtl="0" eaLnBrk="1" fontAlgn="auto" latinLnBrk="0" hangingPunct="1">
              <a:lnSpc>
                <a:spcPct val="150000"/>
              </a:lnSpc>
              <a:spcBef>
                <a:spcPts val="0"/>
              </a:spcBef>
              <a:spcAft>
                <a:spcPts val="0"/>
              </a:spcAft>
              <a:buClrTx/>
              <a:buSzTx/>
              <a:defRPr/>
            </a:pPr>
            <a:endParaRPr kumimoji="0" lang="en-US" b="0" i="0" u="none" strike="noStrike" kern="1200" cap="none" spc="0" normalizeH="0" baseline="0" noProof="0" dirty="0">
              <a:ln>
                <a:noFill/>
              </a:ln>
              <a:effectLst/>
              <a:uLnTx/>
              <a:uFillTx/>
              <a:latin typeface="Calibri" panose="020F0502020204030204" pitchFamily="34" charset="0"/>
              <a:cs typeface="Calibri" panose="020F0502020204030204" pitchFamily="34" charset="0"/>
            </a:endParaRPr>
          </a:p>
          <a:p>
            <a:pPr>
              <a:lnSpc>
                <a:spcPct val="150000"/>
              </a:lnSpc>
            </a:pPr>
            <a:endParaRPr lang="en-US" dirty="0">
              <a:latin typeface="Calibri" panose="020F0502020204030204" pitchFamily="34" charset="0"/>
              <a:cs typeface="Calibri" panose="020F0502020204030204" pitchFamily="34" charset="0"/>
            </a:endParaRPr>
          </a:p>
        </p:txBody>
      </p:sp>
      <p:pic>
        <p:nvPicPr>
          <p:cNvPr id="4" name="Graphic 36" descr="Open book with solid fill"/>
          <p:cNvPicPr>
            <a:picLocks noChangeAspect="1"/>
          </p:cNvPicPr>
          <p:nvPr/>
        </p:nvPicPr>
        <p:blipFill>
          <a:blip r:embed="rId2" cstate="print"/>
          <a:stretch>
            <a:fillRect/>
          </a:stretch>
        </p:blipFill>
        <p:spPr>
          <a:xfrm>
            <a:off x="1820652" y="1690688"/>
            <a:ext cx="982450" cy="982450"/>
          </a:xfrm>
          <a:prstGeom prst="rect">
            <a:avLst/>
          </a:prstGeom>
        </p:spPr>
      </p:pic>
      <p:pic>
        <p:nvPicPr>
          <p:cNvPr id="5" name="Picture 1"/>
          <p:cNvPicPr>
            <a:picLocks noChangeAspect="1"/>
          </p:cNvPicPr>
          <p:nvPr/>
        </p:nvPicPr>
        <p:blipFill>
          <a:blip r:embed="rId3"/>
          <a:stretch>
            <a:fillRect/>
          </a:stretch>
        </p:blipFill>
        <p:spPr>
          <a:xfrm>
            <a:off x="1623957" y="3390670"/>
            <a:ext cx="1179145" cy="951374"/>
          </a:xfrm>
          <a:prstGeom prst="rect">
            <a:avLst/>
          </a:prstGeom>
        </p:spPr>
      </p:pic>
      <p:pic>
        <p:nvPicPr>
          <p:cNvPr id="6" name="Graphic 35" descr="Business Growth with solid fill"/>
          <p:cNvPicPr>
            <a:picLocks noChangeAspect="1"/>
          </p:cNvPicPr>
          <p:nvPr/>
        </p:nvPicPr>
        <p:blipFill>
          <a:blip r:embed="rId4" cstate="print"/>
          <a:stretch>
            <a:fillRect/>
          </a:stretch>
        </p:blipFill>
        <p:spPr>
          <a:xfrm>
            <a:off x="1820651" y="4846639"/>
            <a:ext cx="1085585" cy="121490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8512"/>
            <a:ext cx="10515600" cy="885190"/>
          </a:xfrm>
        </p:spPr>
        <p:txBody>
          <a:bodyPr>
            <a:normAutofit/>
          </a:bodyPr>
          <a:lstStyle/>
          <a:p>
            <a:pPr algn="ctr"/>
            <a:r>
              <a:rPr lang="en-US" b="1" dirty="0"/>
              <a:t>…</a:t>
            </a:r>
            <a:r>
              <a:rPr lang="en-US" b="1" dirty="0" err="1"/>
              <a:t>contd</a:t>
            </a:r>
            <a:endParaRPr lang="en-US" b="1" dirty="0"/>
          </a:p>
        </p:txBody>
      </p:sp>
      <p:sp>
        <p:nvSpPr>
          <p:cNvPr id="6" name="Text Placeholder 5"/>
          <p:cNvSpPr>
            <a:spLocks noGrp="1"/>
          </p:cNvSpPr>
          <p:nvPr>
            <p:ph type="body" idx="1"/>
          </p:nvPr>
        </p:nvSpPr>
        <p:spPr>
          <a:xfrm>
            <a:off x="838200" y="1372235"/>
            <a:ext cx="5157470" cy="623570"/>
          </a:xfrm>
        </p:spPr>
        <p:txBody>
          <a:bodyPr/>
          <a:lstStyle/>
          <a:p>
            <a:r>
              <a:rPr lang="en-US" sz="2800" dirty="0"/>
              <a:t>INCLUSION CRITERIA</a:t>
            </a:r>
          </a:p>
        </p:txBody>
      </p:sp>
      <p:sp>
        <p:nvSpPr>
          <p:cNvPr id="7" name="Content Placeholder 6"/>
          <p:cNvSpPr>
            <a:spLocks noGrp="1"/>
          </p:cNvSpPr>
          <p:nvPr>
            <p:ph sz="half" idx="2"/>
          </p:nvPr>
        </p:nvSpPr>
        <p:spPr>
          <a:xfrm>
            <a:off x="606425" y="1995805"/>
            <a:ext cx="5389245" cy="4302125"/>
          </a:xfrm>
        </p:spPr>
        <p:txBody>
          <a:bodyPr>
            <a:noAutofit/>
          </a:bodyPr>
          <a:lstStyle/>
          <a:p>
            <a:pPr>
              <a:lnSpc>
                <a:spcPct val="150000"/>
              </a:lnSpc>
            </a:pPr>
            <a:r>
              <a:rPr lang="en-GB" dirty="0"/>
              <a:t>Symptomatic obstructive HCM</a:t>
            </a:r>
          </a:p>
          <a:p>
            <a:pPr>
              <a:lnSpc>
                <a:spcPct val="150000"/>
              </a:lnSpc>
            </a:pPr>
            <a:r>
              <a:rPr lang="en-GB" dirty="0"/>
              <a:t>NYHA functional class II–III</a:t>
            </a:r>
          </a:p>
          <a:p>
            <a:pPr>
              <a:lnSpc>
                <a:spcPct val="150000"/>
              </a:lnSpc>
            </a:pPr>
            <a:r>
              <a:rPr lang="en-GB" dirty="0"/>
              <a:t>LVOT gradient ≥30 mm Hg at rest or ≥50 mm Hg post Valsalva </a:t>
            </a:r>
            <a:r>
              <a:rPr lang="en-GB" dirty="0" err="1"/>
              <a:t>maneuver</a:t>
            </a:r>
            <a:endParaRPr lang="en-GB" dirty="0"/>
          </a:p>
          <a:p>
            <a:pPr>
              <a:lnSpc>
                <a:spcPct val="150000"/>
              </a:lnSpc>
            </a:pPr>
            <a:r>
              <a:rPr lang="en-GB" dirty="0"/>
              <a:t>KCCQ-CSS ≤ 90 at screening visit 2</a:t>
            </a:r>
          </a:p>
        </p:txBody>
      </p:sp>
      <p:sp>
        <p:nvSpPr>
          <p:cNvPr id="8" name="Text Placeholder 7"/>
          <p:cNvSpPr>
            <a:spLocks noGrp="1"/>
          </p:cNvSpPr>
          <p:nvPr>
            <p:ph type="body" sz="quarter" idx="3"/>
          </p:nvPr>
        </p:nvSpPr>
        <p:spPr>
          <a:xfrm>
            <a:off x="6170295" y="1372235"/>
            <a:ext cx="5183505" cy="623570"/>
          </a:xfrm>
        </p:spPr>
        <p:txBody>
          <a:bodyPr/>
          <a:lstStyle/>
          <a:p>
            <a:r>
              <a:rPr lang="en-US" sz="2800" dirty="0"/>
              <a:t>EXCLUSION CRITERIA</a:t>
            </a:r>
          </a:p>
        </p:txBody>
      </p:sp>
      <p:sp>
        <p:nvSpPr>
          <p:cNvPr id="9" name="Content Placeholder 8"/>
          <p:cNvSpPr>
            <a:spLocks noGrp="1"/>
          </p:cNvSpPr>
          <p:nvPr>
            <p:ph sz="quarter" idx="4"/>
          </p:nvPr>
        </p:nvSpPr>
        <p:spPr>
          <a:xfrm>
            <a:off x="6170295" y="1994535"/>
            <a:ext cx="5183505" cy="4303395"/>
          </a:xfrm>
        </p:spPr>
        <p:txBody>
          <a:bodyPr>
            <a:noAutofit/>
          </a:bodyPr>
          <a:lstStyle/>
          <a:p>
            <a:pPr>
              <a:lnSpc>
                <a:spcPct val="150000"/>
              </a:lnSpc>
            </a:pPr>
            <a:r>
              <a:rPr lang="en-GB" dirty="0"/>
              <a:t>History of AF</a:t>
            </a:r>
          </a:p>
          <a:p>
            <a:pPr>
              <a:lnSpc>
                <a:spcPct val="150000"/>
              </a:lnSpc>
            </a:pPr>
            <a:r>
              <a:rPr lang="en-GB" dirty="0"/>
              <a:t>Medical need prohibiting </a:t>
            </a:r>
            <a:r>
              <a:rPr lang="el-GR" dirty="0"/>
              <a:t>β-</a:t>
            </a:r>
            <a:r>
              <a:rPr lang="en-GB" dirty="0"/>
              <a:t>blockers/CCB discontinuation</a:t>
            </a:r>
          </a:p>
          <a:p>
            <a:pPr>
              <a:lnSpc>
                <a:spcPct val="150000"/>
              </a:lnSpc>
            </a:pPr>
            <a:r>
              <a:rPr lang="en-GB" dirty="0"/>
              <a:t>Septal reduction therapy within 6 months of screening</a:t>
            </a:r>
          </a:p>
          <a:p>
            <a:pPr>
              <a:lnSpc>
                <a:spcPct val="150000"/>
              </a:lnSpc>
            </a:pPr>
            <a:r>
              <a:rPr lang="en-GB" dirty="0"/>
              <a:t>SBP &gt;160 mmHg, HR&gt;100bpm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gn="ctr"/>
            <a:r>
              <a:rPr lang="en-GB" b="1" dirty="0"/>
              <a:t>RANDOMIZATION AND STRATIFICATION</a:t>
            </a:r>
            <a:endParaRPr lang="en-US" b="1" dirty="0"/>
          </a:p>
        </p:txBody>
      </p:sp>
      <p:sp>
        <p:nvSpPr>
          <p:cNvPr id="8" name="Shape 4"/>
          <p:cNvSpPr/>
          <p:nvPr/>
        </p:nvSpPr>
        <p:spPr>
          <a:xfrm flipV="1">
            <a:off x="3697562" y="2910431"/>
            <a:ext cx="1823085" cy="860425"/>
          </a:xfrm>
          <a:prstGeom prst="line">
            <a:avLst/>
          </a:prstGeom>
          <a:noFill/>
          <a:ln w="19050">
            <a:solidFill>
              <a:srgbClr val="5B5B5B"/>
            </a:solidFill>
            <a:prstDash val="solid"/>
            <a:headEnd type="none"/>
            <a:tailEnd type="triangle"/>
          </a:ln>
        </p:spPr>
        <p:txBody>
          <a:bodyPr/>
          <a:lstStyle/>
          <a:p>
            <a:endParaRPr lang="en-US" sz="2000">
              <a:latin typeface="Calibri" panose="020F0502020204030204" pitchFamily="34" charset="0"/>
              <a:cs typeface="Calibri" panose="020F0502020204030204" pitchFamily="34" charset="0"/>
            </a:endParaRPr>
          </a:p>
        </p:txBody>
      </p:sp>
      <p:sp>
        <p:nvSpPr>
          <p:cNvPr id="9" name="Shape 5"/>
          <p:cNvSpPr/>
          <p:nvPr/>
        </p:nvSpPr>
        <p:spPr>
          <a:xfrm>
            <a:off x="3451182" y="4093436"/>
            <a:ext cx="1837690" cy="24130"/>
          </a:xfrm>
          <a:prstGeom prst="line">
            <a:avLst/>
          </a:prstGeom>
          <a:noFill/>
          <a:ln w="19050">
            <a:solidFill>
              <a:srgbClr val="5B5B5B"/>
            </a:solidFill>
            <a:prstDash val="solid"/>
            <a:headEnd type="none"/>
            <a:tailEnd type="triangle"/>
          </a:ln>
        </p:spPr>
        <p:txBody>
          <a:bodyPr/>
          <a:lstStyle/>
          <a:p>
            <a:endParaRPr lang="en-US" sz="2000">
              <a:latin typeface="Calibri" panose="020F0502020204030204" pitchFamily="34" charset="0"/>
              <a:cs typeface="Calibri" panose="020F0502020204030204" pitchFamily="34" charset="0"/>
            </a:endParaRPr>
          </a:p>
        </p:txBody>
      </p:sp>
      <p:sp>
        <p:nvSpPr>
          <p:cNvPr id="10" name="Shape 6"/>
          <p:cNvSpPr/>
          <p:nvPr/>
        </p:nvSpPr>
        <p:spPr>
          <a:xfrm flipV="1">
            <a:off x="7289122" y="2899001"/>
            <a:ext cx="1792605" cy="11430"/>
          </a:xfrm>
          <a:prstGeom prst="line">
            <a:avLst/>
          </a:prstGeom>
          <a:noFill/>
          <a:ln w="19050">
            <a:solidFill>
              <a:srgbClr val="5B5B5B"/>
            </a:solidFill>
            <a:prstDash val="solid"/>
            <a:headEnd type="none"/>
            <a:tailEnd type="triangle"/>
          </a:ln>
        </p:spPr>
        <p:txBody>
          <a:bodyPr/>
          <a:lstStyle/>
          <a:p>
            <a:endParaRPr lang="en-US" sz="2000">
              <a:latin typeface="Calibri" panose="020F0502020204030204" pitchFamily="34" charset="0"/>
              <a:cs typeface="Calibri" panose="020F0502020204030204" pitchFamily="34" charset="0"/>
            </a:endParaRPr>
          </a:p>
        </p:txBody>
      </p:sp>
      <p:sp>
        <p:nvSpPr>
          <p:cNvPr id="11" name="Shape 7"/>
          <p:cNvSpPr/>
          <p:nvPr/>
        </p:nvSpPr>
        <p:spPr>
          <a:xfrm>
            <a:off x="7298647" y="4117566"/>
            <a:ext cx="1783080" cy="0"/>
          </a:xfrm>
          <a:prstGeom prst="line">
            <a:avLst/>
          </a:prstGeom>
          <a:noFill/>
          <a:ln w="19050">
            <a:solidFill>
              <a:srgbClr val="5B5B5B"/>
            </a:solidFill>
            <a:prstDash val="solid"/>
            <a:headEnd type="none"/>
            <a:tailEnd type="triangle"/>
          </a:ln>
        </p:spPr>
        <p:txBody>
          <a:bodyPr/>
          <a:lstStyle/>
          <a:p>
            <a:endParaRPr lang="en-US" sz="2000">
              <a:latin typeface="Calibri" panose="020F0502020204030204" pitchFamily="34" charset="0"/>
              <a:cs typeface="Calibri" panose="020F0502020204030204" pitchFamily="34" charset="0"/>
            </a:endParaRPr>
          </a:p>
        </p:txBody>
      </p:sp>
      <p:sp>
        <p:nvSpPr>
          <p:cNvPr id="12" name="Shape 8"/>
          <p:cNvSpPr/>
          <p:nvPr/>
        </p:nvSpPr>
        <p:spPr>
          <a:xfrm>
            <a:off x="1252855" y="3569288"/>
            <a:ext cx="2471420" cy="1004570"/>
          </a:xfrm>
          <a:prstGeom prst="roundRect">
            <a:avLst>
              <a:gd name="adj" fmla="val 10000"/>
            </a:avLst>
          </a:prstGeom>
          <a:solidFill>
            <a:srgbClr val="F7F1EF"/>
          </a:solidFill>
          <a:ln w="12700">
            <a:solidFill>
              <a:srgbClr val="8E1B24"/>
            </a:solidFill>
            <a:prstDash val="solid"/>
          </a:ln>
        </p:spPr>
        <p:txBody>
          <a:bodyPr/>
          <a:lstStyle/>
          <a:p>
            <a:endParaRPr lang="en-US" sz="2000">
              <a:latin typeface="Calibri" panose="020F0502020204030204" pitchFamily="34" charset="0"/>
              <a:cs typeface="Calibri" panose="020F0502020204030204" pitchFamily="34" charset="0"/>
            </a:endParaRPr>
          </a:p>
        </p:txBody>
      </p:sp>
      <p:sp>
        <p:nvSpPr>
          <p:cNvPr id="13" name="Text 9"/>
          <p:cNvSpPr/>
          <p:nvPr/>
        </p:nvSpPr>
        <p:spPr>
          <a:xfrm>
            <a:off x="1357630" y="3770538"/>
            <a:ext cx="1948815" cy="622935"/>
          </a:xfrm>
          <a:prstGeom prst="rect">
            <a:avLst/>
          </a:prstGeom>
          <a:noFill/>
        </p:spPr>
        <p:txBody>
          <a:bodyPr wrap="square" lIns="0" tIns="0" rIns="0" bIns="0" rtlCol="0" anchor="ctr">
            <a:noAutofit/>
          </a:bodyPr>
          <a:lstStyle/>
          <a:p>
            <a:pPr marL="0" indent="0" algn="ctr">
              <a:buNone/>
            </a:pPr>
            <a:r>
              <a:rPr lang="en-US" sz="2800" b="1" dirty="0">
                <a:solidFill>
                  <a:srgbClr val="0F2A44"/>
                </a:solidFill>
                <a:latin typeface="Calibri" panose="020F0502020204030204" pitchFamily="34" charset="0"/>
                <a:ea typeface="Times New Roman" panose="02020603050405020304" pitchFamily="34" charset="-122"/>
                <a:cs typeface="Calibri" panose="020F0502020204030204" pitchFamily="34" charset="0"/>
              </a:rPr>
              <a:t>Eligible</a:t>
            </a:r>
            <a:endParaRPr lang="en-US" sz="2800" dirty="0">
              <a:latin typeface="Calibri" panose="020F0502020204030204" pitchFamily="34" charset="0"/>
              <a:cs typeface="Calibri" panose="020F0502020204030204" pitchFamily="34" charset="0"/>
            </a:endParaRPr>
          </a:p>
          <a:p>
            <a:pPr marL="0" indent="0" algn="ctr">
              <a:buNone/>
            </a:pPr>
            <a:r>
              <a:rPr lang="en-US" sz="2800" b="1" dirty="0">
                <a:solidFill>
                  <a:srgbClr val="0F2A44"/>
                </a:solidFill>
                <a:latin typeface="Calibri" panose="020F0502020204030204" pitchFamily="34" charset="0"/>
                <a:ea typeface="Times New Roman" panose="02020603050405020304" pitchFamily="34" charset="-122"/>
                <a:cs typeface="Calibri" panose="020F0502020204030204" pitchFamily="34" charset="0"/>
              </a:rPr>
              <a:t>participants</a:t>
            </a:r>
          </a:p>
        </p:txBody>
      </p:sp>
      <p:sp>
        <p:nvSpPr>
          <p:cNvPr id="14" name="Shape 10"/>
          <p:cNvSpPr/>
          <p:nvPr/>
        </p:nvSpPr>
        <p:spPr>
          <a:xfrm>
            <a:off x="5288872" y="2478631"/>
            <a:ext cx="2498725" cy="866775"/>
          </a:xfrm>
          <a:prstGeom prst="roundRect">
            <a:avLst>
              <a:gd name="adj" fmla="val 8889"/>
            </a:avLst>
          </a:prstGeom>
          <a:solidFill>
            <a:srgbClr val="FFFFFF"/>
          </a:solidFill>
          <a:ln w="12700">
            <a:solidFill>
              <a:srgbClr val="4C8797"/>
            </a:solidFill>
            <a:prstDash val="solid"/>
          </a:ln>
        </p:spPr>
        <p:txBody>
          <a:bodyPr/>
          <a:lstStyle/>
          <a:p>
            <a:endParaRPr lang="en-US" sz="2000">
              <a:latin typeface="Calibri" panose="020F0502020204030204" pitchFamily="34" charset="0"/>
              <a:cs typeface="Calibri" panose="020F0502020204030204" pitchFamily="34" charset="0"/>
            </a:endParaRPr>
          </a:p>
        </p:txBody>
      </p:sp>
      <p:sp>
        <p:nvSpPr>
          <p:cNvPr id="15" name="Text 11"/>
          <p:cNvSpPr/>
          <p:nvPr/>
        </p:nvSpPr>
        <p:spPr>
          <a:xfrm>
            <a:off x="4990422" y="2509428"/>
            <a:ext cx="3209290" cy="831215"/>
          </a:xfrm>
          <a:prstGeom prst="rect">
            <a:avLst/>
          </a:prstGeom>
          <a:noFill/>
        </p:spPr>
        <p:txBody>
          <a:bodyPr wrap="square" lIns="0" tIns="0" rIns="0" bIns="0" rtlCol="0" anchor="ctr">
            <a:noAutofit/>
          </a:bodyPr>
          <a:lstStyle/>
          <a:p>
            <a:pPr marL="0" indent="0" algn="ctr">
              <a:buNone/>
            </a:pPr>
            <a:r>
              <a:rPr lang="en-US" sz="2800" b="1" dirty="0">
                <a:solidFill>
                  <a:srgbClr val="0F2A44"/>
                </a:solidFill>
                <a:latin typeface="Calibri" panose="020F0502020204030204" pitchFamily="34" charset="0"/>
                <a:ea typeface="Times New Roman" panose="02020603050405020304" pitchFamily="34" charset="-122"/>
                <a:cs typeface="Calibri" panose="020F0502020204030204" pitchFamily="34" charset="0"/>
              </a:rPr>
              <a:t>Aficamten +</a:t>
            </a:r>
            <a:endParaRPr lang="en-US" sz="2800" dirty="0">
              <a:latin typeface="Calibri" panose="020F0502020204030204" pitchFamily="34" charset="0"/>
              <a:cs typeface="Calibri" panose="020F0502020204030204" pitchFamily="34" charset="0"/>
            </a:endParaRPr>
          </a:p>
          <a:p>
            <a:pPr marL="0" indent="0" algn="ctr">
              <a:buNone/>
            </a:pPr>
            <a:r>
              <a:rPr lang="en-US" sz="2800" b="1" dirty="0">
                <a:solidFill>
                  <a:srgbClr val="0F2A44"/>
                </a:solidFill>
                <a:latin typeface="Calibri" panose="020F0502020204030204" pitchFamily="34" charset="0"/>
                <a:ea typeface="Times New Roman" panose="02020603050405020304" pitchFamily="34" charset="-122"/>
                <a:cs typeface="Calibri" panose="020F0502020204030204" pitchFamily="34" charset="0"/>
              </a:rPr>
              <a:t>placebo</a:t>
            </a:r>
          </a:p>
        </p:txBody>
      </p:sp>
      <p:sp>
        <p:nvSpPr>
          <p:cNvPr id="16" name="Shape 12"/>
          <p:cNvSpPr/>
          <p:nvPr/>
        </p:nvSpPr>
        <p:spPr>
          <a:xfrm>
            <a:off x="5288237" y="3854041"/>
            <a:ext cx="2499360" cy="962025"/>
          </a:xfrm>
          <a:prstGeom prst="roundRect">
            <a:avLst>
              <a:gd name="adj" fmla="val 8889"/>
            </a:avLst>
          </a:prstGeom>
          <a:solidFill>
            <a:srgbClr val="FFFFFF"/>
          </a:solidFill>
          <a:ln w="12700">
            <a:solidFill>
              <a:srgbClr val="C99A2C"/>
            </a:solidFill>
            <a:prstDash val="solid"/>
          </a:ln>
        </p:spPr>
        <p:txBody>
          <a:bodyPr/>
          <a:lstStyle/>
          <a:p>
            <a:endParaRPr lang="en-US" sz="2000">
              <a:latin typeface="Calibri" panose="020F0502020204030204" pitchFamily="34" charset="0"/>
              <a:cs typeface="Calibri" panose="020F0502020204030204" pitchFamily="34" charset="0"/>
            </a:endParaRPr>
          </a:p>
        </p:txBody>
      </p:sp>
      <p:sp>
        <p:nvSpPr>
          <p:cNvPr id="17" name="Text 13"/>
          <p:cNvSpPr/>
          <p:nvPr/>
        </p:nvSpPr>
        <p:spPr>
          <a:xfrm>
            <a:off x="4990422" y="3883410"/>
            <a:ext cx="2814320" cy="896620"/>
          </a:xfrm>
          <a:prstGeom prst="rect">
            <a:avLst/>
          </a:prstGeom>
          <a:noFill/>
        </p:spPr>
        <p:txBody>
          <a:bodyPr wrap="square" lIns="0" tIns="0" rIns="0" bIns="0" rtlCol="0" anchor="ctr">
            <a:noAutofit/>
          </a:bodyPr>
          <a:lstStyle/>
          <a:p>
            <a:pPr marL="0" indent="0" algn="ctr">
              <a:buNone/>
            </a:pPr>
            <a:r>
              <a:rPr lang="en-US" sz="2800" b="1" dirty="0">
                <a:solidFill>
                  <a:srgbClr val="0F2A44"/>
                </a:solidFill>
                <a:latin typeface="Calibri" panose="020F0502020204030204" pitchFamily="34" charset="0"/>
                <a:ea typeface="Times New Roman" panose="02020603050405020304" pitchFamily="34" charset="-122"/>
                <a:cs typeface="Calibri" panose="020F0502020204030204" pitchFamily="34" charset="0"/>
              </a:rPr>
              <a:t>Metoprolol +</a:t>
            </a:r>
            <a:endParaRPr lang="en-US" sz="2800" dirty="0">
              <a:latin typeface="Calibri" panose="020F0502020204030204" pitchFamily="34" charset="0"/>
              <a:cs typeface="Calibri" panose="020F0502020204030204" pitchFamily="34" charset="0"/>
            </a:endParaRPr>
          </a:p>
          <a:p>
            <a:pPr marL="0" indent="0" algn="ctr">
              <a:buNone/>
            </a:pPr>
            <a:r>
              <a:rPr lang="en-US" sz="2800" b="1" dirty="0">
                <a:solidFill>
                  <a:srgbClr val="0F2A44"/>
                </a:solidFill>
                <a:latin typeface="Calibri" panose="020F0502020204030204" pitchFamily="34" charset="0"/>
                <a:ea typeface="Times New Roman" panose="02020603050405020304" pitchFamily="34" charset="-122"/>
                <a:cs typeface="Calibri" panose="020F0502020204030204" pitchFamily="34" charset="0"/>
              </a:rPr>
              <a:t>placebo</a:t>
            </a:r>
          </a:p>
        </p:txBody>
      </p:sp>
      <p:sp>
        <p:nvSpPr>
          <p:cNvPr id="18" name="Shape 14"/>
          <p:cNvSpPr/>
          <p:nvPr/>
        </p:nvSpPr>
        <p:spPr>
          <a:xfrm>
            <a:off x="9081727" y="2746601"/>
            <a:ext cx="2148840" cy="1379855"/>
          </a:xfrm>
          <a:prstGeom prst="roundRect">
            <a:avLst>
              <a:gd name="adj" fmla="val 8889"/>
            </a:avLst>
          </a:prstGeom>
          <a:solidFill>
            <a:srgbClr val="F4F7F8"/>
          </a:solidFill>
          <a:ln w="12700">
            <a:solidFill>
              <a:srgbClr val="8E1B24"/>
            </a:solidFill>
            <a:prstDash val="solid"/>
          </a:ln>
        </p:spPr>
        <p:txBody>
          <a:bodyPr/>
          <a:lstStyle/>
          <a:p>
            <a:endParaRPr lang="en-US" sz="2000">
              <a:latin typeface="Calibri" panose="020F0502020204030204" pitchFamily="34" charset="0"/>
              <a:cs typeface="Calibri" panose="020F0502020204030204" pitchFamily="34" charset="0"/>
            </a:endParaRPr>
          </a:p>
        </p:txBody>
      </p:sp>
      <p:sp>
        <p:nvSpPr>
          <p:cNvPr id="19" name="Text 15"/>
          <p:cNvSpPr/>
          <p:nvPr/>
        </p:nvSpPr>
        <p:spPr>
          <a:xfrm>
            <a:off x="9154879" y="3148302"/>
            <a:ext cx="2002536" cy="676656"/>
          </a:xfrm>
          <a:prstGeom prst="rect">
            <a:avLst/>
          </a:prstGeom>
          <a:noFill/>
        </p:spPr>
        <p:txBody>
          <a:bodyPr wrap="square" lIns="0" tIns="0" rIns="0" bIns="0" rtlCol="0" anchor="ctr">
            <a:noAutofit/>
          </a:bodyPr>
          <a:lstStyle/>
          <a:p>
            <a:pPr marL="0" indent="0" algn="ctr">
              <a:buNone/>
            </a:pPr>
            <a:r>
              <a:rPr lang="en-US" sz="2800" b="1" dirty="0">
                <a:solidFill>
                  <a:srgbClr val="0F2A44"/>
                </a:solidFill>
                <a:latin typeface="Calibri" panose="020F0502020204030204" pitchFamily="34" charset="0"/>
                <a:ea typeface="Times New Roman" panose="02020603050405020304" pitchFamily="34" charset="-122"/>
                <a:cs typeface="Calibri" panose="020F0502020204030204" pitchFamily="34" charset="0"/>
              </a:rPr>
              <a:t>24-week</a:t>
            </a:r>
            <a:endParaRPr lang="en-US" sz="2800" dirty="0">
              <a:latin typeface="Calibri" panose="020F0502020204030204" pitchFamily="34" charset="0"/>
              <a:cs typeface="Calibri" panose="020F0502020204030204" pitchFamily="34" charset="0"/>
            </a:endParaRPr>
          </a:p>
          <a:p>
            <a:pPr marL="0" indent="0" algn="ctr">
              <a:buNone/>
            </a:pPr>
            <a:r>
              <a:rPr lang="en-US" sz="2800" b="1" dirty="0">
                <a:solidFill>
                  <a:srgbClr val="0F2A44"/>
                </a:solidFill>
                <a:latin typeface="Calibri" panose="020F0502020204030204" pitchFamily="34" charset="0"/>
                <a:ea typeface="Times New Roman" panose="02020603050405020304" pitchFamily="34" charset="-122"/>
                <a:cs typeface="Calibri" panose="020F0502020204030204" pitchFamily="34" charset="0"/>
              </a:rPr>
              <a:t>outcome assessment</a:t>
            </a:r>
          </a:p>
        </p:txBody>
      </p:sp>
      <p:sp>
        <p:nvSpPr>
          <p:cNvPr id="20" name="Shape 16"/>
          <p:cNvSpPr/>
          <p:nvPr/>
        </p:nvSpPr>
        <p:spPr>
          <a:xfrm>
            <a:off x="1181735" y="1624238"/>
            <a:ext cx="3382645" cy="578485"/>
          </a:xfrm>
          <a:prstGeom prst="rect">
            <a:avLst/>
          </a:prstGeom>
          <a:solidFill>
            <a:srgbClr val="8E1B24"/>
          </a:solidFill>
          <a:ln w="12700">
            <a:solidFill>
              <a:srgbClr val="8E1B24"/>
            </a:solidFill>
            <a:prstDash val="solid"/>
          </a:ln>
        </p:spPr>
        <p:txBody>
          <a:bodyPr/>
          <a:lstStyle/>
          <a:p>
            <a:endParaRPr lang="en-US" sz="2000">
              <a:latin typeface="Calibri" panose="020F0502020204030204" pitchFamily="34" charset="0"/>
              <a:cs typeface="Calibri" panose="020F0502020204030204" pitchFamily="34" charset="0"/>
            </a:endParaRPr>
          </a:p>
        </p:txBody>
      </p:sp>
      <p:sp>
        <p:nvSpPr>
          <p:cNvPr id="21" name="Text 17"/>
          <p:cNvSpPr/>
          <p:nvPr/>
        </p:nvSpPr>
        <p:spPr>
          <a:xfrm>
            <a:off x="1357632" y="1651000"/>
            <a:ext cx="3046730" cy="427355"/>
          </a:xfrm>
          <a:prstGeom prst="rect">
            <a:avLst/>
          </a:prstGeom>
          <a:noFill/>
        </p:spPr>
        <p:txBody>
          <a:bodyPr wrap="square" lIns="0" tIns="0" rIns="0" bIns="0" rtlCol="0" anchor="t">
            <a:normAutofit/>
          </a:bodyPr>
          <a:lstStyle/>
          <a:p>
            <a:pPr marL="0" indent="0" algn="l">
              <a:buNone/>
            </a:pPr>
            <a:r>
              <a:rPr lang="en-US" sz="2800" b="1" dirty="0">
                <a:solidFill>
                  <a:srgbClr val="FFFFFF"/>
                </a:solidFill>
                <a:latin typeface="Calibri" panose="020F0502020204030204" pitchFamily="34" charset="0"/>
                <a:ea typeface="Times New Roman" panose="02020603050405020304" pitchFamily="34" charset="-122"/>
                <a:cs typeface="Calibri" panose="020F0502020204030204" pitchFamily="34" charset="0"/>
              </a:rPr>
              <a:t>Randomization</a:t>
            </a:r>
          </a:p>
        </p:txBody>
      </p:sp>
      <p:sp>
        <p:nvSpPr>
          <p:cNvPr id="22" name="Text 18"/>
          <p:cNvSpPr/>
          <p:nvPr/>
        </p:nvSpPr>
        <p:spPr>
          <a:xfrm>
            <a:off x="1252855" y="2334168"/>
            <a:ext cx="3550285" cy="979170"/>
          </a:xfrm>
          <a:prstGeom prst="rect">
            <a:avLst/>
          </a:prstGeom>
          <a:noFill/>
        </p:spPr>
        <p:txBody>
          <a:bodyPr wrap="square" lIns="635" tIns="635" rIns="635" bIns="635" rtlCol="0" anchor="t">
            <a:noAutofit/>
          </a:bodyPr>
          <a:lstStyle/>
          <a:p>
            <a:pPr marL="0" indent="0" algn="l">
              <a:buNone/>
            </a:pPr>
            <a:r>
              <a:rPr lang="en-US" sz="2800" dirty="0">
                <a:solidFill>
                  <a:srgbClr val="1F1F1F"/>
                </a:solidFill>
                <a:latin typeface="Calibri" panose="020F0502020204030204" pitchFamily="34" charset="0"/>
                <a:ea typeface="Times New Roman" panose="02020603050405020304" pitchFamily="34" charset="-122"/>
                <a:cs typeface="Calibri" panose="020F0502020204030204" pitchFamily="34" charset="0"/>
              </a:rPr>
              <a:t>1:1 Assignment via web-response system</a:t>
            </a:r>
          </a:p>
        </p:txBody>
      </p:sp>
      <p:sp>
        <p:nvSpPr>
          <p:cNvPr id="23" name="Shape 19"/>
          <p:cNvSpPr/>
          <p:nvPr/>
        </p:nvSpPr>
        <p:spPr>
          <a:xfrm>
            <a:off x="4603117" y="5039995"/>
            <a:ext cx="3538855" cy="554990"/>
          </a:xfrm>
          <a:prstGeom prst="rect">
            <a:avLst/>
          </a:prstGeom>
          <a:solidFill>
            <a:srgbClr val="0F2A44"/>
          </a:solidFill>
          <a:ln w="12700">
            <a:solidFill>
              <a:srgbClr val="0F2A44"/>
            </a:solidFill>
            <a:prstDash val="solid"/>
          </a:ln>
        </p:spPr>
        <p:txBody>
          <a:bodyPr/>
          <a:lstStyle/>
          <a:p>
            <a:endParaRPr lang="en-US" sz="2000">
              <a:latin typeface="Calibri" panose="020F0502020204030204" pitchFamily="34" charset="0"/>
              <a:cs typeface="Calibri" panose="020F0502020204030204" pitchFamily="34" charset="0"/>
            </a:endParaRPr>
          </a:p>
        </p:txBody>
      </p:sp>
      <p:sp>
        <p:nvSpPr>
          <p:cNvPr id="24" name="Text 20"/>
          <p:cNvSpPr/>
          <p:nvPr/>
        </p:nvSpPr>
        <p:spPr>
          <a:xfrm>
            <a:off x="4676777" y="5134926"/>
            <a:ext cx="3063875" cy="310515"/>
          </a:xfrm>
          <a:prstGeom prst="rect">
            <a:avLst/>
          </a:prstGeom>
          <a:noFill/>
        </p:spPr>
        <p:txBody>
          <a:bodyPr wrap="square" lIns="0" tIns="0" rIns="0" bIns="0" rtlCol="0" anchor="t"/>
          <a:lstStyle/>
          <a:p>
            <a:pPr marL="0" indent="0" algn="l">
              <a:buNone/>
            </a:pPr>
            <a:r>
              <a:rPr lang="en-US" sz="2800" b="1" dirty="0">
                <a:solidFill>
                  <a:srgbClr val="FFFFFF"/>
                </a:solidFill>
                <a:latin typeface="Calibri" panose="020F0502020204030204" pitchFamily="34" charset="0"/>
                <a:ea typeface="Times New Roman" panose="02020603050405020304" pitchFamily="34" charset="-122"/>
                <a:cs typeface="Calibri" panose="020F0502020204030204" pitchFamily="34" charset="0"/>
              </a:rPr>
              <a:t>Stratification factors</a:t>
            </a:r>
          </a:p>
        </p:txBody>
      </p:sp>
      <p:sp>
        <p:nvSpPr>
          <p:cNvPr id="25" name="Text 21"/>
          <p:cNvSpPr/>
          <p:nvPr/>
        </p:nvSpPr>
        <p:spPr>
          <a:xfrm>
            <a:off x="1357630" y="5738494"/>
            <a:ext cx="9828530" cy="1125129"/>
          </a:xfrm>
          <a:prstGeom prst="rect">
            <a:avLst/>
          </a:prstGeom>
          <a:noFill/>
        </p:spPr>
        <p:txBody>
          <a:bodyPr wrap="square" lIns="762" tIns="762" rIns="762" bIns="762" numCol="2" rtlCol="0" anchor="ctr">
            <a:normAutofit/>
          </a:bodyPr>
          <a:lstStyle/>
          <a:p>
            <a:pPr marL="0" indent="0">
              <a:buNone/>
            </a:pPr>
            <a:r>
              <a:rPr lang="en-US" sz="2400" dirty="0">
                <a:solidFill>
                  <a:srgbClr val="1F1F1F"/>
                </a:solidFill>
                <a:latin typeface="Calibri" panose="020F0502020204030204" pitchFamily="34" charset="0"/>
                <a:ea typeface="Times New Roman" panose="02020603050405020304" pitchFamily="34" charset="-122"/>
                <a:cs typeface="Calibri" panose="020F0502020204030204" pitchFamily="34" charset="0"/>
              </a:rPr>
              <a:t>• CPET modality: treadmill or upright cycle ergometry</a:t>
            </a:r>
          </a:p>
          <a:p>
            <a:pPr marL="0" indent="0">
              <a:buNone/>
            </a:pPr>
            <a:endParaRPr lang="en-US" sz="2400" dirty="0">
              <a:latin typeface="Calibri" panose="020F0502020204030204" pitchFamily="34" charset="0"/>
              <a:cs typeface="Calibri" panose="020F0502020204030204" pitchFamily="34" charset="0"/>
            </a:endParaRPr>
          </a:p>
          <a:p>
            <a:pPr marL="0" indent="0">
              <a:buNone/>
            </a:pPr>
            <a:r>
              <a:rPr lang="en-US" sz="2400" dirty="0">
                <a:solidFill>
                  <a:srgbClr val="1F1F1F"/>
                </a:solidFill>
                <a:latin typeface="Calibri" panose="020F0502020204030204" pitchFamily="34" charset="0"/>
                <a:ea typeface="Times New Roman" panose="02020603050405020304" pitchFamily="34" charset="-122"/>
                <a:cs typeface="Calibri" panose="020F0502020204030204" pitchFamily="34" charset="0"/>
              </a:rPr>
              <a:t>• Duration of oHCM diagnosis.</a:t>
            </a:r>
            <a:endParaRPr lang="en-US" sz="2400" dirty="0">
              <a:latin typeface="Calibri" panose="020F0502020204030204" pitchFamily="34" charset="0"/>
              <a:cs typeface="Calibri" panose="020F0502020204030204" pitchFamily="34" charset="0"/>
            </a:endParaRPr>
          </a:p>
          <a:p>
            <a:pPr marL="0" indent="0">
              <a:buNone/>
            </a:pPr>
            <a:r>
              <a:rPr lang="en-US" sz="2400" dirty="0">
                <a:solidFill>
                  <a:srgbClr val="1F1F1F"/>
                </a:solidFill>
                <a:latin typeface="Calibri" panose="020F0502020204030204" pitchFamily="34" charset="0"/>
                <a:ea typeface="Times New Roman" panose="02020603050405020304" pitchFamily="34" charset="-122"/>
                <a:cs typeface="Calibri" panose="020F0502020204030204" pitchFamily="34" charset="0"/>
              </a:rPr>
              <a:t>• Previous pharmacologic therapy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lum bright="-6000"/>
          </a:blip>
          <a:srcRect l="5074" t="23663" r="5371" b="6747"/>
          <a:stretch/>
        </p:blipFill>
        <p:spPr>
          <a:xfrm>
            <a:off x="362092" y="400050"/>
            <a:ext cx="11467815" cy="60579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p:cNvPicPr>
            <a:picLocks noChangeAspect="1"/>
          </p:cNvPicPr>
          <p:nvPr/>
        </p:nvPicPr>
        <p:blipFill rotWithShape="1">
          <a:blip r:embed="rId3">
            <a:lum bright="-6000"/>
          </a:blip>
          <a:srcRect l="1500" t="7332" r="1643" b="3669"/>
          <a:stretch>
            <a:fillRect/>
          </a:stretch>
        </p:blipFill>
        <p:spPr>
          <a:xfrm>
            <a:off x="453021" y="613810"/>
            <a:ext cx="11285958" cy="56303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2482"/>
            <a:ext cx="10515600" cy="937895"/>
          </a:xfrm>
        </p:spPr>
        <p:txBody>
          <a:bodyPr/>
          <a:lstStyle/>
          <a:p>
            <a:pPr algn="ctr"/>
            <a:r>
              <a:rPr lang="en-US" b="1" dirty="0"/>
              <a:t>CPET DOMAINS</a:t>
            </a:r>
          </a:p>
        </p:txBody>
      </p:sp>
      <p:pic>
        <p:nvPicPr>
          <p:cNvPr id="6" name="Content Placeholder 5">
            <a:extLst>
              <a:ext uri="{FF2B5EF4-FFF2-40B4-BE49-F238E27FC236}">
                <a16:creationId xmlns:a16="http://schemas.microsoft.com/office/drawing/2014/main" id="{21B3A818-5064-DC77-A05F-A6D271AFC081}"/>
              </a:ext>
            </a:extLst>
          </p:cNvPr>
          <p:cNvPicPr>
            <a:picLocks noGrp="1" noChangeAspect="1"/>
          </p:cNvPicPr>
          <p:nvPr>
            <p:ph idx="1"/>
          </p:nvPr>
        </p:nvPicPr>
        <p:blipFill>
          <a:blip r:embed="rId3"/>
          <a:stretch>
            <a:fillRect/>
          </a:stretch>
        </p:blipFill>
        <p:spPr>
          <a:xfrm>
            <a:off x="95285" y="1320378"/>
            <a:ext cx="12096715" cy="51551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Title 1"/>
          <p:cNvSpPr>
            <a:spLocks noGrp="1"/>
          </p:cNvSpPr>
          <p:nvPr>
            <p:ph type="title"/>
          </p:nvPr>
        </p:nvSpPr>
        <p:spPr>
          <a:xfrm>
            <a:off x="840105" y="365125"/>
            <a:ext cx="10515600" cy="804545"/>
          </a:xfrm>
        </p:spPr>
        <p:txBody>
          <a:bodyPr/>
          <a:lstStyle/>
          <a:p>
            <a:pPr algn="ctr"/>
            <a:r>
              <a:rPr lang="en-US" b="1" dirty="0">
                <a:cs typeface="Calibri Light" panose="020F0302020204030204" charset="0"/>
              </a:rPr>
              <a:t>METHODOLOGY</a:t>
            </a:r>
          </a:p>
        </p:txBody>
      </p:sp>
      <p:sp>
        <p:nvSpPr>
          <p:cNvPr id="1048620" name="Text Placeholder 2"/>
          <p:cNvSpPr>
            <a:spLocks noGrp="1"/>
          </p:cNvSpPr>
          <p:nvPr>
            <p:ph type="body" idx="1"/>
          </p:nvPr>
        </p:nvSpPr>
        <p:spPr>
          <a:xfrm>
            <a:off x="900216" y="1219511"/>
            <a:ext cx="5157787" cy="823912"/>
          </a:xfrm>
        </p:spPr>
        <p:txBody>
          <a:bodyPr/>
          <a:lstStyle/>
          <a:p>
            <a:r>
              <a:rPr lang="en-US" sz="2800" dirty="0"/>
              <a:t>PRIMARY ENDPOINT</a:t>
            </a:r>
          </a:p>
        </p:txBody>
      </p:sp>
      <p:sp>
        <p:nvSpPr>
          <p:cNvPr id="1048621" name="Content Placeholder 3"/>
          <p:cNvSpPr>
            <a:spLocks noGrp="1"/>
          </p:cNvSpPr>
          <p:nvPr>
            <p:ph sz="half" idx="2"/>
          </p:nvPr>
        </p:nvSpPr>
        <p:spPr>
          <a:xfrm>
            <a:off x="751628" y="2004423"/>
            <a:ext cx="5157787" cy="3890600"/>
          </a:xfrm>
        </p:spPr>
        <p:txBody>
          <a:bodyPr/>
          <a:lstStyle/>
          <a:p>
            <a:pPr>
              <a:lnSpc>
                <a:spcPct val="160000"/>
              </a:lnSpc>
            </a:pPr>
            <a:r>
              <a:rPr lang="en-US" dirty="0"/>
              <a:t>Peak oxygen consumption (Peak VO₂) measured by (CPET)</a:t>
            </a:r>
          </a:p>
        </p:txBody>
      </p:sp>
      <p:sp>
        <p:nvSpPr>
          <p:cNvPr id="1048622" name="Text Placeholder 4"/>
          <p:cNvSpPr>
            <a:spLocks noGrp="1"/>
          </p:cNvSpPr>
          <p:nvPr>
            <p:ph type="body" sz="quarter" idx="3"/>
          </p:nvPr>
        </p:nvSpPr>
        <p:spPr>
          <a:xfrm>
            <a:off x="6123408" y="1311526"/>
            <a:ext cx="5183505" cy="698500"/>
          </a:xfrm>
        </p:spPr>
        <p:txBody>
          <a:bodyPr/>
          <a:lstStyle/>
          <a:p>
            <a:r>
              <a:rPr lang="en-US" sz="2800" dirty="0"/>
              <a:t>SECONDARY ENDPOINT</a:t>
            </a:r>
          </a:p>
        </p:txBody>
      </p:sp>
      <p:sp>
        <p:nvSpPr>
          <p:cNvPr id="1048623" name="Content Placeholder 5"/>
          <p:cNvSpPr>
            <a:spLocks noGrp="1"/>
          </p:cNvSpPr>
          <p:nvPr>
            <p:ph sz="quarter" idx="4"/>
          </p:nvPr>
        </p:nvSpPr>
        <p:spPr>
          <a:xfrm>
            <a:off x="6211040" y="2149475"/>
            <a:ext cx="5183505" cy="3890601"/>
          </a:xfrm>
        </p:spPr>
        <p:txBody>
          <a:bodyPr>
            <a:noAutofit/>
          </a:bodyPr>
          <a:lstStyle/>
          <a:p>
            <a:pPr>
              <a:lnSpc>
                <a:spcPts val="3660"/>
              </a:lnSpc>
            </a:pPr>
            <a:r>
              <a:rPr lang="en-US" dirty="0"/>
              <a:t>NYHA class improvement</a:t>
            </a:r>
          </a:p>
          <a:p>
            <a:pPr>
              <a:lnSpc>
                <a:spcPts val="3660"/>
              </a:lnSpc>
            </a:pPr>
            <a:r>
              <a:rPr lang="en-US" dirty="0"/>
              <a:t>Change in KCCQ-CSS (health status)</a:t>
            </a:r>
          </a:p>
          <a:p>
            <a:pPr>
              <a:lnSpc>
                <a:spcPts val="3660"/>
              </a:lnSpc>
            </a:pPr>
            <a:r>
              <a:rPr lang="en-US" dirty="0"/>
              <a:t>Change in NT-</a:t>
            </a:r>
            <a:r>
              <a:rPr lang="en-US" dirty="0" err="1"/>
              <a:t>proBNP</a:t>
            </a:r>
            <a:r>
              <a:rPr lang="en-US" dirty="0"/>
              <a:t> (myocardial stress)</a:t>
            </a:r>
          </a:p>
          <a:p>
            <a:pPr>
              <a:lnSpc>
                <a:spcPts val="3660"/>
              </a:lnSpc>
            </a:pPr>
            <a:r>
              <a:rPr lang="en-US" dirty="0"/>
              <a:t>Change in post-Valsalva LVOT gradient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372533"/>
            <a:ext cx="10515600" cy="861060"/>
          </a:xfrm>
        </p:spPr>
        <p:txBody>
          <a:bodyPr/>
          <a:lstStyle/>
          <a:p>
            <a:pPr algn="ctr"/>
            <a:r>
              <a:rPr lang="en-GB" b="1" dirty="0"/>
              <a:t>STATISTICAL ANALYSIS</a:t>
            </a:r>
            <a:endParaRPr lang="en-US" b="1" dirty="0"/>
          </a:p>
        </p:txBody>
      </p:sp>
      <p:sp>
        <p:nvSpPr>
          <p:cNvPr id="4" name="Content Placeholder 3"/>
          <p:cNvSpPr>
            <a:spLocks noGrp="1"/>
          </p:cNvSpPr>
          <p:nvPr>
            <p:ph idx="1"/>
          </p:nvPr>
        </p:nvSpPr>
        <p:spPr>
          <a:xfrm>
            <a:off x="838200" y="1473200"/>
            <a:ext cx="10659533" cy="5012267"/>
          </a:xfrm>
        </p:spPr>
        <p:txBody>
          <a:bodyPr numCol="2">
            <a:noAutofit/>
          </a:bodyPr>
          <a:lstStyle/>
          <a:p>
            <a:pPr algn="l">
              <a:lnSpc>
                <a:spcPts val="3160"/>
              </a:lnSpc>
            </a:pPr>
            <a:r>
              <a:rPr lang="en-US" dirty="0">
                <a:ea typeface="Times New Roman" panose="02020603050405020304" pitchFamily="34" charset="-122"/>
                <a:cs typeface="Calibri" panose="020F0502020204030204" pitchFamily="34" charset="0"/>
                <a:sym typeface="+mn-ea"/>
              </a:rPr>
              <a:t>Software: STATA version 19, analyses performed by Brigham and Women’s Hospital Trials Center</a:t>
            </a:r>
            <a:endParaRPr lang="en-US" dirty="0">
              <a:cs typeface="Calibri" panose="020F0502020204030204" pitchFamily="34" charset="0"/>
              <a:sym typeface="+mn-ea"/>
            </a:endParaRPr>
          </a:p>
          <a:p>
            <a:pPr algn="l">
              <a:lnSpc>
                <a:spcPts val="3160"/>
              </a:lnSpc>
            </a:pPr>
            <a:r>
              <a:rPr lang="en-US" dirty="0">
                <a:ea typeface="Times New Roman" panose="02020603050405020304" pitchFamily="34" charset="-122"/>
                <a:cs typeface="Calibri" panose="020F0502020204030204" pitchFamily="34" charset="0"/>
                <a:sym typeface="+mn-ea"/>
              </a:rPr>
              <a:t>ANCOVA model: treatment, randomization stratification factors (CPET modality, </a:t>
            </a:r>
            <a:r>
              <a:rPr lang="en-US" dirty="0" err="1">
                <a:ea typeface="Times New Roman" panose="02020603050405020304" pitchFamily="34" charset="-122"/>
                <a:cs typeface="Calibri" panose="020F0502020204030204" pitchFamily="34" charset="0"/>
                <a:sym typeface="+mn-ea"/>
              </a:rPr>
              <a:t>oHCM</a:t>
            </a:r>
            <a:r>
              <a:rPr lang="en-US" dirty="0">
                <a:ea typeface="Times New Roman" panose="02020603050405020304" pitchFamily="34" charset="-122"/>
                <a:cs typeface="Calibri" panose="020F0502020204030204" pitchFamily="34" charset="0"/>
                <a:sym typeface="+mn-ea"/>
              </a:rPr>
              <a:t> duration, prior therapy), and baseline value of the outcome as covariates</a:t>
            </a:r>
            <a:endParaRPr lang="en-US" dirty="0">
              <a:cs typeface="Calibri" panose="020F0502020204030204" pitchFamily="34" charset="0"/>
              <a:sym typeface="+mn-ea"/>
            </a:endParaRPr>
          </a:p>
          <a:p>
            <a:pPr algn="l">
              <a:lnSpc>
                <a:spcPts val="3160"/>
              </a:lnSpc>
            </a:pPr>
            <a:endParaRPr lang="en-US" dirty="0">
              <a:cs typeface="Calibri" panose="020F0502020204030204" pitchFamily="34" charset="0"/>
              <a:sym typeface="+mn-ea"/>
            </a:endParaRPr>
          </a:p>
          <a:p>
            <a:pPr>
              <a:lnSpc>
                <a:spcPts val="3160"/>
              </a:lnSpc>
            </a:pPr>
            <a:r>
              <a:rPr lang="en-US" dirty="0">
                <a:sym typeface="+mn-ea"/>
              </a:rPr>
              <a:t>For 16 CPET variables, statistical significance threshold was P&lt;.0031 after Bonferroni correction</a:t>
            </a:r>
            <a:endParaRPr lang="en-US" dirty="0">
              <a:ea typeface="Times New Roman" panose="02020603050405020304" pitchFamily="34" charset="-122"/>
              <a:cs typeface="Calibri" panose="020F0502020204030204" pitchFamily="34" charset="0"/>
              <a:sym typeface="+mn-ea"/>
            </a:endParaRPr>
          </a:p>
          <a:p>
            <a:pPr algn="l">
              <a:lnSpc>
                <a:spcPts val="3160"/>
              </a:lnSpc>
            </a:pPr>
            <a:r>
              <a:rPr lang="en-US" dirty="0">
                <a:ea typeface="Times New Roman" panose="02020603050405020304" pitchFamily="34" charset="-122"/>
                <a:cs typeface="Calibri" panose="020F0502020204030204" pitchFamily="34" charset="0"/>
                <a:sym typeface="+mn-ea"/>
              </a:rPr>
              <a:t>Assumed </a:t>
            </a:r>
            <a:r>
              <a:rPr lang="en-US" dirty="0" err="1">
                <a:ea typeface="Times New Roman" panose="02020603050405020304" pitchFamily="34" charset="-122"/>
                <a:cs typeface="Calibri" panose="020F0502020204030204" pitchFamily="34" charset="0"/>
                <a:sym typeface="+mn-ea"/>
              </a:rPr>
              <a:t>Δ</a:t>
            </a:r>
            <a:r>
              <a:rPr lang="en-US" dirty="0">
                <a:ea typeface="Times New Roman" panose="02020603050405020304" pitchFamily="34" charset="-122"/>
                <a:cs typeface="Calibri" panose="020F0502020204030204" pitchFamily="34" charset="0"/>
                <a:sym typeface="+mn-ea"/>
              </a:rPr>
              <a:t> = 2.0 mL/kg/min in peak VO2 (aficamten vs. metoprolol)</a:t>
            </a:r>
            <a:endParaRPr lang="en-US" dirty="0">
              <a:cs typeface="Calibri" panose="020F0502020204030204" pitchFamily="34" charset="0"/>
              <a:sym typeface="+mn-ea"/>
            </a:endParaRPr>
          </a:p>
          <a:p>
            <a:pPr algn="l">
              <a:lnSpc>
                <a:spcPts val="3160"/>
              </a:lnSpc>
            </a:pPr>
            <a:r>
              <a:rPr lang="en-US" dirty="0">
                <a:ea typeface="Times New Roman" panose="02020603050405020304" pitchFamily="34" charset="-122"/>
                <a:cs typeface="Calibri" panose="020F0502020204030204" pitchFamily="34" charset="0"/>
                <a:sym typeface="+mn-ea"/>
              </a:rPr>
              <a:t>N = 170 provides ≥ 90% power to detect the assumed difference with 2-sided type 1 error of 0.05)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ETHICAL CONSIDERATIONS</a:t>
            </a:r>
            <a:endParaRPr lang="en-US" b="1" dirty="0"/>
          </a:p>
        </p:txBody>
      </p:sp>
      <p:sp>
        <p:nvSpPr>
          <p:cNvPr id="3" name="Content Placeholder 2"/>
          <p:cNvSpPr>
            <a:spLocks noGrp="1"/>
          </p:cNvSpPr>
          <p:nvPr>
            <p:ph idx="1"/>
          </p:nvPr>
        </p:nvSpPr>
        <p:spPr/>
        <p:txBody>
          <a:bodyPr>
            <a:noAutofit/>
          </a:bodyPr>
          <a:lstStyle/>
          <a:p>
            <a:pPr>
              <a:lnSpc>
                <a:spcPct val="150000"/>
              </a:lnSpc>
            </a:pPr>
            <a:r>
              <a:rPr lang="en-US" dirty="0"/>
              <a:t>All participants gave written informed consent before enrollment</a:t>
            </a:r>
          </a:p>
          <a:p>
            <a:pPr>
              <a:lnSpc>
                <a:spcPct val="150000"/>
              </a:lnSpc>
            </a:pPr>
            <a:r>
              <a:rPr lang="en-US" dirty="0"/>
              <a:t>IRB and ethics committee approval was obtained at each center</a:t>
            </a:r>
          </a:p>
          <a:p>
            <a:pPr>
              <a:lnSpc>
                <a:spcPct val="150000"/>
              </a:lnSpc>
            </a:pPr>
            <a:r>
              <a:rPr lang="en-US" dirty="0"/>
              <a:t>Conducted per Declaration of Helsinki and ICH Good Clinical Practice</a:t>
            </a:r>
            <a:endParaRPr lang="en-US" b="1" dirty="0"/>
          </a:p>
          <a:p>
            <a:pPr>
              <a:lnSpc>
                <a:spcPct val="150000"/>
              </a:lnSpc>
            </a:pPr>
            <a:r>
              <a:rPr lang="en-US" dirty="0"/>
              <a:t>Independent data monitoring committee reviewed unblinded data for monitoring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FUNDING AND CONFLICT OF INTEREST</a:t>
            </a:r>
            <a:endParaRPr lang="en-US" b="1" dirty="0"/>
          </a:p>
        </p:txBody>
      </p:sp>
      <p:sp>
        <p:nvSpPr>
          <p:cNvPr id="3" name="Content Placeholder 2"/>
          <p:cNvSpPr>
            <a:spLocks noGrp="1"/>
          </p:cNvSpPr>
          <p:nvPr>
            <p:ph idx="1"/>
          </p:nvPr>
        </p:nvSpPr>
        <p:spPr/>
        <p:txBody>
          <a:bodyPr>
            <a:noAutofit/>
          </a:bodyPr>
          <a:lstStyle/>
          <a:p>
            <a:pPr marL="342900" indent="-342900">
              <a:lnSpc>
                <a:spcPct val="150000"/>
              </a:lnSpc>
              <a:buFont typeface="Arial" panose="020B0604020202020204" pitchFamily="34" charset="0"/>
              <a:buChar char="•"/>
            </a:pPr>
            <a:r>
              <a:rPr lang="en-US" sz="2800" dirty="0"/>
              <a:t>MAPLE-HCM was funded by Cytokinetics</a:t>
            </a:r>
          </a:p>
          <a:p>
            <a:pPr marL="342900" indent="-342900">
              <a:lnSpc>
                <a:spcPct val="150000"/>
              </a:lnSpc>
            </a:pPr>
            <a:r>
              <a:rPr lang="en-US" sz="2800" dirty="0"/>
              <a:t>Cytokinetics representatives contributed to study design/conduct, data management, interpretation, manuscript preparation</a:t>
            </a:r>
          </a:p>
          <a:p>
            <a:pPr marL="342900" indent="-342900">
              <a:lnSpc>
                <a:spcPct val="150000"/>
              </a:lnSpc>
            </a:pPr>
            <a:r>
              <a:rPr lang="en-US" sz="2800" dirty="0"/>
              <a:t>Several authors reported consulting fees, research grants, employment or stock ownership related to Cytokinetics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E4EFA6-B24B-1C17-4B73-203528E08262}"/>
              </a:ext>
            </a:extLst>
          </p:cNvPr>
          <p:cNvSpPr>
            <a:spLocks noGrp="1"/>
          </p:cNvSpPr>
          <p:nvPr>
            <p:ph type="ctrTitle"/>
          </p:nvPr>
        </p:nvSpPr>
        <p:spPr/>
        <p:txBody>
          <a:bodyPr/>
          <a:lstStyle/>
          <a:p>
            <a:r>
              <a:rPr lang="en-TZ" b="1" dirty="0"/>
              <a:t>RESULTS</a:t>
            </a:r>
          </a:p>
        </p:txBody>
      </p:sp>
    </p:spTree>
    <p:extLst>
      <p:ext uri="{BB962C8B-B14F-4D97-AF65-F5344CB8AC3E}">
        <p14:creationId xmlns:p14="http://schemas.microsoft.com/office/powerpoint/2010/main" val="235482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E964228-DBAD-71BB-A13D-9A4633B9D764}"/>
              </a:ext>
            </a:extLst>
          </p:cNvPr>
          <p:cNvPicPr>
            <a:picLocks noChangeAspect="1"/>
          </p:cNvPicPr>
          <p:nvPr/>
        </p:nvPicPr>
        <p:blipFill rotWithShape="1">
          <a:blip r:embed="rId3"/>
          <a:srcRect b="37387"/>
          <a:stretch/>
        </p:blipFill>
        <p:spPr>
          <a:xfrm>
            <a:off x="702558" y="1974438"/>
            <a:ext cx="10786884" cy="2909123"/>
          </a:xfrm>
          <a:prstGeom prst="rect">
            <a:avLst/>
          </a:prstGeom>
          <a:ln w="635">
            <a:noFill/>
          </a:ln>
        </p:spPr>
      </p:pic>
    </p:spTree>
    <p:extLst>
      <p:ext uri="{BB962C8B-B14F-4D97-AF65-F5344CB8AC3E}">
        <p14:creationId xmlns:p14="http://schemas.microsoft.com/office/powerpoint/2010/main" val="1919224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8C463-8552-EF61-161A-EDD49A0C673B}"/>
              </a:ext>
            </a:extLst>
          </p:cNvPr>
          <p:cNvSpPr>
            <a:spLocks noGrp="1"/>
          </p:cNvSpPr>
          <p:nvPr>
            <p:ph type="title"/>
          </p:nvPr>
        </p:nvSpPr>
        <p:spPr>
          <a:xfrm>
            <a:off x="838200" y="365126"/>
            <a:ext cx="10515600" cy="967916"/>
          </a:xfrm>
        </p:spPr>
        <p:txBody>
          <a:bodyPr/>
          <a:lstStyle/>
          <a:p>
            <a:pPr algn="ctr"/>
            <a:r>
              <a:rPr lang="en-US" b="1" dirty="0">
                <a:cs typeface="Calibri" panose="020F0502020204030204" pitchFamily="34" charset="0"/>
              </a:rPr>
              <a:t>BASELINE CHARACTERISTICS</a:t>
            </a:r>
          </a:p>
        </p:txBody>
      </p:sp>
      <p:pic>
        <p:nvPicPr>
          <p:cNvPr id="5" name="Content Placeholder 4">
            <a:extLst>
              <a:ext uri="{FF2B5EF4-FFF2-40B4-BE49-F238E27FC236}">
                <a16:creationId xmlns:a16="http://schemas.microsoft.com/office/drawing/2014/main" id="{E7278916-17DD-FA43-C2FF-A38265C7E647}"/>
              </a:ext>
            </a:extLst>
          </p:cNvPr>
          <p:cNvPicPr>
            <a:picLocks noGrp="1" noChangeAspect="1"/>
          </p:cNvPicPr>
          <p:nvPr>
            <p:ph idx="1"/>
          </p:nvPr>
        </p:nvPicPr>
        <p:blipFill>
          <a:blip r:embed="rId2"/>
          <a:stretch>
            <a:fillRect/>
          </a:stretch>
        </p:blipFill>
        <p:spPr>
          <a:xfrm>
            <a:off x="1342222" y="1333042"/>
            <a:ext cx="9507556" cy="5524958"/>
          </a:xfrm>
          <a:prstGeom prst="rect">
            <a:avLst/>
          </a:prstGeom>
          <a:solidFill>
            <a:srgbClr val="FF0000"/>
          </a:solidFill>
        </p:spPr>
      </p:pic>
      <p:sp>
        <p:nvSpPr>
          <p:cNvPr id="3" name="Rectangle: Rounded Corners 2">
            <a:extLst>
              <a:ext uri="{FF2B5EF4-FFF2-40B4-BE49-F238E27FC236}">
                <a16:creationId xmlns:a16="http://schemas.microsoft.com/office/drawing/2014/main" id="{76B4346D-874B-91C5-34F7-89D4B66010B5}"/>
              </a:ext>
            </a:extLst>
          </p:cNvPr>
          <p:cNvSpPr/>
          <p:nvPr/>
        </p:nvSpPr>
        <p:spPr>
          <a:xfrm>
            <a:off x="1229193" y="2239926"/>
            <a:ext cx="9773587" cy="967916"/>
          </a:xfrm>
          <a:prstGeom prst="roundRect">
            <a:avLst>
              <a:gd name="adj" fmla="val 0"/>
            </a:avLst>
          </a:prstGeom>
          <a:noFill/>
          <a:ln w="317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487325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F5C0D-938F-A757-05CB-6B383EED1CB5}"/>
              </a:ext>
            </a:extLst>
          </p:cNvPr>
          <p:cNvSpPr>
            <a:spLocks noGrp="1"/>
          </p:cNvSpPr>
          <p:nvPr>
            <p:ph type="title"/>
          </p:nvPr>
        </p:nvSpPr>
        <p:spPr>
          <a:xfrm>
            <a:off x="594911" y="365126"/>
            <a:ext cx="10758889" cy="791646"/>
          </a:xfrm>
        </p:spPr>
        <p:txBody>
          <a:bodyPr/>
          <a:lstStyle/>
          <a:p>
            <a:pPr algn="ctr"/>
            <a:r>
              <a:rPr lang="en-US" b="1" dirty="0">
                <a:cs typeface="Times New Roman" panose="02020603050405020304" pitchFamily="18" charset="0"/>
              </a:rPr>
              <a:t>BASELINE CHARACTERISTICS</a:t>
            </a:r>
          </a:p>
        </p:txBody>
      </p:sp>
      <p:pic>
        <p:nvPicPr>
          <p:cNvPr id="5" name="Content Placeholder 4">
            <a:extLst>
              <a:ext uri="{FF2B5EF4-FFF2-40B4-BE49-F238E27FC236}">
                <a16:creationId xmlns:a16="http://schemas.microsoft.com/office/drawing/2014/main" id="{709F7EC7-7EBB-2480-E567-15E90C28F35F}"/>
              </a:ext>
            </a:extLst>
          </p:cNvPr>
          <p:cNvPicPr>
            <a:picLocks noGrp="1" noChangeAspect="1"/>
          </p:cNvPicPr>
          <p:nvPr>
            <p:ph idx="1"/>
          </p:nvPr>
        </p:nvPicPr>
        <p:blipFill>
          <a:blip r:embed="rId2"/>
          <a:stretch>
            <a:fillRect/>
          </a:stretch>
        </p:blipFill>
        <p:spPr>
          <a:xfrm>
            <a:off x="1615440" y="1156772"/>
            <a:ext cx="8961120" cy="5518298"/>
          </a:xfrm>
          <a:prstGeom prst="rect">
            <a:avLst/>
          </a:prstGeom>
        </p:spPr>
      </p:pic>
      <p:sp>
        <p:nvSpPr>
          <p:cNvPr id="3" name="Rectangle: Rounded Corners 2">
            <a:extLst>
              <a:ext uri="{FF2B5EF4-FFF2-40B4-BE49-F238E27FC236}">
                <a16:creationId xmlns:a16="http://schemas.microsoft.com/office/drawing/2014/main" id="{605E5AD6-2788-9B74-F494-E561AC0B91AF}"/>
              </a:ext>
            </a:extLst>
          </p:cNvPr>
          <p:cNvSpPr/>
          <p:nvPr/>
        </p:nvSpPr>
        <p:spPr>
          <a:xfrm>
            <a:off x="1548143" y="3773607"/>
            <a:ext cx="9153724" cy="2901463"/>
          </a:xfrm>
          <a:prstGeom prst="roundRect">
            <a:avLst>
              <a:gd name="adj" fmla="val 0"/>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36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4">
            <a:extLst>
              <a:ext uri="{FF2B5EF4-FFF2-40B4-BE49-F238E27FC236}">
                <a16:creationId xmlns:a16="http://schemas.microsoft.com/office/drawing/2014/main" id="{52D17D73-8691-34EC-8FA4-6248347FF626}"/>
              </a:ext>
            </a:extLst>
          </p:cNvPr>
          <p:cNvPicPr>
            <a:picLocks noChangeAspect="1"/>
          </p:cNvPicPr>
          <p:nvPr/>
        </p:nvPicPr>
        <p:blipFill>
          <a:blip r:embed="rId2"/>
          <a:stretch>
            <a:fillRect/>
          </a:stretch>
        </p:blipFill>
        <p:spPr>
          <a:xfrm>
            <a:off x="1523999" y="1419421"/>
            <a:ext cx="9499993" cy="5073453"/>
          </a:xfrm>
          <a:prstGeom prst="rect">
            <a:avLst/>
          </a:prstGeom>
        </p:spPr>
      </p:pic>
      <p:sp>
        <p:nvSpPr>
          <p:cNvPr id="2" name="Title 1">
            <a:extLst>
              <a:ext uri="{FF2B5EF4-FFF2-40B4-BE49-F238E27FC236}">
                <a16:creationId xmlns:a16="http://schemas.microsoft.com/office/drawing/2014/main" id="{779F5C0D-938F-A757-05CB-6B383EED1CB5}"/>
              </a:ext>
            </a:extLst>
          </p:cNvPr>
          <p:cNvSpPr>
            <a:spLocks noGrp="1"/>
          </p:cNvSpPr>
          <p:nvPr>
            <p:ph type="title"/>
          </p:nvPr>
        </p:nvSpPr>
        <p:spPr>
          <a:xfrm>
            <a:off x="594911" y="365126"/>
            <a:ext cx="10758889" cy="791646"/>
          </a:xfrm>
        </p:spPr>
        <p:txBody>
          <a:bodyPr/>
          <a:lstStyle/>
          <a:p>
            <a:pPr algn="ctr"/>
            <a:r>
              <a:rPr lang="en-US" b="1" dirty="0">
                <a:cs typeface="Times New Roman" panose="02020603050405020304" pitchFamily="18" charset="0"/>
              </a:rPr>
              <a:t>BASELINE CHARACTERISTICS</a:t>
            </a:r>
          </a:p>
        </p:txBody>
      </p:sp>
      <p:sp>
        <p:nvSpPr>
          <p:cNvPr id="3" name="Rectangle: Rounded Corners 2">
            <a:extLst>
              <a:ext uri="{FF2B5EF4-FFF2-40B4-BE49-F238E27FC236}">
                <a16:creationId xmlns:a16="http://schemas.microsoft.com/office/drawing/2014/main" id="{605E5AD6-2788-9B74-F494-E561AC0B91AF}"/>
              </a:ext>
            </a:extLst>
          </p:cNvPr>
          <p:cNvSpPr/>
          <p:nvPr/>
        </p:nvSpPr>
        <p:spPr>
          <a:xfrm>
            <a:off x="1353786" y="3619986"/>
            <a:ext cx="9670205" cy="2958944"/>
          </a:xfrm>
          <a:prstGeom prst="roundRect">
            <a:avLst>
              <a:gd name="adj" fmla="val 0"/>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1142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3E5D8-CD50-9E96-A726-D89B613B2880}"/>
              </a:ext>
            </a:extLst>
          </p:cNvPr>
          <p:cNvSpPr>
            <a:spLocks noGrp="1"/>
          </p:cNvSpPr>
          <p:nvPr>
            <p:ph type="title"/>
          </p:nvPr>
        </p:nvSpPr>
        <p:spPr>
          <a:xfrm>
            <a:off x="507235" y="441239"/>
            <a:ext cx="11177529" cy="604359"/>
          </a:xfrm>
        </p:spPr>
        <p:txBody>
          <a:bodyPr>
            <a:noAutofit/>
          </a:bodyPr>
          <a:lstStyle/>
          <a:p>
            <a:pPr algn="ctr"/>
            <a:r>
              <a:rPr lang="en-US" b="1" dirty="0">
                <a:cs typeface="Calibri" panose="020F0502020204030204" pitchFamily="34" charset="0"/>
              </a:rPr>
              <a:t>SUBMAXIMAL AND PEAK EXERCISE MEASURES</a:t>
            </a:r>
          </a:p>
        </p:txBody>
      </p:sp>
      <p:pic>
        <p:nvPicPr>
          <p:cNvPr id="5" name="Content Placeholder 4">
            <a:extLst>
              <a:ext uri="{FF2B5EF4-FFF2-40B4-BE49-F238E27FC236}">
                <a16:creationId xmlns:a16="http://schemas.microsoft.com/office/drawing/2014/main" id="{2ED9D13A-C37A-451C-63CA-AA0092539072}"/>
              </a:ext>
            </a:extLst>
          </p:cNvPr>
          <p:cNvPicPr>
            <a:picLocks noGrp="1" noChangeAspect="1"/>
          </p:cNvPicPr>
          <p:nvPr>
            <p:ph idx="1"/>
          </p:nvPr>
        </p:nvPicPr>
        <p:blipFill>
          <a:blip r:embed="rId2"/>
          <a:stretch>
            <a:fillRect/>
          </a:stretch>
        </p:blipFill>
        <p:spPr>
          <a:xfrm>
            <a:off x="741803" y="1229282"/>
            <a:ext cx="10708394" cy="5358138"/>
          </a:xfrm>
          <a:prstGeom prst="rect">
            <a:avLst/>
          </a:prstGeom>
          <a:ln>
            <a:noFill/>
          </a:ln>
        </p:spPr>
      </p:pic>
      <p:sp>
        <p:nvSpPr>
          <p:cNvPr id="3" name="Rectangle 2">
            <a:extLst>
              <a:ext uri="{FF2B5EF4-FFF2-40B4-BE49-F238E27FC236}">
                <a16:creationId xmlns:a16="http://schemas.microsoft.com/office/drawing/2014/main" id="{489CC811-66E0-106D-63BB-4DD695A18BEF}"/>
              </a:ext>
            </a:extLst>
          </p:cNvPr>
          <p:cNvSpPr/>
          <p:nvPr/>
        </p:nvSpPr>
        <p:spPr>
          <a:xfrm>
            <a:off x="670806" y="2269432"/>
            <a:ext cx="10825679" cy="778041"/>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A1C40F5-7D7D-BCF5-525F-5C593B37742C}"/>
              </a:ext>
            </a:extLst>
          </p:cNvPr>
          <p:cNvSpPr/>
          <p:nvPr/>
        </p:nvSpPr>
        <p:spPr>
          <a:xfrm>
            <a:off x="695515" y="4831798"/>
            <a:ext cx="10754682" cy="1068636"/>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9334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EE31B-3AC2-3976-72EF-BBDDC7AC8495}"/>
              </a:ext>
            </a:extLst>
          </p:cNvPr>
          <p:cNvSpPr>
            <a:spLocks noGrp="1"/>
          </p:cNvSpPr>
          <p:nvPr>
            <p:ph type="title"/>
          </p:nvPr>
        </p:nvSpPr>
        <p:spPr>
          <a:xfrm>
            <a:off x="556811" y="568949"/>
            <a:ext cx="11078378" cy="703511"/>
          </a:xfrm>
        </p:spPr>
        <p:txBody>
          <a:bodyPr>
            <a:noAutofit/>
          </a:bodyPr>
          <a:lstStyle/>
          <a:p>
            <a:pPr algn="ctr"/>
            <a:r>
              <a:rPr lang="en-US" b="1" dirty="0">
                <a:cs typeface="Calibri" panose="020F0502020204030204" pitchFamily="34" charset="0"/>
              </a:rPr>
              <a:t>POST EXERCISE RECOVERY AND COMPOSITE EXERCISE RESPONSE VARIABLE</a:t>
            </a:r>
          </a:p>
        </p:txBody>
      </p:sp>
      <p:pic>
        <p:nvPicPr>
          <p:cNvPr id="5" name="Content Placeholder 4">
            <a:extLst>
              <a:ext uri="{FF2B5EF4-FFF2-40B4-BE49-F238E27FC236}">
                <a16:creationId xmlns:a16="http://schemas.microsoft.com/office/drawing/2014/main" id="{D9F3D078-AA1A-B0B8-88CB-75FC7F8277F7}"/>
              </a:ext>
            </a:extLst>
          </p:cNvPr>
          <p:cNvPicPr>
            <a:picLocks noGrp="1" noChangeAspect="1"/>
          </p:cNvPicPr>
          <p:nvPr>
            <p:ph idx="1"/>
          </p:nvPr>
        </p:nvPicPr>
        <p:blipFill>
          <a:blip r:embed="rId2"/>
          <a:stretch>
            <a:fillRect/>
          </a:stretch>
        </p:blipFill>
        <p:spPr>
          <a:xfrm>
            <a:off x="782174" y="1621992"/>
            <a:ext cx="10853015" cy="5040217"/>
          </a:xfrm>
          <a:prstGeom prst="rect">
            <a:avLst/>
          </a:prstGeom>
        </p:spPr>
      </p:pic>
      <p:sp>
        <p:nvSpPr>
          <p:cNvPr id="3" name="Rectangle 2">
            <a:extLst>
              <a:ext uri="{FF2B5EF4-FFF2-40B4-BE49-F238E27FC236}">
                <a16:creationId xmlns:a16="http://schemas.microsoft.com/office/drawing/2014/main" id="{040338D3-F7B7-7284-0A08-73D62A9C5AAD}"/>
              </a:ext>
            </a:extLst>
          </p:cNvPr>
          <p:cNvSpPr/>
          <p:nvPr/>
        </p:nvSpPr>
        <p:spPr>
          <a:xfrm>
            <a:off x="690289" y="2065866"/>
            <a:ext cx="11078378" cy="1490133"/>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0594545-0B29-5462-D413-61BB8EFF4863}"/>
              </a:ext>
            </a:extLst>
          </p:cNvPr>
          <p:cNvSpPr/>
          <p:nvPr/>
        </p:nvSpPr>
        <p:spPr>
          <a:xfrm>
            <a:off x="690289" y="5766409"/>
            <a:ext cx="11078378" cy="895799"/>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4144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3DB27-8F9A-9B5F-6F66-8F8C22044F4B}"/>
              </a:ext>
            </a:extLst>
          </p:cNvPr>
          <p:cNvSpPr>
            <a:spLocks noGrp="1"/>
          </p:cNvSpPr>
          <p:nvPr>
            <p:ph type="title"/>
          </p:nvPr>
        </p:nvSpPr>
        <p:spPr>
          <a:xfrm>
            <a:off x="484742" y="365126"/>
            <a:ext cx="10869058" cy="769612"/>
          </a:xfrm>
        </p:spPr>
        <p:txBody>
          <a:bodyPr/>
          <a:lstStyle/>
          <a:p>
            <a:pPr algn="ctr"/>
            <a:r>
              <a:rPr lang="en-US" b="1" dirty="0">
                <a:cs typeface="Times New Roman" panose="02020603050405020304" pitchFamily="18" charset="0"/>
              </a:rPr>
              <a:t>SECONDARY OUTCOMES</a:t>
            </a:r>
          </a:p>
        </p:txBody>
      </p:sp>
      <p:pic>
        <p:nvPicPr>
          <p:cNvPr id="5" name="Content Placeholder 4">
            <a:extLst>
              <a:ext uri="{FF2B5EF4-FFF2-40B4-BE49-F238E27FC236}">
                <a16:creationId xmlns:a16="http://schemas.microsoft.com/office/drawing/2014/main" id="{222F6F65-1742-34C0-77A9-F0CD7E2D7CD8}"/>
              </a:ext>
            </a:extLst>
          </p:cNvPr>
          <p:cNvPicPr>
            <a:picLocks noGrp="1" noChangeAspect="1"/>
          </p:cNvPicPr>
          <p:nvPr>
            <p:ph idx="1"/>
          </p:nvPr>
        </p:nvPicPr>
        <p:blipFill>
          <a:blip r:embed="rId2"/>
          <a:stretch>
            <a:fillRect/>
          </a:stretch>
        </p:blipFill>
        <p:spPr>
          <a:xfrm>
            <a:off x="1191658" y="1134738"/>
            <a:ext cx="10515600" cy="5596567"/>
          </a:xfrm>
          <a:prstGeom prst="rect">
            <a:avLst/>
          </a:prstGeom>
        </p:spPr>
      </p:pic>
      <p:sp>
        <p:nvSpPr>
          <p:cNvPr id="3" name="Oval 2">
            <a:extLst>
              <a:ext uri="{FF2B5EF4-FFF2-40B4-BE49-F238E27FC236}">
                <a16:creationId xmlns:a16="http://schemas.microsoft.com/office/drawing/2014/main" id="{F2B79F1A-EEC3-53B5-E659-88C2287C6269}"/>
              </a:ext>
            </a:extLst>
          </p:cNvPr>
          <p:cNvSpPr/>
          <p:nvPr/>
        </p:nvSpPr>
        <p:spPr>
          <a:xfrm>
            <a:off x="4496718" y="1660166"/>
            <a:ext cx="1366092" cy="366938"/>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6A7E9645-F9D5-2289-90B5-62D5490877B6}"/>
              </a:ext>
            </a:extLst>
          </p:cNvPr>
          <p:cNvSpPr/>
          <p:nvPr/>
        </p:nvSpPr>
        <p:spPr>
          <a:xfrm>
            <a:off x="4466214" y="1400140"/>
            <a:ext cx="1563272" cy="770570"/>
          </a:xfrm>
          <a:prstGeom prst="ellipse">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E3F76A0-3C5E-D8E9-CE03-CF7A426B46E0}"/>
              </a:ext>
            </a:extLst>
          </p:cNvPr>
          <p:cNvSpPr/>
          <p:nvPr/>
        </p:nvSpPr>
        <p:spPr>
          <a:xfrm>
            <a:off x="9514390" y="1873478"/>
            <a:ext cx="1710267" cy="770570"/>
          </a:xfrm>
          <a:prstGeom prst="ellipse">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CC205C0-A5A0-FAB5-C01C-62E223D80525}"/>
              </a:ext>
            </a:extLst>
          </p:cNvPr>
          <p:cNvSpPr/>
          <p:nvPr/>
        </p:nvSpPr>
        <p:spPr>
          <a:xfrm>
            <a:off x="4496717" y="3977253"/>
            <a:ext cx="1563273" cy="870167"/>
          </a:xfrm>
          <a:prstGeom prst="ellipse">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02513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33612-3241-E826-8DCE-98D16AF77512}"/>
              </a:ext>
            </a:extLst>
          </p:cNvPr>
          <p:cNvSpPr>
            <a:spLocks noGrp="1"/>
          </p:cNvSpPr>
          <p:nvPr>
            <p:ph type="title"/>
          </p:nvPr>
        </p:nvSpPr>
        <p:spPr>
          <a:xfrm>
            <a:off x="956631" y="190654"/>
            <a:ext cx="10278738" cy="914400"/>
          </a:xfrm>
        </p:spPr>
        <p:txBody>
          <a:bodyPr>
            <a:normAutofit/>
          </a:bodyPr>
          <a:lstStyle/>
          <a:p>
            <a:pPr algn="ctr"/>
            <a:r>
              <a:rPr lang="en-US" b="1" dirty="0">
                <a:cs typeface="Times New Roman" panose="02020603050405020304" pitchFamily="18" charset="0"/>
              </a:rPr>
              <a:t>SECONDARY OUTCOMES</a:t>
            </a:r>
          </a:p>
        </p:txBody>
      </p:sp>
      <p:pic>
        <p:nvPicPr>
          <p:cNvPr id="5" name="Content Placeholder 4">
            <a:extLst>
              <a:ext uri="{FF2B5EF4-FFF2-40B4-BE49-F238E27FC236}">
                <a16:creationId xmlns:a16="http://schemas.microsoft.com/office/drawing/2014/main" id="{2E57ADF2-E3A9-FADA-17B9-04A4BBB0AFE9}"/>
              </a:ext>
            </a:extLst>
          </p:cNvPr>
          <p:cNvPicPr>
            <a:picLocks noGrp="1" noChangeAspect="1"/>
          </p:cNvPicPr>
          <p:nvPr>
            <p:ph idx="1"/>
          </p:nvPr>
        </p:nvPicPr>
        <p:blipFill>
          <a:blip r:embed="rId3"/>
          <a:stretch>
            <a:fillRect/>
          </a:stretch>
        </p:blipFill>
        <p:spPr>
          <a:xfrm>
            <a:off x="956631" y="1140246"/>
            <a:ext cx="10278738" cy="5717754"/>
          </a:xfrm>
          <a:prstGeom prst="rect">
            <a:avLst/>
          </a:prstGeom>
        </p:spPr>
      </p:pic>
      <p:sp>
        <p:nvSpPr>
          <p:cNvPr id="3" name="Oval 2">
            <a:extLst>
              <a:ext uri="{FF2B5EF4-FFF2-40B4-BE49-F238E27FC236}">
                <a16:creationId xmlns:a16="http://schemas.microsoft.com/office/drawing/2014/main" id="{17699FEC-749C-7C03-20D3-C465C841F508}"/>
              </a:ext>
            </a:extLst>
          </p:cNvPr>
          <p:cNvSpPr/>
          <p:nvPr/>
        </p:nvSpPr>
        <p:spPr>
          <a:xfrm>
            <a:off x="4358394" y="1360380"/>
            <a:ext cx="1693334" cy="914400"/>
          </a:xfrm>
          <a:prstGeom prst="ellipse">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2A6A2C5D-43DA-3811-7F11-C6E943608B5A}"/>
              </a:ext>
            </a:extLst>
          </p:cNvPr>
          <p:cNvSpPr/>
          <p:nvPr/>
        </p:nvSpPr>
        <p:spPr>
          <a:xfrm>
            <a:off x="9637923" y="2514600"/>
            <a:ext cx="1597446" cy="914400"/>
          </a:xfrm>
          <a:prstGeom prst="ellipse">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77D2F860-09D6-2092-790C-D2E53C4EF222}"/>
              </a:ext>
            </a:extLst>
          </p:cNvPr>
          <p:cNvSpPr/>
          <p:nvPr/>
        </p:nvSpPr>
        <p:spPr>
          <a:xfrm>
            <a:off x="4358394" y="3880590"/>
            <a:ext cx="1828799" cy="914400"/>
          </a:xfrm>
          <a:prstGeom prst="ellipse">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8572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2AB2-7E19-1849-4BFF-47B2FA9AFEB4}"/>
              </a:ext>
            </a:extLst>
          </p:cNvPr>
          <p:cNvSpPr>
            <a:spLocks noGrp="1"/>
          </p:cNvSpPr>
          <p:nvPr>
            <p:ph type="title"/>
          </p:nvPr>
        </p:nvSpPr>
        <p:spPr/>
        <p:txBody>
          <a:bodyPr/>
          <a:lstStyle/>
          <a:p>
            <a:pPr algn="ctr"/>
            <a:r>
              <a:rPr lang="en-TZ" b="1" dirty="0"/>
              <a:t>DISCUSSION</a:t>
            </a:r>
          </a:p>
        </p:txBody>
      </p:sp>
      <p:sp>
        <p:nvSpPr>
          <p:cNvPr id="3" name="Content Placeholder 2">
            <a:extLst>
              <a:ext uri="{FF2B5EF4-FFF2-40B4-BE49-F238E27FC236}">
                <a16:creationId xmlns:a16="http://schemas.microsoft.com/office/drawing/2014/main" id="{6C694D3C-6DF7-07EA-EA77-FCACD51C40E0}"/>
              </a:ext>
            </a:extLst>
          </p:cNvPr>
          <p:cNvSpPr>
            <a:spLocks noGrp="1"/>
          </p:cNvSpPr>
          <p:nvPr>
            <p:ph idx="1"/>
          </p:nvPr>
        </p:nvSpPr>
        <p:spPr>
          <a:xfrm>
            <a:off x="838200" y="1490133"/>
            <a:ext cx="10515600" cy="4686830"/>
          </a:xfrm>
        </p:spPr>
        <p:txBody>
          <a:bodyPr>
            <a:noAutofit/>
          </a:bodyPr>
          <a:lstStyle/>
          <a:p>
            <a:pPr>
              <a:lnSpc>
                <a:spcPct val="150000"/>
              </a:lnSpc>
            </a:pPr>
            <a:r>
              <a:rPr lang="en-GB" sz="2700" dirty="0"/>
              <a:t>For </a:t>
            </a:r>
            <a:r>
              <a:rPr lang="en-GB" sz="2700" b="1" dirty="0"/>
              <a:t>over 50 years</a:t>
            </a:r>
            <a:r>
              <a:rPr lang="en-GB" sz="2700" dirty="0"/>
              <a:t>, </a:t>
            </a:r>
            <a:r>
              <a:rPr lang="el-GR" sz="2700" dirty="0"/>
              <a:t>β-</a:t>
            </a:r>
            <a:r>
              <a:rPr lang="en-GB" sz="2700" dirty="0"/>
              <a:t>blockers have been the standard first-line therapy for symptomatic OHCM by reducing LVOT</a:t>
            </a:r>
          </a:p>
          <a:p>
            <a:pPr>
              <a:lnSpc>
                <a:spcPct val="150000"/>
              </a:lnSpc>
            </a:pPr>
            <a:endParaRPr lang="en-GB" sz="100" dirty="0"/>
          </a:p>
          <a:p>
            <a:pPr>
              <a:lnSpc>
                <a:spcPct val="150000"/>
              </a:lnSpc>
            </a:pPr>
            <a:r>
              <a:rPr lang="en-GB" sz="2700" dirty="0"/>
              <a:t> </a:t>
            </a:r>
            <a:r>
              <a:rPr lang="en-GB" sz="2700" b="1" dirty="0"/>
              <a:t>B-blockers</a:t>
            </a:r>
            <a:r>
              <a:rPr lang="en-GB" sz="2700" dirty="0"/>
              <a:t> may impair exercise cardiac output by causing chronotropic incompetence, with an average 23-bpm reduction in peak HR</a:t>
            </a:r>
          </a:p>
          <a:p>
            <a:pPr>
              <a:lnSpc>
                <a:spcPct val="150000"/>
              </a:lnSpc>
            </a:pPr>
            <a:endParaRPr lang="en-GB" sz="200" dirty="0"/>
          </a:p>
          <a:p>
            <a:pPr>
              <a:lnSpc>
                <a:spcPct val="150000"/>
              </a:lnSpc>
            </a:pPr>
            <a:r>
              <a:rPr lang="en-GB" sz="2700" b="1" dirty="0"/>
              <a:t>MAPLE-HCM Trial </a:t>
            </a:r>
            <a:r>
              <a:rPr lang="en-GB" sz="2700" dirty="0"/>
              <a:t>Aficamten improved exercise performance across </a:t>
            </a:r>
            <a:r>
              <a:rPr lang="en-GB" sz="2700" b="1" dirty="0"/>
              <a:t>all stages of CPET 16</a:t>
            </a:r>
            <a:r>
              <a:rPr lang="en-GB" sz="2700" dirty="0"/>
              <a:t> by targeting the underlying sarcomere hypercontractility (underlying pathology)</a:t>
            </a:r>
          </a:p>
        </p:txBody>
      </p:sp>
    </p:spTree>
    <p:extLst>
      <p:ext uri="{BB962C8B-B14F-4D97-AF65-F5344CB8AC3E}">
        <p14:creationId xmlns:p14="http://schemas.microsoft.com/office/powerpoint/2010/main" val="12122929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2AB2-7E19-1849-4BFF-47B2FA9AFEB4}"/>
              </a:ext>
            </a:extLst>
          </p:cNvPr>
          <p:cNvSpPr>
            <a:spLocks noGrp="1"/>
          </p:cNvSpPr>
          <p:nvPr>
            <p:ph type="title"/>
          </p:nvPr>
        </p:nvSpPr>
        <p:spPr/>
        <p:txBody>
          <a:bodyPr/>
          <a:lstStyle/>
          <a:p>
            <a:pPr algn="ctr"/>
            <a:r>
              <a:rPr lang="en-TZ" b="1" dirty="0"/>
              <a:t>DISCUSSION</a:t>
            </a:r>
          </a:p>
        </p:txBody>
      </p:sp>
      <p:sp>
        <p:nvSpPr>
          <p:cNvPr id="3" name="Content Placeholder 2">
            <a:extLst>
              <a:ext uri="{FF2B5EF4-FFF2-40B4-BE49-F238E27FC236}">
                <a16:creationId xmlns:a16="http://schemas.microsoft.com/office/drawing/2014/main" id="{6C694D3C-6DF7-07EA-EA77-FCACD51C40E0}"/>
              </a:ext>
            </a:extLst>
          </p:cNvPr>
          <p:cNvSpPr>
            <a:spLocks noGrp="1"/>
          </p:cNvSpPr>
          <p:nvPr>
            <p:ph idx="1"/>
          </p:nvPr>
        </p:nvSpPr>
        <p:spPr>
          <a:xfrm>
            <a:off x="838200" y="1490133"/>
            <a:ext cx="10515600" cy="4686830"/>
          </a:xfrm>
        </p:spPr>
        <p:txBody>
          <a:bodyPr>
            <a:noAutofit/>
          </a:bodyPr>
          <a:lstStyle/>
          <a:p>
            <a:pPr marL="0" indent="0">
              <a:lnSpc>
                <a:spcPct val="150000"/>
              </a:lnSpc>
              <a:buNone/>
            </a:pPr>
            <a:r>
              <a:rPr lang="en-US" sz="2600" b="1" dirty="0">
                <a:cs typeface="Times New Roman" panose="02020603050405020304" pitchFamily="18" charset="0"/>
              </a:rPr>
              <a:t>CLINICAL RELEVANCE OF PVO2 IN AFICAMTEN GROUP</a:t>
            </a:r>
          </a:p>
          <a:p>
            <a:pPr>
              <a:lnSpc>
                <a:spcPct val="150000"/>
              </a:lnSpc>
            </a:pPr>
            <a:r>
              <a:rPr lang="en-US" sz="2600" b="1" dirty="0">
                <a:cs typeface="Times New Roman" panose="02020603050405020304" pitchFamily="18" charset="0"/>
              </a:rPr>
              <a:t>Survival Benefit:</a:t>
            </a:r>
            <a:r>
              <a:rPr lang="en-US" sz="2600" dirty="0">
                <a:cs typeface="Times New Roman" panose="02020603050405020304" pitchFamily="18" charset="0"/>
              </a:rPr>
              <a:t> Each 1 mL/kg/min increase in </a:t>
            </a:r>
            <a:r>
              <a:rPr lang="en-US" sz="2600" dirty="0" err="1">
                <a:cs typeface="Times New Roman" panose="02020603050405020304" pitchFamily="18" charset="0"/>
              </a:rPr>
              <a:t>pVO</a:t>
            </a:r>
            <a:r>
              <a:rPr lang="en-US" sz="2600" dirty="0">
                <a:cs typeface="Times New Roman" panose="02020603050405020304" pitchFamily="18" charset="0"/>
              </a:rPr>
              <a:t>₂ reduces mortality by </a:t>
            </a:r>
            <a:r>
              <a:rPr lang="en-US" sz="2600" b="1" dirty="0">
                <a:cs typeface="Times New Roman" panose="02020603050405020304" pitchFamily="18" charset="0"/>
              </a:rPr>
              <a:t>14%</a:t>
            </a:r>
            <a:r>
              <a:rPr lang="en-US" sz="2600" dirty="0">
                <a:cs typeface="Times New Roman" panose="02020603050405020304" pitchFamily="18" charset="0"/>
              </a:rPr>
              <a:t> and adverse cardiovascular events by </a:t>
            </a:r>
            <a:r>
              <a:rPr lang="en-US" sz="2600" b="1" dirty="0">
                <a:cs typeface="Times New Roman" panose="02020603050405020304" pitchFamily="18" charset="0"/>
              </a:rPr>
              <a:t>13%</a:t>
            </a:r>
            <a:r>
              <a:rPr lang="en-US" sz="2600" dirty="0">
                <a:cs typeface="Times New Roman" panose="02020603050405020304" pitchFamily="18" charset="0"/>
              </a:rPr>
              <a:t> in HCM</a:t>
            </a:r>
          </a:p>
          <a:p>
            <a:pPr>
              <a:lnSpc>
                <a:spcPct val="150000"/>
              </a:lnSpc>
            </a:pPr>
            <a:r>
              <a:rPr lang="en-US" sz="2600" dirty="0">
                <a:cs typeface="Times New Roman" panose="02020603050405020304" pitchFamily="18" charset="0"/>
              </a:rPr>
              <a:t>Aficamten was </a:t>
            </a:r>
            <a:r>
              <a:rPr lang="en-US" sz="2600" b="1" dirty="0">
                <a:cs typeface="Times New Roman" panose="02020603050405020304" pitchFamily="18" charset="0"/>
              </a:rPr>
              <a:t>6.8× more likely</a:t>
            </a:r>
            <a:r>
              <a:rPr lang="en-US" sz="2600" dirty="0">
                <a:cs typeface="Times New Roman" panose="02020603050405020304" pitchFamily="18" charset="0"/>
              </a:rPr>
              <a:t> than metoprolol to produce a major improvement in exercise capacity(≥3ml/kg/min)</a:t>
            </a:r>
          </a:p>
          <a:p>
            <a:pPr>
              <a:lnSpc>
                <a:spcPct val="150000"/>
              </a:lnSpc>
            </a:pPr>
            <a:r>
              <a:rPr lang="en-US" sz="2600" dirty="0">
                <a:cs typeface="Times New Roman" panose="02020603050405020304" pitchFamily="18" charset="0"/>
              </a:rPr>
              <a:t>Exercise improvements correlated with better symptoms </a:t>
            </a:r>
            <a:r>
              <a:rPr lang="en-US" sz="2600" dirty="0" err="1">
                <a:cs typeface="Times New Roman" panose="02020603050405020304" pitchFamily="18" charset="0"/>
              </a:rPr>
              <a:t>scores,functional</a:t>
            </a:r>
            <a:r>
              <a:rPr lang="en-US" sz="2600" dirty="0">
                <a:cs typeface="Times New Roman" panose="02020603050405020304" pitchFamily="18" charset="0"/>
              </a:rPr>
              <a:t> class and biomarker trends </a:t>
            </a:r>
          </a:p>
        </p:txBody>
      </p:sp>
    </p:spTree>
    <p:extLst>
      <p:ext uri="{BB962C8B-B14F-4D97-AF65-F5344CB8AC3E}">
        <p14:creationId xmlns:p14="http://schemas.microsoft.com/office/powerpoint/2010/main" val="7378720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2AB2-7E19-1849-4BFF-47B2FA9AFEB4}"/>
              </a:ext>
            </a:extLst>
          </p:cNvPr>
          <p:cNvSpPr>
            <a:spLocks noGrp="1"/>
          </p:cNvSpPr>
          <p:nvPr>
            <p:ph type="title"/>
          </p:nvPr>
        </p:nvSpPr>
        <p:spPr/>
        <p:txBody>
          <a:bodyPr/>
          <a:lstStyle/>
          <a:p>
            <a:pPr algn="ctr"/>
            <a:r>
              <a:rPr lang="en-TZ" b="1" dirty="0"/>
              <a:t>DISCUSSION</a:t>
            </a:r>
          </a:p>
        </p:txBody>
      </p:sp>
      <p:sp>
        <p:nvSpPr>
          <p:cNvPr id="3" name="Content Placeholder 2">
            <a:extLst>
              <a:ext uri="{FF2B5EF4-FFF2-40B4-BE49-F238E27FC236}">
                <a16:creationId xmlns:a16="http://schemas.microsoft.com/office/drawing/2014/main" id="{6C694D3C-6DF7-07EA-EA77-FCACD51C40E0}"/>
              </a:ext>
            </a:extLst>
          </p:cNvPr>
          <p:cNvSpPr>
            <a:spLocks noGrp="1"/>
          </p:cNvSpPr>
          <p:nvPr>
            <p:ph idx="1"/>
          </p:nvPr>
        </p:nvSpPr>
        <p:spPr>
          <a:xfrm>
            <a:off x="838200" y="1490133"/>
            <a:ext cx="10515600" cy="4686830"/>
          </a:xfrm>
        </p:spPr>
        <p:txBody>
          <a:bodyPr>
            <a:noAutofit/>
          </a:bodyPr>
          <a:lstStyle/>
          <a:p>
            <a:pPr marL="0" indent="0">
              <a:lnSpc>
                <a:spcPct val="150000"/>
              </a:lnSpc>
              <a:buNone/>
            </a:pPr>
            <a:r>
              <a:rPr lang="en-US" b="1" dirty="0">
                <a:cs typeface="Calibri" panose="020F0502020204030204" pitchFamily="34" charset="0"/>
              </a:rPr>
              <a:t>STRENGTH OF THE STUDY</a:t>
            </a:r>
          </a:p>
          <a:p>
            <a:pPr>
              <a:lnSpc>
                <a:spcPct val="150000"/>
              </a:lnSpc>
            </a:pPr>
            <a:r>
              <a:rPr lang="en-US" dirty="0">
                <a:cs typeface="Calibri" panose="020F0502020204030204" pitchFamily="34" charset="0"/>
              </a:rPr>
              <a:t>Active Comparator: Directly compared aficamten with metoprolol, providing clinically relevant treatment insights</a:t>
            </a:r>
          </a:p>
          <a:p>
            <a:pPr>
              <a:lnSpc>
                <a:spcPct val="150000"/>
              </a:lnSpc>
            </a:pPr>
            <a:r>
              <a:rPr lang="en-US" dirty="0">
                <a:cs typeface="Calibri" panose="020F0502020204030204" pitchFamily="34" charset="0"/>
              </a:rPr>
              <a:t>Strong Methodology: Used standardized CPET with centralized blinded analysis across 71 sites</a:t>
            </a:r>
          </a:p>
          <a:p>
            <a:pPr>
              <a:lnSpc>
                <a:spcPct val="150000"/>
              </a:lnSpc>
            </a:pPr>
            <a:r>
              <a:rPr lang="en-US" dirty="0">
                <a:cs typeface="Calibri" panose="020F0502020204030204" pitchFamily="34" charset="0"/>
              </a:rPr>
              <a:t>Double-Dummy Design: Maintained blinding and reduced treatment assignment bias</a:t>
            </a:r>
          </a:p>
        </p:txBody>
      </p:sp>
    </p:spTree>
    <p:extLst>
      <p:ext uri="{BB962C8B-B14F-4D97-AF65-F5344CB8AC3E}">
        <p14:creationId xmlns:p14="http://schemas.microsoft.com/office/powerpoint/2010/main" val="67212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2AB2-7E19-1849-4BFF-47B2FA9AFEB4}"/>
              </a:ext>
            </a:extLst>
          </p:cNvPr>
          <p:cNvSpPr>
            <a:spLocks noGrp="1"/>
          </p:cNvSpPr>
          <p:nvPr>
            <p:ph type="title"/>
          </p:nvPr>
        </p:nvSpPr>
        <p:spPr/>
        <p:txBody>
          <a:bodyPr/>
          <a:lstStyle/>
          <a:p>
            <a:pPr algn="ctr"/>
            <a:r>
              <a:rPr lang="en-TZ" b="1" dirty="0"/>
              <a:t>DISCUSSION</a:t>
            </a:r>
          </a:p>
        </p:txBody>
      </p:sp>
      <p:sp>
        <p:nvSpPr>
          <p:cNvPr id="3" name="Content Placeholder 2">
            <a:extLst>
              <a:ext uri="{FF2B5EF4-FFF2-40B4-BE49-F238E27FC236}">
                <a16:creationId xmlns:a16="http://schemas.microsoft.com/office/drawing/2014/main" id="{6C694D3C-6DF7-07EA-EA77-FCACD51C40E0}"/>
              </a:ext>
            </a:extLst>
          </p:cNvPr>
          <p:cNvSpPr>
            <a:spLocks noGrp="1"/>
          </p:cNvSpPr>
          <p:nvPr>
            <p:ph idx="1"/>
          </p:nvPr>
        </p:nvSpPr>
        <p:spPr>
          <a:xfrm>
            <a:off x="838200" y="1490133"/>
            <a:ext cx="10515600" cy="4686830"/>
          </a:xfrm>
        </p:spPr>
        <p:txBody>
          <a:bodyPr>
            <a:noAutofit/>
          </a:bodyPr>
          <a:lstStyle/>
          <a:p>
            <a:pPr marL="0" indent="0">
              <a:lnSpc>
                <a:spcPct val="150000"/>
              </a:lnSpc>
              <a:buNone/>
            </a:pPr>
            <a:r>
              <a:rPr lang="en-US" b="1" dirty="0">
                <a:latin typeface="Calibri" panose="020F0502020204030204" pitchFamily="34" charset="0"/>
                <a:cs typeface="Calibri" panose="020F0502020204030204" pitchFamily="34" charset="0"/>
              </a:rPr>
              <a:t>LIMITATIONS</a:t>
            </a:r>
          </a:p>
          <a:p>
            <a:pPr>
              <a:lnSpc>
                <a:spcPct val="150000"/>
              </a:lnSpc>
            </a:pPr>
            <a:r>
              <a:rPr lang="en-US" dirty="0">
                <a:latin typeface="Calibri" panose="020F0502020204030204" pitchFamily="34" charset="0"/>
                <a:cs typeface="Calibri" panose="020F0502020204030204" pitchFamily="34" charset="0"/>
              </a:rPr>
              <a:t>Short Duration: 24 weeks assessed exercise outcomes but not long-term clinical events</a:t>
            </a:r>
          </a:p>
          <a:p>
            <a:pPr>
              <a:lnSpc>
                <a:spcPct val="150000"/>
              </a:lnSpc>
            </a:pPr>
            <a:r>
              <a:rPr lang="en-US" dirty="0">
                <a:latin typeface="Calibri" panose="020F0502020204030204" pitchFamily="34" charset="0"/>
                <a:cs typeface="Calibri" panose="020F0502020204030204" pitchFamily="34" charset="0"/>
              </a:rPr>
              <a:t>Selection Bias: Excluded patients unable to tolerate medication washout, limiting generalizability</a:t>
            </a:r>
          </a:p>
          <a:p>
            <a:pPr>
              <a:lnSpc>
                <a:spcPct val="150000"/>
              </a:lnSpc>
            </a:pPr>
            <a:r>
              <a:rPr lang="en-US" dirty="0">
                <a:latin typeface="Calibri" panose="020F0502020204030204" pitchFamily="34" charset="0"/>
                <a:cs typeface="Calibri" panose="020F0502020204030204" pitchFamily="34" charset="0"/>
              </a:rPr>
              <a:t>Effect of Aficamten on exercise response in asymptomatic HCM remains to be studied</a:t>
            </a:r>
          </a:p>
        </p:txBody>
      </p:sp>
    </p:spTree>
    <p:extLst>
      <p:ext uri="{BB962C8B-B14F-4D97-AF65-F5344CB8AC3E}">
        <p14:creationId xmlns:p14="http://schemas.microsoft.com/office/powerpoint/2010/main" val="6884316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2AB2-7E19-1849-4BFF-47B2FA9AFEB4}"/>
              </a:ext>
            </a:extLst>
          </p:cNvPr>
          <p:cNvSpPr>
            <a:spLocks noGrp="1"/>
          </p:cNvSpPr>
          <p:nvPr>
            <p:ph type="title"/>
          </p:nvPr>
        </p:nvSpPr>
        <p:spPr/>
        <p:txBody>
          <a:bodyPr/>
          <a:lstStyle/>
          <a:p>
            <a:pPr algn="ctr"/>
            <a:r>
              <a:rPr lang="en-GB" b="1" dirty="0"/>
              <a:t>PAPER CRITIQUE</a:t>
            </a:r>
            <a:endParaRPr lang="en-TZ" b="1" dirty="0"/>
          </a:p>
        </p:txBody>
      </p:sp>
      <p:sp>
        <p:nvSpPr>
          <p:cNvPr id="3" name="Content Placeholder 2">
            <a:extLst>
              <a:ext uri="{FF2B5EF4-FFF2-40B4-BE49-F238E27FC236}">
                <a16:creationId xmlns:a16="http://schemas.microsoft.com/office/drawing/2014/main" id="{6C694D3C-6DF7-07EA-EA77-FCACD51C40E0}"/>
              </a:ext>
            </a:extLst>
          </p:cNvPr>
          <p:cNvSpPr>
            <a:spLocks noGrp="1"/>
          </p:cNvSpPr>
          <p:nvPr>
            <p:ph idx="1"/>
          </p:nvPr>
        </p:nvSpPr>
        <p:spPr>
          <a:xfrm>
            <a:off x="838200" y="1490133"/>
            <a:ext cx="10515600" cy="4686830"/>
          </a:xfrm>
        </p:spPr>
        <p:txBody>
          <a:bodyPr>
            <a:noAutofit/>
          </a:bodyPr>
          <a:lstStyle/>
          <a:p>
            <a:pPr>
              <a:lnSpc>
                <a:spcPct val="100000"/>
              </a:lnSpc>
            </a:pPr>
            <a:r>
              <a:rPr lang="en-US" sz="2600" b="1" dirty="0">
                <a:cs typeface="Times New Roman" panose="02020603050405020304" pitchFamily="18" charset="0"/>
              </a:rPr>
              <a:t>Title</a:t>
            </a:r>
            <a:r>
              <a:rPr lang="en-US" sz="2600" dirty="0">
                <a:cs typeface="Times New Roman" panose="02020603050405020304" pitchFamily="18" charset="0"/>
              </a:rPr>
              <a:t>: Clear		</a:t>
            </a:r>
            <a:r>
              <a:rPr lang="en-US" sz="2600" b="1" dirty="0">
                <a:cs typeface="Times New Roman" panose="02020603050405020304" pitchFamily="18" charset="0"/>
              </a:rPr>
              <a:t>Objectives</a:t>
            </a:r>
            <a:r>
              <a:rPr lang="en-US" sz="2600" dirty="0">
                <a:cs typeface="Times New Roman" panose="02020603050405020304" pitchFamily="18" charset="0"/>
              </a:rPr>
              <a:t>: Well stated	</a:t>
            </a:r>
            <a:r>
              <a:rPr lang="en-US" sz="2600" b="1" dirty="0">
                <a:cs typeface="Times New Roman" panose="02020603050405020304" pitchFamily="18" charset="0"/>
              </a:rPr>
              <a:t>Rationale</a:t>
            </a:r>
            <a:r>
              <a:rPr lang="en-US" sz="2600" dirty="0">
                <a:cs typeface="Times New Roman" panose="02020603050405020304" pitchFamily="18" charset="0"/>
              </a:rPr>
              <a:t>: Well justified</a:t>
            </a:r>
          </a:p>
          <a:p>
            <a:pPr>
              <a:lnSpc>
                <a:spcPct val="100000"/>
              </a:lnSpc>
            </a:pPr>
            <a:r>
              <a:rPr lang="en-US" sz="2600" b="1" dirty="0">
                <a:cs typeface="Times New Roman" panose="02020603050405020304" pitchFamily="18" charset="0"/>
              </a:rPr>
              <a:t>Methodology</a:t>
            </a:r>
            <a:r>
              <a:rPr lang="en-US" sz="2600" dirty="0">
                <a:cs typeface="Times New Roman" panose="02020603050405020304" pitchFamily="18" charset="0"/>
              </a:rPr>
              <a:t>:</a:t>
            </a:r>
          </a:p>
          <a:p>
            <a:pPr marL="0" indent="0">
              <a:lnSpc>
                <a:spcPct val="100000"/>
              </a:lnSpc>
              <a:buNone/>
            </a:pPr>
            <a:r>
              <a:rPr lang="en-US" sz="2600" dirty="0">
                <a:cs typeface="Times New Roman" panose="02020603050405020304" pitchFamily="18" charset="0"/>
              </a:rPr>
              <a:t>    ✓ Robust randomized, double-blind, double-dummy design with active comparator</a:t>
            </a:r>
          </a:p>
          <a:p>
            <a:pPr marL="0" indent="0">
              <a:lnSpc>
                <a:spcPct val="100000"/>
              </a:lnSpc>
              <a:buNone/>
            </a:pPr>
            <a:r>
              <a:rPr lang="en-US" sz="2600" dirty="0">
                <a:cs typeface="Times New Roman" panose="02020603050405020304" pitchFamily="18" charset="0"/>
              </a:rPr>
              <a:t>    ✓ Centralized CPET assessment improved reliability of outcomes</a:t>
            </a:r>
          </a:p>
          <a:p>
            <a:pPr marL="0" indent="0">
              <a:lnSpc>
                <a:spcPct val="100000"/>
              </a:lnSpc>
              <a:buNone/>
            </a:pPr>
            <a:r>
              <a:rPr lang="en-US" sz="2600" dirty="0">
                <a:cs typeface="Times New Roman" panose="02020603050405020304" pitchFamily="18" charset="0"/>
              </a:rPr>
              <a:t>    ✓ Study funded by the drug manufacturer, with sponsor involvement</a:t>
            </a:r>
          </a:p>
          <a:p>
            <a:pPr marL="0" indent="0">
              <a:lnSpc>
                <a:spcPct val="100000"/>
              </a:lnSpc>
              <a:buNone/>
            </a:pPr>
            <a:r>
              <a:rPr lang="en-US" sz="2600" dirty="0">
                <a:cs typeface="Times New Roman" panose="02020603050405020304" pitchFamily="18" charset="0"/>
              </a:rPr>
              <a:t>    ✓ Short follow-up limits evaluation of long-term clinical outcomes</a:t>
            </a:r>
          </a:p>
          <a:p>
            <a:pPr marL="0" indent="0">
              <a:lnSpc>
                <a:spcPct val="100000"/>
              </a:lnSpc>
              <a:buNone/>
            </a:pPr>
            <a:r>
              <a:rPr lang="en-US" sz="2600" b="1" dirty="0">
                <a:cs typeface="Times New Roman" panose="02020603050405020304" pitchFamily="18" charset="0"/>
              </a:rPr>
              <a:t>Results</a:t>
            </a:r>
            <a:r>
              <a:rPr lang="en-US" sz="2600" dirty="0">
                <a:cs typeface="Times New Roman" panose="02020603050405020304" pitchFamily="18" charset="0"/>
              </a:rPr>
              <a:t>: Well presented with clinically meaningful findings</a:t>
            </a:r>
          </a:p>
          <a:p>
            <a:pPr marL="0" indent="0">
              <a:lnSpc>
                <a:spcPct val="100000"/>
              </a:lnSpc>
              <a:buNone/>
            </a:pPr>
            <a:r>
              <a:rPr lang="en-US" sz="2600" b="1" dirty="0">
                <a:cs typeface="Times New Roman" panose="02020603050405020304" pitchFamily="18" charset="0"/>
              </a:rPr>
              <a:t>Discussion</a:t>
            </a:r>
            <a:r>
              <a:rPr lang="en-US" sz="2600" dirty="0">
                <a:cs typeface="Times New Roman" panose="02020603050405020304" pitchFamily="18" charset="0"/>
              </a:rPr>
              <a:t>: Based on the results</a:t>
            </a:r>
          </a:p>
          <a:p>
            <a:pPr marL="0" indent="0">
              <a:lnSpc>
                <a:spcPct val="100000"/>
              </a:lnSpc>
              <a:buNone/>
            </a:pPr>
            <a:r>
              <a:rPr lang="en-US" sz="2600" b="1" dirty="0">
                <a:cs typeface="Times New Roman" panose="02020603050405020304" pitchFamily="18" charset="0"/>
              </a:rPr>
              <a:t>Conclusion</a:t>
            </a:r>
            <a:r>
              <a:rPr lang="en-US" sz="2600" dirty="0">
                <a:cs typeface="Times New Roman" panose="02020603050405020304" pitchFamily="18" charset="0"/>
              </a:rPr>
              <a:t>: Long-term studies are needed</a:t>
            </a:r>
          </a:p>
        </p:txBody>
      </p:sp>
    </p:spTree>
    <p:extLst>
      <p:ext uri="{BB962C8B-B14F-4D97-AF65-F5344CB8AC3E}">
        <p14:creationId xmlns:p14="http://schemas.microsoft.com/office/powerpoint/2010/main" val="11380676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2AB2-7E19-1849-4BFF-47B2FA9AFEB4}"/>
              </a:ext>
            </a:extLst>
          </p:cNvPr>
          <p:cNvSpPr>
            <a:spLocks noGrp="1"/>
          </p:cNvSpPr>
          <p:nvPr>
            <p:ph type="title"/>
          </p:nvPr>
        </p:nvSpPr>
        <p:spPr/>
        <p:txBody>
          <a:bodyPr/>
          <a:lstStyle/>
          <a:p>
            <a:pPr algn="ctr"/>
            <a:r>
              <a:rPr lang="en-GB" b="1" dirty="0"/>
              <a:t>WHY THIS PAPER</a:t>
            </a:r>
            <a:endParaRPr lang="en-TZ" b="1" dirty="0"/>
          </a:p>
        </p:txBody>
      </p:sp>
      <p:sp>
        <p:nvSpPr>
          <p:cNvPr id="3" name="Content Placeholder 2">
            <a:extLst>
              <a:ext uri="{FF2B5EF4-FFF2-40B4-BE49-F238E27FC236}">
                <a16:creationId xmlns:a16="http://schemas.microsoft.com/office/drawing/2014/main" id="{6C694D3C-6DF7-07EA-EA77-FCACD51C40E0}"/>
              </a:ext>
            </a:extLst>
          </p:cNvPr>
          <p:cNvSpPr>
            <a:spLocks noGrp="1"/>
          </p:cNvSpPr>
          <p:nvPr>
            <p:ph idx="1"/>
          </p:nvPr>
        </p:nvSpPr>
        <p:spPr>
          <a:xfrm>
            <a:off x="838200" y="1490133"/>
            <a:ext cx="10515600" cy="4686830"/>
          </a:xfrm>
        </p:spPr>
        <p:txBody>
          <a:bodyPr>
            <a:noAutofit/>
          </a:bodyPr>
          <a:lstStyle/>
          <a:p>
            <a:pPr marL="0" indent="0">
              <a:lnSpc>
                <a:spcPct val="150000"/>
              </a:lnSpc>
              <a:buNone/>
            </a:pPr>
            <a:r>
              <a:rPr lang="en-US" b="1" dirty="0">
                <a:latin typeface="Calibri" panose="020F0502020204030204" pitchFamily="34" charset="0"/>
                <a:cs typeface="Calibri" panose="020F0502020204030204" pitchFamily="34" charset="0"/>
              </a:rPr>
              <a:t>Filling a 50-Year Evidence Gap</a:t>
            </a:r>
            <a:endParaRPr lang="en-US" dirty="0">
              <a:latin typeface="Calibri" panose="020F0502020204030204" pitchFamily="34" charset="0"/>
              <a:cs typeface="Calibri" panose="020F0502020204030204" pitchFamily="34" charset="0"/>
            </a:endParaRPr>
          </a:p>
          <a:p>
            <a:pPr>
              <a:lnSpc>
                <a:spcPct val="150000"/>
              </a:lnSpc>
            </a:pPr>
            <a:r>
              <a:rPr lang="en-US" dirty="0">
                <a:latin typeface="Calibri" panose="020F0502020204030204" pitchFamily="34" charset="0"/>
                <a:cs typeface="Calibri" panose="020F0502020204030204" pitchFamily="34" charset="0"/>
              </a:rPr>
              <a:t>Challenging Expert Opinion</a:t>
            </a:r>
            <a:r>
              <a:rPr lang="en-US" b="1" dirty="0">
                <a:latin typeface="Calibri" panose="020F0502020204030204" pitchFamily="34" charset="0"/>
                <a:cs typeface="Calibri" panose="020F0502020204030204" pitchFamily="34" charset="0"/>
              </a:rPr>
              <a:t>:</a:t>
            </a:r>
            <a:r>
              <a:rPr lang="en-US" dirty="0">
                <a:latin typeface="Calibri" panose="020F0502020204030204" pitchFamily="34" charset="0"/>
                <a:cs typeface="Calibri" panose="020F0502020204030204" pitchFamily="34" charset="0"/>
              </a:rPr>
              <a:t> </a:t>
            </a:r>
            <a:r>
              <a:rPr lang="en-US" i="1" dirty="0">
                <a:latin typeface="Calibri" panose="020F0502020204030204" pitchFamily="34" charset="0"/>
                <a:cs typeface="Calibri" panose="020F0502020204030204" pitchFamily="34" charset="0"/>
              </a:rPr>
              <a:t>β</a:t>
            </a:r>
            <a:r>
              <a:rPr lang="en-US" dirty="0">
                <a:latin typeface="Calibri" panose="020F0502020204030204" pitchFamily="34" charset="0"/>
                <a:cs typeface="Calibri" panose="020F0502020204030204" pitchFamily="34" charset="0"/>
              </a:rPr>
              <a:t>-blockers have been the first-line therapy for symptomatic </a:t>
            </a:r>
            <a:r>
              <a:rPr lang="en-US" dirty="0" err="1">
                <a:latin typeface="Calibri" panose="020F0502020204030204" pitchFamily="34" charset="0"/>
                <a:cs typeface="Calibri" panose="020F0502020204030204" pitchFamily="34" charset="0"/>
              </a:rPr>
              <a:t>oHCM</a:t>
            </a:r>
            <a:r>
              <a:rPr lang="en-US" dirty="0">
                <a:latin typeface="Calibri" panose="020F0502020204030204" pitchFamily="34" charset="0"/>
                <a:cs typeface="Calibri" panose="020F0502020204030204" pitchFamily="34" charset="0"/>
              </a:rPr>
              <a:t> for over half a century, yet this recommendation was primarily based on expert opinion and small, uncontrolled studies</a:t>
            </a:r>
          </a:p>
          <a:p>
            <a:pPr>
              <a:lnSpc>
                <a:spcPct val="150000"/>
              </a:lnSpc>
            </a:pPr>
            <a:r>
              <a:rPr lang="en-US" dirty="0">
                <a:latin typeface="Calibri" panose="020F0502020204030204" pitchFamily="34" charset="0"/>
                <a:cs typeface="Calibri" panose="020F0502020204030204" pitchFamily="34" charset="0"/>
              </a:rPr>
              <a:t>Potential Paradigm Shift to First-Line Therapy cardiac myosin inhibitors (Aficamten)</a:t>
            </a:r>
          </a:p>
          <a:p>
            <a:pPr>
              <a:lnSpc>
                <a:spcPct val="150000"/>
              </a:lnSpc>
            </a:pPr>
            <a:endParaRPr lang="en-US" dirty="0">
              <a:latin typeface="Calibri" panose="020F0502020204030204" pitchFamily="34" charset="0"/>
              <a:cs typeface="Calibri" panose="020F0502020204030204" pitchFamily="34" charset="0"/>
            </a:endParaRPr>
          </a:p>
          <a:p>
            <a:pPr>
              <a:lnSpc>
                <a:spcPct val="150000"/>
              </a:lnSpc>
            </a:pP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4569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9AF01-8019-135A-84A4-2D8C7E703249}"/>
              </a:ext>
            </a:extLst>
          </p:cNvPr>
          <p:cNvSpPr>
            <a:spLocks noGrp="1"/>
          </p:cNvSpPr>
          <p:nvPr>
            <p:ph type="title"/>
          </p:nvPr>
        </p:nvSpPr>
        <p:spPr/>
        <p:txBody>
          <a:bodyPr/>
          <a:lstStyle/>
          <a:p>
            <a:r>
              <a:rPr lang="en-GB" b="1" dirty="0"/>
              <a:t>ACKNOWLEDGEMENT</a:t>
            </a:r>
            <a:endParaRPr lang="en-TZ" b="1" dirty="0"/>
          </a:p>
        </p:txBody>
      </p:sp>
      <p:sp>
        <p:nvSpPr>
          <p:cNvPr id="3" name="Content Placeholder 2">
            <a:extLst>
              <a:ext uri="{FF2B5EF4-FFF2-40B4-BE49-F238E27FC236}">
                <a16:creationId xmlns:a16="http://schemas.microsoft.com/office/drawing/2014/main" id="{48175367-9AB5-5B85-1FF0-D2F8BD0071F9}"/>
              </a:ext>
            </a:extLst>
          </p:cNvPr>
          <p:cNvSpPr>
            <a:spLocks noGrp="1"/>
          </p:cNvSpPr>
          <p:nvPr>
            <p:ph idx="1"/>
          </p:nvPr>
        </p:nvSpPr>
        <p:spPr/>
        <p:txBody>
          <a:bodyPr/>
          <a:lstStyle/>
          <a:p>
            <a:pPr>
              <a:lnSpc>
                <a:spcPct val="150000"/>
              </a:lnSpc>
            </a:pPr>
            <a:r>
              <a:rPr lang="en-GB" dirty="0" err="1"/>
              <a:t>Prof.Patrica</a:t>
            </a:r>
            <a:r>
              <a:rPr lang="en-GB" dirty="0"/>
              <a:t> </a:t>
            </a:r>
            <a:r>
              <a:rPr lang="en-GB" dirty="0" err="1"/>
              <a:t>Munseri</a:t>
            </a:r>
            <a:endParaRPr lang="en-GB" dirty="0"/>
          </a:p>
          <a:p>
            <a:pPr>
              <a:lnSpc>
                <a:spcPct val="150000"/>
              </a:lnSpc>
            </a:pPr>
            <a:r>
              <a:rPr lang="en-GB" dirty="0" err="1"/>
              <a:t>Msc</a:t>
            </a:r>
            <a:r>
              <a:rPr lang="en-GB" dirty="0"/>
              <a:t> fellow Cardiology</a:t>
            </a:r>
          </a:p>
          <a:p>
            <a:pPr>
              <a:lnSpc>
                <a:spcPct val="150000"/>
              </a:lnSpc>
            </a:pPr>
            <a:r>
              <a:rPr lang="en-GB" dirty="0"/>
              <a:t>Mr. Peter </a:t>
            </a:r>
            <a:r>
              <a:rPr lang="en-GB" dirty="0" err="1"/>
              <a:t>Kimambi</a:t>
            </a:r>
            <a:r>
              <a:rPr lang="en-GB" dirty="0"/>
              <a:t> (Biostatistician)</a:t>
            </a:r>
          </a:p>
          <a:p>
            <a:pPr>
              <a:lnSpc>
                <a:spcPct val="150000"/>
              </a:lnSpc>
            </a:pPr>
            <a:r>
              <a:rPr lang="en-GB" dirty="0"/>
              <a:t>Fellow Residents</a:t>
            </a:r>
          </a:p>
          <a:p>
            <a:pPr>
              <a:lnSpc>
                <a:spcPct val="150000"/>
              </a:lnSpc>
            </a:pPr>
            <a:endParaRPr lang="en-TZ" dirty="0"/>
          </a:p>
        </p:txBody>
      </p:sp>
    </p:spTree>
    <p:extLst>
      <p:ext uri="{BB962C8B-B14F-4D97-AF65-F5344CB8AC3E}">
        <p14:creationId xmlns:p14="http://schemas.microsoft.com/office/powerpoint/2010/main" val="20971431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2669</TotalTime>
  <Words>3568</Words>
  <Application>Microsoft Macintosh PowerPoint</Application>
  <PresentationFormat>Widescreen</PresentationFormat>
  <Paragraphs>318</Paragraphs>
  <Slides>41</Slides>
  <Notes>30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41</vt:i4>
      </vt:variant>
    </vt:vector>
  </HeadingPairs>
  <TitlesOfParts>
    <vt:vector size="52" baseType="lpstr">
      <vt:lpstr>Aptos</vt:lpstr>
      <vt:lpstr>Arial</vt:lpstr>
      <vt:lpstr>Calibri</vt:lpstr>
      <vt:lpstr>Calibri Light</vt:lpstr>
      <vt:lpstr>Cambria</vt:lpstr>
      <vt:lpstr>ElsevierGulliver</vt:lpstr>
      <vt:lpstr>Helvetica</vt:lpstr>
      <vt:lpstr>Manrope</vt:lpstr>
      <vt:lpstr>system-ui</vt:lpstr>
      <vt:lpstr>Times New Roman</vt:lpstr>
      <vt:lpstr>Office Theme</vt:lpstr>
      <vt:lpstr>JOURNAL CLUB PRESENTATION</vt:lpstr>
      <vt:lpstr>PowerPoint Presentation</vt:lpstr>
      <vt:lpstr>INTRODUCTION</vt:lpstr>
      <vt:lpstr>EPIDEMIOLOGY</vt:lpstr>
      <vt:lpstr>PATHOGENESIS</vt:lpstr>
      <vt:lpstr>EVALUATION</vt:lpstr>
      <vt:lpstr>MANAGEMENT</vt:lpstr>
      <vt:lpstr>AFICAMTEN</vt:lpstr>
      <vt:lpstr>LITERATURE REVIEW</vt:lpstr>
      <vt:lpstr>LITERATURE REVIEW</vt:lpstr>
      <vt:lpstr>PROBLEM STATEMENT</vt:lpstr>
      <vt:lpstr>RATIONALE</vt:lpstr>
      <vt:lpstr>BROAD OBJECTIVE</vt:lpstr>
      <vt:lpstr>SPECIFIC OBJECTIVES</vt:lpstr>
      <vt:lpstr>METHODOLOGY</vt:lpstr>
      <vt:lpstr>METHODOLOGY</vt:lpstr>
      <vt:lpstr>…contd</vt:lpstr>
      <vt:lpstr>RANDOMIZATION AND STRATIFICATION</vt:lpstr>
      <vt:lpstr>PowerPoint Presentation</vt:lpstr>
      <vt:lpstr>PowerPoint Presentation</vt:lpstr>
      <vt:lpstr>CPET DOMAINS</vt:lpstr>
      <vt:lpstr>METHODOLOGY</vt:lpstr>
      <vt:lpstr>STATISTICAL ANALYSIS</vt:lpstr>
      <vt:lpstr>ETHICAL CONSIDERATIONS</vt:lpstr>
      <vt:lpstr>FUNDING AND CONFLICT OF INTEREST</vt:lpstr>
      <vt:lpstr>RESULTS</vt:lpstr>
      <vt:lpstr>PowerPoint Presentation</vt:lpstr>
      <vt:lpstr>BASELINE CHARACTERISTICS</vt:lpstr>
      <vt:lpstr>BASELINE CHARACTERISTICS</vt:lpstr>
      <vt:lpstr>BASELINE CHARACTERISTICS</vt:lpstr>
      <vt:lpstr>SUBMAXIMAL AND PEAK EXERCISE MEASURES</vt:lpstr>
      <vt:lpstr>POST EXERCISE RECOVERY AND COMPOSITE EXERCISE RESPONSE VARIABLE</vt:lpstr>
      <vt:lpstr>SECONDARY OUTCOMES</vt:lpstr>
      <vt:lpstr>SECONDARY OUTCOMES</vt:lpstr>
      <vt:lpstr>DISCUSSION</vt:lpstr>
      <vt:lpstr>DISCUSSION</vt:lpstr>
      <vt:lpstr>DISCUSSION</vt:lpstr>
      <vt:lpstr>DISCUSSION</vt:lpstr>
      <vt:lpstr>PAPER CRITIQUE</vt:lpstr>
      <vt:lpstr>WHY THIS PAPER</vt:lpstr>
      <vt:lpstr>ACKNOWLEDGEMENT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clinicalrythm</dc:creator>
  <cp:lastModifiedBy>clinicalrythm</cp:lastModifiedBy>
  <cp:revision>47</cp:revision>
  <dcterms:created xsi:type="dcterms:W3CDTF">2026-07-19T09:53:06Z</dcterms:created>
  <dcterms:modified xsi:type="dcterms:W3CDTF">2026-07-23T17:20:09Z</dcterms:modified>
</cp:coreProperties>
</file>