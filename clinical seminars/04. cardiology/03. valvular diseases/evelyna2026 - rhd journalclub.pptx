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4" r:id="rId2"/>
    <p:sldId id="295" r:id="rId3"/>
    <p:sldId id="275" r:id="rId4"/>
    <p:sldId id="326" r:id="rId5"/>
    <p:sldId id="323" r:id="rId6"/>
    <p:sldId id="327" r:id="rId7"/>
    <p:sldId id="328" r:id="rId8"/>
    <p:sldId id="329" r:id="rId9"/>
    <p:sldId id="330" r:id="rId10"/>
    <p:sldId id="331" r:id="rId11"/>
    <p:sldId id="283" r:id="rId12"/>
    <p:sldId id="284" r:id="rId13"/>
    <p:sldId id="285" r:id="rId14"/>
    <p:sldId id="286" r:id="rId15"/>
    <p:sldId id="287" r:id="rId16"/>
    <p:sldId id="288" r:id="rId17"/>
    <p:sldId id="2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09" initials="u" lastIdx="0" clrIdx="0">
    <p:extLst>
      <p:ext uri="{19B8F6BF-5375-455C-9EA6-DF929625EA0E}">
        <p15:presenceInfo xmlns:p15="http://schemas.microsoft.com/office/powerpoint/2012/main" userId="a1b8800f5584783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9" autoAdjust="0"/>
    <p:restoredTop sz="94693"/>
  </p:normalViewPr>
  <p:slideViewPr>
    <p:cSldViewPr snapToGrid="0">
      <p:cViewPr>
        <p:scale>
          <a:sx n="56" d="100"/>
          <a:sy n="56" d="100"/>
        </p:scale>
        <p:origin x="520" y="98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38D0B-5DC3-436B-A5D0-205C07745322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11011-A28A-48F3-A4DF-7B9BEB513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2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age 20-29 years </a:t>
            </a:r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11011-A28A-48F3-A4DF-7B9BEB513B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41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age 20-29 years </a:t>
            </a:r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11011-A28A-48F3-A4DF-7B9BEB513B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77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age 20-29 years </a:t>
            </a:r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11011-A28A-48F3-A4DF-7B9BEB513B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12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age 20-29 years </a:t>
            </a:r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11011-A28A-48F3-A4DF-7B9BEB513B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40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REMEDY- Used Multivariable and propensity weighed analyses</a:t>
            </a:r>
          </a:p>
          <a:p>
            <a:r>
              <a:rPr lang="en-US" dirty="0"/>
              <a:t>N 3298 with baseline digoxin </a:t>
            </a:r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11011-A28A-48F3-A4DF-7B9BEB513B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87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11011-A28A-48F3-A4DF-7B9BEB513B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22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08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9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9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57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0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8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30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00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3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99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8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E2863-0BBF-4AD7-B07E-6A1779F65ED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4869F-F1F5-48C7-9FEF-CC37211E2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20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9130A7-250A-64E1-4B60-24A0375165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JOURNAL CLUB PRESENTATION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C781434-376B-1A3E-E068-E0D47A1814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PRESENTERS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Dr Evelyna Gasper 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Dr Catherine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Kitisho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Dr Emmanuel P</a:t>
            </a:r>
          </a:p>
        </p:txBody>
      </p:sp>
    </p:spTree>
    <p:extLst>
      <p:ext uri="{BB962C8B-B14F-4D97-AF65-F5344CB8AC3E}">
        <p14:creationId xmlns:p14="http://schemas.microsoft.com/office/powerpoint/2010/main" val="229270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445113-2061-2AE0-22E6-BF5782A3C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077"/>
            <a:ext cx="12192000" cy="40705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18AA60-2BEB-705F-4902-C68FA2652D65}"/>
              </a:ext>
            </a:extLst>
          </p:cNvPr>
          <p:cNvSpPr txBox="1"/>
          <p:nvPr/>
        </p:nvSpPr>
        <p:spPr>
          <a:xfrm>
            <a:off x="678426" y="5495074"/>
            <a:ext cx="7171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Published online May 10, 2026 </a:t>
            </a:r>
          </a:p>
          <a:p>
            <a:r>
              <a:rPr lang="en-US" dirty="0"/>
              <a:t>• doi:10.1001/jama.2026.7335</a:t>
            </a:r>
          </a:p>
        </p:txBody>
      </p:sp>
    </p:spTree>
    <p:extLst>
      <p:ext uri="{BB962C8B-B14F-4D97-AF65-F5344CB8AC3E}">
        <p14:creationId xmlns:p14="http://schemas.microsoft.com/office/powerpoint/2010/main" val="2437286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RHD </a:t>
            </a:r>
            <a:r>
              <a:rPr lang="en-US" sz="2600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is chronic structural and/or functional changes in heart valves caused by one or several episodes of rheumatic fever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It is Multivalvular – 85% Mitral valve, Mixed aortic + mitral disease: 45.4%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The burden is not simply valve anatomy but congestion and arrhythmia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It remains major cause of morbidity in LMICs young adults with most deaths  due to heart-failure</a:t>
            </a:r>
          </a:p>
        </p:txBody>
      </p:sp>
    </p:spTree>
    <p:extLst>
      <p:ext uri="{BB962C8B-B14F-4D97-AF65-F5344CB8AC3E}">
        <p14:creationId xmlns:p14="http://schemas.microsoft.com/office/powerpoint/2010/main" val="1379932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Epidemiology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Globally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~ 55 million people affected by RHD with 360,000 deaths annually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Heart failure is the most common cause of death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~ 1.2 million cases of HF</a:t>
            </a:r>
            <a:endParaRPr lang="en-US" sz="2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Africa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RHD population-based echo prevalence is 18.41 per 1000 ( 1-3%)</a:t>
            </a:r>
          </a:p>
          <a:p>
            <a:pPr>
              <a:lnSpc>
                <a:spcPct val="150000"/>
              </a:lnSpc>
            </a:pP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Chillo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et al 2023  found  in a sample of 4436 school children from 4 districts in Tanzania, prevalence of sub-clinical RHD was 2.1%</a:t>
            </a:r>
            <a:endParaRPr lang="x-none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1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C711-EF84-7AE6-FCDC-B1A31FEB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>
                <a:latin typeface="+mn-lt"/>
              </a:rPr>
              <a:t>Pathogenesis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C22BAF-AFD0-4321-DBB2-088615C6EC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483087" cy="4672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26F643-1ACC-C567-5794-BD4B25F33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7" y="1690688"/>
            <a:ext cx="5032513" cy="467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57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C711-EF84-7AE6-FCDC-B1A31FEB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>
                <a:latin typeface="+mn-lt"/>
              </a:rPr>
              <a:t>Diagnosis</a:t>
            </a:r>
          </a:p>
        </p:txBody>
      </p:sp>
      <p:pic>
        <p:nvPicPr>
          <p:cNvPr id="5" name="Picture 2" descr="Fig. 1: The approach to active case finding, classification and care implications for rheumatic heart disease in endemic regions.">
            <a:extLst>
              <a:ext uri="{FF2B5EF4-FFF2-40B4-BE49-F238E27FC236}">
                <a16:creationId xmlns:a16="http://schemas.microsoft.com/office/drawing/2014/main" id="{5658F89D-CA9C-CD44-086E-3554B8A606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3" t="29600" r="2672" b="27910"/>
          <a:stretch/>
        </p:blipFill>
        <p:spPr bwMode="auto">
          <a:xfrm>
            <a:off x="1421130" y="1397691"/>
            <a:ext cx="9349740" cy="509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ig. 1: The approach to active case finding, classification and care implications for rheumatic heart disease in endemic regions.">
            <a:extLst>
              <a:ext uri="{FF2B5EF4-FFF2-40B4-BE49-F238E27FC236}">
                <a16:creationId xmlns:a16="http://schemas.microsoft.com/office/drawing/2014/main" id="{499A1D4D-55F9-42B4-E4AD-C8FB634596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7" t="73925" r="2672" b="23952"/>
          <a:stretch/>
        </p:blipFill>
        <p:spPr bwMode="auto">
          <a:xfrm>
            <a:off x="1421130" y="6519866"/>
            <a:ext cx="9349740" cy="22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772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contd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Worsening is often triggered by atrial fibrillation/tachycardia, raising left atrial and pulmonary venous pressures</a:t>
            </a:r>
          </a:p>
          <a:p>
            <a:pPr>
              <a:lnSpc>
                <a:spcPct val="150000"/>
              </a:lnSpc>
            </a:pPr>
            <a:endParaRPr lang="en-US" sz="2600" dirty="0">
              <a:solidFill>
                <a:srgbClr val="11111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600" dirty="0">
              <a:solidFill>
                <a:srgbClr val="11111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Many symptomatic patients are not immediate candidates for intervention due to surgical risk/resources constrains hence need for medical therapy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TZ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TZ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F71A38-0A15-A8E6-0280-4D379EFC3EE9}"/>
              </a:ext>
            </a:extLst>
          </p:cNvPr>
          <p:cNvGrpSpPr/>
          <p:nvPr/>
        </p:nvGrpSpPr>
        <p:grpSpPr>
          <a:xfrm>
            <a:off x="541020" y="3429000"/>
            <a:ext cx="11109960" cy="1005840"/>
            <a:chOff x="541020" y="4686300"/>
            <a:chExt cx="11109960" cy="1005840"/>
          </a:xfrm>
        </p:grpSpPr>
        <p:sp>
          <p:nvSpPr>
            <p:cNvPr id="2" name="Shape 4">
              <a:extLst>
                <a:ext uri="{FF2B5EF4-FFF2-40B4-BE49-F238E27FC236}">
                  <a16:creationId xmlns:a16="http://schemas.microsoft.com/office/drawing/2014/main" id="{A5A9AC9A-85CF-9463-732C-228BD13CEDC9}"/>
                </a:ext>
              </a:extLst>
            </p:cNvPr>
            <p:cNvSpPr/>
            <p:nvPr/>
          </p:nvSpPr>
          <p:spPr>
            <a:xfrm>
              <a:off x="1866900" y="5006340"/>
              <a:ext cx="932688" cy="0"/>
            </a:xfrm>
            <a:prstGeom prst="line">
              <a:avLst/>
            </a:prstGeom>
            <a:noFill/>
            <a:ln w="25400">
              <a:solidFill>
                <a:srgbClr val="5D6971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TZ"/>
            </a:p>
          </p:txBody>
        </p:sp>
        <p:sp>
          <p:nvSpPr>
            <p:cNvPr id="3" name="Shape 5">
              <a:extLst>
                <a:ext uri="{FF2B5EF4-FFF2-40B4-BE49-F238E27FC236}">
                  <a16:creationId xmlns:a16="http://schemas.microsoft.com/office/drawing/2014/main" id="{E4E18DF3-A372-7375-60CB-07D0A10EBB0E}"/>
                </a:ext>
              </a:extLst>
            </p:cNvPr>
            <p:cNvSpPr/>
            <p:nvPr/>
          </p:nvSpPr>
          <p:spPr>
            <a:xfrm>
              <a:off x="4244340" y="5006340"/>
              <a:ext cx="932688" cy="0"/>
            </a:xfrm>
            <a:prstGeom prst="line">
              <a:avLst/>
            </a:prstGeom>
            <a:noFill/>
            <a:ln w="25400">
              <a:solidFill>
                <a:srgbClr val="5D6971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TZ"/>
            </a:p>
          </p:txBody>
        </p:sp>
        <p:sp>
          <p:nvSpPr>
            <p:cNvPr id="6" name="Shape 6">
              <a:extLst>
                <a:ext uri="{FF2B5EF4-FFF2-40B4-BE49-F238E27FC236}">
                  <a16:creationId xmlns:a16="http://schemas.microsoft.com/office/drawing/2014/main" id="{90933F19-9F7E-EBA2-9142-B12ACB46FDC7}"/>
                </a:ext>
              </a:extLst>
            </p:cNvPr>
            <p:cNvSpPr/>
            <p:nvPr/>
          </p:nvSpPr>
          <p:spPr>
            <a:xfrm>
              <a:off x="6621780" y="5006340"/>
              <a:ext cx="932688" cy="0"/>
            </a:xfrm>
            <a:prstGeom prst="line">
              <a:avLst/>
            </a:prstGeom>
            <a:noFill/>
            <a:ln w="25400">
              <a:solidFill>
                <a:srgbClr val="5D6971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TZ"/>
            </a:p>
          </p:txBody>
        </p:sp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91275A06-0793-DAF8-BD63-CD138B6588EE}"/>
                </a:ext>
              </a:extLst>
            </p:cNvPr>
            <p:cNvSpPr/>
            <p:nvPr/>
          </p:nvSpPr>
          <p:spPr>
            <a:xfrm>
              <a:off x="8999220" y="5006340"/>
              <a:ext cx="932688" cy="0"/>
            </a:xfrm>
            <a:prstGeom prst="line">
              <a:avLst/>
            </a:prstGeom>
            <a:noFill/>
            <a:ln w="25400">
              <a:solidFill>
                <a:srgbClr val="5D6971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TZ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47A187C0-F377-5C71-C7E1-2FFD99A0FB79}"/>
                </a:ext>
              </a:extLst>
            </p:cNvPr>
            <p:cNvSpPr/>
            <p:nvPr/>
          </p:nvSpPr>
          <p:spPr>
            <a:xfrm>
              <a:off x="541020" y="4686300"/>
              <a:ext cx="1600200" cy="100584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9050">
              <a:solidFill>
                <a:srgbClr val="A20D16"/>
              </a:solidFill>
              <a:prstDash val="solid"/>
            </a:ln>
          </p:spPr>
          <p:txBody>
            <a:bodyPr/>
            <a:lstStyle/>
            <a:p>
              <a:endParaRPr lang="en-TZ"/>
            </a:p>
          </p:txBody>
        </p:sp>
        <p:sp>
          <p:nvSpPr>
            <p:cNvPr id="9" name="Text 9">
              <a:extLst>
                <a:ext uri="{FF2B5EF4-FFF2-40B4-BE49-F238E27FC236}">
                  <a16:creationId xmlns:a16="http://schemas.microsoft.com/office/drawing/2014/main" id="{329CCF45-2B82-1862-9D7C-DC060179D56C}"/>
                </a:ext>
              </a:extLst>
            </p:cNvPr>
            <p:cNvSpPr/>
            <p:nvPr/>
          </p:nvSpPr>
          <p:spPr>
            <a:xfrm>
              <a:off x="632460" y="4814316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A20D16"/>
                  </a:solidFill>
                </a:rPr>
                <a:t>Valve lesions</a:t>
              </a:r>
              <a:endParaRPr lang="en-US" sz="1200" dirty="0"/>
            </a:p>
          </p:txBody>
        </p:sp>
        <p:sp>
          <p:nvSpPr>
            <p:cNvPr id="10" name="Text 10">
              <a:extLst>
                <a:ext uri="{FF2B5EF4-FFF2-40B4-BE49-F238E27FC236}">
                  <a16:creationId xmlns:a16="http://schemas.microsoft.com/office/drawing/2014/main" id="{34B5CD13-6938-D919-DB18-647CA4ED968E}"/>
                </a:ext>
              </a:extLst>
            </p:cNvPr>
            <p:cNvSpPr/>
            <p:nvPr/>
          </p:nvSpPr>
          <p:spPr>
            <a:xfrm>
              <a:off x="641604" y="5125212"/>
              <a:ext cx="1417320" cy="38404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20" dirty="0">
                  <a:solidFill>
                    <a:srgbClr val="111111"/>
                  </a:solidFill>
                </a:rPr>
                <a:t>Mitral stenosis/regurgitation ± aortic disease</a:t>
              </a:r>
              <a:endParaRPr lang="en-US" sz="820" dirty="0"/>
            </a:p>
          </p:txBody>
        </p:sp>
        <p:sp>
          <p:nvSpPr>
            <p:cNvPr id="11" name="Shape 11">
              <a:extLst>
                <a:ext uri="{FF2B5EF4-FFF2-40B4-BE49-F238E27FC236}">
                  <a16:creationId xmlns:a16="http://schemas.microsoft.com/office/drawing/2014/main" id="{B7264B28-8729-5951-C888-6E0E9F64DABE}"/>
                </a:ext>
              </a:extLst>
            </p:cNvPr>
            <p:cNvSpPr/>
            <p:nvPr/>
          </p:nvSpPr>
          <p:spPr>
            <a:xfrm>
              <a:off x="2918460" y="4686300"/>
              <a:ext cx="1600200" cy="100584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9050">
              <a:solidFill>
                <a:srgbClr val="D8702A"/>
              </a:solidFill>
              <a:prstDash val="solid"/>
            </a:ln>
          </p:spPr>
          <p:txBody>
            <a:bodyPr/>
            <a:lstStyle/>
            <a:p>
              <a:endParaRPr lang="en-TZ"/>
            </a:p>
          </p:txBody>
        </p:sp>
        <p:sp>
          <p:nvSpPr>
            <p:cNvPr id="12" name="Text 12">
              <a:extLst>
                <a:ext uri="{FF2B5EF4-FFF2-40B4-BE49-F238E27FC236}">
                  <a16:creationId xmlns:a16="http://schemas.microsoft.com/office/drawing/2014/main" id="{B997DB83-1007-E806-B2FE-05D22538FDBC}"/>
                </a:ext>
              </a:extLst>
            </p:cNvPr>
            <p:cNvSpPr/>
            <p:nvPr/>
          </p:nvSpPr>
          <p:spPr>
            <a:xfrm>
              <a:off x="3009900" y="4814316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8702A"/>
                  </a:solidFill>
                </a:rPr>
                <a:t>↑ LA pressure</a:t>
              </a:r>
              <a:endParaRPr lang="en-US" sz="1200" dirty="0"/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48F85EFD-2531-D872-92A7-2A0BD4E1B932}"/>
                </a:ext>
              </a:extLst>
            </p:cNvPr>
            <p:cNvSpPr/>
            <p:nvPr/>
          </p:nvSpPr>
          <p:spPr>
            <a:xfrm>
              <a:off x="3019044" y="5125212"/>
              <a:ext cx="1417320" cy="38404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20" dirty="0">
                  <a:solidFill>
                    <a:srgbClr val="111111"/>
                  </a:solidFill>
                </a:rPr>
                <a:t>Pulmonary venous congestion</a:t>
              </a:r>
              <a:endParaRPr lang="en-US" sz="820" dirty="0"/>
            </a:p>
          </p:txBody>
        </p:sp>
        <p:sp>
          <p:nvSpPr>
            <p:cNvPr id="14" name="Shape 14">
              <a:extLst>
                <a:ext uri="{FF2B5EF4-FFF2-40B4-BE49-F238E27FC236}">
                  <a16:creationId xmlns:a16="http://schemas.microsoft.com/office/drawing/2014/main" id="{E4F30BEC-5379-5815-F360-EFAC1C15AF60}"/>
                </a:ext>
              </a:extLst>
            </p:cNvPr>
            <p:cNvSpPr/>
            <p:nvPr/>
          </p:nvSpPr>
          <p:spPr>
            <a:xfrm>
              <a:off x="5295900" y="4686300"/>
              <a:ext cx="1600200" cy="100584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905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 lang="en-TZ"/>
            </a:p>
          </p:txBody>
        </p:sp>
        <p:sp>
          <p:nvSpPr>
            <p:cNvPr id="15" name="Text 15">
              <a:extLst>
                <a:ext uri="{FF2B5EF4-FFF2-40B4-BE49-F238E27FC236}">
                  <a16:creationId xmlns:a16="http://schemas.microsoft.com/office/drawing/2014/main" id="{5F28BD36-4184-206F-7011-60E0011C9ED1}"/>
                </a:ext>
              </a:extLst>
            </p:cNvPr>
            <p:cNvSpPr/>
            <p:nvPr/>
          </p:nvSpPr>
          <p:spPr>
            <a:xfrm>
              <a:off x="5387340" y="4814316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6F8B"/>
                  </a:solidFill>
                </a:rPr>
                <a:t>AF / tachycardia</a:t>
              </a:r>
              <a:endParaRPr lang="en-US" sz="1200" dirty="0"/>
            </a:p>
          </p:txBody>
        </p:sp>
        <p:sp>
          <p:nvSpPr>
            <p:cNvPr id="16" name="Text 16">
              <a:extLst>
                <a:ext uri="{FF2B5EF4-FFF2-40B4-BE49-F238E27FC236}">
                  <a16:creationId xmlns:a16="http://schemas.microsoft.com/office/drawing/2014/main" id="{F38584D0-508E-8530-C1C4-C5645CB28B8C}"/>
                </a:ext>
              </a:extLst>
            </p:cNvPr>
            <p:cNvSpPr/>
            <p:nvPr/>
          </p:nvSpPr>
          <p:spPr>
            <a:xfrm>
              <a:off x="5396484" y="5125212"/>
              <a:ext cx="1417320" cy="38404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20" dirty="0">
                  <a:solidFill>
                    <a:srgbClr val="111111"/>
                  </a:solidFill>
                </a:rPr>
                <a:t>Shorter filling time; higher LA pressure</a:t>
              </a:r>
              <a:endParaRPr lang="en-US" sz="820" dirty="0"/>
            </a:p>
          </p:txBody>
        </p:sp>
        <p:sp>
          <p:nvSpPr>
            <p:cNvPr id="17" name="Shape 17">
              <a:extLst>
                <a:ext uri="{FF2B5EF4-FFF2-40B4-BE49-F238E27FC236}">
                  <a16:creationId xmlns:a16="http://schemas.microsoft.com/office/drawing/2014/main" id="{043FD193-D5C4-50FF-FA94-1ECCCFEC85B4}"/>
                </a:ext>
              </a:extLst>
            </p:cNvPr>
            <p:cNvSpPr/>
            <p:nvPr/>
          </p:nvSpPr>
          <p:spPr>
            <a:xfrm>
              <a:off x="7673340" y="4686300"/>
              <a:ext cx="1600200" cy="100584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9050">
              <a:solidFill>
                <a:srgbClr val="286DA8"/>
              </a:solidFill>
              <a:prstDash val="solid"/>
            </a:ln>
          </p:spPr>
          <p:txBody>
            <a:bodyPr/>
            <a:lstStyle/>
            <a:p>
              <a:endParaRPr lang="en-TZ"/>
            </a:p>
          </p:txBody>
        </p:sp>
        <p:sp>
          <p:nvSpPr>
            <p:cNvPr id="18" name="Text 18">
              <a:extLst>
                <a:ext uri="{FF2B5EF4-FFF2-40B4-BE49-F238E27FC236}">
                  <a16:creationId xmlns:a16="http://schemas.microsoft.com/office/drawing/2014/main" id="{17D90D51-E96C-ABAF-DA94-4922697595BA}"/>
                </a:ext>
              </a:extLst>
            </p:cNvPr>
            <p:cNvSpPr/>
            <p:nvPr/>
          </p:nvSpPr>
          <p:spPr>
            <a:xfrm>
              <a:off x="7764780" y="4814316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86DA8"/>
                  </a:solidFill>
                </a:rPr>
                <a:t>Symptoms</a:t>
              </a:r>
              <a:endParaRPr lang="en-US" sz="1200" dirty="0"/>
            </a:p>
          </p:txBody>
        </p:sp>
        <p:sp>
          <p:nvSpPr>
            <p:cNvPr id="19" name="Text 19">
              <a:extLst>
                <a:ext uri="{FF2B5EF4-FFF2-40B4-BE49-F238E27FC236}">
                  <a16:creationId xmlns:a16="http://schemas.microsoft.com/office/drawing/2014/main" id="{570092E1-0206-87B6-9695-1111A8FD98C7}"/>
                </a:ext>
              </a:extLst>
            </p:cNvPr>
            <p:cNvSpPr/>
            <p:nvPr/>
          </p:nvSpPr>
          <p:spPr>
            <a:xfrm>
              <a:off x="7773924" y="5125212"/>
              <a:ext cx="1417320" cy="38404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20" dirty="0">
                  <a:solidFill>
                    <a:srgbClr val="111111"/>
                  </a:solidFill>
                </a:rPr>
                <a:t>Dyspnea, edema, diuretic escalation</a:t>
              </a:r>
              <a:endParaRPr lang="en-US" sz="820" dirty="0"/>
            </a:p>
          </p:txBody>
        </p:sp>
        <p:sp>
          <p:nvSpPr>
            <p:cNvPr id="20" name="Shape 20">
              <a:extLst>
                <a:ext uri="{FF2B5EF4-FFF2-40B4-BE49-F238E27FC236}">
                  <a16:creationId xmlns:a16="http://schemas.microsoft.com/office/drawing/2014/main" id="{2F7B5C79-445A-9A3B-73A9-77F897AC161E}"/>
                </a:ext>
              </a:extLst>
            </p:cNvPr>
            <p:cNvSpPr/>
            <p:nvPr/>
          </p:nvSpPr>
          <p:spPr>
            <a:xfrm>
              <a:off x="10050780" y="4686300"/>
              <a:ext cx="1600200" cy="100584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9050">
              <a:solidFill>
                <a:srgbClr val="172A3A"/>
              </a:solidFill>
              <a:prstDash val="solid"/>
            </a:ln>
          </p:spPr>
          <p:txBody>
            <a:bodyPr/>
            <a:lstStyle/>
            <a:p>
              <a:endParaRPr lang="en-TZ"/>
            </a:p>
          </p:txBody>
        </p:sp>
        <p:sp>
          <p:nvSpPr>
            <p:cNvPr id="21" name="Text 21">
              <a:extLst>
                <a:ext uri="{FF2B5EF4-FFF2-40B4-BE49-F238E27FC236}">
                  <a16:creationId xmlns:a16="http://schemas.microsoft.com/office/drawing/2014/main" id="{B1039E52-6ED5-211D-B6FD-DA684B41960E}"/>
                </a:ext>
              </a:extLst>
            </p:cNvPr>
            <p:cNvSpPr/>
            <p:nvPr/>
          </p:nvSpPr>
          <p:spPr>
            <a:xfrm>
              <a:off x="10142220" y="4814316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2A3A"/>
                  </a:solidFill>
                </a:rPr>
                <a:t>Outcomes</a:t>
              </a:r>
              <a:endParaRPr lang="en-US" sz="1200" dirty="0"/>
            </a:p>
          </p:txBody>
        </p:sp>
        <p:sp>
          <p:nvSpPr>
            <p:cNvPr id="22" name="Text 22">
              <a:extLst>
                <a:ext uri="{FF2B5EF4-FFF2-40B4-BE49-F238E27FC236}">
                  <a16:creationId xmlns:a16="http://schemas.microsoft.com/office/drawing/2014/main" id="{5344ED3D-92EE-3E71-8D28-53289446C220}"/>
                </a:ext>
              </a:extLst>
            </p:cNvPr>
            <p:cNvSpPr/>
            <p:nvPr/>
          </p:nvSpPr>
          <p:spPr>
            <a:xfrm>
              <a:off x="10151364" y="5125212"/>
              <a:ext cx="1417320" cy="38404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20" dirty="0">
                  <a:solidFill>
                    <a:srgbClr val="111111"/>
                  </a:solidFill>
                </a:rPr>
                <a:t>HF worsening, admission, death</a:t>
              </a:r>
              <a:endParaRPr lang="en-US" sz="820" dirty="0"/>
            </a:p>
          </p:txBody>
        </p:sp>
      </p:grpSp>
    </p:spTree>
    <p:extLst>
      <p:ext uri="{BB962C8B-B14F-4D97-AF65-F5344CB8AC3E}">
        <p14:creationId xmlns:p14="http://schemas.microsoft.com/office/powerpoint/2010/main" val="17776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C711-EF84-7AE6-FCDC-B1A31FEB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>
                <a:latin typeface="+mn-lt"/>
              </a:rPr>
              <a:t>Digoxin:  Mechanism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503D814-2466-612A-3598-8AE541913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628" b="3428"/>
          <a:stretch/>
        </p:blipFill>
        <p:spPr>
          <a:xfrm>
            <a:off x="838200" y="1416685"/>
            <a:ext cx="10515600" cy="50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67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C711-EF84-7AE6-FCDC-B1A31FEB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>
                <a:latin typeface="+mn-lt"/>
              </a:rPr>
              <a:t>contd…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12DBD542-EE2E-D223-A9CF-79468014F888}"/>
              </a:ext>
            </a:extLst>
          </p:cNvPr>
          <p:cNvSpPr/>
          <p:nvPr/>
        </p:nvSpPr>
        <p:spPr>
          <a:xfrm>
            <a:off x="792480" y="3201432"/>
            <a:ext cx="306324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1F6F8B"/>
            </a:solidFill>
            <a:prstDash val="solid"/>
          </a:ln>
        </p:spPr>
        <p:txBody>
          <a:bodyPr/>
          <a:lstStyle/>
          <a:p>
            <a:r>
              <a:rPr lang="en-US" sz="22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Increases vagal tone and slows ventricular response in AF/flutter → longer diastolic filling and lower LA pressure.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TZ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450DCA9-D4BF-7CF9-19A6-CE6628F50166}"/>
              </a:ext>
            </a:extLst>
          </p:cNvPr>
          <p:cNvSpPr/>
          <p:nvPr/>
        </p:nvSpPr>
        <p:spPr>
          <a:xfrm>
            <a:off x="870647" y="220728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6F8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AV-node effect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72304F43-E62E-915A-4084-9BB7D905A88F}"/>
              </a:ext>
            </a:extLst>
          </p:cNvPr>
          <p:cNvSpPr/>
          <p:nvPr/>
        </p:nvSpPr>
        <p:spPr>
          <a:xfrm>
            <a:off x="4432186" y="3122675"/>
            <a:ext cx="306324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D8702A"/>
            </a:solidFill>
            <a:prstDash val="solid"/>
          </a:ln>
        </p:spPr>
        <p:txBody>
          <a:bodyPr/>
          <a:lstStyle/>
          <a:p>
            <a:r>
              <a:rPr lang="en-US" sz="22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Na⁺/K⁺ ATPase inhibition → higher intracellular Ca²⁺ → modest positive inotropy; relevant for regurgitant lesions or LV dysfunction</a:t>
            </a:r>
            <a:endParaRPr lang="en-TZ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FE11361E-BBD8-C0C2-0CB7-7A934A8A98B5}"/>
              </a:ext>
            </a:extLst>
          </p:cNvPr>
          <p:cNvSpPr/>
          <p:nvPr/>
        </p:nvSpPr>
        <p:spPr>
          <a:xfrm>
            <a:off x="4619687" y="220728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870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Inotropy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F652EF88-6869-B9FC-E56B-8E462C82AA03}"/>
              </a:ext>
            </a:extLst>
          </p:cNvPr>
          <p:cNvSpPr/>
          <p:nvPr/>
        </p:nvSpPr>
        <p:spPr>
          <a:xfrm>
            <a:off x="7957247" y="3058669"/>
            <a:ext cx="306324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A20D16"/>
            </a:solidFill>
            <a:prstDash val="solid"/>
          </a:ln>
        </p:spPr>
        <p:txBody>
          <a:bodyPr/>
          <a:lstStyle/>
          <a:p>
            <a:r>
              <a:rPr lang="en-US" sz="22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Oral, inexpensive medicine; potentially high feasibility in LMIC systems.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TZ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971CF09-4B26-61D3-D317-47B928A1F0A5}"/>
              </a:ext>
            </a:extLst>
          </p:cNvPr>
          <p:cNvSpPr/>
          <p:nvPr/>
        </p:nvSpPr>
        <p:spPr>
          <a:xfrm>
            <a:off x="8368727" y="220728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20D1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 cost/access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599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Side Effects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Digoxin has a narrow therapeutic index. Most Common Side effect: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Bradycardia 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Atrioventricular block  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Ventricular Tachycardia 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Nausea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Vomiting</a:t>
            </a:r>
          </a:p>
        </p:txBody>
      </p:sp>
    </p:spTree>
    <p:extLst>
      <p:ext uri="{BB962C8B-B14F-4D97-AF65-F5344CB8AC3E}">
        <p14:creationId xmlns:p14="http://schemas.microsoft.com/office/powerpoint/2010/main" val="1711260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96818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954290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508663"/>
              </p:ext>
            </p:extLst>
          </p:nvPr>
        </p:nvGraphicFramePr>
        <p:xfrm>
          <a:off x="320040" y="365126"/>
          <a:ext cx="11612880" cy="6348094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2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3574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703">
                <a:tc>
                  <a:txBody>
                    <a:bodyPr/>
                    <a:lstStyle/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 Trial,</a:t>
                      </a:r>
                    </a:p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Effects of digoxin on Mortality and Morbidity in patient with heart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1997</a:t>
                      </a:r>
                    </a:p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900" baseline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Multicentre</a:t>
                      </a:r>
                      <a:endParaRPr lang="en-US" sz="1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(USA &amp; Canada)</a:t>
                      </a:r>
                      <a:endParaRPr lang="en-US" sz="1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Phase 3 trial, </a:t>
                      </a:r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Randomized, double blind,</a:t>
                      </a:r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placebo – controlled </a:t>
                      </a:r>
                      <a:r>
                        <a:rPr lang="en-US" sz="1900" baseline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Multicentre</a:t>
                      </a:r>
                      <a:endParaRPr lang="en-US" sz="1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trial, (USA &amp; Canada)</a:t>
                      </a:r>
                    </a:p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(37 months)</a:t>
                      </a:r>
                    </a:p>
                    <a:p>
                      <a:endParaRPr lang="en-US" sz="1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N= 6800  with Chronic HF, LVEF&lt; 45%, sinus rhythm </a:t>
                      </a:r>
                      <a:endParaRPr lang="en-US" sz="1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Digoxin has no Mortality benefit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RR 0.99, 95% CI 0.91-1.07, P= 0.8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1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Digoxin reduced HF Hospitalization RR 0.72, 95% CI 0.66- 0.79, P=0.001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Older(Mean age 64) ischemic/comorbid population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900" dirty="0">
                        <a:solidFill>
                          <a:srgbClr val="11111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 RHD -specific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1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662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Increased Mortality among patients taking digoxin </a:t>
                      </a:r>
                    </a:p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Whitbeck et 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May 2013</a:t>
                      </a:r>
                      <a:endParaRPr lang="en-US" sz="1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Post hoc observation analysis within a Multicenter AF trial </a:t>
                      </a:r>
                    </a:p>
                    <a:p>
                      <a:endParaRPr lang="en-US" sz="1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Assessed association between digoxin use and Mortality in AF </a:t>
                      </a:r>
                    </a:p>
                    <a:p>
                      <a:endParaRPr lang="en-US" sz="1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N= 4060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Digoxin associated -with higher all-cause mortality HR 1.41 95% CI 1.19-1.67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1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Higher Cardiovascular mortality P=0.016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 randomized- Confounding by indication 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US" sz="1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19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Non RHD - specific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014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8468656"/>
              </p:ext>
            </p:extLst>
          </p:nvPr>
        </p:nvGraphicFramePr>
        <p:xfrm>
          <a:off x="342900" y="365125"/>
          <a:ext cx="11384280" cy="612775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276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1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7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604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915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Global RHD Registry/ REMEDY </a:t>
                      </a: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Digoxin analysis</a:t>
                      </a: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Karthikeyan et al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2019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Observation analysis of digoxin use in RHD from the REMEDY registry N = 3298 </a:t>
                      </a:r>
                    </a:p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Assessed 2-year mortality, recurrent HF and hospitalization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Digoxin was associated with mortality OR 1.63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Recurrent HF OR 1.48, P = 0.019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Observational study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Strong  confounding by indication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255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RATE- AF Trial </a:t>
                      </a:r>
                    </a:p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2020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Phase 3 trial, 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Randomized, open-label, blinded- endpoint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placebo – controlled </a:t>
                      </a:r>
                      <a:r>
                        <a:rPr lang="en-US" sz="1800" baseline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Multicentre</a:t>
                      </a:r>
                      <a:endParaRPr lang="en-US" sz="18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trial, (USA &amp; Canada)</a:t>
                      </a:r>
                    </a:p>
                    <a:p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(37 months)</a:t>
                      </a:r>
                    </a:p>
                    <a:p>
                      <a:endParaRPr lang="en-US" sz="18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N= 6800 </a:t>
                      </a:r>
                    </a:p>
                    <a:p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Chronic HF, LVEF&lt; 45%, sinus rhythm 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Digoxin was associated with mortality OR 1.63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Recurrent HF OR 1.48, P = 0.019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Observational study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Strong  confounding by indication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163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RHD causes high morbidity and Mortality largely due to Heart failure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Digoxin is biologically plausible, widely available, already used by clinician 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11111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Prior data in RHD shows increased mortality  but were observational and vulnerable to confounding by indication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No randomized trial evidence establishing its efficacy and safety of Digoxin for patient with  RHD </a:t>
            </a:r>
          </a:p>
        </p:txBody>
      </p:sp>
    </p:spTree>
    <p:extLst>
      <p:ext uri="{BB962C8B-B14F-4D97-AF65-F5344CB8AC3E}">
        <p14:creationId xmlns:p14="http://schemas.microsoft.com/office/powerpoint/2010/main" val="2957730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Rationale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RHD patients have complex multivalve disease – Not always candidates for surgery and may rely on medical management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Patient with RHD a younger with fewer comorbidities – they might have a more favorable risk benefit profile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Hence, t</a:t>
            </a:r>
            <a:r>
              <a:rPr lang="en-TZ" sz="2200" dirty="0">
                <a:latin typeface="Calibri" panose="020F0502020204030204" pitchFamily="34" charset="0"/>
                <a:cs typeface="Calibri" panose="020F0502020204030204" pitchFamily="34" charset="0"/>
              </a:rPr>
              <a:t>his trial was designed to evaluate whether digoxin can reduce risk of death or new-onset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heart failure </a:t>
            </a:r>
            <a:r>
              <a:rPr lang="en-TZ" sz="2200" dirty="0">
                <a:latin typeface="Calibri" panose="020F0502020204030204" pitchFamily="34" charset="0"/>
                <a:cs typeface="Calibri" panose="020F0502020204030204" pitchFamily="34" charset="0"/>
              </a:rPr>
              <a:t>or worsening heart failure among patients with symptomatic RHD</a:t>
            </a:r>
            <a:endParaRPr lang="en-US" sz="22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0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Broad Objective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To determine whether digoxin therapy when compared to placebo (on a background of standard care)  improves a composite outcome of all cause death and new onset or worsening HF in patient with symptomatic rheumatic heart disease </a:t>
            </a:r>
          </a:p>
        </p:txBody>
      </p:sp>
    </p:spTree>
    <p:extLst>
      <p:ext uri="{BB962C8B-B14F-4D97-AF65-F5344CB8AC3E}">
        <p14:creationId xmlns:p14="http://schemas.microsoft.com/office/powerpoint/2010/main" val="197154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Specific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determine digoxin’s effect of on a</a:t>
            </a:r>
            <a:r>
              <a:rPr lang="en-TZ" dirty="0">
                <a:latin typeface="Calibri" panose="020F0502020204030204" pitchFamily="34" charset="0"/>
                <a:cs typeface="Calibri" panose="020F0502020204030204" pitchFamily="34" charset="0"/>
              </a:rPr>
              <a:t> composite of all-cause death or new-onset or worsening HF within 36 months follow-up or until study end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determine effect of digoxin on all</a:t>
            </a:r>
            <a:r>
              <a:rPr lang="en-TZ" dirty="0">
                <a:latin typeface="Calibri" panose="020F0502020204030204" pitchFamily="34" charset="0"/>
                <a:cs typeface="Calibri" panose="020F0502020204030204" pitchFamily="34" charset="0"/>
              </a:rPr>
              <a:t>-cause death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determine effect of digoxin on death due to HF</a:t>
            </a:r>
            <a:endParaRPr lang="en-TZ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determine effect of digoxin on n</a:t>
            </a:r>
            <a:r>
              <a:rPr lang="en-TZ" dirty="0" err="1">
                <a:latin typeface="Calibri" panose="020F0502020204030204" pitchFamily="34" charset="0"/>
                <a:cs typeface="Calibri" panose="020F0502020204030204" pitchFamily="34" charset="0"/>
              </a:rPr>
              <a:t>ew</a:t>
            </a:r>
            <a:r>
              <a:rPr lang="en-TZ" dirty="0">
                <a:latin typeface="Calibri" panose="020F0502020204030204" pitchFamily="34" charset="0"/>
                <a:cs typeface="Calibri" panose="020F0502020204030204" pitchFamily="34" charset="0"/>
              </a:rPr>
              <a:t>-onset or worsening heart failure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monitor safety profile of digoxin </a:t>
            </a:r>
            <a:endParaRPr lang="en-TZ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239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1995</TotalTime>
  <Words>889</Words>
  <Application>Microsoft Macintosh PowerPoint</Application>
  <PresentationFormat>Widescreen</PresentationFormat>
  <Paragraphs>149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JOURNAL CLUB PRESENTATION</vt:lpstr>
      <vt:lpstr>PowerPoint Presentation</vt:lpstr>
      <vt:lpstr>Introduction</vt:lpstr>
      <vt:lpstr>Epidemiology</vt:lpstr>
      <vt:lpstr>Pathogenesis</vt:lpstr>
      <vt:lpstr>Diagnosis</vt:lpstr>
      <vt:lpstr>contd…</vt:lpstr>
      <vt:lpstr>Digoxin:  Mechanism</vt:lpstr>
      <vt:lpstr>contd…</vt:lpstr>
      <vt:lpstr>Side Effects</vt:lpstr>
      <vt:lpstr>LITERATURE REVIEW</vt:lpstr>
      <vt:lpstr>)</vt:lpstr>
      <vt:lpstr>PowerPoint Presentation</vt:lpstr>
      <vt:lpstr>Problem Statement</vt:lpstr>
      <vt:lpstr>Rationale</vt:lpstr>
      <vt:lpstr>Broad Objective</vt:lpstr>
      <vt:lpstr>Specific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METHODOLOGY</dc:title>
  <dc:creator>user09</dc:creator>
  <cp:lastModifiedBy>clinicalrythm</cp:lastModifiedBy>
  <cp:revision>96</cp:revision>
  <dcterms:created xsi:type="dcterms:W3CDTF">2026-06-06T10:02:08Z</dcterms:created>
  <dcterms:modified xsi:type="dcterms:W3CDTF">2026-07-12T17:04:18Z</dcterms:modified>
</cp:coreProperties>
</file>