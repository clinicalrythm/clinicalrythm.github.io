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471" r:id="rId2"/>
    <p:sldId id="257" r:id="rId3"/>
    <p:sldId id="258" r:id="rId4"/>
    <p:sldId id="472" r:id="rId5"/>
    <p:sldId id="273" r:id="rId6"/>
    <p:sldId id="278" r:id="rId7"/>
    <p:sldId id="265" r:id="rId8"/>
    <p:sldId id="473" r:id="rId9"/>
    <p:sldId id="474" r:id="rId10"/>
    <p:sldId id="276" r:id="rId11"/>
    <p:sldId id="262" r:id="rId12"/>
    <p:sldId id="270" r:id="rId13"/>
    <p:sldId id="433" r:id="rId14"/>
    <p:sldId id="434" r:id="rId15"/>
    <p:sldId id="475" r:id="rId16"/>
    <p:sldId id="436" r:id="rId17"/>
    <p:sldId id="440" r:id="rId18"/>
    <p:sldId id="441" r:id="rId19"/>
    <p:sldId id="442" r:id="rId20"/>
    <p:sldId id="443" r:id="rId21"/>
    <p:sldId id="444" r:id="rId22"/>
    <p:sldId id="445" r:id="rId23"/>
    <p:sldId id="446" r:id="rId24"/>
    <p:sldId id="259" r:id="rId25"/>
    <p:sldId id="447" r:id="rId26"/>
    <p:sldId id="448" r:id="rId27"/>
    <p:sldId id="449" r:id="rId28"/>
    <p:sldId id="482" r:id="rId29"/>
    <p:sldId id="476" r:id="rId30"/>
    <p:sldId id="280" r:id="rId31"/>
    <p:sldId id="477" r:id="rId32"/>
    <p:sldId id="469" r:id="rId33"/>
    <p:sldId id="478" r:id="rId34"/>
    <p:sldId id="479" r:id="rId35"/>
    <p:sldId id="480" r:id="rId36"/>
    <p:sldId id="481" r:id="rId37"/>
    <p:sldId id="284" r:id="rId38"/>
    <p:sldId id="483" r:id="rId39"/>
    <p:sldId id="484" r:id="rId40"/>
    <p:sldId id="485" r:id="rId41"/>
    <p:sldId id="486" r:id="rId42"/>
    <p:sldId id="487" r:id="rId43"/>
    <p:sldId id="488" r:id="rId44"/>
    <p:sldId id="310" r:id="rId45"/>
    <p:sldId id="286" r:id="rId46"/>
    <p:sldId id="288" r:id="rId47"/>
    <p:sldId id="289" r:id="rId48"/>
    <p:sldId id="291" r:id="rId49"/>
    <p:sldId id="294" r:id="rId50"/>
    <p:sldId id="301" r:id="rId51"/>
    <p:sldId id="303" r:id="rId52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4" autoAdjust="0"/>
    <p:restoredTop sz="94693"/>
  </p:normalViewPr>
  <p:slideViewPr>
    <p:cSldViewPr snapToGrid="0">
      <p:cViewPr>
        <p:scale>
          <a:sx n="73" d="100"/>
          <a:sy n="73" d="100"/>
        </p:scale>
        <p:origin x="155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8AF92-B03C-4F80-A2DC-AD25CDDBE44C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885E6-AA16-4E61-A7B8-37C31EE35275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15367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Since pyuria is present in almost all patients with UTI; its absence suggests an alternative diagnosis, particularly in patients who present with nonspecific symptoms. White cell casts, in particular, suggest a renal origin for pyuria. However, pyuria and bacteriuria may occasionally be absent if the infection does not communicate with the collecting system or if the collecting system is obstructed.</a:t>
            </a:r>
            <a:endParaRPr lang="x-none" dirty="0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0F072-580B-4EFB-8C8F-A1B47AB68F65}" type="slidenum">
              <a:rPr lang="x-none" smtClean="0"/>
              <a:t>18</a:t>
            </a:fld>
            <a:endParaRPr lang="x-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28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28675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29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337461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31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5119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35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33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7335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34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735330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35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783439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36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22008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38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524315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39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003596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40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90123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41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691510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42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148621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885E6-AA16-4E61-A7B8-37C31EE35275}" type="slidenum">
              <a:rPr lang="en-TZ" smtClean="0"/>
              <a:t>43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279110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099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6F6D8-EC8D-C12A-926F-96D0641F6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80289-EAAF-30B8-65E2-789A62278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3B293-FC5D-4BA9-4131-9898BE15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EF612-85C7-A5F8-82E3-B1106A74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21289-D454-A726-B9C5-D182E7DE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7903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FD6E-67D6-30FD-904D-AD4AF01A8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F5F3D-1C8E-C76A-C53B-A259DE3C5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73DD7-1A20-50D3-60B0-D855522B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724F-793A-03E6-65A0-64E3045C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FD6D3-C569-20BF-11F7-959A211B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4302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EE1C-C5A0-76DE-533D-6BEC67E1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F2894-2A7A-D519-3DD8-90FC66778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5DCF3-0B21-BF44-DC3B-7891A758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250B4-38F4-B640-0B20-7FEED86C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FAF3-D7EF-2F7B-04D9-2A840546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127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AD82C-AA00-0DC9-65A7-EDDE1A75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F582A-884B-9A1F-FCA1-1922A4365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C34CC-1F2E-DB20-E494-2B69B4827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E6AEF-4EF9-A6DE-9585-3A0D3D70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CA4E1-C0C7-0F0E-7EE3-D2E822596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AE684-B842-A448-1AFB-0F4565DC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1336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F984-EE3C-EC1F-021C-91ADF9C34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3E8CF-E8DE-CB10-C5C0-9170CB8EA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B637E-40FE-9B23-9BB2-0CCA34DFA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6EDF2-071A-55AB-3668-07E5912A2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7F69E-E0D0-B542-C987-2C28651A4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DD12C7-FF48-1586-AC3A-EB6A636A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A76874-2B7B-D5DF-4729-B8E6B174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E0224-3406-B068-B8A2-EDFB3F4A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4680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66136-5127-8138-C230-ABEE963DB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CCA1F-C928-1822-D1A0-035D3C3F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F8E32-477C-3586-F6C3-FAD944E1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3A767-764D-093B-4CCB-7D2C4661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62857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6E9F2-83BA-9666-4DCE-C49AF184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A50E4-5469-0397-D19B-8B94A98D5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881CB-0099-9AB0-F7CD-62637A0C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533604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9405-27CC-767E-181B-7FA9781E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D077F-5E37-ED09-BDBC-676FB3FD4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55048-4C3D-AFA3-8D3F-3F8ECD2FB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32F18-8E3C-E2C9-45B0-82CCCF32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0F1A2-6F10-D16C-CF43-573C319A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A3577-083B-5D9C-8E72-94D226F3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1778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FFD6-C8C9-3162-CA84-0107523D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342E6-E4D3-CE1B-2869-46262B01C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C6440-D20E-3937-56FA-9F9248E03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89F15-D98E-8ECE-6511-C3D14F250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202F0-3E25-845A-7BBB-E64E1F7C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518EC-3FF3-2B00-18F5-42ACE8F3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06036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C334-62F7-310A-ED7D-B6979388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29166-A49A-04E0-628A-2EDB8D50F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57339-E9DB-BB79-E0FE-51FE4C3B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800E4-8483-B00B-6823-B3AACBD4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D11B-D50C-024E-4F00-A99555E7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03984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2F2CBC-91E6-8B77-9304-9893A691D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6329A-C58B-1F27-C760-7EC653BBD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9CC32-8EA3-96B3-BD89-A4EF1882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FE48-BED7-EF7D-36BF-3948FF28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9A8DF-91D8-0455-BAA7-804D74A4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738914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414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50B522-FF1C-40F4-A350-C5555C846B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5483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Fifth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</a:rPr>
              <a:t>&lt;footer&gt;</a:t>
            </a: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CA874-66B4-4BA1-A11C-99BB872FD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 panose="020F0502020204030204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2984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424B1-24AC-819D-321C-1C1A0BDD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AB92A-235A-2A40-B703-16F298EB2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1B4E7-49CA-4E06-BB74-2E271346A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81EA9-D71B-464C-822A-5918D88964A5}" type="datetimeFigureOut">
              <a:rPr lang="en-TZ" smtClean="0"/>
              <a:t>19/05/2026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8476-EC26-6352-2E82-ED86731F4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46D53-AAC6-89FF-0F3B-6D86F78CC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39625-DAB7-4C5C-AF5A-FBBE74D0E10A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34791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21644" y="180642"/>
            <a:ext cx="9348712" cy="356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Infections of the Kidney and Urinary Tract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2029216" y="3864281"/>
            <a:ext cx="8638304" cy="249223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Presenters: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Evalyne Gasper 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2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Victor Njunwa </a:t>
            </a: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Facilitator: </a:t>
            </a: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Prof. E. </a:t>
            </a:r>
            <a:r>
              <a:rPr lang="en-US" sz="2800" b="1" u="none" strike="noStrike" dirty="0" err="1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Maro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38080" y="100440"/>
            <a:ext cx="10515240" cy="112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8080" y="1226520"/>
            <a:ext cx="10515240" cy="52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Epidemiology</a:t>
            </a:r>
          </a:p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  <a:p>
            <a:pPr marL="514350" indent="-51435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Factors and 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Pathogenesis</a:t>
            </a:r>
          </a:p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Clinical presentation</a:t>
            </a:r>
          </a:p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Diagnosis </a:t>
            </a:r>
            <a:endParaRPr lang="en-US" sz="2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Treatment </a:t>
            </a:r>
            <a:endParaRPr lang="en-US" sz="2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defTabSz="914400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References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F657-C615-D713-101E-682580EE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URINARY TRACT INFECTION</a:t>
            </a:r>
            <a:endParaRPr lang="en-TZ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26471-F90D-39E2-4353-14B3D244B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UTIs is a spectrum of diseases due to invasion of microorganisms at any part of urinary system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can be from the renal cortex up to the urethral meatus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UTIs are commonly caused by bacteria but also by other pathogens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fungal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ESBL-producing E. coli rates &gt;40% in community &amp; hospital strains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2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9530-0DEF-7069-CDC3-D97A7D0C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pPr algn="ctr"/>
            <a:r>
              <a:rPr lang="en-TZ" b="1" dirty="0">
                <a:latin typeface="Arial" panose="020B0604020202020204" pitchFamily="34" charset="0"/>
                <a:cs typeface="Arial" panose="020B0604020202020204" pitchFamily="34" charset="0"/>
              </a:rPr>
              <a:t>...contd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10191C-F1E0-7D89-E5D0-547E184A97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48" b="17462"/>
          <a:stretch/>
        </p:blipFill>
        <p:spPr bwMode="auto">
          <a:xfrm>
            <a:off x="1828800" y="1328031"/>
            <a:ext cx="8104909" cy="521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04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0543-13B8-1A1F-2512-1F655CF8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EPIDEMIOLOGY</a:t>
            </a:r>
            <a:endParaRPr lang="en-TZ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E438-5874-DF94-42AF-78841376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>
            <a:noAutofit/>
          </a:bodyPr>
          <a:lstStyle/>
          <a:p>
            <a:pPr>
              <a:lnSpc>
                <a:spcPts val="3620"/>
              </a:lnSpc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UTIs are 2</a:t>
            </a:r>
            <a:r>
              <a:rPr lang="en-GB" sz="2600" b="0" i="0" baseline="3000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GB" sz="26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most common bacterial infection worldwide (150 million case/year)</a:t>
            </a:r>
          </a:p>
          <a:p>
            <a:pPr>
              <a:lnSpc>
                <a:spcPts val="3620"/>
              </a:lnSpc>
              <a:buFont typeface="Arial" panose="020B0604020202020204" pitchFamily="34" charset="0"/>
              <a:buChar char="•"/>
            </a:pPr>
            <a:r>
              <a:rPr lang="en-GB" sz="26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SSA has 32.1% prevalence while in Tanzania between 22.8% (Mwanza) to 41 % (Morogoro) prevalence has bee</a:t>
            </a:r>
            <a:r>
              <a:rPr lang="en-GB" sz="2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reported</a:t>
            </a:r>
          </a:p>
          <a:p>
            <a:pPr>
              <a:lnSpc>
                <a:spcPts val="3620"/>
              </a:lnSpc>
            </a:pPr>
            <a:r>
              <a:rPr lang="en-GB" sz="2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GB" sz="26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rinary tract is the source in 25% of all sepsis cases (Sepsis‑3 cohorts).</a:t>
            </a:r>
          </a:p>
          <a:p>
            <a:pPr>
              <a:lnSpc>
                <a:spcPts val="3620"/>
              </a:lnSpc>
            </a:pPr>
            <a:r>
              <a:rPr lang="en-GB" sz="2600" b="0" i="0" dirty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ICU mortality for urosepsis ranges from 10–30%.</a:t>
            </a:r>
          </a:p>
          <a:p>
            <a:pPr>
              <a:lnSpc>
                <a:spcPts val="362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Resistance is rising globally, esp. ESBL‑producing </a:t>
            </a:r>
            <a:r>
              <a:rPr lang="en-GB" sz="2600" dirty="0" err="1">
                <a:latin typeface="Arial" panose="020B0604020202020204" pitchFamily="34" charset="0"/>
                <a:cs typeface="Arial" panose="020B0604020202020204" pitchFamily="34" charset="0"/>
              </a:rPr>
              <a:t>Enterobacterales</a:t>
            </a: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177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F2E7-B2EC-1345-38C7-31D708FA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TZ" b="1" dirty="0">
                <a:latin typeface="Arial" panose="020B0604020202020204" pitchFamily="34" charset="0"/>
                <a:cs typeface="Arial" panose="020B0604020202020204" pitchFamily="34" charset="0"/>
              </a:rPr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E2B55-A955-90B8-7241-43D2C5842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84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ts val="362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In adults UTIs are much more common in women than men</a:t>
            </a:r>
          </a:p>
          <a:p>
            <a:pPr>
              <a:lnSpc>
                <a:spcPts val="362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Lifetime risk in women 53% vs Men prior age of 50 lifetime risk 14%</a:t>
            </a:r>
          </a:p>
          <a:p>
            <a:pPr lvl="1"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Female urethra: 3–4 cm (vs 20 cm male)</a:t>
            </a:r>
          </a:p>
          <a:p>
            <a:pPr lvl="1"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Periurethral glands and vaginal flora serve as bacterial reservoirs</a:t>
            </a:r>
          </a:p>
          <a:p>
            <a:pPr lvl="1">
              <a:lnSpc>
                <a:spcPct val="10000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Prostate secretions (zinc, spermine): bacteriostatic in men</a:t>
            </a:r>
          </a:p>
          <a:p>
            <a:pPr>
              <a:lnSpc>
                <a:spcPts val="362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Catheterization: increases incidence of bacteriuria 3-8% a day</a:t>
            </a:r>
          </a:p>
          <a:p>
            <a:pPr lvl="1">
              <a:lnSpc>
                <a:spcPts val="3620"/>
              </a:lnSpc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Tanzanian ICU CAUTI rate: 8.1–12.4/1000 catheter days</a:t>
            </a:r>
          </a:p>
          <a:p>
            <a:pPr>
              <a:lnSpc>
                <a:spcPts val="362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Immunosuppression:  DM (10.8–16%) and HIV (12.5%) </a:t>
            </a:r>
          </a:p>
          <a:p>
            <a:pPr>
              <a:lnSpc>
                <a:spcPts val="3620"/>
              </a:lnSpc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Pregnancy (8%)  and Anatomical Anomalies (33.3%)</a:t>
            </a:r>
          </a:p>
          <a:p>
            <a:pPr>
              <a:lnSpc>
                <a:spcPts val="3620"/>
              </a:lnSpc>
            </a:pPr>
            <a:endParaRPr lang="en-GB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620"/>
              </a:lnSpc>
            </a:pPr>
            <a:endParaRPr lang="en-TZ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5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1139952"/>
            <a:ext cx="11460480" cy="4511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 sz="200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10337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Axis  1  –  Anatomical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278880" y="1103376"/>
            <a:ext cx="5425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Axis  2  –  Clinical Complexity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798320"/>
            <a:ext cx="554736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8" name="Shape 6"/>
          <p:cNvSpPr/>
          <p:nvPr/>
        </p:nvSpPr>
        <p:spPr>
          <a:xfrm>
            <a:off x="6278880" y="1798320"/>
            <a:ext cx="554736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Lower UTI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237232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Cystitis, Urethritis, Prostatitis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1760" y="184708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Uncomplicated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1760" y="22372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Young, non-pregnant women; no structural/functional abnormality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2956560"/>
            <a:ext cx="5547360" cy="1072896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14" name="Shape 12"/>
          <p:cNvSpPr/>
          <p:nvPr/>
        </p:nvSpPr>
        <p:spPr>
          <a:xfrm>
            <a:off x="6278880" y="2956560"/>
            <a:ext cx="5547360" cy="1072896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15" name="Text 13"/>
          <p:cNvSpPr/>
          <p:nvPr/>
        </p:nvSpPr>
        <p:spPr>
          <a:xfrm>
            <a:off x="548640" y="300532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Upper UTI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95472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Pyelonephritis, Renal abscess, Perinephric abscess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1760" y="300532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1760" y="33954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Male sex, pregnancy, DM, immunosuppression, obstruction, catheter, structural anomaly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54736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 dirty="0"/>
          </a:p>
        </p:txBody>
      </p:sp>
      <p:sp>
        <p:nvSpPr>
          <p:cNvPr id="20" name="Shape 18"/>
          <p:cNvSpPr/>
          <p:nvPr/>
        </p:nvSpPr>
        <p:spPr>
          <a:xfrm>
            <a:off x="6278880" y="4114800"/>
            <a:ext cx="5547360" cy="1072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21" name="Text 19"/>
          <p:cNvSpPr/>
          <p:nvPr/>
        </p:nvSpPr>
        <p:spPr>
          <a:xfrm>
            <a:off x="548640" y="416356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Urosepsis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4553712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Sepsis/septic shock originating from urinary tract</a:t>
            </a:r>
          </a:p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organ dysfunction (SOFA ≥2) arising from urinary source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1760" y="416356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CAUTI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1760" y="45537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Bacteriuria ≥48h post-catheterisation with symptoms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5273040"/>
            <a:ext cx="5547360" cy="1072896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26" name="Shape 24"/>
          <p:cNvSpPr/>
          <p:nvPr/>
        </p:nvSpPr>
        <p:spPr>
          <a:xfrm>
            <a:off x="6278880" y="5273040"/>
            <a:ext cx="5547360" cy="1072896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000"/>
          </a:p>
        </p:txBody>
      </p:sp>
      <p:sp>
        <p:nvSpPr>
          <p:cNvPr id="27" name="Text 25"/>
          <p:cNvSpPr/>
          <p:nvPr/>
        </p:nvSpPr>
        <p:spPr>
          <a:xfrm>
            <a:off x="548639" y="5321808"/>
            <a:ext cx="25686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Bacteriuria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5711952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≥10⁵ CFU/mL ×2 (women) or ×1 (men/catheter)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61760" y="5321808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Recurrent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61760" y="5711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≥2 episodes/6 months or ≥3/year; relapse vs re-infection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" y="643128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IDSA UTI Guidelines (Gupta et al., CID 2011); EAU Urological Infections 2024; Hooton TM, NEJM 2012</a:t>
            </a:r>
            <a:endParaRPr lang="en-US" sz="120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E0D509F2-402E-D274-38C2-9E782FC0496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TZ" b="1" dirty="0">
                <a:latin typeface="Arial" panose="020B0604020202020204" pitchFamily="34" charset="0"/>
                <a:cs typeface="Arial" panose="020B0604020202020204" pitchFamily="34" charset="0"/>
              </a:rPr>
              <a:t>CLASSIFICATION FRAMEWORKS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B03609-FCDC-4D08-DF23-5E5F221F8F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4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F2E7-B2EC-1345-38C7-31D708FA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PATHOGENESIS OF UTIs</a:t>
            </a:r>
            <a:endParaRPr lang="en-TZ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E2B55-A955-90B8-7241-43D2C5842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843"/>
            <a:ext cx="10515600" cy="4796847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Ascending (&gt;95%):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periurethral flora → urethra → bladder → upper tract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Hematogenous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S. aureus, Candida, Salmonella, M. tuberculosis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Lymphatic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direct spread from bowel (rare; controversial)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Direct extension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fistula, pelvic surgery, trauma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3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Biofilm-mediated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catheters, stents, calculi – creates protected niche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4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9921-0545-BA4A-C708-6C9667E1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488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PATHOGENESIS OF UTIs</a:t>
            </a:r>
            <a:endParaRPr lang="en-TZ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A39A7-CD54-B0ED-B1DC-142A4D53D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965"/>
            <a:ext cx="10515600" cy="4486275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Most occur via ascending route</a:t>
            </a:r>
          </a:p>
          <a:p>
            <a:pPr>
              <a:spcAft>
                <a:spcPts val="500"/>
              </a:spcAft>
            </a:pP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Colonization: periurethral mucosa by enteric </a:t>
            </a:r>
            <a:r>
              <a:rPr lang="en-US" sz="26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uropathogens</a:t>
            </a:r>
            <a:endParaRPr lang="en-US" sz="2600" dirty="0">
              <a:solidFill>
                <a:srgbClr val="1A1A2E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Adhesion: Type 1 fimbriae (</a:t>
            </a:r>
            <a:r>
              <a:rPr lang="en-US" sz="26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FimH</a:t>
            </a: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 attach to bladder epithelium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Invasion : Actin-dependent endocytosis  intracellular bacterial communities (IBC)</a:t>
            </a:r>
          </a:p>
          <a:p>
            <a:pPr>
              <a:spcAft>
                <a:spcPts val="500"/>
              </a:spcAft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Host innate immune activation: cytokine release and neutrophil recruitment - Pyuria </a:t>
            </a:r>
          </a:p>
          <a:p>
            <a:pPr>
              <a:spcAft>
                <a:spcPts val="500"/>
              </a:spcAft>
            </a:pP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Filamentation: bacteria elongate to resist neutrophil phagocytosis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sz="26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Ascension to kidney: P fimbriae bind globosides on upper tract urothelium → pyelonephritis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TZ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37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 bwMode="black"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Defence Mechanisms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547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54736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6" name="Text 4"/>
          <p:cNvSpPr/>
          <p:nvPr/>
        </p:nvSpPr>
        <p:spPr>
          <a:xfrm>
            <a:off x="487680" y="1146048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Mechanical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487680" y="1609344"/>
            <a:ext cx="53035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flow – washout effect (critical threshold: &lt;0.5 mL/min)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junction proteins (uroplakin, claudin)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Tamm-Horsfall protein (uromodulin): mannose-rich decoy – traps type-1 fimbriated UPEC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Vesico-ureteric junction competence; ureteral peristalsis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880" y="1097280"/>
            <a:ext cx="5547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9" name="Shape 7"/>
          <p:cNvSpPr/>
          <p:nvPr/>
        </p:nvSpPr>
        <p:spPr>
          <a:xfrm>
            <a:off x="6278880" y="1097280"/>
            <a:ext cx="554736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0" name="Text 8"/>
          <p:cNvSpPr/>
          <p:nvPr/>
        </p:nvSpPr>
        <p:spPr>
          <a:xfrm>
            <a:off x="6400800" y="1146048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Immunity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400800" y="1609344"/>
            <a:ext cx="53035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Toll-like receptors (TLR4, TLR5, TLR11) on urothelium → NF-κB → IL-6, IL-8, CXCL1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Defensins (hBD-1,2,3): constitutive &amp; inducible antimicrobial peptides in urothelium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cascade: bactericidal + opsonisation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Neutrophil recruitment within 2h of UPEC adherence (mast cell–dependent, TLR4-mediated)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901440"/>
            <a:ext cx="5547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13" name="Shape 11"/>
          <p:cNvSpPr/>
          <p:nvPr/>
        </p:nvSpPr>
        <p:spPr>
          <a:xfrm>
            <a:off x="365760" y="3901440"/>
            <a:ext cx="554736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4" name="Text 12"/>
          <p:cNvSpPr/>
          <p:nvPr/>
        </p:nvSpPr>
        <p:spPr>
          <a:xfrm>
            <a:off x="487680" y="3950208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487680" y="4413504"/>
            <a:ext cx="53035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Secretory IgA in urinary tract: blocks adhesion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Th1 &gt; Th2 response in pyelonephritis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 cells; risk of immunodeficiency (HIV, DM, immunosuppression)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880" y="3901440"/>
            <a:ext cx="5547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17" name="Shape 15"/>
          <p:cNvSpPr/>
          <p:nvPr/>
        </p:nvSpPr>
        <p:spPr>
          <a:xfrm>
            <a:off x="6278880" y="3901440"/>
            <a:ext cx="554736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8" name="Text 16"/>
          <p:cNvSpPr/>
          <p:nvPr/>
        </p:nvSpPr>
        <p:spPr>
          <a:xfrm>
            <a:off x="6400800" y="3950208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Barriers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400800" y="4413504"/>
            <a:ext cx="530352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Urinary pH &lt;5.5 and &gt;7.5 bacteriostatic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osmolality (&gt;800 mOsm) inhibits bacterial growth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Lactoferrin: iron sequestration – limits bacterial proliferation</a:t>
            </a:r>
            <a:endParaRPr lang="en-US" sz="14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acids (hippuric, benzoic)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640080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Schilling et al., JCI 2012; Hannan et al., Nat Rev Urol 2018; Thumbikat P, Mucosal Immunol 2010; Anderson et al., Science 2003</a:t>
            </a:r>
            <a:endParaRPr lang="en-US" sz="1133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19C2EE0-984B-7C5A-A22F-D1FB5FCA0F2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884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HOST DEFENCE MECHANISM</a:t>
            </a:r>
            <a:endParaRPr lang="en-TZ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11460480" cy="560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 sz="2400"/>
          </a:p>
        </p:txBody>
      </p:sp>
      <p:sp>
        <p:nvSpPr>
          <p:cNvPr id="5" name="Shape 3"/>
          <p:cNvSpPr/>
          <p:nvPr/>
        </p:nvSpPr>
        <p:spPr bwMode="invGray">
          <a:xfrm>
            <a:off x="365760" y="1036320"/>
            <a:ext cx="11460480" cy="487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6" name="Text 4"/>
          <p:cNvSpPr/>
          <p:nvPr/>
        </p:nvSpPr>
        <p:spPr>
          <a:xfrm>
            <a:off x="487680" y="1072896"/>
            <a:ext cx="2926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96640" y="1072896"/>
            <a:ext cx="15849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Community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64480" y="1072896"/>
            <a:ext cx="17068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Hospital/ICU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54240" y="1072896"/>
            <a:ext cx="3779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Virulence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65760" y="1584960"/>
            <a:ext cx="1146048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 dirty="0"/>
          </a:p>
        </p:txBody>
      </p:sp>
      <p:sp>
        <p:nvSpPr>
          <p:cNvPr id="12" name="Text 10"/>
          <p:cNvSpPr/>
          <p:nvPr/>
        </p:nvSpPr>
        <p:spPr>
          <a:xfrm>
            <a:off x="487680" y="1658112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coli (UPEC)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6640" y="1658112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64480" y="1658112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54240" y="1658112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Fimbriae, siderophores, hlyA, CNF1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16640" y="1658112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170176"/>
            <a:ext cx="1146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 dirty="0"/>
          </a:p>
        </p:txBody>
      </p:sp>
      <p:sp>
        <p:nvSpPr>
          <p:cNvPr id="18" name="Text 16"/>
          <p:cNvSpPr/>
          <p:nvPr/>
        </p:nvSpPr>
        <p:spPr>
          <a:xfrm>
            <a:off x="487680" y="2243328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Klebsiella pneumoniae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96640" y="2243328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64480" y="2243328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54240" y="2243328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(K1/K2), siderophores, hypervirulent hvKP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16640" y="2243328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2755392"/>
            <a:ext cx="1146048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 dirty="0"/>
          </a:p>
        </p:txBody>
      </p:sp>
      <p:sp>
        <p:nvSpPr>
          <p:cNvPr id="24" name="Text 22"/>
          <p:cNvSpPr/>
          <p:nvPr/>
        </p:nvSpPr>
        <p:spPr>
          <a:xfrm>
            <a:off x="487680" y="2828544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 saprophyticus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96640" y="2828544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5–15%*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64480" y="2828544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54240" y="2828544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Novobiocin resistance, surface adhesins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216640" y="2828544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3340608"/>
            <a:ext cx="1146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30" name="Text 28"/>
          <p:cNvSpPr/>
          <p:nvPr/>
        </p:nvSpPr>
        <p:spPr>
          <a:xfrm>
            <a:off x="487680" y="3413760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Enterococcus faecalis/faecium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96640" y="3413760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64480" y="3413760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54240" y="3413760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Cytolysin, aggregation substance, VRE (faecium)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16640" y="3413760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5760" y="3925824"/>
            <a:ext cx="1146048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36" name="Text 34"/>
          <p:cNvSpPr/>
          <p:nvPr/>
        </p:nvSpPr>
        <p:spPr>
          <a:xfrm>
            <a:off x="487680" y="3998976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Pseudomonas aeruginosa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96640" y="3998976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64480" y="3998976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54240" y="3998976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Biofilm, T3SS, metallo-β-lactamase, efflux pumps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216640" y="3998976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760" y="4511040"/>
            <a:ext cx="1146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42" name="Text 40"/>
          <p:cNvSpPr/>
          <p:nvPr/>
        </p:nvSpPr>
        <p:spPr>
          <a:xfrm>
            <a:off x="487680" y="4584192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mirabilis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596640" y="4584192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64480" y="4584192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54240" y="4584192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Urease → struvite stones, swarming, fimbriae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16640" y="4584192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65760" y="5096256"/>
            <a:ext cx="11460480" cy="54864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 dirty="0"/>
          </a:p>
        </p:txBody>
      </p:sp>
      <p:sp>
        <p:nvSpPr>
          <p:cNvPr id="48" name="Text 46"/>
          <p:cNvSpPr/>
          <p:nvPr/>
        </p:nvSpPr>
        <p:spPr>
          <a:xfrm>
            <a:off x="487680" y="5169408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 spp.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596640" y="5169408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364480" y="5169408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10%+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54240" y="5169408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ICU, DM, broad-spectrum ABx, catheter, biofilm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16640" y="5169408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65760" y="5681472"/>
            <a:ext cx="1146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54" name="Text 52"/>
          <p:cNvSpPr/>
          <p:nvPr/>
        </p:nvSpPr>
        <p:spPr>
          <a:xfrm>
            <a:off x="487680" y="5754624"/>
            <a:ext cx="2926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tuberculosis / S. haematobium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596640" y="5754624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 endemic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364480" y="5754624"/>
            <a:ext cx="1706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254240" y="5754624"/>
            <a:ext cx="3779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Sterile pyuria, haematuria, caseous necrosis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16640" y="5754624"/>
            <a:ext cx="975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65760" y="624840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Flores-Mireles et al., Nat Rev Microbiol 2015; Foxman B, Ann Epidemiol 2010; WHO GLASS AMR Report 2023</a:t>
            </a:r>
            <a:endParaRPr lang="en-US" sz="1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17D14-966C-C594-058D-5511CD15D8A9}"/>
              </a:ext>
            </a:extLst>
          </p:cNvPr>
          <p:cNvSpPr txBox="1">
            <a:spLocks/>
          </p:cNvSpPr>
          <p:nvPr/>
        </p:nvSpPr>
        <p:spPr>
          <a:xfrm>
            <a:off x="297873" y="324616"/>
            <a:ext cx="11460480" cy="8884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MAJOR UROPATHOGENS – COMMUNITY &amp; HOSPITAL-ACQUIRED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CLINICAL PRESENTATION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44" name="Content Placeholder 2"/>
          <p:cNvSpPr>
            <a:spLocks noGrp="1"/>
          </p:cNvSpPr>
          <p:nvPr>
            <p:ph idx="1"/>
          </p:nvPr>
        </p:nvSpPr>
        <p:spPr>
          <a:xfrm>
            <a:off x="838200" y="1593273"/>
            <a:ext cx="10515600" cy="4583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Asymptomatic</a:t>
            </a:r>
            <a:r>
              <a:rPr lang="en-US" b="1" u="sng" strike="no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u="sng" strike="noStrike" dirty="0" err="1">
                <a:latin typeface="Arial" panose="020B0604020202020204" pitchFamily="34" charset="0"/>
                <a:cs typeface="Arial" panose="020B0604020202020204" pitchFamily="34" charset="0"/>
              </a:rPr>
              <a:t>bacteuria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Has no symptoms</a:t>
            </a:r>
          </a:p>
          <a:p>
            <a:pPr marL="0" indent="0">
              <a:buNone/>
            </a:pPr>
            <a:r>
              <a:rPr lang="en-US" b="1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Cystitis</a:t>
            </a:r>
            <a:endParaRPr lang="en-US" b="1" i="0" u="sng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ysuria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rinary frequency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rgency; nocturia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esitancy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uprapubic discomfort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Gross hematuria are often noted as well </a:t>
            </a:r>
          </a:p>
          <a:p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8200" y="273454"/>
            <a:ext cx="10515600" cy="848680"/>
          </a:xfrm>
        </p:spPr>
        <p:txBody>
          <a:bodyPr>
            <a:normAutofit/>
          </a:bodyPr>
          <a:lstStyle/>
          <a:p>
            <a:pPr algn="ctr"/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CLINICAL PRESENTATION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46" name="Content Placeholder 2"/>
          <p:cNvSpPr>
            <a:spLocks noGrp="1"/>
          </p:cNvSpPr>
          <p:nvPr>
            <p:ph idx="1"/>
          </p:nvPr>
        </p:nvSpPr>
        <p:spPr>
          <a:xfrm>
            <a:off x="703288" y="1115249"/>
            <a:ext cx="10515600" cy="5666463"/>
          </a:xfrm>
        </p:spPr>
        <p:txBody>
          <a:bodyPr>
            <a:normAutofit lnSpcReduction="10000"/>
          </a:bodyPr>
          <a:lstStyle/>
          <a:p>
            <a:pPr marL="0" marR="1200" indent="0" algn="just"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Pyelonephritis</a:t>
            </a:r>
            <a:endParaRPr lang="en-US" b="1" i="0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marR="120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ever</a:t>
            </a:r>
          </a:p>
          <a:p>
            <a:pPr marL="971550" marR="120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igors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1550" marR="120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lank and/or loin pain (costovertebral-angle tenderness)</a:t>
            </a:r>
          </a:p>
          <a:p>
            <a:pPr marL="971550" marR="120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Nausea and vomiting</a:t>
            </a:r>
            <a:endParaRPr lang="en-US" sz="28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1200" algn="just">
              <a:lnSpc>
                <a:spcPct val="150000"/>
              </a:lnSpc>
            </a:pP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Symptoms are generally acute in onset, and symptoms of cystitis are often but not universally present</a:t>
            </a:r>
          </a:p>
          <a:p>
            <a:pPr marR="1200" algn="just">
              <a:lnSpc>
                <a:spcPct val="150000"/>
              </a:lnSpc>
            </a:pP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In some cases, the presentation may mimic PID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1200" indent="0" algn="just">
              <a:lnSpc>
                <a:spcPct val="150000"/>
              </a:lnSpc>
              <a:buNone/>
            </a:pP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8200" y="273454"/>
            <a:ext cx="10515600" cy="848680"/>
          </a:xfrm>
        </p:spPr>
        <p:txBody>
          <a:bodyPr>
            <a:normAutofit/>
          </a:bodyPr>
          <a:lstStyle/>
          <a:p>
            <a:pPr algn="ctr"/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CLINICAL PRESENTATION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DADBC8F-0D22-2B66-780D-7B69DCD35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2279"/>
            <a:ext cx="10515600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52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50" name="Content Placeholder 2"/>
          <p:cNvSpPr>
            <a:spLocks noGrp="1"/>
          </p:cNvSpPr>
          <p:nvPr>
            <p:ph idx="1"/>
          </p:nvPr>
        </p:nvSpPr>
        <p:spPr>
          <a:xfrm>
            <a:off x="838200" y="1467059"/>
            <a:ext cx="10515600" cy="47099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COMPLICATIONS</a:t>
            </a:r>
          </a:p>
          <a:p>
            <a:pPr lvl="1" algn="just">
              <a:lnSpc>
                <a:spcPct val="150000"/>
              </a:lnSpc>
            </a:pPr>
            <a:r>
              <a:rPr lang="en-US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Papillary necrosis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esp.</a:t>
            </a:r>
            <a:r>
              <a:rPr lang="en-US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in pts with obstruction, diabetes, sickle cell disease, or analgesic nephropathy. </a:t>
            </a:r>
          </a:p>
          <a:p>
            <a:pPr lvl="1" algn="just">
              <a:lnSpc>
                <a:spcPct val="150000"/>
              </a:lnSpc>
            </a:pPr>
            <a:r>
              <a:rPr lang="en-US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Emphysematous pyelonephritis </a:t>
            </a:r>
            <a:r>
              <a:rPr lang="en-US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with the production of gas in renal and perinephric tissues, and occurs almost exclusively in diabetic pts. </a:t>
            </a:r>
          </a:p>
          <a:p>
            <a:pPr lvl="1" algn="just">
              <a:lnSpc>
                <a:spcPct val="150000"/>
              </a:lnSpc>
            </a:pPr>
            <a:r>
              <a:rPr lang="en-US" b="1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Xanthogranulomatous</a:t>
            </a:r>
            <a:r>
              <a:rPr lang="en-US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pyelonephritis </a:t>
            </a:r>
            <a:r>
              <a:rPr lang="en-US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occurs when chronic urinary obstruction (often by staghorn calculi), leads to suppurative destruction of renal tissue 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INVESTIGATION</a:t>
            </a:r>
          </a:p>
        </p:txBody>
      </p:sp>
      <p:sp>
        <p:nvSpPr>
          <p:cNvPr id="1048658" name="Content Placeholder 2"/>
          <p:cNvSpPr>
            <a:spLocks noGrp="1"/>
          </p:cNvSpPr>
          <p:nvPr>
            <p:ph idx="1"/>
          </p:nvPr>
        </p:nvSpPr>
        <p:spPr>
          <a:xfrm>
            <a:off x="838199" y="1547447"/>
            <a:ext cx="10515599" cy="507441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Urine dipstick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Nitrite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Leucocyte esterase </a:t>
            </a:r>
          </a:p>
          <a:p>
            <a:pPr lvl="1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Hematuria </a:t>
            </a:r>
          </a:p>
          <a:p>
            <a:pPr marL="457200" lvl="1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dipstick test positive for nitrite or leukocyte esterase can confirm diagnosis of uncomplicated cystitis in pts with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high pretest probability of disease.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…contd.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60" name="Content Placeholder 2"/>
          <p:cNvSpPr>
            <a:spLocks noGrp="1"/>
          </p:cNvSpPr>
          <p:nvPr>
            <p:ph idx="1"/>
          </p:nvPr>
        </p:nvSpPr>
        <p:spPr>
          <a:xfrm>
            <a:off x="799564" y="1658199"/>
            <a:ext cx="10515600" cy="490495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Urine Microscopic examination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Pyuria : Most truly infected patients have &gt; 10 WBCs/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μL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Pyuria in the absence of bacteriuria and of UTI is possible if patients have nephrolithiasis, a uroepithelial tumor, appendicitis, or inflammatory bowel disease or if the sample is contaminated by vaginal WBCs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Microscopic hematuria occurs in up to 50% of patients, but gross hematuria is uncommon.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WBC casts: pyelonephritis, glomerulonephritis, and noninfective tubulointerstitial nephritis.</a:t>
            </a:r>
          </a:p>
          <a:p>
            <a:pPr>
              <a:lnSpc>
                <a:spcPct val="150000"/>
              </a:lnSpc>
            </a:pP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Content Placeholder 2"/>
          <p:cNvSpPr>
            <a:spLocks noGrp="1"/>
          </p:cNvSpPr>
          <p:nvPr>
            <p:ph idx="1"/>
          </p:nvPr>
        </p:nvSpPr>
        <p:spPr>
          <a:xfrm>
            <a:off x="838200" y="1570107"/>
            <a:ext cx="10515600" cy="486083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U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rine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culture </a:t>
            </a:r>
          </a:p>
          <a:p>
            <a:pPr lvl="1">
              <a:lnSpc>
                <a:spcPct val="150000"/>
              </a:lnSpc>
            </a:pPr>
            <a:r>
              <a:rPr lang="en-US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 the diagnostic gold standard for UTI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w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omen with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symptoms of 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cystitis,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colony-count threshold of ≥10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bacteria/mL is more sensitive (95%) and specific (85%) than a threshold of 10</a:t>
            </a:r>
            <a:r>
              <a:rPr kumimoji="0" lang="en-US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/mL for the diagnosis.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women,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ASB requires </a:t>
            </a:r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 urine culture with &gt;10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same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uropathogen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 the absence of clinical symptoms referable to cystitis </a:t>
            </a:r>
          </a:p>
          <a:p>
            <a:pPr>
              <a:lnSpc>
                <a:spcPct val="150000"/>
              </a:lnSpc>
            </a:pP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0439F8-9B05-753A-CFED-26169C6B7073}"/>
              </a:ext>
            </a:extLst>
          </p:cNvPr>
          <p:cNvSpPr txBox="1">
            <a:spLocks/>
          </p:cNvSpPr>
          <p:nvPr/>
        </p:nvSpPr>
        <p:spPr>
          <a:xfrm>
            <a:off x="1004455" y="4270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…contd.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INDICATION OF URINE CULTURES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838200" y="1537398"/>
            <a:ext cx="10515600" cy="463956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Patients with urinary tract abnormalities or recent instrumentation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Patients with immunosuppression or significant comorbidities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Patients with recurrent UTIs (≥ 3/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Pre-pubertal children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Pregnant or postmenopausal women and Men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Recent exposure to antibiotics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Patients whose symptoms suggest pyelonephritis or sepsis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>
          <a:xfrm>
            <a:off x="806970" y="214893"/>
            <a:ext cx="10515600" cy="90047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DIAGNOSIS CONT…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69" name="Content Placeholder 2"/>
          <p:cNvSpPr>
            <a:spLocks noGrp="1"/>
          </p:cNvSpPr>
          <p:nvPr>
            <p:ph idx="1"/>
          </p:nvPr>
        </p:nvSpPr>
        <p:spPr>
          <a:xfrm>
            <a:off x="676342" y="1012971"/>
            <a:ext cx="10515600" cy="5548603"/>
          </a:xfrm>
        </p:spPr>
        <p:txBody>
          <a:bodyPr>
            <a:noAutofit/>
          </a:bodyPr>
          <a:lstStyle/>
          <a:p>
            <a:pPr marL="0" indent="0">
              <a:lnSpc>
                <a:spcPts val="3640"/>
              </a:lnSpc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Imaging</a:t>
            </a: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Ultrasonography CT </a:t>
            </a: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Urethrogram.</a:t>
            </a:r>
          </a:p>
          <a:p>
            <a:pPr marL="514350" indent="-514350">
              <a:lnSpc>
                <a:spcPts val="364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Kidney urethral bladder ultrasound KUB</a:t>
            </a:r>
          </a:p>
          <a:p>
            <a:pPr marL="0" indent="0">
              <a:lnSpc>
                <a:spcPts val="364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</a:p>
          <a:p>
            <a:pPr>
              <a:lnSpc>
                <a:spcPts val="364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to detect any structure abnormality and complications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renal or perinephric abscess or sepsis </a:t>
            </a:r>
          </a:p>
          <a:p>
            <a:pPr>
              <a:lnSpc>
                <a:spcPts val="364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Especially in children and recurrent UTI</a:t>
            </a:r>
          </a:p>
          <a:p>
            <a:pPr>
              <a:lnSpc>
                <a:spcPts val="364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evaluate for a process that may delay response to therapy or warrant intervention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calculus or obstruction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1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CT without contrast is the standard for demonstrating calculi, gas-forming infections, hemorrhage, obstruction, and abscesses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Contrast is needed to demonstrate alterations in renal perfusion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Findings of pyelonephritis include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localized hypodense lesions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due to ischemia induced by marked neutrophilic infiltration and edema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MRI is not advantageous over CT except when avoidance of contrast dye or ionizing radiation is warranted</a:t>
            </a:r>
          </a:p>
          <a:p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…contd.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Most adults do not require assessment for structural abnormalities unless the following occur: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patient has ≥ 2 episodes of pyelonephritis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Infections are complicated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Nephrolithiasis is suspected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There is painless gross hematuria or new renal insufficiency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Fever persists for ≥ 72 h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x-none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B0160E-B730-B149-5F5D-352B072AA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0" y="484909"/>
            <a:ext cx="12177960" cy="613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17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DIFFERENTIAL DIAGNOSIS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5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Acute urethral syndrome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occurs in women, involving dysuria, frequency and pyuria (dysuria-pyuria syndrome)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Unlike in cystitis, routine urine cultures are either negative.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Urethritis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Possible causative organisms include Chlamydia trachomatis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Ureaplasma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urealyticum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not detected on urine culture.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Noninfectious causes: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Anatomic abnormalities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urethral stenosis),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Physiologic abnormalities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pelvic floor muscle dysfunction),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Hormonal imbalances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atrophic urethritis),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Localized trauma,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 system symptoms, and inflammation</a:t>
            </a:r>
          </a:p>
          <a:p>
            <a:pPr>
              <a:lnSpc>
                <a:spcPct val="150000"/>
              </a:lnSpc>
            </a:pP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03C75A-5D0A-E822-9729-46ACC81F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DIFFERENTIAL DIAGNOSIS</a:t>
            </a:r>
            <a:endParaRPr lang="x-non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90430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Empiric antimicrobial therapy depends on;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Severity and type of infection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Local community resistance prevalence of </a:t>
            </a:r>
            <a:r>
              <a:rPr lang="en-US" dirty="0" err="1"/>
              <a:t>Enterobacteriaceae</a:t>
            </a:r>
            <a:r>
              <a:rPr lang="en-US" dirty="0"/>
              <a:t> (if known)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Susceptibility of prior urinary isolates,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Patient circumstances (such as allergy or expected tolerability, history of prior antimicrobial use)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Drug toxicity, interactions, availability, and cost.</a:t>
            </a:r>
            <a:endParaRPr lang="x-none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>
          <a:xfrm>
            <a:off x="826477" y="271462"/>
            <a:ext cx="1098452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ASYMPTOMATIC BACTERIURIA MANAGEMENT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3683F60-DF1C-5814-A944-12719B998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591" y="1597025"/>
            <a:ext cx="5941671" cy="483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72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UNCOMPLICATED CYSTITIS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61468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Routine post-treatment urinalysis or urine cultures are not indicated for asymptomatic patients.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symptoms do not resolve by end of treatment, or if symptoms resolve but recur within 2 weeks, C/S should be performed.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situation, it should be assumed that the infecting organism is not susceptible to the agent originally used.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Retreatment with a 7-d regimen using another agent should be considered.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838201" y="6211669"/>
            <a:ext cx="1066107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Hooton TM, JAMA IM 2018; Gupta et al., CID 2011; EAU 2024; Albert et al., CID 2004;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Kranjcec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et al., World J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939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1147157"/>
            <a:ext cx="11460480" cy="560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 sz="2800"/>
          </a:p>
        </p:txBody>
      </p:sp>
      <p:sp>
        <p:nvSpPr>
          <p:cNvPr id="5" name="Shape 3"/>
          <p:cNvSpPr/>
          <p:nvPr/>
        </p:nvSpPr>
        <p:spPr>
          <a:xfrm>
            <a:off x="365760" y="1147157"/>
            <a:ext cx="11460480" cy="463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6" name="Text 4"/>
          <p:cNvSpPr/>
          <p:nvPr/>
        </p:nvSpPr>
        <p:spPr>
          <a:xfrm>
            <a:off x="487680" y="1171541"/>
            <a:ext cx="225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04160" y="1171541"/>
            <a:ext cx="2133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98720" y="1171541"/>
            <a:ext cx="1402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61760" y="1171541"/>
            <a:ext cx="16459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Level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68640" y="1171541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Context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65760" y="1671413"/>
            <a:ext cx="11460480" cy="60960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12" name="Text 10"/>
          <p:cNvSpPr/>
          <p:nvPr/>
        </p:nvSpPr>
        <p:spPr>
          <a:xfrm>
            <a:off x="536448" y="1744565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Nitrofurantoin (1st line)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52928" y="1744565"/>
            <a:ext cx="2084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mg MR BD or 50 mg QDS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47488" y="1744565"/>
            <a:ext cx="1353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0528" y="1744565"/>
            <a:ext cx="1597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17408" y="1744565"/>
            <a:ext cx="3486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availability; avoid if eGFR &lt;45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317589"/>
            <a:ext cx="114604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18" name="Text 16"/>
          <p:cNvSpPr/>
          <p:nvPr/>
        </p:nvSpPr>
        <p:spPr>
          <a:xfrm>
            <a:off x="536448" y="2390741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Fosfomycin trometamol (1st line)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52928" y="2390741"/>
            <a:ext cx="2084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 stat (single dose)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390741"/>
            <a:ext cx="1353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390741"/>
            <a:ext cx="1597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17408" y="2390741"/>
            <a:ext cx="3486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in TZ; excellent stewardship value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2963765"/>
            <a:ext cx="11460480" cy="60960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24" name="Text 22"/>
          <p:cNvSpPr/>
          <p:nvPr/>
        </p:nvSpPr>
        <p:spPr>
          <a:xfrm>
            <a:off x="536448" y="3036917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Pivmecillinam (1st line)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52928" y="3036917"/>
            <a:ext cx="2084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mg BD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7488" y="3036917"/>
            <a:ext cx="1353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days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10528" y="3036917"/>
            <a:ext cx="1597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17408" y="3036917"/>
            <a:ext cx="3486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availability in SSA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3609941"/>
            <a:ext cx="114604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30" name="Text 28"/>
          <p:cNvSpPr/>
          <p:nvPr/>
        </p:nvSpPr>
        <p:spPr>
          <a:xfrm>
            <a:off x="536448" y="3683093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Co-trimoxazole (2nd line)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52928" y="3683093"/>
            <a:ext cx="2084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mg BD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7488" y="3683093"/>
            <a:ext cx="1353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10528" y="3683093"/>
            <a:ext cx="1597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 if &lt;20% resist.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17408" y="3683093"/>
            <a:ext cx="3486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if local resistance &gt;20% (often &gt;70% TZ)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5760" y="4256117"/>
            <a:ext cx="11460480" cy="609600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36" name="Text 34"/>
          <p:cNvSpPr/>
          <p:nvPr/>
        </p:nvSpPr>
        <p:spPr>
          <a:xfrm>
            <a:off x="536448" y="4329269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Ciprofloxacin (reserve only)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852928" y="4329269"/>
            <a:ext cx="2084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mg BD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47488" y="4329269"/>
            <a:ext cx="1353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10528" y="4329269"/>
            <a:ext cx="1597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 but reserve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17408" y="4329269"/>
            <a:ext cx="3486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2019 restriction; risk of C. difficile, tendinopathy; AVOID uncomplicated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760" y="4902293"/>
            <a:ext cx="114604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 sz="2400"/>
          </a:p>
        </p:txBody>
      </p:sp>
      <p:sp>
        <p:nvSpPr>
          <p:cNvPr id="42" name="Text 40"/>
          <p:cNvSpPr/>
          <p:nvPr/>
        </p:nvSpPr>
        <p:spPr>
          <a:xfrm>
            <a:off x="536448" y="4975445"/>
            <a:ext cx="22067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Amoxicillin-clavulanate (if susceptible)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852928" y="4975445"/>
            <a:ext cx="2084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 mg TDS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47488" y="4975445"/>
            <a:ext cx="1353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10528" y="4975445"/>
            <a:ext cx="1597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B-II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17408" y="4975445"/>
            <a:ext cx="34869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with culture susceptibility; avoid empiric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26720" y="5932517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IDSA Guidelines 2011 (Gupta et al.); EAU Urological Infections 2024; NICE NG112 2022; EMA Fluoroquinolone Safety Review 2019</a:t>
            </a:r>
            <a:endParaRPr lang="en-US" sz="1400" dirty="0"/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6CC6A426-2DAF-3BF3-F360-72CB1D6BF52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UNCOMPLICATED CYSTITIS MANAGEMENT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COMPLICATED CYSTITIS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614689"/>
          </a:xfrm>
        </p:spPr>
        <p:txBody>
          <a:bodyPr>
            <a:normAutofit/>
          </a:bodyPr>
          <a:lstStyle/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cUTI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management should </a:t>
            </a: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MANDATORY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address the urological abnormality or the underlying complicating factor.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for 7 d to 14 d (14 d for men when prostatitis cannot be excluded)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patient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hemodynamically stable and has afebrile for at least 48 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shorter duration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7 d) may be considered.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1667837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 UTI Management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670560" y="1194816"/>
            <a:ext cx="1097280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560" y="5974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Eur Urol 2007; Wagenlehner FM, Eur Urol 2016; Schaeffer AJ, NEJM 2006</a:t>
            </a:r>
            <a:endParaRPr lang="en-US" sz="1267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991487-82FD-5ACD-2EB7-7C400FC6F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298" y="405668"/>
            <a:ext cx="6381404" cy="542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27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PYELONEPHRITIS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596980"/>
            <a:ext cx="10515600" cy="46146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Fluoroquinolones and cephalosporins are only recommended agents for oral empiric treatment</a:t>
            </a:r>
          </a:p>
          <a:p>
            <a:pPr lvl="1"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 they achieve significantly lower blood and urinary concentrations than the IV route. </a:t>
            </a:r>
          </a:p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agents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nitrofurantoin, oral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fosfomycin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pivmecillinam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should be avoided as there are insufficient data regarding their efficacy.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3569508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PYELONEPHRITIS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hospitalized should be treated initially with an IV regimen:</a:t>
            </a:r>
          </a:p>
          <a:p>
            <a:pPr marL="914389" lvl="1" indent="-457189"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fluoroquinolone, an aminoglycoside (with or without ampicillin), or an extended-spectrum cephalosporin or penicillin.</a:t>
            </a:r>
          </a:p>
          <a:p>
            <a:pPr marL="914389" lvl="1" indent="-457189"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Carbapenems and novel broad-spectrum agents should only be used if early culture results indicates presence of MDR. 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choice between these agents should be based on local resistance patterns.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1871047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PYELONEPHRITIS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men whenever a complicating factor is suspected, a minimum treatment duration of 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recommended, preferably with a fluoroquinolone, as prostatic involvement is frequent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261948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PYELONEPHRITIS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lnSpc>
                <a:spcPct val="150000"/>
              </a:lnSpc>
              <a:spcAft>
                <a:spcPts val="267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Duration: 10–14 days total (IV → oral switch at 48–72h if improving, afebrile, tolerating orals)</a:t>
            </a:r>
          </a:p>
          <a:p>
            <a:pPr marL="457189" indent="-457189">
              <a:lnSpc>
                <a:spcPct val="150000"/>
              </a:lnSpc>
              <a:spcAft>
                <a:spcPts val="267"/>
              </a:spcAft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 control: </a:t>
            </a:r>
          </a:p>
          <a:p>
            <a:pPr marL="914389" lvl="1" indent="-457189">
              <a:lnSpc>
                <a:spcPct val="150000"/>
              </a:lnSpc>
              <a:spcAft>
                <a:spcPts val="267"/>
              </a:spcAft>
              <a:buSzPct val="100000"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Ureteral stent or percutaneous nephrostomy if obstruction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89" lvl="1" indent="-457189">
              <a:lnSpc>
                <a:spcPct val="150000"/>
              </a:lnSpc>
              <a:spcAft>
                <a:spcPts val="267"/>
              </a:spcAft>
              <a:buSzPct val="100000"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Renal abscess &gt;3 cm: CT-guided drainage + antibiotics; &lt;3 cm: IV antibiotics alone 4–6 weeks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389" lvl="1" indent="-457189">
              <a:lnSpc>
                <a:spcPct val="150000"/>
              </a:lnSpc>
              <a:spcAft>
                <a:spcPts val="267"/>
              </a:spcAft>
              <a:buSzPct val="100000"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Perinephric abscess: mandatory surgical/percutaneous drainage; cultures guide prolonged therapy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1211430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Urosepsis – Sepsis-3 Framework &amp; Management Bundles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5547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6278880" y="1036320"/>
            <a:ext cx="5547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6" name="Text 4"/>
          <p:cNvSpPr/>
          <p:nvPr/>
        </p:nvSpPr>
        <p:spPr>
          <a:xfrm>
            <a:off x="609600" y="109728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Bundle (SSC 2018 vs SSC 2026)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609344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Measure lactate; re-measure if &gt;2 mmol/L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Blood cultures ×2 (aerobic + anaerobic) BEFORE antibiotics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Broad-spectrum antibiotics within 1 hour of recognition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Crystalloid 30 mL/kg IV if lactate ≥4 mmol/L or hypotension (MAP &lt;65)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Vasopressors (norepinephrine) if fluid-unresponsive MAP &lt;65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CONTROL: ureteral stent or percutaneous nephrostomy within 6–12h if obstructive uropathy (Grade A; EAU 2024)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De-escalate at 48–72h based on culture; reduce carbapenem exposure; document indication and planned duration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6461760" y="109728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 Antibiotic Strategy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61760" y="1609344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Community-acquired urosepsis (low ESBL risk):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Piperacillin-tazobactam 4.5g TDS IV OR Ceftriaxone 2g OD IV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Community-acquired urosepsis (high ESBL risk TZ):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Ertapenem 1g OD IV OR Meropenem 1g TDS IV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Hospital-acquired/ICU urosepsis: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Meropenem 1g TDS ± vancomycin (if MRSA risk) OR ceftazidime-avibactam (KPC)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Pseudomonas risk (ICU, prior hospitalization, FQ exposure):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Meropenem 2g TDS extended infusion (4h) OR ceftolozane-tazobactam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 urosepsis (ICU, immunosuppressed):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Micafungin 100mg OD IV OR fluconazole if stable + susceptible species</a:t>
            </a:r>
            <a:endParaRPr lang="en-US" sz="1467" dirty="0"/>
          </a:p>
          <a:p>
            <a:pPr marL="457189" indent="-457189">
              <a:spcAft>
                <a:spcPts val="267"/>
              </a:spcAft>
              <a:buSzPct val="100000"/>
              <a:buChar char="•"/>
            </a:pPr>
            <a:r>
              <a:rPr lang="en-US" sz="14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CRP/PCT at 48–72h; SOFA score trends; culture-directed de-escalation; duration 10–14 days IV then oral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Singer et al., JAMA 2016 (Sepsis-3); Levy et al., Intensive Care Med 2018 (SSC bundles); EAU 2024; IDSA 2011</a:t>
            </a:r>
            <a:endParaRPr lang="en-US" sz="1133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RECURRENT UTI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BEHAVIOURAL INTERVENTIONS: </a:t>
            </a:r>
          </a:p>
          <a:p>
            <a:pPr marL="971550" lvl="1" indent="-514350">
              <a:lnSpc>
                <a:spcPct val="150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post-coital voiding, </a:t>
            </a:r>
          </a:p>
          <a:p>
            <a:pPr marL="971550" lvl="1" indent="-514350">
              <a:lnSpc>
                <a:spcPct val="150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increased fluid intake (&gt;1.5L/day) – RCT showed 50% reduction in </a:t>
            </a:r>
            <a:r>
              <a:rPr lang="en-US" sz="28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rUTI</a:t>
            </a:r>
            <a:r>
              <a:rPr lang="en-US" sz="28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(Hooton et al., JAMA IM 2018); </a:t>
            </a:r>
          </a:p>
          <a:p>
            <a:pPr marL="971550" lvl="1" indent="-514350">
              <a:lnSpc>
                <a:spcPct val="150000"/>
              </a:lnSpc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wiping technique, avoid spermicides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2707627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RECURRENT UTI MANAGEMENT</a:t>
            </a: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D-MANNOSE: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competitive inhibitor of 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FimH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adhesin; RCT vs nitrofurantoin maintenance showed non-inferior recurrence prevention (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Kranjcec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et al., World J 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Urol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2014); 2g OD dosing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CRANBERRY PRODUCTS: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meta-analysis 2023 (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Juthani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-Mehta et al.): modest reduction 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rUTI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(RR 0.74, 95%CI 0.55–0.98)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1340149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CAUTI 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PREVENTION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152384" indent="0" algn="ctr">
              <a:spcAft>
                <a:spcPts val="400"/>
              </a:spcAft>
              <a:buSzPct val="100000"/>
              <a:buNone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PREVENTION BUNDLE (SHEA/IDSA/HICPAC): </a:t>
            </a:r>
            <a:endParaRPr lang="en-US" dirty="0">
              <a:solidFill>
                <a:srgbClr val="1A1A2E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666734" indent="-5143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Avoid unnecessary catheterization each day increases 3-8% each day; </a:t>
            </a:r>
          </a:p>
          <a:p>
            <a:pPr marL="666734" indent="-5143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Aseptic insertion; </a:t>
            </a:r>
          </a:p>
          <a:p>
            <a:pPr marL="666734" indent="-5143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Maintain closed drainage; </a:t>
            </a:r>
          </a:p>
          <a:p>
            <a:pPr marL="666734" indent="-5143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Daily assessment + remove ASAP; </a:t>
            </a:r>
          </a:p>
          <a:p>
            <a:pPr marL="666734" indent="-51435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Hand hygiene; reduces CAUTI 50–70% when fully implemented (Saint et al., Lancet ID 2016)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1397863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CAUTI 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PREVENTION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Catheter alternatives: external (condom) catheters in men – lower UTI risk than indwelling (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Niel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-Weise et al., Cochrane 2012); </a:t>
            </a: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Intermittent self-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catheterisation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(ISC) – preferred for neurogenic bladder</a:t>
            </a: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Antimicrobial catheters: </a:t>
            </a:r>
          </a:p>
          <a:p>
            <a:pPr marL="914389" lvl="1" indent="-457189">
              <a:spcAft>
                <a:spcPts val="400"/>
              </a:spcAft>
              <a:buSzPct val="100000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silver alloy hydrogel – meta-analysis marginal benefit (Lam et al., J </a:t>
            </a:r>
            <a:r>
              <a:rPr lang="en-US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Urol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2014)</a:t>
            </a:r>
          </a:p>
          <a:p>
            <a:pPr marL="914389" lvl="1" indent="-457189">
              <a:spcAft>
                <a:spcPts val="400"/>
              </a:spcAft>
              <a:buSzPct val="100000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nitrofurantoin-impregnated – limited evidence; not recommended for routine use (NICE 2012)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2565980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CAUTI 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PREVENTION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catheterized patients, </a:t>
            </a: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pyuria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is not diagnostic for CA-UTI.</a:t>
            </a:r>
          </a:p>
          <a:p>
            <a:pPr marL="914389" lvl="1" indent="-457189">
              <a:lnSpc>
                <a:spcPct val="100000"/>
              </a:lnSpc>
              <a:spcAft>
                <a:spcPts val="400"/>
              </a:spcAft>
              <a:buSzPct val="100000"/>
            </a:pPr>
            <a:r>
              <a:rPr lang="en-US" i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Neither the presence, absence, or degree of pyuria NOR the presence or absence of odorous or cloudy  should not be used to differentiate CA-ABU from CA-UTI. 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Pyuria accompanying CA-ABU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should not be interpreted as an indication for antimicrobial treatment. </a:t>
            </a:r>
          </a:p>
          <a:p>
            <a:pPr marL="457189" indent="-457189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absence of pyuria in a symptomatic patient suggests a diagnosis other than CA-UTI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EAU Guidelines Urological Infections 2024; Nickel JC,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2007;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Wagenlehner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FM,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Eur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Urol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2016; Schaeffer AJ, NEJM 2006</a:t>
            </a:r>
          </a:p>
        </p:txBody>
      </p:sp>
    </p:spTree>
    <p:extLst>
      <p:ext uri="{BB962C8B-B14F-4D97-AF65-F5344CB8AC3E}">
        <p14:creationId xmlns:p14="http://schemas.microsoft.com/office/powerpoint/2010/main" val="2384344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CAUTI </a:t>
            </a: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PREVENTION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79" name="Content Placeholder 2"/>
          <p:cNvSpPr>
            <a:spLocks noGrp="1"/>
          </p:cNvSpPr>
          <p:nvPr>
            <p:ph idx="1"/>
          </p:nvPr>
        </p:nvSpPr>
        <p:spPr>
          <a:xfrm>
            <a:off x="838200" y="1473887"/>
            <a:ext cx="10515600" cy="4614689"/>
          </a:xfrm>
        </p:spPr>
        <p:txBody>
          <a:bodyPr>
            <a:noAutofit/>
          </a:bodyPr>
          <a:lstStyle/>
          <a:p>
            <a:pPr>
              <a:lnSpc>
                <a:spcPts val="3960"/>
              </a:lnSpc>
              <a:spcAft>
                <a:spcPts val="4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DURATION: 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 days (symptoms resolve rapidly); 10–14 days (delayed response); 5 days levofloxacin (susceptible organism) – non-inferior in RCT (Hooton et al., CID 2010)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960"/>
              </a:lnSpc>
              <a:spcAft>
                <a:spcPts val="4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CATHETER MANAGEMENT: 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Change/remove catheter at start of antibiotics; new catheter specimen sent before therapy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3960"/>
              </a:lnSpc>
              <a:spcAft>
                <a:spcPts val="400"/>
              </a:spcAft>
              <a:buSzPct val="100000"/>
            </a:pPr>
            <a:r>
              <a:rPr lang="en-US" b="1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CANDIDA CAUTI: </a:t>
            </a:r>
            <a:r>
              <a:rPr lang="en-US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fluconazole 400 mg OD × 14 days (susceptible C. albicans); remove/change catheter; treatment only if symptomatic or immunosuppressed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9560F-2A50-788A-E8AA-D74091F5A928}"/>
              </a:ext>
            </a:extLst>
          </p:cNvPr>
          <p:cNvSpPr txBox="1"/>
          <p:nvPr/>
        </p:nvSpPr>
        <p:spPr>
          <a:xfrm>
            <a:off x="692727" y="6211669"/>
            <a:ext cx="1106978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Refs: IDSA CAUTI Guidelines (Hooton et al., CID 2010); HICPAC 2009; Saint et al., Lancet ID 2016; IDSA ASB 2019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348829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 – Prevention &amp; Treatment Strategies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670560" y="1194816"/>
            <a:ext cx="1097280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560" y="5974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IDSA CAUTI Guidelines (Hooton et al., CID 2010); HICPAC 2009; Saint et al., Lancet ID 2016; IDSA ASB 2019</a:t>
            </a:r>
            <a:endParaRPr lang="en-US" sz="1267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3A2481-DAEF-CCB6-7B3B-AE5512780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573" y="111506"/>
            <a:ext cx="5576853" cy="586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86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in Diabetes Mellitus &amp; Immunosuppression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5547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6278880" y="1036320"/>
            <a:ext cx="5547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181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Mellitus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61760" y="1097280"/>
            <a:ext cx="5181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Immunocompromised Host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518160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increases </a:t>
            </a:r>
            <a:r>
              <a:rPr lang="en-US" sz="16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risk 2–5x: </a:t>
            </a: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impaired neutrophil chemotaxis, glycosuria, neuropathic bladder with PVR urine, vascular disease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of complicated UTI: </a:t>
            </a:r>
            <a:r>
              <a:rPr lang="en-US" sz="16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emphysematous pyelonephritis (90% DM)</a:t>
            </a: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renal papillary necrosis, fungal UTI, Klebsiella hvKP syndrome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Glycaemic control optimisation key adjunct to antibiotic therapy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SGLT2 inhibitors (dapagliflozin, empagliflozin): increase UTI and genital mycotic infection risk; counsel patients; withhold if active UTI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 treatment: extend to 10–14 days for cystitis (7 days minimum); 14 days for pyelonephritis in DM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Nitrofurantoin: AVOID if eGFR &lt;45 mL/min/1.73m² (inadequate urinary concentrations + peripheral neuropathy risk)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6461760" y="1609344"/>
            <a:ext cx="518160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HIV: CD4 &lt;200 → markedly increased UTI risk; unusual organisms (Salmonella, Nocardia, CMV, MAC) + typical uropathogens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screen for renal TB in HIV+ with sterile pyuria; exclude viral nephritis (HIVAN) when pyuria + proteinuria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recipients: CMV viruria (asymptomatic – no treatment); BK virus nephropathy vs UTI – urine cytology 'decoy cells'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Neutropaenic patients: UTI may be oligosymptomatic; broad-spectrum cover including Pseudomonas; adjust for mucositis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Corticosteroids: mask fever/signs; maintain high suspicion; fungi (Candida, Aspergillus) in prolonged courses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cord injury: neurogenic bladder → colonisation universal; treat only symptomatic episodes; ISC preferred; avoid prophylaxis (select for MDR)</a:t>
            </a:r>
            <a:endParaRPr lang="en-US" sz="1667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Fungal Urinary Tract Infections – Candiduria &amp; Invasive Candidiasis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114604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Text 3"/>
          <p:cNvSpPr/>
          <p:nvPr/>
        </p:nvSpPr>
        <p:spPr>
          <a:xfrm>
            <a:off x="670560" y="1194816"/>
            <a:ext cx="1097280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Candiduria: &gt;98% asymptomatic in non-neutropaenic, non-transplant patients – DO NOT TREAT (IDSA 2016, Grade A-II)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candiduria if: symptomatic UTI, neutropaenia, renal transplant, pre-urological procedure, premature neonate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albicans (60%): fluconazole 200 mg OD × 14 days (cystitis) or 400 mg OD × 14 days (pyelonephritis/upper tract)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glabrata (Nakaseomyces glabratus): reduced fluconazole susceptibility; amphotericin B bladder irrigation or systemic therapy; micafungin if bloodstream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tropicalis: fluconazole usually effective; increasing azole resistance reported in Africa (Mulu et al., 2015)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Fluconazole bladder irrigation: NOT recommended (no benefit over systemic therapy; IDSA 2016)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Amphotericin B deoxycholate 0.3–1 mg/kg/day: severe/resistant candida UTI; nephrotoxicity concern – use liposomal if eGFR &lt;30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Echinecandins (micafungin, caspofungin): excellent for bloodstream/systemic; POOR urinary concentrations – avoid for uncomplicated CAUTI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Remove/change catheter: mandatory for symptomatic candiduria; eliminate predisposing factors (broad-spectrum antibiotics, immunosuppression, hyperglycaemia)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560" y="5974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Pappas et al., CID 2016 (IDSA Candida Guidelines); Kullberg &amp; Arendrup, NEJM 2015; EAU 2024</a:t>
            </a:r>
            <a:endParaRPr lang="en-US" sz="1267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in Renal Transplant Recipients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114604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Text 3"/>
          <p:cNvSpPr/>
          <p:nvPr/>
        </p:nvSpPr>
        <p:spPr>
          <a:xfrm>
            <a:off x="670560" y="1194816"/>
            <a:ext cx="10972800" cy="463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infection post-transplant (45–75% of all infections); 3× increased risk acute rejection with pyelonephritis (Fiorante et al., KI 2011)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&lt;1 month (nosocomial, ESKAPE organisms, CAUTI, surgical site); 1–6 months (opportunistic: CMV, BK virus, PCP + bacterial); &gt;6 months (community uropathogens, chronic complications)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 virus nephropathy vs UTI: urine cytology 'decoy cells'; plasma BK viral load &gt;10,000 copies/mL; management = reduce immunosuppression; no proven antiviral therapy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bacteriuria in transplant recipients should be screened and treated (even 'asymptomatic') in first 3 months post-transplant – controversial beyond 3 months; IDSA 2019 update suggests no treatment ASB after 3 months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 therapy: ESBL-covering regimen given high ESBL prevalence; ertapenem IV for severe episodes; adjust for nephrotoxicity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interactions: fluoroquinolones + calcineurin inhibitors (tacrolimus QTc; rifampicin – major enzyme induction); monitor immunosuppressant levels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Prophylaxis: co-trimoxazole DS 960 mg 3×/week × 6–12 months (PCP prophylaxis incidentally reduces UTI – reduces bacterial UTI by 70%); trim alone if sulfa allergy</a:t>
            </a:r>
            <a:endParaRPr lang="en-US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 in transplant ureter: technical complication; evaluate with VCUG; may require surgical revision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0560" y="5974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Fiorante et al., KI 2011; IDSA 2019 Transplant Infection Guidelines; Kidney Disease: Improving Global Outcomes (KDIGO) 2020</a:t>
            </a:r>
            <a:endParaRPr lang="en-US" sz="1267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Urogenital Tuberculosis &amp; Schistosomiasis – Tanzania Context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5547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6278880" y="1036320"/>
            <a:ext cx="5547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5181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Urogenital TB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61760" y="1097280"/>
            <a:ext cx="5181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haematobium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518160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TB: Haematogenous seeding from primary pulmonary focus; latency 5–20 years; presents as sterile pyuria, frequency, haematuria, flank pain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3× early morning urine for AFB smear &amp; culture (gold standard but 6–8 weeks); Xpert MTB/RIF: sensitivity 83%, specificity 98% – first choice in resource-limited settings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IVU/CT Urogram: moth-eaten calyces, infundibular stenosis, obliterated calyces, ureteral strictures, autonephrectomy (putty kidney)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RHZE × 2 months + RH × 4 months (standard 6-month TB regimen); ureteral stenting may be needed for strictures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Tanzania: always consider in HIV+ patients with sterile pyuria or unexplained haematuria; co-treat HIV (HAART timing per standard guidelines)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6461760" y="1609344"/>
            <a:ext cx="5181600" cy="487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HAEMATOBIUM: endemic Tanzania (Lake Zone, coastal areas, irrigation schemes); ~170 million at risk worldwide (WHO 2023)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Pathophysiology: cercariae → schistosomulae → adult worms in vesical plexus → egg deposition → granulomatous inflammation → bladder fibrosis, calcification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Complications: haematuria (terminal, painless), obstructive uropathy, bladder cancer (squamous cell, WHO Group 1 carcinogen), secondary bacterial UTI, genital schistosomiasis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urine filtration for ova (peak 10am–2pm, midday sample); PONT technique; urine PCR; cystoscopy – 'sandy patches', contact bleeding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Praziquantel 40 mg/kg stat (single dose); repeat at 6 months if heavy burden; MDA programmes in endemic areas</a:t>
            </a:r>
            <a:endParaRPr lang="en-US" sz="1667" dirty="0"/>
          </a:p>
          <a:p>
            <a:pPr marL="457189" indent="-457189">
              <a:buSzPct val="100000"/>
              <a:buChar char="•"/>
            </a:pPr>
            <a:r>
              <a:rPr lang="en-US" sz="16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 co-infection: increased susceptibility to E. coli/Salmonella after schistosome-mediated barrier disruption (Downs et al., PLoS NTD 2011)</a:t>
            </a:r>
            <a:endParaRPr lang="en-US" sz="1667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 Against UTIs – Current Evidence &amp; Pipeline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11460480" cy="560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11460480" cy="4632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6" name="Text 4"/>
          <p:cNvSpPr/>
          <p:nvPr/>
        </p:nvSpPr>
        <p:spPr>
          <a:xfrm>
            <a:off x="487680" y="1060704"/>
            <a:ext cx="225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/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04160" y="1060704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42560" y="1060704"/>
            <a:ext cx="1097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060704"/>
            <a:ext cx="2560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22080" y="1060704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2024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560576"/>
            <a:ext cx="11460480" cy="573024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2" name="Text 10"/>
          <p:cNvSpPr/>
          <p:nvPr/>
        </p:nvSpPr>
        <p:spPr>
          <a:xfrm>
            <a:off x="536448" y="1621536"/>
            <a:ext cx="22067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OM-89 (Urovax/Urostim)</a:t>
            </a:r>
            <a:endParaRPr lang="en-US" sz="1267" dirty="0"/>
          </a:p>
        </p:txBody>
      </p:sp>
      <p:sp>
        <p:nvSpPr>
          <p:cNvPr id="13" name="Text 11"/>
          <p:cNvSpPr/>
          <p:nvPr/>
        </p:nvSpPr>
        <p:spPr>
          <a:xfrm>
            <a:off x="2852928" y="1621536"/>
            <a:ext cx="23286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E.coli lysate; stimulates mucosal &amp; systemic immunity</a:t>
            </a:r>
            <a:endParaRPr lang="en-US" sz="1267" dirty="0"/>
          </a:p>
        </p:txBody>
      </p:sp>
      <p:sp>
        <p:nvSpPr>
          <p:cNvPr id="14" name="Text 12"/>
          <p:cNvSpPr/>
          <p:nvPr/>
        </p:nvSpPr>
        <p:spPr>
          <a:xfrm>
            <a:off x="5291328" y="1621536"/>
            <a:ext cx="1048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</a:t>
            </a:r>
            <a:endParaRPr lang="en-US" sz="1267" dirty="0"/>
          </a:p>
        </p:txBody>
      </p:sp>
      <p:sp>
        <p:nvSpPr>
          <p:cNvPr id="15" name="Text 13"/>
          <p:cNvSpPr/>
          <p:nvPr/>
        </p:nvSpPr>
        <p:spPr>
          <a:xfrm>
            <a:off x="6449568" y="1621536"/>
            <a:ext cx="25115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RCT: 40% ↓ rUTI recurrence (Bauer 2005, J Urol)</a:t>
            </a:r>
            <a:endParaRPr lang="en-US" sz="1267" dirty="0"/>
          </a:p>
        </p:txBody>
      </p:sp>
      <p:sp>
        <p:nvSpPr>
          <p:cNvPr id="16" name="Text 14"/>
          <p:cNvSpPr/>
          <p:nvPr/>
        </p:nvSpPr>
        <p:spPr>
          <a:xfrm>
            <a:off x="9070848" y="1621536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in Europe; oral 28d course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365760" y="2170176"/>
            <a:ext cx="11460480" cy="57302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18" name="Text 16"/>
          <p:cNvSpPr/>
          <p:nvPr/>
        </p:nvSpPr>
        <p:spPr>
          <a:xfrm>
            <a:off x="536448" y="2231136"/>
            <a:ext cx="22067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FimCH vaccine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2852928" y="2231136"/>
            <a:ext cx="23286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FimH adhesin (type-1 fimbriae); blocks E. coli–uroplakin binding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5291328" y="2231136"/>
            <a:ext cx="1048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I/II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6449568" y="2231136"/>
            <a:ext cx="25115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models: 95% protection; human trials ongoing (Langermann 1997, Science)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9070848" y="2231136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 ongoing</a:t>
            </a:r>
            <a:endParaRPr lang="en-US" sz="1267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11460480" cy="573024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24" name="Text 22"/>
          <p:cNvSpPr/>
          <p:nvPr/>
        </p:nvSpPr>
        <p:spPr>
          <a:xfrm>
            <a:off x="536448" y="2840736"/>
            <a:ext cx="22067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MrpH fimbrial vaccine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2852928" y="2840736"/>
            <a:ext cx="23286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mirabilis MR/P fimbriae adhesin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5291328" y="2840736"/>
            <a:ext cx="1048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6449568" y="2840736"/>
            <a:ext cx="25115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murine protection against catheter-associated Proteus UTI (Scavone 2004)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9070848" y="2840736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365760" y="3389376"/>
            <a:ext cx="11460480" cy="57302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0" name="Text 28"/>
          <p:cNvSpPr/>
          <p:nvPr/>
        </p:nvSpPr>
        <p:spPr>
          <a:xfrm>
            <a:off x="536448" y="3450336"/>
            <a:ext cx="22067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fimbrial conjugate (ExPEC4V)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2852928" y="3450336"/>
            <a:ext cx="23286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4-component glycoconjugate vs ExPEC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5291328" y="3450336"/>
            <a:ext cx="1048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6449568" y="3450336"/>
            <a:ext cx="25115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tolerated; immunogenic; efficacy RCT ongoing (Huttner et al., Vaccine 2017)</a:t>
            </a:r>
            <a:endParaRPr lang="en-US" sz="1267" dirty="0"/>
          </a:p>
        </p:txBody>
      </p:sp>
      <p:sp>
        <p:nvSpPr>
          <p:cNvPr id="34" name="Text 32"/>
          <p:cNvSpPr/>
          <p:nvPr/>
        </p:nvSpPr>
        <p:spPr>
          <a:xfrm>
            <a:off x="9070848" y="3450336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completed</a:t>
            </a:r>
            <a:endParaRPr lang="en-US" sz="1267" dirty="0"/>
          </a:p>
        </p:txBody>
      </p:sp>
      <p:sp>
        <p:nvSpPr>
          <p:cNvPr id="35" name="Shape 33"/>
          <p:cNvSpPr/>
          <p:nvPr/>
        </p:nvSpPr>
        <p:spPr>
          <a:xfrm>
            <a:off x="365760" y="3998976"/>
            <a:ext cx="11460480" cy="573024"/>
          </a:xfrm>
          <a:prstGeom prst="rect">
            <a:avLst/>
          </a:prstGeom>
          <a:solidFill>
            <a:srgbClr val="F1F6FA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6" name="Text 34"/>
          <p:cNvSpPr/>
          <p:nvPr/>
        </p:nvSpPr>
        <p:spPr>
          <a:xfrm>
            <a:off x="536448" y="4059936"/>
            <a:ext cx="22067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mRNA-based UPEC vaccine</a:t>
            </a:r>
            <a:endParaRPr lang="en-US" sz="1267" dirty="0"/>
          </a:p>
        </p:txBody>
      </p:sp>
      <p:sp>
        <p:nvSpPr>
          <p:cNvPr id="37" name="Text 35"/>
          <p:cNvSpPr/>
          <p:nvPr/>
        </p:nvSpPr>
        <p:spPr>
          <a:xfrm>
            <a:off x="2852928" y="4059936"/>
            <a:ext cx="23286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encoding multiple UPEC antigens (fimbriae, siderophores, toxins)</a:t>
            </a:r>
            <a:endParaRPr lang="en-US" sz="1267" dirty="0"/>
          </a:p>
        </p:txBody>
      </p:sp>
      <p:sp>
        <p:nvSpPr>
          <p:cNvPr id="38" name="Text 36"/>
          <p:cNvSpPr/>
          <p:nvPr/>
        </p:nvSpPr>
        <p:spPr>
          <a:xfrm>
            <a:off x="5291328" y="4059936"/>
            <a:ext cx="1048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67" dirty="0"/>
          </a:p>
        </p:txBody>
      </p:sp>
      <p:sp>
        <p:nvSpPr>
          <p:cNvPr id="39" name="Text 37"/>
          <p:cNvSpPr/>
          <p:nvPr/>
        </p:nvSpPr>
        <p:spPr>
          <a:xfrm>
            <a:off x="6449568" y="4059936"/>
            <a:ext cx="25115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concept leveraging mRNA platform (post-COVID-19 technology translation)</a:t>
            </a:r>
            <a:endParaRPr lang="en-US" sz="1267" dirty="0"/>
          </a:p>
        </p:txBody>
      </p:sp>
      <p:sp>
        <p:nvSpPr>
          <p:cNvPr id="40" name="Text 38"/>
          <p:cNvSpPr/>
          <p:nvPr/>
        </p:nvSpPr>
        <p:spPr>
          <a:xfrm>
            <a:off x="9070848" y="4059936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phase</a:t>
            </a:r>
            <a:endParaRPr lang="en-US" sz="1267" dirty="0"/>
          </a:p>
        </p:txBody>
      </p:sp>
      <p:sp>
        <p:nvSpPr>
          <p:cNvPr id="41" name="Shape 39"/>
          <p:cNvSpPr/>
          <p:nvPr/>
        </p:nvSpPr>
        <p:spPr>
          <a:xfrm>
            <a:off x="365760" y="4608576"/>
            <a:ext cx="11460480" cy="573024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42" name="Text 40"/>
          <p:cNvSpPr/>
          <p:nvPr/>
        </p:nvSpPr>
        <p:spPr>
          <a:xfrm>
            <a:off x="536448" y="4669536"/>
            <a:ext cx="22067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Probiotics (vaginal/oral Lactobacillus)</a:t>
            </a:r>
            <a:endParaRPr lang="en-US" sz="1267" dirty="0"/>
          </a:p>
        </p:txBody>
      </p:sp>
      <p:sp>
        <p:nvSpPr>
          <p:cNvPr id="43" name="Text 41"/>
          <p:cNvSpPr/>
          <p:nvPr/>
        </p:nvSpPr>
        <p:spPr>
          <a:xfrm>
            <a:off x="2852928" y="4669536"/>
            <a:ext cx="23286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protective urogenital microbiome; competitive exclusion of uropathogens</a:t>
            </a:r>
            <a:endParaRPr lang="en-US" sz="1267" dirty="0"/>
          </a:p>
        </p:txBody>
      </p:sp>
      <p:sp>
        <p:nvSpPr>
          <p:cNvPr id="44" name="Text 42"/>
          <p:cNvSpPr/>
          <p:nvPr/>
        </p:nvSpPr>
        <p:spPr>
          <a:xfrm>
            <a:off x="5291328" y="4669536"/>
            <a:ext cx="104851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II/III</a:t>
            </a:r>
            <a:endParaRPr lang="en-US" sz="1267" dirty="0"/>
          </a:p>
        </p:txBody>
      </p:sp>
      <p:sp>
        <p:nvSpPr>
          <p:cNvPr id="45" name="Text 43"/>
          <p:cNvSpPr/>
          <p:nvPr/>
        </p:nvSpPr>
        <p:spPr>
          <a:xfrm>
            <a:off x="6449568" y="4669536"/>
            <a:ext cx="251155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2022: insufficient evidence; ongoing RCTs with specific strains (LACTIN-V trial)</a:t>
            </a:r>
            <a:endParaRPr lang="en-US" sz="1267" dirty="0"/>
          </a:p>
        </p:txBody>
      </p:sp>
      <p:sp>
        <p:nvSpPr>
          <p:cNvPr id="46" name="Text 44"/>
          <p:cNvSpPr/>
          <p:nvPr/>
        </p:nvSpPr>
        <p:spPr>
          <a:xfrm>
            <a:off x="9070848" y="4669536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Investigational</a:t>
            </a:r>
            <a:endParaRPr lang="en-US" sz="1267" dirty="0"/>
          </a:p>
        </p:txBody>
      </p:sp>
      <p:sp>
        <p:nvSpPr>
          <p:cNvPr id="47" name="Text 45"/>
          <p:cNvSpPr/>
          <p:nvPr/>
        </p:nvSpPr>
        <p:spPr>
          <a:xfrm>
            <a:off x="365760" y="621792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Bauer et al., J Urol 2005; Langermann et al., Science 1997; Huttner et al., Vaccine 2017; Stapleton et al., Lancet ID 2021 (LACTIN-V)</a:t>
            </a:r>
            <a:endParaRPr lang="en-US" sz="1133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670560" y="243840"/>
            <a:ext cx="10972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26720" y="1072896"/>
            <a:ext cx="11338560" cy="5486400"/>
          </a:xfrm>
          <a:prstGeom prst="rect">
            <a:avLst/>
          </a:prstGeom>
          <a:solidFill>
            <a:srgbClr val="0D2B3E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5" name="Text 3"/>
          <p:cNvSpPr/>
          <p:nvPr/>
        </p:nvSpPr>
        <p:spPr>
          <a:xfrm>
            <a:off x="670560" y="121920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PATHOPHYSIOLOGY: Ascending route dominates; FimH-mediated adhesion, IBC formation, and biofilm are critical mechanisms of UPEC pathogenicity and recurrence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Uncomplicated vs complicated vs CAUTI vs urosepsis – classification drives management intensity and antibiotic selection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IN TANZANIA: ESBL-E. coli &gt;40% community; avoid empiric fluoroquinolones and co-trimoxazole without culture; ertapenem is key agent for ESBL-confirmed cases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DIAGNOSTICS: Dipstick + MSU culture when indicated; PCT to distinguish upper vs lower UTI; CT for complicated cases; avoid over-investigation in uncomplicated cystitis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Short-course nitrofurantoin/fosfomycin for uncomplicated cystitis; 7-day ciprofloxacin for pyelonephritis; PCT-guided de-escalation; source control for urosepsis is life-saving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STEWARDSHIP: Culture before antibiotics in complicated UTI; de-escalate at 48–72h; optimal duration (3d/5d/7d) evidence-based; avoid ASB treatment except pregnancy/pre-procedures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THERAPIES: OM-89 oral immunostimulant (licensed; Level A evidence); LACTIN-V intravaginal probiotic (Phase II positive); novel β-lactam/inhibitor combos for MDR; phage therapy – promising but experimental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3" name="Text 1"/>
          <p:cNvSpPr/>
          <p:nvPr/>
        </p:nvSpPr>
        <p:spPr>
          <a:xfrm>
            <a:off x="426720" y="97536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1036320"/>
            <a:ext cx="11460480" cy="560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Z"/>
          </a:p>
        </p:txBody>
      </p:sp>
      <p:sp>
        <p:nvSpPr>
          <p:cNvPr id="5" name="Text 3"/>
          <p:cNvSpPr/>
          <p:nvPr/>
        </p:nvSpPr>
        <p:spPr>
          <a:xfrm>
            <a:off x="609600" y="1158240"/>
            <a:ext cx="10972800" cy="536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 Gupta K et al. International clinical practice guidelines for the treatment of acute uncomplicated cystitis and pyelonephritis in women: 2010 update by the IDSA and ESMID. CID 2011;52(5):e103–e120.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 EAU Urological Infections Guidelines 2024. European Association of Urology. Available: uroweb.org/guidelines.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 Hooton TM et al. Diagnosis, prevention, and treatment of catheter-associated urinary tract infection in adults: 2009 international clinical practice guidelines from IDSA. CID 2010;50(5):625–663.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Nicolle LE et al. Clinical practice guideline for the management of asymptomatic bacteriuria: 2019 update by IDSA. CID 2019;68(10):e83–e110.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5. Singer M et al. The Third International Consensus Definitions for Sepsis and Septic Shock (Sepsis-3). JAMA 2016;315(8):801–810.</a:t>
            </a: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6. Hoberman A et al. Antimicrobial prophylaxis for children with vesicoureteral reflux (RIVUR trial). NEJM 2014;370(25):2367–2376.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7. Flores-Mireles AL et al. Urinary tract infections: epidemiology, mechanisms of infection and treatment options. Nat Rev Microbiol 2015;13(5):269–284.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8. Sandberg T et al. Ciprofloxacin for 7 days versus 14 days in women with acute pyelonephritis. BMJ 2012;344:e3500.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9. Eliakim-Raz N et al. Shorter vs longer duration of antibiotic treatment for UTI in women. BMJ 2023;382:e074462.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10. WHO Global Antimicrobial Resistance and Use Surveillance System (GLASS) Report 2023. Geneva: WHO</a:t>
            </a: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11. </a:t>
            </a:r>
            <a:r>
              <a:rPr lang="en-US" sz="15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Mshana</a:t>
            </a: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 et al. Prevalence of ESBL-producing E. coli and Klebsiella pneumoniae in Tanzania. </a:t>
            </a:r>
            <a:r>
              <a:rPr lang="en-US" sz="15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Eur</a:t>
            </a: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J Clin </a:t>
            </a:r>
            <a:r>
              <a:rPr lang="en-US" sz="15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Microbiol</a:t>
            </a: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Infect Dis 2016;35(3):443–449.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12. </a:t>
            </a:r>
            <a:r>
              <a:rPr lang="en-US" sz="1500" dirty="0" err="1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Moyo</a:t>
            </a: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SJ et al. Antimicrobial resistance profiles and genotypes of E. coli from UTIs in Tanzania. BMC Infect Dis 2022;22:186.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533"/>
              </a:spcAft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5021</Words>
  <Application>Microsoft Macintosh PowerPoint</Application>
  <PresentationFormat>Widescreen</PresentationFormat>
  <Paragraphs>491</Paragraphs>
  <Slides>51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Infections of the Kidney and Urinary Tract</vt:lpstr>
      <vt:lpstr>OUTLINE</vt:lpstr>
      <vt:lpstr>URINARY TRACT INFECTION</vt:lpstr>
      <vt:lpstr>...contd</vt:lpstr>
      <vt:lpstr>EPIDEMIOLOGY</vt:lpstr>
      <vt:lpstr>RISKS</vt:lpstr>
      <vt:lpstr>PowerPoint Presentation</vt:lpstr>
      <vt:lpstr>PowerPoint Presentation</vt:lpstr>
      <vt:lpstr>PATHOGENESIS OF UTIs</vt:lpstr>
      <vt:lpstr>PATHOGENESIS OF UTIs</vt:lpstr>
      <vt:lpstr>PowerPoint Presentation</vt:lpstr>
      <vt:lpstr>PowerPoint Presentation</vt:lpstr>
      <vt:lpstr>CLINICAL PRESENTATION</vt:lpstr>
      <vt:lpstr>CLINICAL PRESENTATION</vt:lpstr>
      <vt:lpstr>CLINICAL PRESENTATION</vt:lpstr>
      <vt:lpstr>…contd</vt:lpstr>
      <vt:lpstr>INVESTIGATION</vt:lpstr>
      <vt:lpstr>…contd.</vt:lpstr>
      <vt:lpstr>PowerPoint Presentation</vt:lpstr>
      <vt:lpstr>INDICATION OF URINE CULTURES</vt:lpstr>
      <vt:lpstr>DIAGNOSIS CONT…</vt:lpstr>
      <vt:lpstr>DIAGNOSIS</vt:lpstr>
      <vt:lpstr>…contd.</vt:lpstr>
      <vt:lpstr>PowerPoint Presentation</vt:lpstr>
      <vt:lpstr>DIFFERENTIAL DIAGNOSIS</vt:lpstr>
      <vt:lpstr>DIFFERENTIAL DIAGNOSIS</vt:lpstr>
      <vt:lpstr>TREATMENT</vt:lpstr>
      <vt:lpstr>ASYMPTOMATIC BACTERIURIA MANAGEMENT</vt:lpstr>
      <vt:lpstr>UNCOMPLICATED CYSTITIS MANAGEMENT</vt:lpstr>
      <vt:lpstr>PowerPoint Presentation</vt:lpstr>
      <vt:lpstr>COMPLICATED CYSTITIS MANAGEMENT</vt:lpstr>
      <vt:lpstr>PowerPoint Presentation</vt:lpstr>
      <vt:lpstr>PYELONEPHRITIS MANAGEMENT</vt:lpstr>
      <vt:lpstr>PYELONEPHRITIS MANAGEMENT</vt:lpstr>
      <vt:lpstr>PYELONEPHRITIS MANAGEMENT</vt:lpstr>
      <vt:lpstr>PYELONEPHRITIS MANAGEMENT</vt:lpstr>
      <vt:lpstr>PowerPoint Presentation</vt:lpstr>
      <vt:lpstr>RECURRENT UTI MANAGEMENT</vt:lpstr>
      <vt:lpstr>RECURRENT UTI MANAGEMENT</vt:lpstr>
      <vt:lpstr>CAUTI PREVENTION</vt:lpstr>
      <vt:lpstr>CAUTI PREVENTION</vt:lpstr>
      <vt:lpstr>CAUTI PREVENTION</vt:lpstr>
      <vt:lpstr>CAUTI PREVENTION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Evelyna Gasper</dc:creator>
  <cp:lastModifiedBy>clinicalrythm</cp:lastModifiedBy>
  <cp:revision>20</cp:revision>
  <dcterms:created xsi:type="dcterms:W3CDTF">2026-05-10T13:55:28Z</dcterms:created>
  <dcterms:modified xsi:type="dcterms:W3CDTF">2026-05-19T18:56:52Z</dcterms:modified>
</cp:coreProperties>
</file>