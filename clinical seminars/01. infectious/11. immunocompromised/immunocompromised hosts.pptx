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7"/>
  </p:notesMasterIdLst>
  <p:handoutMasterIdLst>
    <p:handoutMasterId r:id="rId68"/>
  </p:handoutMasterIdLst>
  <p:sldIdLst>
    <p:sldId id="256" r:id="rId2"/>
    <p:sldId id="348" r:id="rId3"/>
    <p:sldId id="257" r:id="rId4"/>
    <p:sldId id="375" r:id="rId5"/>
    <p:sldId id="376" r:id="rId6"/>
    <p:sldId id="369" r:id="rId7"/>
    <p:sldId id="258" r:id="rId8"/>
    <p:sldId id="260" r:id="rId9"/>
    <p:sldId id="266" r:id="rId10"/>
    <p:sldId id="261" r:id="rId11"/>
    <p:sldId id="262" r:id="rId12"/>
    <p:sldId id="263" r:id="rId13"/>
    <p:sldId id="370" r:id="rId14"/>
    <p:sldId id="371" r:id="rId15"/>
    <p:sldId id="372" r:id="rId16"/>
    <p:sldId id="373" r:id="rId17"/>
    <p:sldId id="264" r:id="rId18"/>
    <p:sldId id="274" r:id="rId19"/>
    <p:sldId id="275" r:id="rId20"/>
    <p:sldId id="339" r:id="rId21"/>
    <p:sldId id="342" r:id="rId22"/>
    <p:sldId id="349" r:id="rId23"/>
    <p:sldId id="343" r:id="rId24"/>
    <p:sldId id="276" r:id="rId25"/>
    <p:sldId id="328" r:id="rId26"/>
    <p:sldId id="278" r:id="rId27"/>
    <p:sldId id="279" r:id="rId28"/>
    <p:sldId id="280" r:id="rId29"/>
    <p:sldId id="281" r:id="rId30"/>
    <p:sldId id="351" r:id="rId31"/>
    <p:sldId id="283" r:id="rId32"/>
    <p:sldId id="286" r:id="rId33"/>
    <p:sldId id="356" r:id="rId34"/>
    <p:sldId id="357" r:id="rId35"/>
    <p:sldId id="287" r:id="rId36"/>
    <p:sldId id="288" r:id="rId37"/>
    <p:sldId id="289" r:id="rId38"/>
    <p:sldId id="291" r:id="rId39"/>
    <p:sldId id="354" r:id="rId40"/>
    <p:sldId id="355" r:id="rId41"/>
    <p:sldId id="304" r:id="rId42"/>
    <p:sldId id="305" r:id="rId43"/>
    <p:sldId id="306" r:id="rId44"/>
    <p:sldId id="308" r:id="rId45"/>
    <p:sldId id="309" r:id="rId46"/>
    <p:sldId id="310" r:id="rId47"/>
    <p:sldId id="312" r:id="rId48"/>
    <p:sldId id="368" r:id="rId49"/>
    <p:sldId id="315" r:id="rId50"/>
    <p:sldId id="316" r:id="rId51"/>
    <p:sldId id="318" r:id="rId52"/>
    <p:sldId id="321" r:id="rId53"/>
    <p:sldId id="378" r:id="rId54"/>
    <p:sldId id="379" r:id="rId55"/>
    <p:sldId id="380" r:id="rId56"/>
    <p:sldId id="381" r:id="rId57"/>
    <p:sldId id="382" r:id="rId58"/>
    <p:sldId id="323" r:id="rId59"/>
    <p:sldId id="324" r:id="rId60"/>
    <p:sldId id="325" r:id="rId61"/>
    <p:sldId id="347" r:id="rId62"/>
    <p:sldId id="374" r:id="rId63"/>
    <p:sldId id="327" r:id="rId64"/>
    <p:sldId id="350" r:id="rId65"/>
    <p:sldId id="377" r:id="rId66"/>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28C"/>
    <a:srgbClr val="1C7F5E"/>
    <a:srgbClr val="E6DF13"/>
    <a:srgbClr val="E400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825" autoAdjust="0"/>
    <p:restoredTop sz="87211" autoAdjust="0"/>
  </p:normalViewPr>
  <p:slideViewPr>
    <p:cSldViewPr snapToGrid="0" snapToObjects="1" showGuides="1">
      <p:cViewPr>
        <p:scale>
          <a:sx n="59" d="100"/>
          <a:sy n="59" d="100"/>
        </p:scale>
        <p:origin x="534" y="84"/>
      </p:cViewPr>
      <p:guideLst>
        <p:guide orient="horz" pos="2160"/>
        <p:guide pos="3840"/>
      </p:guideLst>
    </p:cSldViewPr>
  </p:slideViewPr>
  <p:notesTextViewPr>
    <p:cViewPr>
      <p:scale>
        <a:sx n="1" d="1"/>
        <a:sy n="1" d="1"/>
      </p:scale>
      <p:origin x="0" y="0"/>
    </p:cViewPr>
  </p:notesTextViewPr>
  <p:notesViewPr>
    <p:cSldViewPr snapToGrid="0" snapToObjects="1">
      <p:cViewPr varScale="1">
        <p:scale>
          <a:sx n="57" d="100"/>
          <a:sy n="57" d="100"/>
        </p:scale>
        <p:origin x="2808" y="4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ph jumanne" userId="b594b693f1aa1ba3" providerId="LiveId" clId="{FC4EB0AE-61DF-43FC-A92F-DD593C65D8B5}"/>
    <pc:docChg chg="addSld delSld modSld sldOrd">
      <pc:chgData name="joseph jumanne" userId="b594b693f1aa1ba3" providerId="LiveId" clId="{FC4EB0AE-61DF-43FC-A92F-DD593C65D8B5}" dt="2025-01-28T19:27:50.716" v="13" actId="2696"/>
      <pc:docMkLst>
        <pc:docMk/>
      </pc:docMkLst>
      <pc:sldChg chg="del">
        <pc:chgData name="joseph jumanne" userId="b594b693f1aa1ba3" providerId="LiveId" clId="{FC4EB0AE-61DF-43FC-A92F-DD593C65D8B5}" dt="2025-01-28T19:27:39.630" v="11" actId="2696"/>
        <pc:sldMkLst>
          <pc:docMk/>
          <pc:sldMk cId="0" sldId="440"/>
        </pc:sldMkLst>
      </pc:sldChg>
      <pc:sldChg chg="modSp del mod">
        <pc:chgData name="joseph jumanne" userId="b594b693f1aa1ba3" providerId="LiveId" clId="{FC4EB0AE-61DF-43FC-A92F-DD593C65D8B5}" dt="2025-01-28T19:27:43.974" v="12" actId="2696"/>
        <pc:sldMkLst>
          <pc:docMk/>
          <pc:sldMk cId="0" sldId="441"/>
        </pc:sldMkLst>
        <pc:spChg chg="mod">
          <ac:chgData name="joseph jumanne" userId="b594b693f1aa1ba3" providerId="LiveId" clId="{FC4EB0AE-61DF-43FC-A92F-DD593C65D8B5}" dt="2025-01-28T19:24:14.633" v="1" actId="20577"/>
          <ac:spMkLst>
            <pc:docMk/>
            <pc:sldMk cId="0" sldId="441"/>
            <ac:spMk id="3" creationId="{00000000-0000-0000-0000-000000000000}"/>
          </ac:spMkLst>
        </pc:spChg>
      </pc:sldChg>
      <pc:sldChg chg="del">
        <pc:chgData name="joseph jumanne" userId="b594b693f1aa1ba3" providerId="LiveId" clId="{FC4EB0AE-61DF-43FC-A92F-DD593C65D8B5}" dt="2025-01-28T19:25:50.146" v="2" actId="2696"/>
        <pc:sldMkLst>
          <pc:docMk/>
          <pc:sldMk cId="0" sldId="442"/>
        </pc:sldMkLst>
      </pc:sldChg>
      <pc:sldChg chg="del">
        <pc:chgData name="joseph jumanne" userId="b594b693f1aa1ba3" providerId="LiveId" clId="{FC4EB0AE-61DF-43FC-A92F-DD593C65D8B5}" dt="2025-01-28T19:25:50.146" v="2" actId="2696"/>
        <pc:sldMkLst>
          <pc:docMk/>
          <pc:sldMk cId="0" sldId="443"/>
        </pc:sldMkLst>
      </pc:sldChg>
      <pc:sldChg chg="del">
        <pc:chgData name="joseph jumanne" userId="b594b693f1aa1ba3" providerId="LiveId" clId="{FC4EB0AE-61DF-43FC-A92F-DD593C65D8B5}" dt="2025-01-28T19:25:50.146" v="2" actId="2696"/>
        <pc:sldMkLst>
          <pc:docMk/>
          <pc:sldMk cId="0" sldId="444"/>
        </pc:sldMkLst>
      </pc:sldChg>
      <pc:sldChg chg="del">
        <pc:chgData name="joseph jumanne" userId="b594b693f1aa1ba3" providerId="LiveId" clId="{FC4EB0AE-61DF-43FC-A92F-DD593C65D8B5}" dt="2025-01-28T19:25:50.146" v="2" actId="2696"/>
        <pc:sldMkLst>
          <pc:docMk/>
          <pc:sldMk cId="0" sldId="445"/>
        </pc:sldMkLst>
      </pc:sldChg>
      <pc:sldChg chg="del">
        <pc:chgData name="joseph jumanne" userId="b594b693f1aa1ba3" providerId="LiveId" clId="{FC4EB0AE-61DF-43FC-A92F-DD593C65D8B5}" dt="2025-01-28T19:25:50.146" v="2" actId="2696"/>
        <pc:sldMkLst>
          <pc:docMk/>
          <pc:sldMk cId="0" sldId="446"/>
        </pc:sldMkLst>
      </pc:sldChg>
      <pc:sldChg chg="del">
        <pc:chgData name="joseph jumanne" userId="b594b693f1aa1ba3" providerId="LiveId" clId="{FC4EB0AE-61DF-43FC-A92F-DD593C65D8B5}" dt="2025-01-28T19:25:50.146" v="2" actId="2696"/>
        <pc:sldMkLst>
          <pc:docMk/>
          <pc:sldMk cId="0" sldId="447"/>
        </pc:sldMkLst>
      </pc:sldChg>
      <pc:sldChg chg="del">
        <pc:chgData name="joseph jumanne" userId="b594b693f1aa1ba3" providerId="LiveId" clId="{FC4EB0AE-61DF-43FC-A92F-DD593C65D8B5}" dt="2025-01-28T19:25:50.146" v="2" actId="2696"/>
        <pc:sldMkLst>
          <pc:docMk/>
          <pc:sldMk cId="0" sldId="448"/>
        </pc:sldMkLst>
      </pc:sldChg>
      <pc:sldChg chg="del">
        <pc:chgData name="joseph jumanne" userId="b594b693f1aa1ba3" providerId="LiveId" clId="{FC4EB0AE-61DF-43FC-A92F-DD593C65D8B5}" dt="2025-01-28T19:25:50.146" v="2" actId="2696"/>
        <pc:sldMkLst>
          <pc:docMk/>
          <pc:sldMk cId="0" sldId="449"/>
        </pc:sldMkLst>
      </pc:sldChg>
      <pc:sldChg chg="del">
        <pc:chgData name="joseph jumanne" userId="b594b693f1aa1ba3" providerId="LiveId" clId="{FC4EB0AE-61DF-43FC-A92F-DD593C65D8B5}" dt="2025-01-28T19:25:50.146" v="2" actId="2696"/>
        <pc:sldMkLst>
          <pc:docMk/>
          <pc:sldMk cId="0" sldId="450"/>
        </pc:sldMkLst>
      </pc:sldChg>
      <pc:sldChg chg="del">
        <pc:chgData name="joseph jumanne" userId="b594b693f1aa1ba3" providerId="LiveId" clId="{FC4EB0AE-61DF-43FC-A92F-DD593C65D8B5}" dt="2025-01-28T19:25:50.146" v="2" actId="2696"/>
        <pc:sldMkLst>
          <pc:docMk/>
          <pc:sldMk cId="0" sldId="451"/>
        </pc:sldMkLst>
      </pc:sldChg>
      <pc:sldChg chg="del">
        <pc:chgData name="joseph jumanne" userId="b594b693f1aa1ba3" providerId="LiveId" clId="{FC4EB0AE-61DF-43FC-A92F-DD593C65D8B5}" dt="2025-01-28T19:25:50.146" v="2" actId="2696"/>
        <pc:sldMkLst>
          <pc:docMk/>
          <pc:sldMk cId="0" sldId="452"/>
        </pc:sldMkLst>
      </pc:sldChg>
      <pc:sldChg chg="del">
        <pc:chgData name="joseph jumanne" userId="b594b693f1aa1ba3" providerId="LiveId" clId="{FC4EB0AE-61DF-43FC-A92F-DD593C65D8B5}" dt="2025-01-28T19:25:50.146" v="2" actId="2696"/>
        <pc:sldMkLst>
          <pc:docMk/>
          <pc:sldMk cId="0" sldId="453"/>
        </pc:sldMkLst>
      </pc:sldChg>
      <pc:sldChg chg="del">
        <pc:chgData name="joseph jumanne" userId="b594b693f1aa1ba3" providerId="LiveId" clId="{FC4EB0AE-61DF-43FC-A92F-DD593C65D8B5}" dt="2025-01-28T19:25:50.146" v="2" actId="2696"/>
        <pc:sldMkLst>
          <pc:docMk/>
          <pc:sldMk cId="0" sldId="454"/>
        </pc:sldMkLst>
      </pc:sldChg>
      <pc:sldChg chg="del">
        <pc:chgData name="joseph jumanne" userId="b594b693f1aa1ba3" providerId="LiveId" clId="{FC4EB0AE-61DF-43FC-A92F-DD593C65D8B5}" dt="2025-01-28T19:25:50.146" v="2" actId="2696"/>
        <pc:sldMkLst>
          <pc:docMk/>
          <pc:sldMk cId="0" sldId="455"/>
        </pc:sldMkLst>
      </pc:sldChg>
      <pc:sldChg chg="del">
        <pc:chgData name="joseph jumanne" userId="b594b693f1aa1ba3" providerId="LiveId" clId="{FC4EB0AE-61DF-43FC-A92F-DD593C65D8B5}" dt="2025-01-28T19:25:50.146" v="2" actId="2696"/>
        <pc:sldMkLst>
          <pc:docMk/>
          <pc:sldMk cId="0" sldId="456"/>
        </pc:sldMkLst>
      </pc:sldChg>
      <pc:sldChg chg="del">
        <pc:chgData name="joseph jumanne" userId="b594b693f1aa1ba3" providerId="LiveId" clId="{FC4EB0AE-61DF-43FC-A92F-DD593C65D8B5}" dt="2025-01-28T19:25:50.146" v="2" actId="2696"/>
        <pc:sldMkLst>
          <pc:docMk/>
          <pc:sldMk cId="0" sldId="457"/>
        </pc:sldMkLst>
      </pc:sldChg>
      <pc:sldChg chg="del">
        <pc:chgData name="joseph jumanne" userId="b594b693f1aa1ba3" providerId="LiveId" clId="{FC4EB0AE-61DF-43FC-A92F-DD593C65D8B5}" dt="2025-01-28T19:25:50.146" v="2" actId="2696"/>
        <pc:sldMkLst>
          <pc:docMk/>
          <pc:sldMk cId="0" sldId="458"/>
        </pc:sldMkLst>
      </pc:sldChg>
      <pc:sldChg chg="del">
        <pc:chgData name="joseph jumanne" userId="b594b693f1aa1ba3" providerId="LiveId" clId="{FC4EB0AE-61DF-43FC-A92F-DD593C65D8B5}" dt="2025-01-28T19:25:50.146" v="2" actId="2696"/>
        <pc:sldMkLst>
          <pc:docMk/>
          <pc:sldMk cId="0" sldId="459"/>
        </pc:sldMkLst>
      </pc:sldChg>
      <pc:sldChg chg="del">
        <pc:chgData name="joseph jumanne" userId="b594b693f1aa1ba3" providerId="LiveId" clId="{FC4EB0AE-61DF-43FC-A92F-DD593C65D8B5}" dt="2025-01-28T19:25:50.146" v="2" actId="2696"/>
        <pc:sldMkLst>
          <pc:docMk/>
          <pc:sldMk cId="0" sldId="460"/>
        </pc:sldMkLst>
      </pc:sldChg>
      <pc:sldChg chg="del">
        <pc:chgData name="joseph jumanne" userId="b594b693f1aa1ba3" providerId="LiveId" clId="{FC4EB0AE-61DF-43FC-A92F-DD593C65D8B5}" dt="2025-01-28T19:25:50.146" v="2" actId="2696"/>
        <pc:sldMkLst>
          <pc:docMk/>
          <pc:sldMk cId="0" sldId="461"/>
        </pc:sldMkLst>
      </pc:sldChg>
      <pc:sldChg chg="del">
        <pc:chgData name="joseph jumanne" userId="b594b693f1aa1ba3" providerId="LiveId" clId="{FC4EB0AE-61DF-43FC-A92F-DD593C65D8B5}" dt="2025-01-28T19:25:50.146" v="2" actId="2696"/>
        <pc:sldMkLst>
          <pc:docMk/>
          <pc:sldMk cId="0" sldId="462"/>
        </pc:sldMkLst>
      </pc:sldChg>
      <pc:sldChg chg="del">
        <pc:chgData name="joseph jumanne" userId="b594b693f1aa1ba3" providerId="LiveId" clId="{FC4EB0AE-61DF-43FC-A92F-DD593C65D8B5}" dt="2025-01-28T19:25:50.146" v="2" actId="2696"/>
        <pc:sldMkLst>
          <pc:docMk/>
          <pc:sldMk cId="0" sldId="463"/>
        </pc:sldMkLst>
      </pc:sldChg>
      <pc:sldChg chg="del">
        <pc:chgData name="joseph jumanne" userId="b594b693f1aa1ba3" providerId="LiveId" clId="{FC4EB0AE-61DF-43FC-A92F-DD593C65D8B5}" dt="2025-01-28T19:25:50.146" v="2" actId="2696"/>
        <pc:sldMkLst>
          <pc:docMk/>
          <pc:sldMk cId="0" sldId="464"/>
        </pc:sldMkLst>
      </pc:sldChg>
      <pc:sldChg chg="del">
        <pc:chgData name="joseph jumanne" userId="b594b693f1aa1ba3" providerId="LiveId" clId="{FC4EB0AE-61DF-43FC-A92F-DD593C65D8B5}" dt="2025-01-28T19:25:50.146" v="2" actId="2696"/>
        <pc:sldMkLst>
          <pc:docMk/>
          <pc:sldMk cId="0" sldId="465"/>
        </pc:sldMkLst>
      </pc:sldChg>
      <pc:sldChg chg="del">
        <pc:chgData name="joseph jumanne" userId="b594b693f1aa1ba3" providerId="LiveId" clId="{FC4EB0AE-61DF-43FC-A92F-DD593C65D8B5}" dt="2025-01-28T19:25:50.146" v="2" actId="2696"/>
        <pc:sldMkLst>
          <pc:docMk/>
          <pc:sldMk cId="0" sldId="466"/>
        </pc:sldMkLst>
      </pc:sldChg>
      <pc:sldChg chg="del">
        <pc:chgData name="joseph jumanne" userId="b594b693f1aa1ba3" providerId="LiveId" clId="{FC4EB0AE-61DF-43FC-A92F-DD593C65D8B5}" dt="2025-01-28T19:25:50.146" v="2" actId="2696"/>
        <pc:sldMkLst>
          <pc:docMk/>
          <pc:sldMk cId="0" sldId="467"/>
        </pc:sldMkLst>
      </pc:sldChg>
      <pc:sldChg chg="del">
        <pc:chgData name="joseph jumanne" userId="b594b693f1aa1ba3" providerId="LiveId" clId="{FC4EB0AE-61DF-43FC-A92F-DD593C65D8B5}" dt="2025-01-28T19:25:50.146" v="2" actId="2696"/>
        <pc:sldMkLst>
          <pc:docMk/>
          <pc:sldMk cId="0" sldId="468"/>
        </pc:sldMkLst>
      </pc:sldChg>
      <pc:sldChg chg="del">
        <pc:chgData name="joseph jumanne" userId="b594b693f1aa1ba3" providerId="LiveId" clId="{FC4EB0AE-61DF-43FC-A92F-DD593C65D8B5}" dt="2025-01-28T19:25:50.146" v="2" actId="2696"/>
        <pc:sldMkLst>
          <pc:docMk/>
          <pc:sldMk cId="0" sldId="469"/>
        </pc:sldMkLst>
      </pc:sldChg>
      <pc:sldChg chg="del">
        <pc:chgData name="joseph jumanne" userId="b594b693f1aa1ba3" providerId="LiveId" clId="{FC4EB0AE-61DF-43FC-A92F-DD593C65D8B5}" dt="2025-01-28T19:25:50.146" v="2" actId="2696"/>
        <pc:sldMkLst>
          <pc:docMk/>
          <pc:sldMk cId="0" sldId="470"/>
        </pc:sldMkLst>
      </pc:sldChg>
      <pc:sldChg chg="del">
        <pc:chgData name="joseph jumanne" userId="b594b693f1aa1ba3" providerId="LiveId" clId="{FC4EB0AE-61DF-43FC-A92F-DD593C65D8B5}" dt="2025-01-28T19:25:50.146" v="2" actId="2696"/>
        <pc:sldMkLst>
          <pc:docMk/>
          <pc:sldMk cId="0" sldId="471"/>
        </pc:sldMkLst>
      </pc:sldChg>
      <pc:sldChg chg="del">
        <pc:chgData name="joseph jumanne" userId="b594b693f1aa1ba3" providerId="LiveId" clId="{FC4EB0AE-61DF-43FC-A92F-DD593C65D8B5}" dt="2025-01-28T19:25:50.146" v="2" actId="2696"/>
        <pc:sldMkLst>
          <pc:docMk/>
          <pc:sldMk cId="0" sldId="472"/>
        </pc:sldMkLst>
      </pc:sldChg>
      <pc:sldChg chg="del">
        <pc:chgData name="joseph jumanne" userId="b594b693f1aa1ba3" providerId="LiveId" clId="{FC4EB0AE-61DF-43FC-A92F-DD593C65D8B5}" dt="2025-01-28T19:25:50.146" v="2" actId="2696"/>
        <pc:sldMkLst>
          <pc:docMk/>
          <pc:sldMk cId="0" sldId="473"/>
        </pc:sldMkLst>
      </pc:sldChg>
      <pc:sldChg chg="del">
        <pc:chgData name="joseph jumanne" userId="b594b693f1aa1ba3" providerId="LiveId" clId="{FC4EB0AE-61DF-43FC-A92F-DD593C65D8B5}" dt="2025-01-28T19:25:50.146" v="2" actId="2696"/>
        <pc:sldMkLst>
          <pc:docMk/>
          <pc:sldMk cId="0" sldId="474"/>
        </pc:sldMkLst>
      </pc:sldChg>
      <pc:sldChg chg="del">
        <pc:chgData name="joseph jumanne" userId="b594b693f1aa1ba3" providerId="LiveId" clId="{FC4EB0AE-61DF-43FC-A92F-DD593C65D8B5}" dt="2025-01-28T19:25:50.146" v="2" actId="2696"/>
        <pc:sldMkLst>
          <pc:docMk/>
          <pc:sldMk cId="0" sldId="475"/>
        </pc:sldMkLst>
      </pc:sldChg>
      <pc:sldChg chg="del">
        <pc:chgData name="joseph jumanne" userId="b594b693f1aa1ba3" providerId="LiveId" clId="{FC4EB0AE-61DF-43FC-A92F-DD593C65D8B5}" dt="2025-01-28T19:25:50.146" v="2" actId="2696"/>
        <pc:sldMkLst>
          <pc:docMk/>
          <pc:sldMk cId="0" sldId="476"/>
        </pc:sldMkLst>
      </pc:sldChg>
      <pc:sldChg chg="del">
        <pc:chgData name="joseph jumanne" userId="b594b693f1aa1ba3" providerId="LiveId" clId="{FC4EB0AE-61DF-43FC-A92F-DD593C65D8B5}" dt="2025-01-28T19:25:50.146" v="2" actId="2696"/>
        <pc:sldMkLst>
          <pc:docMk/>
          <pc:sldMk cId="0" sldId="477"/>
        </pc:sldMkLst>
      </pc:sldChg>
      <pc:sldChg chg="del">
        <pc:chgData name="joseph jumanne" userId="b594b693f1aa1ba3" providerId="LiveId" clId="{FC4EB0AE-61DF-43FC-A92F-DD593C65D8B5}" dt="2025-01-28T19:25:50.146" v="2" actId="2696"/>
        <pc:sldMkLst>
          <pc:docMk/>
          <pc:sldMk cId="0" sldId="478"/>
        </pc:sldMkLst>
      </pc:sldChg>
      <pc:sldChg chg="del">
        <pc:chgData name="joseph jumanne" userId="b594b693f1aa1ba3" providerId="LiveId" clId="{FC4EB0AE-61DF-43FC-A92F-DD593C65D8B5}" dt="2025-01-28T19:25:50.146" v="2" actId="2696"/>
        <pc:sldMkLst>
          <pc:docMk/>
          <pc:sldMk cId="0" sldId="479"/>
        </pc:sldMkLst>
      </pc:sldChg>
      <pc:sldChg chg="del">
        <pc:chgData name="joseph jumanne" userId="b594b693f1aa1ba3" providerId="LiveId" clId="{FC4EB0AE-61DF-43FC-A92F-DD593C65D8B5}" dt="2025-01-28T19:25:50.146" v="2" actId="2696"/>
        <pc:sldMkLst>
          <pc:docMk/>
          <pc:sldMk cId="0" sldId="480"/>
        </pc:sldMkLst>
      </pc:sldChg>
      <pc:sldChg chg="del">
        <pc:chgData name="joseph jumanne" userId="b594b693f1aa1ba3" providerId="LiveId" clId="{FC4EB0AE-61DF-43FC-A92F-DD593C65D8B5}" dt="2025-01-28T19:25:50.146" v="2" actId="2696"/>
        <pc:sldMkLst>
          <pc:docMk/>
          <pc:sldMk cId="0" sldId="481"/>
        </pc:sldMkLst>
      </pc:sldChg>
      <pc:sldChg chg="del">
        <pc:chgData name="joseph jumanne" userId="b594b693f1aa1ba3" providerId="LiveId" clId="{FC4EB0AE-61DF-43FC-A92F-DD593C65D8B5}" dt="2025-01-28T19:25:50.146" v="2" actId="2696"/>
        <pc:sldMkLst>
          <pc:docMk/>
          <pc:sldMk cId="0" sldId="482"/>
        </pc:sldMkLst>
      </pc:sldChg>
      <pc:sldChg chg="del">
        <pc:chgData name="joseph jumanne" userId="b594b693f1aa1ba3" providerId="LiveId" clId="{FC4EB0AE-61DF-43FC-A92F-DD593C65D8B5}" dt="2025-01-28T19:25:50.146" v="2" actId="2696"/>
        <pc:sldMkLst>
          <pc:docMk/>
          <pc:sldMk cId="0" sldId="484"/>
        </pc:sldMkLst>
      </pc:sldChg>
      <pc:sldChg chg="del">
        <pc:chgData name="joseph jumanne" userId="b594b693f1aa1ba3" providerId="LiveId" clId="{FC4EB0AE-61DF-43FC-A92F-DD593C65D8B5}" dt="2025-01-28T19:25:50.146" v="2" actId="2696"/>
        <pc:sldMkLst>
          <pc:docMk/>
          <pc:sldMk cId="0" sldId="485"/>
        </pc:sldMkLst>
      </pc:sldChg>
      <pc:sldChg chg="del">
        <pc:chgData name="joseph jumanne" userId="b594b693f1aa1ba3" providerId="LiveId" clId="{FC4EB0AE-61DF-43FC-A92F-DD593C65D8B5}" dt="2025-01-28T19:25:50.146" v="2" actId="2696"/>
        <pc:sldMkLst>
          <pc:docMk/>
          <pc:sldMk cId="0" sldId="486"/>
        </pc:sldMkLst>
      </pc:sldChg>
      <pc:sldChg chg="del">
        <pc:chgData name="joseph jumanne" userId="b594b693f1aa1ba3" providerId="LiveId" clId="{FC4EB0AE-61DF-43FC-A92F-DD593C65D8B5}" dt="2025-01-28T19:25:50.146" v="2" actId="2696"/>
        <pc:sldMkLst>
          <pc:docMk/>
          <pc:sldMk cId="0" sldId="487"/>
        </pc:sldMkLst>
      </pc:sldChg>
      <pc:sldChg chg="del">
        <pc:chgData name="joseph jumanne" userId="b594b693f1aa1ba3" providerId="LiveId" clId="{FC4EB0AE-61DF-43FC-A92F-DD593C65D8B5}" dt="2025-01-28T19:25:50.146" v="2" actId="2696"/>
        <pc:sldMkLst>
          <pc:docMk/>
          <pc:sldMk cId="0" sldId="488"/>
        </pc:sldMkLst>
      </pc:sldChg>
      <pc:sldChg chg="del">
        <pc:chgData name="joseph jumanne" userId="b594b693f1aa1ba3" providerId="LiveId" clId="{FC4EB0AE-61DF-43FC-A92F-DD593C65D8B5}" dt="2025-01-28T19:25:50.146" v="2" actId="2696"/>
        <pc:sldMkLst>
          <pc:docMk/>
          <pc:sldMk cId="0" sldId="489"/>
        </pc:sldMkLst>
      </pc:sldChg>
      <pc:sldChg chg="del">
        <pc:chgData name="joseph jumanne" userId="b594b693f1aa1ba3" providerId="LiveId" clId="{FC4EB0AE-61DF-43FC-A92F-DD593C65D8B5}" dt="2025-01-28T19:25:50.146" v="2" actId="2696"/>
        <pc:sldMkLst>
          <pc:docMk/>
          <pc:sldMk cId="0" sldId="490"/>
        </pc:sldMkLst>
      </pc:sldChg>
      <pc:sldChg chg="del">
        <pc:chgData name="joseph jumanne" userId="b594b693f1aa1ba3" providerId="LiveId" clId="{FC4EB0AE-61DF-43FC-A92F-DD593C65D8B5}" dt="2025-01-28T19:27:50.716" v="13" actId="2696"/>
        <pc:sldMkLst>
          <pc:docMk/>
          <pc:sldMk cId="0" sldId="493"/>
        </pc:sldMkLst>
      </pc:sldChg>
      <pc:sldChg chg="del">
        <pc:chgData name="joseph jumanne" userId="b594b693f1aa1ba3" providerId="LiveId" clId="{FC4EB0AE-61DF-43FC-A92F-DD593C65D8B5}" dt="2025-01-28T19:25:50.146" v="2" actId="2696"/>
        <pc:sldMkLst>
          <pc:docMk/>
          <pc:sldMk cId="0" sldId="494"/>
        </pc:sldMkLst>
      </pc:sldChg>
      <pc:sldChg chg="new">
        <pc:chgData name="joseph jumanne" userId="b594b693f1aa1ba3" providerId="LiveId" clId="{FC4EB0AE-61DF-43FC-A92F-DD593C65D8B5}" dt="2025-01-28T19:26:13.840" v="4" actId="680"/>
        <pc:sldMkLst>
          <pc:docMk/>
          <pc:sldMk cId="1446784214" sldId="494"/>
        </pc:sldMkLst>
      </pc:sldChg>
      <pc:sldChg chg="del">
        <pc:chgData name="joseph jumanne" userId="b594b693f1aa1ba3" providerId="LiveId" clId="{FC4EB0AE-61DF-43FC-A92F-DD593C65D8B5}" dt="2025-01-28T19:25:50.146" v="2" actId="2696"/>
        <pc:sldMkLst>
          <pc:docMk/>
          <pc:sldMk cId="0" sldId="495"/>
        </pc:sldMkLst>
      </pc:sldChg>
      <pc:sldChg chg="new">
        <pc:chgData name="joseph jumanne" userId="b594b693f1aa1ba3" providerId="LiveId" clId="{FC4EB0AE-61DF-43FC-A92F-DD593C65D8B5}" dt="2025-01-28T19:26:18.123" v="5" actId="680"/>
        <pc:sldMkLst>
          <pc:docMk/>
          <pc:sldMk cId="1229635104" sldId="495"/>
        </pc:sldMkLst>
      </pc:sldChg>
      <pc:sldChg chg="del">
        <pc:chgData name="joseph jumanne" userId="b594b693f1aa1ba3" providerId="LiveId" clId="{FC4EB0AE-61DF-43FC-A92F-DD593C65D8B5}" dt="2025-01-28T19:25:50.146" v="2" actId="2696"/>
        <pc:sldMkLst>
          <pc:docMk/>
          <pc:sldMk cId="0" sldId="496"/>
        </pc:sldMkLst>
      </pc:sldChg>
      <pc:sldChg chg="new">
        <pc:chgData name="joseph jumanne" userId="b594b693f1aa1ba3" providerId="LiveId" clId="{FC4EB0AE-61DF-43FC-A92F-DD593C65D8B5}" dt="2025-01-28T19:26:19.671" v="6" actId="680"/>
        <pc:sldMkLst>
          <pc:docMk/>
          <pc:sldMk cId="3323946836" sldId="496"/>
        </pc:sldMkLst>
      </pc:sldChg>
      <pc:sldChg chg="del">
        <pc:chgData name="joseph jumanne" userId="b594b693f1aa1ba3" providerId="LiveId" clId="{FC4EB0AE-61DF-43FC-A92F-DD593C65D8B5}" dt="2025-01-28T19:25:50.146" v="2" actId="2696"/>
        <pc:sldMkLst>
          <pc:docMk/>
          <pc:sldMk cId="0" sldId="497"/>
        </pc:sldMkLst>
      </pc:sldChg>
      <pc:sldChg chg="new">
        <pc:chgData name="joseph jumanne" userId="b594b693f1aa1ba3" providerId="LiveId" clId="{FC4EB0AE-61DF-43FC-A92F-DD593C65D8B5}" dt="2025-01-28T19:26:36.398" v="7" actId="680"/>
        <pc:sldMkLst>
          <pc:docMk/>
          <pc:sldMk cId="2905489316" sldId="497"/>
        </pc:sldMkLst>
      </pc:sldChg>
      <pc:sldChg chg="del">
        <pc:chgData name="joseph jumanne" userId="b594b693f1aa1ba3" providerId="LiveId" clId="{FC4EB0AE-61DF-43FC-A92F-DD593C65D8B5}" dt="2025-01-28T19:25:50.146" v="2" actId="2696"/>
        <pc:sldMkLst>
          <pc:docMk/>
          <pc:sldMk cId="0" sldId="498"/>
        </pc:sldMkLst>
      </pc:sldChg>
      <pc:sldChg chg="new ord">
        <pc:chgData name="joseph jumanne" userId="b594b693f1aa1ba3" providerId="LiveId" clId="{FC4EB0AE-61DF-43FC-A92F-DD593C65D8B5}" dt="2025-01-28T19:27:30.409" v="10"/>
        <pc:sldMkLst>
          <pc:docMk/>
          <pc:sldMk cId="3474785746" sldId="498"/>
        </pc:sldMkLst>
      </pc:sldChg>
      <pc:sldChg chg="del">
        <pc:chgData name="joseph jumanne" userId="b594b693f1aa1ba3" providerId="LiveId" clId="{FC4EB0AE-61DF-43FC-A92F-DD593C65D8B5}" dt="2025-01-28T19:25:50.146" v="2" actId="2696"/>
        <pc:sldMkLst>
          <pc:docMk/>
          <pc:sldMk cId="0" sldId="499"/>
        </pc:sldMkLst>
      </pc:sldChg>
      <pc:sldChg chg="del">
        <pc:chgData name="joseph jumanne" userId="b594b693f1aa1ba3" providerId="LiveId" clId="{FC4EB0AE-61DF-43FC-A92F-DD593C65D8B5}" dt="2025-01-28T19:25:50.146" v="2" actId="2696"/>
        <pc:sldMkLst>
          <pc:docMk/>
          <pc:sldMk cId="0" sldId="500"/>
        </pc:sldMkLst>
      </pc:sldChg>
      <pc:sldChg chg="del">
        <pc:chgData name="joseph jumanne" userId="b594b693f1aa1ba3" providerId="LiveId" clId="{FC4EB0AE-61DF-43FC-A92F-DD593C65D8B5}" dt="2025-01-28T19:25:50.146" v="2" actId="2696"/>
        <pc:sldMkLst>
          <pc:docMk/>
          <pc:sldMk cId="0" sldId="501"/>
        </pc:sldMkLst>
      </pc:sldChg>
      <pc:sldChg chg="del">
        <pc:chgData name="joseph jumanne" userId="b594b693f1aa1ba3" providerId="LiveId" clId="{FC4EB0AE-61DF-43FC-A92F-DD593C65D8B5}" dt="2025-01-28T19:25:50.146" v="2" actId="2696"/>
        <pc:sldMkLst>
          <pc:docMk/>
          <pc:sldMk cId="0" sldId="502"/>
        </pc:sldMkLst>
      </pc:sldChg>
      <pc:sldChg chg="del">
        <pc:chgData name="joseph jumanne" userId="b594b693f1aa1ba3" providerId="LiveId" clId="{FC4EB0AE-61DF-43FC-A92F-DD593C65D8B5}" dt="2025-01-28T19:25:50.146" v="2" actId="2696"/>
        <pc:sldMkLst>
          <pc:docMk/>
          <pc:sldMk cId="0" sldId="503"/>
        </pc:sldMkLst>
      </pc:sldChg>
      <pc:sldChg chg="del">
        <pc:chgData name="joseph jumanne" userId="b594b693f1aa1ba3" providerId="LiveId" clId="{FC4EB0AE-61DF-43FC-A92F-DD593C65D8B5}" dt="2025-01-28T19:25:50.146" v="2" actId="2696"/>
        <pc:sldMkLst>
          <pc:docMk/>
          <pc:sldMk cId="0" sldId="504"/>
        </pc:sldMkLst>
      </pc:sldChg>
      <pc:sldChg chg="del">
        <pc:chgData name="joseph jumanne" userId="b594b693f1aa1ba3" providerId="LiveId" clId="{FC4EB0AE-61DF-43FC-A92F-DD593C65D8B5}" dt="2025-01-28T19:25:50.146" v="2" actId="2696"/>
        <pc:sldMkLst>
          <pc:docMk/>
          <pc:sldMk cId="0" sldId="505"/>
        </pc:sldMkLst>
      </pc:sldChg>
      <pc:sldChg chg="del">
        <pc:chgData name="joseph jumanne" userId="b594b693f1aa1ba3" providerId="LiveId" clId="{FC4EB0AE-61DF-43FC-A92F-DD593C65D8B5}" dt="2025-01-28T19:25:50.146" v="2" actId="2696"/>
        <pc:sldMkLst>
          <pc:docMk/>
          <pc:sldMk cId="0" sldId="506"/>
        </pc:sldMkLst>
      </pc:sldChg>
      <pc:sldChg chg="del">
        <pc:chgData name="joseph jumanne" userId="b594b693f1aa1ba3" providerId="LiveId" clId="{FC4EB0AE-61DF-43FC-A92F-DD593C65D8B5}" dt="2025-01-28T19:25:50.146" v="2" actId="2696"/>
        <pc:sldMkLst>
          <pc:docMk/>
          <pc:sldMk cId="0" sldId="507"/>
        </pc:sldMkLst>
      </pc:sldChg>
      <pc:sldChg chg="del">
        <pc:chgData name="joseph jumanne" userId="b594b693f1aa1ba3" providerId="LiveId" clId="{FC4EB0AE-61DF-43FC-A92F-DD593C65D8B5}" dt="2025-01-28T19:25:50.146" v="2" actId="2696"/>
        <pc:sldMkLst>
          <pc:docMk/>
          <pc:sldMk cId="0" sldId="558"/>
        </pc:sldMkLst>
      </pc:sldChg>
      <pc:sldChg chg="del">
        <pc:chgData name="joseph jumanne" userId="b594b693f1aa1ba3" providerId="LiveId" clId="{FC4EB0AE-61DF-43FC-A92F-DD593C65D8B5}" dt="2025-01-28T19:25:50.146" v="2" actId="2696"/>
        <pc:sldMkLst>
          <pc:docMk/>
          <pc:sldMk cId="0" sldId="559"/>
        </pc:sldMkLst>
      </pc:sldChg>
      <pc:sldChg chg="del">
        <pc:chgData name="joseph jumanne" userId="b594b693f1aa1ba3" providerId="LiveId" clId="{FC4EB0AE-61DF-43FC-A92F-DD593C65D8B5}" dt="2025-01-28T19:25:50.146" v="2" actId="2696"/>
        <pc:sldMkLst>
          <pc:docMk/>
          <pc:sldMk cId="0" sldId="560"/>
        </pc:sldMkLst>
      </pc:sldChg>
      <pc:sldChg chg="del">
        <pc:chgData name="joseph jumanne" userId="b594b693f1aa1ba3" providerId="LiveId" clId="{FC4EB0AE-61DF-43FC-A92F-DD593C65D8B5}" dt="2025-01-28T19:25:50.146" v="2" actId="2696"/>
        <pc:sldMkLst>
          <pc:docMk/>
          <pc:sldMk cId="0" sldId="562"/>
        </pc:sldMkLst>
      </pc:sldChg>
      <pc:sldChg chg="del">
        <pc:chgData name="joseph jumanne" userId="b594b693f1aa1ba3" providerId="LiveId" clId="{FC4EB0AE-61DF-43FC-A92F-DD593C65D8B5}" dt="2025-01-28T19:25:50.146" v="2" actId="2696"/>
        <pc:sldMkLst>
          <pc:docMk/>
          <pc:sldMk cId="0" sldId="563"/>
        </pc:sldMkLst>
      </pc:sldChg>
      <pc:sldChg chg="del">
        <pc:chgData name="joseph jumanne" userId="b594b693f1aa1ba3" providerId="LiveId" clId="{FC4EB0AE-61DF-43FC-A92F-DD593C65D8B5}" dt="2025-01-28T19:25:50.146" v="2" actId="2696"/>
        <pc:sldMkLst>
          <pc:docMk/>
          <pc:sldMk cId="0" sldId="564"/>
        </pc:sldMkLst>
      </pc:sldChg>
      <pc:sldChg chg="del">
        <pc:chgData name="joseph jumanne" userId="b594b693f1aa1ba3" providerId="LiveId" clId="{FC4EB0AE-61DF-43FC-A92F-DD593C65D8B5}" dt="2025-01-28T19:25:50.146" v="2" actId="2696"/>
        <pc:sldMkLst>
          <pc:docMk/>
          <pc:sldMk cId="0" sldId="565"/>
        </pc:sldMkLst>
      </pc:sldChg>
      <pc:sldChg chg="del">
        <pc:chgData name="joseph jumanne" userId="b594b693f1aa1ba3" providerId="LiveId" clId="{FC4EB0AE-61DF-43FC-A92F-DD593C65D8B5}" dt="2025-01-28T19:25:50.146" v="2" actId="2696"/>
        <pc:sldMkLst>
          <pc:docMk/>
          <pc:sldMk cId="0" sldId="566"/>
        </pc:sldMkLst>
      </pc:sldChg>
      <pc:sldChg chg="del">
        <pc:chgData name="joseph jumanne" userId="b594b693f1aa1ba3" providerId="LiveId" clId="{FC4EB0AE-61DF-43FC-A92F-DD593C65D8B5}" dt="2025-01-28T19:25:50.146" v="2" actId="2696"/>
        <pc:sldMkLst>
          <pc:docMk/>
          <pc:sldMk cId="0" sldId="567"/>
        </pc:sldMkLst>
      </pc:sldChg>
      <pc:sldChg chg="del">
        <pc:chgData name="joseph jumanne" userId="b594b693f1aa1ba3" providerId="LiveId" clId="{FC4EB0AE-61DF-43FC-A92F-DD593C65D8B5}" dt="2025-01-28T19:25:50.146" v="2" actId="2696"/>
        <pc:sldMkLst>
          <pc:docMk/>
          <pc:sldMk cId="0" sldId="568"/>
        </pc:sldMkLst>
      </pc:sldChg>
      <pc:sldChg chg="del">
        <pc:chgData name="joseph jumanne" userId="b594b693f1aa1ba3" providerId="LiveId" clId="{FC4EB0AE-61DF-43FC-A92F-DD593C65D8B5}" dt="2025-01-28T19:25:50.146" v="2" actId="2696"/>
        <pc:sldMkLst>
          <pc:docMk/>
          <pc:sldMk cId="0" sldId="569"/>
        </pc:sldMkLst>
      </pc:sldChg>
      <pc:sldChg chg="del">
        <pc:chgData name="joseph jumanne" userId="b594b693f1aa1ba3" providerId="LiveId" clId="{FC4EB0AE-61DF-43FC-A92F-DD593C65D8B5}" dt="2025-01-28T19:25:50.146" v="2" actId="2696"/>
        <pc:sldMkLst>
          <pc:docMk/>
          <pc:sldMk cId="0" sldId="570"/>
        </pc:sldMkLst>
      </pc:sldChg>
      <pc:sldChg chg="del">
        <pc:chgData name="joseph jumanne" userId="b594b693f1aa1ba3" providerId="LiveId" clId="{FC4EB0AE-61DF-43FC-A92F-DD593C65D8B5}" dt="2025-01-28T19:25:59.956" v="3" actId="2696"/>
        <pc:sldMkLst>
          <pc:docMk/>
          <pc:sldMk cId="0" sldId="571"/>
        </pc:sldMkLst>
      </pc:sldChg>
      <pc:sldChg chg="del">
        <pc:chgData name="joseph jumanne" userId="b594b693f1aa1ba3" providerId="LiveId" clId="{FC4EB0AE-61DF-43FC-A92F-DD593C65D8B5}" dt="2025-01-28T19:25:50.146" v="2" actId="2696"/>
        <pc:sldMkLst>
          <pc:docMk/>
          <pc:sldMk cId="0" sldId="572"/>
        </pc:sldMkLst>
      </pc:sldChg>
      <pc:sldChg chg="del">
        <pc:chgData name="joseph jumanne" userId="b594b693f1aa1ba3" providerId="LiveId" clId="{FC4EB0AE-61DF-43FC-A92F-DD593C65D8B5}" dt="2025-01-28T19:25:50.146" v="2" actId="2696"/>
        <pc:sldMkLst>
          <pc:docMk/>
          <pc:sldMk cId="0" sldId="573"/>
        </pc:sldMkLst>
      </pc:sldChg>
      <pc:sldChg chg="del">
        <pc:chgData name="joseph jumanne" userId="b594b693f1aa1ba3" providerId="LiveId" clId="{FC4EB0AE-61DF-43FC-A92F-DD593C65D8B5}" dt="2025-01-28T19:25:50.146" v="2" actId="2696"/>
        <pc:sldMkLst>
          <pc:docMk/>
          <pc:sldMk cId="0" sldId="574"/>
        </pc:sldMkLst>
      </pc:sldChg>
      <pc:sldChg chg="del">
        <pc:chgData name="joseph jumanne" userId="b594b693f1aa1ba3" providerId="LiveId" clId="{FC4EB0AE-61DF-43FC-A92F-DD593C65D8B5}" dt="2025-01-28T19:25:50.146" v="2" actId="2696"/>
        <pc:sldMkLst>
          <pc:docMk/>
          <pc:sldMk cId="0" sldId="575"/>
        </pc:sldMkLst>
      </pc:sldChg>
      <pc:sldChg chg="del">
        <pc:chgData name="joseph jumanne" userId="b594b693f1aa1ba3" providerId="LiveId" clId="{FC4EB0AE-61DF-43FC-A92F-DD593C65D8B5}" dt="2025-01-28T19:25:50.146" v="2" actId="2696"/>
        <pc:sldMkLst>
          <pc:docMk/>
          <pc:sldMk cId="0" sldId="576"/>
        </pc:sldMkLst>
      </pc:sldChg>
      <pc:sldChg chg="del">
        <pc:chgData name="joseph jumanne" userId="b594b693f1aa1ba3" providerId="LiveId" clId="{FC4EB0AE-61DF-43FC-A92F-DD593C65D8B5}" dt="2025-01-28T19:25:50.146" v="2" actId="2696"/>
        <pc:sldMkLst>
          <pc:docMk/>
          <pc:sldMk cId="0" sldId="577"/>
        </pc:sldMkLst>
      </pc:sldChg>
      <pc:sldChg chg="del">
        <pc:chgData name="joseph jumanne" userId="b594b693f1aa1ba3" providerId="LiveId" clId="{FC4EB0AE-61DF-43FC-A92F-DD593C65D8B5}" dt="2025-01-28T19:25:50.146" v="2" actId="2696"/>
        <pc:sldMkLst>
          <pc:docMk/>
          <pc:sldMk cId="0" sldId="578"/>
        </pc:sldMkLst>
      </pc:sldChg>
      <pc:sldChg chg="del">
        <pc:chgData name="joseph jumanne" userId="b594b693f1aa1ba3" providerId="LiveId" clId="{FC4EB0AE-61DF-43FC-A92F-DD593C65D8B5}" dt="2025-01-28T19:25:50.146" v="2" actId="2696"/>
        <pc:sldMkLst>
          <pc:docMk/>
          <pc:sldMk cId="0" sldId="579"/>
        </pc:sldMkLst>
      </pc:sldChg>
      <pc:sldChg chg="del">
        <pc:chgData name="joseph jumanne" userId="b594b693f1aa1ba3" providerId="LiveId" clId="{FC4EB0AE-61DF-43FC-A92F-DD593C65D8B5}" dt="2025-01-28T19:25:50.146" v="2" actId="2696"/>
        <pc:sldMkLst>
          <pc:docMk/>
          <pc:sldMk cId="0" sldId="580"/>
        </pc:sldMkLst>
      </pc:sldChg>
      <pc:sldChg chg="del">
        <pc:chgData name="joseph jumanne" userId="b594b693f1aa1ba3" providerId="LiveId" clId="{FC4EB0AE-61DF-43FC-A92F-DD593C65D8B5}" dt="2025-01-28T19:25:50.146" v="2" actId="2696"/>
        <pc:sldMkLst>
          <pc:docMk/>
          <pc:sldMk cId="0" sldId="581"/>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52EDC7-4C61-48C4-9D7F-5A4D898A3EFE}"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C0E39B4A-CC90-4162-BB07-96499A2088AB}">
      <dgm:prSet/>
      <dgm:spPr/>
      <dgm:t>
        <a:bodyPr/>
        <a:lstStyle/>
        <a:p>
          <a:r>
            <a:rPr lang="en-US" dirty="0">
              <a:solidFill>
                <a:schemeClr val="bg2">
                  <a:lumMod val="10000"/>
                </a:schemeClr>
              </a:solidFill>
            </a:rPr>
            <a:t>1.Lumbar puncture-measurement of Cerebral Spinal Fluid (CSF) opening pressure and demonstration of positive CSF with Indian Ink preparation microscopy (&lt;86% sensitivity), Low fungal burden ??- less than 42% in &lt; 1000CFU Crypt culture</a:t>
          </a:r>
          <a:r>
            <a:rPr lang="en-US" dirty="0"/>
            <a:t>.</a:t>
          </a:r>
        </a:p>
        <a:p>
          <a:endParaRPr lang="en-US" dirty="0"/>
        </a:p>
      </dgm:t>
    </dgm:pt>
    <dgm:pt modelId="{8D2707FC-97FC-4AEF-9C34-A2EB61E9B504}" type="parTrans" cxnId="{886EEF92-4A29-45C8-AC7A-EA464C5902B8}">
      <dgm:prSet/>
      <dgm:spPr/>
      <dgm:t>
        <a:bodyPr/>
        <a:lstStyle/>
        <a:p>
          <a:endParaRPr lang="en-US"/>
        </a:p>
      </dgm:t>
    </dgm:pt>
    <dgm:pt modelId="{D9075D5A-3685-41FC-B54B-C29A6736FDF9}" type="sibTrans" cxnId="{886EEF92-4A29-45C8-AC7A-EA464C5902B8}">
      <dgm:prSet/>
      <dgm:spPr/>
      <dgm:t>
        <a:bodyPr/>
        <a:lstStyle/>
        <a:p>
          <a:endParaRPr lang="en-US"/>
        </a:p>
      </dgm:t>
    </dgm:pt>
    <dgm:pt modelId="{26526755-C5C1-4444-ADDB-8797640FE5E4}">
      <dgm:prSet/>
      <dgm:spPr/>
      <dgm:t>
        <a:bodyPr/>
        <a:lstStyle/>
        <a:p>
          <a:r>
            <a:rPr lang="en-US" dirty="0">
              <a:solidFill>
                <a:schemeClr val="bg2">
                  <a:lumMod val="10000"/>
                </a:schemeClr>
              </a:solidFill>
            </a:rPr>
            <a:t>2.Rapid CSF cryptococcal antigen (</a:t>
          </a:r>
          <a:r>
            <a:rPr lang="en-US" dirty="0" err="1">
              <a:solidFill>
                <a:schemeClr val="bg2">
                  <a:lumMod val="10000"/>
                </a:schemeClr>
              </a:solidFill>
            </a:rPr>
            <a:t>CrAg</a:t>
          </a:r>
          <a:r>
            <a:rPr lang="en-US" dirty="0">
              <a:solidFill>
                <a:schemeClr val="bg2">
                  <a:lumMod val="10000"/>
                </a:schemeClr>
              </a:solidFill>
            </a:rPr>
            <a:t>) assay</a:t>
          </a:r>
        </a:p>
        <a:p>
          <a:r>
            <a:rPr lang="en-US" dirty="0">
              <a:solidFill>
                <a:schemeClr val="bg2">
                  <a:lumMod val="10000"/>
                </a:schemeClr>
              </a:solidFill>
            </a:rPr>
            <a:t>-Cost effective.</a:t>
          </a:r>
        </a:p>
        <a:p>
          <a:r>
            <a:rPr lang="en-US" dirty="0">
              <a:solidFill>
                <a:schemeClr val="bg2">
                  <a:lumMod val="10000"/>
                </a:schemeClr>
              </a:solidFill>
            </a:rPr>
            <a:t>-persistence after antifungal therapy, can't differentiate relapse from IRIS</a:t>
          </a:r>
        </a:p>
      </dgm:t>
    </dgm:pt>
    <dgm:pt modelId="{5482CC9A-D920-49B9-B2F9-B43448D73549}" type="parTrans" cxnId="{F094235E-44E1-4FA0-BB98-7B786FA8208D}">
      <dgm:prSet/>
      <dgm:spPr/>
      <dgm:t>
        <a:bodyPr/>
        <a:lstStyle/>
        <a:p>
          <a:endParaRPr lang="en-US"/>
        </a:p>
      </dgm:t>
    </dgm:pt>
    <dgm:pt modelId="{6E5D9448-355A-4102-AB4C-1E90C357EC65}" type="sibTrans" cxnId="{F094235E-44E1-4FA0-BB98-7B786FA8208D}">
      <dgm:prSet/>
      <dgm:spPr/>
      <dgm:t>
        <a:bodyPr/>
        <a:lstStyle/>
        <a:p>
          <a:endParaRPr lang="en-US"/>
        </a:p>
      </dgm:t>
    </dgm:pt>
    <dgm:pt modelId="{E0A1E88C-FE27-4981-9E2D-0DAE00B25163}">
      <dgm:prSet/>
      <dgm:spPr/>
      <dgm:t>
        <a:bodyPr/>
        <a:lstStyle/>
        <a:p>
          <a:r>
            <a:rPr lang="en-US" dirty="0">
              <a:solidFill>
                <a:schemeClr val="bg2">
                  <a:lumMod val="10000"/>
                </a:schemeClr>
              </a:solidFill>
            </a:rPr>
            <a:t>3.Rapid serum </a:t>
          </a:r>
          <a:r>
            <a:rPr lang="en-US" dirty="0" err="1">
              <a:solidFill>
                <a:schemeClr val="bg2">
                  <a:lumMod val="10000"/>
                </a:schemeClr>
              </a:solidFill>
            </a:rPr>
            <a:t>CrAg</a:t>
          </a:r>
          <a:endParaRPr lang="en-US" dirty="0">
            <a:solidFill>
              <a:schemeClr val="bg2">
                <a:lumMod val="10000"/>
              </a:schemeClr>
            </a:solidFill>
          </a:endParaRPr>
        </a:p>
        <a:p>
          <a:r>
            <a:rPr lang="en-US" dirty="0">
              <a:solidFill>
                <a:schemeClr val="bg2">
                  <a:lumMod val="10000"/>
                </a:schemeClr>
              </a:solidFill>
            </a:rPr>
            <a:t>- &gt;99% sensitive when CSF </a:t>
          </a:r>
          <a:r>
            <a:rPr lang="en-US" dirty="0" err="1">
              <a:solidFill>
                <a:schemeClr val="bg2">
                  <a:lumMod val="10000"/>
                </a:schemeClr>
              </a:solidFill>
            </a:rPr>
            <a:t>CrAg</a:t>
          </a:r>
          <a:r>
            <a:rPr lang="en-US" dirty="0">
              <a:solidFill>
                <a:schemeClr val="bg2">
                  <a:lumMod val="10000"/>
                </a:schemeClr>
              </a:solidFill>
            </a:rPr>
            <a:t> is positive</a:t>
          </a:r>
        </a:p>
        <a:p>
          <a:r>
            <a:rPr lang="en-US" dirty="0">
              <a:solidFill>
                <a:schemeClr val="bg2">
                  <a:lumMod val="10000"/>
                </a:schemeClr>
              </a:solidFill>
            </a:rPr>
            <a:t>4. Role of Cryptococcal culture , Role of PCR.</a:t>
          </a:r>
        </a:p>
      </dgm:t>
    </dgm:pt>
    <dgm:pt modelId="{EE6B80F0-2F82-473C-A75C-EB16648693AD}" type="parTrans" cxnId="{844A9665-91E2-47E0-99DD-5C2BA3E6B285}">
      <dgm:prSet/>
      <dgm:spPr/>
      <dgm:t>
        <a:bodyPr/>
        <a:lstStyle/>
        <a:p>
          <a:endParaRPr lang="en-US"/>
        </a:p>
      </dgm:t>
    </dgm:pt>
    <dgm:pt modelId="{FF3B3545-716B-4C5D-A99F-9A1FB48077F2}" type="sibTrans" cxnId="{844A9665-91E2-47E0-99DD-5C2BA3E6B285}">
      <dgm:prSet/>
      <dgm:spPr/>
      <dgm:t>
        <a:bodyPr/>
        <a:lstStyle/>
        <a:p>
          <a:endParaRPr lang="en-US"/>
        </a:p>
      </dgm:t>
    </dgm:pt>
    <dgm:pt modelId="{A7C78F46-8A44-4DDF-A79E-FDE5F950A4A3}">
      <dgm:prSet/>
      <dgm:spPr/>
      <dgm:t>
        <a:bodyPr/>
        <a:lstStyle/>
        <a:p>
          <a:r>
            <a:rPr lang="en-US" dirty="0">
              <a:solidFill>
                <a:schemeClr val="bg2">
                  <a:lumMod val="10000"/>
                </a:schemeClr>
              </a:solidFill>
            </a:rPr>
            <a:t>5.BRAIN-MRI</a:t>
          </a:r>
        </a:p>
      </dgm:t>
    </dgm:pt>
    <dgm:pt modelId="{E985E03F-6C19-491B-A635-C383299C9AF5}" type="parTrans" cxnId="{8461B270-2C80-493E-8FA4-1ABC8E65DEC3}">
      <dgm:prSet/>
      <dgm:spPr/>
      <dgm:t>
        <a:bodyPr/>
        <a:lstStyle/>
        <a:p>
          <a:endParaRPr lang="en-US"/>
        </a:p>
      </dgm:t>
    </dgm:pt>
    <dgm:pt modelId="{E1DC7FB1-3770-4F33-8439-54089E065FF4}" type="sibTrans" cxnId="{8461B270-2C80-493E-8FA4-1ABC8E65DEC3}">
      <dgm:prSet/>
      <dgm:spPr/>
      <dgm:t>
        <a:bodyPr/>
        <a:lstStyle/>
        <a:p>
          <a:endParaRPr lang="en-US"/>
        </a:p>
      </dgm:t>
    </dgm:pt>
    <dgm:pt modelId="{0B541783-4295-4B9E-9446-92A174E892F6}" type="pres">
      <dgm:prSet presAssocID="{D752EDC7-4C61-48C4-9D7F-5A4D898A3EFE}" presName="root" presStyleCnt="0">
        <dgm:presLayoutVars>
          <dgm:dir/>
          <dgm:resizeHandles val="exact"/>
        </dgm:presLayoutVars>
      </dgm:prSet>
      <dgm:spPr/>
    </dgm:pt>
    <dgm:pt modelId="{CEB8214B-2F5B-47B4-94B5-7EA29EA54F80}" type="pres">
      <dgm:prSet presAssocID="{C0E39B4A-CC90-4162-BB07-96499A2088AB}" presName="compNode" presStyleCnt="0"/>
      <dgm:spPr/>
    </dgm:pt>
    <dgm:pt modelId="{72E5D093-123B-4152-B2E5-85A8DEFA2EFE}" type="pres">
      <dgm:prSet presAssocID="{C0E39B4A-CC90-4162-BB07-96499A2088AB}" presName="bgRect" presStyleLbl="bgShp" presStyleIdx="0" presStyleCnt="4"/>
      <dgm:spPr/>
    </dgm:pt>
    <dgm:pt modelId="{7BC54302-E078-4A35-9EA9-4DD0063C7CAD}" type="pres">
      <dgm:prSet presAssocID="{C0E39B4A-CC90-4162-BB07-96499A2088AB}" presName="iconRect" presStyleLbl="node1" presStyleIdx="0" presStyleCnt="4"/>
      <dgm:spPr>
        <a:blipFill>
          <a:blip xmlns:r="http://schemas.openxmlformats.org/officeDocument/2006/relationships" cstate="print">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rain"/>
        </a:ext>
      </dgm:extLst>
    </dgm:pt>
    <dgm:pt modelId="{80B872C1-795D-4532-8B39-8ED8EFDA715B}" type="pres">
      <dgm:prSet presAssocID="{C0E39B4A-CC90-4162-BB07-96499A2088AB}" presName="spaceRect" presStyleCnt="0"/>
      <dgm:spPr/>
    </dgm:pt>
    <dgm:pt modelId="{6A812CE8-94E5-4303-B720-27146FEAB23A}" type="pres">
      <dgm:prSet presAssocID="{C0E39B4A-CC90-4162-BB07-96499A2088AB}" presName="parTx" presStyleLbl="revTx" presStyleIdx="0" presStyleCnt="4">
        <dgm:presLayoutVars>
          <dgm:chMax val="0"/>
          <dgm:chPref val="0"/>
        </dgm:presLayoutVars>
      </dgm:prSet>
      <dgm:spPr/>
    </dgm:pt>
    <dgm:pt modelId="{7252D5FB-0598-43CB-8236-A5023E8F71E2}" type="pres">
      <dgm:prSet presAssocID="{D9075D5A-3685-41FC-B54B-C29A6736FDF9}" presName="sibTrans" presStyleCnt="0"/>
      <dgm:spPr/>
    </dgm:pt>
    <dgm:pt modelId="{BCFB0582-583B-4161-8B13-630D582ACFCE}" type="pres">
      <dgm:prSet presAssocID="{26526755-C5C1-4444-ADDB-8797640FE5E4}" presName="compNode" presStyleCnt="0"/>
      <dgm:spPr/>
    </dgm:pt>
    <dgm:pt modelId="{663A5831-E30B-40A7-8D81-FB12335ED48F}" type="pres">
      <dgm:prSet presAssocID="{26526755-C5C1-4444-ADDB-8797640FE5E4}" presName="bgRect" presStyleLbl="bgShp" presStyleIdx="1" presStyleCnt="4"/>
      <dgm:spPr/>
    </dgm:pt>
    <dgm:pt modelId="{56D47FCF-55A3-4A71-AC2E-1F2FDE775426}" type="pres">
      <dgm:prSet presAssocID="{26526755-C5C1-4444-ADDB-8797640FE5E4}" presName="iconRect" presStyleLbl="node1" presStyleIdx="1" presStyleCnt="4"/>
      <dgm:spPr>
        <a:blipFill>
          <a:blip xmlns:r="http://schemas.openxmlformats.org/officeDocument/2006/relationships"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at"/>
        </a:ext>
      </dgm:extLst>
    </dgm:pt>
    <dgm:pt modelId="{F4EAAEEC-B6F5-4D1B-A28A-374D8D84CDA9}" type="pres">
      <dgm:prSet presAssocID="{26526755-C5C1-4444-ADDB-8797640FE5E4}" presName="spaceRect" presStyleCnt="0"/>
      <dgm:spPr/>
    </dgm:pt>
    <dgm:pt modelId="{39A1A9D0-015A-46DE-8DDB-572AC43304D7}" type="pres">
      <dgm:prSet presAssocID="{26526755-C5C1-4444-ADDB-8797640FE5E4}" presName="parTx" presStyleLbl="revTx" presStyleIdx="1" presStyleCnt="4">
        <dgm:presLayoutVars>
          <dgm:chMax val="0"/>
          <dgm:chPref val="0"/>
        </dgm:presLayoutVars>
      </dgm:prSet>
      <dgm:spPr/>
    </dgm:pt>
    <dgm:pt modelId="{EB2F8FB5-0C19-4B2B-9D30-B047727BECDE}" type="pres">
      <dgm:prSet presAssocID="{6E5D9448-355A-4102-AB4C-1E90C357EC65}" presName="sibTrans" presStyleCnt="0"/>
      <dgm:spPr/>
    </dgm:pt>
    <dgm:pt modelId="{9A64D135-8843-4B11-A531-6AC6C72F0DFF}" type="pres">
      <dgm:prSet presAssocID="{E0A1E88C-FE27-4981-9E2D-0DAE00B25163}" presName="compNode" presStyleCnt="0"/>
      <dgm:spPr/>
    </dgm:pt>
    <dgm:pt modelId="{D6F55A4B-3983-488D-A7D0-5CAA402FAC89}" type="pres">
      <dgm:prSet presAssocID="{E0A1E88C-FE27-4981-9E2D-0DAE00B25163}" presName="bgRect" presStyleLbl="bgShp" presStyleIdx="2" presStyleCnt="4"/>
      <dgm:spPr/>
    </dgm:pt>
    <dgm:pt modelId="{FEA1B8F9-5721-4C58-B5C6-EFC891265D80}" type="pres">
      <dgm:prSet presAssocID="{E0A1E88C-FE27-4981-9E2D-0DAE00B25163}" presName="iconRect" presStyleLbl="node1" presStyleIdx="2" presStyleCnt="4"/>
      <dgm:spPr>
        <a:blipFill>
          <a:blip xmlns:r="http://schemas.openxmlformats.org/officeDocument/2006/relationships"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est tubes"/>
        </a:ext>
      </dgm:extLst>
    </dgm:pt>
    <dgm:pt modelId="{C0DBD614-CCA7-4246-AE29-E0F2DB757A27}" type="pres">
      <dgm:prSet presAssocID="{E0A1E88C-FE27-4981-9E2D-0DAE00B25163}" presName="spaceRect" presStyleCnt="0"/>
      <dgm:spPr/>
    </dgm:pt>
    <dgm:pt modelId="{E8C490A5-36D0-42C4-94C6-0CE16180F22D}" type="pres">
      <dgm:prSet presAssocID="{E0A1E88C-FE27-4981-9E2D-0DAE00B25163}" presName="parTx" presStyleLbl="revTx" presStyleIdx="2" presStyleCnt="4">
        <dgm:presLayoutVars>
          <dgm:chMax val="0"/>
          <dgm:chPref val="0"/>
        </dgm:presLayoutVars>
      </dgm:prSet>
      <dgm:spPr/>
    </dgm:pt>
    <dgm:pt modelId="{C6908B4E-C549-45FA-9A02-0EA2D7B02A82}" type="pres">
      <dgm:prSet presAssocID="{FF3B3545-716B-4C5D-A99F-9A1FB48077F2}" presName="sibTrans" presStyleCnt="0"/>
      <dgm:spPr/>
    </dgm:pt>
    <dgm:pt modelId="{C7285541-8ADF-477F-8CB9-DC32E18D2E65}" type="pres">
      <dgm:prSet presAssocID="{A7C78F46-8A44-4DDF-A79E-FDE5F950A4A3}" presName="compNode" presStyleCnt="0"/>
      <dgm:spPr/>
    </dgm:pt>
    <dgm:pt modelId="{F888C146-69BA-42EF-90C2-47EB08DA7F08}" type="pres">
      <dgm:prSet presAssocID="{A7C78F46-8A44-4DDF-A79E-FDE5F950A4A3}" presName="bgRect" presStyleLbl="bgShp" presStyleIdx="3" presStyleCnt="4"/>
      <dgm:spPr/>
    </dgm:pt>
    <dgm:pt modelId="{3DB1E0C8-A899-4E82-98E9-9BB59D2DA94E}" type="pres">
      <dgm:prSet presAssocID="{A7C78F46-8A44-4DDF-A79E-FDE5F950A4A3}" presName="iconRect" presStyleLbl="node1" presStyleIdx="3" presStyleCnt="4"/>
      <dgm:spPr>
        <a:blipFill>
          <a:blip xmlns:r="http://schemas.openxmlformats.org/officeDocument/2006/relationships"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in in head"/>
        </a:ext>
      </dgm:extLst>
    </dgm:pt>
    <dgm:pt modelId="{C4B81B99-9324-4DA4-B5BF-A0AF721F325F}" type="pres">
      <dgm:prSet presAssocID="{A7C78F46-8A44-4DDF-A79E-FDE5F950A4A3}" presName="spaceRect" presStyleCnt="0"/>
      <dgm:spPr/>
    </dgm:pt>
    <dgm:pt modelId="{C3610B69-75AB-414D-88DC-62CBEA657DC1}" type="pres">
      <dgm:prSet presAssocID="{A7C78F46-8A44-4DDF-A79E-FDE5F950A4A3}" presName="parTx" presStyleLbl="revTx" presStyleIdx="3" presStyleCnt="4">
        <dgm:presLayoutVars>
          <dgm:chMax val="0"/>
          <dgm:chPref val="0"/>
        </dgm:presLayoutVars>
      </dgm:prSet>
      <dgm:spPr/>
    </dgm:pt>
  </dgm:ptLst>
  <dgm:cxnLst>
    <dgm:cxn modelId="{FCF6AB06-28B6-49CE-9910-2FC14999912F}" type="presOf" srcId="{D752EDC7-4C61-48C4-9D7F-5A4D898A3EFE}" destId="{0B541783-4295-4B9E-9446-92A174E892F6}" srcOrd="0" destOrd="0" presId="urn:microsoft.com/office/officeart/2018/2/layout/IconVerticalSolidList"/>
    <dgm:cxn modelId="{29A45B12-5A87-4C52-A26C-0039653CA8FB}" type="presOf" srcId="{C0E39B4A-CC90-4162-BB07-96499A2088AB}" destId="{6A812CE8-94E5-4303-B720-27146FEAB23A}" srcOrd="0" destOrd="0" presId="urn:microsoft.com/office/officeart/2018/2/layout/IconVerticalSolidList"/>
    <dgm:cxn modelId="{F094235E-44E1-4FA0-BB98-7B786FA8208D}" srcId="{D752EDC7-4C61-48C4-9D7F-5A4D898A3EFE}" destId="{26526755-C5C1-4444-ADDB-8797640FE5E4}" srcOrd="1" destOrd="0" parTransId="{5482CC9A-D920-49B9-B2F9-B43448D73549}" sibTransId="{6E5D9448-355A-4102-AB4C-1E90C357EC65}"/>
    <dgm:cxn modelId="{844A9665-91E2-47E0-99DD-5C2BA3E6B285}" srcId="{D752EDC7-4C61-48C4-9D7F-5A4D898A3EFE}" destId="{E0A1E88C-FE27-4981-9E2D-0DAE00B25163}" srcOrd="2" destOrd="0" parTransId="{EE6B80F0-2F82-473C-A75C-EB16648693AD}" sibTransId="{FF3B3545-716B-4C5D-A99F-9A1FB48077F2}"/>
    <dgm:cxn modelId="{8461B270-2C80-493E-8FA4-1ABC8E65DEC3}" srcId="{D752EDC7-4C61-48C4-9D7F-5A4D898A3EFE}" destId="{A7C78F46-8A44-4DDF-A79E-FDE5F950A4A3}" srcOrd="3" destOrd="0" parTransId="{E985E03F-6C19-491B-A635-C383299C9AF5}" sibTransId="{E1DC7FB1-3770-4F33-8439-54089E065FF4}"/>
    <dgm:cxn modelId="{E0B65682-231C-404A-A614-38D465C2320A}" type="presOf" srcId="{26526755-C5C1-4444-ADDB-8797640FE5E4}" destId="{39A1A9D0-015A-46DE-8DDB-572AC43304D7}" srcOrd="0" destOrd="0" presId="urn:microsoft.com/office/officeart/2018/2/layout/IconVerticalSolidList"/>
    <dgm:cxn modelId="{886EEF92-4A29-45C8-AC7A-EA464C5902B8}" srcId="{D752EDC7-4C61-48C4-9D7F-5A4D898A3EFE}" destId="{C0E39B4A-CC90-4162-BB07-96499A2088AB}" srcOrd="0" destOrd="0" parTransId="{8D2707FC-97FC-4AEF-9C34-A2EB61E9B504}" sibTransId="{D9075D5A-3685-41FC-B54B-C29A6736FDF9}"/>
    <dgm:cxn modelId="{ABCFE0CA-F9F9-4972-8111-FEB0A99EAC0A}" type="presOf" srcId="{E0A1E88C-FE27-4981-9E2D-0DAE00B25163}" destId="{E8C490A5-36D0-42C4-94C6-0CE16180F22D}" srcOrd="0" destOrd="0" presId="urn:microsoft.com/office/officeart/2018/2/layout/IconVerticalSolidList"/>
    <dgm:cxn modelId="{37F3E6F4-E131-4130-9F88-F427E221A29B}" type="presOf" srcId="{A7C78F46-8A44-4DDF-A79E-FDE5F950A4A3}" destId="{C3610B69-75AB-414D-88DC-62CBEA657DC1}" srcOrd="0" destOrd="0" presId="urn:microsoft.com/office/officeart/2018/2/layout/IconVerticalSolidList"/>
    <dgm:cxn modelId="{39A7E2F3-0F54-4723-9A7B-9FD18CB3D761}" type="presParOf" srcId="{0B541783-4295-4B9E-9446-92A174E892F6}" destId="{CEB8214B-2F5B-47B4-94B5-7EA29EA54F80}" srcOrd="0" destOrd="0" presId="urn:microsoft.com/office/officeart/2018/2/layout/IconVerticalSolidList"/>
    <dgm:cxn modelId="{E5A9219F-E867-4D4C-A571-210D21C9EEAE}" type="presParOf" srcId="{CEB8214B-2F5B-47B4-94B5-7EA29EA54F80}" destId="{72E5D093-123B-4152-B2E5-85A8DEFA2EFE}" srcOrd="0" destOrd="0" presId="urn:microsoft.com/office/officeart/2018/2/layout/IconVerticalSolidList"/>
    <dgm:cxn modelId="{D43537C4-353D-463C-97B2-B0F2250043BD}" type="presParOf" srcId="{CEB8214B-2F5B-47B4-94B5-7EA29EA54F80}" destId="{7BC54302-E078-4A35-9EA9-4DD0063C7CAD}" srcOrd="1" destOrd="0" presId="urn:microsoft.com/office/officeart/2018/2/layout/IconVerticalSolidList"/>
    <dgm:cxn modelId="{5809876B-C7DB-4DC1-9AE8-B580BEE86EAD}" type="presParOf" srcId="{CEB8214B-2F5B-47B4-94B5-7EA29EA54F80}" destId="{80B872C1-795D-4532-8B39-8ED8EFDA715B}" srcOrd="2" destOrd="0" presId="urn:microsoft.com/office/officeart/2018/2/layout/IconVerticalSolidList"/>
    <dgm:cxn modelId="{F6851479-B5AF-4989-A867-8B87FCFF84D3}" type="presParOf" srcId="{CEB8214B-2F5B-47B4-94B5-7EA29EA54F80}" destId="{6A812CE8-94E5-4303-B720-27146FEAB23A}" srcOrd="3" destOrd="0" presId="urn:microsoft.com/office/officeart/2018/2/layout/IconVerticalSolidList"/>
    <dgm:cxn modelId="{E9759637-1753-4E83-B3F7-A3866EEC321B}" type="presParOf" srcId="{0B541783-4295-4B9E-9446-92A174E892F6}" destId="{7252D5FB-0598-43CB-8236-A5023E8F71E2}" srcOrd="1" destOrd="0" presId="urn:microsoft.com/office/officeart/2018/2/layout/IconVerticalSolidList"/>
    <dgm:cxn modelId="{AA9BB8F4-E41D-496D-A5FE-87931B014A28}" type="presParOf" srcId="{0B541783-4295-4B9E-9446-92A174E892F6}" destId="{BCFB0582-583B-4161-8B13-630D582ACFCE}" srcOrd="2" destOrd="0" presId="urn:microsoft.com/office/officeart/2018/2/layout/IconVerticalSolidList"/>
    <dgm:cxn modelId="{E23E629D-77D4-4670-8E20-E78EB9CECBB1}" type="presParOf" srcId="{BCFB0582-583B-4161-8B13-630D582ACFCE}" destId="{663A5831-E30B-40A7-8D81-FB12335ED48F}" srcOrd="0" destOrd="0" presId="urn:microsoft.com/office/officeart/2018/2/layout/IconVerticalSolidList"/>
    <dgm:cxn modelId="{6BBADEF8-7DCA-49FF-838B-2751F88A675B}" type="presParOf" srcId="{BCFB0582-583B-4161-8B13-630D582ACFCE}" destId="{56D47FCF-55A3-4A71-AC2E-1F2FDE775426}" srcOrd="1" destOrd="0" presId="urn:microsoft.com/office/officeart/2018/2/layout/IconVerticalSolidList"/>
    <dgm:cxn modelId="{5F7C4C17-3111-4ECE-B3F8-84AC8624A4DD}" type="presParOf" srcId="{BCFB0582-583B-4161-8B13-630D582ACFCE}" destId="{F4EAAEEC-B6F5-4D1B-A28A-374D8D84CDA9}" srcOrd="2" destOrd="0" presId="urn:microsoft.com/office/officeart/2018/2/layout/IconVerticalSolidList"/>
    <dgm:cxn modelId="{A35E3A8A-2926-4D19-A535-11E5329AA278}" type="presParOf" srcId="{BCFB0582-583B-4161-8B13-630D582ACFCE}" destId="{39A1A9D0-015A-46DE-8DDB-572AC43304D7}" srcOrd="3" destOrd="0" presId="urn:microsoft.com/office/officeart/2018/2/layout/IconVerticalSolidList"/>
    <dgm:cxn modelId="{CAB71C7A-69D2-4AD2-BD21-7A740888E7AC}" type="presParOf" srcId="{0B541783-4295-4B9E-9446-92A174E892F6}" destId="{EB2F8FB5-0C19-4B2B-9D30-B047727BECDE}" srcOrd="3" destOrd="0" presId="urn:microsoft.com/office/officeart/2018/2/layout/IconVerticalSolidList"/>
    <dgm:cxn modelId="{78242471-3CE8-4CE1-A53D-9966913BF241}" type="presParOf" srcId="{0B541783-4295-4B9E-9446-92A174E892F6}" destId="{9A64D135-8843-4B11-A531-6AC6C72F0DFF}" srcOrd="4" destOrd="0" presId="urn:microsoft.com/office/officeart/2018/2/layout/IconVerticalSolidList"/>
    <dgm:cxn modelId="{4FB38431-1E24-422C-B999-34B33673D6DD}" type="presParOf" srcId="{9A64D135-8843-4B11-A531-6AC6C72F0DFF}" destId="{D6F55A4B-3983-488D-A7D0-5CAA402FAC89}" srcOrd="0" destOrd="0" presId="urn:microsoft.com/office/officeart/2018/2/layout/IconVerticalSolidList"/>
    <dgm:cxn modelId="{ACBBD955-90B1-49BD-9CBF-BE4E39C8C0EC}" type="presParOf" srcId="{9A64D135-8843-4B11-A531-6AC6C72F0DFF}" destId="{FEA1B8F9-5721-4C58-B5C6-EFC891265D80}" srcOrd="1" destOrd="0" presId="urn:microsoft.com/office/officeart/2018/2/layout/IconVerticalSolidList"/>
    <dgm:cxn modelId="{16D1EBD9-837A-4612-8ADD-BD2983C972B7}" type="presParOf" srcId="{9A64D135-8843-4B11-A531-6AC6C72F0DFF}" destId="{C0DBD614-CCA7-4246-AE29-E0F2DB757A27}" srcOrd="2" destOrd="0" presId="urn:microsoft.com/office/officeart/2018/2/layout/IconVerticalSolidList"/>
    <dgm:cxn modelId="{7BCA85DF-3047-4DD4-8CC3-714C6EE3BEEA}" type="presParOf" srcId="{9A64D135-8843-4B11-A531-6AC6C72F0DFF}" destId="{E8C490A5-36D0-42C4-94C6-0CE16180F22D}" srcOrd="3" destOrd="0" presId="urn:microsoft.com/office/officeart/2018/2/layout/IconVerticalSolidList"/>
    <dgm:cxn modelId="{B98F4244-22F3-49EC-A2E2-E56F6F47C8D9}" type="presParOf" srcId="{0B541783-4295-4B9E-9446-92A174E892F6}" destId="{C6908B4E-C549-45FA-9A02-0EA2D7B02A82}" srcOrd="5" destOrd="0" presId="urn:microsoft.com/office/officeart/2018/2/layout/IconVerticalSolidList"/>
    <dgm:cxn modelId="{0D103035-B408-461C-828F-EE9F138D063B}" type="presParOf" srcId="{0B541783-4295-4B9E-9446-92A174E892F6}" destId="{C7285541-8ADF-477F-8CB9-DC32E18D2E65}" srcOrd="6" destOrd="0" presId="urn:microsoft.com/office/officeart/2018/2/layout/IconVerticalSolidList"/>
    <dgm:cxn modelId="{4BE6E282-4448-4995-AB7E-019F00B6B370}" type="presParOf" srcId="{C7285541-8ADF-477F-8CB9-DC32E18D2E65}" destId="{F888C146-69BA-42EF-90C2-47EB08DA7F08}" srcOrd="0" destOrd="0" presId="urn:microsoft.com/office/officeart/2018/2/layout/IconVerticalSolidList"/>
    <dgm:cxn modelId="{A5D9D6E5-91F2-40C7-8D02-D8B40E405F63}" type="presParOf" srcId="{C7285541-8ADF-477F-8CB9-DC32E18D2E65}" destId="{3DB1E0C8-A899-4E82-98E9-9BB59D2DA94E}" srcOrd="1" destOrd="0" presId="urn:microsoft.com/office/officeart/2018/2/layout/IconVerticalSolidList"/>
    <dgm:cxn modelId="{B95DAEEB-943B-4361-8CFA-9E6187DCDE89}" type="presParOf" srcId="{C7285541-8ADF-477F-8CB9-DC32E18D2E65}" destId="{C4B81B99-9324-4DA4-B5BF-A0AF721F325F}" srcOrd="2" destOrd="0" presId="urn:microsoft.com/office/officeart/2018/2/layout/IconVerticalSolidList"/>
    <dgm:cxn modelId="{7BDC19A4-576E-4894-B8CA-0AA934D8ACD9}" type="presParOf" srcId="{C7285541-8ADF-477F-8CB9-DC32E18D2E65}" destId="{C3610B69-75AB-414D-88DC-62CBEA657DC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E5D093-123B-4152-B2E5-85A8DEFA2EFE}">
      <dsp:nvSpPr>
        <dsp:cNvPr id="0" name=""/>
        <dsp:cNvSpPr/>
      </dsp:nvSpPr>
      <dsp:spPr>
        <a:xfrm>
          <a:off x="0" y="2166"/>
          <a:ext cx="9527458" cy="10980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C54302-E078-4A35-9EA9-4DD0063C7CAD}">
      <dsp:nvSpPr>
        <dsp:cNvPr id="0" name=""/>
        <dsp:cNvSpPr/>
      </dsp:nvSpPr>
      <dsp:spPr>
        <a:xfrm>
          <a:off x="332156" y="249224"/>
          <a:ext cx="603920" cy="603920"/>
        </a:xfrm>
        <a:prstGeom prst="rect">
          <a:avLst/>
        </a:prstGeom>
        <a:blipFill>
          <a:blip xmlns:r="http://schemas.openxmlformats.org/officeDocument/2006/relationships" cstate="print">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A812CE8-94E5-4303-B720-27146FEAB23A}">
      <dsp:nvSpPr>
        <dsp:cNvPr id="0" name=""/>
        <dsp:cNvSpPr/>
      </dsp:nvSpPr>
      <dsp:spPr>
        <a:xfrm>
          <a:off x="1268232" y="2166"/>
          <a:ext cx="8259225" cy="10980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209" tIns="116209" rIns="116209" bIns="116209" numCol="1" spcCol="1270" anchor="ctr" anchorCtr="0">
          <a:noAutofit/>
        </a:bodyPr>
        <a:lstStyle/>
        <a:p>
          <a:pPr marL="0" lvl="0" indent="0" algn="l" defTabSz="666750">
            <a:lnSpc>
              <a:spcPct val="90000"/>
            </a:lnSpc>
            <a:spcBef>
              <a:spcPct val="0"/>
            </a:spcBef>
            <a:spcAft>
              <a:spcPct val="35000"/>
            </a:spcAft>
            <a:buNone/>
          </a:pPr>
          <a:r>
            <a:rPr lang="en-US" sz="1500" kern="1200" dirty="0">
              <a:solidFill>
                <a:schemeClr val="bg2">
                  <a:lumMod val="10000"/>
                </a:schemeClr>
              </a:solidFill>
            </a:rPr>
            <a:t>1.Lumbar puncture-measurement of Cerebral Spinal Fluid (CSF) opening pressure and demonstration of positive CSF with Indian Ink preparation microscopy (&lt;86% sensitivity), Low fungal burden ??- less than 42% in &lt; 1000CFU Crypt culture</a:t>
          </a:r>
          <a:r>
            <a:rPr lang="en-US" sz="1500" kern="1200" dirty="0"/>
            <a:t>.</a:t>
          </a:r>
        </a:p>
        <a:p>
          <a:pPr marL="0" lvl="0" indent="0" algn="l" defTabSz="666750">
            <a:lnSpc>
              <a:spcPct val="90000"/>
            </a:lnSpc>
            <a:spcBef>
              <a:spcPct val="0"/>
            </a:spcBef>
            <a:spcAft>
              <a:spcPct val="35000"/>
            </a:spcAft>
            <a:buNone/>
          </a:pPr>
          <a:endParaRPr lang="en-US" sz="1500" kern="1200" dirty="0"/>
        </a:p>
      </dsp:txBody>
      <dsp:txXfrm>
        <a:off x="1268232" y="2166"/>
        <a:ext cx="8259225" cy="1098036"/>
      </dsp:txXfrm>
    </dsp:sp>
    <dsp:sp modelId="{663A5831-E30B-40A7-8D81-FB12335ED48F}">
      <dsp:nvSpPr>
        <dsp:cNvPr id="0" name=""/>
        <dsp:cNvSpPr/>
      </dsp:nvSpPr>
      <dsp:spPr>
        <a:xfrm>
          <a:off x="0" y="1374712"/>
          <a:ext cx="9527458" cy="10980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D47FCF-55A3-4A71-AC2E-1F2FDE775426}">
      <dsp:nvSpPr>
        <dsp:cNvPr id="0" name=""/>
        <dsp:cNvSpPr/>
      </dsp:nvSpPr>
      <dsp:spPr>
        <a:xfrm>
          <a:off x="332156" y="1621770"/>
          <a:ext cx="603920" cy="603920"/>
        </a:xfrm>
        <a:prstGeom prst="rect">
          <a:avLst/>
        </a:prstGeom>
        <a:blipFill>
          <a:blip xmlns:r="http://schemas.openxmlformats.org/officeDocument/2006/relationships"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9A1A9D0-015A-46DE-8DDB-572AC43304D7}">
      <dsp:nvSpPr>
        <dsp:cNvPr id="0" name=""/>
        <dsp:cNvSpPr/>
      </dsp:nvSpPr>
      <dsp:spPr>
        <a:xfrm>
          <a:off x="1268232" y="1374712"/>
          <a:ext cx="8259225" cy="10980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209" tIns="116209" rIns="116209" bIns="116209" numCol="1" spcCol="1270" anchor="ctr" anchorCtr="0">
          <a:noAutofit/>
        </a:bodyPr>
        <a:lstStyle/>
        <a:p>
          <a:pPr marL="0" lvl="0" indent="0" algn="l" defTabSz="666750">
            <a:lnSpc>
              <a:spcPct val="90000"/>
            </a:lnSpc>
            <a:spcBef>
              <a:spcPct val="0"/>
            </a:spcBef>
            <a:spcAft>
              <a:spcPct val="35000"/>
            </a:spcAft>
            <a:buNone/>
          </a:pPr>
          <a:r>
            <a:rPr lang="en-US" sz="1500" kern="1200" dirty="0">
              <a:solidFill>
                <a:schemeClr val="bg2">
                  <a:lumMod val="10000"/>
                </a:schemeClr>
              </a:solidFill>
            </a:rPr>
            <a:t>2.Rapid CSF cryptococcal antigen (</a:t>
          </a:r>
          <a:r>
            <a:rPr lang="en-US" sz="1500" kern="1200" dirty="0" err="1">
              <a:solidFill>
                <a:schemeClr val="bg2">
                  <a:lumMod val="10000"/>
                </a:schemeClr>
              </a:solidFill>
            </a:rPr>
            <a:t>CrAg</a:t>
          </a:r>
          <a:r>
            <a:rPr lang="en-US" sz="1500" kern="1200" dirty="0">
              <a:solidFill>
                <a:schemeClr val="bg2">
                  <a:lumMod val="10000"/>
                </a:schemeClr>
              </a:solidFill>
            </a:rPr>
            <a:t>) assay</a:t>
          </a:r>
        </a:p>
        <a:p>
          <a:pPr marL="0" lvl="0" indent="0" algn="l" defTabSz="666750">
            <a:lnSpc>
              <a:spcPct val="90000"/>
            </a:lnSpc>
            <a:spcBef>
              <a:spcPct val="0"/>
            </a:spcBef>
            <a:spcAft>
              <a:spcPct val="35000"/>
            </a:spcAft>
            <a:buNone/>
          </a:pPr>
          <a:r>
            <a:rPr lang="en-US" sz="1500" kern="1200" dirty="0">
              <a:solidFill>
                <a:schemeClr val="bg2">
                  <a:lumMod val="10000"/>
                </a:schemeClr>
              </a:solidFill>
            </a:rPr>
            <a:t>-Cost effective.</a:t>
          </a:r>
        </a:p>
        <a:p>
          <a:pPr marL="0" lvl="0" indent="0" algn="l" defTabSz="666750">
            <a:lnSpc>
              <a:spcPct val="90000"/>
            </a:lnSpc>
            <a:spcBef>
              <a:spcPct val="0"/>
            </a:spcBef>
            <a:spcAft>
              <a:spcPct val="35000"/>
            </a:spcAft>
            <a:buNone/>
          </a:pPr>
          <a:r>
            <a:rPr lang="en-US" sz="1500" kern="1200" dirty="0">
              <a:solidFill>
                <a:schemeClr val="bg2">
                  <a:lumMod val="10000"/>
                </a:schemeClr>
              </a:solidFill>
            </a:rPr>
            <a:t>-persistence after antifungal therapy, can't differentiate relapse from IRIS</a:t>
          </a:r>
        </a:p>
      </dsp:txBody>
      <dsp:txXfrm>
        <a:off x="1268232" y="1374712"/>
        <a:ext cx="8259225" cy="1098036"/>
      </dsp:txXfrm>
    </dsp:sp>
    <dsp:sp modelId="{D6F55A4B-3983-488D-A7D0-5CAA402FAC89}">
      <dsp:nvSpPr>
        <dsp:cNvPr id="0" name=""/>
        <dsp:cNvSpPr/>
      </dsp:nvSpPr>
      <dsp:spPr>
        <a:xfrm>
          <a:off x="0" y="2747257"/>
          <a:ext cx="9527458" cy="10980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A1B8F9-5721-4C58-B5C6-EFC891265D80}">
      <dsp:nvSpPr>
        <dsp:cNvPr id="0" name=""/>
        <dsp:cNvSpPr/>
      </dsp:nvSpPr>
      <dsp:spPr>
        <a:xfrm>
          <a:off x="332156" y="2994315"/>
          <a:ext cx="603920" cy="603920"/>
        </a:xfrm>
        <a:prstGeom prst="rect">
          <a:avLst/>
        </a:prstGeom>
        <a:blipFill>
          <a:blip xmlns:r="http://schemas.openxmlformats.org/officeDocument/2006/relationships"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8C490A5-36D0-42C4-94C6-0CE16180F22D}">
      <dsp:nvSpPr>
        <dsp:cNvPr id="0" name=""/>
        <dsp:cNvSpPr/>
      </dsp:nvSpPr>
      <dsp:spPr>
        <a:xfrm>
          <a:off x="1268232" y="2747257"/>
          <a:ext cx="8259225" cy="10980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209" tIns="116209" rIns="116209" bIns="116209" numCol="1" spcCol="1270" anchor="ctr" anchorCtr="0">
          <a:noAutofit/>
        </a:bodyPr>
        <a:lstStyle/>
        <a:p>
          <a:pPr marL="0" lvl="0" indent="0" algn="l" defTabSz="666750">
            <a:lnSpc>
              <a:spcPct val="90000"/>
            </a:lnSpc>
            <a:spcBef>
              <a:spcPct val="0"/>
            </a:spcBef>
            <a:spcAft>
              <a:spcPct val="35000"/>
            </a:spcAft>
            <a:buNone/>
          </a:pPr>
          <a:r>
            <a:rPr lang="en-US" sz="1500" kern="1200" dirty="0">
              <a:solidFill>
                <a:schemeClr val="bg2">
                  <a:lumMod val="10000"/>
                </a:schemeClr>
              </a:solidFill>
            </a:rPr>
            <a:t>3.Rapid serum </a:t>
          </a:r>
          <a:r>
            <a:rPr lang="en-US" sz="1500" kern="1200" dirty="0" err="1">
              <a:solidFill>
                <a:schemeClr val="bg2">
                  <a:lumMod val="10000"/>
                </a:schemeClr>
              </a:solidFill>
            </a:rPr>
            <a:t>CrAg</a:t>
          </a:r>
          <a:endParaRPr lang="en-US" sz="1500" kern="1200" dirty="0">
            <a:solidFill>
              <a:schemeClr val="bg2">
                <a:lumMod val="10000"/>
              </a:schemeClr>
            </a:solidFill>
          </a:endParaRPr>
        </a:p>
        <a:p>
          <a:pPr marL="0" lvl="0" indent="0" algn="l" defTabSz="666750">
            <a:lnSpc>
              <a:spcPct val="90000"/>
            </a:lnSpc>
            <a:spcBef>
              <a:spcPct val="0"/>
            </a:spcBef>
            <a:spcAft>
              <a:spcPct val="35000"/>
            </a:spcAft>
            <a:buNone/>
          </a:pPr>
          <a:r>
            <a:rPr lang="en-US" sz="1500" kern="1200" dirty="0">
              <a:solidFill>
                <a:schemeClr val="bg2">
                  <a:lumMod val="10000"/>
                </a:schemeClr>
              </a:solidFill>
            </a:rPr>
            <a:t>- &gt;99% sensitive when CSF </a:t>
          </a:r>
          <a:r>
            <a:rPr lang="en-US" sz="1500" kern="1200" dirty="0" err="1">
              <a:solidFill>
                <a:schemeClr val="bg2">
                  <a:lumMod val="10000"/>
                </a:schemeClr>
              </a:solidFill>
            </a:rPr>
            <a:t>CrAg</a:t>
          </a:r>
          <a:r>
            <a:rPr lang="en-US" sz="1500" kern="1200" dirty="0">
              <a:solidFill>
                <a:schemeClr val="bg2">
                  <a:lumMod val="10000"/>
                </a:schemeClr>
              </a:solidFill>
            </a:rPr>
            <a:t> is positive</a:t>
          </a:r>
        </a:p>
        <a:p>
          <a:pPr marL="0" lvl="0" indent="0" algn="l" defTabSz="666750">
            <a:lnSpc>
              <a:spcPct val="90000"/>
            </a:lnSpc>
            <a:spcBef>
              <a:spcPct val="0"/>
            </a:spcBef>
            <a:spcAft>
              <a:spcPct val="35000"/>
            </a:spcAft>
            <a:buNone/>
          </a:pPr>
          <a:r>
            <a:rPr lang="en-US" sz="1500" kern="1200" dirty="0">
              <a:solidFill>
                <a:schemeClr val="bg2">
                  <a:lumMod val="10000"/>
                </a:schemeClr>
              </a:solidFill>
            </a:rPr>
            <a:t>4. Role of Cryptococcal culture , Role of PCR.</a:t>
          </a:r>
        </a:p>
      </dsp:txBody>
      <dsp:txXfrm>
        <a:off x="1268232" y="2747257"/>
        <a:ext cx="8259225" cy="1098036"/>
      </dsp:txXfrm>
    </dsp:sp>
    <dsp:sp modelId="{F888C146-69BA-42EF-90C2-47EB08DA7F08}">
      <dsp:nvSpPr>
        <dsp:cNvPr id="0" name=""/>
        <dsp:cNvSpPr/>
      </dsp:nvSpPr>
      <dsp:spPr>
        <a:xfrm>
          <a:off x="0" y="4119803"/>
          <a:ext cx="9527458" cy="10980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B1E0C8-A899-4E82-98E9-9BB59D2DA94E}">
      <dsp:nvSpPr>
        <dsp:cNvPr id="0" name=""/>
        <dsp:cNvSpPr/>
      </dsp:nvSpPr>
      <dsp:spPr>
        <a:xfrm>
          <a:off x="332156" y="4366861"/>
          <a:ext cx="603920" cy="603920"/>
        </a:xfrm>
        <a:prstGeom prst="rect">
          <a:avLst/>
        </a:prstGeom>
        <a:blipFill>
          <a:blip xmlns:r="http://schemas.openxmlformats.org/officeDocument/2006/relationships"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3610B69-75AB-414D-88DC-62CBEA657DC1}">
      <dsp:nvSpPr>
        <dsp:cNvPr id="0" name=""/>
        <dsp:cNvSpPr/>
      </dsp:nvSpPr>
      <dsp:spPr>
        <a:xfrm>
          <a:off x="1268232" y="4119803"/>
          <a:ext cx="8259225" cy="10980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209" tIns="116209" rIns="116209" bIns="116209" numCol="1" spcCol="1270" anchor="ctr" anchorCtr="0">
          <a:noAutofit/>
        </a:bodyPr>
        <a:lstStyle/>
        <a:p>
          <a:pPr marL="0" lvl="0" indent="0" algn="l" defTabSz="666750">
            <a:lnSpc>
              <a:spcPct val="90000"/>
            </a:lnSpc>
            <a:spcBef>
              <a:spcPct val="0"/>
            </a:spcBef>
            <a:spcAft>
              <a:spcPct val="35000"/>
            </a:spcAft>
            <a:buNone/>
          </a:pPr>
          <a:r>
            <a:rPr lang="en-US" sz="1500" kern="1200" dirty="0">
              <a:solidFill>
                <a:schemeClr val="bg2">
                  <a:lumMod val="10000"/>
                </a:schemeClr>
              </a:solidFill>
            </a:rPr>
            <a:t>5.BRAIN-MRI</a:t>
          </a:r>
        </a:p>
      </dsp:txBody>
      <dsp:txXfrm>
        <a:off x="1268232" y="4119803"/>
        <a:ext cx="8259225" cy="109803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smtClean="0">
                <a:latin typeface="+mn-lt"/>
                <a:ea typeface="+mn-ea"/>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lstStyle>
            <a:lvl1pPr algn="r">
              <a:defRPr sz="1200">
                <a:latin typeface="Calibri" panose="020F0502020204030204" pitchFamily="34" charset="0"/>
              </a:defRPr>
            </a:lvl1pPr>
          </a:lstStyle>
          <a:p>
            <a:fld id="{5A5C2878-4654-4079-B030-5E47C2C5D674}" type="datetimeFigureOut">
              <a:rPr lang="en-US" altLang="en-US"/>
              <a:t>5/15/2026</a:t>
            </a:fld>
            <a:endParaRPr lang="en-US"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smtClean="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atin typeface="Calibri" panose="020F0502020204030204" pitchFamily="34" charset="0"/>
              </a:defRPr>
            </a:lvl1pPr>
          </a:lstStyle>
          <a:p>
            <a:fld id="{5497DE80-0297-46C5-B5C0-F08F29C2DD8F}" type="slidenum">
              <a:rPr lang="en-US" altLang="en-US"/>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smtClean="0">
                <a:latin typeface="+mn-lt"/>
                <a:ea typeface="+mn-ea"/>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lstStyle>
            <a:lvl1pPr algn="r">
              <a:defRPr sz="1200">
                <a:latin typeface="Calibri" panose="020F0502020204030204" pitchFamily="34" charset="0"/>
              </a:defRPr>
            </a:lvl1pPr>
          </a:lstStyle>
          <a:p>
            <a:fld id="{8EECDD41-E951-430A-8AF4-2C94325B6799}" type="datetimeFigureOut">
              <a:rPr lang="en-US" altLang="en-US"/>
              <a:t>5/15/2026</a:t>
            </a:fld>
            <a:endParaRPr lang="en-US" alt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smtClean="0">
                <a:latin typeface="+mn-lt"/>
                <a:ea typeface="+mn-ea"/>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atin typeface="Calibri" panose="020F0502020204030204" pitchFamily="34" charset="0"/>
              </a:defRPr>
            </a:lvl1pPr>
          </a:lstStyle>
          <a:p>
            <a:fld id="{86948324-13D7-4655-B8F7-1E5C093BA4F7}" type="slidenum">
              <a:rPr lang="en-US" altLang="en-US"/>
              <a:t>‹#›</a:t>
            </a:fld>
            <a:endParaRPr lang="en-US" altLang="en-US"/>
          </a:p>
        </p:txBody>
      </p:sp>
    </p:spTree>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MS PGothic" panose="020B0600070205080204" pitchFamily="34" charset="-128"/>
        <a:cs typeface="+mn-cs"/>
      </a:defRPr>
    </a:lvl1pPr>
    <a:lvl2pPr marL="457200" algn="l" defTabSz="457200" rtl="0" fontAlgn="base">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defTabSz="457200" rtl="0" fontAlgn="base">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defTabSz="457200" rtl="0" fontAlgn="base">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defTabSz="457200" rtl="0" fontAlgn="base">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pPr marL="0" marR="0" lvl="0" indent="0" algn="l" defTabSz="457200" rtl="0" eaLnBrk="1" fontAlgn="base"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MS PGothic" panose="020B0600070205080204" pitchFamily="34" charset="-128"/>
                <a:cs typeface="+mn-cs"/>
              </a:rPr>
              <a:t>Current Epidemiology and Clinical Features of Cryptococcus Infection in Patients Without Human Immunodeficiency Virus</a:t>
            </a:r>
          </a:p>
          <a:p>
            <a:endParaRPr lang="en-TZ"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t>5</a:t>
            </a:fld>
            <a:endParaRPr lang="en-US" altLang="en-US"/>
          </a:p>
        </p:txBody>
      </p:sp>
    </p:spTree>
    <p:extLst>
      <p:ext uri="{BB962C8B-B14F-4D97-AF65-F5344CB8AC3E}">
        <p14:creationId xmlns:p14="http://schemas.microsoft.com/office/powerpoint/2010/main" val="1693497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r>
              <a:rPr lang="en-US" dirty="0"/>
              <a:t>Core textbooks :Harrison’s principles of internal medicine, Kuby immunology.</a:t>
            </a:r>
          </a:p>
          <a:p>
            <a:r>
              <a:rPr lang="en-US" dirty="0" err="1"/>
              <a:t>Guildlines</a:t>
            </a:r>
            <a:r>
              <a:rPr lang="en-US" dirty="0"/>
              <a:t> and Authoritative organization: WHO(Secondary immunodefiency; HIV, malnutrition, International union of immunological societies(primary immunodefiency diseases</a:t>
            </a:r>
          </a:p>
          <a:p>
            <a:endParaRPr lang="en-US"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t>7</a:t>
            </a:fld>
            <a:endParaRPr lang="en-US" altLang="en-US"/>
          </a:p>
        </p:txBody>
      </p:sp>
    </p:spTree>
    <p:extLst>
      <p:ext uri="{BB962C8B-B14F-4D97-AF65-F5344CB8AC3E}">
        <p14:creationId xmlns:p14="http://schemas.microsoft.com/office/powerpoint/2010/main" val="3114918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r>
              <a:rPr lang="en-US" dirty="0"/>
              <a:t>Classic triad of De George Syndrome (Cardiac defects, hypocalcemia and T-cell deficiency)</a:t>
            </a:r>
          </a:p>
        </p:txBody>
      </p:sp>
      <p:sp>
        <p:nvSpPr>
          <p:cNvPr id="4" name="Slide Number Placeholder 3"/>
          <p:cNvSpPr>
            <a:spLocks noGrp="1"/>
          </p:cNvSpPr>
          <p:nvPr>
            <p:ph type="sldNum" sz="quarter" idx="5"/>
          </p:nvPr>
        </p:nvSpPr>
        <p:spPr/>
        <p:txBody>
          <a:bodyPr/>
          <a:lstStyle/>
          <a:p>
            <a:fld id="{86948324-13D7-4655-B8F7-1E5C093BA4F7}" type="slidenum">
              <a:rPr lang="en-US" altLang="en-US" smtClean="0"/>
              <a:t>8</a:t>
            </a:fld>
            <a:endParaRPr lang="en-US" altLang="en-US"/>
          </a:p>
        </p:txBody>
      </p:sp>
    </p:spTree>
    <p:extLst>
      <p:ext uri="{BB962C8B-B14F-4D97-AF65-F5344CB8AC3E}">
        <p14:creationId xmlns:p14="http://schemas.microsoft.com/office/powerpoint/2010/main" val="32036602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r>
              <a:rPr lang="en-US" dirty="0"/>
              <a:t>Even when primary immunodeficiency is highly suspected, still evaluate for secondary immune disorders , as they are more common </a:t>
            </a:r>
          </a:p>
          <a:p>
            <a:endParaRPr lang="en-US" dirty="0"/>
          </a:p>
        </p:txBody>
      </p:sp>
      <p:sp>
        <p:nvSpPr>
          <p:cNvPr id="4" name="Slide Number Placeholder 3"/>
          <p:cNvSpPr>
            <a:spLocks noGrp="1"/>
          </p:cNvSpPr>
          <p:nvPr>
            <p:ph type="sldNum" sz="quarter" idx="10"/>
          </p:nvPr>
        </p:nvSpPr>
        <p:spPr/>
        <p:txBody>
          <a:bodyPr/>
          <a:lstStyle/>
          <a:p>
            <a:fld id="{7BE4F3EE-32F1-4614-9FE9-DC8541DCDBAC}" type="slidenum">
              <a:rPr lang="en-US" smtClean="0"/>
              <a:t>9</a:t>
            </a:fld>
            <a:endParaRPr lang="en-US"/>
          </a:p>
        </p:txBody>
      </p:sp>
    </p:spTree>
    <p:extLst>
      <p:ext uri="{BB962C8B-B14F-4D97-AF65-F5344CB8AC3E}">
        <p14:creationId xmlns:p14="http://schemas.microsoft.com/office/powerpoint/2010/main" val="1761205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r>
              <a:rPr lang="en-US" dirty="0"/>
              <a:t>New England Journal of </a:t>
            </a:r>
            <a:r>
              <a:rPr lang="en-US" dirty="0" err="1"/>
              <a:t>Medicine,Tangye</a:t>
            </a:r>
            <a:r>
              <a:rPr lang="en-US" dirty="0"/>
              <a:t> </a:t>
            </a:r>
            <a:r>
              <a:rPr lang="en-US" dirty="0" err="1"/>
              <a:t>SG,et</a:t>
            </a:r>
            <a:r>
              <a:rPr lang="en-US" dirty="0"/>
              <a:t> </a:t>
            </a:r>
            <a:r>
              <a:rPr lang="en-US" dirty="0" err="1"/>
              <a:t>al.Human</a:t>
            </a:r>
            <a:r>
              <a:rPr lang="en-US" dirty="0"/>
              <a:t> inborn errors of immunity:2022 update</a:t>
            </a:r>
          </a:p>
        </p:txBody>
      </p:sp>
      <p:sp>
        <p:nvSpPr>
          <p:cNvPr id="4" name="Slide Number Placeholder 3"/>
          <p:cNvSpPr>
            <a:spLocks noGrp="1"/>
          </p:cNvSpPr>
          <p:nvPr>
            <p:ph type="sldNum" sz="quarter" idx="5"/>
          </p:nvPr>
        </p:nvSpPr>
        <p:spPr/>
        <p:txBody>
          <a:bodyPr/>
          <a:lstStyle/>
          <a:p>
            <a:fld id="{86948324-13D7-4655-B8F7-1E5C093BA4F7}" type="slidenum">
              <a:rPr lang="en-US" altLang="en-US" smtClean="0"/>
              <a:t>10</a:t>
            </a:fld>
            <a:endParaRPr lang="en-US" altLang="en-US"/>
          </a:p>
        </p:txBody>
      </p:sp>
    </p:spTree>
    <p:extLst>
      <p:ext uri="{BB962C8B-B14F-4D97-AF65-F5344CB8AC3E}">
        <p14:creationId xmlns:p14="http://schemas.microsoft.com/office/powerpoint/2010/main" val="2537609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r>
              <a:rPr lang="en-US" dirty="0"/>
              <a:t>ESID:EUROPEAN  SOCIETY FOR IMMUNODIFFICIENCY</a:t>
            </a:r>
          </a:p>
        </p:txBody>
      </p:sp>
      <p:sp>
        <p:nvSpPr>
          <p:cNvPr id="4" name="Slide Number Placeholder 3"/>
          <p:cNvSpPr>
            <a:spLocks noGrp="1"/>
          </p:cNvSpPr>
          <p:nvPr>
            <p:ph type="sldNum" sz="quarter" idx="5"/>
          </p:nvPr>
        </p:nvSpPr>
        <p:spPr/>
        <p:txBody>
          <a:bodyPr/>
          <a:lstStyle/>
          <a:p>
            <a:fld id="{7BE4F3EE-32F1-4614-9FE9-DC8541DCDBAC}" type="slidenum">
              <a:rPr lang="en-US" smtClean="0"/>
              <a:t>12</a:t>
            </a:fld>
            <a:endParaRPr lang="en-US"/>
          </a:p>
        </p:txBody>
      </p:sp>
    </p:spTree>
    <p:extLst>
      <p:ext uri="{BB962C8B-B14F-4D97-AF65-F5344CB8AC3E}">
        <p14:creationId xmlns:p14="http://schemas.microsoft.com/office/powerpoint/2010/main" val="6893362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t>17</a:t>
            </a:fld>
            <a:endParaRPr lang="en-US" altLang="en-US"/>
          </a:p>
        </p:txBody>
      </p:sp>
    </p:spTree>
    <p:extLst>
      <p:ext uri="{BB962C8B-B14F-4D97-AF65-F5344CB8AC3E}">
        <p14:creationId xmlns:p14="http://schemas.microsoft.com/office/powerpoint/2010/main" val="29326642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BE4F3EE-32F1-4614-9FE9-DC8541DCDBAC}" type="slidenum">
              <a:rPr lang="en-US" smtClean="0"/>
              <a:t>18</a:t>
            </a:fld>
            <a:endParaRPr lang="en-US"/>
          </a:p>
        </p:txBody>
      </p:sp>
    </p:spTree>
    <p:extLst>
      <p:ext uri="{BB962C8B-B14F-4D97-AF65-F5344CB8AC3E}">
        <p14:creationId xmlns:p14="http://schemas.microsoft.com/office/powerpoint/2010/main" val="31756034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r>
              <a:rPr lang="en-US" dirty="0"/>
              <a:t>New England Journal Medicine, Indian journal of Endocrinology and metabolism, American Diabetes Association(2024-2025)</a:t>
            </a:r>
          </a:p>
        </p:txBody>
      </p:sp>
      <p:sp>
        <p:nvSpPr>
          <p:cNvPr id="4" name="Slide Number Placeholder 3"/>
          <p:cNvSpPr>
            <a:spLocks noGrp="1"/>
          </p:cNvSpPr>
          <p:nvPr>
            <p:ph type="sldNum" sz="quarter" idx="5"/>
          </p:nvPr>
        </p:nvSpPr>
        <p:spPr/>
        <p:txBody>
          <a:bodyPr/>
          <a:lstStyle/>
          <a:p>
            <a:fld id="{86948324-13D7-4655-B8F7-1E5C093BA4F7}" type="slidenum">
              <a:rPr lang="en-US" altLang="en-US" smtClean="0"/>
              <a:t>20</a:t>
            </a:fld>
            <a:endParaRPr lang="en-US" altLang="en-US"/>
          </a:p>
        </p:txBody>
      </p:sp>
    </p:spTree>
    <p:extLst>
      <p:ext uri="{BB962C8B-B14F-4D97-AF65-F5344CB8AC3E}">
        <p14:creationId xmlns:p14="http://schemas.microsoft.com/office/powerpoint/2010/main" val="33390496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BE4F3EE-32F1-4614-9FE9-DC8541DCDBAC}" type="slidenum">
              <a:rPr lang="en-US" smtClean="0"/>
              <a:t>21</a:t>
            </a:fld>
            <a:endParaRPr lang="en-US"/>
          </a:p>
        </p:txBody>
      </p:sp>
    </p:spTree>
    <p:extLst>
      <p:ext uri="{BB962C8B-B14F-4D97-AF65-F5344CB8AC3E}">
        <p14:creationId xmlns:p14="http://schemas.microsoft.com/office/powerpoint/2010/main" val="4087785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r>
              <a:rPr lang="en-US" dirty="0"/>
              <a:t>Frontiers in Medicine 2025,Nature Scientific Reports(2020),Ishani A et </a:t>
            </a:r>
            <a:r>
              <a:rPr lang="en-US" dirty="0" err="1"/>
              <a:t>al.,JASN</a:t>
            </a:r>
            <a:r>
              <a:rPr lang="en-US" dirty="0"/>
              <a:t>(2005)</a:t>
            </a:r>
          </a:p>
        </p:txBody>
      </p:sp>
      <p:sp>
        <p:nvSpPr>
          <p:cNvPr id="4" name="Slide Number Placeholder 3"/>
          <p:cNvSpPr>
            <a:spLocks noGrp="1"/>
          </p:cNvSpPr>
          <p:nvPr>
            <p:ph type="sldNum" sz="quarter" idx="10"/>
          </p:nvPr>
        </p:nvSpPr>
        <p:spPr/>
        <p:txBody>
          <a:bodyPr/>
          <a:lstStyle/>
          <a:p>
            <a:fld id="{7BE4F3EE-32F1-4614-9FE9-DC8541DCDBAC}" type="slidenum">
              <a:rPr lang="en-US" smtClean="0"/>
              <a:t>22</a:t>
            </a:fld>
            <a:endParaRPr lang="en-US"/>
          </a:p>
        </p:txBody>
      </p:sp>
    </p:spTree>
    <p:extLst>
      <p:ext uri="{BB962C8B-B14F-4D97-AF65-F5344CB8AC3E}">
        <p14:creationId xmlns:p14="http://schemas.microsoft.com/office/powerpoint/2010/main" val="40877857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1DD1152E-E81D-4A30-B8B9-3C2901B7CE48}" type="slidenum">
              <a:rPr lang="en-TZ" smtClean="0"/>
              <a:t>23</a:t>
            </a:fld>
            <a:endParaRPr lang="en-TZ"/>
          </a:p>
        </p:txBody>
      </p:sp>
    </p:spTree>
    <p:extLst>
      <p:ext uri="{BB962C8B-B14F-4D97-AF65-F5344CB8AC3E}">
        <p14:creationId xmlns:p14="http://schemas.microsoft.com/office/powerpoint/2010/main" val="1376204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1DD1152E-E81D-4A30-B8B9-3C2901B7CE48}" type="slidenum">
              <a:rPr lang="en-TZ" smtClean="0"/>
              <a:t>24</a:t>
            </a:fld>
            <a:endParaRPr lang="en-TZ"/>
          </a:p>
        </p:txBody>
      </p:sp>
    </p:spTree>
    <p:extLst>
      <p:ext uri="{BB962C8B-B14F-4D97-AF65-F5344CB8AC3E}">
        <p14:creationId xmlns:p14="http://schemas.microsoft.com/office/powerpoint/2010/main" val="18030471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r>
              <a:rPr lang="en-US" dirty="0"/>
              <a:t>Graft Versus Host Disease life threatening complication after certain stem cell and bone marrow transplants,  occur in allogenic transplant,</a:t>
            </a:r>
            <a:r>
              <a:rPr lang="en-US" baseline="0" dirty="0"/>
              <a:t> transplanted cell regard the recipient as foreign and attacks the recipient’s body can be acute with abdominal pain, jaundice, skin rash, itching and increased risk of infection, can be chronic with dry eyes, dry mouth, fatigue, joint pain, stiffness </a:t>
            </a:r>
            <a:endParaRPr lang="en-US" dirty="0"/>
          </a:p>
        </p:txBody>
      </p:sp>
      <p:sp>
        <p:nvSpPr>
          <p:cNvPr id="4" name="Slide Number Placeholder 3"/>
          <p:cNvSpPr>
            <a:spLocks noGrp="1"/>
          </p:cNvSpPr>
          <p:nvPr>
            <p:ph type="sldNum" sz="quarter" idx="10"/>
          </p:nvPr>
        </p:nvSpPr>
        <p:spPr/>
        <p:txBody>
          <a:bodyPr/>
          <a:lstStyle/>
          <a:p>
            <a:fld id="{7BE4F3EE-32F1-4614-9FE9-DC8541DCDBAC}" type="slidenum">
              <a:rPr lang="en-US" smtClean="0"/>
              <a:t>25</a:t>
            </a:fld>
            <a:endParaRPr lang="en-US"/>
          </a:p>
        </p:txBody>
      </p:sp>
    </p:spTree>
    <p:extLst>
      <p:ext uri="{BB962C8B-B14F-4D97-AF65-F5344CB8AC3E}">
        <p14:creationId xmlns:p14="http://schemas.microsoft.com/office/powerpoint/2010/main" val="20891066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r>
              <a:rPr lang="en-US" dirty="0"/>
              <a:t>Christofferson et al.,2025(systemic review) immunocompromised patients show prolonged viral shedding increased transmission risk and  delayed viral clearance</a:t>
            </a:r>
            <a:endParaRPr lang="en-TZ" dirty="0"/>
          </a:p>
        </p:txBody>
      </p:sp>
      <p:sp>
        <p:nvSpPr>
          <p:cNvPr id="4" name="Slide Number Placeholder 3"/>
          <p:cNvSpPr>
            <a:spLocks noGrp="1"/>
          </p:cNvSpPr>
          <p:nvPr>
            <p:ph type="sldNum" sz="quarter" idx="5"/>
          </p:nvPr>
        </p:nvSpPr>
        <p:spPr/>
        <p:txBody>
          <a:bodyPr/>
          <a:lstStyle/>
          <a:p>
            <a:fld id="{1DD1152E-E81D-4A30-B8B9-3C2901B7CE48}" type="slidenum">
              <a:rPr lang="en-TZ" smtClean="0"/>
              <a:t>26</a:t>
            </a:fld>
            <a:endParaRPr lang="en-TZ"/>
          </a:p>
        </p:txBody>
      </p:sp>
    </p:spTree>
    <p:extLst>
      <p:ext uri="{BB962C8B-B14F-4D97-AF65-F5344CB8AC3E}">
        <p14:creationId xmlns:p14="http://schemas.microsoft.com/office/powerpoint/2010/main" val="42936047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1DD1152E-E81D-4A30-B8B9-3C2901B7CE48}" type="slidenum">
              <a:rPr lang="en-TZ" smtClean="0"/>
              <a:t>27</a:t>
            </a:fld>
            <a:endParaRPr lang="en-TZ"/>
          </a:p>
        </p:txBody>
      </p:sp>
    </p:spTree>
    <p:extLst>
      <p:ext uri="{BB962C8B-B14F-4D97-AF65-F5344CB8AC3E}">
        <p14:creationId xmlns:p14="http://schemas.microsoft.com/office/powerpoint/2010/main" val="27944641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1DD1152E-E81D-4A30-B8B9-3C2901B7CE48}" type="slidenum">
              <a:rPr lang="en-TZ" smtClean="0"/>
              <a:t>28</a:t>
            </a:fld>
            <a:endParaRPr lang="en-TZ"/>
          </a:p>
        </p:txBody>
      </p:sp>
    </p:spTree>
    <p:extLst>
      <p:ext uri="{BB962C8B-B14F-4D97-AF65-F5344CB8AC3E}">
        <p14:creationId xmlns:p14="http://schemas.microsoft.com/office/powerpoint/2010/main" val="23013546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1DD1152E-E81D-4A30-B8B9-3C2901B7CE48}" type="slidenum">
              <a:rPr lang="en-TZ" smtClean="0"/>
              <a:t>29</a:t>
            </a:fld>
            <a:endParaRPr lang="en-TZ"/>
          </a:p>
        </p:txBody>
      </p:sp>
    </p:spTree>
    <p:extLst>
      <p:ext uri="{BB962C8B-B14F-4D97-AF65-F5344CB8AC3E}">
        <p14:creationId xmlns:p14="http://schemas.microsoft.com/office/powerpoint/2010/main" val="2793332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1DD1152E-E81D-4A30-B8B9-3C2901B7CE48}" type="slidenum">
              <a:rPr lang="en-TZ" smtClean="0"/>
              <a:t>33</a:t>
            </a:fld>
            <a:endParaRPr lang="en-TZ"/>
          </a:p>
        </p:txBody>
      </p:sp>
    </p:spTree>
    <p:extLst>
      <p:ext uri="{BB962C8B-B14F-4D97-AF65-F5344CB8AC3E}">
        <p14:creationId xmlns:p14="http://schemas.microsoft.com/office/powerpoint/2010/main" val="57448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r>
              <a:rPr lang="en-US" dirty="0"/>
              <a:t>OI :Opportunistic infection</a:t>
            </a:r>
          </a:p>
          <a:p>
            <a:r>
              <a:rPr lang="en-US" dirty="0"/>
              <a:t>Disease flare: when there is reactivation of disease where complements are low, leukopenia</a:t>
            </a:r>
          </a:p>
        </p:txBody>
      </p:sp>
      <p:sp>
        <p:nvSpPr>
          <p:cNvPr id="4" name="Slide Number Placeholder 3"/>
          <p:cNvSpPr>
            <a:spLocks noGrp="1"/>
          </p:cNvSpPr>
          <p:nvPr>
            <p:ph type="sldNum" sz="quarter" idx="5"/>
          </p:nvPr>
        </p:nvSpPr>
        <p:spPr/>
        <p:txBody>
          <a:bodyPr/>
          <a:lstStyle/>
          <a:p>
            <a:fld id="{7BE4F3EE-32F1-4614-9FE9-DC8541DCDBAC}" type="slidenum">
              <a:rPr lang="en-US" smtClean="0"/>
              <a:t>34</a:t>
            </a:fld>
            <a:endParaRPr lang="en-US"/>
          </a:p>
        </p:txBody>
      </p:sp>
    </p:spTree>
    <p:extLst>
      <p:ext uri="{BB962C8B-B14F-4D97-AF65-F5344CB8AC3E}">
        <p14:creationId xmlns:p14="http://schemas.microsoft.com/office/powerpoint/2010/main" val="35672816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r>
              <a:rPr lang="en-US" b="0" i="0" dirty="0">
                <a:solidFill>
                  <a:srgbClr val="232323"/>
                </a:solidFill>
                <a:effectLst/>
                <a:latin typeface="Noto Sans" panose="020B0502040504020204" pitchFamily="34" charset="0"/>
              </a:rPr>
              <a:t> a single </a:t>
            </a:r>
            <a:r>
              <a:rPr lang="en-US" b="0" i="0" dirty="0" err="1">
                <a:solidFill>
                  <a:srgbClr val="232323"/>
                </a:solidFill>
                <a:effectLst/>
                <a:latin typeface="Noto Sans" panose="020B0502040504020204" pitchFamily="34" charset="0"/>
              </a:rPr>
              <a:t>ora</a:t>
            </a:r>
            <a:endParaRPr lang="en-TZ" dirty="0"/>
          </a:p>
        </p:txBody>
      </p:sp>
      <p:sp>
        <p:nvSpPr>
          <p:cNvPr id="4" name="Slide Number Placeholder 3"/>
          <p:cNvSpPr>
            <a:spLocks noGrp="1"/>
          </p:cNvSpPr>
          <p:nvPr>
            <p:ph type="sldNum" sz="quarter" idx="5"/>
          </p:nvPr>
        </p:nvSpPr>
        <p:spPr/>
        <p:txBody>
          <a:bodyPr/>
          <a:lstStyle/>
          <a:p>
            <a:fld id="{1DD1152E-E81D-4A30-B8B9-3C2901B7CE48}" type="slidenum">
              <a:rPr lang="en-TZ" smtClean="0"/>
              <a:t>35</a:t>
            </a:fld>
            <a:endParaRPr lang="en-TZ"/>
          </a:p>
        </p:txBody>
      </p:sp>
    </p:spTree>
    <p:extLst>
      <p:ext uri="{BB962C8B-B14F-4D97-AF65-F5344CB8AC3E}">
        <p14:creationId xmlns:p14="http://schemas.microsoft.com/office/powerpoint/2010/main" val="20908705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r>
              <a:rPr lang="en-US"/>
              <a:t>Felty syndrome:triad of (rheumatoid arthritis,splenomegaly and neutropenia)</a:t>
            </a:r>
            <a:endParaRPr lang="en-US" dirty="0"/>
          </a:p>
        </p:txBody>
      </p:sp>
      <p:sp>
        <p:nvSpPr>
          <p:cNvPr id="4" name="Slide Number Placeholder 3"/>
          <p:cNvSpPr>
            <a:spLocks noGrp="1"/>
          </p:cNvSpPr>
          <p:nvPr>
            <p:ph type="sldNum" sz="quarter" idx="5"/>
          </p:nvPr>
        </p:nvSpPr>
        <p:spPr/>
        <p:txBody>
          <a:bodyPr/>
          <a:lstStyle/>
          <a:p>
            <a:fld id="{7BE4F3EE-32F1-4614-9FE9-DC8541DCDBAC}" type="slidenum">
              <a:rPr lang="en-US" smtClean="0"/>
              <a:t>36</a:t>
            </a:fld>
            <a:endParaRPr lang="en-US"/>
          </a:p>
        </p:txBody>
      </p:sp>
    </p:spTree>
    <p:extLst>
      <p:ext uri="{BB962C8B-B14F-4D97-AF65-F5344CB8AC3E}">
        <p14:creationId xmlns:p14="http://schemas.microsoft.com/office/powerpoint/2010/main" val="20804843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r>
              <a:rPr lang="en-US" dirty="0" err="1"/>
              <a:t>GN:gram</a:t>
            </a:r>
            <a:r>
              <a:rPr lang="en-US" dirty="0"/>
              <a:t> negative</a:t>
            </a:r>
            <a:endParaRPr lang="en-TZ" dirty="0"/>
          </a:p>
        </p:txBody>
      </p:sp>
      <p:sp>
        <p:nvSpPr>
          <p:cNvPr id="4" name="Slide Number Placeholder 3"/>
          <p:cNvSpPr>
            <a:spLocks noGrp="1"/>
          </p:cNvSpPr>
          <p:nvPr>
            <p:ph type="sldNum" sz="quarter" idx="5"/>
          </p:nvPr>
        </p:nvSpPr>
        <p:spPr/>
        <p:txBody>
          <a:bodyPr/>
          <a:lstStyle/>
          <a:p>
            <a:fld id="{1DD1152E-E81D-4A30-B8B9-3C2901B7CE48}" type="slidenum">
              <a:rPr lang="en-TZ" smtClean="0"/>
              <a:t>37</a:t>
            </a:fld>
            <a:endParaRPr lang="en-TZ"/>
          </a:p>
        </p:txBody>
      </p:sp>
    </p:spTree>
    <p:extLst>
      <p:ext uri="{BB962C8B-B14F-4D97-AF65-F5344CB8AC3E}">
        <p14:creationId xmlns:p14="http://schemas.microsoft.com/office/powerpoint/2010/main" val="15182314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r>
              <a:rPr lang="en-US" dirty="0"/>
              <a:t>MASCC :Multinational association for supportive care in cancer</a:t>
            </a:r>
          </a:p>
          <a:p>
            <a:r>
              <a:rPr lang="en-US" dirty="0"/>
              <a:t>IDSA:IMMUNODEFIENCY SOCIETY OF AMERICA</a:t>
            </a:r>
          </a:p>
          <a:p>
            <a:r>
              <a:rPr lang="en-US" dirty="0"/>
              <a:t>ASCO:AMERICA SOCIETY OF CLINICAL ONCOLOGY</a:t>
            </a:r>
          </a:p>
          <a:p>
            <a:endParaRPr lang="en-US"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t>39</a:t>
            </a:fld>
            <a:endParaRPr lang="en-US" altLang="en-US"/>
          </a:p>
        </p:txBody>
      </p:sp>
    </p:spTree>
    <p:extLst>
      <p:ext uri="{BB962C8B-B14F-4D97-AF65-F5344CB8AC3E}">
        <p14:creationId xmlns:p14="http://schemas.microsoft.com/office/powerpoint/2010/main" val="35111858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t>40</a:t>
            </a:fld>
            <a:endParaRPr lang="en-US" altLang="en-US"/>
          </a:p>
        </p:txBody>
      </p:sp>
    </p:spTree>
    <p:extLst>
      <p:ext uri="{BB962C8B-B14F-4D97-AF65-F5344CB8AC3E}">
        <p14:creationId xmlns:p14="http://schemas.microsoft.com/office/powerpoint/2010/main" val="21445469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t>42</a:t>
            </a:fld>
            <a:endParaRPr lang="en-US" altLang="en-US"/>
          </a:p>
        </p:txBody>
      </p:sp>
    </p:spTree>
    <p:extLst>
      <p:ext uri="{BB962C8B-B14F-4D97-AF65-F5344CB8AC3E}">
        <p14:creationId xmlns:p14="http://schemas.microsoft.com/office/powerpoint/2010/main" val="8922621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r>
              <a:rPr lang="en-US" dirty="0"/>
              <a:t> Serology is more helpful when used to predict risk of CMV</a:t>
            </a:r>
            <a:r>
              <a:rPr lang="en-US" baseline="0" dirty="0"/>
              <a:t> </a:t>
            </a:r>
            <a:r>
              <a:rPr lang="en-US" dirty="0"/>
              <a:t>infection and disease in transplant recipients and is not recommended</a:t>
            </a:r>
            <a:r>
              <a:rPr lang="en-US" baseline="0" dirty="0"/>
              <a:t> </a:t>
            </a:r>
            <a:r>
              <a:rPr lang="en-US" dirty="0"/>
              <a:t>to diagnose acute disease</a:t>
            </a:r>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86948324-13D7-4655-B8F7-1E5C093BA4F7}"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pitchFamily="34" charset="0"/>
                <a:ea typeface="ＭＳ Ｐゴシック" panose="020B0600070205080204" pitchFamily="34"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0703930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DAFF3-1E5C-5008-6E59-9AEC2CCD28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819944-1A96-331D-F992-A8673021BF4A}"/>
              </a:ext>
            </a:extLst>
          </p:cNvPr>
          <p:cNvSpPr>
            <a:spLocks noGrp="1" noRot="1" noChangeAspect="1"/>
          </p:cNvSpPr>
          <p:nvPr>
            <p:ph type="sldImg"/>
          </p:nvPr>
        </p:nvSpPr>
        <p:spPr/>
        <p:txBody>
          <a:bodyPr/>
          <a:lstStyle/>
          <a:p>
            <a:endParaRPr lang="en-TZ"/>
          </a:p>
        </p:txBody>
      </p:sp>
      <p:sp>
        <p:nvSpPr>
          <p:cNvPr id="3" name="Notes Placeholder 2">
            <a:extLst>
              <a:ext uri="{FF2B5EF4-FFF2-40B4-BE49-F238E27FC236}">
                <a16:creationId xmlns:a16="http://schemas.microsoft.com/office/drawing/2014/main" id="{371BD36C-83BE-088D-0377-3F9C124463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B5367A-0CE1-6ED3-3095-24ECD8A8826E}"/>
              </a:ext>
            </a:extLst>
          </p:cNvPr>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86948324-13D7-4655-B8F7-1E5C093BA4F7}"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pitchFamily="34" charset="0"/>
                <a:ea typeface="ＭＳ Ｐゴシック" panose="020B0600070205080204" pitchFamily="34"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3417982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86948324-13D7-4655-B8F7-1E5C093BA4F7}"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pitchFamily="34" charset="0"/>
                <a:ea typeface="ＭＳ Ｐゴシック" panose="020B0600070205080204" pitchFamily="34"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3601912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t>46</a:t>
            </a:fld>
            <a:endParaRPr lang="en-US" altLang="en-US"/>
          </a:p>
        </p:txBody>
      </p:sp>
    </p:spTree>
    <p:extLst>
      <p:ext uri="{BB962C8B-B14F-4D97-AF65-F5344CB8AC3E}">
        <p14:creationId xmlns:p14="http://schemas.microsoft.com/office/powerpoint/2010/main" val="5875989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t>49</a:t>
            </a:fld>
            <a:endParaRPr lang="en-US" altLang="en-US"/>
          </a:p>
        </p:txBody>
      </p:sp>
    </p:spTree>
    <p:extLst>
      <p:ext uri="{BB962C8B-B14F-4D97-AF65-F5344CB8AC3E}">
        <p14:creationId xmlns:p14="http://schemas.microsoft.com/office/powerpoint/2010/main" val="14424978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t>50</a:t>
            </a:fld>
            <a:endParaRPr lang="en-US" altLang="en-US"/>
          </a:p>
        </p:txBody>
      </p:sp>
    </p:spTree>
    <p:extLst>
      <p:ext uri="{BB962C8B-B14F-4D97-AF65-F5344CB8AC3E}">
        <p14:creationId xmlns:p14="http://schemas.microsoft.com/office/powerpoint/2010/main" val="27451034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t>51</a:t>
            </a:fld>
            <a:endParaRPr lang="en-US" altLang="en-US"/>
          </a:p>
        </p:txBody>
      </p:sp>
    </p:spTree>
    <p:extLst>
      <p:ext uri="{BB962C8B-B14F-4D97-AF65-F5344CB8AC3E}">
        <p14:creationId xmlns:p14="http://schemas.microsoft.com/office/powerpoint/2010/main" val="22216683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pPr/>
              <a:t>52</a:t>
            </a:fld>
            <a:endParaRPr lang="en-US" altLang="en-US"/>
          </a:p>
        </p:txBody>
      </p:sp>
    </p:spTree>
    <p:extLst>
      <p:ext uri="{BB962C8B-B14F-4D97-AF65-F5344CB8AC3E}">
        <p14:creationId xmlns:p14="http://schemas.microsoft.com/office/powerpoint/2010/main" val="5081967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t>53</a:t>
            </a:fld>
            <a:endParaRPr lang="en-US" altLang="en-US"/>
          </a:p>
        </p:txBody>
      </p:sp>
    </p:spTree>
    <p:extLst>
      <p:ext uri="{BB962C8B-B14F-4D97-AF65-F5344CB8AC3E}">
        <p14:creationId xmlns:p14="http://schemas.microsoft.com/office/powerpoint/2010/main" val="31318914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Sexual cycle </a:t>
            </a:r>
            <a:r>
              <a:rPr lang="en-US" dirty="0">
                <a:solidFill>
                  <a:schemeClr val="bg2">
                    <a:lumMod val="10000"/>
                  </a:schemeClr>
                </a:solidFill>
                <a:latin typeface="Times New Roman" panose="02020603050405020304" pitchFamily="18" charset="0"/>
                <a:cs typeface="Times New Roman" panose="02020603050405020304" pitchFamily="18" charset="0"/>
                <a:sym typeface="Wingdings" pitchFamily="2" charset="2"/>
              </a:rPr>
              <a:t>in</a:t>
            </a:r>
            <a:r>
              <a:rPr lang="en-US" b="1" dirty="0">
                <a:solidFill>
                  <a:schemeClr val="bg2">
                    <a:lumMod val="10000"/>
                  </a:schemeClr>
                </a:solidFill>
                <a:latin typeface="Times New Roman" panose="02020603050405020304" pitchFamily="18" charset="0"/>
                <a:cs typeface="Times New Roman" panose="02020603050405020304" pitchFamily="18" charset="0"/>
                <a:sym typeface="Wingdings" pitchFamily="2" charset="2"/>
              </a:rPr>
              <a:t> </a:t>
            </a:r>
            <a:r>
              <a:rPr lang="en-US" b="1" dirty="0">
                <a:solidFill>
                  <a:schemeClr val="bg2">
                    <a:lumMod val="10000"/>
                  </a:schemeClr>
                </a:solidFill>
                <a:latin typeface="Times New Roman" panose="02020603050405020304" pitchFamily="18" charset="0"/>
                <a:cs typeface="Times New Roman" panose="02020603050405020304" pitchFamily="18" charset="0"/>
              </a:rPr>
              <a:t>Cat (definitive host) </a:t>
            </a:r>
            <a:r>
              <a:rPr lang="en-US" dirty="0">
                <a:solidFill>
                  <a:schemeClr val="bg2">
                    <a:lumMod val="10000"/>
                  </a:schemeClr>
                </a:solidFill>
                <a:latin typeface="Times New Roman" panose="02020603050405020304" pitchFamily="18" charset="0"/>
                <a:cs typeface="Times New Roman" panose="02020603050405020304" pitchFamily="18" charset="0"/>
              </a:rPr>
              <a:t>ingests </a:t>
            </a:r>
            <a:r>
              <a:rPr lang="en-US" b="1" u="sng" dirty="0">
                <a:solidFill>
                  <a:schemeClr val="bg2">
                    <a:lumMod val="10000"/>
                  </a:schemeClr>
                </a:solidFill>
                <a:latin typeface="Times New Roman" panose="02020603050405020304" pitchFamily="18" charset="0"/>
                <a:cs typeface="Times New Roman" panose="02020603050405020304" pitchFamily="18" charset="0"/>
              </a:rPr>
              <a:t>bradyzoites</a:t>
            </a:r>
            <a:r>
              <a:rPr lang="en-US" dirty="0">
                <a:solidFill>
                  <a:schemeClr val="bg2">
                    <a:lumMod val="10000"/>
                  </a:schemeClr>
                </a:solidFill>
                <a:latin typeface="Times New Roman" panose="02020603050405020304" pitchFamily="18" charset="0"/>
                <a:cs typeface="Times New Roman" panose="02020603050405020304" pitchFamily="18" charset="0"/>
              </a:rPr>
              <a:t>  </a:t>
            </a:r>
            <a:r>
              <a:rPr lang="en-US" b="1" u="sng" dirty="0">
                <a:solidFill>
                  <a:schemeClr val="bg2">
                    <a:lumMod val="10000"/>
                  </a:schemeClr>
                </a:solidFill>
                <a:latin typeface="Times New Roman" panose="02020603050405020304" pitchFamily="18" charset="0"/>
                <a:cs typeface="Times New Roman" panose="02020603050405020304" pitchFamily="18" charset="0"/>
              </a:rPr>
              <a:t>raw meat, wild birds </a:t>
            </a:r>
            <a:r>
              <a:rPr lang="en-US" dirty="0">
                <a:solidFill>
                  <a:schemeClr val="bg2">
                    <a:lumMod val="10000"/>
                  </a:schemeClr>
                </a:solidFill>
                <a:latin typeface="Times New Roman" panose="02020603050405020304" pitchFamily="18" charset="0"/>
                <a:cs typeface="Times New Roman" panose="02020603050405020304" pitchFamily="18" charset="0"/>
              </a:rPr>
              <a:t>or </a:t>
            </a:r>
            <a:r>
              <a:rPr lang="en-US" b="1" u="sng" dirty="0">
                <a:solidFill>
                  <a:schemeClr val="bg2">
                    <a:lumMod val="10000"/>
                  </a:schemeClr>
                </a:solidFill>
                <a:latin typeface="Times New Roman" panose="02020603050405020304" pitchFamily="18" charset="0"/>
                <a:cs typeface="Times New Roman" panose="02020603050405020304" pitchFamily="18" charset="0"/>
              </a:rPr>
              <a:t>mice </a:t>
            </a:r>
            <a:r>
              <a:rPr lang="en-US" dirty="0">
                <a:solidFill>
                  <a:schemeClr val="bg2">
                    <a:lumMod val="10000"/>
                  </a:schemeClr>
                </a:solidFill>
                <a:latin typeface="Times New Roman" panose="02020603050405020304" pitchFamily="18" charset="0"/>
                <a:cs typeface="Times New Roman" panose="02020603050405020304" pitchFamily="18" charset="0"/>
                <a:sym typeface="Wingdings"/>
              </a:rPr>
              <a:t>In cat’s GIT bradyzoites </a:t>
            </a:r>
            <a:r>
              <a:rPr lang="en-US" dirty="0">
                <a:solidFill>
                  <a:schemeClr val="bg2">
                    <a:lumMod val="10000"/>
                  </a:schemeClr>
                </a:solidFill>
                <a:latin typeface="Times New Roman" panose="02020603050405020304" pitchFamily="18" charset="0"/>
                <a:cs typeface="Times New Roman" panose="02020603050405020304" pitchFamily="18" charset="0"/>
              </a:rPr>
              <a:t>develop into </a:t>
            </a:r>
            <a:r>
              <a:rPr lang="en-US" b="1" dirty="0">
                <a:solidFill>
                  <a:schemeClr val="bg2">
                    <a:lumMod val="10000"/>
                  </a:schemeClr>
                </a:solidFill>
                <a:latin typeface="Times New Roman" panose="02020603050405020304" pitchFamily="18" charset="0"/>
                <a:cs typeface="Times New Roman" panose="02020603050405020304" pitchFamily="18" charset="0"/>
              </a:rPr>
              <a:t>macro- &amp; micro-gametocytes</a:t>
            </a:r>
            <a:r>
              <a:rPr lang="en-US" dirty="0">
                <a:solidFill>
                  <a:schemeClr val="bg2">
                    <a:lumMod val="10000"/>
                  </a:schemeClr>
                </a:solidFill>
                <a:latin typeface="Times New Roman" panose="02020603050405020304" pitchFamily="18" charset="0"/>
                <a:cs typeface="Times New Roman" panose="02020603050405020304" pitchFamily="18" charset="0"/>
              </a:rPr>
              <a:t> </a:t>
            </a:r>
            <a:r>
              <a:rPr lang="en-US" dirty="0">
                <a:solidFill>
                  <a:schemeClr val="bg2">
                    <a:lumMod val="10000"/>
                  </a:schemeClr>
                </a:solidFill>
                <a:latin typeface="Times New Roman" panose="02020603050405020304" pitchFamily="18" charset="0"/>
                <a:cs typeface="Times New Roman" panose="02020603050405020304" pitchFamily="18" charset="0"/>
                <a:sym typeface="Wingdings"/>
              </a:rPr>
              <a:t>which</a:t>
            </a:r>
            <a:r>
              <a:rPr lang="en-US" dirty="0">
                <a:solidFill>
                  <a:schemeClr val="bg2">
                    <a:lumMod val="10000"/>
                  </a:schemeClr>
                </a:solidFill>
                <a:latin typeface="Times New Roman" panose="02020603050405020304" pitchFamily="18" charset="0"/>
                <a:cs typeface="Times New Roman" panose="02020603050405020304" pitchFamily="18" charset="0"/>
              </a:rPr>
              <a:t> fuse to form </a:t>
            </a:r>
            <a:r>
              <a:rPr lang="en-US" b="1" dirty="0">
                <a:solidFill>
                  <a:schemeClr val="bg2">
                    <a:lumMod val="10000"/>
                  </a:schemeClr>
                </a:solidFill>
                <a:latin typeface="Times New Roman" panose="02020603050405020304" pitchFamily="18" charset="0"/>
                <a:cs typeface="Times New Roman" panose="02020603050405020304" pitchFamily="18" charset="0"/>
              </a:rPr>
              <a:t>zygote </a:t>
            </a:r>
            <a:r>
              <a:rPr lang="en-US" dirty="0" err="1">
                <a:solidFill>
                  <a:schemeClr val="bg2">
                    <a:lumMod val="10000"/>
                  </a:schemeClr>
                </a:solidFill>
                <a:latin typeface="Times New Roman" panose="02020603050405020304" pitchFamily="18" charset="0"/>
                <a:cs typeface="Times New Roman" panose="02020603050405020304" pitchFamily="18" charset="0"/>
              </a:rPr>
              <a:t>zygote</a:t>
            </a:r>
            <a:r>
              <a:rPr lang="en-US" dirty="0">
                <a:solidFill>
                  <a:schemeClr val="bg2">
                    <a:lumMod val="10000"/>
                  </a:schemeClr>
                </a:solidFill>
                <a:latin typeface="Times New Roman" panose="02020603050405020304" pitchFamily="18" charset="0"/>
                <a:cs typeface="Times New Roman" panose="02020603050405020304" pitchFamily="18" charset="0"/>
              </a:rPr>
              <a:t> encapsulates </a:t>
            </a:r>
            <a:r>
              <a:rPr lang="en-US" dirty="0">
                <a:solidFill>
                  <a:schemeClr val="bg2">
                    <a:lumMod val="10000"/>
                  </a:schemeClr>
                </a:solidFill>
                <a:latin typeface="Times New Roman" panose="02020603050405020304" pitchFamily="18" charset="0"/>
                <a:cs typeface="Times New Roman" panose="02020603050405020304" pitchFamily="18" charset="0"/>
                <a:sym typeface="Wingdings"/>
              </a:rPr>
              <a:t></a:t>
            </a:r>
            <a:r>
              <a:rPr lang="en-US" dirty="0">
                <a:solidFill>
                  <a:schemeClr val="bg2">
                    <a:lumMod val="10000"/>
                  </a:schemeClr>
                </a:solidFill>
                <a:latin typeface="Times New Roman" panose="02020603050405020304" pitchFamily="18" charset="0"/>
                <a:cs typeface="Times New Roman" panose="02020603050405020304" pitchFamily="18" charset="0"/>
              </a:rPr>
              <a:t> shed as </a:t>
            </a:r>
            <a:r>
              <a:rPr lang="en-US" b="1" dirty="0">
                <a:solidFill>
                  <a:schemeClr val="bg2">
                    <a:lumMod val="10000"/>
                  </a:schemeClr>
                </a:solidFill>
                <a:latin typeface="Times New Roman" panose="02020603050405020304" pitchFamily="18" charset="0"/>
                <a:cs typeface="Times New Roman" panose="02020603050405020304" pitchFamily="18" charset="0"/>
              </a:rPr>
              <a:t>oocyst</a:t>
            </a:r>
            <a:r>
              <a:rPr lang="en-US" dirty="0">
                <a:solidFill>
                  <a:schemeClr val="bg2">
                    <a:lumMod val="10000"/>
                  </a:schemeClr>
                </a:solidFill>
                <a:latin typeface="Times New Roman" panose="02020603050405020304" pitchFamily="18" charset="0"/>
                <a:cs typeface="Times New Roman" panose="02020603050405020304" pitchFamily="18" charset="0"/>
              </a:rPr>
              <a:t> via feces. </a:t>
            </a:r>
            <a:r>
              <a:rPr lang="en-US" b="1" dirty="0">
                <a:solidFill>
                  <a:schemeClr val="bg2">
                    <a:lumMod val="10000"/>
                  </a:schemeClr>
                </a:solidFill>
                <a:latin typeface="Times New Roman" panose="02020603050405020304" pitchFamily="18" charset="0"/>
                <a:cs typeface="Times New Roman" panose="02020603050405020304" pitchFamily="18" charset="0"/>
              </a:rPr>
              <a:t>Asexual cycle </a:t>
            </a:r>
            <a:r>
              <a:rPr lang="en-US" dirty="0">
                <a:solidFill>
                  <a:schemeClr val="bg2">
                    <a:lumMod val="10000"/>
                  </a:schemeClr>
                </a:solidFill>
                <a:latin typeface="Times New Roman" panose="02020603050405020304" pitchFamily="18" charset="0"/>
                <a:cs typeface="Times New Roman" panose="02020603050405020304" pitchFamily="18" charset="0"/>
              </a:rPr>
              <a:t>in</a:t>
            </a:r>
            <a:r>
              <a:rPr lang="en-US" b="1" dirty="0">
                <a:solidFill>
                  <a:schemeClr val="bg2">
                    <a:lumMod val="10000"/>
                  </a:schemeClr>
                </a:solidFill>
                <a:latin typeface="Times New Roman" panose="02020603050405020304" pitchFamily="18" charset="0"/>
                <a:cs typeface="Times New Roman" panose="02020603050405020304" pitchFamily="18" charset="0"/>
              </a:rPr>
              <a:t> Humans (mammals, birds) </a:t>
            </a:r>
            <a:r>
              <a:rPr lang="en-US" dirty="0">
                <a:solidFill>
                  <a:schemeClr val="bg2">
                    <a:lumMod val="10000"/>
                  </a:schemeClr>
                </a:solidFill>
                <a:latin typeface="Times New Roman" panose="02020603050405020304" pitchFamily="18" charset="0"/>
                <a:cs typeface="Times New Roman" panose="02020603050405020304" pitchFamily="18" charset="0"/>
              </a:rPr>
              <a:t>Ingest oocyst thru handling of contaminated soil/cat litter or water or food .Ingest bradyzoite from contaminated raw meat, wild birds or mice. Receive tachyzoite from unpasteurized milk, BT, organ transplant, mother-fetus (</a:t>
            </a:r>
            <a:r>
              <a:rPr lang="en-US" dirty="0" err="1">
                <a:solidFill>
                  <a:schemeClr val="bg2">
                    <a:lumMod val="10000"/>
                  </a:schemeClr>
                </a:solidFill>
                <a:latin typeface="Times New Roman" panose="02020603050405020304" pitchFamily="18" charset="0"/>
                <a:cs typeface="Times New Roman" panose="02020603050405020304" pitchFamily="18" charset="0"/>
              </a:rPr>
              <a:t>transplacentally</a:t>
            </a:r>
            <a:r>
              <a:rPr lang="en-US" dirty="0">
                <a:solidFill>
                  <a:schemeClr val="bg2">
                    <a:lumMod val="10000"/>
                  </a:schemeClr>
                </a:solidFill>
                <a:latin typeface="Times New Roman" panose="02020603050405020304" pitchFamily="18" charset="0"/>
                <a:cs typeface="Times New Roman" panose="02020603050405020304" pitchFamily="18" charset="0"/>
              </a:rPr>
              <a:t>, delivery)</a:t>
            </a:r>
          </a:p>
          <a:p>
            <a:pPr lvl="1"/>
            <a:endParaRPr lang="en-US" dirty="0">
              <a:solidFill>
                <a:schemeClr val="bg2">
                  <a:lumMod val="10000"/>
                </a:schemeClr>
              </a:solidFill>
              <a:latin typeface="Times New Roman" panose="02020603050405020304" pitchFamily="18" charset="0"/>
              <a:cs typeface="Times New Roman" panose="02020603050405020304" pitchFamily="18" charset="0"/>
            </a:endParaRPr>
          </a:p>
          <a:p>
            <a:endParaRPr lang="en-TZ" dirty="0"/>
          </a:p>
        </p:txBody>
      </p:sp>
      <p:sp>
        <p:nvSpPr>
          <p:cNvPr id="4" name="Slide Number Placeholder 3"/>
          <p:cNvSpPr>
            <a:spLocks noGrp="1"/>
          </p:cNvSpPr>
          <p:nvPr>
            <p:ph type="sldNum" sz="quarter" idx="5"/>
          </p:nvPr>
        </p:nvSpPr>
        <p:spPr/>
        <p:txBody>
          <a:bodyPr/>
          <a:lstStyle/>
          <a:p>
            <a:fld id="{1DD1152E-E81D-4A30-B8B9-3C2901B7CE48}" type="slidenum">
              <a:rPr lang="en-TZ" smtClean="0"/>
              <a:t>58</a:t>
            </a:fld>
            <a:endParaRPr lang="en-TZ"/>
          </a:p>
        </p:txBody>
      </p:sp>
    </p:spTree>
    <p:extLst>
      <p:ext uri="{BB962C8B-B14F-4D97-AF65-F5344CB8AC3E}">
        <p14:creationId xmlns:p14="http://schemas.microsoft.com/office/powerpoint/2010/main" val="22252965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pPr marL="0" marR="0" lvl="0" indent="0" algn="l" defTabSz="457200" rtl="0" eaLnBrk="1" fontAlgn="base" latinLnBrk="0" hangingPunct="1">
              <a:lnSpc>
                <a:spcPct val="100000"/>
              </a:lnSpc>
              <a:spcBef>
                <a:spcPct val="30000"/>
              </a:spcBef>
              <a:spcAft>
                <a:spcPct val="0"/>
              </a:spcAft>
              <a:buClrTx/>
              <a:buSzTx/>
              <a:buFontTx/>
              <a:buNone/>
              <a:tabLst/>
              <a:defRPr/>
            </a:pPr>
            <a:r>
              <a:rPr lang="en-US" sz="1200" b="1" dirty="0">
                <a:solidFill>
                  <a:schemeClr val="bg2">
                    <a:lumMod val="10000"/>
                  </a:schemeClr>
                </a:solidFill>
              </a:rPr>
              <a:t>Skin test</a:t>
            </a:r>
            <a:r>
              <a:rPr lang="en-US" sz="1200" dirty="0">
                <a:solidFill>
                  <a:schemeClr val="bg2">
                    <a:lumMod val="10000"/>
                  </a:schemeClr>
                </a:solidFill>
              </a:rPr>
              <a:t>: </a:t>
            </a:r>
            <a:r>
              <a:rPr lang="en-US" sz="1200" b="1" dirty="0">
                <a:solidFill>
                  <a:schemeClr val="bg2">
                    <a:lumMod val="10000"/>
                  </a:schemeClr>
                </a:solidFill>
              </a:rPr>
              <a:t>delayed hypersensitivity </a:t>
            </a:r>
            <a:r>
              <a:rPr lang="en-US" sz="1200" dirty="0">
                <a:solidFill>
                  <a:schemeClr val="bg2">
                    <a:lumMod val="10000"/>
                  </a:schemeClr>
                </a:solidFill>
              </a:rPr>
              <a:t>to T. gondii may be useful for </a:t>
            </a:r>
            <a:r>
              <a:rPr lang="en-US" sz="1200" b="1" u="sng" dirty="0">
                <a:solidFill>
                  <a:schemeClr val="bg2">
                    <a:lumMod val="10000"/>
                  </a:schemeClr>
                </a:solidFill>
              </a:rPr>
              <a:t>screening</a:t>
            </a:r>
          </a:p>
          <a:p>
            <a:endParaRPr lang="en-US" dirty="0"/>
          </a:p>
        </p:txBody>
      </p:sp>
      <p:sp>
        <p:nvSpPr>
          <p:cNvPr id="4" name="Slide Number Placeholder 3"/>
          <p:cNvSpPr>
            <a:spLocks noGrp="1"/>
          </p:cNvSpPr>
          <p:nvPr>
            <p:ph type="sldNum" sz="quarter" idx="5"/>
          </p:nvPr>
        </p:nvSpPr>
        <p:spPr/>
        <p:txBody>
          <a:bodyPr/>
          <a:lstStyle/>
          <a:p>
            <a:fld id="{86948324-13D7-4655-B8F7-1E5C093BA4F7}" type="slidenum">
              <a:rPr lang="en-US" altLang="en-US" smtClean="0"/>
              <a:pPr/>
              <a:t>60</a:t>
            </a:fld>
            <a:endParaRPr lang="en-US" altLang="en-US"/>
          </a:p>
        </p:txBody>
      </p:sp>
    </p:spTree>
    <p:extLst>
      <p:ext uri="{BB962C8B-B14F-4D97-AF65-F5344CB8AC3E}">
        <p14:creationId xmlns:p14="http://schemas.microsoft.com/office/powerpoint/2010/main" val="14019387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TZ"/>
          </a:p>
        </p:txBody>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1DD1152E-E81D-4A30-B8B9-3C2901B7CE48}" type="slidenum">
              <a:rPr lang="en-TZ" smtClean="0"/>
              <a:t>63</a:t>
            </a:fld>
            <a:endParaRPr lang="en-TZ"/>
          </a:p>
        </p:txBody>
      </p:sp>
    </p:spTree>
    <p:extLst>
      <p:ext uri="{BB962C8B-B14F-4D97-AF65-F5344CB8AC3E}">
        <p14:creationId xmlns:p14="http://schemas.microsoft.com/office/powerpoint/2010/main" val="35634797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New MUHAS Logo.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899651" y="187325"/>
            <a:ext cx="1964267" cy="134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6073776"/>
            <a:ext cx="12192000" cy="49213"/>
          </a:xfrm>
          <a:prstGeom prst="rect">
            <a:avLst/>
          </a:prstGeom>
          <a:solidFill>
            <a:srgbClr val="E4001B"/>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endParaRPr lang="en-US" altLang="en-US">
              <a:solidFill>
                <a:srgbClr val="FFFFFF"/>
              </a:solidFill>
            </a:endParaRPr>
          </a:p>
        </p:txBody>
      </p:sp>
      <p:sp>
        <p:nvSpPr>
          <p:cNvPr id="6" name="Rectangle 5"/>
          <p:cNvSpPr>
            <a:spLocks noChangeArrowheads="1"/>
          </p:cNvSpPr>
          <p:nvPr/>
        </p:nvSpPr>
        <p:spPr bwMode="auto">
          <a:xfrm>
            <a:off x="6351" y="6167438"/>
            <a:ext cx="12192000" cy="49212"/>
          </a:xfrm>
          <a:prstGeom prst="rect">
            <a:avLst/>
          </a:prstGeom>
          <a:solidFill>
            <a:srgbClr val="E6DF13"/>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endParaRPr lang="en-US" altLang="en-US">
              <a:solidFill>
                <a:srgbClr val="FFFFFF"/>
              </a:solidFill>
            </a:endParaRPr>
          </a:p>
        </p:txBody>
      </p:sp>
      <p:sp>
        <p:nvSpPr>
          <p:cNvPr id="7" name="Rectangle 6"/>
          <p:cNvSpPr>
            <a:spLocks noChangeArrowheads="1"/>
          </p:cNvSpPr>
          <p:nvPr/>
        </p:nvSpPr>
        <p:spPr bwMode="auto">
          <a:xfrm>
            <a:off x="6351" y="6267451"/>
            <a:ext cx="12192000" cy="49213"/>
          </a:xfrm>
          <a:prstGeom prst="rect">
            <a:avLst/>
          </a:prstGeom>
          <a:solidFill>
            <a:srgbClr val="1C7F5E"/>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endParaRPr lang="en-US" altLang="en-US">
              <a:solidFill>
                <a:srgbClr val="FFFFFF"/>
              </a:solidFill>
            </a:endParaRPr>
          </a:p>
        </p:txBody>
      </p:sp>
      <p:sp>
        <p:nvSpPr>
          <p:cNvPr id="2" name="Title 1"/>
          <p:cNvSpPr>
            <a:spLocks noGrp="1"/>
          </p:cNvSpPr>
          <p:nvPr>
            <p:ph type="ctrTitle"/>
          </p:nvPr>
        </p:nvSpPr>
        <p:spPr>
          <a:xfrm>
            <a:off x="914400" y="2130426"/>
            <a:ext cx="10363200" cy="1470025"/>
          </a:xfrm>
        </p:spPr>
        <p:txBody>
          <a:bodyPr/>
          <a:lstStyle>
            <a:lvl1pPr>
              <a:defRPr>
                <a:solidFill>
                  <a:srgbClr val="20328C"/>
                </a:solidFill>
              </a:defRPr>
            </a:lvl1p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3"/>
          <p:cNvSpPr>
            <a:spLocks noGrp="1"/>
          </p:cNvSpPr>
          <p:nvPr>
            <p:ph type="dt" sz="half" idx="10"/>
          </p:nvPr>
        </p:nvSpPr>
        <p:spPr/>
        <p:txBody>
          <a:bodyPr/>
          <a:lstStyle>
            <a:lvl1pPr>
              <a:defRPr/>
            </a:lvl1pPr>
          </a:lstStyle>
          <a:p>
            <a:fld id="{C56AB3D1-6DB5-48E8-8E66-BC530E8E14FF}" type="datetime2">
              <a:rPr lang="en-US" altLang="en-US"/>
              <a:t>Friday, May 15, 2026</a:t>
            </a:fld>
            <a:endParaRPr lang="en-US" altLang="en-US"/>
          </a:p>
        </p:txBody>
      </p:sp>
      <p:sp>
        <p:nvSpPr>
          <p:cNvPr id="9" name="Footer Placeholder 4"/>
          <p:cNvSpPr>
            <a:spLocks noGrp="1"/>
          </p:cNvSpPr>
          <p:nvPr>
            <p:ph type="ftr" sz="quarter" idx="11"/>
          </p:nvPr>
        </p:nvSpPr>
        <p:spPr/>
        <p:txBody>
          <a:bodyPr/>
          <a:lstStyle>
            <a:lvl1pPr>
              <a:defRPr/>
            </a:lvl1pPr>
          </a:lstStyle>
          <a:p>
            <a:pPr>
              <a:defRPr/>
            </a:pPr>
            <a:r>
              <a:rPr lang="en-US"/>
              <a:t>Dr. Joseph Jumanne</a:t>
            </a:r>
          </a:p>
        </p:txBody>
      </p:sp>
      <p:sp>
        <p:nvSpPr>
          <p:cNvPr id="10" name="Slide Number Placeholder 5"/>
          <p:cNvSpPr>
            <a:spLocks noGrp="1"/>
          </p:cNvSpPr>
          <p:nvPr>
            <p:ph type="sldNum" sz="quarter" idx="12"/>
          </p:nvPr>
        </p:nvSpPr>
        <p:spPr/>
        <p:txBody>
          <a:bodyPr/>
          <a:lstStyle>
            <a:lvl1pPr>
              <a:defRPr/>
            </a:lvl1pPr>
          </a:lstStyle>
          <a:p>
            <a:fld id="{3FF8A2F7-7EFE-4CD9-B702-1E4B6E00B8AC}" type="slidenum">
              <a:rPr lang="en-US" altLang="en-US"/>
              <a:t>‹#›</a:t>
            </a:fld>
            <a:endParaRPr lang="en-US" altLang="en-US"/>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a:spLocks noChangeArrowheads="1"/>
          </p:cNvSpPr>
          <p:nvPr/>
        </p:nvSpPr>
        <p:spPr bwMode="auto">
          <a:xfrm>
            <a:off x="0" y="6073776"/>
            <a:ext cx="12192000" cy="49213"/>
          </a:xfrm>
          <a:prstGeom prst="rect">
            <a:avLst/>
          </a:prstGeom>
          <a:solidFill>
            <a:srgbClr val="E4001B"/>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endParaRPr lang="en-US" altLang="en-US">
              <a:solidFill>
                <a:srgbClr val="FFFFFF"/>
              </a:solidFill>
            </a:endParaRPr>
          </a:p>
        </p:txBody>
      </p:sp>
      <p:sp>
        <p:nvSpPr>
          <p:cNvPr id="5" name="Rectangle 4"/>
          <p:cNvSpPr>
            <a:spLocks noChangeArrowheads="1"/>
          </p:cNvSpPr>
          <p:nvPr/>
        </p:nvSpPr>
        <p:spPr bwMode="auto">
          <a:xfrm>
            <a:off x="6351" y="6167438"/>
            <a:ext cx="12192000" cy="49212"/>
          </a:xfrm>
          <a:prstGeom prst="rect">
            <a:avLst/>
          </a:prstGeom>
          <a:solidFill>
            <a:srgbClr val="E6DF13"/>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endParaRPr lang="en-US" altLang="en-US">
              <a:solidFill>
                <a:srgbClr val="FFFFFF"/>
              </a:solidFill>
            </a:endParaRPr>
          </a:p>
        </p:txBody>
      </p:sp>
      <p:sp>
        <p:nvSpPr>
          <p:cNvPr id="6" name="Rectangle 5"/>
          <p:cNvSpPr>
            <a:spLocks noChangeArrowheads="1"/>
          </p:cNvSpPr>
          <p:nvPr/>
        </p:nvSpPr>
        <p:spPr bwMode="auto">
          <a:xfrm>
            <a:off x="6351" y="6267451"/>
            <a:ext cx="12192000" cy="49213"/>
          </a:xfrm>
          <a:prstGeom prst="rect">
            <a:avLst/>
          </a:prstGeom>
          <a:solidFill>
            <a:srgbClr val="1C7F5E"/>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endParaRPr lang="en-US" altLang="en-US">
              <a:solidFill>
                <a:srgbClr val="FFFFFF"/>
              </a:solidFill>
            </a:endParaRPr>
          </a:p>
        </p:txBody>
      </p:sp>
      <p:pic>
        <p:nvPicPr>
          <p:cNvPr id="7" name="Picture 9" descr="New MUHAS Logo.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5718" y="5310189"/>
            <a:ext cx="1113367"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solidFill>
                  <a:srgbClr val="20328C"/>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rgbClr val="20328C"/>
                </a:solidFill>
              </a:defRPr>
            </a:lvl1pPr>
            <a:lvl2pPr>
              <a:defRPr>
                <a:solidFill>
                  <a:srgbClr val="20328C"/>
                </a:solidFill>
              </a:defRPr>
            </a:lvl2pPr>
            <a:lvl3pPr>
              <a:defRPr>
                <a:solidFill>
                  <a:srgbClr val="20328C"/>
                </a:solidFill>
              </a:defRPr>
            </a:lvl3pPr>
            <a:lvl4pPr>
              <a:defRPr>
                <a:solidFill>
                  <a:srgbClr val="20328C"/>
                </a:solidFill>
              </a:defRPr>
            </a:lvl4pPr>
            <a:lvl5pPr>
              <a:defRPr>
                <a:solidFill>
                  <a:srgbClr val="20328C"/>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3"/>
          <p:cNvSpPr>
            <a:spLocks noGrp="1"/>
          </p:cNvSpPr>
          <p:nvPr>
            <p:ph type="dt" sz="half" idx="10"/>
          </p:nvPr>
        </p:nvSpPr>
        <p:spPr/>
        <p:txBody>
          <a:bodyPr/>
          <a:lstStyle>
            <a:lvl1pPr>
              <a:defRPr/>
            </a:lvl1pPr>
          </a:lstStyle>
          <a:p>
            <a:fld id="{7A482952-A15B-4F66-B92F-C3CBBC9C388C}" type="datetime2">
              <a:rPr lang="en-US" altLang="en-US"/>
              <a:t>Friday, May 15, 2026</a:t>
            </a:fld>
            <a:endParaRPr lang="en-US" altLang="en-US"/>
          </a:p>
        </p:txBody>
      </p:sp>
      <p:sp>
        <p:nvSpPr>
          <p:cNvPr id="9" name="Footer Placeholder 4"/>
          <p:cNvSpPr>
            <a:spLocks noGrp="1"/>
          </p:cNvSpPr>
          <p:nvPr>
            <p:ph type="ftr" sz="quarter" idx="11"/>
          </p:nvPr>
        </p:nvSpPr>
        <p:spPr/>
        <p:txBody>
          <a:bodyPr/>
          <a:lstStyle>
            <a:lvl1pPr>
              <a:defRPr/>
            </a:lvl1pPr>
          </a:lstStyle>
          <a:p>
            <a:pPr>
              <a:defRPr/>
            </a:pPr>
            <a:r>
              <a:rPr lang="en-US"/>
              <a:t>Dr. Joseph Jumanne</a:t>
            </a:r>
          </a:p>
        </p:txBody>
      </p:sp>
      <p:sp>
        <p:nvSpPr>
          <p:cNvPr id="10" name="Slide Number Placeholder 5"/>
          <p:cNvSpPr>
            <a:spLocks noGrp="1"/>
          </p:cNvSpPr>
          <p:nvPr>
            <p:ph type="sldNum" sz="quarter" idx="12"/>
          </p:nvPr>
        </p:nvSpPr>
        <p:spPr/>
        <p:txBody>
          <a:bodyPr/>
          <a:lstStyle>
            <a:lvl1pPr>
              <a:defRPr/>
            </a:lvl1pPr>
          </a:lstStyle>
          <a:p>
            <a:fld id="{7F799B34-1B6F-498C-AAD9-0E5AD70A3170}" type="slidenum">
              <a:rPr lang="en-US" altLang="en-US"/>
              <a:t>‹#›</a:t>
            </a:fld>
            <a:endParaRPr lang="en-US" altLang="en-US"/>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93CB48E3-D5AF-44C5-BD1F-670AC2B5F203}" type="datetime2">
              <a:rPr lang="en-US" altLang="en-US"/>
              <a:t>Friday, May 15, 2026</a:t>
            </a:fld>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t>Dr. Joseph Jumanne</a:t>
            </a:r>
          </a:p>
        </p:txBody>
      </p:sp>
      <p:sp>
        <p:nvSpPr>
          <p:cNvPr id="6" name="Slide Number Placeholder 5"/>
          <p:cNvSpPr>
            <a:spLocks noGrp="1"/>
          </p:cNvSpPr>
          <p:nvPr>
            <p:ph type="sldNum" sz="quarter" idx="12"/>
          </p:nvPr>
        </p:nvSpPr>
        <p:spPr/>
        <p:txBody>
          <a:bodyPr/>
          <a:lstStyle>
            <a:lvl1pPr>
              <a:defRPr/>
            </a:lvl1pPr>
          </a:lstStyle>
          <a:p>
            <a:fld id="{AC3ED6D0-55B1-475C-965C-8B60615A93F5}" type="slidenum">
              <a:rPr lang="en-US" altLang="en-US"/>
              <a:t>‹#›</a:t>
            </a:fld>
            <a:endParaRPr lang="en-US" altLang="en-US"/>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D42B28DE-E07C-4482-8778-D4D352CF1192}" type="datetime2">
              <a:rPr lang="en-US" altLang="en-US"/>
              <a:t>Friday, May 15, 2026</a:t>
            </a:fld>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t>Dr. Joseph Jumanne</a:t>
            </a:r>
          </a:p>
        </p:txBody>
      </p:sp>
      <p:sp>
        <p:nvSpPr>
          <p:cNvPr id="7" name="Slide Number Placeholder 5"/>
          <p:cNvSpPr>
            <a:spLocks noGrp="1"/>
          </p:cNvSpPr>
          <p:nvPr>
            <p:ph type="sldNum" sz="quarter" idx="12"/>
          </p:nvPr>
        </p:nvSpPr>
        <p:spPr/>
        <p:txBody>
          <a:bodyPr/>
          <a:lstStyle>
            <a:lvl1pPr>
              <a:defRPr/>
            </a:lvl1pPr>
          </a:lstStyle>
          <a:p>
            <a:fld id="{F3D7F7AD-559D-40EF-93EF-C2EF8DFE6BD3}" type="slidenum">
              <a:rPr lang="en-US" altLang="en-US"/>
              <a:t>‹#›</a:t>
            </a:fld>
            <a:endParaRPr lang="en-US" altLang="en-US"/>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999B6466-B2EC-4155-BC74-30CD799F3382}" type="datetime2">
              <a:rPr lang="en-US" altLang="en-US"/>
              <a:t>Friday, May 15, 2026</a:t>
            </a:fld>
            <a:endParaRPr lang="en-US" altLang="en-US"/>
          </a:p>
        </p:txBody>
      </p:sp>
      <p:sp>
        <p:nvSpPr>
          <p:cNvPr id="8" name="Footer Placeholder 4"/>
          <p:cNvSpPr>
            <a:spLocks noGrp="1"/>
          </p:cNvSpPr>
          <p:nvPr>
            <p:ph type="ftr" sz="quarter" idx="11"/>
          </p:nvPr>
        </p:nvSpPr>
        <p:spPr/>
        <p:txBody>
          <a:bodyPr/>
          <a:lstStyle>
            <a:lvl1pPr>
              <a:defRPr/>
            </a:lvl1pPr>
          </a:lstStyle>
          <a:p>
            <a:pPr>
              <a:defRPr/>
            </a:pPr>
            <a:r>
              <a:rPr lang="en-US"/>
              <a:t>Dr. Joseph Jumanne</a:t>
            </a:r>
          </a:p>
        </p:txBody>
      </p:sp>
      <p:sp>
        <p:nvSpPr>
          <p:cNvPr id="9" name="Slide Number Placeholder 5"/>
          <p:cNvSpPr>
            <a:spLocks noGrp="1"/>
          </p:cNvSpPr>
          <p:nvPr>
            <p:ph type="sldNum" sz="quarter" idx="12"/>
          </p:nvPr>
        </p:nvSpPr>
        <p:spPr/>
        <p:txBody>
          <a:bodyPr/>
          <a:lstStyle>
            <a:lvl1pPr>
              <a:defRPr/>
            </a:lvl1pPr>
          </a:lstStyle>
          <a:p>
            <a:fld id="{2127321C-A958-490C-8DF3-FB6D03F9098A}" type="slidenum">
              <a:rPr lang="en-US" altLang="en-US"/>
              <a:t>‹#›</a:t>
            </a:fld>
            <a:endParaRPr lang="en-US" altLang="en-US"/>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F96FF888-81B0-47BF-9886-C9CE8ACDC1D9}" type="datetime2">
              <a:rPr lang="en-US" altLang="en-US"/>
              <a:t>Friday, May 15, 2026</a:t>
            </a:fld>
            <a:endParaRPr lang="en-US" altLang="en-US"/>
          </a:p>
        </p:txBody>
      </p:sp>
      <p:sp>
        <p:nvSpPr>
          <p:cNvPr id="4" name="Footer Placeholder 4"/>
          <p:cNvSpPr>
            <a:spLocks noGrp="1"/>
          </p:cNvSpPr>
          <p:nvPr>
            <p:ph type="ftr" sz="quarter" idx="11"/>
          </p:nvPr>
        </p:nvSpPr>
        <p:spPr/>
        <p:txBody>
          <a:bodyPr/>
          <a:lstStyle>
            <a:lvl1pPr>
              <a:defRPr/>
            </a:lvl1pPr>
          </a:lstStyle>
          <a:p>
            <a:pPr>
              <a:defRPr/>
            </a:pPr>
            <a:r>
              <a:rPr lang="en-US"/>
              <a:t>Dr. Joseph Jumanne</a:t>
            </a:r>
          </a:p>
        </p:txBody>
      </p:sp>
      <p:sp>
        <p:nvSpPr>
          <p:cNvPr id="5" name="Slide Number Placeholder 5"/>
          <p:cNvSpPr>
            <a:spLocks noGrp="1"/>
          </p:cNvSpPr>
          <p:nvPr>
            <p:ph type="sldNum" sz="quarter" idx="12"/>
          </p:nvPr>
        </p:nvSpPr>
        <p:spPr/>
        <p:txBody>
          <a:bodyPr/>
          <a:lstStyle>
            <a:lvl1pPr>
              <a:defRPr/>
            </a:lvl1pPr>
          </a:lstStyle>
          <a:p>
            <a:fld id="{14E40818-CC6C-4855-AAF4-BC35D4D0C0CF}" type="slidenum">
              <a:rPr lang="en-US" altLang="en-US"/>
              <a:t>‹#›</a:t>
            </a:fld>
            <a:endParaRPr lang="en-US" altLang="en-US"/>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084EC0D5-E3A4-4FB9-B123-B8BEDD6A3050}" type="datetime2">
              <a:rPr lang="en-US" altLang="en-US"/>
              <a:t>Friday, May 15, 2026</a:t>
            </a:fld>
            <a:endParaRPr lang="en-US" altLang="en-US"/>
          </a:p>
        </p:txBody>
      </p:sp>
      <p:sp>
        <p:nvSpPr>
          <p:cNvPr id="3" name="Footer Placeholder 4"/>
          <p:cNvSpPr>
            <a:spLocks noGrp="1"/>
          </p:cNvSpPr>
          <p:nvPr>
            <p:ph type="ftr" sz="quarter" idx="11"/>
          </p:nvPr>
        </p:nvSpPr>
        <p:spPr/>
        <p:txBody>
          <a:bodyPr/>
          <a:lstStyle>
            <a:lvl1pPr>
              <a:defRPr/>
            </a:lvl1pPr>
          </a:lstStyle>
          <a:p>
            <a:pPr>
              <a:defRPr/>
            </a:pPr>
            <a:r>
              <a:rPr lang="en-US"/>
              <a:t>Dr. Joseph Jumanne</a:t>
            </a:r>
          </a:p>
        </p:txBody>
      </p:sp>
      <p:sp>
        <p:nvSpPr>
          <p:cNvPr id="4" name="Slide Number Placeholder 5"/>
          <p:cNvSpPr>
            <a:spLocks noGrp="1"/>
          </p:cNvSpPr>
          <p:nvPr>
            <p:ph type="sldNum" sz="quarter" idx="12"/>
          </p:nvPr>
        </p:nvSpPr>
        <p:spPr/>
        <p:txBody>
          <a:bodyPr/>
          <a:lstStyle>
            <a:lvl1pPr>
              <a:defRPr/>
            </a:lvl1pPr>
          </a:lstStyle>
          <a:p>
            <a:fld id="{32E82613-C6EF-4F22-BF61-53C00E45B04F}" type="slidenum">
              <a:rPr lang="en-US" altLang="en-US"/>
              <a:t>‹#›</a:t>
            </a:fld>
            <a:endParaRPr lang="en-US" altLang="en-US"/>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0D841004-09AB-417B-A0DF-180326076515}" type="datetime2">
              <a:rPr lang="en-US" altLang="en-US"/>
              <a:t>Friday, May 15, 2026</a:t>
            </a:fld>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t>Dr. Joseph Jumanne</a:t>
            </a:r>
          </a:p>
        </p:txBody>
      </p:sp>
      <p:sp>
        <p:nvSpPr>
          <p:cNvPr id="7" name="Slide Number Placeholder 5"/>
          <p:cNvSpPr>
            <a:spLocks noGrp="1"/>
          </p:cNvSpPr>
          <p:nvPr>
            <p:ph type="sldNum" sz="quarter" idx="12"/>
          </p:nvPr>
        </p:nvSpPr>
        <p:spPr/>
        <p:txBody>
          <a:bodyPr/>
          <a:lstStyle>
            <a:lvl1pPr>
              <a:defRPr/>
            </a:lvl1pPr>
          </a:lstStyle>
          <a:p>
            <a:fld id="{41B61BD5-D7F5-443A-B85D-9B7EFAF7FFE2}" type="slidenum">
              <a:rPr lang="en-US" altLang="en-US"/>
              <a:t>‹#›</a:t>
            </a:fld>
            <a:endParaRPr lang="en-US" altLang="en-US"/>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800110F2-4C4E-4C8A-BA93-FAD859B05306}" type="datetime2">
              <a:rPr lang="en-US" altLang="en-US"/>
              <a:t>Friday, May 15, 2026</a:t>
            </a:fld>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t>Dr. Joseph Jumanne</a:t>
            </a:r>
          </a:p>
        </p:txBody>
      </p:sp>
      <p:sp>
        <p:nvSpPr>
          <p:cNvPr id="7" name="Slide Number Placeholder 5"/>
          <p:cNvSpPr>
            <a:spLocks noGrp="1"/>
          </p:cNvSpPr>
          <p:nvPr>
            <p:ph type="sldNum" sz="quarter" idx="12"/>
          </p:nvPr>
        </p:nvSpPr>
        <p:spPr/>
        <p:txBody>
          <a:bodyPr/>
          <a:lstStyle>
            <a:lvl1pPr>
              <a:defRPr/>
            </a:lvl1pPr>
          </a:lstStyle>
          <a:p>
            <a:fld id="{C521D2E8-0304-4A0D-8CFE-6C8B65ADC469}" type="slidenum">
              <a:rPr lang="en-US" altLang="en-US"/>
              <a:t>‹#›</a:t>
            </a:fld>
            <a:endParaRPr lang="en-US" altLang="en-US"/>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A49C2150-4E09-495F-BE00-AF5F832440C9}" type="datetime2">
              <a:rPr lang="en-US" altLang="en-US"/>
              <a:t>Friday, May 15, 2026</a:t>
            </a:fld>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t>Dr. Joseph Jumanne</a:t>
            </a:r>
          </a:p>
        </p:txBody>
      </p:sp>
      <p:sp>
        <p:nvSpPr>
          <p:cNvPr id="6" name="Slide Number Placeholder 5"/>
          <p:cNvSpPr>
            <a:spLocks noGrp="1"/>
          </p:cNvSpPr>
          <p:nvPr>
            <p:ph type="sldNum" sz="quarter" idx="12"/>
          </p:nvPr>
        </p:nvSpPr>
        <p:spPr/>
        <p:txBody>
          <a:bodyPr/>
          <a:lstStyle>
            <a:lvl1pPr>
              <a:defRPr/>
            </a:lvl1pPr>
          </a:lstStyle>
          <a:p>
            <a:fld id="{8B5805DC-062E-4591-982C-A90D862E97CD}" type="slidenum">
              <a:rPr lang="en-US" altLang="en-US"/>
              <a:t>‹#›</a:t>
            </a:fld>
            <a:endParaRPr lang="en-US" altLang="en-US"/>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EF40E99C-1359-421A-BABB-0F2C34D836F5}" type="datetime2">
              <a:rPr lang="en-US" altLang="en-US"/>
              <a:t>Friday, May 15, 2026</a:t>
            </a:fld>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t>Dr. Joseph Jumanne</a:t>
            </a:r>
          </a:p>
        </p:txBody>
      </p:sp>
      <p:sp>
        <p:nvSpPr>
          <p:cNvPr id="6" name="Slide Number Placeholder 5"/>
          <p:cNvSpPr>
            <a:spLocks noGrp="1"/>
          </p:cNvSpPr>
          <p:nvPr>
            <p:ph type="sldNum" sz="quarter" idx="12"/>
          </p:nvPr>
        </p:nvSpPr>
        <p:spPr/>
        <p:txBody>
          <a:bodyPr/>
          <a:lstStyle>
            <a:lvl1pPr>
              <a:defRPr/>
            </a:lvl1pPr>
          </a:lstStyle>
          <a:p>
            <a:fld id="{8072D8E8-64D2-4FD6-9B4B-22063417951E}" type="slidenum">
              <a:rPr lang="en-US" altLang="en-US"/>
              <a:t>‹#›</a:t>
            </a:fld>
            <a:endParaRPr lang="en-US" altLang="en-US"/>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lstStyle>
            <a:lvl1pPr>
              <a:defRPr sz="1200">
                <a:solidFill>
                  <a:srgbClr val="8FC3EC"/>
                </a:solidFill>
              </a:defRPr>
            </a:lvl1pPr>
          </a:lstStyle>
          <a:p>
            <a:fld id="{2F430D95-D1CB-4A9E-BDE2-84CD7F073305}" type="datetime2">
              <a:rPr lang="en-US" altLang="en-US"/>
              <a:t>Friday, May 15, 2026</a:t>
            </a:fld>
            <a:endParaRPr lang="en-US" alt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ea typeface="+mn-ea"/>
              </a:defRPr>
            </a:lvl1pPr>
          </a:lstStyle>
          <a:p>
            <a:pPr>
              <a:defRPr/>
            </a:pPr>
            <a:r>
              <a:rPr lang="en-US"/>
              <a:t>Dr. Joseph Jumanne</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lstStyle>
            <a:lvl1pPr algn="r">
              <a:defRPr sz="1200">
                <a:solidFill>
                  <a:srgbClr val="8FC3EC"/>
                </a:solidFill>
              </a:defRPr>
            </a:lvl1pPr>
          </a:lstStyle>
          <a:p>
            <a:fld id="{71C4D8BE-8B01-4B18-A281-B0A79AC19526}" type="slidenum">
              <a:rPr lang="en-US" altLang="en-US"/>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hf hdr="0"/>
  <p:txStyles>
    <p:titleStyle>
      <a:lvl1pPr algn="ctr" defTabSz="457200" rtl="0" fontAlgn="base">
        <a:spcBef>
          <a:spcPct val="0"/>
        </a:spcBef>
        <a:spcAft>
          <a:spcPct val="0"/>
        </a:spcAft>
        <a:defRPr sz="4400" kern="1200">
          <a:solidFill>
            <a:schemeClr val="tx1"/>
          </a:solidFill>
          <a:latin typeface="+mj-lt"/>
          <a:ea typeface="MS PGothic" panose="020B0600070205080204" pitchFamily="34" charset="-128"/>
          <a:cs typeface="+mj-cs"/>
        </a:defRPr>
      </a:lvl1pPr>
      <a:lvl2pPr algn="ctr" defTabSz="457200" rtl="0" fontAlgn="base">
        <a:spcBef>
          <a:spcPct val="0"/>
        </a:spcBef>
        <a:spcAft>
          <a:spcPct val="0"/>
        </a:spcAft>
        <a:defRPr sz="4400">
          <a:solidFill>
            <a:schemeClr val="tx1"/>
          </a:solidFill>
          <a:latin typeface="Arial" panose="020B0604020202020204" pitchFamily="34" charset="0"/>
          <a:ea typeface="MS PGothic" panose="020B0600070205080204" pitchFamily="34" charset="-128"/>
        </a:defRPr>
      </a:lvl2pPr>
      <a:lvl3pPr algn="ctr" defTabSz="457200" rtl="0" fontAlgn="base">
        <a:spcBef>
          <a:spcPct val="0"/>
        </a:spcBef>
        <a:spcAft>
          <a:spcPct val="0"/>
        </a:spcAft>
        <a:defRPr sz="4400">
          <a:solidFill>
            <a:schemeClr val="tx1"/>
          </a:solidFill>
          <a:latin typeface="Arial" panose="020B0604020202020204" pitchFamily="34" charset="0"/>
          <a:ea typeface="MS PGothic" panose="020B0600070205080204" pitchFamily="34" charset="-128"/>
        </a:defRPr>
      </a:lvl3pPr>
      <a:lvl4pPr algn="ctr" defTabSz="457200" rtl="0" fontAlgn="base">
        <a:spcBef>
          <a:spcPct val="0"/>
        </a:spcBef>
        <a:spcAft>
          <a:spcPct val="0"/>
        </a:spcAft>
        <a:defRPr sz="4400">
          <a:solidFill>
            <a:schemeClr val="tx1"/>
          </a:solidFill>
          <a:latin typeface="Arial" panose="020B0604020202020204" pitchFamily="34" charset="0"/>
          <a:ea typeface="MS PGothic" panose="020B0600070205080204" pitchFamily="34" charset="-128"/>
        </a:defRPr>
      </a:lvl4pPr>
      <a:lvl5pPr algn="ctr" defTabSz="457200" rtl="0" fontAlgn="base">
        <a:spcBef>
          <a:spcPct val="0"/>
        </a:spcBef>
        <a:spcAft>
          <a:spcPct val="0"/>
        </a:spcAft>
        <a:defRPr sz="4400">
          <a:solidFill>
            <a:schemeClr val="tx1"/>
          </a:solidFill>
          <a:latin typeface="Arial" panose="020B0604020202020204" pitchFamily="34" charset="0"/>
          <a:ea typeface="MS PGothic" panose="020B0600070205080204" pitchFamily="34" charset="-128"/>
        </a:defRPr>
      </a:lvl5pPr>
      <a:lvl6pPr marL="457200" algn="ctr" defTabSz="457200" rtl="0" fontAlgn="base">
        <a:spcBef>
          <a:spcPct val="0"/>
        </a:spcBef>
        <a:spcAft>
          <a:spcPct val="0"/>
        </a:spcAft>
        <a:defRPr sz="4400">
          <a:solidFill>
            <a:schemeClr val="tx1"/>
          </a:solidFill>
          <a:latin typeface="Arial" panose="020B060402020202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Arial" panose="020B060402020202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Arial" panose="020B060402020202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Arial" panose="020B0604020202020204" pitchFamily="34" charset="0"/>
          <a:ea typeface="MS PGothic" panose="020B0600070205080204" pitchFamily="34" charset="-128"/>
        </a:defRPr>
      </a:lvl9pPr>
    </p:titleStyle>
    <p:bodyStyle>
      <a:lvl1pPr marL="342900" indent="-342900" algn="l" defTabSz="457200" rtl="0" fontAlgn="base">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defTabSz="457200" rtl="0" fontAlgn="base">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defTabSz="457200" rtl="0" fontAlgn="base">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uptodate.com/"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hyperlink" Target="https://doi.org/10.1007/s00125-024-06102-x"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536872"/>
            <a:ext cx="10363200" cy="1470025"/>
          </a:xfrm>
        </p:spPr>
        <p:txBody>
          <a:bodyPr>
            <a:normAutofit fontScale="90000"/>
          </a:bodyPr>
          <a:lstStyle/>
          <a:p>
            <a:r>
              <a:rPr lang="en-US" dirty="0"/>
              <a:t> </a:t>
            </a:r>
            <a:r>
              <a:rPr lang="en-US" sz="4900" b="1" dirty="0">
                <a:solidFill>
                  <a:schemeClr val="bg2">
                    <a:lumMod val="10000"/>
                  </a:schemeClr>
                </a:solidFill>
                <a:latin typeface="Times New Roman" panose="02020603050405020304" pitchFamily="18" charset="0"/>
                <a:cs typeface="Times New Roman" panose="02020603050405020304" pitchFamily="18" charset="0"/>
              </a:rPr>
              <a:t>INFECTIONS IN  IMMUNOCOMPROMISED HOST OTHER THAN HIV</a:t>
            </a:r>
          </a:p>
        </p:txBody>
      </p:sp>
      <p:sp>
        <p:nvSpPr>
          <p:cNvPr id="3" name="Subtitle 2"/>
          <p:cNvSpPr>
            <a:spLocks noGrp="1"/>
          </p:cNvSpPr>
          <p:nvPr>
            <p:ph type="subTitle" idx="1"/>
          </p:nvPr>
        </p:nvSpPr>
        <p:spPr>
          <a:xfrm>
            <a:off x="1523999" y="3547118"/>
            <a:ext cx="9773266" cy="2580968"/>
          </a:xfrm>
        </p:spPr>
        <p:txBody>
          <a:bodyPr>
            <a:normAutofit/>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PRESENTERS</a:t>
            </a:r>
            <a:endParaRPr lang="en-US" dirty="0">
              <a:solidFill>
                <a:schemeClr val="bg2">
                  <a:lumMod val="10000"/>
                </a:schemeClr>
              </a:solidFill>
              <a:latin typeface="Times New Roman" panose="02020603050405020304" pitchFamily="18" charset="0"/>
              <a:cs typeface="Times New Roman" panose="02020603050405020304" pitchFamily="18" charset="0"/>
            </a:endParaRPr>
          </a:p>
          <a:p>
            <a:r>
              <a:rPr lang="en-US" dirty="0">
                <a:solidFill>
                  <a:schemeClr val="bg2">
                    <a:lumMod val="10000"/>
                  </a:schemeClr>
                </a:solidFill>
                <a:latin typeface="Times New Roman" panose="02020603050405020304" pitchFamily="18" charset="0"/>
                <a:cs typeface="Times New Roman" panose="02020603050405020304" pitchFamily="18" charset="0"/>
              </a:rPr>
              <a:t>Ali Hamad Simai</a:t>
            </a:r>
          </a:p>
          <a:p>
            <a:r>
              <a:rPr lang="en-US" dirty="0">
                <a:solidFill>
                  <a:schemeClr val="bg2">
                    <a:lumMod val="10000"/>
                  </a:schemeClr>
                </a:solidFill>
                <a:latin typeface="Times New Roman" panose="02020603050405020304" pitchFamily="18" charset="0"/>
                <a:cs typeface="Times New Roman" panose="02020603050405020304" pitchFamily="18" charset="0"/>
              </a:rPr>
              <a:t>Halima Othman Suleiman</a:t>
            </a:r>
          </a:p>
          <a:p>
            <a:r>
              <a:rPr lang="en-US" dirty="0">
                <a:solidFill>
                  <a:schemeClr val="bg2">
                    <a:lumMod val="10000"/>
                  </a:schemeClr>
                </a:solidFill>
                <a:latin typeface="Times New Roman" panose="02020603050405020304" pitchFamily="18" charset="0"/>
                <a:cs typeface="Times New Roman" panose="02020603050405020304" pitchFamily="18" charset="0"/>
              </a:rPr>
              <a:t>FACILITATOR:    Prof. M. Bakari</a:t>
            </a:r>
          </a:p>
        </p:txBody>
      </p:sp>
    </p:spTree>
    <p:extLst>
      <p:ext uri="{BB962C8B-B14F-4D97-AF65-F5344CB8AC3E}">
        <p14:creationId xmlns:p14="http://schemas.microsoft.com/office/powerpoint/2010/main" val="796989614"/>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5469"/>
          </a:xfrm>
        </p:spPr>
        <p:txBody>
          <a:bodyPr/>
          <a:lstStyle/>
          <a:p>
            <a:r>
              <a:rPr lang="en-US" sz="3600" b="1" dirty="0">
                <a:solidFill>
                  <a:schemeClr val="bg2">
                    <a:lumMod val="10000"/>
                  </a:schemeClr>
                </a:solidFill>
                <a:latin typeface="Times New Roman" panose="02020603050405020304" pitchFamily="18" charset="0"/>
                <a:cs typeface="Times New Roman" panose="02020603050405020304" pitchFamily="18" charset="0"/>
              </a:rPr>
              <a:t>OUTLINE</a:t>
            </a:r>
            <a:r>
              <a:rPr lang="en-US"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a:xfrm>
            <a:off x="634180" y="1283110"/>
            <a:ext cx="11061291" cy="5117690"/>
          </a:xfrm>
        </p:spPr>
        <p:txBody>
          <a:bodyPr/>
          <a:lstStyle/>
          <a:p>
            <a:r>
              <a:rPr lang="en-US" sz="3200" dirty="0">
                <a:solidFill>
                  <a:schemeClr val="bg2">
                    <a:lumMod val="10000"/>
                  </a:schemeClr>
                </a:solidFill>
                <a:latin typeface="Times New Roman" panose="02020603050405020304" pitchFamily="18" charset="0"/>
                <a:cs typeface="Times New Roman" panose="02020603050405020304" pitchFamily="18" charset="0"/>
              </a:rPr>
              <a:t>Introduction</a:t>
            </a:r>
          </a:p>
          <a:p>
            <a:r>
              <a:rPr lang="en-US" sz="3200" dirty="0">
                <a:solidFill>
                  <a:schemeClr val="bg2">
                    <a:lumMod val="10000"/>
                  </a:schemeClr>
                </a:solidFill>
                <a:latin typeface="Times New Roman" panose="02020603050405020304" pitchFamily="18" charset="0"/>
                <a:cs typeface="Times New Roman" panose="02020603050405020304" pitchFamily="18" charset="0"/>
              </a:rPr>
              <a:t>Primary immunodeficiency</a:t>
            </a:r>
          </a:p>
          <a:p>
            <a:r>
              <a:rPr lang="en-US" sz="3200" dirty="0">
                <a:solidFill>
                  <a:schemeClr val="bg2">
                    <a:lumMod val="10000"/>
                  </a:schemeClr>
                </a:solidFill>
                <a:latin typeface="Times New Roman" panose="02020603050405020304" pitchFamily="18" charset="0"/>
                <a:cs typeface="Times New Roman" panose="02020603050405020304" pitchFamily="18" charset="0"/>
              </a:rPr>
              <a:t>Secondary immunodeficiency</a:t>
            </a:r>
          </a:p>
          <a:p>
            <a:r>
              <a:rPr lang="en-US" sz="3200" dirty="0">
                <a:solidFill>
                  <a:schemeClr val="bg2">
                    <a:lumMod val="10000"/>
                  </a:schemeClr>
                </a:solidFill>
                <a:latin typeface="Times New Roman" panose="02020603050405020304" pitchFamily="18" charset="0"/>
                <a:cs typeface="Times New Roman" panose="02020603050405020304" pitchFamily="18" charset="0"/>
              </a:rPr>
              <a:t>Overview of </a:t>
            </a:r>
            <a:r>
              <a:rPr lang="en-US" dirty="0">
                <a:solidFill>
                  <a:schemeClr val="bg2">
                    <a:lumMod val="10000"/>
                  </a:schemeClr>
                </a:solidFill>
                <a:latin typeface="Times New Roman" panose="02020603050405020304" pitchFamily="18" charset="0"/>
                <a:cs typeface="Times New Roman" panose="02020603050405020304" pitchFamily="18" charset="0"/>
              </a:rPr>
              <a:t>infections in</a:t>
            </a:r>
            <a:r>
              <a:rPr lang="en-US" sz="3200" dirty="0">
                <a:solidFill>
                  <a:schemeClr val="bg2">
                    <a:lumMod val="10000"/>
                  </a:schemeClr>
                </a:solidFill>
                <a:latin typeface="Times New Roman" panose="02020603050405020304" pitchFamily="18" charset="0"/>
                <a:cs typeface="Times New Roman" panose="02020603050405020304" pitchFamily="18" charset="0"/>
              </a:rPr>
              <a:t> </a:t>
            </a:r>
            <a:r>
              <a:rPr lang="en-US" dirty="0">
                <a:solidFill>
                  <a:schemeClr val="bg2">
                    <a:lumMod val="10000"/>
                  </a:schemeClr>
                </a:solidFill>
                <a:latin typeface="Times New Roman" panose="02020603050405020304" pitchFamily="18" charset="0"/>
                <a:cs typeface="Times New Roman" panose="02020603050405020304" pitchFamily="18" charset="0"/>
              </a:rPr>
              <a:t>i</a:t>
            </a:r>
            <a:r>
              <a:rPr lang="en-US" sz="3200" dirty="0">
                <a:solidFill>
                  <a:schemeClr val="bg2">
                    <a:lumMod val="10000"/>
                  </a:schemeClr>
                </a:solidFill>
                <a:latin typeface="Times New Roman" panose="02020603050405020304" pitchFamily="18" charset="0"/>
                <a:cs typeface="Times New Roman" panose="02020603050405020304" pitchFamily="18" charset="0"/>
              </a:rPr>
              <a:t>mmunocompromised host</a:t>
            </a:r>
          </a:p>
          <a:p>
            <a:r>
              <a:rPr lang="en-US" sz="3200" dirty="0">
                <a:solidFill>
                  <a:schemeClr val="bg2">
                    <a:lumMod val="10000"/>
                  </a:schemeClr>
                </a:solidFill>
                <a:latin typeface="Times New Roman" panose="02020603050405020304" pitchFamily="18" charset="0"/>
                <a:cs typeface="Times New Roman" panose="02020603050405020304" pitchFamily="18" charset="0"/>
              </a:rPr>
              <a:t>References</a:t>
            </a:r>
          </a:p>
          <a:p>
            <a:endParaRPr lang="en-US" dirty="0"/>
          </a:p>
        </p:txBody>
      </p:sp>
    </p:spTree>
    <p:extLst>
      <p:ext uri="{BB962C8B-B14F-4D97-AF65-F5344CB8AC3E}">
        <p14:creationId xmlns:p14="http://schemas.microsoft.com/office/powerpoint/2010/main" val="2239659218"/>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bg2">
                    <a:lumMod val="10000"/>
                  </a:schemeClr>
                </a:solidFill>
                <a:latin typeface="Times New Roman" panose="02020603050405020304" pitchFamily="18" charset="0"/>
                <a:cs typeface="Times New Roman" panose="02020603050405020304" pitchFamily="18" charset="0"/>
              </a:rPr>
              <a:t>Definition</a:t>
            </a:r>
          </a:p>
        </p:txBody>
      </p:sp>
      <p:sp>
        <p:nvSpPr>
          <p:cNvPr id="3" name="Content Placeholder 2"/>
          <p:cNvSpPr>
            <a:spLocks noGrp="1"/>
          </p:cNvSpPr>
          <p:nvPr>
            <p:ph idx="1"/>
          </p:nvPr>
        </p:nvSpPr>
        <p:spPr>
          <a:xfrm>
            <a:off x="609600" y="1166018"/>
            <a:ext cx="10972800" cy="4525963"/>
          </a:xfrm>
        </p:spPr>
        <p:txBody>
          <a:bodyPr/>
          <a:lstStyle/>
          <a:p>
            <a:pPr marL="0" indent="0">
              <a:buNone/>
            </a:pPr>
            <a:r>
              <a:rPr lang="en-US" dirty="0">
                <a:solidFill>
                  <a:schemeClr val="bg2">
                    <a:lumMod val="10000"/>
                  </a:schemeClr>
                </a:solidFill>
                <a:latin typeface="Times New Roman" panose="02020603050405020304" pitchFamily="18" charset="0"/>
                <a:cs typeface="Times New Roman" panose="02020603050405020304" pitchFamily="18" charset="0"/>
              </a:rPr>
              <a:t>“Infections occurring in patients with impaired immune function due to non-HIV causes, characterized by increased susceptibility to opportunistic and severe infections” (</a:t>
            </a:r>
            <a:r>
              <a:rPr lang="en-US" b="1" dirty="0">
                <a:solidFill>
                  <a:schemeClr val="bg2">
                    <a:lumMod val="10000"/>
                  </a:schemeClr>
                </a:solidFill>
                <a:latin typeface="Times New Roman" panose="02020603050405020304" pitchFamily="18" charset="0"/>
                <a:cs typeface="Times New Roman" panose="02020603050405020304" pitchFamily="18" charset="0"/>
              </a:rPr>
              <a:t>Harrison’s Principle of Internal Medicine; Mandell’s Infectious Disease</a:t>
            </a:r>
            <a:r>
              <a:rPr lang="en-US" dirty="0">
                <a:solidFill>
                  <a:schemeClr val="bg2">
                    <a:lumMod val="10000"/>
                  </a:schemeClr>
                </a:solidFill>
                <a:latin typeface="Times New Roman" panose="02020603050405020304" pitchFamily="18" charset="0"/>
                <a:cs typeface="Times New Roman" panose="02020603050405020304" pitchFamily="18" charset="0"/>
              </a:rPr>
              <a:t>)</a:t>
            </a:r>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28024-261E-9B36-538C-6E3A20A65393}"/>
              </a:ext>
            </a:extLst>
          </p:cNvPr>
          <p:cNvSpPr>
            <a:spLocks noGrp="1"/>
          </p:cNvSpPr>
          <p:nvPr>
            <p:ph type="title"/>
          </p:nvPr>
        </p:nvSpPr>
        <p:spPr/>
        <p:txBody>
          <a:bodyPr/>
          <a:lstStyle/>
          <a:p>
            <a:r>
              <a:rPr lang="en-US" b="1" dirty="0" err="1">
                <a:solidFill>
                  <a:schemeClr val="bg2">
                    <a:lumMod val="10000"/>
                  </a:schemeClr>
                </a:solidFill>
                <a:latin typeface="Times New Roman" panose="02020603050405020304" pitchFamily="18" charset="0"/>
                <a:cs typeface="Times New Roman" panose="02020603050405020304" pitchFamily="18" charset="0"/>
              </a:rPr>
              <a:t>Epidermiology</a:t>
            </a:r>
            <a:endParaRPr lang="en-TZ"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318CED1-2218-55FC-3B8D-043C581BAA8D}"/>
              </a:ext>
            </a:extLst>
          </p:cNvPr>
          <p:cNvSpPr>
            <a:spLocks noGrp="1"/>
          </p:cNvSpPr>
          <p:nvPr>
            <p:ph idx="1"/>
          </p:nvPr>
        </p:nvSpPr>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Recent high-quality epidemiology data show that a growing proportion of “opportunistic” infections now occur in non‑HIV immunodeficient/immunocompromised hosts (malignancy, transplant, biologics/steroids, critical illness).</a:t>
            </a:r>
          </a:p>
          <a:p>
            <a:r>
              <a:rPr lang="en-US" dirty="0">
                <a:solidFill>
                  <a:schemeClr val="bg2">
                    <a:lumMod val="10000"/>
                  </a:schemeClr>
                </a:solidFill>
                <a:latin typeface="Times New Roman" panose="02020603050405020304" pitchFamily="18" charset="0"/>
                <a:cs typeface="Times New Roman" panose="02020603050405020304" pitchFamily="18" charset="0"/>
              </a:rPr>
              <a:t>With substantial mortality and shifting pathogen patterns particularly for invasive fungi and herpesviruses</a:t>
            </a:r>
            <a:endParaRPr lang="en-TZ" dirty="0">
              <a:solidFill>
                <a:schemeClr val="bg2">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1961979"/>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5BA06-B067-EB82-7AFA-99C32365D29A}"/>
              </a:ext>
            </a:extLst>
          </p:cNvPr>
          <p:cNvSpPr>
            <a:spLocks noGrp="1"/>
          </p:cNvSpPr>
          <p:nvPr>
            <p:ph type="title"/>
          </p:nvPr>
        </p:nvSpPr>
        <p:spPr/>
        <p:txBody>
          <a:bodyPr/>
          <a:lstStyle/>
          <a:p>
            <a:r>
              <a:rPr lang="en-US" b="1" dirty="0" err="1">
                <a:solidFill>
                  <a:schemeClr val="bg2">
                    <a:lumMod val="10000"/>
                  </a:schemeClr>
                </a:solidFill>
                <a:latin typeface="Times New Roman" panose="02020603050405020304" pitchFamily="18" charset="0"/>
                <a:cs typeface="Times New Roman" panose="02020603050405020304" pitchFamily="18" charset="0"/>
              </a:rPr>
              <a:t>Epidermiology</a:t>
            </a:r>
            <a:r>
              <a:rPr lang="en-US" b="1" dirty="0">
                <a:solidFill>
                  <a:schemeClr val="bg2">
                    <a:lumMod val="10000"/>
                  </a:schemeClr>
                </a:solidFill>
                <a:latin typeface="Times New Roman" panose="02020603050405020304" pitchFamily="18" charset="0"/>
                <a:cs typeface="Times New Roman" panose="02020603050405020304" pitchFamily="18" charset="0"/>
              </a:rPr>
              <a:t>…</a:t>
            </a:r>
            <a:r>
              <a:rPr lang="en-US" b="1" dirty="0" err="1">
                <a:solidFill>
                  <a:schemeClr val="bg2">
                    <a:lumMod val="10000"/>
                  </a:schemeClr>
                </a:solidFill>
                <a:latin typeface="Times New Roman" panose="02020603050405020304" pitchFamily="18" charset="0"/>
                <a:cs typeface="Times New Roman" panose="02020603050405020304" pitchFamily="18" charset="0"/>
              </a:rPr>
              <a:t>cont</a:t>
            </a:r>
            <a:endParaRPr lang="en-TZ"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25AA694-FCE0-6A32-64C2-37407619BE39}"/>
              </a:ext>
            </a:extLst>
          </p:cNvPr>
          <p:cNvSpPr>
            <a:spLocks noGrp="1"/>
          </p:cNvSpPr>
          <p:nvPr>
            <p:ph idx="1"/>
          </p:nvPr>
        </p:nvSpPr>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Multicenter retrospective study across 46 hospitals (Australia/NZ) found 90% of cryptococcosis cases were HIV‑negative (426/475); 60.8% had an immunocompromising condition (cancer, transplant, other) and 1‑year mortality 20.9% in non‑HIV vs 21.7% in HIV (p=0.89). Clinical Infectious Diseases 2023. This directly quantifies the shifting burden to non‑HIV hosts in a modern era cohort. (</a:t>
            </a:r>
            <a:r>
              <a:rPr lang="fr-FR" dirty="0" err="1">
                <a:solidFill>
                  <a:schemeClr val="bg2">
                    <a:lumMod val="10000"/>
                  </a:schemeClr>
                </a:solidFill>
                <a:latin typeface="Times New Roman" panose="02020603050405020304" pitchFamily="18" charset="0"/>
                <a:cs typeface="Times New Roman" panose="02020603050405020304" pitchFamily="18" charset="0"/>
              </a:rPr>
              <a:t>Coussement</a:t>
            </a:r>
            <a:r>
              <a:rPr lang="fr-FR" dirty="0">
                <a:solidFill>
                  <a:schemeClr val="bg2">
                    <a:lumMod val="10000"/>
                  </a:schemeClr>
                </a:solidFill>
                <a:latin typeface="Times New Roman" panose="02020603050405020304" pitchFamily="18" charset="0"/>
                <a:cs typeface="Times New Roman" panose="02020603050405020304" pitchFamily="18" charset="0"/>
              </a:rPr>
              <a:t>, J. et al. (2023))</a:t>
            </a:r>
            <a:endParaRPr lang="en-US" dirty="0">
              <a:solidFill>
                <a:schemeClr val="bg2">
                  <a:lumMod val="10000"/>
                </a:schemeClr>
              </a:solidFill>
              <a:latin typeface="Times New Roman" panose="02020603050405020304" pitchFamily="18" charset="0"/>
              <a:cs typeface="Times New Roman" panose="02020603050405020304" pitchFamily="18" charset="0"/>
            </a:endParaRPr>
          </a:p>
          <a:p>
            <a:pPr marL="0" indent="0">
              <a:buNone/>
            </a:pPr>
            <a:endParaRPr lang="en-TZ" dirty="0"/>
          </a:p>
        </p:txBody>
      </p:sp>
    </p:spTree>
    <p:extLst>
      <p:ext uri="{BB962C8B-B14F-4D97-AF65-F5344CB8AC3E}">
        <p14:creationId xmlns:p14="http://schemas.microsoft.com/office/powerpoint/2010/main" val="2275497609"/>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7A1DB-2EE3-11C8-335C-77E2E560C672}"/>
              </a:ext>
            </a:extLst>
          </p:cNvPr>
          <p:cNvSpPr>
            <a:spLocks noGrp="1"/>
          </p:cNvSpPr>
          <p:nvPr>
            <p:ph type="title"/>
          </p:nvPr>
        </p:nvSpPr>
        <p:spPr/>
        <p:txBody>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Causes of immunodeficiency in non-HIV host</a:t>
            </a:r>
          </a:p>
        </p:txBody>
      </p:sp>
      <p:sp>
        <p:nvSpPr>
          <p:cNvPr id="3" name="Content Placeholder 2">
            <a:extLst>
              <a:ext uri="{FF2B5EF4-FFF2-40B4-BE49-F238E27FC236}">
                <a16:creationId xmlns:a16="http://schemas.microsoft.com/office/drawing/2014/main" id="{C2377084-BF3B-4224-E49E-CBFF8434E775}"/>
              </a:ext>
            </a:extLst>
          </p:cNvPr>
          <p:cNvSpPr>
            <a:spLocks noGrp="1"/>
          </p:cNvSpPr>
          <p:nvPr>
            <p:ph idx="1"/>
          </p:nvPr>
        </p:nvSpPr>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Disease related causes</a:t>
            </a:r>
          </a:p>
          <a:p>
            <a:pPr marL="0" indent="0">
              <a:buNone/>
            </a:pPr>
            <a:r>
              <a:rPr lang="en-US" dirty="0">
                <a:solidFill>
                  <a:schemeClr val="bg2">
                    <a:lumMod val="10000"/>
                  </a:schemeClr>
                </a:solidFill>
                <a:latin typeface="Times New Roman" panose="02020603050405020304" pitchFamily="18" charset="0"/>
                <a:cs typeface="Times New Roman" panose="02020603050405020304" pitchFamily="18" charset="0"/>
              </a:rPr>
              <a:t>e.g., Diabetes mellitus, Chronic kidney disease, malignancies (like leukemia)</a:t>
            </a:r>
          </a:p>
          <a:p>
            <a:r>
              <a:rPr lang="en-US" dirty="0">
                <a:solidFill>
                  <a:schemeClr val="bg2">
                    <a:lumMod val="10000"/>
                  </a:schemeClr>
                </a:solidFill>
                <a:latin typeface="Times New Roman" panose="02020603050405020304" pitchFamily="18" charset="0"/>
                <a:cs typeface="Times New Roman" panose="02020603050405020304" pitchFamily="18" charset="0"/>
              </a:rPr>
              <a:t>Treatment-related causes</a:t>
            </a:r>
          </a:p>
          <a:p>
            <a:pPr marL="0" indent="0">
              <a:buNone/>
            </a:pPr>
            <a:r>
              <a:rPr lang="en-US" dirty="0">
                <a:solidFill>
                  <a:schemeClr val="bg2">
                    <a:lumMod val="10000"/>
                  </a:schemeClr>
                </a:solidFill>
                <a:latin typeface="Times New Roman" panose="02020603050405020304" pitchFamily="18" charset="0"/>
                <a:cs typeface="Times New Roman" panose="02020603050405020304" pitchFamily="18" charset="0"/>
              </a:rPr>
              <a:t>e.g., chemotherapy, corticosteroids, immunosuppressive drugs (post-transplant)</a:t>
            </a:r>
          </a:p>
          <a:p>
            <a:r>
              <a:rPr lang="en-US" dirty="0">
                <a:solidFill>
                  <a:schemeClr val="bg2">
                    <a:lumMod val="10000"/>
                  </a:schemeClr>
                </a:solidFill>
                <a:latin typeface="Times New Roman" panose="02020603050405020304" pitchFamily="18" charset="0"/>
                <a:cs typeface="Times New Roman" panose="02020603050405020304" pitchFamily="18" charset="0"/>
              </a:rPr>
              <a:t>Congenital causes</a:t>
            </a:r>
          </a:p>
          <a:p>
            <a:pPr marL="0" indent="0">
              <a:buNone/>
            </a:pPr>
            <a:r>
              <a:rPr lang="en-US" dirty="0">
                <a:solidFill>
                  <a:schemeClr val="bg2">
                    <a:lumMod val="10000"/>
                  </a:schemeClr>
                </a:solidFill>
                <a:latin typeface="Times New Roman" panose="02020603050405020304" pitchFamily="18" charset="0"/>
                <a:cs typeface="Times New Roman" panose="02020603050405020304" pitchFamily="18" charset="0"/>
              </a:rPr>
              <a:t>e.g., primary immunodeficiency disorders</a:t>
            </a:r>
          </a:p>
        </p:txBody>
      </p:sp>
    </p:spTree>
    <p:extLst>
      <p:ext uri="{BB962C8B-B14F-4D97-AF65-F5344CB8AC3E}">
        <p14:creationId xmlns:p14="http://schemas.microsoft.com/office/powerpoint/2010/main" val="3974775782"/>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bg2">
                    <a:lumMod val="10000"/>
                  </a:schemeClr>
                </a:solidFill>
                <a:latin typeface="Times New Roman" panose="02020603050405020304" pitchFamily="18" charset="0"/>
                <a:cs typeface="Times New Roman" panose="02020603050405020304" pitchFamily="18" charset="0"/>
              </a:rPr>
              <a:t>Classification</a:t>
            </a:r>
          </a:p>
        </p:txBody>
      </p:sp>
      <p:sp>
        <p:nvSpPr>
          <p:cNvPr id="3" name="Content Placeholder 2"/>
          <p:cNvSpPr>
            <a:spLocks noGrp="1"/>
          </p:cNvSpPr>
          <p:nvPr>
            <p:ph idx="1"/>
          </p:nvPr>
        </p:nvSpPr>
        <p:spPr/>
        <p:txBody>
          <a:bodyPr/>
          <a:lstStyle/>
          <a:p>
            <a:r>
              <a:rPr dirty="0">
                <a:solidFill>
                  <a:schemeClr val="bg2">
                    <a:lumMod val="10000"/>
                  </a:schemeClr>
                </a:solidFill>
                <a:latin typeface="Times New Roman" panose="02020603050405020304" pitchFamily="18" charset="0"/>
                <a:cs typeface="Times New Roman" panose="02020603050405020304" pitchFamily="18" charset="0"/>
              </a:rPr>
              <a:t>Primary vs Secondary immunodeficiency</a:t>
            </a:r>
          </a:p>
          <a:p>
            <a:r>
              <a:rPr dirty="0">
                <a:solidFill>
                  <a:schemeClr val="bg2">
                    <a:lumMod val="10000"/>
                  </a:schemeClr>
                </a:solidFill>
                <a:latin typeface="Times New Roman" panose="02020603050405020304" pitchFamily="18" charset="0"/>
                <a:cs typeface="Times New Roman" panose="02020603050405020304" pitchFamily="18" charset="0"/>
              </a:rPr>
              <a:t>Innate vs Adaptive defects</a:t>
            </a:r>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377110497"/>
              </p:ext>
            </p:extLst>
          </p:nvPr>
        </p:nvGraphicFramePr>
        <p:xfrm>
          <a:off x="339213" y="62133"/>
          <a:ext cx="11592232" cy="6812198"/>
        </p:xfrm>
        <a:graphic>
          <a:graphicData uri="http://schemas.openxmlformats.org/drawingml/2006/table">
            <a:tbl>
              <a:tblPr firstRow="1" bandRow="1">
                <a:tableStyleId>{5C22544A-7EE6-4342-B048-85BDC9FD1C3A}</a:tableStyleId>
              </a:tblPr>
              <a:tblGrid>
                <a:gridCol w="4670581">
                  <a:extLst>
                    <a:ext uri="{9D8B030D-6E8A-4147-A177-3AD203B41FA5}">
                      <a16:colId xmlns:a16="http://schemas.microsoft.com/office/drawing/2014/main" val="1268232457"/>
                    </a:ext>
                  </a:extLst>
                </a:gridCol>
                <a:gridCol w="6921651">
                  <a:extLst>
                    <a:ext uri="{9D8B030D-6E8A-4147-A177-3AD203B41FA5}">
                      <a16:colId xmlns:a16="http://schemas.microsoft.com/office/drawing/2014/main" val="3309247474"/>
                    </a:ext>
                  </a:extLst>
                </a:gridCol>
              </a:tblGrid>
              <a:tr h="541593">
                <a:tc>
                  <a:txBody>
                    <a:bodyPr/>
                    <a:lstStyle/>
                    <a:p>
                      <a:r>
                        <a:rPr lang="en-US" dirty="0">
                          <a:latin typeface="Times New Roman" panose="02020603050405020304" pitchFamily="18" charset="0"/>
                          <a:cs typeface="Times New Roman" panose="02020603050405020304" pitchFamily="18" charset="0"/>
                        </a:rPr>
                        <a:t>Type of primary immunodeficiency</a:t>
                      </a:r>
                      <a:r>
                        <a:rPr lang="en-US" baseline="0"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Disease</a:t>
                      </a:r>
                      <a:r>
                        <a:rPr lang="en-US" baseline="0"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81196634"/>
                  </a:ext>
                </a:extLst>
              </a:tr>
              <a:tr h="4925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Times New Roman" panose="02020603050405020304" pitchFamily="18" charset="0"/>
                          <a:ea typeface="+mn-ea"/>
                          <a:cs typeface="Times New Roman" panose="02020603050405020304" pitchFamily="18" charset="0"/>
                        </a:rPr>
                        <a:t>Predominant T Cell Disorders</a:t>
                      </a:r>
                    </a:p>
                  </a:txBody>
                  <a:tcPr/>
                </a:tc>
                <a:tc>
                  <a:txBody>
                    <a:bodyPr/>
                    <a:lstStyle/>
                    <a:p>
                      <a:r>
                        <a:rPr lang="en-US" dirty="0">
                          <a:latin typeface="Times New Roman" panose="02020603050405020304" pitchFamily="18" charset="0"/>
                          <a:cs typeface="Times New Roman" panose="02020603050405020304" pitchFamily="18" charset="0"/>
                        </a:rPr>
                        <a:t>De George Syndrome</a:t>
                      </a:r>
                    </a:p>
                  </a:txBody>
                  <a:tcPr/>
                </a:tc>
                <a:extLst>
                  <a:ext uri="{0D108BD9-81ED-4DB2-BD59-A6C34878D82A}">
                    <a16:rowId xmlns:a16="http://schemas.microsoft.com/office/drawing/2014/main" val="1390366396"/>
                  </a:ext>
                </a:extLst>
              </a:tr>
              <a:tr h="442547">
                <a:tc rowSpan="3">
                  <a:txBody>
                    <a:bodyPr/>
                    <a:lstStyle/>
                    <a:p>
                      <a:r>
                        <a:rPr lang="en-US" dirty="0">
                          <a:latin typeface="Times New Roman" panose="02020603050405020304" pitchFamily="18" charset="0"/>
                          <a:cs typeface="Times New Roman" panose="02020603050405020304" pitchFamily="18" charset="0"/>
                        </a:rPr>
                        <a:t>Predominantly B Cell Disorders</a:t>
                      </a:r>
                    </a:p>
                  </a:txBody>
                  <a:tcPr/>
                </a:tc>
                <a:tc>
                  <a:txBody>
                    <a:bodyPr/>
                    <a:lstStyle/>
                    <a:p>
                      <a:r>
                        <a:rPr lang="en-US" dirty="0">
                          <a:latin typeface="Times New Roman" panose="02020603050405020304" pitchFamily="18" charset="0"/>
                          <a:cs typeface="Times New Roman" panose="02020603050405020304" pitchFamily="18" charset="0"/>
                        </a:rPr>
                        <a:t>X-linked Agammaglobulinaemia (XLA)/Bruton’s Disease.</a:t>
                      </a:r>
                    </a:p>
                  </a:txBody>
                  <a:tcPr/>
                </a:tc>
                <a:extLst>
                  <a:ext uri="{0D108BD9-81ED-4DB2-BD59-A6C34878D82A}">
                    <a16:rowId xmlns:a16="http://schemas.microsoft.com/office/drawing/2014/main" val="4008547460"/>
                  </a:ext>
                </a:extLst>
              </a:tr>
              <a:tr h="442547">
                <a:tc vMerge="1">
                  <a:txBody>
                    <a:bodyPr/>
                    <a:lstStyle/>
                    <a:p>
                      <a:endParaRPr lang="en-US" dirty="0"/>
                    </a:p>
                  </a:txBody>
                  <a:tcPr/>
                </a:tc>
                <a:tc>
                  <a:txBody>
                    <a:bodyPr/>
                    <a:lstStyle/>
                    <a:p>
                      <a:r>
                        <a:rPr lang="en-US" dirty="0">
                          <a:latin typeface="Times New Roman" panose="02020603050405020304" pitchFamily="18" charset="0"/>
                          <a:cs typeface="Times New Roman" panose="02020603050405020304" pitchFamily="18" charset="0"/>
                        </a:rPr>
                        <a:t>Selective IgA deficiency</a:t>
                      </a:r>
                    </a:p>
                  </a:txBody>
                  <a:tcPr/>
                </a:tc>
                <a:extLst>
                  <a:ext uri="{0D108BD9-81ED-4DB2-BD59-A6C34878D82A}">
                    <a16:rowId xmlns:a16="http://schemas.microsoft.com/office/drawing/2014/main" val="2516785696"/>
                  </a:ext>
                </a:extLst>
              </a:tr>
              <a:tr h="442547">
                <a:tc vMerge="1">
                  <a:txBody>
                    <a:bodyPr/>
                    <a:lstStyle/>
                    <a:p>
                      <a:endParaRPr lang="en-US"/>
                    </a:p>
                  </a:txBody>
                  <a:tcPr/>
                </a:tc>
                <a:tc>
                  <a:txBody>
                    <a:bodyPr/>
                    <a:lstStyle/>
                    <a:p>
                      <a:r>
                        <a:rPr lang="en-US" dirty="0">
                          <a:latin typeface="Times New Roman" panose="02020603050405020304" pitchFamily="18" charset="0"/>
                          <a:cs typeface="Times New Roman" panose="02020603050405020304" pitchFamily="18" charset="0"/>
                        </a:rPr>
                        <a:t>Hyper IgM syndrome</a:t>
                      </a:r>
                    </a:p>
                  </a:txBody>
                  <a:tcPr/>
                </a:tc>
                <a:extLst>
                  <a:ext uri="{0D108BD9-81ED-4DB2-BD59-A6C34878D82A}">
                    <a16:rowId xmlns:a16="http://schemas.microsoft.com/office/drawing/2014/main" val="3062275733"/>
                  </a:ext>
                </a:extLst>
              </a:tr>
              <a:tr h="442547">
                <a:tc>
                  <a:txBody>
                    <a:bodyPr/>
                    <a:lstStyle/>
                    <a:p>
                      <a:r>
                        <a:rPr lang="en-US" dirty="0">
                          <a:latin typeface="Times New Roman" panose="02020603050405020304" pitchFamily="18" charset="0"/>
                          <a:cs typeface="Times New Roman" panose="02020603050405020304" pitchFamily="18" charset="0"/>
                        </a:rPr>
                        <a:t>Combined Immunodeficiency Disorder </a:t>
                      </a:r>
                    </a:p>
                  </a:txBody>
                  <a:tcPr/>
                </a:tc>
                <a:tc>
                  <a:txBody>
                    <a:bodyPr/>
                    <a:lstStyle/>
                    <a:p>
                      <a:r>
                        <a:rPr lang="en-US" dirty="0">
                          <a:latin typeface="Times New Roman" panose="02020603050405020304" pitchFamily="18" charset="0"/>
                          <a:cs typeface="Times New Roman" panose="02020603050405020304" pitchFamily="18" charset="0"/>
                        </a:rPr>
                        <a:t>Severe Combined Immunodeficiency (SCID) </a:t>
                      </a:r>
                    </a:p>
                  </a:txBody>
                  <a:tcPr/>
                </a:tc>
                <a:extLst>
                  <a:ext uri="{0D108BD9-81ED-4DB2-BD59-A6C34878D82A}">
                    <a16:rowId xmlns:a16="http://schemas.microsoft.com/office/drawing/2014/main" val="514538573"/>
                  </a:ext>
                </a:extLst>
              </a:tr>
              <a:tr h="442547">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Ataxia-Telangiectasia</a:t>
                      </a:r>
                    </a:p>
                  </a:txBody>
                  <a:tcPr/>
                </a:tc>
                <a:extLst>
                  <a:ext uri="{0D108BD9-81ED-4DB2-BD59-A6C34878D82A}">
                    <a16:rowId xmlns:a16="http://schemas.microsoft.com/office/drawing/2014/main" val="3824061498"/>
                  </a:ext>
                </a:extLst>
              </a:tr>
              <a:tr h="467529">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Wiskott-Aldrich Syndrome </a:t>
                      </a:r>
                    </a:p>
                  </a:txBody>
                  <a:tcPr/>
                </a:tc>
                <a:extLst>
                  <a:ext uri="{0D108BD9-81ED-4DB2-BD59-A6C34878D82A}">
                    <a16:rowId xmlns:a16="http://schemas.microsoft.com/office/drawing/2014/main" val="3535599194"/>
                  </a:ext>
                </a:extLst>
              </a:tr>
              <a:tr h="442547">
                <a:tc>
                  <a:txBody>
                    <a:bodyPr/>
                    <a:lstStyle/>
                    <a:p>
                      <a:r>
                        <a:rPr lang="en-US" dirty="0">
                          <a:latin typeface="Times New Roman" panose="02020603050405020304" pitchFamily="18" charset="0"/>
                          <a:cs typeface="Times New Roman" panose="02020603050405020304" pitchFamily="18" charset="0"/>
                        </a:rPr>
                        <a:t>Phagocytic cell</a:t>
                      </a:r>
                      <a:r>
                        <a:rPr lang="en-US" baseline="0" dirty="0">
                          <a:latin typeface="Times New Roman" panose="02020603050405020304" pitchFamily="18" charset="0"/>
                          <a:cs typeface="Times New Roman" panose="02020603050405020304" pitchFamily="18" charset="0"/>
                        </a:rPr>
                        <a:t> immune defects </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Leukocyte</a:t>
                      </a:r>
                      <a:r>
                        <a:rPr lang="en-US" baseline="0" dirty="0">
                          <a:latin typeface="Times New Roman" panose="02020603050405020304" pitchFamily="18" charset="0"/>
                          <a:cs typeface="Times New Roman" panose="02020603050405020304" pitchFamily="18" charset="0"/>
                        </a:rPr>
                        <a:t> adhesion defects </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10551949"/>
                  </a:ext>
                </a:extLst>
              </a:tr>
              <a:tr h="442547">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Chronic granulomatous disease </a:t>
                      </a:r>
                    </a:p>
                  </a:txBody>
                  <a:tcPr/>
                </a:tc>
                <a:extLst>
                  <a:ext uri="{0D108BD9-81ED-4DB2-BD59-A6C34878D82A}">
                    <a16:rowId xmlns:a16="http://schemas.microsoft.com/office/drawing/2014/main" val="3479186224"/>
                  </a:ext>
                </a:extLst>
              </a:tr>
              <a:tr h="442547">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Chediak-Higashi Syndrome </a:t>
                      </a:r>
                    </a:p>
                  </a:txBody>
                  <a:tcPr/>
                </a:tc>
                <a:extLst>
                  <a:ext uri="{0D108BD9-81ED-4DB2-BD59-A6C34878D82A}">
                    <a16:rowId xmlns:a16="http://schemas.microsoft.com/office/drawing/2014/main" val="282763568"/>
                  </a:ext>
                </a:extLst>
              </a:tr>
              <a:tr h="442547">
                <a:tc>
                  <a:txBody>
                    <a:bodyPr/>
                    <a:lstStyle/>
                    <a:p>
                      <a:r>
                        <a:rPr lang="en-US" dirty="0">
                          <a:latin typeface="Times New Roman" panose="02020603050405020304" pitchFamily="18" charset="0"/>
                          <a:cs typeface="Times New Roman" panose="02020603050405020304" pitchFamily="18" charset="0"/>
                        </a:rPr>
                        <a:t>Complement disorders</a:t>
                      </a:r>
                      <a:r>
                        <a:rPr lang="en-US" baseline="0"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C1 esterase inhibitor deficiency </a:t>
                      </a:r>
                    </a:p>
                  </a:txBody>
                  <a:tcPr/>
                </a:tc>
                <a:extLst>
                  <a:ext uri="{0D108BD9-81ED-4DB2-BD59-A6C34878D82A}">
                    <a16:rowId xmlns:a16="http://schemas.microsoft.com/office/drawing/2014/main" val="4102379018"/>
                  </a:ext>
                </a:extLst>
              </a:tr>
              <a:tr h="442547">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Complement component deficiency </a:t>
                      </a:r>
                    </a:p>
                  </a:txBody>
                  <a:tcPr/>
                </a:tc>
                <a:extLst>
                  <a:ext uri="{0D108BD9-81ED-4DB2-BD59-A6C34878D82A}">
                    <a16:rowId xmlns:a16="http://schemas.microsoft.com/office/drawing/2014/main" val="2443439817"/>
                  </a:ext>
                </a:extLst>
              </a:tr>
              <a:tr h="442547">
                <a:tc>
                  <a:txBody>
                    <a:bodyPr/>
                    <a:lstStyle/>
                    <a:p>
                      <a:r>
                        <a:rPr lang="en-US" dirty="0">
                          <a:latin typeface="Times New Roman" panose="02020603050405020304" pitchFamily="18" charset="0"/>
                          <a:cs typeface="Times New Roman" panose="02020603050405020304" pitchFamily="18" charset="0"/>
                        </a:rPr>
                        <a:t>Defects in natural</a:t>
                      </a:r>
                      <a:r>
                        <a:rPr lang="en-US" baseline="0" dirty="0">
                          <a:latin typeface="Times New Roman" panose="02020603050405020304" pitchFamily="18" charset="0"/>
                          <a:cs typeface="Times New Roman" panose="02020603050405020304" pitchFamily="18" charset="0"/>
                        </a:rPr>
                        <a:t> killer cells </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Ataxia telangiectasia- </a:t>
                      </a:r>
                    </a:p>
                  </a:txBody>
                  <a:tcPr/>
                </a:tc>
                <a:extLst>
                  <a:ext uri="{0D108BD9-81ED-4DB2-BD59-A6C34878D82A}">
                    <a16:rowId xmlns:a16="http://schemas.microsoft.com/office/drawing/2014/main" val="1850056"/>
                  </a:ext>
                </a:extLst>
              </a:tr>
              <a:tr h="442547">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Severe congenital neutropenia </a:t>
                      </a:r>
                    </a:p>
                  </a:txBody>
                  <a:tcPr/>
                </a:tc>
                <a:extLst>
                  <a:ext uri="{0D108BD9-81ED-4DB2-BD59-A6C34878D82A}">
                    <a16:rowId xmlns:a16="http://schemas.microsoft.com/office/drawing/2014/main" val="1180494499"/>
                  </a:ext>
                </a:extLst>
              </a:tr>
            </a:tbl>
          </a:graphicData>
        </a:graphic>
      </p:graphicFrame>
    </p:spTree>
    <p:extLst>
      <p:ext uri="{BB962C8B-B14F-4D97-AF65-F5344CB8AC3E}">
        <p14:creationId xmlns:p14="http://schemas.microsoft.com/office/powerpoint/2010/main" val="277270743"/>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03310" cy="1050719"/>
          </a:xfrm>
        </p:spPr>
        <p:txBody>
          <a:bodyPr>
            <a:normAutofit/>
          </a:bodyPr>
          <a:lstStyle/>
          <a:p>
            <a:pPr algn="ctr"/>
            <a:r>
              <a:rPr lang="en-US" b="1" dirty="0">
                <a:solidFill>
                  <a:schemeClr val="bg2">
                    <a:lumMod val="10000"/>
                  </a:schemeClr>
                </a:solidFill>
                <a:latin typeface="Times New Roman" panose="02020603050405020304" pitchFamily="18" charset="0"/>
                <a:cs typeface="Times New Roman" panose="02020603050405020304" pitchFamily="18" charset="0"/>
              </a:rPr>
              <a:t>Primary immunodeficiency</a:t>
            </a:r>
          </a:p>
        </p:txBody>
      </p:sp>
      <p:sp>
        <p:nvSpPr>
          <p:cNvPr id="3" name="Content Placeholder 2"/>
          <p:cNvSpPr>
            <a:spLocks noGrp="1"/>
          </p:cNvSpPr>
          <p:nvPr>
            <p:ph idx="1"/>
          </p:nvPr>
        </p:nvSpPr>
        <p:spPr>
          <a:xfrm>
            <a:off x="589935" y="1253613"/>
            <a:ext cx="11120284" cy="4999703"/>
          </a:xfrm>
        </p:spPr>
        <p:txBody>
          <a:bodyPr>
            <a:normAutofit lnSpcReduction="10000"/>
          </a:bodyPr>
          <a:lstStyle/>
          <a:p>
            <a:pPr marL="0" indent="0">
              <a:buNone/>
            </a:pPr>
            <a:r>
              <a:rPr lang="en-US" sz="3000" dirty="0">
                <a:solidFill>
                  <a:schemeClr val="bg2">
                    <a:lumMod val="10000"/>
                  </a:schemeClr>
                </a:solidFill>
                <a:latin typeface="Times New Roman" panose="02020603050405020304" pitchFamily="18" charset="0"/>
                <a:cs typeface="Times New Roman" panose="02020603050405020304" pitchFamily="18" charset="0"/>
              </a:rPr>
              <a:t>When primary immunodeficiency should be suspected in adult? </a:t>
            </a:r>
          </a:p>
          <a:p>
            <a:pPr marL="0" indent="0">
              <a:buNone/>
            </a:pPr>
            <a:r>
              <a:rPr lang="en-US" sz="3000" dirty="0">
                <a:solidFill>
                  <a:schemeClr val="bg2">
                    <a:lumMod val="10000"/>
                  </a:schemeClr>
                </a:solidFill>
                <a:latin typeface="Times New Roman" panose="02020603050405020304" pitchFamily="18" charset="0"/>
                <a:cs typeface="Times New Roman" panose="02020603050405020304" pitchFamily="18" charset="0"/>
              </a:rPr>
              <a:t>Any one of the following.</a:t>
            </a:r>
          </a:p>
          <a:p>
            <a:r>
              <a:rPr lang="en-US" sz="3000" dirty="0">
                <a:solidFill>
                  <a:schemeClr val="bg2">
                    <a:lumMod val="10000"/>
                  </a:schemeClr>
                </a:solidFill>
                <a:latin typeface="Times New Roman" panose="02020603050405020304" pitchFamily="18" charset="0"/>
                <a:cs typeface="Times New Roman" panose="02020603050405020304" pitchFamily="18" charset="0"/>
              </a:rPr>
              <a:t>≥4 infections requiring antibiotics in a year(e.g. sinusitis, pneumonia)</a:t>
            </a:r>
          </a:p>
          <a:p>
            <a:r>
              <a:rPr lang="en-US" sz="3000" dirty="0">
                <a:solidFill>
                  <a:schemeClr val="bg2">
                    <a:lumMod val="10000"/>
                  </a:schemeClr>
                </a:solidFill>
                <a:latin typeface="Times New Roman" panose="02020603050405020304" pitchFamily="18" charset="0"/>
                <a:cs typeface="Times New Roman" panose="02020603050405020304" pitchFamily="18" charset="0"/>
              </a:rPr>
              <a:t>Recurring infection requiring IV antibiotics</a:t>
            </a:r>
          </a:p>
          <a:p>
            <a:r>
              <a:rPr lang="en-US" sz="3000" dirty="0">
                <a:solidFill>
                  <a:schemeClr val="bg2">
                    <a:lumMod val="10000"/>
                  </a:schemeClr>
                </a:solidFill>
                <a:latin typeface="Times New Roman" panose="02020603050405020304" pitchFamily="18" charset="0"/>
                <a:cs typeface="Times New Roman" panose="02020603050405020304" pitchFamily="18" charset="0"/>
              </a:rPr>
              <a:t>Infections with unusual localization or pathogen e.g. PJP</a:t>
            </a:r>
          </a:p>
          <a:p>
            <a:r>
              <a:rPr lang="en-US" sz="3000" dirty="0">
                <a:solidFill>
                  <a:schemeClr val="bg2">
                    <a:lumMod val="10000"/>
                  </a:schemeClr>
                </a:solidFill>
                <a:latin typeface="Times New Roman" panose="02020603050405020304" pitchFamily="18" charset="0"/>
                <a:cs typeface="Times New Roman" panose="02020603050405020304" pitchFamily="18" charset="0"/>
              </a:rPr>
              <a:t>Recurrent deep abscesses</a:t>
            </a:r>
          </a:p>
          <a:p>
            <a:r>
              <a:rPr lang="en-US" sz="3000" dirty="0">
                <a:solidFill>
                  <a:schemeClr val="bg2">
                    <a:lumMod val="10000"/>
                  </a:schemeClr>
                </a:solidFill>
                <a:latin typeface="Times New Roman" panose="02020603050405020304" pitchFamily="18" charset="0"/>
                <a:cs typeface="Times New Roman" panose="02020603050405020304" pitchFamily="18" charset="0"/>
              </a:rPr>
              <a:t>Chronic diarrhea i.e. due to cryptosporidiosis</a:t>
            </a:r>
          </a:p>
          <a:p>
            <a:r>
              <a:rPr lang="en-US" sz="3000" dirty="0">
                <a:solidFill>
                  <a:schemeClr val="bg2">
                    <a:lumMod val="10000"/>
                  </a:schemeClr>
                </a:solidFill>
                <a:latin typeface="Times New Roman" panose="02020603050405020304" pitchFamily="18" charset="0"/>
                <a:cs typeface="Times New Roman" panose="02020603050405020304" pitchFamily="18" charset="0"/>
              </a:rPr>
              <a:t>Recurrent, prolonged, unexplained  fever</a:t>
            </a:r>
          </a:p>
          <a:p>
            <a:r>
              <a:rPr lang="en-US" sz="3000" dirty="0">
                <a:solidFill>
                  <a:schemeClr val="bg2">
                    <a:lumMod val="10000"/>
                  </a:schemeClr>
                </a:solidFill>
                <a:latin typeface="Times New Roman" panose="02020603050405020304" pitchFamily="18" charset="0"/>
                <a:cs typeface="Times New Roman" panose="02020603050405020304" pitchFamily="18" charset="0"/>
              </a:rPr>
              <a:t>Family history of primary immunodeficiency</a:t>
            </a:r>
          </a:p>
          <a:p>
            <a:endParaRPr lang="en-US" dirty="0"/>
          </a:p>
        </p:txBody>
      </p:sp>
      <p:sp>
        <p:nvSpPr>
          <p:cNvPr id="4" name="TextBox 3"/>
          <p:cNvSpPr txBox="1"/>
          <p:nvPr/>
        </p:nvSpPr>
        <p:spPr>
          <a:xfrm>
            <a:off x="2964426" y="6253316"/>
            <a:ext cx="6577781" cy="400110"/>
          </a:xfrm>
          <a:prstGeom prst="rect">
            <a:avLst/>
          </a:prstGeom>
          <a:noFill/>
        </p:spPr>
        <p:txBody>
          <a:bodyPr wrap="square" rtlCol="0">
            <a:spAutoFit/>
          </a:bodyPr>
          <a:lstStyle/>
          <a:p>
            <a:pPr algn="ctr"/>
            <a:r>
              <a:rPr lang="en-US" sz="2000" b="1" i="1" dirty="0">
                <a:latin typeface="Times New Roman" panose="02020603050405020304" pitchFamily="18" charset="0"/>
                <a:cs typeface="Times New Roman" panose="02020603050405020304" pitchFamily="18" charset="0"/>
              </a:rPr>
              <a:t>European Society for Immunodeficiency(ESID</a:t>
            </a:r>
            <a:r>
              <a:rPr lang="en-US" dirty="0"/>
              <a:t>)</a:t>
            </a:r>
          </a:p>
        </p:txBody>
      </p:sp>
    </p:spTree>
    <p:extLst>
      <p:ext uri="{BB962C8B-B14F-4D97-AF65-F5344CB8AC3E}">
        <p14:creationId xmlns:p14="http://schemas.microsoft.com/office/powerpoint/2010/main" val="3108567200"/>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385323" cy="770500"/>
          </a:xfrm>
        </p:spPr>
        <p:txBody>
          <a:bodyPr>
            <a:normAutofit/>
          </a:bodyPr>
          <a:lstStyle/>
          <a:p>
            <a:pPr algn="ctr"/>
            <a:r>
              <a:rPr lang="en-US" sz="4000" b="1" dirty="0">
                <a:solidFill>
                  <a:schemeClr val="bg2">
                    <a:lumMod val="10000"/>
                  </a:schemeClr>
                </a:solidFill>
                <a:latin typeface="Times New Roman" panose="02020603050405020304" pitchFamily="18" charset="0"/>
                <a:cs typeface="Times New Roman" panose="02020603050405020304" pitchFamily="18" charset="0"/>
              </a:rPr>
              <a:t>Common Variable immunodeficiency </a:t>
            </a:r>
          </a:p>
        </p:txBody>
      </p:sp>
      <p:sp>
        <p:nvSpPr>
          <p:cNvPr id="3" name="Content Placeholder 2"/>
          <p:cNvSpPr>
            <a:spLocks noGrp="1"/>
          </p:cNvSpPr>
          <p:nvPr>
            <p:ph idx="1"/>
          </p:nvPr>
        </p:nvSpPr>
        <p:spPr>
          <a:xfrm>
            <a:off x="351503" y="1080216"/>
            <a:ext cx="11488993" cy="5412658"/>
          </a:xfrm>
        </p:spPr>
        <p:txBody>
          <a:bodyPr>
            <a:normAutofit/>
          </a:bodyPr>
          <a:lstStyle/>
          <a:p>
            <a:r>
              <a:rPr lang="en-US" sz="3000" dirty="0">
                <a:solidFill>
                  <a:schemeClr val="bg2">
                    <a:lumMod val="10000"/>
                  </a:schemeClr>
                </a:solidFill>
                <a:latin typeface="Times New Roman" panose="02020603050405020304" pitchFamily="18" charset="0"/>
                <a:cs typeface="Times New Roman" panose="02020603050405020304" pitchFamily="18" charset="0"/>
              </a:rPr>
              <a:t>Defective B cell function leading to hypogammaglobinemia (low IgG, often with low IgA/IgM) and impaired antibody responses.</a:t>
            </a:r>
          </a:p>
          <a:p>
            <a:r>
              <a:rPr lang="en-US" sz="3000" dirty="0">
                <a:solidFill>
                  <a:schemeClr val="bg2">
                    <a:lumMod val="10000"/>
                  </a:schemeClr>
                </a:solidFill>
                <a:latin typeface="Times New Roman" panose="02020603050405020304" pitchFamily="18" charset="0"/>
                <a:cs typeface="Times New Roman" panose="02020603050405020304" pitchFamily="18" charset="0"/>
              </a:rPr>
              <a:t> Affects approximately 1 of 25000 individuals.</a:t>
            </a:r>
          </a:p>
          <a:p>
            <a:r>
              <a:rPr lang="en-US" sz="3000" dirty="0">
                <a:solidFill>
                  <a:schemeClr val="bg2">
                    <a:lumMod val="10000"/>
                  </a:schemeClr>
                </a:solidFill>
                <a:latin typeface="Times New Roman" panose="02020603050405020304" pitchFamily="18" charset="0"/>
                <a:cs typeface="Times New Roman" panose="02020603050405020304" pitchFamily="18" charset="0"/>
              </a:rPr>
              <a:t>Commonly diagnosed after puberty, especially between </a:t>
            </a:r>
            <a:r>
              <a:rPr lang="en-US" sz="3000" b="1" dirty="0">
                <a:solidFill>
                  <a:schemeClr val="bg2">
                    <a:lumMod val="10000"/>
                  </a:schemeClr>
                </a:solidFill>
                <a:latin typeface="Times New Roman" panose="02020603050405020304" pitchFamily="18" charset="0"/>
                <a:cs typeface="Times New Roman" panose="02020603050405020304" pitchFamily="18" charset="0"/>
              </a:rPr>
              <a:t>20 and 45 years of age</a:t>
            </a:r>
            <a:r>
              <a:rPr lang="en-US" sz="3000" dirty="0">
                <a:solidFill>
                  <a:schemeClr val="bg2">
                    <a:lumMod val="10000"/>
                  </a:schemeClr>
                </a:solidFill>
                <a:latin typeface="Times New Roman" panose="02020603050405020304" pitchFamily="18" charset="0"/>
                <a:cs typeface="Times New Roman" panose="02020603050405020304" pitchFamily="18" charset="0"/>
              </a:rPr>
              <a:t>.</a:t>
            </a:r>
          </a:p>
          <a:p>
            <a:r>
              <a:rPr lang="en-US" sz="3000" dirty="0">
                <a:solidFill>
                  <a:schemeClr val="bg2">
                    <a:lumMod val="10000"/>
                  </a:schemeClr>
                </a:solidFill>
                <a:latin typeface="Times New Roman" panose="02020603050405020304" pitchFamily="18" charset="0"/>
                <a:cs typeface="Times New Roman" panose="02020603050405020304" pitchFamily="18" charset="0"/>
              </a:rPr>
              <a:t>Approximately, 20% of CVID patients have a first-degree family member with a selective IgA deficiency. </a:t>
            </a:r>
          </a:p>
          <a:p>
            <a:r>
              <a:rPr lang="en-US" sz="3000" dirty="0">
                <a:solidFill>
                  <a:schemeClr val="bg2">
                    <a:lumMod val="10000"/>
                  </a:schemeClr>
                </a:solidFill>
                <a:latin typeface="Times New Roman" panose="02020603050405020304" pitchFamily="18" charset="0"/>
                <a:cs typeface="Times New Roman" panose="02020603050405020304" pitchFamily="18" charset="0"/>
              </a:rPr>
              <a:t>The genetic influence in CVID is believed to cause an intrinsic B cell defect (CD19-deficiency by mutations in CD19; 16p11.2).</a:t>
            </a:r>
          </a:p>
        </p:txBody>
      </p:sp>
    </p:spTree>
    <p:extLst>
      <p:ext uri="{BB962C8B-B14F-4D97-AF65-F5344CB8AC3E}">
        <p14:creationId xmlns:p14="http://schemas.microsoft.com/office/powerpoint/2010/main" val="1266139207"/>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232" y="247137"/>
            <a:ext cx="10385323" cy="741005"/>
          </a:xfrm>
        </p:spPr>
        <p:txBody>
          <a:bodyPr>
            <a:noAutofit/>
          </a:bodyPr>
          <a:lstStyle/>
          <a:p>
            <a:pPr algn="ctr"/>
            <a:r>
              <a:rPr lang="en-US" b="1" dirty="0">
                <a:solidFill>
                  <a:schemeClr val="bg2">
                    <a:lumMod val="10000"/>
                  </a:schemeClr>
                </a:solidFill>
                <a:latin typeface="Times New Roman" panose="02020603050405020304" pitchFamily="18" charset="0"/>
                <a:cs typeface="Times New Roman" panose="02020603050405020304" pitchFamily="18" charset="0"/>
              </a:rPr>
              <a:t>CVID – clinical manifestation</a:t>
            </a:r>
          </a:p>
        </p:txBody>
      </p:sp>
      <p:sp>
        <p:nvSpPr>
          <p:cNvPr id="3" name="Content Placeholder 2"/>
          <p:cNvSpPr>
            <a:spLocks noGrp="1"/>
          </p:cNvSpPr>
          <p:nvPr>
            <p:ph idx="1"/>
          </p:nvPr>
        </p:nvSpPr>
        <p:spPr>
          <a:xfrm>
            <a:off x="339212" y="988142"/>
            <a:ext cx="11459497" cy="5427406"/>
          </a:xfrm>
        </p:spPr>
        <p:txBody>
          <a:bodyPr>
            <a:normAutofit/>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Recurrent Sinopulmonary infection</a:t>
            </a:r>
            <a:r>
              <a:rPr lang="en-US" dirty="0">
                <a:solidFill>
                  <a:schemeClr val="bg2">
                    <a:lumMod val="10000"/>
                  </a:schemeClr>
                </a:solidFill>
                <a:latin typeface="Times New Roman" panose="02020603050405020304" pitchFamily="18" charset="0"/>
                <a:cs typeface="Times New Roman" panose="02020603050405020304" pitchFamily="18" charset="0"/>
              </a:rPr>
              <a:t>:  pneumonia, bronchitis, sinusitis, Otitis, Conjunctivitis, Septic arthritis, Bacterial meningitis.</a:t>
            </a:r>
          </a:p>
          <a:p>
            <a:r>
              <a:rPr lang="en-US" b="1" dirty="0">
                <a:solidFill>
                  <a:schemeClr val="bg2">
                    <a:lumMod val="10000"/>
                  </a:schemeClr>
                </a:solidFill>
                <a:latin typeface="Times New Roman" panose="02020603050405020304" pitchFamily="18" charset="0"/>
                <a:cs typeface="Times New Roman" panose="02020603050405020304" pitchFamily="18" charset="0"/>
              </a:rPr>
              <a:t>Autoimmunity</a:t>
            </a:r>
            <a:r>
              <a:rPr lang="en-US" dirty="0">
                <a:solidFill>
                  <a:schemeClr val="bg2">
                    <a:lumMod val="10000"/>
                  </a:schemeClr>
                </a:solidFill>
                <a:latin typeface="Times New Roman" panose="02020603050405020304" pitchFamily="18" charset="0"/>
                <a:cs typeface="Times New Roman" panose="02020603050405020304" pitchFamily="18" charset="0"/>
              </a:rPr>
              <a:t> in approximately 20% </a:t>
            </a:r>
          </a:p>
          <a:p>
            <a:r>
              <a:rPr lang="en-US" b="1" dirty="0">
                <a:solidFill>
                  <a:schemeClr val="bg2">
                    <a:lumMod val="10000"/>
                  </a:schemeClr>
                </a:solidFill>
                <a:latin typeface="Times New Roman" panose="02020603050405020304" pitchFamily="18" charset="0"/>
                <a:cs typeface="Times New Roman" panose="02020603050405020304" pitchFamily="18" charset="0"/>
              </a:rPr>
              <a:t>Persistent diarrhea </a:t>
            </a:r>
            <a:r>
              <a:rPr lang="en-US" dirty="0">
                <a:solidFill>
                  <a:schemeClr val="bg2">
                    <a:lumMod val="10000"/>
                  </a:schemeClr>
                </a:solidFill>
                <a:latin typeface="Times New Roman" panose="02020603050405020304" pitchFamily="18" charset="0"/>
                <a:cs typeface="Times New Roman" panose="02020603050405020304" pitchFamily="18" charset="0"/>
              </a:rPr>
              <a:t>and </a:t>
            </a:r>
            <a:r>
              <a:rPr lang="en-US" b="1" dirty="0">
                <a:solidFill>
                  <a:schemeClr val="bg2">
                    <a:lumMod val="10000"/>
                  </a:schemeClr>
                </a:solidFill>
                <a:latin typeface="Times New Roman" panose="02020603050405020304" pitchFamily="18" charset="0"/>
                <a:cs typeface="Times New Roman" panose="02020603050405020304" pitchFamily="18" charset="0"/>
              </a:rPr>
              <a:t>malabsorption</a:t>
            </a:r>
            <a:r>
              <a:rPr lang="en-US" dirty="0">
                <a:solidFill>
                  <a:schemeClr val="bg2">
                    <a:lumMod val="10000"/>
                  </a:schemeClr>
                </a:solidFill>
                <a:latin typeface="Times New Roman" panose="02020603050405020304" pitchFamily="18" charset="0"/>
                <a:cs typeface="Times New Roman" panose="02020603050405020304" pitchFamily="18" charset="0"/>
              </a:rPr>
              <a:t> caused by giardiasis, C.difficile infection, bacterial enterocolitis, CMV colitis, H. pylori infection</a:t>
            </a:r>
          </a:p>
          <a:p>
            <a:r>
              <a:rPr lang="en-US" b="1" dirty="0">
                <a:solidFill>
                  <a:schemeClr val="bg2">
                    <a:lumMod val="10000"/>
                  </a:schemeClr>
                </a:solidFill>
                <a:latin typeface="Times New Roman" panose="02020603050405020304" pitchFamily="18" charset="0"/>
                <a:cs typeface="Times New Roman" panose="02020603050405020304" pitchFamily="18" charset="0"/>
              </a:rPr>
              <a:t>Malignancies</a:t>
            </a:r>
            <a:r>
              <a:rPr lang="en-US" dirty="0">
                <a:solidFill>
                  <a:schemeClr val="bg2">
                    <a:lumMod val="10000"/>
                  </a:schemeClr>
                </a:solidFill>
                <a:latin typeface="Times New Roman" panose="02020603050405020304" pitchFamily="18" charset="0"/>
                <a:cs typeface="Times New Roman" panose="02020603050405020304" pitchFamily="18" charset="0"/>
              </a:rPr>
              <a:t>; the risk of gastric carcinoma is almost 50 times greater in patients with CVID</a:t>
            </a:r>
          </a:p>
        </p:txBody>
      </p:sp>
    </p:spTree>
    <p:extLst>
      <p:ext uri="{BB962C8B-B14F-4D97-AF65-F5344CB8AC3E}">
        <p14:creationId xmlns:p14="http://schemas.microsoft.com/office/powerpoint/2010/main" val="1100481943"/>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1227"/>
            <a:ext cx="10515600" cy="781663"/>
          </a:xfrm>
        </p:spPr>
        <p:txBody>
          <a:bodyPr>
            <a:normAutofit/>
          </a:bodyPr>
          <a:lstStyle/>
          <a:p>
            <a:pPr algn="ctr"/>
            <a:r>
              <a:rPr lang="en-US" b="1" dirty="0">
                <a:solidFill>
                  <a:schemeClr val="bg2">
                    <a:lumMod val="10000"/>
                  </a:schemeClr>
                </a:solidFill>
                <a:latin typeface="Times New Roman" panose="02020603050405020304" pitchFamily="18" charset="0"/>
                <a:cs typeface="Times New Roman" panose="02020603050405020304" pitchFamily="18" charset="0"/>
              </a:rPr>
              <a:t>CVID – Diagnosis </a:t>
            </a:r>
          </a:p>
        </p:txBody>
      </p:sp>
      <p:sp>
        <p:nvSpPr>
          <p:cNvPr id="3" name="Content Placeholder 2"/>
          <p:cNvSpPr>
            <a:spLocks noGrp="1"/>
          </p:cNvSpPr>
          <p:nvPr>
            <p:ph idx="1"/>
          </p:nvPr>
        </p:nvSpPr>
        <p:spPr>
          <a:xfrm>
            <a:off x="353961" y="1002890"/>
            <a:ext cx="11415252" cy="5530645"/>
          </a:xfrm>
        </p:spPr>
        <p:txBody>
          <a:bodyPr>
            <a:normAutofit/>
          </a:bodyPr>
          <a:lstStyle/>
          <a:p>
            <a:pPr marL="0" indent="0" algn="ctr">
              <a:buNone/>
            </a:pPr>
            <a:r>
              <a:rPr lang="en-US" b="1" dirty="0">
                <a:solidFill>
                  <a:schemeClr val="bg2">
                    <a:lumMod val="10000"/>
                  </a:schemeClr>
                </a:solidFill>
                <a:latin typeface="Times New Roman" panose="02020603050405020304" pitchFamily="18" charset="0"/>
                <a:cs typeface="Times New Roman" panose="02020603050405020304" pitchFamily="18" charset="0"/>
              </a:rPr>
              <a:t>Diagnostic criteria according to ESID- 2026 </a:t>
            </a:r>
          </a:p>
          <a:p>
            <a:r>
              <a:rPr lang="en-US" sz="2800" dirty="0">
                <a:solidFill>
                  <a:schemeClr val="bg2">
                    <a:lumMod val="10000"/>
                  </a:schemeClr>
                </a:solidFill>
                <a:latin typeface="Times New Roman" panose="02020603050405020304" pitchFamily="18" charset="0"/>
                <a:cs typeface="Times New Roman" panose="02020603050405020304" pitchFamily="18" charset="0"/>
              </a:rPr>
              <a:t>A diagnosis of CVID requires ALL core immunological criteria + exclusion of secondary causes, plus typical age and immune profile requirements.</a:t>
            </a:r>
          </a:p>
          <a:p>
            <a:pPr marL="0" indent="0">
              <a:buNone/>
            </a:pPr>
            <a:r>
              <a:rPr lang="en-US" sz="2800" b="1" dirty="0">
                <a:solidFill>
                  <a:schemeClr val="bg2">
                    <a:lumMod val="10000"/>
                  </a:schemeClr>
                </a:solidFill>
                <a:latin typeface="Times New Roman" panose="02020603050405020304" pitchFamily="18" charset="0"/>
                <a:cs typeface="Times New Roman" panose="02020603050405020304" pitchFamily="18" charset="0"/>
              </a:rPr>
              <a:t>1.  Hypogammaglobulinemia (essential criterion)</a:t>
            </a:r>
          </a:p>
          <a:p>
            <a:r>
              <a:rPr lang="en-US" sz="2800" dirty="0">
                <a:solidFill>
                  <a:schemeClr val="bg2">
                    <a:lumMod val="10000"/>
                  </a:schemeClr>
                </a:solidFill>
                <a:latin typeface="Times New Roman" panose="02020603050405020304" pitchFamily="18" charset="0"/>
                <a:cs typeface="Times New Roman" panose="02020603050405020304" pitchFamily="18" charset="0"/>
              </a:rPr>
              <a:t>Serum IgG markedly reduced </a:t>
            </a:r>
          </a:p>
          <a:p>
            <a:pPr lvl="1"/>
            <a:r>
              <a:rPr lang="en-US" dirty="0">
                <a:solidFill>
                  <a:schemeClr val="bg2">
                    <a:lumMod val="10000"/>
                  </a:schemeClr>
                </a:solidFill>
                <a:latin typeface="Times New Roman" panose="02020603050405020304" pitchFamily="18" charset="0"/>
                <a:cs typeface="Times New Roman" panose="02020603050405020304" pitchFamily="18" charset="0"/>
              </a:rPr>
              <a:t>≥ 2 standard deviations below age-adjusted normal </a:t>
            </a:r>
          </a:p>
          <a:p>
            <a:pPr lvl="1"/>
            <a:r>
              <a:rPr lang="en-US" dirty="0">
                <a:solidFill>
                  <a:schemeClr val="bg2">
                    <a:lumMod val="10000"/>
                  </a:schemeClr>
                </a:solidFill>
                <a:latin typeface="Times New Roman" panose="02020603050405020304" pitchFamily="18" charset="0"/>
                <a:cs typeface="Times New Roman" panose="02020603050405020304" pitchFamily="18" charset="0"/>
              </a:rPr>
              <a:t>Confirmed on at least 2 separate measurements </a:t>
            </a:r>
          </a:p>
          <a:p>
            <a:r>
              <a:rPr lang="en-US" sz="2800" dirty="0">
                <a:solidFill>
                  <a:schemeClr val="bg2">
                    <a:lumMod val="10000"/>
                  </a:schemeClr>
                </a:solidFill>
                <a:latin typeface="Times New Roman" panose="02020603050405020304" pitchFamily="18" charset="0"/>
                <a:cs typeface="Times New Roman" panose="02020603050405020304" pitchFamily="18" charset="0"/>
              </a:rPr>
              <a:t>Low IgA is required </a:t>
            </a:r>
          </a:p>
          <a:p>
            <a:pPr lvl="1"/>
            <a:r>
              <a:rPr lang="en-US" dirty="0">
                <a:solidFill>
                  <a:schemeClr val="bg2">
                    <a:lumMod val="10000"/>
                  </a:schemeClr>
                </a:solidFill>
                <a:latin typeface="Times New Roman" panose="02020603050405020304" pitchFamily="18" charset="0"/>
                <a:cs typeface="Times New Roman" panose="02020603050405020304" pitchFamily="18" charset="0"/>
              </a:rPr>
              <a:t>↓ IgA is mandatory in ESID definition </a:t>
            </a:r>
          </a:p>
          <a:p>
            <a:r>
              <a:rPr lang="en-US" sz="2800" dirty="0">
                <a:solidFill>
                  <a:schemeClr val="bg2">
                    <a:lumMod val="10000"/>
                  </a:schemeClr>
                </a:solidFill>
                <a:latin typeface="Times New Roman" panose="02020603050405020304" pitchFamily="18" charset="0"/>
                <a:cs typeface="Times New Roman" panose="02020603050405020304" pitchFamily="18" charset="0"/>
              </a:rPr>
              <a:t>IgM may be low or normal</a:t>
            </a:r>
          </a:p>
          <a:p>
            <a:endParaRPr lang="en-US" dirty="0"/>
          </a:p>
        </p:txBody>
      </p:sp>
    </p:spTree>
    <p:extLst>
      <p:ext uri="{BB962C8B-B14F-4D97-AF65-F5344CB8AC3E}">
        <p14:creationId xmlns:p14="http://schemas.microsoft.com/office/powerpoint/2010/main" val="1220519679"/>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A1768-11DF-9072-4ED4-C8025A9702E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2A96BE-7641-9E81-7898-7538D3D1B7E0}"/>
              </a:ext>
            </a:extLst>
          </p:cNvPr>
          <p:cNvSpPr>
            <a:spLocks noGrp="1"/>
          </p:cNvSpPr>
          <p:nvPr>
            <p:ph idx="1"/>
          </p:nvPr>
        </p:nvSpPr>
        <p:spPr/>
        <p:txBody>
          <a:bodyPr/>
          <a:lstStyle/>
          <a:p>
            <a:pPr>
              <a:buNone/>
            </a:pPr>
            <a:r>
              <a:rPr lang="en-US" b="1" dirty="0">
                <a:solidFill>
                  <a:schemeClr val="bg2">
                    <a:lumMod val="10000"/>
                  </a:schemeClr>
                </a:solidFill>
              </a:rPr>
              <a:t>2. Impaired specific antibody function</a:t>
            </a:r>
          </a:p>
          <a:p>
            <a:pPr>
              <a:buNone/>
            </a:pPr>
            <a:r>
              <a:rPr lang="en-US" dirty="0">
                <a:solidFill>
                  <a:schemeClr val="bg2">
                    <a:lumMod val="10000"/>
                  </a:schemeClr>
                </a:solidFill>
                <a:latin typeface="Times New Roman" panose="02020603050405020304" pitchFamily="18" charset="0"/>
                <a:cs typeface="Times New Roman" panose="02020603050405020304" pitchFamily="18" charset="0"/>
              </a:rPr>
              <a:t>At least ONE of the following:</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Poor or absent response to vaccines</a:t>
            </a:r>
            <a:br>
              <a:rPr lang="en-US" dirty="0">
                <a:solidFill>
                  <a:schemeClr val="bg2">
                    <a:lumMod val="10000"/>
                  </a:schemeClr>
                </a:solidFill>
                <a:latin typeface="Times New Roman" panose="02020603050405020304" pitchFamily="18" charset="0"/>
                <a:cs typeface="Times New Roman" panose="02020603050405020304" pitchFamily="18" charset="0"/>
              </a:rPr>
            </a:br>
            <a:r>
              <a:rPr lang="en-US" dirty="0">
                <a:solidFill>
                  <a:schemeClr val="bg2">
                    <a:lumMod val="10000"/>
                  </a:schemeClr>
                </a:solidFill>
                <a:latin typeface="Times New Roman" panose="02020603050405020304" pitchFamily="18" charset="0"/>
                <a:cs typeface="Times New Roman" panose="02020603050405020304" pitchFamily="18" charset="0"/>
              </a:rPr>
              <a:t>(e.g., pneumococcal, tetanus, diphtheria) </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OR absent isohemagglutinins (anti-A/anti-B antibodies) </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OR reduced switched memory B cells </a:t>
            </a:r>
          </a:p>
          <a:p>
            <a:pPr marL="742950" lvl="1" indent="-285750">
              <a:buFont typeface="Arial" panose="020B0604020202020204" pitchFamily="34" charset="0"/>
              <a:buChar char="•"/>
            </a:pPr>
            <a:r>
              <a:rPr lang="en-US" sz="3200" dirty="0">
                <a:solidFill>
                  <a:schemeClr val="bg2">
                    <a:lumMod val="10000"/>
                  </a:schemeClr>
                </a:solidFill>
                <a:latin typeface="Times New Roman" panose="02020603050405020304" pitchFamily="18" charset="0"/>
                <a:cs typeface="Times New Roman" panose="02020603050405020304" pitchFamily="18" charset="0"/>
              </a:rPr>
              <a:t>typically &lt;70% of age-adjusted normal</a:t>
            </a:r>
          </a:p>
          <a:p>
            <a:endParaRPr lang="en-US" dirty="0"/>
          </a:p>
        </p:txBody>
      </p:sp>
    </p:spTree>
    <p:extLst>
      <p:ext uri="{BB962C8B-B14F-4D97-AF65-F5344CB8AC3E}">
        <p14:creationId xmlns:p14="http://schemas.microsoft.com/office/powerpoint/2010/main" val="1137026966"/>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FAB9D-3556-041D-C553-EE45EF71629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B77010E-D1CF-0250-A502-F384D5FBD3AA}"/>
              </a:ext>
            </a:extLst>
          </p:cNvPr>
          <p:cNvSpPr>
            <a:spLocks noGrp="1"/>
          </p:cNvSpPr>
          <p:nvPr>
            <p:ph idx="1"/>
          </p:nvPr>
        </p:nvSpPr>
        <p:spPr/>
        <p:txBody>
          <a:bodyPr/>
          <a:lstStyle/>
          <a:p>
            <a:pPr marL="0" indent="0">
              <a:buNone/>
            </a:pPr>
            <a:r>
              <a:rPr lang="en-US" b="1" dirty="0">
                <a:solidFill>
                  <a:schemeClr val="bg2">
                    <a:lumMod val="10000"/>
                  </a:schemeClr>
                </a:solidFill>
                <a:latin typeface="Times New Roman" panose="02020603050405020304" pitchFamily="18" charset="0"/>
                <a:cs typeface="Times New Roman" panose="02020603050405020304" pitchFamily="18" charset="0"/>
              </a:rPr>
              <a:t>3. Age criterion</a:t>
            </a:r>
          </a:p>
          <a:p>
            <a:r>
              <a:rPr lang="en-US" dirty="0">
                <a:solidFill>
                  <a:schemeClr val="bg2">
                    <a:lumMod val="10000"/>
                  </a:schemeClr>
                </a:solidFill>
                <a:latin typeface="Times New Roman" panose="02020603050405020304" pitchFamily="18" charset="0"/>
                <a:cs typeface="Times New Roman" panose="02020603050405020304" pitchFamily="18" charset="0"/>
              </a:rPr>
              <a:t>Onset of disease after 4 years of age </a:t>
            </a:r>
          </a:p>
          <a:p>
            <a:pPr lvl="1"/>
            <a:r>
              <a:rPr lang="en-US" sz="3200" dirty="0">
                <a:solidFill>
                  <a:schemeClr val="bg2">
                    <a:lumMod val="10000"/>
                  </a:schemeClr>
                </a:solidFill>
                <a:latin typeface="Times New Roman" panose="02020603050405020304" pitchFamily="18" charset="0"/>
                <a:cs typeface="Times New Roman" panose="02020603050405020304" pitchFamily="18" charset="0"/>
              </a:rPr>
              <a:t>(symptoms may start earlier, but diagnosis must be ≥4 years)</a:t>
            </a:r>
          </a:p>
          <a:p>
            <a:pPr marL="457200" lvl="1" indent="0">
              <a:buNone/>
            </a:pPr>
            <a:endParaRPr lang="en-US" sz="3200" dirty="0">
              <a:solidFill>
                <a:schemeClr val="bg2">
                  <a:lumMod val="10000"/>
                </a:schemeClr>
              </a:solidFill>
              <a:latin typeface="Times New Roman" panose="02020603050405020304" pitchFamily="18" charset="0"/>
              <a:cs typeface="Times New Roman" panose="02020603050405020304" pitchFamily="18" charset="0"/>
            </a:endParaRPr>
          </a:p>
          <a:p>
            <a:pPr>
              <a:buNone/>
            </a:pPr>
            <a:r>
              <a:rPr lang="en-US" b="1" dirty="0">
                <a:solidFill>
                  <a:schemeClr val="bg2">
                    <a:lumMod val="10000"/>
                  </a:schemeClr>
                </a:solidFill>
                <a:latin typeface="Times New Roman" panose="02020603050405020304" pitchFamily="18" charset="0"/>
                <a:cs typeface="Times New Roman" panose="02020603050405020304" pitchFamily="18" charset="0"/>
              </a:rPr>
              <a:t>4. No profound T-cell deficiency</a:t>
            </a:r>
          </a:p>
          <a:p>
            <a:pPr>
              <a:buNone/>
            </a:pPr>
            <a:r>
              <a:rPr lang="en-US" dirty="0">
                <a:solidFill>
                  <a:schemeClr val="bg2">
                    <a:lumMod val="10000"/>
                  </a:schemeClr>
                </a:solidFill>
                <a:latin typeface="Times New Roman" panose="02020603050405020304" pitchFamily="18" charset="0"/>
                <a:cs typeface="Times New Roman" panose="02020603050405020304" pitchFamily="18" charset="0"/>
              </a:rPr>
              <a:t>CVID is primarily a </a:t>
            </a:r>
            <a:r>
              <a:rPr lang="en-US" b="1" dirty="0">
                <a:solidFill>
                  <a:schemeClr val="bg2">
                    <a:lumMod val="10000"/>
                  </a:schemeClr>
                </a:solidFill>
                <a:latin typeface="Times New Roman" panose="02020603050405020304" pitchFamily="18" charset="0"/>
                <a:cs typeface="Times New Roman" panose="02020603050405020304" pitchFamily="18" charset="0"/>
              </a:rPr>
              <a:t>B-cell/antibody disorder.</a:t>
            </a:r>
          </a:p>
          <a:p>
            <a:pPr marL="0" indent="0">
              <a:buNone/>
            </a:pPr>
            <a:endParaRPr lang="en-US" dirty="0"/>
          </a:p>
        </p:txBody>
      </p:sp>
    </p:spTree>
    <p:extLst>
      <p:ext uri="{BB962C8B-B14F-4D97-AF65-F5344CB8AC3E}">
        <p14:creationId xmlns:p14="http://schemas.microsoft.com/office/powerpoint/2010/main" val="1542713946"/>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60331-8C5D-15B2-29BC-147E65045E4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47E8CF2-020C-DA24-5464-62EEEC8F9379}"/>
              </a:ext>
            </a:extLst>
          </p:cNvPr>
          <p:cNvSpPr>
            <a:spLocks noGrp="1"/>
          </p:cNvSpPr>
          <p:nvPr>
            <p:ph idx="1"/>
          </p:nvPr>
        </p:nvSpPr>
        <p:spPr/>
        <p:txBody>
          <a:bodyPr/>
          <a:lstStyle/>
          <a:p>
            <a:pPr>
              <a:buNone/>
            </a:pPr>
            <a:r>
              <a:rPr lang="en-US" b="1" dirty="0">
                <a:solidFill>
                  <a:schemeClr val="bg2">
                    <a:lumMod val="10000"/>
                  </a:schemeClr>
                </a:solidFill>
                <a:latin typeface="Times New Roman" panose="02020603050405020304" pitchFamily="18" charset="0"/>
                <a:cs typeface="Times New Roman" panose="02020603050405020304" pitchFamily="18" charset="0"/>
              </a:rPr>
              <a:t>5. Exclusion of secondary causes</a:t>
            </a:r>
          </a:p>
          <a:p>
            <a:pPr>
              <a:buNone/>
            </a:pPr>
            <a:r>
              <a:rPr lang="en-US" dirty="0">
                <a:solidFill>
                  <a:schemeClr val="bg2">
                    <a:lumMod val="10000"/>
                  </a:schemeClr>
                </a:solidFill>
                <a:latin typeface="Times New Roman" panose="02020603050405020304" pitchFamily="18" charset="0"/>
                <a:cs typeface="Times New Roman" panose="02020603050405020304" pitchFamily="18" charset="0"/>
              </a:rPr>
              <a:t>Must exclude other causes of hypogammaglobulinemia:</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HIV infection </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Protein loss (nephrotic syndrome, protein-losing enteropathy) </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Hematologic malignancy (CLL, lymphoma) </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Immunosuppressive drugs (rituximab, steroids, chemotherapy) </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Other defined primary immunodeficiencies</a:t>
            </a:r>
          </a:p>
          <a:p>
            <a:endParaRPr lang="en-US" dirty="0"/>
          </a:p>
        </p:txBody>
      </p:sp>
    </p:spTree>
    <p:extLst>
      <p:ext uri="{BB962C8B-B14F-4D97-AF65-F5344CB8AC3E}">
        <p14:creationId xmlns:p14="http://schemas.microsoft.com/office/powerpoint/2010/main" val="1115368443"/>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EBF43-301B-1A57-48D1-2334C794142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82B8388-4C94-AFA1-9195-6980BE92DFFA}"/>
              </a:ext>
            </a:extLst>
          </p:cNvPr>
          <p:cNvSpPr>
            <a:spLocks noGrp="1"/>
          </p:cNvSpPr>
          <p:nvPr>
            <p:ph idx="1"/>
          </p:nvPr>
        </p:nvSpPr>
        <p:spPr/>
        <p:txBody>
          <a:bodyPr/>
          <a:lstStyle/>
          <a:p>
            <a:pPr>
              <a:buNone/>
            </a:pPr>
            <a:r>
              <a:rPr lang="en-US" b="1" dirty="0">
                <a:solidFill>
                  <a:schemeClr val="bg2">
                    <a:lumMod val="10000"/>
                  </a:schemeClr>
                </a:solidFill>
                <a:latin typeface="Times New Roman" panose="02020603050405020304" pitchFamily="18" charset="0"/>
                <a:cs typeface="Times New Roman" panose="02020603050405020304" pitchFamily="18" charset="0"/>
              </a:rPr>
              <a:t>6. Clinical features (supportive but commonly required in ESID registry definition)</a:t>
            </a:r>
          </a:p>
          <a:p>
            <a:pPr>
              <a:buNone/>
            </a:pPr>
            <a:r>
              <a:rPr lang="en-US" dirty="0">
                <a:solidFill>
                  <a:schemeClr val="bg2">
                    <a:lumMod val="10000"/>
                  </a:schemeClr>
                </a:solidFill>
                <a:latin typeface="Times New Roman" panose="02020603050405020304" pitchFamily="18" charset="0"/>
                <a:cs typeface="Times New Roman" panose="02020603050405020304" pitchFamily="18" charset="0"/>
              </a:rPr>
              <a:t>At least ONE of:</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Recurrent or severe infections </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Autoimmune disease (e.g., ITP, autoimmune hemolytic anemia) </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Granulomatous disease </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Unexplained polyclonal lymphoproliferation </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Family history of antibody deficiency</a:t>
            </a:r>
          </a:p>
          <a:p>
            <a:pPr>
              <a:buNone/>
            </a:pPr>
            <a:endParaRPr lang="en-US" dirty="0"/>
          </a:p>
          <a:p>
            <a:pPr marL="0" indent="0">
              <a:buNone/>
            </a:pPr>
            <a:endParaRPr lang="en-US" dirty="0"/>
          </a:p>
        </p:txBody>
      </p:sp>
    </p:spTree>
    <p:extLst>
      <p:ext uri="{BB962C8B-B14F-4D97-AF65-F5344CB8AC3E}">
        <p14:creationId xmlns:p14="http://schemas.microsoft.com/office/powerpoint/2010/main" val="2559885163"/>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94965"/>
          </a:xfrm>
        </p:spPr>
        <p:txBody>
          <a:bodyPr>
            <a:normAutofit/>
          </a:bodyPr>
          <a:lstStyle/>
          <a:p>
            <a:pPr algn="ctr"/>
            <a:r>
              <a:rPr lang="en-US" sz="4000" b="1" dirty="0">
                <a:solidFill>
                  <a:schemeClr val="bg2">
                    <a:lumMod val="10000"/>
                  </a:schemeClr>
                </a:solidFill>
                <a:latin typeface="Times New Roman" panose="02020603050405020304" pitchFamily="18" charset="0"/>
                <a:cs typeface="Times New Roman" panose="02020603050405020304" pitchFamily="18" charset="0"/>
              </a:rPr>
              <a:t>CVID – Treatment </a:t>
            </a:r>
          </a:p>
        </p:txBody>
      </p:sp>
      <p:sp>
        <p:nvSpPr>
          <p:cNvPr id="3" name="Content Placeholder 2"/>
          <p:cNvSpPr>
            <a:spLocks noGrp="1"/>
          </p:cNvSpPr>
          <p:nvPr>
            <p:ph idx="1"/>
          </p:nvPr>
        </p:nvSpPr>
        <p:spPr>
          <a:xfrm>
            <a:off x="432619" y="1460090"/>
            <a:ext cx="11326761" cy="4822722"/>
          </a:xfrm>
        </p:spPr>
        <p:txBody>
          <a:bodyPr/>
          <a:lstStyle/>
          <a:p>
            <a:pPr marL="514350" indent="-514350">
              <a:buAutoNum type="arabicPeriod"/>
            </a:pPr>
            <a:r>
              <a:rPr lang="en-US" dirty="0">
                <a:solidFill>
                  <a:schemeClr val="bg2">
                    <a:lumMod val="10000"/>
                  </a:schemeClr>
                </a:solidFill>
                <a:latin typeface="Times New Roman" panose="02020603050405020304" pitchFamily="18" charset="0"/>
                <a:cs typeface="Times New Roman" panose="02020603050405020304" pitchFamily="18" charset="0"/>
              </a:rPr>
              <a:t>Immunoglobulin replacement :IVIG(400-600 mg/kg every 3- 4 weeks) or SCIG( Weekly) goal is IgG &gt; 5-6g/L reduce infections monitor IgG level every 6months.</a:t>
            </a:r>
          </a:p>
          <a:p>
            <a:pPr marL="514350" indent="-514350">
              <a:buAutoNum type="arabicPeriod"/>
            </a:pPr>
            <a:r>
              <a:rPr lang="en-US" dirty="0">
                <a:solidFill>
                  <a:schemeClr val="bg2">
                    <a:lumMod val="10000"/>
                  </a:schemeClr>
                </a:solidFill>
                <a:latin typeface="Times New Roman" panose="02020603050405020304" pitchFamily="18" charset="0"/>
                <a:cs typeface="Times New Roman" panose="02020603050405020304" pitchFamily="18" charset="0"/>
              </a:rPr>
              <a:t>Infections and antimicrobials: Antibiotics </a:t>
            </a:r>
          </a:p>
          <a:p>
            <a:pPr marL="514350" indent="-514350">
              <a:buAutoNum type="arabicPeriod"/>
            </a:pPr>
            <a:r>
              <a:rPr lang="en-US" dirty="0">
                <a:solidFill>
                  <a:schemeClr val="bg2">
                    <a:lumMod val="10000"/>
                  </a:schemeClr>
                </a:solidFill>
                <a:latin typeface="Times New Roman" panose="02020603050405020304" pitchFamily="18" charset="0"/>
                <a:cs typeface="Times New Roman" panose="02020603050405020304" pitchFamily="18" charset="0"/>
              </a:rPr>
              <a:t>Autoimmune disorders - Glucocorticoids are the first-line treatment, refractory cases, rituximab </a:t>
            </a:r>
          </a:p>
          <a:p>
            <a:pPr marL="514350" indent="-514350">
              <a:buAutoNum type="arabicPeriod"/>
            </a:pPr>
            <a:r>
              <a:rPr lang="en-US" dirty="0">
                <a:solidFill>
                  <a:schemeClr val="bg2">
                    <a:lumMod val="10000"/>
                  </a:schemeClr>
                </a:solidFill>
                <a:latin typeface="Times New Roman" panose="02020603050405020304" pitchFamily="18" charset="0"/>
                <a:cs typeface="Times New Roman" panose="02020603050405020304" pitchFamily="18" charset="0"/>
              </a:rPr>
              <a:t>Vaccinations: Inactivated only</a:t>
            </a:r>
          </a:p>
          <a:p>
            <a:pPr marL="0" indent="0">
              <a:buNone/>
            </a:pPr>
            <a:endParaRPr lang="en-US" dirty="0"/>
          </a:p>
        </p:txBody>
      </p:sp>
    </p:spTree>
    <p:extLst>
      <p:ext uri="{BB962C8B-B14F-4D97-AF65-F5344CB8AC3E}">
        <p14:creationId xmlns:p14="http://schemas.microsoft.com/office/powerpoint/2010/main" val="2484840424"/>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28330-AA72-6096-2083-919170BFE4BF}"/>
              </a:ext>
            </a:extLst>
          </p:cNvPr>
          <p:cNvSpPr>
            <a:spLocks noGrp="1"/>
          </p:cNvSpPr>
          <p:nvPr>
            <p:ph type="title"/>
          </p:nvPr>
        </p:nvSpPr>
        <p:spPr>
          <a:xfrm>
            <a:off x="838200" y="221226"/>
            <a:ext cx="10515600" cy="989125"/>
          </a:xfrm>
        </p:spPr>
        <p:txBody>
          <a:bodyPr>
            <a:normAutofit/>
          </a:bodyPr>
          <a:lstStyle/>
          <a:p>
            <a:pPr algn="ctr"/>
            <a:r>
              <a:rPr lang="en-US" b="1" dirty="0">
                <a:solidFill>
                  <a:schemeClr val="bg2">
                    <a:lumMod val="10000"/>
                  </a:schemeClr>
                </a:solidFill>
                <a:latin typeface="Times New Roman" panose="02020603050405020304" pitchFamily="18" charset="0"/>
                <a:cs typeface="Times New Roman" panose="02020603050405020304" pitchFamily="18" charset="0"/>
              </a:rPr>
              <a:t>SECONDARY IMMUNODEFICIENCY</a:t>
            </a:r>
            <a:endParaRPr lang="en-TZ" b="1" dirty="0">
              <a:solidFill>
                <a:schemeClr val="bg2">
                  <a:lumMod val="10000"/>
                </a:schemeClr>
              </a:solidFill>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552C4B25-246D-5EE4-B3FB-32400A04C9F2}"/>
              </a:ext>
            </a:extLst>
          </p:cNvPr>
          <p:cNvPicPr>
            <a:picLocks noGrp="1" noChangeAspect="1"/>
          </p:cNvPicPr>
          <p:nvPr>
            <p:ph idx="1"/>
          </p:nvPr>
        </p:nvPicPr>
        <p:blipFill rotWithShape="1">
          <a:blip r:embed="rId3"/>
          <a:srcRect l="594" r="6355"/>
          <a:stretch/>
        </p:blipFill>
        <p:spPr>
          <a:xfrm>
            <a:off x="175783" y="1047135"/>
            <a:ext cx="11840434" cy="5486400"/>
          </a:xfrm>
          <a:prstGeom prst="rect">
            <a:avLst/>
          </a:prstGeom>
        </p:spPr>
      </p:pic>
    </p:spTree>
    <p:extLst>
      <p:ext uri="{BB962C8B-B14F-4D97-AF65-F5344CB8AC3E}">
        <p14:creationId xmlns:p14="http://schemas.microsoft.com/office/powerpoint/2010/main" val="3212177459"/>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35B8B0-8CA7-3F36-AB53-8C88DEB6C84A}"/>
              </a:ext>
            </a:extLst>
          </p:cNvPr>
          <p:cNvSpPr>
            <a:spLocks noGrp="1"/>
          </p:cNvSpPr>
          <p:nvPr>
            <p:ph type="ftr" sz="quarter" idx="11"/>
          </p:nvPr>
        </p:nvSpPr>
        <p:spPr/>
        <p:txBody>
          <a:bodyPr/>
          <a:lstStyle/>
          <a:p>
            <a:pPr algn="l">
              <a:buNone/>
            </a:pPr>
            <a:r>
              <a:rPr lang="en-US" b="0" i="0" dirty="0">
                <a:solidFill>
                  <a:srgbClr val="232323"/>
                </a:solidFill>
                <a:effectLst/>
                <a:latin typeface="Noto Sans" panose="020B0502040504020204" pitchFamily="34" charset="0"/>
              </a:rPr>
              <a:t>Official reprint from UpToDate</a:t>
            </a:r>
            <a:r>
              <a:rPr lang="en-US" b="0" i="0" baseline="30000" dirty="0">
                <a:solidFill>
                  <a:srgbClr val="232323"/>
                </a:solidFill>
                <a:effectLst/>
                <a:latin typeface="Noto Sans" panose="020B0502040504020204" pitchFamily="34" charset="0"/>
              </a:rPr>
              <a:t>®</a:t>
            </a:r>
            <a:endParaRPr lang="en-US" b="0" i="0" dirty="0">
              <a:solidFill>
                <a:srgbClr val="232323"/>
              </a:solidFill>
              <a:effectLst/>
              <a:latin typeface="Noto Sans" panose="020B0502040504020204" pitchFamily="34" charset="0"/>
            </a:endParaRPr>
          </a:p>
          <a:p>
            <a:pPr algn="l">
              <a:lnSpc>
                <a:spcPts val="1050"/>
              </a:lnSpc>
            </a:pPr>
            <a:r>
              <a:rPr lang="en-US" b="0" i="0" u="none" strike="noStrike" dirty="0">
                <a:solidFill>
                  <a:srgbClr val="005B92"/>
                </a:solidFill>
                <a:effectLst/>
                <a:latin typeface="Noto Sans" panose="020B0502040504020204" pitchFamily="34" charset="0"/>
                <a:hlinkClick r:id="rId2"/>
              </a:rPr>
              <a:t>www.uptodate.com</a:t>
            </a:r>
            <a:r>
              <a:rPr lang="en-US" b="0" i="0" dirty="0">
                <a:solidFill>
                  <a:srgbClr val="232323"/>
                </a:solidFill>
                <a:effectLst/>
                <a:latin typeface="Noto Sans" panose="020B0502040504020204" pitchFamily="34" charset="0"/>
              </a:rPr>
              <a:t> © 2025 UpToDate</a:t>
            </a:r>
          </a:p>
          <a:p>
            <a:pPr>
              <a:defRPr/>
            </a:pPr>
            <a:endParaRPr lang="en-US" dirty="0"/>
          </a:p>
        </p:txBody>
      </p:sp>
      <p:pic>
        <p:nvPicPr>
          <p:cNvPr id="4" name="Picture 3">
            <a:extLst>
              <a:ext uri="{FF2B5EF4-FFF2-40B4-BE49-F238E27FC236}">
                <a16:creationId xmlns:a16="http://schemas.microsoft.com/office/drawing/2014/main" id="{1568A27E-6B3C-620B-1553-DD05D53EF9CD}"/>
              </a:ext>
            </a:extLst>
          </p:cNvPr>
          <p:cNvPicPr>
            <a:picLocks noChangeAspect="1"/>
          </p:cNvPicPr>
          <p:nvPr/>
        </p:nvPicPr>
        <p:blipFill rotWithShape="1">
          <a:blip r:embed="rId3"/>
          <a:srcRect l="1936" r="7218"/>
          <a:stretch/>
        </p:blipFill>
        <p:spPr>
          <a:xfrm>
            <a:off x="325174" y="0"/>
            <a:ext cx="11541651" cy="6194323"/>
          </a:xfrm>
          <a:prstGeom prst="rect">
            <a:avLst/>
          </a:prstGeom>
        </p:spPr>
      </p:pic>
    </p:spTree>
    <p:extLst>
      <p:ext uri="{BB962C8B-B14F-4D97-AF65-F5344CB8AC3E}">
        <p14:creationId xmlns:p14="http://schemas.microsoft.com/office/powerpoint/2010/main" val="3517887023"/>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2F606-DD52-8E13-66B5-10BA51CC2C59}"/>
              </a:ext>
            </a:extLst>
          </p:cNvPr>
          <p:cNvSpPr>
            <a:spLocks noGrp="1"/>
          </p:cNvSpPr>
          <p:nvPr>
            <p:ph type="title"/>
          </p:nvPr>
        </p:nvSpPr>
        <p:spPr>
          <a:xfrm>
            <a:off x="661220" y="173396"/>
            <a:ext cx="10515600" cy="1035971"/>
          </a:xfrm>
        </p:spPr>
        <p:txBody>
          <a:bodyPr>
            <a:normAutofit/>
          </a:bodyPr>
          <a:lstStyle/>
          <a:p>
            <a:pPr algn="ctr"/>
            <a:r>
              <a:rPr lang="en-US" b="1" i="0" u="none" strike="noStrike" baseline="0" dirty="0">
                <a:solidFill>
                  <a:schemeClr val="bg2">
                    <a:lumMod val="10000"/>
                  </a:schemeClr>
                </a:solidFill>
                <a:latin typeface="Times New Roman" panose="02020603050405020304" pitchFamily="18" charset="0"/>
                <a:cs typeface="Times New Roman" panose="02020603050405020304" pitchFamily="18" charset="0"/>
              </a:rPr>
              <a:t>Diabetes mellitus</a:t>
            </a:r>
            <a:endParaRPr lang="en-TZ"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7783806-5C69-A398-E4AB-D642C036AA61}"/>
              </a:ext>
            </a:extLst>
          </p:cNvPr>
          <p:cNvSpPr>
            <a:spLocks noGrp="1"/>
          </p:cNvSpPr>
          <p:nvPr>
            <p:ph idx="1"/>
          </p:nvPr>
        </p:nvSpPr>
        <p:spPr>
          <a:xfrm>
            <a:off x="661219" y="1047135"/>
            <a:ext cx="10960510" cy="5471652"/>
          </a:xfrm>
        </p:spPr>
        <p:txBody>
          <a:bodyPr>
            <a:noAutofit/>
          </a:bodyPr>
          <a:lstStyle/>
          <a:p>
            <a:pPr algn="l"/>
            <a:r>
              <a:rPr lang="en-US" dirty="0">
                <a:solidFill>
                  <a:schemeClr val="bg2">
                    <a:lumMod val="10000"/>
                  </a:schemeClr>
                </a:solidFill>
                <a:latin typeface="Times New Roman" panose="02020603050405020304" pitchFamily="18" charset="0"/>
                <a:cs typeface="Times New Roman" panose="02020603050405020304" pitchFamily="18" charset="0"/>
              </a:rPr>
              <a:t>In both</a:t>
            </a:r>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 types, </a:t>
            </a:r>
            <a:r>
              <a:rPr lang="en-US" dirty="0">
                <a:solidFill>
                  <a:schemeClr val="bg2">
                    <a:lumMod val="10000"/>
                  </a:schemeClr>
                </a:solidFill>
                <a:latin typeface="Times New Roman" panose="02020603050405020304" pitchFamily="18" charset="0"/>
                <a:cs typeface="Times New Roman" panose="02020603050405020304" pitchFamily="18" charset="0"/>
              </a:rPr>
              <a:t>there is </a:t>
            </a:r>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1.5</a:t>
            </a:r>
            <a:r>
              <a:rPr lang="en-US" b="0" i="0" u="none" strike="noStrike" dirty="0">
                <a:solidFill>
                  <a:schemeClr val="bg2">
                    <a:lumMod val="10000"/>
                  </a:schemeClr>
                </a:solidFill>
                <a:latin typeface="Times New Roman" panose="02020603050405020304" pitchFamily="18" charset="0"/>
                <a:cs typeface="Times New Roman" panose="02020603050405020304" pitchFamily="18" charset="0"/>
              </a:rPr>
              <a:t> – 4 folds increased risk of infection.</a:t>
            </a:r>
          </a:p>
          <a:p>
            <a:pPr algn="l"/>
            <a:r>
              <a:rPr lang="en-US" dirty="0">
                <a:solidFill>
                  <a:schemeClr val="bg2">
                    <a:lumMod val="10000"/>
                  </a:schemeClr>
                </a:solidFill>
                <a:latin typeface="Times New Roman" panose="02020603050405020304" pitchFamily="18" charset="0"/>
                <a:cs typeface="Times New Roman" panose="02020603050405020304" pitchFamily="18" charset="0"/>
              </a:rPr>
              <a:t> Pneumonia, skin infection and UTI: 2-3 times</a:t>
            </a:r>
          </a:p>
          <a:p>
            <a:pPr algn="l"/>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Vascular</a:t>
            </a:r>
            <a:r>
              <a:rPr lang="en-US" b="0" i="0" u="none" strike="noStrike" dirty="0">
                <a:solidFill>
                  <a:schemeClr val="bg2">
                    <a:lumMod val="10000"/>
                  </a:schemeClr>
                </a:solidFill>
                <a:latin typeface="Times New Roman" panose="02020603050405020304" pitchFamily="18" charset="0"/>
                <a:cs typeface="Times New Roman" panose="02020603050405020304" pitchFamily="18" charset="0"/>
              </a:rPr>
              <a:t> insufficiency, neuropathy and </a:t>
            </a:r>
            <a:r>
              <a:rPr lang="en-US" dirty="0">
                <a:solidFill>
                  <a:schemeClr val="bg2">
                    <a:lumMod val="10000"/>
                  </a:schemeClr>
                </a:solidFill>
                <a:latin typeface="Times New Roman" panose="02020603050405020304" pitchFamily="18" charset="0"/>
                <a:cs typeface="Times New Roman" panose="02020603050405020304" pitchFamily="18" charset="0"/>
              </a:rPr>
              <a:t>altered skin, mucosal, and gut microbial colonization contribute to the increased risk of infections</a:t>
            </a:r>
          </a:p>
          <a:p>
            <a:r>
              <a:rPr lang="en-US" dirty="0">
                <a:solidFill>
                  <a:schemeClr val="bg2">
                    <a:lumMod val="10000"/>
                  </a:schemeClr>
                </a:solidFill>
                <a:latin typeface="Times New Roman" panose="02020603050405020304" pitchFamily="18" charset="0"/>
                <a:cs typeface="Times New Roman" panose="02020603050405020304" pitchFamily="18" charset="0"/>
              </a:rPr>
              <a:t>Poor glycemic control : 2-6 folds</a:t>
            </a:r>
          </a:p>
          <a:p>
            <a:pPr algn="l"/>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Increased binding between Candida and epithelial cells of the oral mucosa and vagina</a:t>
            </a:r>
          </a:p>
          <a:p>
            <a:pPr algn="l"/>
            <a:r>
              <a:rPr lang="en-US" dirty="0">
                <a:solidFill>
                  <a:schemeClr val="bg2">
                    <a:lumMod val="10000"/>
                  </a:schemeClr>
                </a:solidFill>
                <a:latin typeface="Times New Roman" panose="02020603050405020304" pitchFamily="18" charset="0"/>
                <a:cs typeface="Times New Roman" panose="02020603050405020304" pitchFamily="18" charset="0"/>
              </a:rPr>
              <a:t>Good culture media for bacteria and other microorganisms</a:t>
            </a:r>
            <a:endPar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2172"/>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84D67-FBB5-7950-C44D-EE367CE1EF65}"/>
              </a:ext>
            </a:extLst>
          </p:cNvPr>
          <p:cNvSpPr>
            <a:spLocks noGrp="1"/>
          </p:cNvSpPr>
          <p:nvPr>
            <p:ph type="title"/>
          </p:nvPr>
        </p:nvSpPr>
        <p:spPr>
          <a:xfrm>
            <a:off x="838200" y="365125"/>
            <a:ext cx="10515600" cy="917985"/>
          </a:xfrm>
        </p:spPr>
        <p:txBody>
          <a:bodyPr>
            <a:normAutofit/>
          </a:bodyPr>
          <a:lstStyle/>
          <a:p>
            <a:pPr algn="ctr"/>
            <a:r>
              <a:rPr lang="en-US" b="1" i="0" u="none" strike="noStrike" baseline="0" dirty="0">
                <a:solidFill>
                  <a:schemeClr val="bg2">
                    <a:lumMod val="10000"/>
                  </a:schemeClr>
                </a:solidFill>
                <a:latin typeface="Times New Roman" panose="02020603050405020304" pitchFamily="18" charset="0"/>
                <a:cs typeface="Times New Roman" panose="02020603050405020304" pitchFamily="18" charset="0"/>
              </a:rPr>
              <a:t>End-stage renal disease</a:t>
            </a:r>
            <a:endParaRPr lang="en-TZ"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0F94D1-13DE-EC3C-B71B-45A2693AF7B5}"/>
              </a:ext>
            </a:extLst>
          </p:cNvPr>
          <p:cNvSpPr>
            <a:spLocks noGrp="1"/>
          </p:cNvSpPr>
          <p:nvPr>
            <p:ph idx="1"/>
          </p:nvPr>
        </p:nvSpPr>
        <p:spPr>
          <a:xfrm>
            <a:off x="513735" y="1265256"/>
            <a:ext cx="11196484" cy="3996556"/>
          </a:xfrm>
        </p:spPr>
        <p:txBody>
          <a:bodyPr>
            <a:noAutofit/>
          </a:bodyPr>
          <a:lstStyle/>
          <a:p>
            <a:pPr algn="l"/>
            <a:r>
              <a:rPr lang="en-US" dirty="0">
                <a:solidFill>
                  <a:schemeClr val="bg2">
                    <a:lumMod val="10000"/>
                  </a:schemeClr>
                </a:solidFill>
                <a:latin typeface="Times New Roman" panose="02020603050405020304" pitchFamily="18" charset="0"/>
                <a:cs typeface="Times New Roman" panose="02020603050405020304" pitchFamily="18" charset="0"/>
              </a:rPr>
              <a:t>ESRD causes both innate and adaptive immune dysfunction</a:t>
            </a:r>
          </a:p>
          <a:p>
            <a:pPr algn="l"/>
            <a:r>
              <a:rPr lang="en-US" dirty="0">
                <a:solidFill>
                  <a:schemeClr val="bg2">
                    <a:lumMod val="10000"/>
                  </a:schemeClr>
                </a:solidFill>
                <a:latin typeface="Times New Roman" panose="02020603050405020304" pitchFamily="18" charset="0"/>
                <a:cs typeface="Times New Roman" panose="02020603050405020304" pitchFamily="18" charset="0"/>
              </a:rPr>
              <a:t>Uremia related immune dysfunction</a:t>
            </a:r>
          </a:p>
          <a:p>
            <a:pPr algn="l"/>
            <a:r>
              <a:rPr lang="en-US" dirty="0">
                <a:solidFill>
                  <a:schemeClr val="bg2">
                    <a:lumMod val="10000"/>
                  </a:schemeClr>
                </a:solidFill>
                <a:latin typeface="Times New Roman" panose="02020603050405020304" pitchFamily="18" charset="0"/>
                <a:cs typeface="Times New Roman" panose="02020603050405020304" pitchFamily="18" charset="0"/>
              </a:rPr>
              <a:t>Dialysis related factors</a:t>
            </a:r>
          </a:p>
          <a:p>
            <a:pPr algn="l"/>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Nutri</a:t>
            </a:r>
            <a:r>
              <a:rPr lang="en-US" dirty="0">
                <a:solidFill>
                  <a:schemeClr val="bg2">
                    <a:lumMod val="10000"/>
                  </a:schemeClr>
                </a:solidFill>
                <a:latin typeface="Times New Roman" panose="02020603050405020304" pitchFamily="18" charset="0"/>
                <a:cs typeface="Times New Roman" panose="02020603050405020304" pitchFamily="18" charset="0"/>
              </a:rPr>
              <a:t>tional and metabolic factors</a:t>
            </a:r>
            <a:endPar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endParaRPr>
          </a:p>
          <a:p>
            <a:pPr marL="0" indent="0" algn="l">
              <a:buNone/>
            </a:pPr>
            <a:endParaRPr lang="en-US" b="0"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8443357"/>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84D67-FBB5-7950-C44D-EE367CE1EF65}"/>
              </a:ext>
            </a:extLst>
          </p:cNvPr>
          <p:cNvSpPr>
            <a:spLocks noGrp="1"/>
          </p:cNvSpPr>
          <p:nvPr>
            <p:ph type="title"/>
          </p:nvPr>
        </p:nvSpPr>
        <p:spPr>
          <a:xfrm>
            <a:off x="838200" y="365125"/>
            <a:ext cx="10515600" cy="917985"/>
          </a:xfrm>
        </p:spPr>
        <p:txBody>
          <a:bodyPr>
            <a:normAutofit/>
          </a:bodyPr>
          <a:lstStyle/>
          <a:p>
            <a:pPr algn="ctr"/>
            <a:r>
              <a:rPr lang="en-US" b="1" i="0" u="none" strike="noStrike" baseline="0" dirty="0">
                <a:solidFill>
                  <a:schemeClr val="bg2">
                    <a:lumMod val="10000"/>
                  </a:schemeClr>
                </a:solidFill>
                <a:latin typeface="Times New Roman" panose="02020603050405020304" pitchFamily="18" charset="0"/>
                <a:cs typeface="Times New Roman" panose="02020603050405020304" pitchFamily="18" charset="0"/>
              </a:rPr>
              <a:t>End-stage renal disease</a:t>
            </a:r>
            <a:endParaRPr lang="en-TZ"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0F94D1-13DE-EC3C-B71B-45A2693AF7B5}"/>
              </a:ext>
            </a:extLst>
          </p:cNvPr>
          <p:cNvSpPr>
            <a:spLocks noGrp="1"/>
          </p:cNvSpPr>
          <p:nvPr>
            <p:ph idx="1"/>
          </p:nvPr>
        </p:nvSpPr>
        <p:spPr>
          <a:xfrm>
            <a:off x="513735" y="1120877"/>
            <a:ext cx="11196484" cy="5442155"/>
          </a:xfrm>
        </p:spPr>
        <p:txBody>
          <a:bodyPr>
            <a:noAutofit/>
          </a:bodyPr>
          <a:lstStyle/>
          <a:p>
            <a:pPr marL="0" indent="0">
              <a:buNone/>
            </a:pPr>
            <a:endParaRPr lang="en-US" dirty="0">
              <a:latin typeface="Times New Roman" panose="02020603050405020304" pitchFamily="18" charset="0"/>
              <a:cs typeface="Times New Roman" panose="02020603050405020304" pitchFamily="18" charset="0"/>
            </a:endParaRPr>
          </a:p>
          <a:p>
            <a:r>
              <a:rPr lang="en-US" dirty="0">
                <a:solidFill>
                  <a:schemeClr val="bg2">
                    <a:lumMod val="10000"/>
                  </a:schemeClr>
                </a:solidFill>
                <a:latin typeface="Times New Roman" panose="02020603050405020304" pitchFamily="18" charset="0"/>
                <a:cs typeface="Times New Roman" panose="02020603050405020304" pitchFamily="18" charset="0"/>
              </a:rPr>
              <a:t>Overall infection risk in ESRD is approximately 3-5 folds</a:t>
            </a:r>
          </a:p>
          <a:p>
            <a:r>
              <a:rPr lang="en-US" dirty="0">
                <a:solidFill>
                  <a:schemeClr val="bg2">
                    <a:lumMod val="10000"/>
                  </a:schemeClr>
                </a:solidFill>
                <a:latin typeface="Times New Roman" panose="02020603050405020304" pitchFamily="18" charset="0"/>
                <a:cs typeface="Times New Roman" panose="02020603050405020304" pitchFamily="18" charset="0"/>
              </a:rPr>
              <a:t>Infection is second leading cause of death in dialysis patients</a:t>
            </a:r>
          </a:p>
          <a:p>
            <a:r>
              <a:rPr lang="en-US" dirty="0">
                <a:solidFill>
                  <a:schemeClr val="bg2">
                    <a:lumMod val="10000"/>
                  </a:schemeClr>
                </a:solidFill>
                <a:latin typeface="Times New Roman" panose="02020603050405020304" pitchFamily="18" charset="0"/>
                <a:cs typeface="Times New Roman" panose="02020603050405020304" pitchFamily="18" charset="0"/>
              </a:rPr>
              <a:t>Hospitalization for infection is 2-3 times</a:t>
            </a:r>
          </a:p>
          <a:p>
            <a:r>
              <a:rPr lang="en-US" dirty="0">
                <a:solidFill>
                  <a:schemeClr val="bg2">
                    <a:lumMod val="10000"/>
                  </a:schemeClr>
                </a:solidFill>
                <a:latin typeface="Times New Roman" panose="02020603050405020304" pitchFamily="18" charset="0"/>
                <a:cs typeface="Times New Roman" panose="02020603050405020304" pitchFamily="18" charset="0"/>
              </a:rPr>
              <a:t>Bloodstream infection; </a:t>
            </a:r>
            <a:r>
              <a:rPr lang="en-US" dirty="0" err="1">
                <a:solidFill>
                  <a:schemeClr val="bg2">
                    <a:lumMod val="10000"/>
                  </a:schemeClr>
                </a:solidFill>
                <a:latin typeface="Times New Roman" panose="02020603050405020304" pitchFamily="18" charset="0"/>
                <a:cs typeface="Times New Roman" panose="02020603050405020304" pitchFamily="18" charset="0"/>
              </a:rPr>
              <a:t>S.aureus</a:t>
            </a:r>
            <a:r>
              <a:rPr lang="en-US" dirty="0">
                <a:solidFill>
                  <a:schemeClr val="bg2">
                    <a:lumMod val="10000"/>
                  </a:schemeClr>
                </a:solidFill>
                <a:latin typeface="Times New Roman" panose="02020603050405020304" pitchFamily="18" charset="0"/>
                <a:cs typeface="Times New Roman" panose="02020603050405020304" pitchFamily="18" charset="0"/>
              </a:rPr>
              <a:t> bacteremia (100-400 times)</a:t>
            </a:r>
          </a:p>
          <a:p>
            <a:endParaRPr lang="en-US" b="0"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5810241"/>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890C0-B85A-413A-E972-103F1771C8DC}"/>
              </a:ext>
            </a:extLst>
          </p:cNvPr>
          <p:cNvSpPr>
            <a:spLocks noGrp="1"/>
          </p:cNvSpPr>
          <p:nvPr>
            <p:ph type="title"/>
          </p:nvPr>
        </p:nvSpPr>
        <p:spPr/>
        <p:txBody>
          <a:bodyPr>
            <a:noAutofit/>
          </a:bodyPr>
          <a:lstStyle/>
          <a:p>
            <a:pPr algn="ctr"/>
            <a:r>
              <a:rPr lang="en-US" b="1" i="0" u="none" strike="noStrike" baseline="0" dirty="0">
                <a:solidFill>
                  <a:schemeClr val="bg2">
                    <a:lumMod val="10000"/>
                  </a:schemeClr>
                </a:solidFill>
                <a:latin typeface="Times New Roman" panose="02020603050405020304" pitchFamily="18" charset="0"/>
                <a:cs typeface="Times New Roman" panose="02020603050405020304" pitchFamily="18" charset="0"/>
              </a:rPr>
              <a:t>Chronic active hepatitis and cirrhosis (advanced liver disease)</a:t>
            </a:r>
            <a:endParaRPr lang="en-TZ"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096A35-FBD0-FAB9-1EE6-DF2BB98FF622}"/>
              </a:ext>
            </a:extLst>
          </p:cNvPr>
          <p:cNvSpPr>
            <a:spLocks noGrp="1"/>
          </p:cNvSpPr>
          <p:nvPr>
            <p:ph idx="1"/>
          </p:nvPr>
        </p:nvSpPr>
        <p:spPr>
          <a:xfrm>
            <a:off x="648929" y="1519085"/>
            <a:ext cx="10987548" cy="4866968"/>
          </a:xfrm>
        </p:spPr>
        <p:txBody>
          <a:bodyPr/>
          <a:lstStyle/>
          <a:p>
            <a:r>
              <a:rPr lang="en-US" b="0" i="0" u="none" strike="noStrike" dirty="0">
                <a:latin typeface="Times New Roman" panose="02020603050405020304" pitchFamily="18" charset="0"/>
                <a:cs typeface="Times New Roman" panose="02020603050405020304" pitchFamily="18" charset="0"/>
              </a:rPr>
              <a:t> </a:t>
            </a:r>
            <a:r>
              <a:rPr lang="en-US" dirty="0">
                <a:solidFill>
                  <a:schemeClr val="bg2">
                    <a:lumMod val="10000"/>
                  </a:schemeClr>
                </a:solidFill>
                <a:latin typeface="Times New Roman" panose="02020603050405020304" pitchFamily="18" charset="0"/>
                <a:cs typeface="Times New Roman" panose="02020603050405020304" pitchFamily="18" charset="0"/>
              </a:rPr>
              <a:t>C</a:t>
            </a:r>
            <a:r>
              <a:rPr lang="en-US" b="0" i="0" u="none" strike="noStrike" dirty="0">
                <a:solidFill>
                  <a:schemeClr val="bg2">
                    <a:lumMod val="10000"/>
                  </a:schemeClr>
                </a:solidFill>
                <a:latin typeface="Times New Roman" panose="02020603050405020304" pitchFamily="18" charset="0"/>
                <a:cs typeface="Times New Roman" panose="02020603050405020304" pitchFamily="18" charset="0"/>
              </a:rPr>
              <a:t>irrhosis associated immune dysfunction(CAID) </a:t>
            </a:r>
            <a:endPar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endParaRPr>
          </a:p>
          <a:p>
            <a:pPr algn="l"/>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The liver is the primary site of C3 synthesis, in severe liver failure, opsonization of bacteria is impaired</a:t>
            </a:r>
          </a:p>
          <a:p>
            <a:pPr algn="l"/>
            <a:r>
              <a:rPr lang="en-US" dirty="0">
                <a:solidFill>
                  <a:schemeClr val="bg2">
                    <a:lumMod val="10000"/>
                  </a:schemeClr>
                </a:solidFill>
                <a:latin typeface="Times New Roman" panose="02020603050405020304" pitchFamily="18" charset="0"/>
                <a:cs typeface="Times New Roman" panose="02020603050405020304" pitchFamily="18" charset="0"/>
              </a:rPr>
              <a:t>Impairment part of </a:t>
            </a:r>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 RES, high risk for blood-borne pathogens </a:t>
            </a:r>
          </a:p>
          <a:p>
            <a:pPr algn="l"/>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High risk of spontaneous bacteria peritonitis(SBP), Pneumonia</a:t>
            </a:r>
            <a:r>
              <a:rPr lang="en-US" dirty="0">
                <a:solidFill>
                  <a:schemeClr val="bg2">
                    <a:lumMod val="10000"/>
                  </a:schemeClr>
                </a:solidFill>
                <a:latin typeface="Times New Roman" panose="02020603050405020304" pitchFamily="18" charset="0"/>
                <a:cs typeface="Times New Roman" panose="02020603050405020304" pitchFamily="18" charset="0"/>
              </a:rPr>
              <a:t> and </a:t>
            </a:r>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UTI</a:t>
            </a:r>
            <a:r>
              <a:rPr lang="en-US" dirty="0">
                <a:solidFill>
                  <a:schemeClr val="bg2">
                    <a:lumMod val="10000"/>
                  </a:schemeClr>
                </a:solidFill>
                <a:latin typeface="Times New Roman" panose="02020603050405020304" pitchFamily="18" charset="0"/>
                <a:cs typeface="Times New Roman" panose="02020603050405020304" pitchFamily="18" charset="0"/>
              </a:rPr>
              <a:t>. </a:t>
            </a:r>
            <a:endPar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endParaRPr>
          </a:p>
          <a:p>
            <a:pPr marL="0" indent="0" algn="l">
              <a:buNone/>
            </a:pPr>
            <a:endParaRPr lang="en-US" sz="1800" b="0" i="0" u="none" strike="noStrike" baseline="0" dirty="0">
              <a:latin typeface="AdvTTbc475f09"/>
            </a:endParaRPr>
          </a:p>
        </p:txBody>
      </p:sp>
    </p:spTree>
    <p:extLst>
      <p:ext uri="{BB962C8B-B14F-4D97-AF65-F5344CB8AC3E}">
        <p14:creationId xmlns:p14="http://schemas.microsoft.com/office/powerpoint/2010/main" val="2451806664"/>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7737D-B7A2-C7DE-7187-26C7590D8E8C}"/>
              </a:ext>
            </a:extLst>
          </p:cNvPr>
          <p:cNvSpPr>
            <a:spLocks noGrp="1"/>
          </p:cNvSpPr>
          <p:nvPr>
            <p:ph type="title"/>
          </p:nvPr>
        </p:nvSpPr>
        <p:spPr>
          <a:xfrm>
            <a:off x="752168" y="250723"/>
            <a:ext cx="10601632" cy="1032387"/>
          </a:xfrm>
        </p:spPr>
        <p:txBody>
          <a:bodyPr>
            <a:normAutofit fontScale="90000"/>
          </a:bodyPr>
          <a:lstStyle/>
          <a:p>
            <a:pPr algn="ctr"/>
            <a:r>
              <a:rPr lang="en-US" sz="3600" b="1" dirty="0">
                <a:solidFill>
                  <a:schemeClr val="bg2">
                    <a:lumMod val="10000"/>
                  </a:schemeClr>
                </a:solidFill>
                <a:latin typeface="Times New Roman" panose="02020603050405020304" pitchFamily="18" charset="0"/>
                <a:cs typeface="Times New Roman" panose="02020603050405020304" pitchFamily="18" charset="0"/>
              </a:rPr>
              <a:t>INFECTIONS IN HEMATOPOIETIC CELL TRANSPLANT(HCT) RECIPIENT</a:t>
            </a:r>
            <a:endParaRPr lang="en-TZ" sz="3600"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912908C-927E-3602-7AD4-43276DA1F943}"/>
              </a:ext>
            </a:extLst>
          </p:cNvPr>
          <p:cNvSpPr>
            <a:spLocks noGrp="1"/>
          </p:cNvSpPr>
          <p:nvPr>
            <p:ph idx="1"/>
          </p:nvPr>
        </p:nvSpPr>
        <p:spPr>
          <a:xfrm>
            <a:off x="501446" y="1283110"/>
            <a:ext cx="11326760" cy="4837468"/>
          </a:xfrm>
        </p:spPr>
        <p:txBody>
          <a:bodyPr>
            <a:normAutofit/>
          </a:bodyPr>
          <a:lstStyle/>
          <a:p>
            <a:pPr marL="0" indent="0">
              <a:buNone/>
            </a:pPr>
            <a:r>
              <a:rPr lang="en-US" dirty="0">
                <a:solidFill>
                  <a:srgbClr val="232323"/>
                </a:solidFill>
                <a:latin typeface="Times New Roman" panose="02020603050405020304" pitchFamily="18" charset="0"/>
                <a:cs typeface="Times New Roman" panose="02020603050405020304" pitchFamily="18" charset="0"/>
              </a:rPr>
              <a:t>Main stay for SCD, Aplastic anemia and other blood cancers</a:t>
            </a:r>
          </a:p>
          <a:p>
            <a:r>
              <a:rPr lang="en-US" b="0" i="0" dirty="0">
                <a:solidFill>
                  <a:srgbClr val="232323"/>
                </a:solidFill>
                <a:effectLst/>
                <a:latin typeface="Times New Roman" panose="02020603050405020304" pitchFamily="18" charset="0"/>
                <a:cs typeface="Times New Roman" panose="02020603050405020304" pitchFamily="18" charset="0"/>
              </a:rPr>
              <a:t>HCT recipients,  are at substantial risk  infections especially allogenic transplants.</a:t>
            </a:r>
          </a:p>
          <a:p>
            <a:r>
              <a:rPr lang="en-US" dirty="0">
                <a:solidFill>
                  <a:srgbClr val="232323"/>
                </a:solidFill>
                <a:latin typeface="Times New Roman" panose="02020603050405020304" pitchFamily="18" charset="0"/>
                <a:cs typeface="Times New Roman" panose="02020603050405020304" pitchFamily="18" charset="0"/>
              </a:rPr>
              <a:t>Infections account for approximately 21% of deaths post-allogeneic HCT.  </a:t>
            </a:r>
          </a:p>
          <a:p>
            <a:r>
              <a:rPr lang="en-US" dirty="0">
                <a:solidFill>
                  <a:srgbClr val="232323"/>
                </a:solidFill>
                <a:latin typeface="Times New Roman" panose="02020603050405020304" pitchFamily="18" charset="0"/>
                <a:cs typeface="Times New Roman" panose="02020603050405020304" pitchFamily="18" charset="0"/>
              </a:rPr>
              <a:t>Bacterial infections major complication mainly bloodstream infections, pneumonia followed by GIT infections.</a:t>
            </a:r>
            <a:endParaRPr lang="en-US" b="0" i="0" dirty="0">
              <a:solidFill>
                <a:srgbClr val="232323"/>
              </a:solidFill>
              <a:effectLst/>
              <a:latin typeface="Times New Roman" panose="02020603050405020304" pitchFamily="18" charset="0"/>
              <a:cs typeface="Times New Roman" panose="02020603050405020304" pitchFamily="18" charset="0"/>
            </a:endParaRPr>
          </a:p>
          <a:p>
            <a:pPr marL="0" indent="0">
              <a:buNone/>
            </a:pPr>
            <a:endParaRPr lang="en-TZ" dirty="0"/>
          </a:p>
        </p:txBody>
      </p:sp>
      <p:sp>
        <p:nvSpPr>
          <p:cNvPr id="4" name="TextBox 3"/>
          <p:cNvSpPr txBox="1"/>
          <p:nvPr/>
        </p:nvSpPr>
        <p:spPr>
          <a:xfrm>
            <a:off x="1106129" y="5448548"/>
            <a:ext cx="995393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World Network for Blood and Marrow Transplantation(WBMT) – global transplant activity2024 </a:t>
            </a:r>
          </a:p>
        </p:txBody>
      </p:sp>
    </p:spTree>
    <p:extLst>
      <p:ext uri="{BB962C8B-B14F-4D97-AF65-F5344CB8AC3E}">
        <p14:creationId xmlns:p14="http://schemas.microsoft.com/office/powerpoint/2010/main" val="198775762"/>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1727"/>
          </a:xfrm>
        </p:spPr>
        <p:txBody>
          <a:bodyPr>
            <a:normAutofit/>
          </a:bodyPr>
          <a:lstStyle/>
          <a:p>
            <a:pPr algn="ctr"/>
            <a:r>
              <a:rPr lang="en-US" b="1" dirty="0">
                <a:solidFill>
                  <a:schemeClr val="bg2">
                    <a:lumMod val="10000"/>
                  </a:schemeClr>
                </a:solidFill>
                <a:latin typeface="Times New Roman" panose="02020603050405020304" pitchFamily="18" charset="0"/>
                <a:cs typeface="Times New Roman" panose="02020603050405020304" pitchFamily="18" charset="0"/>
              </a:rPr>
              <a:t>INFECTIONS IN HCT CONT…</a:t>
            </a:r>
          </a:p>
        </p:txBody>
      </p:sp>
      <p:sp>
        <p:nvSpPr>
          <p:cNvPr id="3" name="Content Placeholder 2"/>
          <p:cNvSpPr>
            <a:spLocks noGrp="1"/>
          </p:cNvSpPr>
          <p:nvPr>
            <p:ph idx="1"/>
          </p:nvPr>
        </p:nvSpPr>
        <p:spPr>
          <a:xfrm>
            <a:off x="471948" y="1297340"/>
            <a:ext cx="11341510" cy="4846785"/>
          </a:xfrm>
        </p:spPr>
        <p:txBody>
          <a:bodyPr/>
          <a:lstStyle/>
          <a:p>
            <a:r>
              <a:rPr lang="en-US" sz="3000" dirty="0">
                <a:solidFill>
                  <a:schemeClr val="bg2">
                    <a:lumMod val="10000"/>
                  </a:schemeClr>
                </a:solidFill>
                <a:latin typeface="Times New Roman" panose="02020603050405020304" pitchFamily="18" charset="0"/>
                <a:cs typeface="Times New Roman" panose="02020603050405020304" pitchFamily="18" charset="0"/>
              </a:rPr>
              <a:t>Phases of Infection risk:	</a:t>
            </a:r>
          </a:p>
          <a:p>
            <a:pPr lvl="1">
              <a:buFont typeface="Wingdings" panose="05000000000000000000" pitchFamily="2" charset="2"/>
              <a:buChar char="§"/>
            </a:pPr>
            <a:r>
              <a:rPr lang="en-US" sz="2800" b="1" dirty="0">
                <a:solidFill>
                  <a:schemeClr val="bg2">
                    <a:lumMod val="10000"/>
                  </a:schemeClr>
                </a:solidFill>
                <a:latin typeface="Times New Roman" panose="02020603050405020304" pitchFamily="18" charset="0"/>
                <a:cs typeface="Times New Roman" panose="02020603050405020304" pitchFamily="18" charset="0"/>
              </a:rPr>
              <a:t>Pre-engraftment</a:t>
            </a:r>
            <a:r>
              <a:rPr lang="en-US" sz="2800" dirty="0">
                <a:solidFill>
                  <a:schemeClr val="bg2">
                    <a:lumMod val="10000"/>
                  </a:schemeClr>
                </a:solidFill>
                <a:latin typeface="Times New Roman" panose="02020603050405020304" pitchFamily="18" charset="0"/>
                <a:cs typeface="Times New Roman" panose="02020603050405020304" pitchFamily="18" charset="0"/>
              </a:rPr>
              <a:t> (Days 0–30): Predominantly bacterial infections due to severe neutropenia(ANC&lt; 500/µl) as a result of high dose chemo and radiation  </a:t>
            </a:r>
          </a:p>
          <a:p>
            <a:pPr lvl="1">
              <a:buFont typeface="Wingdings" panose="05000000000000000000" pitchFamily="2" charset="2"/>
              <a:buChar char="§"/>
            </a:pPr>
            <a:r>
              <a:rPr lang="en-US" sz="2800" b="1" dirty="0">
                <a:solidFill>
                  <a:schemeClr val="bg2">
                    <a:lumMod val="10000"/>
                  </a:schemeClr>
                </a:solidFill>
                <a:latin typeface="Times New Roman" panose="02020603050405020304" pitchFamily="18" charset="0"/>
                <a:cs typeface="Times New Roman" panose="02020603050405020304" pitchFamily="18" charset="0"/>
              </a:rPr>
              <a:t>Early Post-engraftment </a:t>
            </a:r>
            <a:r>
              <a:rPr lang="en-US" sz="2800" dirty="0">
                <a:solidFill>
                  <a:schemeClr val="bg2">
                    <a:lumMod val="10000"/>
                  </a:schemeClr>
                </a:solidFill>
                <a:latin typeface="Times New Roman" panose="02020603050405020304" pitchFamily="18" charset="0"/>
                <a:cs typeface="Times New Roman" panose="02020603050405020304" pitchFamily="18" charset="0"/>
              </a:rPr>
              <a:t>(Days 30–100): Viral reactivations and fungal infections become more common. Recovery neutrophil but B cells and T cells not yet recovered( increased CMV, EBV,HHV-6,adenovirus)  </a:t>
            </a:r>
          </a:p>
          <a:p>
            <a:pPr lvl="1">
              <a:buFont typeface="Wingdings" panose="05000000000000000000" pitchFamily="2" charset="2"/>
              <a:buChar char="§"/>
            </a:pPr>
            <a:r>
              <a:rPr lang="en-US" sz="2800" b="1" dirty="0">
                <a:solidFill>
                  <a:schemeClr val="bg2">
                    <a:lumMod val="10000"/>
                  </a:schemeClr>
                </a:solidFill>
                <a:latin typeface="Times New Roman" panose="02020603050405020304" pitchFamily="18" charset="0"/>
                <a:cs typeface="Times New Roman" panose="02020603050405020304" pitchFamily="18" charset="0"/>
              </a:rPr>
              <a:t>Late Post-engraftment </a:t>
            </a:r>
            <a:r>
              <a:rPr lang="en-US" sz="2800" dirty="0">
                <a:solidFill>
                  <a:schemeClr val="bg2">
                    <a:lumMod val="10000"/>
                  </a:schemeClr>
                </a:solidFill>
                <a:latin typeface="Times New Roman" panose="02020603050405020304" pitchFamily="18" charset="0"/>
                <a:cs typeface="Times New Roman" panose="02020603050405020304" pitchFamily="18" charset="0"/>
              </a:rPr>
              <a:t>(&gt;Day 100): </a:t>
            </a:r>
            <a:r>
              <a:rPr lang="en-US" sz="2800" b="1" dirty="0">
                <a:solidFill>
                  <a:schemeClr val="bg2">
                    <a:lumMod val="10000"/>
                  </a:schemeClr>
                </a:solidFill>
                <a:latin typeface="Times New Roman" panose="02020603050405020304" pitchFamily="18" charset="0"/>
                <a:cs typeface="Times New Roman" panose="02020603050405020304" pitchFamily="18" charset="0"/>
              </a:rPr>
              <a:t>Chronic Graft versus Host Disease (GVHD) </a:t>
            </a:r>
            <a:r>
              <a:rPr lang="en-US" sz="2800" dirty="0">
                <a:solidFill>
                  <a:schemeClr val="bg2">
                    <a:lumMod val="10000"/>
                  </a:schemeClr>
                </a:solidFill>
                <a:latin typeface="Times New Roman" panose="02020603050405020304" pitchFamily="18" charset="0"/>
                <a:cs typeface="Times New Roman" panose="02020603050405020304" pitchFamily="18" charset="0"/>
              </a:rPr>
              <a:t>and long-term immunosuppression increase risk for opportunistic infections.￼</a:t>
            </a:r>
          </a:p>
          <a:p>
            <a:endParaRPr lang="en-US" dirty="0"/>
          </a:p>
        </p:txBody>
      </p:sp>
    </p:spTree>
    <p:extLst>
      <p:ext uri="{BB962C8B-B14F-4D97-AF65-F5344CB8AC3E}">
        <p14:creationId xmlns:p14="http://schemas.microsoft.com/office/powerpoint/2010/main" val="1530353553"/>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F5DF9-F1B4-2B91-5C8E-BB43ED55C5C6}"/>
              </a:ext>
            </a:extLst>
          </p:cNvPr>
          <p:cNvSpPr>
            <a:spLocks noGrp="1"/>
          </p:cNvSpPr>
          <p:nvPr>
            <p:ph type="title"/>
          </p:nvPr>
        </p:nvSpPr>
        <p:spPr>
          <a:xfrm>
            <a:off x="516194" y="398206"/>
            <a:ext cx="10822858" cy="781664"/>
          </a:xfrm>
        </p:spPr>
        <p:txBody>
          <a:bodyPr>
            <a:normAutofit fontScale="90000"/>
          </a:bodyPr>
          <a:lstStyle/>
          <a:p>
            <a:pPr algn="ctr"/>
            <a:r>
              <a:rPr lang="en-US" sz="4000" b="1" dirty="0">
                <a:solidFill>
                  <a:schemeClr val="bg2">
                    <a:lumMod val="10000"/>
                  </a:schemeClr>
                </a:solidFill>
                <a:latin typeface="Times New Roman" panose="02020603050405020304" pitchFamily="18" charset="0"/>
                <a:cs typeface="Times New Roman" panose="02020603050405020304" pitchFamily="18" charset="0"/>
              </a:rPr>
              <a:t>INFECTIONS IN HCT RECIPIENT - PREVENTIVE MEASURES</a:t>
            </a:r>
            <a:br>
              <a:rPr lang="en-US" sz="3200" b="1" dirty="0">
                <a:latin typeface="Times New Roman" panose="02020603050405020304" pitchFamily="18" charset="0"/>
                <a:cs typeface="Times New Roman" panose="02020603050405020304" pitchFamily="18" charset="0"/>
              </a:rPr>
            </a:br>
            <a:endParaRPr lang="en-TZ"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095510-2F03-C021-0618-7C6AA3877731}"/>
              </a:ext>
            </a:extLst>
          </p:cNvPr>
          <p:cNvSpPr>
            <a:spLocks noGrp="1"/>
          </p:cNvSpPr>
          <p:nvPr>
            <p:ph idx="1"/>
          </p:nvPr>
        </p:nvSpPr>
        <p:spPr>
          <a:xfrm>
            <a:off x="412954" y="988141"/>
            <a:ext cx="11253019" cy="5574891"/>
          </a:xfrm>
        </p:spPr>
        <p:txBody>
          <a:bodyPr>
            <a:noAutofit/>
          </a:bodyPr>
          <a:lstStyle/>
          <a:p>
            <a:r>
              <a:rPr lang="en-US" sz="2800" dirty="0">
                <a:solidFill>
                  <a:schemeClr val="bg2">
                    <a:lumMod val="10000"/>
                  </a:schemeClr>
                </a:solidFill>
                <a:latin typeface="Times New Roman" panose="02020603050405020304" pitchFamily="18" charset="0"/>
                <a:cs typeface="Times New Roman" panose="02020603050405020304" pitchFamily="18" charset="0"/>
              </a:rPr>
              <a:t>I</a:t>
            </a:r>
            <a:r>
              <a:rPr lang="en-US" sz="2800" b="1" dirty="0">
                <a:solidFill>
                  <a:schemeClr val="bg2">
                    <a:lumMod val="10000"/>
                  </a:schemeClr>
                </a:solidFill>
                <a:latin typeface="Times New Roman" panose="02020603050405020304" pitchFamily="18" charset="0"/>
                <a:cs typeface="Times New Roman" panose="02020603050405020304" pitchFamily="18" charset="0"/>
              </a:rPr>
              <a:t>mmunizations</a:t>
            </a:r>
            <a:r>
              <a:rPr lang="en-US" sz="2800" dirty="0">
                <a:solidFill>
                  <a:schemeClr val="bg2">
                    <a:lumMod val="10000"/>
                  </a:schemeClr>
                </a:solidFill>
                <a:latin typeface="Times New Roman" panose="02020603050405020304" pitchFamily="18" charset="0"/>
                <a:cs typeface="Times New Roman" panose="02020603050405020304" pitchFamily="18" charset="0"/>
              </a:rPr>
              <a:t>: Initiate inactivated vaccines starting at 6–12 months post-HCT, including pneumococcal, H.influenza b, and influenza </a:t>
            </a:r>
          </a:p>
          <a:p>
            <a:r>
              <a:rPr lang="en-US" sz="2800" b="1" dirty="0">
                <a:solidFill>
                  <a:schemeClr val="bg2">
                    <a:lumMod val="10000"/>
                  </a:schemeClr>
                </a:solidFill>
                <a:latin typeface="Times New Roman" panose="02020603050405020304" pitchFamily="18" charset="0"/>
                <a:cs typeface="Times New Roman" panose="02020603050405020304" pitchFamily="18" charset="0"/>
              </a:rPr>
              <a:t>Fluoroquinolone prophylaxis </a:t>
            </a:r>
            <a:r>
              <a:rPr lang="en-US" sz="2800" dirty="0">
                <a:solidFill>
                  <a:schemeClr val="bg2">
                    <a:lumMod val="10000"/>
                  </a:schemeClr>
                </a:solidFill>
                <a:latin typeface="Times New Roman" panose="02020603050405020304" pitchFamily="18" charset="0"/>
                <a:cs typeface="Times New Roman" panose="02020603050405020304" pitchFamily="18" charset="0"/>
              </a:rPr>
              <a:t>(e.g., levofloxacin) is recommended during anticipated neutropenic periods ≥7 days.(guided by local resistance pattern)</a:t>
            </a:r>
          </a:p>
          <a:p>
            <a:r>
              <a:rPr lang="en-US" sz="2800" b="1" dirty="0">
                <a:solidFill>
                  <a:schemeClr val="bg2">
                    <a:lumMod val="10000"/>
                  </a:schemeClr>
                </a:solidFill>
                <a:latin typeface="Times New Roman" panose="02020603050405020304" pitchFamily="18" charset="0"/>
                <a:cs typeface="Times New Roman" panose="02020603050405020304" pitchFamily="18" charset="0"/>
              </a:rPr>
              <a:t>PJP Prophylaxis </a:t>
            </a:r>
            <a:r>
              <a:rPr lang="en-US" sz="2800" dirty="0">
                <a:solidFill>
                  <a:schemeClr val="bg2">
                    <a:lumMod val="10000"/>
                  </a:schemeClr>
                </a:solidFill>
                <a:latin typeface="Times New Roman" panose="02020603050405020304" pitchFamily="18" charset="0"/>
                <a:cs typeface="Times New Roman" panose="02020603050405020304" pitchFamily="18" charset="0"/>
              </a:rPr>
              <a:t>with TMP-SMX  for at least 6 months post-transplant or during immunosuppressive therapy.</a:t>
            </a:r>
          </a:p>
          <a:p>
            <a:r>
              <a:rPr lang="en-US" sz="2800" b="1" dirty="0">
                <a:solidFill>
                  <a:schemeClr val="bg2">
                    <a:lumMod val="10000"/>
                  </a:schemeClr>
                </a:solidFill>
                <a:latin typeface="Times New Roman" panose="02020603050405020304" pitchFamily="18" charset="0"/>
                <a:cs typeface="Times New Roman" panose="02020603050405020304" pitchFamily="18" charset="0"/>
              </a:rPr>
              <a:t>Antiviral Prophylaxis</a:t>
            </a:r>
            <a:r>
              <a:rPr lang="en-US" sz="2800" dirty="0">
                <a:solidFill>
                  <a:schemeClr val="bg2">
                    <a:lumMod val="10000"/>
                  </a:schemeClr>
                </a:solidFill>
                <a:latin typeface="Times New Roman" panose="02020603050405020304" pitchFamily="18" charset="0"/>
                <a:cs typeface="Times New Roman" panose="02020603050405020304" pitchFamily="18" charset="0"/>
              </a:rPr>
              <a:t>: Consider for HSV and VZV, especially in patients with chronic GVHD.  Valacyclovir..!</a:t>
            </a:r>
          </a:p>
          <a:p>
            <a:r>
              <a:rPr lang="en-US" sz="2800" b="1" dirty="0">
                <a:solidFill>
                  <a:schemeClr val="bg2">
                    <a:lumMod val="10000"/>
                  </a:schemeClr>
                </a:solidFill>
                <a:latin typeface="Times New Roman" panose="02020603050405020304" pitchFamily="18" charset="0"/>
                <a:cs typeface="Times New Roman" panose="02020603050405020304" pitchFamily="18" charset="0"/>
              </a:rPr>
              <a:t>Monitoring and Surveillance</a:t>
            </a:r>
            <a:r>
              <a:rPr lang="en-US" sz="2800" dirty="0">
                <a:solidFill>
                  <a:schemeClr val="bg2">
                    <a:lumMod val="10000"/>
                  </a:schemeClr>
                </a:solidFill>
                <a:latin typeface="Times New Roman" panose="02020603050405020304" pitchFamily="18" charset="0"/>
                <a:cs typeface="Times New Roman" panose="02020603050405020304" pitchFamily="18" charset="0"/>
              </a:rPr>
              <a:t>: Regular screening for CMV and other opportunistic infections</a:t>
            </a:r>
            <a:endParaRPr lang="en-TZ" sz="2800" dirty="0">
              <a:solidFill>
                <a:schemeClr val="bg2">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9988116"/>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F4164-F639-5EF2-6F34-00B74EB4BBA1}"/>
              </a:ext>
            </a:extLst>
          </p:cNvPr>
          <p:cNvSpPr>
            <a:spLocks noGrp="1"/>
          </p:cNvSpPr>
          <p:nvPr>
            <p:ph type="title"/>
          </p:nvPr>
        </p:nvSpPr>
        <p:spPr>
          <a:xfrm>
            <a:off x="678426" y="237767"/>
            <a:ext cx="10899057" cy="912608"/>
          </a:xfrm>
        </p:spPr>
        <p:txBody>
          <a:bodyPr>
            <a:noAutofit/>
          </a:bodyPr>
          <a:lstStyle/>
          <a:p>
            <a:pPr algn="ctr"/>
            <a:r>
              <a:rPr lang="en-US" sz="3600" b="1" dirty="0">
                <a:solidFill>
                  <a:schemeClr val="bg2">
                    <a:lumMod val="10000"/>
                  </a:schemeClr>
                </a:solidFill>
                <a:latin typeface="Times New Roman" panose="02020603050405020304" pitchFamily="18" charset="0"/>
                <a:cs typeface="Times New Roman" panose="02020603050405020304" pitchFamily="18" charset="0"/>
              </a:rPr>
              <a:t>INFECTIONS IN  SOLID ORGAN TRANSPLANT (SOT) RECIPIENT </a:t>
            </a:r>
            <a:endParaRPr lang="en-TZ" sz="3600"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70FABDC-2839-A0C0-56B5-0EFE6610A928}"/>
              </a:ext>
            </a:extLst>
          </p:cNvPr>
          <p:cNvSpPr>
            <a:spLocks noGrp="1"/>
          </p:cNvSpPr>
          <p:nvPr>
            <p:ph idx="1"/>
          </p:nvPr>
        </p:nvSpPr>
        <p:spPr>
          <a:xfrm>
            <a:off x="545690" y="1312606"/>
            <a:ext cx="11031793" cy="5309419"/>
          </a:xfrm>
        </p:spPr>
        <p:txBody>
          <a:bodyPr>
            <a:normAutofit/>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Lifelong immunosuppression</a:t>
            </a:r>
          </a:p>
          <a:p>
            <a:r>
              <a:rPr lang="en-US" dirty="0">
                <a:solidFill>
                  <a:schemeClr val="bg2">
                    <a:lumMod val="10000"/>
                  </a:schemeClr>
                </a:solidFill>
                <a:latin typeface="Times New Roman" panose="02020603050405020304" pitchFamily="18" charset="0"/>
                <a:cs typeface="Times New Roman" panose="02020603050405020304" pitchFamily="18" charset="0"/>
              </a:rPr>
              <a:t>Hospital exposure</a:t>
            </a:r>
          </a:p>
          <a:p>
            <a:r>
              <a:rPr lang="en-US" dirty="0">
                <a:solidFill>
                  <a:schemeClr val="bg2">
                    <a:lumMod val="10000"/>
                  </a:schemeClr>
                </a:solidFill>
                <a:latin typeface="Times New Roman" panose="02020603050405020304" pitchFamily="18" charset="0"/>
                <a:cs typeface="Times New Roman" panose="02020603050405020304" pitchFamily="18" charset="0"/>
              </a:rPr>
              <a:t>Surgical disruption and ischemia</a:t>
            </a:r>
          </a:p>
          <a:p>
            <a:r>
              <a:rPr lang="en-US" dirty="0">
                <a:solidFill>
                  <a:schemeClr val="bg2">
                    <a:lumMod val="10000"/>
                  </a:schemeClr>
                </a:solidFill>
                <a:latin typeface="Times New Roman" panose="02020603050405020304" pitchFamily="18" charset="0"/>
                <a:cs typeface="Times New Roman" panose="02020603050405020304" pitchFamily="18" charset="0"/>
              </a:rPr>
              <a:t>Opportunist pathogen reactivation</a:t>
            </a:r>
          </a:p>
          <a:p>
            <a:r>
              <a:rPr lang="en-US" dirty="0">
                <a:solidFill>
                  <a:schemeClr val="bg2">
                    <a:lumMod val="10000"/>
                  </a:schemeClr>
                </a:solidFill>
                <a:latin typeface="Times New Roman" panose="02020603050405020304" pitchFamily="18" charset="0"/>
                <a:cs typeface="Times New Roman" panose="02020603050405020304" pitchFamily="18" charset="0"/>
              </a:rPr>
              <a:t>Up to 60% recipients experience at least one infection within initial year following transplant.(Delden et al)</a:t>
            </a:r>
          </a:p>
          <a:p>
            <a:r>
              <a:rPr lang="en-US" dirty="0">
                <a:solidFill>
                  <a:schemeClr val="bg2">
                    <a:lumMod val="10000"/>
                  </a:schemeClr>
                </a:solidFill>
                <a:latin typeface="Times New Roman" panose="02020603050405020304" pitchFamily="18" charset="0"/>
                <a:cs typeface="Times New Roman" panose="02020603050405020304" pitchFamily="18" charset="0"/>
              </a:rPr>
              <a:t>Infection in SOT are diverse, non-specific symptoms, complex antimicrobial choice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p>
          <a:p>
            <a:pPr marL="0" indent="0">
              <a:buNone/>
            </a:pPr>
            <a:endParaRPr lang="en-TZ" dirty="0"/>
          </a:p>
        </p:txBody>
      </p:sp>
    </p:spTree>
    <p:extLst>
      <p:ext uri="{BB962C8B-B14F-4D97-AF65-F5344CB8AC3E}">
        <p14:creationId xmlns:p14="http://schemas.microsoft.com/office/powerpoint/2010/main" val="738985649"/>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29A0D-948A-BD80-A3DA-1A89C215435E}"/>
              </a:ext>
            </a:extLst>
          </p:cNvPr>
          <p:cNvSpPr>
            <a:spLocks noGrp="1"/>
          </p:cNvSpPr>
          <p:nvPr>
            <p:ph type="title"/>
          </p:nvPr>
        </p:nvSpPr>
        <p:spPr>
          <a:xfrm>
            <a:off x="838200" y="365126"/>
            <a:ext cx="10515600" cy="1050719"/>
          </a:xfrm>
        </p:spPr>
        <p:txBody>
          <a:bodyPr>
            <a:noAutofit/>
          </a:bodyPr>
          <a:lstStyle/>
          <a:p>
            <a:pPr algn="ctr"/>
            <a:r>
              <a:rPr lang="en-US" b="1" dirty="0">
                <a:solidFill>
                  <a:schemeClr val="bg2">
                    <a:lumMod val="10000"/>
                  </a:schemeClr>
                </a:solidFill>
                <a:latin typeface="Times New Roman" panose="02020603050405020304" pitchFamily="18" charset="0"/>
                <a:cs typeface="Times New Roman" panose="02020603050405020304" pitchFamily="18" charset="0"/>
              </a:rPr>
              <a:t>RISK OF INFECTION FOLLOWING SOT</a:t>
            </a:r>
            <a:endParaRPr lang="en-TZ"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7CD227-16E6-1D93-2B3B-EE5FD115558D}"/>
              </a:ext>
            </a:extLst>
          </p:cNvPr>
          <p:cNvSpPr>
            <a:spLocks noGrp="1"/>
          </p:cNvSpPr>
          <p:nvPr>
            <p:ph idx="1"/>
          </p:nvPr>
        </p:nvSpPr>
        <p:spPr>
          <a:xfrm>
            <a:off x="838201" y="1297858"/>
            <a:ext cx="10341076" cy="4999703"/>
          </a:xfrm>
        </p:spPr>
        <p:txBody>
          <a:bodyPr/>
          <a:lstStyle/>
          <a:p>
            <a:pPr marL="0" indent="0">
              <a:buNone/>
            </a:pPr>
            <a:endParaRPr lang="en-US" sz="3000" dirty="0">
              <a:latin typeface="Times New Roman" panose="02020603050405020304" pitchFamily="18" charset="0"/>
              <a:cs typeface="Times New Roman" panose="02020603050405020304" pitchFamily="18" charset="0"/>
            </a:endParaRPr>
          </a:p>
          <a:p>
            <a:pPr>
              <a:lnSpc>
                <a:spcPct val="100000"/>
              </a:lnSpc>
            </a:pPr>
            <a:r>
              <a:rPr lang="en-US" dirty="0">
                <a:solidFill>
                  <a:schemeClr val="bg2">
                    <a:lumMod val="10000"/>
                  </a:schemeClr>
                </a:solidFill>
                <a:latin typeface="Times New Roman" panose="02020603050405020304" pitchFamily="18" charset="0"/>
                <a:cs typeface="Times New Roman" panose="02020603050405020304" pitchFamily="18" charset="0"/>
              </a:rPr>
              <a:t>Infection in </a:t>
            </a:r>
            <a:r>
              <a:rPr lang="en-US" b="1" dirty="0">
                <a:solidFill>
                  <a:schemeClr val="bg2">
                    <a:lumMod val="10000"/>
                  </a:schemeClr>
                </a:solidFill>
                <a:latin typeface="Times New Roman" panose="02020603050405020304" pitchFamily="18" charset="0"/>
                <a:cs typeface="Times New Roman" panose="02020603050405020304" pitchFamily="18" charset="0"/>
              </a:rPr>
              <a:t>SOT</a:t>
            </a:r>
            <a:r>
              <a:rPr lang="en-US" dirty="0">
                <a:solidFill>
                  <a:schemeClr val="bg2">
                    <a:lumMod val="10000"/>
                  </a:schemeClr>
                </a:solidFill>
                <a:latin typeface="Times New Roman" panose="02020603050405020304" pitchFamily="18" charset="0"/>
                <a:cs typeface="Times New Roman" panose="02020603050405020304" pitchFamily="18" charset="0"/>
              </a:rPr>
              <a:t> is determined by the synergy between two factors;</a:t>
            </a:r>
          </a:p>
          <a:p>
            <a:pPr lvl="1">
              <a:lnSpc>
                <a:spcPct val="100000"/>
              </a:lnSpc>
              <a:buFont typeface="Wingdings" panose="05000000000000000000" pitchFamily="2" charset="2"/>
              <a:buChar char="§"/>
            </a:pPr>
            <a:r>
              <a:rPr lang="en-US" sz="3200" b="1" dirty="0">
                <a:solidFill>
                  <a:schemeClr val="bg2">
                    <a:lumMod val="10000"/>
                  </a:schemeClr>
                </a:solidFill>
                <a:latin typeface="Times New Roman" panose="02020603050405020304" pitchFamily="18" charset="0"/>
                <a:cs typeface="Times New Roman" panose="02020603050405020304" pitchFamily="18" charset="0"/>
              </a:rPr>
              <a:t>Epidemiologic exposure- </a:t>
            </a:r>
            <a:r>
              <a:rPr lang="en-US" sz="3200" dirty="0">
                <a:solidFill>
                  <a:schemeClr val="bg2">
                    <a:lumMod val="10000"/>
                  </a:schemeClr>
                </a:solidFill>
                <a:latin typeface="Times New Roman" panose="02020603050405020304" pitchFamily="18" charset="0"/>
                <a:cs typeface="Times New Roman" panose="02020603050405020304" pitchFamily="18" charset="0"/>
              </a:rPr>
              <a:t>contact, latent pathogen, nosocomial, OI</a:t>
            </a:r>
          </a:p>
          <a:p>
            <a:pPr lvl="1">
              <a:lnSpc>
                <a:spcPct val="100000"/>
              </a:lnSpc>
              <a:buFont typeface="Wingdings" panose="05000000000000000000" pitchFamily="2" charset="2"/>
              <a:buChar char="§"/>
            </a:pPr>
            <a:r>
              <a:rPr lang="en-US" sz="3200" b="1" dirty="0">
                <a:solidFill>
                  <a:schemeClr val="bg2">
                    <a:lumMod val="10000"/>
                  </a:schemeClr>
                </a:solidFill>
                <a:latin typeface="Times New Roman" panose="02020603050405020304" pitchFamily="18" charset="0"/>
                <a:cs typeface="Times New Roman" panose="02020603050405020304" pitchFamily="18" charset="0"/>
              </a:rPr>
              <a:t>Net state of immunosuppression-</a:t>
            </a:r>
            <a:r>
              <a:rPr lang="en-US" sz="3200" dirty="0">
                <a:solidFill>
                  <a:schemeClr val="bg2">
                    <a:lumMod val="10000"/>
                  </a:schemeClr>
                </a:solidFill>
                <a:latin typeface="Times New Roman" panose="02020603050405020304" pitchFamily="18" charset="0"/>
                <a:cs typeface="Times New Roman" panose="02020603050405020304" pitchFamily="18" charset="0"/>
              </a:rPr>
              <a:t>Type, dose, duration, commodifies, invasive devices</a:t>
            </a:r>
            <a:endParaRPr lang="en-US" sz="3200" b="1" dirty="0">
              <a:solidFill>
                <a:schemeClr val="bg2">
                  <a:lumMod val="10000"/>
                </a:schemeClr>
              </a:solidFill>
              <a:latin typeface="Times New Roman" panose="02020603050405020304" pitchFamily="18" charset="0"/>
              <a:cs typeface="Times New Roman" panose="02020603050405020304" pitchFamily="18" charset="0"/>
            </a:endParaRPr>
          </a:p>
          <a:p>
            <a:pPr marL="0" indent="0">
              <a:buNone/>
            </a:pPr>
            <a:endParaRPr lang="en-TZ" dirty="0"/>
          </a:p>
        </p:txBody>
      </p:sp>
    </p:spTree>
    <p:extLst>
      <p:ext uri="{BB962C8B-B14F-4D97-AF65-F5344CB8AC3E}">
        <p14:creationId xmlns:p14="http://schemas.microsoft.com/office/powerpoint/2010/main" val="615032123"/>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D3B82-65F9-13F5-D999-73E8AEABD536}"/>
              </a:ext>
            </a:extLst>
          </p:cNvPr>
          <p:cNvSpPr>
            <a:spLocks noGrp="1"/>
          </p:cNvSpPr>
          <p:nvPr>
            <p:ph type="title"/>
          </p:nvPr>
        </p:nvSpPr>
        <p:spPr>
          <a:xfrm>
            <a:off x="838200" y="365126"/>
            <a:ext cx="10515600" cy="799998"/>
          </a:xfrm>
        </p:spPr>
        <p:txBody>
          <a:bodyPr>
            <a:normAutofit/>
          </a:bodyPr>
          <a:lstStyle/>
          <a:p>
            <a:pPr algn="ctr"/>
            <a:r>
              <a:rPr lang="en-US" sz="3600" b="1" dirty="0">
                <a:solidFill>
                  <a:schemeClr val="bg2">
                    <a:lumMod val="10000"/>
                  </a:schemeClr>
                </a:solidFill>
                <a:latin typeface="Times New Roman" panose="02020603050405020304" pitchFamily="18" charset="0"/>
                <a:cs typeface="Times New Roman" panose="02020603050405020304" pitchFamily="18" charset="0"/>
              </a:rPr>
              <a:t>TIMING OF INFECTIONS POST SOT</a:t>
            </a:r>
            <a:endParaRPr lang="en-TZ" sz="3600"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8009112-8683-A756-DCD5-FA4D4733DF51}"/>
              </a:ext>
            </a:extLst>
          </p:cNvPr>
          <p:cNvSpPr>
            <a:spLocks noGrp="1"/>
          </p:cNvSpPr>
          <p:nvPr>
            <p:ph idx="1"/>
          </p:nvPr>
        </p:nvSpPr>
        <p:spPr>
          <a:xfrm>
            <a:off x="368710" y="1061884"/>
            <a:ext cx="11400503" cy="5501148"/>
          </a:xfrm>
        </p:spPr>
        <p:txBody>
          <a:bodyPr>
            <a:normAutofit/>
          </a:bodyPr>
          <a:lstStyle/>
          <a:p>
            <a:pPr>
              <a:lnSpc>
                <a:spcPct val="100000"/>
              </a:lnSpc>
            </a:pPr>
            <a:r>
              <a:rPr lang="en-US" sz="3000" b="1" dirty="0">
                <a:solidFill>
                  <a:schemeClr val="bg2">
                    <a:lumMod val="10000"/>
                  </a:schemeClr>
                </a:solidFill>
                <a:latin typeface="Times New Roman" panose="02020603050405020304" pitchFamily="18" charset="0"/>
                <a:cs typeface="Times New Roman" panose="02020603050405020304" pitchFamily="18" charset="0"/>
              </a:rPr>
              <a:t>1</a:t>
            </a:r>
            <a:r>
              <a:rPr lang="en-US" sz="3000" b="1" baseline="30000" dirty="0">
                <a:solidFill>
                  <a:schemeClr val="bg2">
                    <a:lumMod val="10000"/>
                  </a:schemeClr>
                </a:solidFill>
                <a:latin typeface="Times New Roman" panose="02020603050405020304" pitchFamily="18" charset="0"/>
                <a:cs typeface="Times New Roman" panose="02020603050405020304" pitchFamily="18" charset="0"/>
              </a:rPr>
              <a:t>st</a:t>
            </a:r>
            <a:r>
              <a:rPr lang="en-US" sz="3000" b="1" dirty="0">
                <a:solidFill>
                  <a:schemeClr val="bg2">
                    <a:lumMod val="10000"/>
                  </a:schemeClr>
                </a:solidFill>
                <a:latin typeface="Times New Roman" panose="02020603050405020304" pitchFamily="18" charset="0"/>
                <a:cs typeface="Times New Roman" panose="02020603050405020304" pitchFamily="18" charset="0"/>
              </a:rPr>
              <a:t> month after SOT- </a:t>
            </a:r>
            <a:r>
              <a:rPr lang="en-US" sz="3000" dirty="0">
                <a:solidFill>
                  <a:schemeClr val="bg2">
                    <a:lumMod val="10000"/>
                  </a:schemeClr>
                </a:solidFill>
                <a:latin typeface="Times New Roman" panose="02020603050405020304" pitchFamily="18" charset="0"/>
                <a:cs typeface="Times New Roman" panose="02020603050405020304" pitchFamily="18" charset="0"/>
              </a:rPr>
              <a:t>pre-existing</a:t>
            </a:r>
            <a:r>
              <a:rPr lang="en-US" sz="3000" b="1" dirty="0">
                <a:solidFill>
                  <a:schemeClr val="bg2">
                    <a:lumMod val="10000"/>
                  </a:schemeClr>
                </a:solidFill>
                <a:latin typeface="Times New Roman" panose="02020603050405020304" pitchFamily="18" charset="0"/>
                <a:cs typeface="Times New Roman" panose="02020603050405020304" pitchFamily="18" charset="0"/>
              </a:rPr>
              <a:t> </a:t>
            </a:r>
            <a:r>
              <a:rPr lang="en-US" sz="3000" dirty="0">
                <a:solidFill>
                  <a:schemeClr val="bg2">
                    <a:lumMod val="10000"/>
                  </a:schemeClr>
                </a:solidFill>
                <a:latin typeface="Times New Roman" panose="02020603050405020304" pitchFamily="18" charset="0"/>
                <a:cs typeface="Times New Roman" panose="02020603050405020304" pitchFamily="18" charset="0"/>
              </a:rPr>
              <a:t>infections from donor or recipient, nosocomial infections  i.e. related to surgery, catheter</a:t>
            </a:r>
          </a:p>
          <a:p>
            <a:pPr>
              <a:lnSpc>
                <a:spcPct val="100000"/>
              </a:lnSpc>
            </a:pPr>
            <a:r>
              <a:rPr lang="en-US" sz="3000" b="1" dirty="0">
                <a:solidFill>
                  <a:schemeClr val="bg2">
                    <a:lumMod val="10000"/>
                  </a:schemeClr>
                </a:solidFill>
                <a:latin typeface="Times New Roman" panose="02020603050405020304" pitchFamily="18" charset="0"/>
                <a:cs typeface="Times New Roman" panose="02020603050405020304" pitchFamily="18" charset="0"/>
              </a:rPr>
              <a:t>1</a:t>
            </a:r>
            <a:r>
              <a:rPr lang="en-US" sz="3000" b="1" baseline="30000" dirty="0">
                <a:solidFill>
                  <a:schemeClr val="bg2">
                    <a:lumMod val="10000"/>
                  </a:schemeClr>
                </a:solidFill>
                <a:latin typeface="Times New Roman" panose="02020603050405020304" pitchFamily="18" charset="0"/>
                <a:cs typeface="Times New Roman" panose="02020603050405020304" pitchFamily="18" charset="0"/>
              </a:rPr>
              <a:t>st</a:t>
            </a:r>
            <a:r>
              <a:rPr lang="en-US" sz="3000" b="1" dirty="0">
                <a:solidFill>
                  <a:schemeClr val="bg2">
                    <a:lumMod val="10000"/>
                  </a:schemeClr>
                </a:solidFill>
                <a:latin typeface="Times New Roman" panose="02020603050405020304" pitchFamily="18" charset="0"/>
                <a:cs typeface="Times New Roman" panose="02020603050405020304" pitchFamily="18" charset="0"/>
              </a:rPr>
              <a:t>-6</a:t>
            </a:r>
            <a:r>
              <a:rPr lang="en-US" sz="3000" b="1" baseline="30000" dirty="0">
                <a:solidFill>
                  <a:schemeClr val="bg2">
                    <a:lumMod val="10000"/>
                  </a:schemeClr>
                </a:solidFill>
                <a:latin typeface="Times New Roman" panose="02020603050405020304" pitchFamily="18" charset="0"/>
                <a:cs typeface="Times New Roman" panose="02020603050405020304" pitchFamily="18" charset="0"/>
              </a:rPr>
              <a:t>th</a:t>
            </a:r>
            <a:r>
              <a:rPr lang="en-US" sz="3000" b="1" dirty="0">
                <a:solidFill>
                  <a:schemeClr val="bg2">
                    <a:lumMod val="10000"/>
                  </a:schemeClr>
                </a:solidFill>
                <a:latin typeface="Times New Roman" panose="02020603050405020304" pitchFamily="18" charset="0"/>
                <a:cs typeface="Times New Roman" panose="02020603050405020304" pitchFamily="18" charset="0"/>
              </a:rPr>
              <a:t>month after SOT</a:t>
            </a:r>
            <a:r>
              <a:rPr lang="en-US" sz="3000" dirty="0">
                <a:solidFill>
                  <a:schemeClr val="bg2">
                    <a:lumMod val="10000"/>
                  </a:schemeClr>
                </a:solidFill>
                <a:latin typeface="Times New Roman" panose="02020603050405020304" pitchFamily="18" charset="0"/>
                <a:cs typeface="Times New Roman" panose="02020603050405020304" pitchFamily="18" charset="0"/>
              </a:rPr>
              <a:t>- Effect of IS is maximal</a:t>
            </a:r>
          </a:p>
          <a:p>
            <a:pPr lvl="1">
              <a:lnSpc>
                <a:spcPct val="100000"/>
              </a:lnSpc>
              <a:buFont typeface="Wingdings" panose="05000000000000000000" pitchFamily="2" charset="2"/>
              <a:buChar char="§"/>
            </a:pPr>
            <a:r>
              <a:rPr lang="en-US" sz="2800" dirty="0">
                <a:solidFill>
                  <a:schemeClr val="bg2">
                    <a:lumMod val="10000"/>
                  </a:schemeClr>
                </a:solidFill>
                <a:latin typeface="Times New Roman" panose="02020603050405020304" pitchFamily="18" charset="0"/>
                <a:cs typeface="Times New Roman" panose="02020603050405020304" pitchFamily="18" charset="0"/>
              </a:rPr>
              <a:t> </a:t>
            </a:r>
            <a:r>
              <a:rPr lang="en-US" sz="2800" b="1" dirty="0">
                <a:solidFill>
                  <a:schemeClr val="bg2">
                    <a:lumMod val="10000"/>
                  </a:schemeClr>
                </a:solidFill>
                <a:latin typeface="Times New Roman" panose="02020603050405020304" pitchFamily="18" charset="0"/>
                <a:cs typeface="Times New Roman" panose="02020603050405020304" pitchFamily="18" charset="0"/>
              </a:rPr>
              <a:t>OI </a:t>
            </a:r>
            <a:r>
              <a:rPr lang="en-US" sz="2800" dirty="0">
                <a:solidFill>
                  <a:schemeClr val="bg2">
                    <a:lumMod val="10000"/>
                  </a:schemeClr>
                </a:solidFill>
                <a:latin typeface="Times New Roman" panose="02020603050405020304" pitchFamily="18" charset="0"/>
                <a:cs typeface="Times New Roman" panose="02020603050405020304" pitchFamily="18" charset="0"/>
              </a:rPr>
              <a:t>(viral-CMV,EBV,VZV. Fungal aspergillus, cryptococcus, PJP. Protozoa especially Toxoplasmosis) </a:t>
            </a:r>
          </a:p>
          <a:p>
            <a:pPr lvl="1">
              <a:lnSpc>
                <a:spcPct val="100000"/>
              </a:lnSpc>
              <a:buFont typeface="Wingdings" panose="05000000000000000000" pitchFamily="2" charset="2"/>
              <a:buChar char="§"/>
            </a:pPr>
            <a:r>
              <a:rPr lang="en-US" sz="2800" dirty="0">
                <a:solidFill>
                  <a:schemeClr val="bg2">
                    <a:lumMod val="10000"/>
                  </a:schemeClr>
                </a:solidFill>
                <a:latin typeface="Times New Roman" panose="02020603050405020304" pitchFamily="18" charset="0"/>
                <a:cs typeface="Times New Roman" panose="02020603050405020304" pitchFamily="18" charset="0"/>
              </a:rPr>
              <a:t>Prevention of infections in this period is the basis of prophylactic antimicrobial strategies.</a:t>
            </a:r>
          </a:p>
          <a:p>
            <a:pPr>
              <a:lnSpc>
                <a:spcPct val="100000"/>
              </a:lnSpc>
            </a:pPr>
            <a:r>
              <a:rPr lang="en-US" sz="3000" b="1" dirty="0">
                <a:solidFill>
                  <a:schemeClr val="bg2">
                    <a:lumMod val="10000"/>
                  </a:schemeClr>
                </a:solidFill>
                <a:latin typeface="Times New Roman" panose="02020603050405020304" pitchFamily="18" charset="0"/>
                <a:cs typeface="Times New Roman" panose="02020603050405020304" pitchFamily="18" charset="0"/>
              </a:rPr>
              <a:t>6</a:t>
            </a:r>
            <a:r>
              <a:rPr lang="en-US" sz="3000" b="1" baseline="30000" dirty="0">
                <a:solidFill>
                  <a:schemeClr val="bg2">
                    <a:lumMod val="10000"/>
                  </a:schemeClr>
                </a:solidFill>
                <a:latin typeface="Times New Roman" panose="02020603050405020304" pitchFamily="18" charset="0"/>
                <a:cs typeface="Times New Roman" panose="02020603050405020304" pitchFamily="18" charset="0"/>
              </a:rPr>
              <a:t>th</a:t>
            </a:r>
            <a:r>
              <a:rPr lang="en-US" sz="3000" b="1" dirty="0">
                <a:solidFill>
                  <a:schemeClr val="bg2">
                    <a:lumMod val="10000"/>
                  </a:schemeClr>
                </a:solidFill>
                <a:latin typeface="Times New Roman" panose="02020603050405020304" pitchFamily="18" charset="0"/>
                <a:cs typeface="Times New Roman" panose="02020603050405020304" pitchFamily="18" charset="0"/>
              </a:rPr>
              <a:t> -12month </a:t>
            </a:r>
            <a:r>
              <a:rPr lang="en-US" sz="3000" dirty="0">
                <a:solidFill>
                  <a:schemeClr val="bg2">
                    <a:lumMod val="10000"/>
                  </a:schemeClr>
                </a:solidFill>
                <a:latin typeface="Times New Roman" panose="02020603050405020304" pitchFamily="18" charset="0"/>
                <a:cs typeface="Times New Roman" panose="02020603050405020304" pitchFamily="18" charset="0"/>
              </a:rPr>
              <a:t>–most patient receive reduced level of immunosuppression, susceptible to community acquired pneumonia due to Virus, Legionella</a:t>
            </a:r>
            <a:endParaRPr lang="en-TZ" sz="3000" dirty="0">
              <a:solidFill>
                <a:schemeClr val="bg2">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5198569"/>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1173"/>
          </a:xfrm>
        </p:spPr>
        <p:txBody>
          <a:bodyPr>
            <a:noAutofit/>
          </a:bodyPr>
          <a:lstStyle/>
          <a:p>
            <a:pPr algn="ctr"/>
            <a:r>
              <a:rPr lang="en-US" b="1" dirty="0">
                <a:solidFill>
                  <a:schemeClr val="bg2">
                    <a:lumMod val="10000"/>
                  </a:schemeClr>
                </a:solidFill>
                <a:latin typeface="Times New Roman" panose="02020603050405020304" pitchFamily="18" charset="0"/>
                <a:cs typeface="Times New Roman" panose="02020603050405020304" pitchFamily="18" charset="0"/>
              </a:rPr>
              <a:t>PROPHYLAXIS IN SOT</a:t>
            </a:r>
          </a:p>
        </p:txBody>
      </p:sp>
      <p:sp>
        <p:nvSpPr>
          <p:cNvPr id="3" name="Content Placeholder 2"/>
          <p:cNvSpPr>
            <a:spLocks noGrp="1"/>
          </p:cNvSpPr>
          <p:nvPr>
            <p:ph idx="1"/>
          </p:nvPr>
        </p:nvSpPr>
        <p:spPr>
          <a:xfrm>
            <a:off x="624348" y="946298"/>
            <a:ext cx="10835149" cy="3902149"/>
          </a:xfrm>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Pretransplant, peritransplant and post transplant</a:t>
            </a:r>
          </a:p>
          <a:p>
            <a:r>
              <a:rPr lang="en-US" b="1" dirty="0">
                <a:solidFill>
                  <a:schemeClr val="bg2">
                    <a:lumMod val="10000"/>
                  </a:schemeClr>
                </a:solidFill>
                <a:latin typeface="Times New Roman" panose="02020603050405020304" pitchFamily="18" charset="0"/>
                <a:cs typeface="Times New Roman" panose="02020603050405020304" pitchFamily="18" charset="0"/>
              </a:rPr>
              <a:t>Pretransplant prophylaxis: </a:t>
            </a:r>
          </a:p>
          <a:p>
            <a:pPr lvl="1">
              <a:buFont typeface="Wingdings" panose="05000000000000000000" pitchFamily="2" charset="2"/>
              <a:buChar char="§"/>
            </a:pPr>
            <a:r>
              <a:rPr lang="en-US" dirty="0">
                <a:solidFill>
                  <a:schemeClr val="bg2">
                    <a:lumMod val="10000"/>
                  </a:schemeClr>
                </a:solidFill>
                <a:latin typeface="Times New Roman" panose="02020603050405020304" pitchFamily="18" charset="0"/>
                <a:cs typeface="Times New Roman" panose="02020603050405020304" pitchFamily="18" charset="0"/>
              </a:rPr>
              <a:t>thorough medical history, previous infection and immunization records.</a:t>
            </a:r>
          </a:p>
          <a:p>
            <a:r>
              <a:rPr lang="en-US" b="1" dirty="0">
                <a:solidFill>
                  <a:schemeClr val="bg2">
                    <a:lumMod val="10000"/>
                  </a:schemeClr>
                </a:solidFill>
                <a:latin typeface="Times New Roman" panose="02020603050405020304" pitchFamily="18" charset="0"/>
                <a:cs typeface="Times New Roman" panose="02020603050405020304" pitchFamily="18" charset="0"/>
              </a:rPr>
              <a:t>Peritransplant: </a:t>
            </a:r>
            <a:r>
              <a:rPr lang="en-US" dirty="0">
                <a:solidFill>
                  <a:schemeClr val="bg2">
                    <a:lumMod val="10000"/>
                  </a:schemeClr>
                </a:solidFill>
                <a:latin typeface="Times New Roman" panose="02020603050405020304" pitchFamily="18" charset="0"/>
                <a:cs typeface="Times New Roman" panose="02020603050405020304" pitchFamily="18" charset="0"/>
              </a:rPr>
              <a:t>- pancreatic transplant( increased risk of candida </a:t>
            </a:r>
            <a:r>
              <a:rPr lang="en-US" dirty="0" err="1">
                <a:solidFill>
                  <a:schemeClr val="bg2">
                    <a:lumMod val="10000"/>
                  </a:schemeClr>
                </a:solidFill>
                <a:latin typeface="Times New Roman" panose="02020603050405020304" pitchFamily="18" charset="0"/>
                <a:cs typeface="Times New Roman" panose="02020603050405020304" pitchFamily="18" charset="0"/>
              </a:rPr>
              <a:t>spp</a:t>
            </a:r>
            <a:r>
              <a:rPr lang="en-US" dirty="0">
                <a:solidFill>
                  <a:schemeClr val="bg2">
                    <a:lumMod val="10000"/>
                  </a:schemeClr>
                </a:solidFill>
                <a:latin typeface="Times New Roman" panose="02020603050405020304" pitchFamily="18" charset="0"/>
                <a:cs typeface="Times New Roman" panose="02020603050405020304" pitchFamily="18" charset="0"/>
              </a:rPr>
              <a:t>) fluconazole prophylaxis  recommended, through wound care –SSI</a:t>
            </a:r>
          </a:p>
          <a:p>
            <a:r>
              <a:rPr lang="en-US" b="1" dirty="0">
                <a:solidFill>
                  <a:schemeClr val="bg2">
                    <a:lumMod val="10000"/>
                  </a:schemeClr>
                </a:solidFill>
                <a:latin typeface="Times New Roman" panose="02020603050405020304" pitchFamily="18" charset="0"/>
                <a:cs typeface="Times New Roman" panose="02020603050405020304" pitchFamily="18" charset="0"/>
              </a:rPr>
              <a:t>Post transplant </a:t>
            </a:r>
            <a:r>
              <a:rPr lang="en-US" dirty="0">
                <a:solidFill>
                  <a:schemeClr val="bg2">
                    <a:lumMod val="10000"/>
                  </a:schemeClr>
                </a:solidFill>
                <a:latin typeface="Times New Roman" panose="02020603050405020304" pitchFamily="18" charset="0"/>
                <a:cs typeface="Times New Roman" panose="02020603050405020304" pitchFamily="18" charset="0"/>
              </a:rPr>
              <a:t>(increased risk of nosocomial and OI): PJP prophylaxis TMP-SMX first line, CMV – Valganciclovil   </a:t>
            </a:r>
          </a:p>
        </p:txBody>
      </p:sp>
    </p:spTree>
    <p:extLst>
      <p:ext uri="{BB962C8B-B14F-4D97-AF65-F5344CB8AC3E}">
        <p14:creationId xmlns:p14="http://schemas.microsoft.com/office/powerpoint/2010/main" val="1291660704"/>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442B-AC3F-57F1-642B-5AC2B72A55DB}"/>
              </a:ext>
            </a:extLst>
          </p:cNvPr>
          <p:cNvSpPr>
            <a:spLocks noGrp="1"/>
          </p:cNvSpPr>
          <p:nvPr>
            <p:ph type="title"/>
          </p:nvPr>
        </p:nvSpPr>
        <p:spPr>
          <a:xfrm>
            <a:off x="838200" y="368710"/>
            <a:ext cx="10515600" cy="1321978"/>
          </a:xfrm>
        </p:spPr>
        <p:txBody>
          <a:bodyPr>
            <a:normAutofit/>
          </a:bodyPr>
          <a:lstStyle/>
          <a:p>
            <a:pPr algn="ctr"/>
            <a:r>
              <a:rPr lang="en-US" sz="3600" b="1" dirty="0">
                <a:solidFill>
                  <a:schemeClr val="bg2">
                    <a:lumMod val="10000"/>
                  </a:schemeClr>
                </a:solidFill>
                <a:latin typeface="Times New Roman" panose="02020603050405020304" pitchFamily="18" charset="0"/>
                <a:cs typeface="Times New Roman" panose="02020603050405020304" pitchFamily="18" charset="0"/>
              </a:rPr>
              <a:t>INFECTIONS IN CANCER PATIENTS  ON CHEMOTHERAPY </a:t>
            </a:r>
            <a:endParaRPr lang="en-TZ" sz="3600"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7E24BA3-D0C2-ED52-E31F-FBD93DC04F7F}"/>
              </a:ext>
            </a:extLst>
          </p:cNvPr>
          <p:cNvSpPr>
            <a:spLocks noGrp="1"/>
          </p:cNvSpPr>
          <p:nvPr>
            <p:ph idx="1"/>
          </p:nvPr>
        </p:nvSpPr>
        <p:spPr>
          <a:xfrm>
            <a:off x="501444" y="1563329"/>
            <a:ext cx="11297265" cy="4925961"/>
          </a:xfrm>
        </p:spPr>
        <p:txBody>
          <a:bodyPr>
            <a:normAutofit/>
          </a:bodyPr>
          <a:lstStyle/>
          <a:p>
            <a:r>
              <a:rPr lang="en-US" sz="3000" dirty="0">
                <a:solidFill>
                  <a:srgbClr val="232323"/>
                </a:solidFill>
                <a:latin typeface="Times New Roman" panose="02020603050405020304" pitchFamily="18" charset="0"/>
                <a:cs typeface="Times New Roman" panose="02020603050405020304" pitchFamily="18" charset="0"/>
              </a:rPr>
              <a:t>Cancer patients are at an increased risk of developing infections that are primarily treatment driven but may also be malignancy driven </a:t>
            </a:r>
          </a:p>
          <a:p>
            <a:r>
              <a:rPr lang="en-US" dirty="0">
                <a:solidFill>
                  <a:srgbClr val="232323"/>
                </a:solidFill>
                <a:latin typeface="Times New Roman" panose="02020603050405020304" pitchFamily="18" charset="0"/>
                <a:cs typeface="Times New Roman" panose="02020603050405020304" pitchFamily="18" charset="0"/>
              </a:rPr>
              <a:t>S</a:t>
            </a:r>
            <a:r>
              <a:rPr lang="en-US" b="0" i="0" dirty="0">
                <a:solidFill>
                  <a:srgbClr val="232323"/>
                </a:solidFill>
                <a:effectLst/>
                <a:latin typeface="Times New Roman" panose="02020603050405020304" pitchFamily="18" charset="0"/>
                <a:cs typeface="Times New Roman" panose="02020603050405020304" pitchFamily="18" charset="0"/>
              </a:rPr>
              <a:t>ystemic cytotoxic therapy  affect</a:t>
            </a:r>
          </a:p>
          <a:p>
            <a:pPr lvl="1">
              <a:buFont typeface="Wingdings" panose="05000000000000000000" pitchFamily="2" charset="2"/>
              <a:buChar char="§"/>
            </a:pPr>
            <a:r>
              <a:rPr lang="en-US" sz="2800" b="0" i="0" dirty="0">
                <a:solidFill>
                  <a:srgbClr val="232323"/>
                </a:solidFill>
                <a:effectLst/>
                <a:latin typeface="Times New Roman" panose="02020603050405020304" pitchFamily="18" charset="0"/>
                <a:cs typeface="Times New Roman" panose="02020603050405020304" pitchFamily="18" charset="0"/>
              </a:rPr>
              <a:t> </a:t>
            </a:r>
            <a:r>
              <a:rPr lang="en-US" sz="2800" b="1" i="0" dirty="0">
                <a:solidFill>
                  <a:srgbClr val="232323"/>
                </a:solidFill>
                <a:effectLst/>
                <a:latin typeface="Times New Roman" panose="02020603050405020304" pitchFamily="18" charset="0"/>
                <a:cs typeface="Times New Roman" panose="02020603050405020304" pitchFamily="18" charset="0"/>
              </a:rPr>
              <a:t>Myelopoiesis </a:t>
            </a:r>
            <a:r>
              <a:rPr lang="en-US" sz="2800" b="0" i="0" dirty="0">
                <a:solidFill>
                  <a:srgbClr val="232323"/>
                </a:solidFill>
                <a:effectLst/>
                <a:latin typeface="Times New Roman" panose="02020603050405020304" pitchFamily="18" charset="0"/>
                <a:cs typeface="Times New Roman" panose="02020603050405020304" pitchFamily="18" charset="0"/>
              </a:rPr>
              <a:t>-Neutropenia</a:t>
            </a:r>
          </a:p>
          <a:p>
            <a:pPr lvl="1">
              <a:buFont typeface="Wingdings" panose="05000000000000000000" pitchFamily="2" charset="2"/>
              <a:buChar char="§"/>
            </a:pPr>
            <a:r>
              <a:rPr lang="en-US" sz="2800" b="0" i="0" dirty="0">
                <a:solidFill>
                  <a:srgbClr val="232323"/>
                </a:solidFill>
                <a:effectLst/>
                <a:latin typeface="Times New Roman" panose="02020603050405020304" pitchFamily="18" charset="0"/>
                <a:cs typeface="Times New Roman" panose="02020603050405020304" pitchFamily="18" charset="0"/>
              </a:rPr>
              <a:t> </a:t>
            </a:r>
            <a:r>
              <a:rPr lang="en-US" sz="2800" b="1" dirty="0">
                <a:solidFill>
                  <a:srgbClr val="232323"/>
                </a:solidFill>
                <a:latin typeface="Times New Roman" panose="02020603050405020304" pitchFamily="18" charset="0"/>
                <a:cs typeface="Times New Roman" panose="02020603050405020304" pitchFamily="18" charset="0"/>
              </a:rPr>
              <a:t>I</a:t>
            </a:r>
            <a:r>
              <a:rPr lang="en-US" sz="2800" b="1" i="0" dirty="0">
                <a:solidFill>
                  <a:srgbClr val="232323"/>
                </a:solidFill>
                <a:effectLst/>
                <a:latin typeface="Times New Roman" panose="02020603050405020304" pitchFamily="18" charset="0"/>
                <a:cs typeface="Times New Roman" panose="02020603050405020304" pitchFamily="18" charset="0"/>
              </a:rPr>
              <a:t>ntegrity of GI mucosa </a:t>
            </a:r>
            <a:r>
              <a:rPr lang="en-US" sz="2800" dirty="0">
                <a:solidFill>
                  <a:srgbClr val="232323"/>
                </a:solidFill>
                <a:latin typeface="Times New Roman" panose="02020603050405020304" pitchFamily="18" charset="0"/>
                <a:cs typeface="Times New Roman" panose="02020603050405020304" pitchFamily="18" charset="0"/>
              </a:rPr>
              <a:t>- </a:t>
            </a:r>
            <a:r>
              <a:rPr lang="en-US" sz="2800" b="0" i="0" dirty="0">
                <a:solidFill>
                  <a:srgbClr val="232323"/>
                </a:solidFill>
                <a:effectLst/>
                <a:latin typeface="Times New Roman" panose="02020603050405020304" pitchFamily="18" charset="0"/>
                <a:cs typeface="Times New Roman" panose="02020603050405020304" pitchFamily="18" charset="0"/>
              </a:rPr>
              <a:t>risk for invasion by normal flora that translocate across intestinal mucosal surfaces </a:t>
            </a:r>
          </a:p>
          <a:p>
            <a:r>
              <a:rPr lang="en-US" sz="3000" dirty="0">
                <a:solidFill>
                  <a:srgbClr val="232323"/>
                </a:solidFill>
                <a:latin typeface="Times New Roman" panose="02020603050405020304" pitchFamily="18" charset="0"/>
                <a:cs typeface="Times New Roman" panose="02020603050405020304" pitchFamily="18" charset="0"/>
              </a:rPr>
              <a:t>F</a:t>
            </a:r>
            <a:r>
              <a:rPr lang="en-US" sz="3000" b="0" i="0" dirty="0">
                <a:solidFill>
                  <a:srgbClr val="232323"/>
                </a:solidFill>
                <a:effectLst/>
                <a:latin typeface="Times New Roman" panose="02020603050405020304" pitchFamily="18" charset="0"/>
                <a:cs typeface="Times New Roman" panose="02020603050405020304" pitchFamily="18" charset="0"/>
              </a:rPr>
              <a:t>ever may be  earliest and only sign of infection</a:t>
            </a:r>
          </a:p>
          <a:p>
            <a:r>
              <a:rPr lang="en-US" sz="3000" b="0" i="0" dirty="0">
                <a:solidFill>
                  <a:srgbClr val="232323"/>
                </a:solidFill>
                <a:effectLst/>
                <a:latin typeface="Times New Roman" panose="02020603050405020304" pitchFamily="18" charset="0"/>
                <a:cs typeface="Times New Roman" panose="02020603050405020304" pitchFamily="18" charset="0"/>
              </a:rPr>
              <a:t>It is critical to recognize neutropenic fever early and  initiate empiric systemic antibacterial therapy promptly</a:t>
            </a:r>
            <a:endParaRPr lang="en-TZ"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0547269"/>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4F7E8-8428-3289-C8DE-5711C6B9861E}"/>
              </a:ext>
            </a:extLst>
          </p:cNvPr>
          <p:cNvSpPr>
            <a:spLocks noGrp="1"/>
          </p:cNvSpPr>
          <p:nvPr>
            <p:ph type="title"/>
          </p:nvPr>
        </p:nvSpPr>
        <p:spPr>
          <a:xfrm>
            <a:off x="838200" y="365125"/>
            <a:ext cx="10515600" cy="785249"/>
          </a:xfrm>
        </p:spPr>
        <p:txBody>
          <a:bodyPr>
            <a:noAutofit/>
          </a:bodyPr>
          <a:lstStyle/>
          <a:p>
            <a:r>
              <a:rPr lang="en-US" sz="2900" b="1" dirty="0">
                <a:solidFill>
                  <a:schemeClr val="bg2">
                    <a:lumMod val="10000"/>
                  </a:schemeClr>
                </a:solidFill>
                <a:latin typeface="Times New Roman" panose="02020603050405020304" pitchFamily="18" charset="0"/>
                <a:cs typeface="Times New Roman" panose="02020603050405020304" pitchFamily="18" charset="0"/>
              </a:rPr>
              <a:t>INFECTIONS IN HEMATOLOGIC MALIGNANCIES cont..</a:t>
            </a:r>
            <a:endParaRPr lang="en-TZ" sz="2900"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B2B2A50-4DAF-8766-A77A-23E7E27F006A}"/>
              </a:ext>
            </a:extLst>
          </p:cNvPr>
          <p:cNvSpPr>
            <a:spLocks noGrp="1"/>
          </p:cNvSpPr>
          <p:nvPr>
            <p:ph idx="1"/>
          </p:nvPr>
        </p:nvSpPr>
        <p:spPr>
          <a:xfrm>
            <a:off x="491613" y="1150374"/>
            <a:ext cx="11208774" cy="5176684"/>
          </a:xfrm>
        </p:spPr>
        <p:txBody>
          <a:bodyPr>
            <a:normAutofit lnSpcReduction="10000"/>
          </a:bodyPr>
          <a:lstStyle/>
          <a:p>
            <a:pPr marL="0" indent="0">
              <a:buNone/>
            </a:pPr>
            <a:r>
              <a:rPr lang="en-US" b="1" dirty="0">
                <a:solidFill>
                  <a:schemeClr val="bg2">
                    <a:lumMod val="10000"/>
                  </a:schemeClr>
                </a:solidFill>
                <a:latin typeface="Times New Roman" panose="02020603050405020304" pitchFamily="18" charset="0"/>
                <a:cs typeface="Times New Roman" panose="02020603050405020304" pitchFamily="18" charset="0"/>
              </a:rPr>
              <a:t>Multiple myeloma</a:t>
            </a:r>
          </a:p>
          <a:p>
            <a:pPr algn="l"/>
            <a:r>
              <a:rPr lang="en-US" dirty="0">
                <a:solidFill>
                  <a:schemeClr val="bg2">
                    <a:lumMod val="10000"/>
                  </a:schemeClr>
                </a:solidFill>
                <a:latin typeface="Times New Roman" panose="02020603050405020304" pitchFamily="18" charset="0"/>
                <a:cs typeface="Times New Roman" panose="02020603050405020304" pitchFamily="18" charset="0"/>
              </a:rPr>
              <a:t>M</a:t>
            </a:r>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alignant B-cell clone can displace other B cells,  leading to humoral immune deficiency</a:t>
            </a:r>
          </a:p>
          <a:p>
            <a:pPr algn="l"/>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Myeloma cells secrete TGFβ</a:t>
            </a:r>
            <a:r>
              <a:rPr lang="en-US" dirty="0">
                <a:solidFill>
                  <a:schemeClr val="bg2">
                    <a:lumMod val="10000"/>
                  </a:schemeClr>
                </a:solidFill>
                <a:latin typeface="Times New Roman" panose="02020603050405020304" pitchFamily="18" charset="0"/>
                <a:cs typeface="Times New Roman" panose="02020603050405020304" pitchFamily="18" charset="0"/>
              </a:rPr>
              <a:t> and VEGF </a:t>
            </a:r>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 which suppresses the inflammatory responses and decreasing antigen presentation for adaptive immunity</a:t>
            </a:r>
            <a:r>
              <a:rPr lang="en-US" sz="1800" b="0" i="0" u="none" strike="noStrike" baseline="0" dirty="0">
                <a:solidFill>
                  <a:schemeClr val="bg2">
                    <a:lumMod val="10000"/>
                  </a:schemeClr>
                </a:solidFill>
                <a:latin typeface="Times New Roman" panose="02020603050405020304" pitchFamily="18" charset="0"/>
                <a:cs typeface="Times New Roman" panose="02020603050405020304" pitchFamily="18" charset="0"/>
              </a:rPr>
              <a:t>.</a:t>
            </a:r>
            <a:endPar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endParaRPr>
          </a:p>
          <a:p>
            <a:pPr algn="l"/>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Patient with MM have an increased risk for encapsulated bacteria </a:t>
            </a:r>
            <a:r>
              <a:rPr lang="en-US" dirty="0">
                <a:solidFill>
                  <a:schemeClr val="bg2">
                    <a:lumMod val="10000"/>
                  </a:schemeClr>
                </a:solidFill>
                <a:latin typeface="Times New Roman" panose="02020603050405020304" pitchFamily="18" charset="0"/>
                <a:cs typeface="Times New Roman" panose="02020603050405020304" pitchFamily="18" charset="0"/>
              </a:rPr>
              <a:t>in</a:t>
            </a:r>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fections such as pneumococci</a:t>
            </a:r>
          </a:p>
          <a:p>
            <a:pPr algn="l"/>
            <a:r>
              <a:rPr lang="en-US" dirty="0">
                <a:solidFill>
                  <a:schemeClr val="bg2">
                    <a:lumMod val="10000"/>
                  </a:schemeClr>
                </a:solidFill>
                <a:latin typeface="Times New Roman" panose="02020603050405020304" pitchFamily="18" charset="0"/>
                <a:cs typeface="Times New Roman" panose="02020603050405020304" pitchFamily="18" charset="0"/>
              </a:rPr>
              <a:t>W</a:t>
            </a:r>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idespread immunologic dysfunction is likely be the result of chemotherapy</a:t>
            </a:r>
          </a:p>
        </p:txBody>
      </p:sp>
    </p:spTree>
    <p:extLst>
      <p:ext uri="{BB962C8B-B14F-4D97-AF65-F5344CB8AC3E}">
        <p14:creationId xmlns:p14="http://schemas.microsoft.com/office/powerpoint/2010/main" val="3365104213"/>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ACE54-20A6-FCBF-AA07-4F52BEAC9201}"/>
              </a:ext>
            </a:extLst>
          </p:cNvPr>
          <p:cNvSpPr>
            <a:spLocks noGrp="1"/>
          </p:cNvSpPr>
          <p:nvPr>
            <p:ph type="title"/>
          </p:nvPr>
        </p:nvSpPr>
        <p:spPr/>
        <p:txBody>
          <a:bodyPr>
            <a:normAutofit fontScale="90000"/>
          </a:bodyPr>
          <a:lstStyle/>
          <a:p>
            <a:r>
              <a:rPr lang="en-US" sz="3200" b="1" i="0" u="none" strike="noStrike" baseline="0" dirty="0">
                <a:latin typeface="Times New Roman" panose="02020603050405020304" pitchFamily="18" charset="0"/>
                <a:cs typeface="Times New Roman" panose="02020603050405020304" pitchFamily="18" charset="0"/>
              </a:rPr>
              <a:t>	</a:t>
            </a:r>
            <a:r>
              <a:rPr lang="en-US" b="1" dirty="0">
                <a:solidFill>
                  <a:schemeClr val="bg2">
                    <a:lumMod val="10000"/>
                  </a:schemeClr>
                </a:solidFill>
                <a:latin typeface="Times New Roman" panose="02020603050405020304" pitchFamily="18" charset="0"/>
                <a:cs typeface="Times New Roman" panose="02020603050405020304" pitchFamily="18" charset="0"/>
              </a:rPr>
              <a:t>INFECTIONS IN S</a:t>
            </a:r>
            <a:r>
              <a:rPr lang="en-US" b="1" i="0" u="none" strike="noStrike" baseline="0" dirty="0">
                <a:solidFill>
                  <a:schemeClr val="bg2">
                    <a:lumMod val="10000"/>
                  </a:schemeClr>
                </a:solidFill>
                <a:latin typeface="Times New Roman" panose="02020603050405020304" pitchFamily="18" charset="0"/>
                <a:cs typeface="Times New Roman" panose="02020603050405020304" pitchFamily="18" charset="0"/>
              </a:rPr>
              <a:t>YSTEMIC LUPUS ERYTHEMATOSUS (SLE)</a:t>
            </a:r>
            <a:endParaRPr lang="en-TZ"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7FA4FFD-ECAC-C654-1477-55EB255A172D}"/>
              </a:ext>
            </a:extLst>
          </p:cNvPr>
          <p:cNvSpPr>
            <a:spLocks noGrp="1"/>
          </p:cNvSpPr>
          <p:nvPr>
            <p:ph idx="1"/>
          </p:nvPr>
        </p:nvSpPr>
        <p:spPr>
          <a:xfrm>
            <a:off x="545689" y="1430594"/>
            <a:ext cx="11017045" cy="4970206"/>
          </a:xfrm>
        </p:spPr>
        <p:txBody>
          <a:bodyPr/>
          <a:lstStyle/>
          <a:p>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The reported immune dysfunctions in SLE includes</a:t>
            </a:r>
          </a:p>
          <a:p>
            <a:pPr lvl="1">
              <a:buFont typeface="Wingdings" panose="05000000000000000000" pitchFamily="2" charset="2"/>
              <a:buChar char="q"/>
            </a:pPr>
            <a:r>
              <a:rPr lang="en-US" sz="3200" dirty="0">
                <a:solidFill>
                  <a:schemeClr val="bg2">
                    <a:lumMod val="10000"/>
                  </a:schemeClr>
                </a:solidFill>
                <a:latin typeface="Times New Roman" panose="02020603050405020304" pitchFamily="18" charset="0"/>
                <a:cs typeface="Times New Roman" panose="02020603050405020304" pitchFamily="18" charset="0"/>
              </a:rPr>
              <a:t> I</a:t>
            </a:r>
            <a:r>
              <a:rPr lang="en-US" sz="3200" b="0" i="0" u="none" strike="noStrike" baseline="0" dirty="0">
                <a:solidFill>
                  <a:schemeClr val="bg2">
                    <a:lumMod val="10000"/>
                  </a:schemeClr>
                </a:solidFill>
                <a:latin typeface="Times New Roman" panose="02020603050405020304" pitchFamily="18" charset="0"/>
                <a:cs typeface="Times New Roman" panose="02020603050405020304" pitchFamily="18" charset="0"/>
              </a:rPr>
              <a:t>nherited complement deficiencies</a:t>
            </a:r>
          </a:p>
          <a:p>
            <a:pPr lvl="1">
              <a:buFont typeface="Wingdings" panose="05000000000000000000" pitchFamily="2" charset="2"/>
              <a:buChar char="q"/>
            </a:pPr>
            <a:r>
              <a:rPr lang="en-US" sz="3200" b="0" i="0" u="none" strike="noStrike" baseline="0" dirty="0">
                <a:solidFill>
                  <a:schemeClr val="bg2">
                    <a:lumMod val="10000"/>
                  </a:schemeClr>
                </a:solidFill>
                <a:latin typeface="Times New Roman" panose="02020603050405020304" pitchFamily="18" charset="0"/>
                <a:cs typeface="Times New Roman" panose="02020603050405020304" pitchFamily="18" charset="0"/>
              </a:rPr>
              <a:t>Abnormalities</a:t>
            </a:r>
            <a:r>
              <a:rPr lang="en-US" sz="3200" dirty="0">
                <a:solidFill>
                  <a:schemeClr val="bg2">
                    <a:lumMod val="10000"/>
                  </a:schemeClr>
                </a:solidFill>
                <a:latin typeface="Times New Roman" panose="02020603050405020304" pitchFamily="18" charset="0"/>
                <a:cs typeface="Times New Roman" panose="02020603050405020304" pitchFamily="18" charset="0"/>
              </a:rPr>
              <a:t> </a:t>
            </a:r>
            <a:r>
              <a:rPr lang="en-US" sz="3200" b="0" i="0" u="none" strike="noStrike" baseline="0" dirty="0">
                <a:solidFill>
                  <a:schemeClr val="bg2">
                    <a:lumMod val="10000"/>
                  </a:schemeClr>
                </a:solidFill>
                <a:latin typeface="Times New Roman" panose="02020603050405020304" pitchFamily="18" charset="0"/>
                <a:cs typeface="Times New Roman" panose="02020603050405020304" pitchFamily="18" charset="0"/>
              </a:rPr>
              <a:t>of chemotaxis and phagocytosis</a:t>
            </a:r>
          </a:p>
          <a:p>
            <a:pPr lvl="1">
              <a:buFont typeface="Wingdings" panose="05000000000000000000" pitchFamily="2" charset="2"/>
              <a:buChar char="q"/>
            </a:pPr>
            <a:r>
              <a:rPr lang="en-US" sz="3200" dirty="0">
                <a:solidFill>
                  <a:schemeClr val="bg2">
                    <a:lumMod val="10000"/>
                  </a:schemeClr>
                </a:solidFill>
                <a:latin typeface="Times New Roman" panose="02020603050405020304" pitchFamily="18" charset="0"/>
                <a:cs typeface="Times New Roman" panose="02020603050405020304" pitchFamily="18" charset="0"/>
              </a:rPr>
              <a:t>D</a:t>
            </a:r>
            <a:r>
              <a:rPr lang="en-US" sz="3200" b="0" i="0" u="none" strike="noStrike" baseline="0" dirty="0">
                <a:solidFill>
                  <a:schemeClr val="bg2">
                    <a:lumMod val="10000"/>
                  </a:schemeClr>
                </a:solidFill>
                <a:latin typeface="Times New Roman" panose="02020603050405020304" pitchFamily="18" charset="0"/>
                <a:cs typeface="Times New Roman" panose="02020603050405020304" pitchFamily="18" charset="0"/>
              </a:rPr>
              <a:t>efects</a:t>
            </a:r>
            <a:r>
              <a:rPr lang="en-US" sz="3200" dirty="0">
                <a:solidFill>
                  <a:schemeClr val="bg2">
                    <a:lumMod val="10000"/>
                  </a:schemeClr>
                </a:solidFill>
                <a:latin typeface="Times New Roman" panose="02020603050405020304" pitchFamily="18" charset="0"/>
                <a:cs typeface="Times New Roman" panose="02020603050405020304" pitchFamily="18" charset="0"/>
              </a:rPr>
              <a:t> </a:t>
            </a:r>
            <a:r>
              <a:rPr lang="en-US" sz="3200" b="0" i="0" u="none" strike="noStrike" baseline="0" dirty="0">
                <a:solidFill>
                  <a:schemeClr val="bg2">
                    <a:lumMod val="10000"/>
                  </a:schemeClr>
                </a:solidFill>
                <a:latin typeface="Times New Roman" panose="02020603050405020304" pitchFamily="18" charset="0"/>
                <a:cs typeface="Times New Roman" panose="02020603050405020304" pitchFamily="18" charset="0"/>
              </a:rPr>
              <a:t>resulting from immunosuppressive therapy</a:t>
            </a:r>
          </a:p>
          <a:p>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These immune abnormalities are more pronounced during periods of increased disease activity</a:t>
            </a:r>
          </a:p>
          <a:p>
            <a:pPr algn="l">
              <a:buFont typeface="Wingdings" panose="05000000000000000000" pitchFamily="2" charset="2"/>
              <a:buChar char="q"/>
            </a:pPr>
            <a:endParaRPr lang="en-US" sz="1800" b="0" i="0" u="none" strike="noStrike" baseline="0" dirty="0">
              <a:latin typeface="AdvTTbc475f09"/>
            </a:endParaRPr>
          </a:p>
        </p:txBody>
      </p:sp>
    </p:spTree>
    <p:extLst>
      <p:ext uri="{BB962C8B-B14F-4D97-AF65-F5344CB8AC3E}">
        <p14:creationId xmlns:p14="http://schemas.microsoft.com/office/powerpoint/2010/main" val="4153753286"/>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2AEA7-F494-24B8-A17E-9C8A3C51A3F3}"/>
              </a:ext>
            </a:extLst>
          </p:cNvPr>
          <p:cNvSpPr>
            <a:spLocks noGrp="1"/>
          </p:cNvSpPr>
          <p:nvPr>
            <p:ph type="title"/>
          </p:nvPr>
        </p:nvSpPr>
        <p:spPr>
          <a:xfrm>
            <a:off x="899651" y="365126"/>
            <a:ext cx="10456607" cy="1050720"/>
          </a:xfrm>
        </p:spPr>
        <p:txBody>
          <a:bodyPr>
            <a:normAutofit/>
          </a:bodyPr>
          <a:lstStyle/>
          <a:p>
            <a:pPr algn="ctr"/>
            <a:r>
              <a:rPr lang="en-US" sz="4000" b="1" dirty="0">
                <a:solidFill>
                  <a:schemeClr val="bg2">
                    <a:lumMod val="10000"/>
                  </a:schemeClr>
                </a:solidFill>
                <a:latin typeface="Times New Roman" panose="02020603050405020304" pitchFamily="18" charset="0"/>
                <a:cs typeface="Times New Roman" panose="02020603050405020304" pitchFamily="18" charset="0"/>
              </a:rPr>
              <a:t>INFECTIONS IN SLE </a:t>
            </a:r>
            <a:r>
              <a:rPr lang="en-US" sz="4000" b="1" dirty="0" err="1">
                <a:solidFill>
                  <a:schemeClr val="bg2">
                    <a:lumMod val="10000"/>
                  </a:schemeClr>
                </a:solidFill>
                <a:latin typeface="Times New Roman" panose="02020603050405020304" pitchFamily="18" charset="0"/>
                <a:cs typeface="Times New Roman" panose="02020603050405020304" pitchFamily="18" charset="0"/>
              </a:rPr>
              <a:t>cont</a:t>
            </a:r>
            <a:r>
              <a:rPr lang="en-US" sz="4000" b="1" dirty="0">
                <a:solidFill>
                  <a:schemeClr val="bg2">
                    <a:lumMod val="10000"/>
                  </a:schemeClr>
                </a:solidFill>
                <a:latin typeface="Times New Roman" panose="02020603050405020304" pitchFamily="18" charset="0"/>
                <a:cs typeface="Times New Roman" panose="02020603050405020304" pitchFamily="18" charset="0"/>
              </a:rPr>
              <a:t>…</a:t>
            </a:r>
            <a:endParaRPr lang="en-TZ" sz="4000" dirty="0">
              <a:solidFill>
                <a:schemeClr val="bg2">
                  <a:lumMod val="10000"/>
                </a:schemeClr>
              </a:solidFill>
            </a:endParaRPr>
          </a:p>
        </p:txBody>
      </p:sp>
      <p:sp>
        <p:nvSpPr>
          <p:cNvPr id="3" name="Content Placeholder 2">
            <a:extLst>
              <a:ext uri="{FF2B5EF4-FFF2-40B4-BE49-F238E27FC236}">
                <a16:creationId xmlns:a16="http://schemas.microsoft.com/office/drawing/2014/main" id="{BF570568-0D7D-EAEA-D2A3-85DB21FBF4FF}"/>
              </a:ext>
            </a:extLst>
          </p:cNvPr>
          <p:cNvSpPr>
            <a:spLocks noGrp="1"/>
          </p:cNvSpPr>
          <p:nvPr>
            <p:ph idx="1"/>
          </p:nvPr>
        </p:nvSpPr>
        <p:spPr>
          <a:xfrm>
            <a:off x="575187" y="1312607"/>
            <a:ext cx="10781071" cy="5132438"/>
          </a:xfrm>
        </p:spPr>
        <p:txBody>
          <a:bodyPr>
            <a:normAutofit/>
          </a:bodyPr>
          <a:lstStyle/>
          <a:p>
            <a:pPr algn="l"/>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Common bacteria, Gram</a:t>
            </a:r>
            <a:r>
              <a:rPr lang="en-US" b="0" i="0" u="none" strike="noStrike" dirty="0">
                <a:solidFill>
                  <a:schemeClr val="bg2">
                    <a:lumMod val="10000"/>
                  </a:schemeClr>
                </a:solidFill>
                <a:latin typeface="Times New Roman" panose="02020603050405020304" pitchFamily="18" charset="0"/>
                <a:cs typeface="Times New Roman" panose="02020603050405020304" pitchFamily="18" charset="0"/>
              </a:rPr>
              <a:t> positive </a:t>
            </a:r>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 and Gram</a:t>
            </a:r>
            <a:r>
              <a:rPr lang="en-US" b="0" i="0" u="none" strike="noStrike" dirty="0">
                <a:solidFill>
                  <a:schemeClr val="bg2">
                    <a:lumMod val="10000"/>
                  </a:schemeClr>
                </a:solidFill>
                <a:latin typeface="Times New Roman" panose="02020603050405020304" pitchFamily="18" charset="0"/>
                <a:cs typeface="Times New Roman" panose="02020603050405020304" pitchFamily="18" charset="0"/>
              </a:rPr>
              <a:t> negative </a:t>
            </a:r>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 </a:t>
            </a:r>
          </a:p>
          <a:p>
            <a:pPr algn="l"/>
            <a:r>
              <a:rPr lang="en-US" dirty="0">
                <a:solidFill>
                  <a:schemeClr val="bg2">
                    <a:lumMod val="10000"/>
                  </a:schemeClr>
                </a:solidFill>
                <a:latin typeface="Times New Roman" panose="02020603050405020304" pitchFamily="18" charset="0"/>
                <a:cs typeface="Times New Roman" panose="02020603050405020304" pitchFamily="18" charset="0"/>
              </a:rPr>
              <a:t>S</a:t>
            </a:r>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evere manifestations of infection during disease flare</a:t>
            </a:r>
          </a:p>
          <a:p>
            <a:pPr algn="l"/>
            <a:r>
              <a:rPr lang="en-US" dirty="0">
                <a:solidFill>
                  <a:schemeClr val="bg2">
                    <a:lumMod val="10000"/>
                  </a:schemeClr>
                </a:solidFill>
                <a:latin typeface="Times New Roman" panose="02020603050405020304" pitchFamily="18" charset="0"/>
                <a:cs typeface="Times New Roman" panose="02020603050405020304" pitchFamily="18" charset="0"/>
              </a:rPr>
              <a:t>E</a:t>
            </a:r>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ncapsulated bacteria (S. pneumoniae, N. meningitidis) can cause meningitis and sepsis. </a:t>
            </a:r>
            <a:endParaRPr lang="en-US" dirty="0">
              <a:solidFill>
                <a:schemeClr val="bg2">
                  <a:lumMod val="10000"/>
                </a:schemeClr>
              </a:solidFill>
              <a:latin typeface="Times New Roman" panose="02020603050405020304" pitchFamily="18" charset="0"/>
              <a:cs typeface="Times New Roman" panose="02020603050405020304" pitchFamily="18" charset="0"/>
            </a:endParaRPr>
          </a:p>
          <a:p>
            <a:pPr algn="l"/>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 </a:t>
            </a:r>
            <a:r>
              <a:rPr lang="en-US" b="1" i="0" u="none" strike="noStrike" baseline="0" dirty="0">
                <a:solidFill>
                  <a:schemeClr val="bg2">
                    <a:lumMod val="10000"/>
                  </a:schemeClr>
                </a:solidFill>
                <a:latin typeface="Times New Roman" panose="02020603050405020304" pitchFamily="18" charset="0"/>
                <a:cs typeface="Times New Roman" panose="02020603050405020304" pitchFamily="18" charset="0"/>
              </a:rPr>
              <a:t>OI </a:t>
            </a:r>
            <a:r>
              <a:rPr lang="en-US" b="0" i="0" u="none" strike="noStrike" baseline="0" dirty="0">
                <a:solidFill>
                  <a:schemeClr val="bg2">
                    <a:lumMod val="10000"/>
                  </a:schemeClr>
                </a:solidFill>
                <a:latin typeface="Times New Roman" panose="02020603050405020304" pitchFamily="18" charset="0"/>
                <a:cs typeface="Times New Roman" panose="02020603050405020304" pitchFamily="18" charset="0"/>
              </a:rPr>
              <a:t>occur in patients who are treated with high-dose corticosteroids and/or additional immunosuppressive  such as cyclophosphamide</a:t>
            </a:r>
            <a:endParaRPr lang="en-TZ" dirty="0">
              <a:solidFill>
                <a:schemeClr val="bg2">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1591979"/>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5AFD6-DF73-0396-AA03-EACACD06BFCD}"/>
              </a:ext>
            </a:extLst>
          </p:cNvPr>
          <p:cNvSpPr>
            <a:spLocks noGrp="1"/>
          </p:cNvSpPr>
          <p:nvPr>
            <p:ph type="title"/>
          </p:nvPr>
        </p:nvSpPr>
        <p:spPr/>
        <p:txBody>
          <a:bodyPr>
            <a:normAutofit/>
          </a:bodyPr>
          <a:lstStyle/>
          <a:p>
            <a:pPr algn="ctr"/>
            <a:r>
              <a:rPr lang="en-US" b="1" dirty="0">
                <a:solidFill>
                  <a:schemeClr val="bg2">
                    <a:lumMod val="10000"/>
                  </a:schemeClr>
                </a:solidFill>
                <a:latin typeface="Times New Roman" panose="02020603050405020304" pitchFamily="18" charset="0"/>
                <a:cs typeface="Times New Roman" panose="02020603050405020304" pitchFamily="18" charset="0"/>
              </a:rPr>
              <a:t>Neutropenic fever</a:t>
            </a:r>
            <a:endParaRPr lang="en-TZ"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524D71E-38D9-61CB-7071-9B139DCDD2DE}"/>
              </a:ext>
            </a:extLst>
          </p:cNvPr>
          <p:cNvSpPr>
            <a:spLocks noGrp="1"/>
          </p:cNvSpPr>
          <p:nvPr>
            <p:ph idx="1"/>
          </p:nvPr>
        </p:nvSpPr>
        <p:spPr>
          <a:xfrm>
            <a:off x="634181" y="1445342"/>
            <a:ext cx="10928554" cy="4852219"/>
          </a:xfrm>
        </p:spPr>
        <p:txBody>
          <a:bodyPr>
            <a:normAutofit/>
          </a:bodyPr>
          <a:lstStyle/>
          <a:p>
            <a:pPr marL="0" indent="0">
              <a:buNone/>
            </a:pPr>
            <a:r>
              <a:rPr lang="en-US" sz="3000" b="1" i="0" u="none" strike="noStrike" baseline="0" dirty="0">
                <a:solidFill>
                  <a:srgbClr val="000000"/>
                </a:solidFill>
                <a:latin typeface="Times New Roman" panose="02020603050405020304" pitchFamily="18" charset="0"/>
                <a:cs typeface="Times New Roman" panose="02020603050405020304" pitchFamily="18" charset="0"/>
              </a:rPr>
              <a:t>Definition </a:t>
            </a:r>
            <a:endParaRPr lang="en-US" sz="30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3000" dirty="0">
                <a:solidFill>
                  <a:srgbClr val="000000"/>
                </a:solidFill>
                <a:latin typeface="Times New Roman" panose="02020603050405020304" pitchFamily="18" charset="0"/>
                <a:cs typeface="Times New Roman" panose="02020603050405020304" pitchFamily="18" charset="0"/>
              </a:rPr>
              <a:t>F</a:t>
            </a:r>
            <a:r>
              <a:rPr lang="en-US" sz="3000" b="0" i="0" u="none" strike="noStrike" baseline="0" dirty="0">
                <a:solidFill>
                  <a:srgbClr val="000000"/>
                </a:solidFill>
                <a:latin typeface="Times New Roman" panose="02020603050405020304" pitchFamily="18" charset="0"/>
                <a:cs typeface="Times New Roman" panose="02020603050405020304" pitchFamily="18" charset="0"/>
              </a:rPr>
              <a:t>ever (≥38.3°C/101°F or ≥38.0°C/100.4°F for ≥1 h) (IDSA)</a:t>
            </a:r>
          </a:p>
          <a:p>
            <a:r>
              <a:rPr lang="en-US" sz="3000" b="0" i="0" u="none" strike="noStrike" baseline="0" dirty="0">
                <a:solidFill>
                  <a:srgbClr val="000000"/>
                </a:solidFill>
                <a:latin typeface="Times New Roman" panose="02020603050405020304" pitchFamily="18" charset="0"/>
                <a:cs typeface="Times New Roman" panose="02020603050405020304" pitchFamily="18" charset="0"/>
              </a:rPr>
              <a:t> Neutropenia: ANC &lt;1.0 </a:t>
            </a:r>
            <a:r>
              <a:rPr lang="en-US" sz="3000" dirty="0">
                <a:solidFill>
                  <a:srgbClr val="000000"/>
                </a:solidFill>
                <a:latin typeface="Times New Roman" panose="02020603050405020304" pitchFamily="18" charset="0"/>
                <a:cs typeface="Times New Roman" panose="02020603050405020304" pitchFamily="18" charset="0"/>
              </a:rPr>
              <a:t>x10</a:t>
            </a:r>
            <a:r>
              <a:rPr lang="en-US" sz="3000" baseline="30000" dirty="0">
                <a:solidFill>
                  <a:srgbClr val="000000"/>
                </a:solidFill>
                <a:latin typeface="Times New Roman" panose="02020603050405020304" pitchFamily="18" charset="0"/>
                <a:cs typeface="Times New Roman" panose="02020603050405020304" pitchFamily="18" charset="0"/>
              </a:rPr>
              <a:t>9</a:t>
            </a:r>
            <a:r>
              <a:rPr lang="en-US" sz="3000" normalizeH="1" baseline="30000" dirty="0">
                <a:solidFill>
                  <a:srgbClr val="000000"/>
                </a:solidFill>
                <a:latin typeface="Times New Roman" panose="02020603050405020304" pitchFamily="18" charset="0"/>
                <a:cs typeface="Times New Roman" panose="02020603050405020304" pitchFamily="18" charset="0"/>
              </a:rPr>
              <a:t> /L</a:t>
            </a:r>
            <a:endParaRPr lang="en-US" sz="3000" b="0" i="0" u="none" strike="noStrike" normalizeH="1" dirty="0">
              <a:solidFill>
                <a:srgbClr val="000000"/>
              </a:solidFill>
              <a:latin typeface="Times New Roman" panose="02020603050405020304" pitchFamily="18" charset="0"/>
              <a:cs typeface="Times New Roman" panose="02020603050405020304" pitchFamily="18" charset="0"/>
            </a:endParaRPr>
          </a:p>
          <a:p>
            <a:r>
              <a:rPr lang="en-US" sz="3000" dirty="0">
                <a:solidFill>
                  <a:srgbClr val="000000"/>
                </a:solidFill>
                <a:latin typeface="Times New Roman" panose="02020603050405020304" pitchFamily="18" charset="0"/>
                <a:cs typeface="Times New Roman" panose="02020603050405020304" pitchFamily="18" charset="0"/>
              </a:rPr>
              <a:t>S</a:t>
            </a:r>
            <a:r>
              <a:rPr lang="en-US" sz="3000" b="0" i="0" u="none" strike="noStrike" baseline="0" dirty="0">
                <a:solidFill>
                  <a:srgbClr val="000000"/>
                </a:solidFill>
                <a:latin typeface="Times New Roman" panose="02020603050405020304" pitchFamily="18" charset="0"/>
                <a:cs typeface="Times New Roman" panose="02020603050405020304" pitchFamily="18" charset="0"/>
              </a:rPr>
              <a:t>evere neutropenia: ANC &lt;0.5x10</a:t>
            </a:r>
            <a:r>
              <a:rPr lang="en-US" sz="3000" b="0" i="0" u="none" strike="noStrike" baseline="30000" dirty="0">
                <a:solidFill>
                  <a:srgbClr val="000000"/>
                </a:solidFill>
                <a:latin typeface="Times New Roman" panose="02020603050405020304" pitchFamily="18" charset="0"/>
                <a:cs typeface="Times New Roman" panose="02020603050405020304" pitchFamily="18" charset="0"/>
              </a:rPr>
              <a:t>9</a:t>
            </a:r>
            <a:r>
              <a:rPr lang="en-US" sz="3000" b="0" i="0" u="none" strike="noStrike" baseline="0" dirty="0">
                <a:solidFill>
                  <a:srgbClr val="000000"/>
                </a:solidFill>
                <a:latin typeface="Times New Roman" panose="02020603050405020304" pitchFamily="18" charset="0"/>
                <a:cs typeface="Times New Roman" panose="02020603050405020304" pitchFamily="18" charset="0"/>
              </a:rPr>
              <a:t> /L</a:t>
            </a:r>
          </a:p>
          <a:p>
            <a:r>
              <a:rPr lang="en-US" sz="3000" dirty="0">
                <a:solidFill>
                  <a:srgbClr val="000000"/>
                </a:solidFill>
                <a:latin typeface="Times New Roman" panose="02020603050405020304" pitchFamily="18" charset="0"/>
                <a:cs typeface="Times New Roman" panose="02020603050405020304" pitchFamily="18" charset="0"/>
              </a:rPr>
              <a:t>Profound neutropenia: ANC &lt; 0.1 X10</a:t>
            </a:r>
            <a:r>
              <a:rPr lang="en-US" sz="3000" baseline="30000" dirty="0">
                <a:solidFill>
                  <a:srgbClr val="000000"/>
                </a:solidFill>
                <a:latin typeface="Times New Roman" panose="02020603050405020304" pitchFamily="18" charset="0"/>
                <a:cs typeface="Times New Roman" panose="02020603050405020304" pitchFamily="18" charset="0"/>
              </a:rPr>
              <a:t>9</a:t>
            </a:r>
            <a:r>
              <a:rPr lang="en-US" sz="3000" dirty="0">
                <a:solidFill>
                  <a:srgbClr val="000000"/>
                </a:solidFill>
                <a:latin typeface="Times New Roman" panose="02020603050405020304" pitchFamily="18" charset="0"/>
                <a:cs typeface="Times New Roman" panose="02020603050405020304" pitchFamily="18" charset="0"/>
              </a:rPr>
              <a:t>/L</a:t>
            </a:r>
            <a:endParaRPr lang="en-US" sz="3000" b="0" i="0" u="none" strike="noStrike" baseline="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b="0" i="0" u="none" strike="noStrike" baseline="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dirty="0">
              <a:solidFill>
                <a:srgbClr val="000000"/>
              </a:solidFill>
              <a:latin typeface="Times New Roman" panose="02020603050405020304" pitchFamily="18" charset="0"/>
              <a:cs typeface="Times New Roman" panose="02020603050405020304" pitchFamily="18" charset="0"/>
            </a:endParaRPr>
          </a:p>
          <a:p>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6685327"/>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3C52A-4BB5-B559-CCF7-866D8EAE6206}"/>
              </a:ext>
            </a:extLst>
          </p:cNvPr>
          <p:cNvSpPr>
            <a:spLocks noGrp="1"/>
          </p:cNvSpPr>
          <p:nvPr>
            <p:ph type="title"/>
          </p:nvPr>
        </p:nvSpPr>
        <p:spPr/>
        <p:txBody>
          <a:bodyPr>
            <a:normAutofit/>
          </a:bodyPr>
          <a:lstStyle/>
          <a:p>
            <a:pPr algn="ctr"/>
            <a:r>
              <a:rPr lang="en-US" b="1" dirty="0">
                <a:solidFill>
                  <a:schemeClr val="bg2">
                    <a:lumMod val="10000"/>
                  </a:schemeClr>
                </a:solidFill>
                <a:latin typeface="Times New Roman" panose="02020603050405020304" pitchFamily="18" charset="0"/>
                <a:cs typeface="Times New Roman" panose="02020603050405020304" pitchFamily="18" charset="0"/>
              </a:rPr>
              <a:t>Neutropenic fever</a:t>
            </a:r>
            <a:endParaRPr lang="en-TZ" dirty="0">
              <a:solidFill>
                <a:schemeClr val="bg2">
                  <a:lumMod val="10000"/>
                </a:schemeClr>
              </a:solidFill>
            </a:endParaRPr>
          </a:p>
        </p:txBody>
      </p:sp>
      <p:sp>
        <p:nvSpPr>
          <p:cNvPr id="3" name="Content Placeholder 2">
            <a:extLst>
              <a:ext uri="{FF2B5EF4-FFF2-40B4-BE49-F238E27FC236}">
                <a16:creationId xmlns:a16="http://schemas.microsoft.com/office/drawing/2014/main" id="{9E0C5FB9-E026-B0C3-7902-8CB61D1CC804}"/>
              </a:ext>
            </a:extLst>
          </p:cNvPr>
          <p:cNvSpPr>
            <a:spLocks noGrp="1"/>
          </p:cNvSpPr>
          <p:nvPr>
            <p:ph idx="1"/>
          </p:nvPr>
        </p:nvSpPr>
        <p:spPr>
          <a:xfrm>
            <a:off x="678427" y="1346543"/>
            <a:ext cx="11061290" cy="4911213"/>
          </a:xfrm>
        </p:spPr>
        <p:txBody>
          <a:bodyPr>
            <a:noAutofit/>
          </a:bodyPr>
          <a:lstStyle/>
          <a:p>
            <a:pPr marL="0" indent="0">
              <a:buNone/>
            </a:pPr>
            <a:r>
              <a:rPr lang="en-US" b="1" i="0" u="none" strike="noStrike" baseline="0" dirty="0">
                <a:solidFill>
                  <a:srgbClr val="000000"/>
                </a:solidFill>
                <a:latin typeface="Times New Roman" panose="02020603050405020304" pitchFamily="18" charset="0"/>
                <a:cs typeface="Times New Roman" panose="02020603050405020304" pitchFamily="18" charset="0"/>
              </a:rPr>
              <a:t>Pathophysiology </a:t>
            </a:r>
            <a:endParaRPr lang="en-US"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b="0" i="0" u="none" strike="noStrike" baseline="0" dirty="0">
                <a:solidFill>
                  <a:srgbClr val="000000"/>
                </a:solidFill>
                <a:latin typeface="Times New Roman" panose="02020603050405020304" pitchFamily="18" charset="0"/>
                <a:cs typeface="Times New Roman" panose="02020603050405020304" pitchFamily="18" charset="0"/>
              </a:rPr>
              <a:t>Decreased neutrophil production</a:t>
            </a:r>
          </a:p>
          <a:p>
            <a:pPr lvl="1">
              <a:buFont typeface="Wingdings" panose="05000000000000000000" pitchFamily="2" charset="2"/>
              <a:buChar char="§"/>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800" dirty="0">
                <a:solidFill>
                  <a:srgbClr val="000000"/>
                </a:solidFill>
                <a:latin typeface="Times New Roman" panose="02020603050405020304" pitchFamily="18" charset="0"/>
                <a:cs typeface="Times New Roman" panose="02020603050405020304" pitchFamily="18" charset="0"/>
              </a:rPr>
              <a:t>M</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arrow: leukemia, lymphoma, myelodysplastic syndromes, infection, aplastic</a:t>
            </a:r>
          </a:p>
          <a:p>
            <a:pPr lvl="1">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I</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atrogenic: cancer chemotherapy, radiation, drugs </a:t>
            </a:r>
          </a:p>
          <a:p>
            <a:pPr lvl="1">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 Nutritional </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deficiencies: vitamin B12, folate </a:t>
            </a:r>
            <a:endParaRPr lang="en-US" sz="2800" dirty="0">
              <a:solidFill>
                <a:srgbClr val="000000"/>
              </a:solidFill>
              <a:latin typeface="Times New Roman" panose="02020603050405020304" pitchFamily="18" charset="0"/>
              <a:cs typeface="Times New Roman" panose="02020603050405020304" pitchFamily="18" charset="0"/>
            </a:endParaRPr>
          </a:p>
          <a:p>
            <a:r>
              <a:rPr lang="en-US" b="0" i="0" u="none" strike="noStrike" baseline="0" dirty="0">
                <a:solidFill>
                  <a:srgbClr val="000000"/>
                </a:solidFill>
                <a:latin typeface="Times New Roman" panose="02020603050405020304" pitchFamily="18" charset="0"/>
                <a:cs typeface="Times New Roman" panose="02020603050405020304" pitchFamily="18" charset="0"/>
              </a:rPr>
              <a:t>Increased peripheral neutrophil destruction  </a:t>
            </a:r>
          </a:p>
          <a:p>
            <a:pPr lvl="1">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A</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utoimmune: Felty’s syndrome, SLE, antineutrophil antibodies</a:t>
            </a:r>
          </a:p>
          <a:p>
            <a:pPr lvl="1">
              <a:buFont typeface="Wingdings" panose="05000000000000000000" pitchFamily="2" charset="2"/>
              <a:buChar char="§"/>
            </a:pPr>
            <a:r>
              <a:rPr lang="en-US" sz="2800" dirty="0">
                <a:solidFill>
                  <a:srgbClr val="000000"/>
                </a:solidFill>
                <a:latin typeface="Times New Roman" panose="02020603050405020304" pitchFamily="18" charset="0"/>
                <a:cs typeface="Times New Roman" panose="02020603050405020304" pitchFamily="18" charset="0"/>
              </a:rPr>
              <a:t>S</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plenic sequestration </a:t>
            </a:r>
            <a:br>
              <a:rPr lang="en-US" sz="2800" b="0" i="0" u="none" strike="noStrike" baseline="0" dirty="0">
                <a:solidFill>
                  <a:srgbClr val="000000"/>
                </a:solidFill>
                <a:latin typeface="Times New Roman" panose="02020603050405020304" pitchFamily="18" charset="0"/>
                <a:cs typeface="Times New Roman" panose="02020603050405020304" pitchFamily="18" charset="0"/>
              </a:rPr>
            </a:br>
            <a:endParaRPr lang="en-TZ"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8206297"/>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51273-BB14-1B1D-4419-A3DD3F38D483}"/>
              </a:ext>
            </a:extLst>
          </p:cNvPr>
          <p:cNvSpPr>
            <a:spLocks noGrp="1"/>
          </p:cNvSpPr>
          <p:nvPr>
            <p:ph type="title"/>
          </p:nvPr>
        </p:nvSpPr>
        <p:spPr>
          <a:xfrm>
            <a:off x="655074" y="379874"/>
            <a:ext cx="10515600" cy="903236"/>
          </a:xfrm>
        </p:spPr>
        <p:txBody>
          <a:bodyPr/>
          <a:lstStyle/>
          <a:p>
            <a:pPr algn="ctr"/>
            <a:r>
              <a:rPr lang="en-US" b="1" dirty="0">
                <a:solidFill>
                  <a:schemeClr val="bg2">
                    <a:lumMod val="10000"/>
                  </a:schemeClr>
                </a:solidFill>
                <a:latin typeface="Times New Roman" panose="02020603050405020304" pitchFamily="18" charset="0"/>
                <a:cs typeface="Times New Roman" panose="02020603050405020304" pitchFamily="18" charset="0"/>
              </a:rPr>
              <a:t>Neutropenic fever</a:t>
            </a:r>
            <a:endParaRPr lang="en-TZ" dirty="0">
              <a:solidFill>
                <a:schemeClr val="bg2">
                  <a:lumMod val="10000"/>
                </a:schemeClr>
              </a:solidFill>
            </a:endParaRPr>
          </a:p>
        </p:txBody>
      </p:sp>
      <p:sp>
        <p:nvSpPr>
          <p:cNvPr id="3" name="Content Placeholder 2">
            <a:extLst>
              <a:ext uri="{FF2B5EF4-FFF2-40B4-BE49-F238E27FC236}">
                <a16:creationId xmlns:a16="http://schemas.microsoft.com/office/drawing/2014/main" id="{50A5FCF8-1A3A-1B82-77D5-99ABDCAEAFAC}"/>
              </a:ext>
            </a:extLst>
          </p:cNvPr>
          <p:cNvSpPr>
            <a:spLocks noGrp="1"/>
          </p:cNvSpPr>
          <p:nvPr>
            <p:ph idx="1"/>
          </p:nvPr>
        </p:nvSpPr>
        <p:spPr>
          <a:xfrm>
            <a:off x="471947" y="1283110"/>
            <a:ext cx="11208775" cy="5029200"/>
          </a:xfrm>
        </p:spPr>
        <p:txBody>
          <a:bodyPr>
            <a:normAutofit/>
          </a:bodyPr>
          <a:lstStyle/>
          <a:p>
            <a:pPr marL="0" indent="0">
              <a:buNone/>
            </a:pPr>
            <a:r>
              <a:rPr lang="en-US" b="1" i="0" u="none" strike="noStrike" baseline="0" dirty="0">
                <a:solidFill>
                  <a:srgbClr val="000000"/>
                </a:solidFill>
                <a:latin typeface="Times New Roman" panose="02020603050405020304" pitchFamily="18" charset="0"/>
                <a:cs typeface="Times New Roman" panose="02020603050405020304" pitchFamily="18" charset="0"/>
              </a:rPr>
              <a:t>Epidemiology/Etiology </a:t>
            </a:r>
            <a:endParaRPr lang="en-US"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dirty="0">
                <a:solidFill>
                  <a:srgbClr val="000000"/>
                </a:solidFill>
                <a:latin typeface="Times New Roman" panose="02020603050405020304" pitchFamily="18" charset="0"/>
                <a:cs typeface="Times New Roman" panose="02020603050405020304" pitchFamily="18" charset="0"/>
              </a:rPr>
              <a:t>M</a:t>
            </a:r>
            <a:r>
              <a:rPr lang="en-US" b="0" i="0" u="none" strike="noStrike" baseline="0" dirty="0">
                <a:solidFill>
                  <a:srgbClr val="000000"/>
                </a:solidFill>
                <a:latin typeface="Times New Roman" panose="02020603050405020304" pitchFamily="18" charset="0"/>
                <a:cs typeface="Times New Roman" panose="02020603050405020304" pitchFamily="18" charset="0"/>
              </a:rPr>
              <a:t>ost common life-threatening complication of cancer therapy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 Causative organism identified only 1/3 of the time ;</a:t>
            </a:r>
            <a:r>
              <a:rPr lang="en-US" b="0" i="0" u="none" strike="noStrike" dirty="0">
                <a:solidFill>
                  <a:srgbClr val="000000"/>
                </a:solidFill>
                <a:latin typeface="Times New Roman" panose="02020603050405020304" pitchFamily="18" charset="0"/>
                <a:cs typeface="Times New Roman" panose="02020603050405020304" pitchFamily="18" charset="0"/>
              </a:rPr>
              <a:t> </a:t>
            </a:r>
            <a:r>
              <a:rPr lang="en-US" b="0" i="0" u="none" strike="noStrike" baseline="0" dirty="0">
                <a:solidFill>
                  <a:srgbClr val="000000"/>
                </a:solidFill>
                <a:latin typeface="Times New Roman" panose="02020603050405020304" pitchFamily="18" charset="0"/>
                <a:cs typeface="Times New Roman" panose="02020603050405020304" pitchFamily="18" charset="0"/>
              </a:rPr>
              <a:t>GN (especially </a:t>
            </a:r>
            <a:r>
              <a:rPr lang="en-US" b="0" i="1" u="none" strike="noStrike" baseline="0" dirty="0">
                <a:solidFill>
                  <a:srgbClr val="000000"/>
                </a:solidFill>
                <a:latin typeface="Times New Roman" panose="02020603050405020304" pitchFamily="18" charset="0"/>
                <a:cs typeface="Times New Roman" panose="02020603050405020304" pitchFamily="18" charset="0"/>
              </a:rPr>
              <a:t>Pseudomonas</a:t>
            </a:r>
            <a:r>
              <a:rPr lang="en-US" b="0" i="0" u="none" strike="noStrike" baseline="0" dirty="0">
                <a:solidFill>
                  <a:srgbClr val="000000"/>
                </a:solidFill>
                <a:latin typeface="Times New Roman" panose="02020603050405020304" pitchFamily="18" charset="0"/>
                <a:cs typeface="Times New Roman" panose="02020603050405020304" pitchFamily="18" charset="0"/>
              </a:rPr>
              <a:t>) </a:t>
            </a:r>
            <a:r>
              <a:rPr lang="en-US" dirty="0">
                <a:solidFill>
                  <a:srgbClr val="000000"/>
                </a:solidFill>
                <a:latin typeface="Times New Roman" panose="02020603050405020304" pitchFamily="18" charset="0"/>
                <a:cs typeface="Times New Roman" panose="02020603050405020304" pitchFamily="18" charset="0"/>
              </a:rPr>
              <a:t> cause severe infections</a:t>
            </a:r>
            <a:endParaRPr lang="en-US"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b="0" i="0" u="none" strike="noStrike" baseline="0" dirty="0">
                <a:solidFill>
                  <a:srgbClr val="000000"/>
                </a:solidFill>
                <a:latin typeface="Times New Roman" panose="02020603050405020304" pitchFamily="18" charset="0"/>
                <a:cs typeface="Times New Roman" panose="02020603050405020304" pitchFamily="18" charset="0"/>
              </a:rPr>
              <a:t> GP more common now </a:t>
            </a:r>
          </a:p>
          <a:p>
            <a:r>
              <a:rPr lang="en-US" dirty="0">
                <a:solidFill>
                  <a:srgbClr val="000000"/>
                </a:solidFill>
                <a:latin typeface="Times New Roman" panose="02020603050405020304" pitchFamily="18" charset="0"/>
                <a:cs typeface="Times New Roman" panose="02020603050405020304" pitchFamily="18" charset="0"/>
              </a:rPr>
              <a:t>F</a:t>
            </a:r>
            <a:r>
              <a:rPr lang="en-US" b="0" i="0" u="none" strike="noStrike" baseline="0" dirty="0">
                <a:solidFill>
                  <a:srgbClr val="000000"/>
                </a:solidFill>
                <a:latin typeface="Times New Roman" panose="02020603050405020304" pitchFamily="18" charset="0"/>
                <a:cs typeface="Times New Roman" panose="02020603050405020304" pitchFamily="18" charset="0"/>
              </a:rPr>
              <a:t>ungal superinfection if neutropenia prolonged or if concurrent antibiotic use (especially </a:t>
            </a:r>
            <a:r>
              <a:rPr lang="en-US" b="0" i="1" u="none" strike="noStrike" baseline="0" dirty="0">
                <a:solidFill>
                  <a:srgbClr val="000000"/>
                </a:solidFill>
                <a:latin typeface="Times New Roman" panose="02020603050405020304" pitchFamily="18" charset="0"/>
                <a:cs typeface="Times New Roman" panose="02020603050405020304" pitchFamily="18" charset="0"/>
              </a:rPr>
              <a:t>Candida</a:t>
            </a:r>
            <a:r>
              <a:rPr lang="en-US" b="0" i="0" u="none" strike="noStrike" baseline="0" dirty="0">
                <a:solidFill>
                  <a:srgbClr val="000000"/>
                </a:solidFill>
                <a:latin typeface="Times New Roman" panose="02020603050405020304" pitchFamily="18" charset="0"/>
                <a:cs typeface="Times New Roman" panose="02020603050405020304" pitchFamily="18" charset="0"/>
              </a:rPr>
              <a:t>, </a:t>
            </a:r>
            <a:r>
              <a:rPr lang="en-US" b="0" i="1" u="none" strike="noStrike" baseline="0" dirty="0">
                <a:solidFill>
                  <a:srgbClr val="000000"/>
                </a:solidFill>
                <a:latin typeface="Times New Roman" panose="02020603050405020304" pitchFamily="18" charset="0"/>
                <a:cs typeface="Times New Roman" panose="02020603050405020304" pitchFamily="18" charset="0"/>
              </a:rPr>
              <a:t>Aspergillus</a:t>
            </a:r>
            <a:r>
              <a:rPr lang="en-US" b="0" i="0" u="none" strike="noStrike" baseline="0" dirty="0">
                <a:solidFill>
                  <a:srgbClr val="000000"/>
                </a:solidFill>
                <a:latin typeface="Times New Roman" panose="02020603050405020304" pitchFamily="18" charset="0"/>
                <a:cs typeface="Times New Roman" panose="02020603050405020304" pitchFamily="18" charset="0"/>
              </a:rPr>
              <a:t>) </a:t>
            </a:r>
          </a:p>
          <a:p>
            <a:r>
              <a:rPr lang="en-US" dirty="0">
                <a:solidFill>
                  <a:srgbClr val="000000"/>
                </a:solidFill>
                <a:latin typeface="Times New Roman" panose="02020603050405020304" pitchFamily="18" charset="0"/>
                <a:cs typeface="Times New Roman" panose="02020603050405020304" pitchFamily="18" charset="0"/>
              </a:rPr>
              <a:t>A</a:t>
            </a:r>
            <a:r>
              <a:rPr lang="en-US" b="0" i="0" u="none" strike="noStrike" baseline="0" dirty="0">
                <a:solidFill>
                  <a:srgbClr val="000000"/>
                </a:solidFill>
                <a:latin typeface="Times New Roman" panose="02020603050405020304" pitchFamily="18" charset="0"/>
                <a:cs typeface="Times New Roman" panose="02020603050405020304" pitchFamily="18" charset="0"/>
              </a:rPr>
              <a:t>ssociated with IV lines, mucosal or GI infection. </a:t>
            </a:r>
            <a:endParaRPr lang="en-T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6334724"/>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E10B098-6B4C-A499-BC67-0C9D4BF1C080}"/>
              </a:ext>
            </a:extLst>
          </p:cNvPr>
          <p:cNvPicPr>
            <a:picLocks noGrp="1" noChangeAspect="1"/>
          </p:cNvPicPr>
          <p:nvPr>
            <p:ph idx="4294967295"/>
          </p:nvPr>
        </p:nvPicPr>
        <p:blipFill>
          <a:blip r:embed="rId2"/>
          <a:stretch>
            <a:fillRect/>
          </a:stretch>
        </p:blipFill>
        <p:spPr>
          <a:xfrm>
            <a:off x="1" y="809625"/>
            <a:ext cx="12191999" cy="5533302"/>
          </a:xfrm>
        </p:spPr>
      </p:pic>
      <p:sp>
        <p:nvSpPr>
          <p:cNvPr id="3" name="TextBox 2">
            <a:extLst>
              <a:ext uri="{FF2B5EF4-FFF2-40B4-BE49-F238E27FC236}">
                <a16:creationId xmlns:a16="http://schemas.microsoft.com/office/drawing/2014/main" id="{B6823A45-08D6-63F9-2F70-4F4806D9BFAC}"/>
              </a:ext>
            </a:extLst>
          </p:cNvPr>
          <p:cNvSpPr txBox="1"/>
          <p:nvPr/>
        </p:nvSpPr>
        <p:spPr>
          <a:xfrm>
            <a:off x="81024" y="145741"/>
            <a:ext cx="11991372" cy="584775"/>
          </a:xfrm>
          <a:prstGeom prst="rect">
            <a:avLst/>
          </a:prstGeom>
          <a:noFill/>
        </p:spPr>
        <p:txBody>
          <a:bodyPr wrap="square" rtlCol="0">
            <a:spAutoFit/>
          </a:bodyPr>
          <a:lstStyle/>
          <a:p>
            <a:pPr algn="ctr"/>
            <a:r>
              <a:rPr lang="en-US" sz="3200" b="1" dirty="0">
                <a:solidFill>
                  <a:schemeClr val="bg2">
                    <a:lumMod val="10000"/>
                  </a:schemeClr>
                </a:solidFill>
                <a:latin typeface="Times New Roman" panose="02020603050405020304" pitchFamily="18" charset="0"/>
                <a:cs typeface="Times New Roman" panose="02020603050405020304" pitchFamily="18" charset="0"/>
              </a:rPr>
              <a:t>Management approach to patient with febrile neutropenia</a:t>
            </a:r>
            <a:endParaRPr lang="en-TZ" sz="3200" b="1" dirty="0">
              <a:solidFill>
                <a:schemeClr val="bg2">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8933463"/>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Treatment/Management</a:t>
            </a:r>
          </a:p>
        </p:txBody>
      </p:sp>
      <p:sp>
        <p:nvSpPr>
          <p:cNvPr id="3" name="Content Placeholder 2"/>
          <p:cNvSpPr>
            <a:spLocks noGrp="1"/>
          </p:cNvSpPr>
          <p:nvPr>
            <p:ph idx="1"/>
          </p:nvPr>
        </p:nvSpPr>
        <p:spPr/>
        <p:txBody>
          <a:bodyPr>
            <a:normAutofit fontScale="92500" lnSpcReduction="20000"/>
          </a:bodyPr>
          <a:lstStyle/>
          <a:p>
            <a:r>
              <a:rPr lang="en-US" sz="3500" dirty="0">
                <a:solidFill>
                  <a:schemeClr val="bg2">
                    <a:lumMod val="10000"/>
                  </a:schemeClr>
                </a:solidFill>
                <a:latin typeface="Times New Roman" panose="02020603050405020304" pitchFamily="18" charset="0"/>
                <a:cs typeface="Times New Roman" panose="02020603050405020304" pitchFamily="18" charset="0"/>
              </a:rPr>
              <a:t>Depend on low risk (MASCC score &gt;21) or High  (MASCC SCORE &lt;21)</a:t>
            </a:r>
          </a:p>
          <a:p>
            <a:r>
              <a:rPr lang="en-US" sz="3500" dirty="0">
                <a:solidFill>
                  <a:schemeClr val="bg2">
                    <a:lumMod val="10000"/>
                  </a:schemeClr>
                </a:solidFill>
                <a:latin typeface="Times New Roman" panose="02020603050405020304" pitchFamily="18" charset="0"/>
                <a:cs typeface="Times New Roman" panose="02020603050405020304" pitchFamily="18" charset="0"/>
              </a:rPr>
              <a:t>Low risk (OPD) recommended </a:t>
            </a:r>
            <a:r>
              <a:rPr lang="en-US" sz="3500" dirty="0" err="1">
                <a:solidFill>
                  <a:schemeClr val="bg2">
                    <a:lumMod val="10000"/>
                  </a:schemeClr>
                </a:solidFill>
                <a:latin typeface="Times New Roman" panose="02020603050405020304" pitchFamily="18" charset="0"/>
                <a:cs typeface="Times New Roman" panose="02020603050405020304" pitchFamily="18" charset="0"/>
              </a:rPr>
              <a:t>ciprofloxacillin</a:t>
            </a:r>
            <a:r>
              <a:rPr lang="en-US" sz="3500" dirty="0">
                <a:solidFill>
                  <a:schemeClr val="bg2">
                    <a:lumMod val="10000"/>
                  </a:schemeClr>
                </a:solidFill>
                <a:latin typeface="Times New Roman" panose="02020603050405020304" pitchFamily="18" charset="0"/>
                <a:cs typeface="Times New Roman" panose="02020603050405020304" pitchFamily="18" charset="0"/>
              </a:rPr>
              <a:t> orally plus amoxicillin and clavulanic acid</a:t>
            </a:r>
          </a:p>
          <a:p>
            <a:r>
              <a:rPr lang="en-US" sz="3500" dirty="0">
                <a:solidFill>
                  <a:schemeClr val="bg2">
                    <a:lumMod val="10000"/>
                  </a:schemeClr>
                </a:solidFill>
                <a:latin typeface="Times New Roman" panose="02020603050405020304" pitchFamily="18" charset="0"/>
                <a:cs typeface="Times New Roman" panose="02020603050405020304" pitchFamily="18" charset="0"/>
              </a:rPr>
              <a:t>High risk (IP)  IV antibiotic with antipseudomonal activity i.e. </a:t>
            </a:r>
            <a:r>
              <a:rPr lang="en-US" sz="3500" dirty="0" err="1">
                <a:solidFill>
                  <a:schemeClr val="bg2">
                    <a:lumMod val="10000"/>
                  </a:schemeClr>
                </a:solidFill>
                <a:latin typeface="Times New Roman" panose="02020603050405020304" pitchFamily="18" charset="0"/>
                <a:cs typeface="Times New Roman" panose="02020603050405020304" pitchFamily="18" charset="0"/>
              </a:rPr>
              <a:t>Cefepime</a:t>
            </a:r>
            <a:r>
              <a:rPr lang="en-US" sz="3500" dirty="0">
                <a:solidFill>
                  <a:schemeClr val="bg2">
                    <a:lumMod val="10000"/>
                  </a:schemeClr>
                </a:solidFill>
                <a:latin typeface="Times New Roman" panose="02020603050405020304" pitchFamily="18" charset="0"/>
                <a:cs typeface="Times New Roman" panose="02020603050405020304" pitchFamily="18" charset="0"/>
              </a:rPr>
              <a:t> 2g </a:t>
            </a:r>
            <a:r>
              <a:rPr lang="en-US" sz="3500" dirty="0" err="1">
                <a:solidFill>
                  <a:schemeClr val="bg2">
                    <a:lumMod val="10000"/>
                  </a:schemeClr>
                </a:solidFill>
                <a:latin typeface="Times New Roman" panose="02020603050405020304" pitchFamily="18" charset="0"/>
                <a:cs typeface="Times New Roman" panose="02020603050405020304" pitchFamily="18" charset="0"/>
              </a:rPr>
              <a:t>tds</a:t>
            </a:r>
            <a:r>
              <a:rPr lang="en-US" sz="3500" dirty="0">
                <a:solidFill>
                  <a:schemeClr val="bg2">
                    <a:lumMod val="10000"/>
                  </a:schemeClr>
                </a:solidFill>
                <a:latin typeface="Times New Roman" panose="02020603050405020304" pitchFamily="18" charset="0"/>
                <a:cs typeface="Times New Roman" panose="02020603050405020304" pitchFamily="18" charset="0"/>
              </a:rPr>
              <a:t> or IV piperacillin plus </a:t>
            </a:r>
            <a:r>
              <a:rPr lang="en-US" sz="3500" dirty="0" err="1">
                <a:solidFill>
                  <a:schemeClr val="bg2">
                    <a:lumMod val="10000"/>
                  </a:schemeClr>
                </a:solidFill>
                <a:latin typeface="Times New Roman" panose="02020603050405020304" pitchFamily="18" charset="0"/>
                <a:cs typeface="Times New Roman" panose="02020603050405020304" pitchFamily="18" charset="0"/>
              </a:rPr>
              <a:t>tazobactam</a:t>
            </a:r>
            <a:r>
              <a:rPr lang="en-US" sz="3500" dirty="0">
                <a:solidFill>
                  <a:schemeClr val="bg2">
                    <a:lumMod val="10000"/>
                  </a:schemeClr>
                </a:solidFill>
                <a:latin typeface="Times New Roman" panose="02020603050405020304" pitchFamily="18" charset="0"/>
                <a:cs typeface="Times New Roman" panose="02020603050405020304" pitchFamily="18" charset="0"/>
              </a:rPr>
              <a:t> 4.5g or </a:t>
            </a:r>
            <a:r>
              <a:rPr lang="en-US" sz="3500" dirty="0" err="1">
                <a:solidFill>
                  <a:schemeClr val="bg2">
                    <a:lumMod val="10000"/>
                  </a:schemeClr>
                </a:solidFill>
                <a:latin typeface="Times New Roman" panose="02020603050405020304" pitchFamily="18" charset="0"/>
                <a:cs typeface="Times New Roman" panose="02020603050405020304" pitchFamily="18" charset="0"/>
              </a:rPr>
              <a:t>Meropenem</a:t>
            </a:r>
            <a:r>
              <a:rPr lang="en-US" sz="3500" dirty="0">
                <a:solidFill>
                  <a:schemeClr val="bg2">
                    <a:lumMod val="10000"/>
                  </a:schemeClr>
                </a:solidFill>
                <a:latin typeface="Times New Roman" panose="02020603050405020304" pitchFamily="18" charset="0"/>
                <a:cs typeface="Times New Roman" panose="02020603050405020304" pitchFamily="18" charset="0"/>
              </a:rPr>
              <a:t> 1g </a:t>
            </a:r>
            <a:r>
              <a:rPr lang="en-US" sz="3500" dirty="0" err="1">
                <a:solidFill>
                  <a:schemeClr val="bg2">
                    <a:lumMod val="10000"/>
                  </a:schemeClr>
                </a:solidFill>
                <a:latin typeface="Times New Roman" panose="02020603050405020304" pitchFamily="18" charset="0"/>
                <a:cs typeface="Times New Roman" panose="02020603050405020304" pitchFamily="18" charset="0"/>
              </a:rPr>
              <a:t>tds</a:t>
            </a:r>
            <a:r>
              <a:rPr lang="en-US" sz="3500" dirty="0">
                <a:solidFill>
                  <a:schemeClr val="bg2">
                    <a:lumMod val="10000"/>
                  </a:schemeClr>
                </a:solidFill>
                <a:latin typeface="Times New Roman" panose="02020603050405020304" pitchFamily="18" charset="0"/>
                <a:cs typeface="Times New Roman" panose="02020603050405020304" pitchFamily="18" charset="0"/>
              </a:rPr>
              <a:t> IV</a:t>
            </a:r>
          </a:p>
          <a:p>
            <a:r>
              <a:rPr lang="en-US" sz="3500" dirty="0">
                <a:solidFill>
                  <a:schemeClr val="bg2">
                    <a:lumMod val="10000"/>
                  </a:schemeClr>
                </a:solidFill>
                <a:latin typeface="Times New Roman" panose="02020603050405020304" pitchFamily="18" charset="0"/>
                <a:cs typeface="Times New Roman" panose="02020603050405020304" pitchFamily="18" charset="0"/>
              </a:rPr>
              <a:t>Empirical antifungal in high risk with fever  4-7 days</a:t>
            </a:r>
          </a:p>
          <a:p>
            <a:endParaRPr lang="en-US" sz="3500" dirty="0">
              <a:solidFill>
                <a:schemeClr val="bg2">
                  <a:lumMod val="10000"/>
                </a:schemeClr>
              </a:solidFill>
              <a:latin typeface="Times New Roman" panose="02020603050405020304" pitchFamily="18" charset="0"/>
              <a:cs typeface="Times New Roman" panose="02020603050405020304" pitchFamily="18" charset="0"/>
            </a:endParaRPr>
          </a:p>
          <a:p>
            <a:pPr marL="0" indent="0" algn="ctr">
              <a:buNone/>
            </a:pPr>
            <a:r>
              <a:rPr lang="en-US" dirty="0">
                <a:latin typeface="Times New Roman" panose="02020603050405020304" pitchFamily="18" charset="0"/>
                <a:cs typeface="Times New Roman" panose="02020603050405020304" pitchFamily="18" charset="0"/>
              </a:rPr>
              <a:t>      </a:t>
            </a:r>
            <a:r>
              <a:rPr lang="en-US" dirty="0">
                <a:solidFill>
                  <a:schemeClr val="accent5">
                    <a:lumMod val="60000"/>
                    <a:lumOff val="40000"/>
                  </a:schemeClr>
                </a:solidFill>
                <a:latin typeface="Times New Roman" panose="02020603050405020304" pitchFamily="18" charset="0"/>
                <a:cs typeface="Times New Roman" panose="02020603050405020304" pitchFamily="18" charset="0"/>
              </a:rPr>
              <a:t>IDSA/ASCO  guideline</a:t>
            </a:r>
          </a:p>
        </p:txBody>
      </p:sp>
    </p:spTree>
    <p:extLst>
      <p:ext uri="{BB962C8B-B14F-4D97-AF65-F5344CB8AC3E}">
        <p14:creationId xmlns:p14="http://schemas.microsoft.com/office/powerpoint/2010/main" val="2617853350"/>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Prevention of febrile neutropenia</a:t>
            </a:r>
          </a:p>
        </p:txBody>
      </p:sp>
      <p:sp>
        <p:nvSpPr>
          <p:cNvPr id="3" name="Content Placeholder 2"/>
          <p:cNvSpPr>
            <a:spLocks noGrp="1"/>
          </p:cNvSpPr>
          <p:nvPr>
            <p:ph idx="1"/>
          </p:nvPr>
        </p:nvSpPr>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General measures, hygiene and infection prevention</a:t>
            </a:r>
          </a:p>
          <a:p>
            <a:r>
              <a:rPr lang="en-US" dirty="0">
                <a:solidFill>
                  <a:schemeClr val="bg2">
                    <a:lumMod val="10000"/>
                  </a:schemeClr>
                </a:solidFill>
                <a:latin typeface="Times New Roman" panose="02020603050405020304" pitchFamily="18" charset="0"/>
                <a:cs typeface="Times New Roman" panose="02020603050405020304" pitchFamily="18" charset="0"/>
              </a:rPr>
              <a:t>Fluoroquinolones +antifungal prophylaxis for profound neutropenia</a:t>
            </a:r>
          </a:p>
          <a:p>
            <a:r>
              <a:rPr lang="en-US" dirty="0">
                <a:solidFill>
                  <a:schemeClr val="bg2">
                    <a:lumMod val="10000"/>
                  </a:schemeClr>
                </a:solidFill>
                <a:latin typeface="Times New Roman" panose="02020603050405020304" pitchFamily="18" charset="0"/>
                <a:cs typeface="Times New Roman" panose="02020603050405020304" pitchFamily="18" charset="0"/>
              </a:rPr>
              <a:t>Co- </a:t>
            </a:r>
            <a:r>
              <a:rPr lang="en-US" dirty="0" err="1">
                <a:solidFill>
                  <a:schemeClr val="bg2">
                    <a:lumMod val="10000"/>
                  </a:schemeClr>
                </a:solidFill>
                <a:latin typeface="Times New Roman" panose="02020603050405020304" pitchFamily="18" charset="0"/>
                <a:cs typeface="Times New Roman" panose="02020603050405020304" pitchFamily="18" charset="0"/>
              </a:rPr>
              <a:t>trimoxazole</a:t>
            </a:r>
            <a:r>
              <a:rPr lang="en-US" dirty="0">
                <a:solidFill>
                  <a:schemeClr val="bg2">
                    <a:lumMod val="10000"/>
                  </a:schemeClr>
                </a:solidFill>
                <a:latin typeface="Times New Roman" panose="02020603050405020304" pitchFamily="18" charset="0"/>
                <a:cs typeface="Times New Roman" panose="02020603050405020304" pitchFamily="18" charset="0"/>
              </a:rPr>
              <a:t> prophylaxis for PJP</a:t>
            </a:r>
          </a:p>
          <a:p>
            <a:r>
              <a:rPr lang="en-US" dirty="0">
                <a:solidFill>
                  <a:schemeClr val="bg2">
                    <a:lumMod val="10000"/>
                  </a:schemeClr>
                </a:solidFill>
                <a:latin typeface="Times New Roman" panose="02020603050405020304" pitchFamily="18" charset="0"/>
                <a:cs typeface="Times New Roman" panose="02020603050405020304" pitchFamily="18" charset="0"/>
              </a:rPr>
              <a:t>Vaccination</a:t>
            </a:r>
          </a:p>
          <a:p>
            <a:r>
              <a:rPr lang="en-US" dirty="0">
                <a:solidFill>
                  <a:schemeClr val="bg2">
                    <a:lumMod val="10000"/>
                  </a:schemeClr>
                </a:solidFill>
                <a:latin typeface="Times New Roman" panose="02020603050405020304" pitchFamily="18" charset="0"/>
                <a:cs typeface="Times New Roman" panose="02020603050405020304" pitchFamily="18" charset="0"/>
              </a:rPr>
              <a:t>Prophylaxis with Colony stimulating factors ( CSF)  if risk for febrile neutropenia &gt;20%  </a:t>
            </a:r>
            <a:r>
              <a:rPr lang="en-US" dirty="0" err="1">
                <a:solidFill>
                  <a:schemeClr val="bg2">
                    <a:lumMod val="10000"/>
                  </a:schemeClr>
                </a:solidFill>
                <a:latin typeface="Times New Roman" panose="02020603050405020304" pitchFamily="18" charset="0"/>
                <a:cs typeface="Times New Roman" panose="02020603050405020304" pitchFamily="18" charset="0"/>
              </a:rPr>
              <a:t>E.g</a:t>
            </a:r>
            <a:r>
              <a:rPr lang="en-US" dirty="0">
                <a:solidFill>
                  <a:schemeClr val="bg2">
                    <a:lumMod val="10000"/>
                  </a:schemeClr>
                </a:solidFill>
                <a:latin typeface="Times New Roman" panose="02020603050405020304" pitchFamily="18" charset="0"/>
                <a:cs typeface="Times New Roman" panose="02020603050405020304" pitchFamily="18" charset="0"/>
              </a:rPr>
              <a:t> </a:t>
            </a:r>
            <a:r>
              <a:rPr lang="en-US" dirty="0" err="1">
                <a:solidFill>
                  <a:schemeClr val="bg2">
                    <a:lumMod val="10000"/>
                  </a:schemeClr>
                </a:solidFill>
                <a:latin typeface="Times New Roman" panose="02020603050405020304" pitchFamily="18" charset="0"/>
                <a:cs typeface="Times New Roman" panose="02020603050405020304" pitchFamily="18" charset="0"/>
              </a:rPr>
              <a:t>Filgrastim</a:t>
            </a:r>
            <a:r>
              <a:rPr lang="en-US" dirty="0">
                <a:solidFill>
                  <a:schemeClr val="bg2">
                    <a:lumMod val="10000"/>
                  </a:schemeClr>
                </a:solidFill>
                <a:latin typeface="Times New Roman" panose="02020603050405020304" pitchFamily="18" charset="0"/>
                <a:cs typeface="Times New Roman" panose="02020603050405020304" pitchFamily="18" charset="0"/>
              </a:rPr>
              <a:t> or </a:t>
            </a:r>
            <a:r>
              <a:rPr lang="en-US" dirty="0" err="1">
                <a:solidFill>
                  <a:schemeClr val="bg2">
                    <a:lumMod val="10000"/>
                  </a:schemeClr>
                </a:solidFill>
                <a:latin typeface="Times New Roman" panose="02020603050405020304" pitchFamily="18" charset="0"/>
                <a:cs typeface="Times New Roman" panose="02020603050405020304" pitchFamily="18" charset="0"/>
              </a:rPr>
              <a:t>sargramostim</a:t>
            </a:r>
            <a:endParaRPr lang="en-US" dirty="0">
              <a:solidFill>
                <a:schemeClr val="bg2">
                  <a:lumMod val="10000"/>
                </a:schemeClr>
              </a:solidFill>
              <a:latin typeface="Times New Roman" panose="02020603050405020304" pitchFamily="18" charset="0"/>
              <a:cs typeface="Times New Roman" panose="02020603050405020304" pitchFamily="18" charset="0"/>
            </a:endParaRPr>
          </a:p>
          <a:p>
            <a:pPr marL="0" indent="0">
              <a:buNone/>
            </a:pPr>
            <a:endParaRPr lang="en-US" dirty="0"/>
          </a:p>
          <a:p>
            <a:pPr marL="0" indent="0">
              <a:buNone/>
            </a:pPr>
            <a:r>
              <a:rPr lang="en-US" dirty="0"/>
              <a:t>    </a:t>
            </a:r>
          </a:p>
        </p:txBody>
      </p:sp>
      <p:sp>
        <p:nvSpPr>
          <p:cNvPr id="6" name="TextBox 5">
            <a:extLst>
              <a:ext uri="{FF2B5EF4-FFF2-40B4-BE49-F238E27FC236}">
                <a16:creationId xmlns:a16="http://schemas.microsoft.com/office/drawing/2014/main" id="{E5B3713E-2D25-E169-F724-4F79B9606A66}"/>
              </a:ext>
            </a:extLst>
          </p:cNvPr>
          <p:cNvSpPr txBox="1"/>
          <p:nvPr/>
        </p:nvSpPr>
        <p:spPr>
          <a:xfrm>
            <a:off x="3048004" y="5502439"/>
            <a:ext cx="5628464" cy="923330"/>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American society of clinical oncology  (ASCO ) guideline </a:t>
            </a:r>
          </a:p>
          <a:p>
            <a:endParaRPr lang="en-US" dirty="0"/>
          </a:p>
          <a:p>
            <a:endParaRPr lang="en-TZ" dirty="0"/>
          </a:p>
        </p:txBody>
      </p:sp>
    </p:spTree>
    <p:extLst>
      <p:ext uri="{BB962C8B-B14F-4D97-AF65-F5344CB8AC3E}">
        <p14:creationId xmlns:p14="http://schemas.microsoft.com/office/powerpoint/2010/main" val="1979993714"/>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21E99-A35E-61F5-67AD-EA1719ED53E2}"/>
              </a:ext>
            </a:extLst>
          </p:cNvPr>
          <p:cNvSpPr>
            <a:spLocks noGrp="1"/>
          </p:cNvSpPr>
          <p:nvPr>
            <p:ph type="title"/>
          </p:nvPr>
        </p:nvSpPr>
        <p:spPr/>
        <p:txBody>
          <a:bodyPr>
            <a:normAutofit fontScale="90000"/>
          </a:bodyPr>
          <a:lstStyle/>
          <a:p>
            <a:pPr algn="ctr"/>
            <a:r>
              <a:rPr lang="en-US" sz="4000" b="1" dirty="0">
                <a:solidFill>
                  <a:schemeClr val="tx2">
                    <a:lumMod val="50000"/>
                  </a:schemeClr>
                </a:solidFill>
                <a:latin typeface="Times New Roman" panose="02020603050405020304" pitchFamily="18" charset="0"/>
                <a:cs typeface="Times New Roman" panose="02020603050405020304" pitchFamily="18" charset="0"/>
              </a:rPr>
              <a:t>Overview of opportunistic infections in Immunocompromised</a:t>
            </a:r>
            <a:endParaRPr lang="en-TZ" sz="4000" b="1" dirty="0"/>
          </a:p>
        </p:txBody>
      </p:sp>
      <p:sp>
        <p:nvSpPr>
          <p:cNvPr id="3" name="Content Placeholder 2">
            <a:extLst>
              <a:ext uri="{FF2B5EF4-FFF2-40B4-BE49-F238E27FC236}">
                <a16:creationId xmlns:a16="http://schemas.microsoft.com/office/drawing/2014/main" id="{55F68A82-057A-2E6F-AD49-75E67E1403D2}"/>
              </a:ext>
            </a:extLst>
          </p:cNvPr>
          <p:cNvSpPr>
            <a:spLocks noGrp="1"/>
          </p:cNvSpPr>
          <p:nvPr>
            <p:ph idx="1"/>
          </p:nvPr>
        </p:nvSpPr>
        <p:spPr>
          <a:xfrm>
            <a:off x="486697" y="1828800"/>
            <a:ext cx="11179277" cy="4527755"/>
          </a:xfrm>
        </p:spPr>
        <p:txBody>
          <a:bodyPr/>
          <a:lstStyle/>
          <a:p>
            <a:pPr algn="l">
              <a:lnSpc>
                <a:spcPct val="100000"/>
              </a:lnSpc>
            </a:pPr>
            <a:r>
              <a:rPr lang="en-US" sz="3200" dirty="0">
                <a:solidFill>
                  <a:schemeClr val="tx2">
                    <a:lumMod val="50000"/>
                  </a:schemeClr>
                </a:solidFill>
                <a:latin typeface="Times New Roman" panose="02020603050405020304" pitchFamily="18" charset="0"/>
                <a:cs typeface="Times New Roman" panose="02020603050405020304" pitchFamily="18" charset="0"/>
              </a:rPr>
              <a:t>They are at risk of getting both community acquired and </a:t>
            </a:r>
            <a:r>
              <a:rPr lang="en-US" sz="3200" b="1" dirty="0">
                <a:solidFill>
                  <a:schemeClr val="tx2">
                    <a:lumMod val="50000"/>
                  </a:schemeClr>
                </a:solidFill>
                <a:latin typeface="Times New Roman" panose="02020603050405020304" pitchFamily="18" charset="0"/>
                <a:cs typeface="Times New Roman" panose="02020603050405020304" pitchFamily="18" charset="0"/>
              </a:rPr>
              <a:t>OI</a:t>
            </a:r>
          </a:p>
          <a:p>
            <a:pPr lvl="1">
              <a:lnSpc>
                <a:spcPct val="100000"/>
              </a:lnSpc>
              <a:buFont typeface="Wingdings" panose="05000000000000000000" pitchFamily="2" charset="2"/>
              <a:buChar char="§"/>
            </a:pPr>
            <a:r>
              <a:rPr lang="en-US" sz="3200" dirty="0">
                <a:solidFill>
                  <a:schemeClr val="tx2">
                    <a:lumMod val="50000"/>
                  </a:schemeClr>
                </a:solidFill>
                <a:latin typeface="Times New Roman" panose="02020603050405020304" pitchFamily="18" charset="0"/>
                <a:cs typeface="Times New Roman" panose="02020603050405020304" pitchFamily="18" charset="0"/>
              </a:rPr>
              <a:t>Bacterial infections</a:t>
            </a:r>
          </a:p>
          <a:p>
            <a:pPr lvl="1">
              <a:lnSpc>
                <a:spcPct val="100000"/>
              </a:lnSpc>
              <a:buFont typeface="Wingdings" panose="05000000000000000000" pitchFamily="2" charset="2"/>
              <a:buChar char="§"/>
            </a:pPr>
            <a:r>
              <a:rPr lang="en-US" sz="3200" dirty="0">
                <a:solidFill>
                  <a:schemeClr val="tx2">
                    <a:lumMod val="50000"/>
                  </a:schemeClr>
                </a:solidFill>
                <a:latin typeface="Times New Roman" panose="02020603050405020304" pitchFamily="18" charset="0"/>
                <a:cs typeface="Times New Roman" panose="02020603050405020304" pitchFamily="18" charset="0"/>
              </a:rPr>
              <a:t>Viral infections-CMV, VZV,HSV</a:t>
            </a:r>
          </a:p>
          <a:p>
            <a:pPr lvl="1">
              <a:lnSpc>
                <a:spcPct val="100000"/>
              </a:lnSpc>
              <a:buFont typeface="Wingdings" panose="05000000000000000000" pitchFamily="2" charset="2"/>
              <a:buChar char="§"/>
            </a:pPr>
            <a:r>
              <a:rPr lang="en-US" sz="3200" dirty="0">
                <a:solidFill>
                  <a:schemeClr val="tx2">
                    <a:lumMod val="50000"/>
                  </a:schemeClr>
                </a:solidFill>
                <a:latin typeface="Times New Roman" panose="02020603050405020304" pitchFamily="18" charset="0"/>
                <a:cs typeface="Times New Roman" panose="02020603050405020304" pitchFamily="18" charset="0"/>
              </a:rPr>
              <a:t>Fungal infections- Cryptococcal meningitis, PJP</a:t>
            </a:r>
          </a:p>
          <a:p>
            <a:pPr lvl="1">
              <a:lnSpc>
                <a:spcPct val="100000"/>
              </a:lnSpc>
              <a:buFont typeface="Wingdings" panose="05000000000000000000" pitchFamily="2" charset="2"/>
              <a:buChar char="§"/>
            </a:pPr>
            <a:r>
              <a:rPr lang="en-US" sz="3200" dirty="0">
                <a:solidFill>
                  <a:schemeClr val="tx2">
                    <a:lumMod val="50000"/>
                  </a:schemeClr>
                </a:solidFill>
                <a:latin typeface="Times New Roman" panose="02020603050405020304" pitchFamily="18" charset="0"/>
                <a:cs typeface="Times New Roman" panose="02020603050405020304" pitchFamily="18" charset="0"/>
              </a:rPr>
              <a:t>Parasitic infections- Toxoplasmosis</a:t>
            </a:r>
          </a:p>
          <a:p>
            <a:pPr marL="0" indent="0">
              <a:buNone/>
            </a:pPr>
            <a:endParaRPr lang="en-TZ" dirty="0"/>
          </a:p>
        </p:txBody>
      </p:sp>
    </p:spTree>
    <p:extLst>
      <p:ext uri="{BB962C8B-B14F-4D97-AF65-F5344CB8AC3E}">
        <p14:creationId xmlns:p14="http://schemas.microsoft.com/office/powerpoint/2010/main" val="402231882"/>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5406" y="407284"/>
            <a:ext cx="9561871" cy="947981"/>
          </a:xfrm>
        </p:spPr>
        <p:txBody>
          <a:bodyPr>
            <a:normAutofit fontScale="90000"/>
          </a:bodyPr>
          <a:lstStyle/>
          <a:p>
            <a:pPr algn="ctr"/>
            <a:br>
              <a:rPr lang="en-US" sz="3200" dirty="0"/>
            </a:br>
            <a:r>
              <a:rPr lang="en-US" sz="3200" b="1" dirty="0">
                <a:solidFill>
                  <a:schemeClr val="bg2">
                    <a:lumMod val="10000"/>
                  </a:schemeClr>
                </a:solidFill>
                <a:latin typeface="Times New Roman" panose="02020603050405020304" pitchFamily="18" charset="0"/>
                <a:cs typeface="Times New Roman" panose="02020603050405020304" pitchFamily="18" charset="0"/>
              </a:rPr>
              <a:t>CMV INFECTION IN THE IMMUNOCOMPROMISED HOST</a:t>
            </a:r>
            <a:r>
              <a:rPr lang="en-US" sz="3200" dirty="0">
                <a:solidFill>
                  <a:schemeClr val="bg2">
                    <a:lumMod val="10000"/>
                  </a:schemeClr>
                </a:solidFill>
                <a:latin typeface="Times New Roman" panose="02020603050405020304" pitchFamily="18" charset="0"/>
                <a:cs typeface="Times New Roman" panose="02020603050405020304" pitchFamily="18" charset="0"/>
              </a:rPr>
              <a:t> </a:t>
            </a:r>
            <a:br>
              <a:rPr lang="en-US" dirty="0">
                <a:solidFill>
                  <a:schemeClr val="bg2">
                    <a:lumMod val="10000"/>
                  </a:schemeClr>
                </a:solidFill>
              </a:rPr>
            </a:br>
            <a:endParaRPr lang="en-US" dirty="0">
              <a:solidFill>
                <a:schemeClr val="bg2">
                  <a:lumMod val="10000"/>
                </a:schemeClr>
              </a:solidFill>
            </a:endParaRPr>
          </a:p>
        </p:txBody>
      </p:sp>
      <p:sp>
        <p:nvSpPr>
          <p:cNvPr id="3" name="Content Placeholder 2"/>
          <p:cNvSpPr>
            <a:spLocks noGrp="1"/>
          </p:cNvSpPr>
          <p:nvPr>
            <p:ph idx="1"/>
          </p:nvPr>
        </p:nvSpPr>
        <p:spPr>
          <a:xfrm>
            <a:off x="442452" y="1224116"/>
            <a:ext cx="11105535" cy="5147188"/>
          </a:xfrm>
        </p:spPr>
        <p:txBody>
          <a:bodyPr>
            <a:normAutofit lnSpcReduction="10000"/>
          </a:bodyPr>
          <a:lstStyle/>
          <a:p>
            <a:pPr algn="l"/>
            <a:r>
              <a:rPr lang="en-US" dirty="0">
                <a:solidFill>
                  <a:schemeClr val="bg2">
                    <a:lumMod val="10000"/>
                  </a:schemeClr>
                </a:solidFill>
                <a:latin typeface="Times New Roman" panose="02020603050405020304" pitchFamily="18" charset="0"/>
                <a:cs typeface="Times New Roman" panose="02020603050405020304" pitchFamily="18" charset="0"/>
              </a:rPr>
              <a:t>CMV is a herpes virus that establish lifelong latency, re activation can occur in immunocompromised individuals</a:t>
            </a:r>
          </a:p>
          <a:p>
            <a:pPr algn="l"/>
            <a:r>
              <a:rPr lang="en-US" b="1" dirty="0">
                <a:solidFill>
                  <a:schemeClr val="bg2">
                    <a:lumMod val="10000"/>
                  </a:schemeClr>
                </a:solidFill>
                <a:latin typeface="Times New Roman" panose="02020603050405020304" pitchFamily="18" charset="0"/>
                <a:cs typeface="Times New Roman" panose="02020603050405020304" pitchFamily="18" charset="0"/>
              </a:rPr>
              <a:t>High risk groups:</a:t>
            </a:r>
          </a:p>
          <a:p>
            <a:pPr lvl="1">
              <a:buFont typeface="Wingdings" panose="05000000000000000000" pitchFamily="2" charset="2"/>
              <a:buChar char="§"/>
            </a:pPr>
            <a:r>
              <a:rPr lang="en-US" sz="2800" dirty="0">
                <a:solidFill>
                  <a:schemeClr val="bg2">
                    <a:lumMod val="10000"/>
                  </a:schemeClr>
                </a:solidFill>
                <a:latin typeface="Times New Roman" panose="02020603050405020304" pitchFamily="18" charset="0"/>
                <a:cs typeface="Times New Roman" panose="02020603050405020304" pitchFamily="18" charset="0"/>
              </a:rPr>
              <a:t> SOT recipient</a:t>
            </a:r>
          </a:p>
          <a:p>
            <a:pPr lvl="1">
              <a:buFont typeface="Wingdings" panose="05000000000000000000" pitchFamily="2" charset="2"/>
              <a:buChar char="§"/>
            </a:pPr>
            <a:r>
              <a:rPr lang="en-US" sz="2800" dirty="0">
                <a:solidFill>
                  <a:schemeClr val="bg2">
                    <a:lumMod val="10000"/>
                  </a:schemeClr>
                </a:solidFill>
                <a:latin typeface="Times New Roman" panose="02020603050405020304" pitchFamily="18" charset="0"/>
                <a:cs typeface="Times New Roman" panose="02020603050405020304" pitchFamily="18" charset="0"/>
              </a:rPr>
              <a:t>HSCT recipient </a:t>
            </a:r>
          </a:p>
          <a:p>
            <a:pPr lvl="1">
              <a:buFont typeface="Wingdings" panose="05000000000000000000" pitchFamily="2" charset="2"/>
              <a:buChar char="§"/>
            </a:pPr>
            <a:r>
              <a:rPr lang="en-US" sz="2800" dirty="0">
                <a:solidFill>
                  <a:schemeClr val="bg2">
                    <a:lumMod val="10000"/>
                  </a:schemeClr>
                </a:solidFill>
                <a:latin typeface="Times New Roman" panose="02020603050405020304" pitchFamily="18" charset="0"/>
                <a:cs typeface="Times New Roman" panose="02020603050405020304" pitchFamily="18" charset="0"/>
              </a:rPr>
              <a:t>Hematological malignancy </a:t>
            </a:r>
          </a:p>
          <a:p>
            <a:pPr lvl="1">
              <a:buFont typeface="Wingdings" panose="05000000000000000000" pitchFamily="2" charset="2"/>
              <a:buChar char="§"/>
            </a:pPr>
            <a:r>
              <a:rPr lang="en-US" sz="2800" dirty="0">
                <a:solidFill>
                  <a:schemeClr val="bg2">
                    <a:lumMod val="10000"/>
                  </a:schemeClr>
                </a:solidFill>
                <a:latin typeface="Times New Roman" panose="02020603050405020304" pitchFamily="18" charset="0"/>
                <a:cs typeface="Times New Roman" panose="02020603050405020304" pitchFamily="18" charset="0"/>
              </a:rPr>
              <a:t>Individual on intensive </a:t>
            </a:r>
            <a:r>
              <a:rPr lang="en-US" sz="2800" b="1" dirty="0">
                <a:solidFill>
                  <a:schemeClr val="bg2">
                    <a:lumMod val="10000"/>
                  </a:schemeClr>
                </a:solidFill>
                <a:latin typeface="Times New Roman" panose="02020603050405020304" pitchFamily="18" charset="0"/>
                <a:cs typeface="Times New Roman" panose="02020603050405020304" pitchFamily="18" charset="0"/>
              </a:rPr>
              <a:t>IS</a:t>
            </a:r>
          </a:p>
          <a:p>
            <a:pPr algn="l"/>
            <a:r>
              <a:rPr lang="en-US" dirty="0">
                <a:solidFill>
                  <a:schemeClr val="bg2">
                    <a:lumMod val="10000"/>
                  </a:schemeClr>
                </a:solidFill>
                <a:latin typeface="Times New Roman" panose="02020603050405020304" pitchFamily="18" charset="0"/>
                <a:cs typeface="Times New Roman" panose="02020603050405020304" pitchFamily="18" charset="0"/>
              </a:rPr>
              <a:t>Independent risk factor for both graft loss and death</a:t>
            </a:r>
          </a:p>
          <a:p>
            <a:pPr algn="l"/>
            <a:r>
              <a:rPr lang="en-US" dirty="0">
                <a:solidFill>
                  <a:schemeClr val="bg2">
                    <a:lumMod val="10000"/>
                  </a:schemeClr>
                </a:solidFill>
                <a:latin typeface="Times New Roman" panose="02020603050405020304" pitchFamily="18" charset="0"/>
                <a:cs typeface="Times New Roman" panose="02020603050405020304" pitchFamily="18" charset="0"/>
              </a:rPr>
              <a:t> May result in fever and leukopenia, hepatitis, colitis, pneumonitis, esophagitis, gastritis, and retinitis</a:t>
            </a:r>
          </a:p>
          <a:p>
            <a:pPr algn="l"/>
            <a:endParaRPr lang="en-US" dirty="0">
              <a:solidFill>
                <a:schemeClr val="bg2">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0148068"/>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475406" cy="835706"/>
          </a:xfrm>
        </p:spPr>
        <p:txBody>
          <a:bodyPr>
            <a:normAutofit/>
          </a:bodyPr>
          <a:lstStyle/>
          <a:p>
            <a:r>
              <a:rPr lang="en-US" sz="4000" b="1" dirty="0">
                <a:solidFill>
                  <a:schemeClr val="bg2">
                    <a:lumMod val="10000"/>
                  </a:schemeClr>
                </a:solidFill>
                <a:latin typeface="Times New Roman" panose="02020603050405020304" pitchFamily="18" charset="0"/>
                <a:cs typeface="Times New Roman" panose="02020603050405020304" pitchFamily="18" charset="0"/>
              </a:rPr>
              <a:t>Diagnosis and monitoring</a:t>
            </a:r>
          </a:p>
        </p:txBody>
      </p:sp>
      <p:sp>
        <p:nvSpPr>
          <p:cNvPr id="3" name="Content Placeholder 2"/>
          <p:cNvSpPr>
            <a:spLocks noGrp="1"/>
          </p:cNvSpPr>
          <p:nvPr>
            <p:ph idx="1"/>
          </p:nvPr>
        </p:nvSpPr>
        <p:spPr>
          <a:xfrm>
            <a:off x="206477" y="1110344"/>
            <a:ext cx="11754466" cy="5349450"/>
          </a:xfrm>
        </p:spPr>
        <p:txBody>
          <a:bodyPr>
            <a:normAutofit fontScale="92500" lnSpcReduction="20000"/>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 Cannot be diagnosed reliably on clinical grounds alone.</a:t>
            </a:r>
          </a:p>
          <a:p>
            <a:r>
              <a:rPr lang="en-US" b="1" dirty="0">
                <a:solidFill>
                  <a:schemeClr val="bg2">
                    <a:lumMod val="10000"/>
                  </a:schemeClr>
                </a:solidFill>
                <a:latin typeface="Times New Roman" panose="02020603050405020304" pitchFamily="18" charset="0"/>
                <a:cs typeface="Times New Roman" panose="02020603050405020304" pitchFamily="18" charset="0"/>
              </a:rPr>
              <a:t>Screening- </a:t>
            </a:r>
            <a:r>
              <a:rPr lang="en-US" dirty="0">
                <a:solidFill>
                  <a:schemeClr val="bg2">
                    <a:lumMod val="10000"/>
                  </a:schemeClr>
                </a:solidFill>
                <a:latin typeface="Times New Roman" panose="02020603050405020304" pitchFamily="18" charset="0"/>
                <a:cs typeface="Times New Roman" panose="02020603050405020304" pitchFamily="18" charset="0"/>
              </a:rPr>
              <a:t>pre-transplant CMV </a:t>
            </a:r>
            <a:r>
              <a:rPr lang="en-US" dirty="0" err="1">
                <a:solidFill>
                  <a:schemeClr val="bg2">
                    <a:lumMod val="10000"/>
                  </a:schemeClr>
                </a:solidFill>
                <a:latin typeface="Times New Roman" panose="02020603050405020304" pitchFamily="18" charset="0"/>
                <a:cs typeface="Times New Roman" panose="02020603050405020304" pitchFamily="18" charset="0"/>
              </a:rPr>
              <a:t>serostatus</a:t>
            </a:r>
            <a:r>
              <a:rPr lang="en-US" dirty="0">
                <a:solidFill>
                  <a:schemeClr val="bg2">
                    <a:lumMod val="10000"/>
                  </a:schemeClr>
                </a:solidFill>
                <a:latin typeface="Times New Roman" panose="02020603050405020304" pitchFamily="18" charset="0"/>
                <a:cs typeface="Times New Roman" panose="02020603050405020304" pitchFamily="18" charset="0"/>
              </a:rPr>
              <a:t> assessment, CMV IgG</a:t>
            </a:r>
          </a:p>
          <a:p>
            <a:r>
              <a:rPr lang="en-US" b="1" dirty="0">
                <a:solidFill>
                  <a:schemeClr val="bg2">
                    <a:lumMod val="10000"/>
                  </a:schemeClr>
                </a:solidFill>
                <a:latin typeface="Times New Roman" panose="02020603050405020304" pitchFamily="18" charset="0"/>
                <a:cs typeface="Times New Roman" panose="02020603050405020304" pitchFamily="18" charset="0"/>
              </a:rPr>
              <a:t>Monitoring- </a:t>
            </a:r>
            <a:r>
              <a:rPr lang="en-US" dirty="0">
                <a:solidFill>
                  <a:schemeClr val="bg2">
                    <a:lumMod val="10000"/>
                  </a:schemeClr>
                </a:solidFill>
                <a:latin typeface="Times New Roman" panose="02020603050405020304" pitchFamily="18" charset="0"/>
                <a:cs typeface="Times New Roman" panose="02020603050405020304" pitchFamily="18" charset="0"/>
              </a:rPr>
              <a:t>weekly monitoring during period of  highest risk (first 3mo post SOT)</a:t>
            </a:r>
          </a:p>
          <a:p>
            <a:r>
              <a:rPr lang="en-US" b="1" dirty="0">
                <a:solidFill>
                  <a:schemeClr val="bg2">
                    <a:lumMod val="10000"/>
                  </a:schemeClr>
                </a:solidFill>
                <a:latin typeface="Times New Roman" panose="02020603050405020304" pitchFamily="18" charset="0"/>
                <a:cs typeface="Times New Roman" panose="02020603050405020304" pitchFamily="18" charset="0"/>
              </a:rPr>
              <a:t>Diagnosis</a:t>
            </a:r>
          </a:p>
          <a:p>
            <a:pPr marL="0" indent="0">
              <a:buNone/>
            </a:pPr>
            <a:r>
              <a:rPr lang="en-US" b="1" dirty="0">
                <a:solidFill>
                  <a:schemeClr val="bg2">
                    <a:lumMod val="10000"/>
                  </a:schemeClr>
                </a:solidFill>
                <a:latin typeface="Times New Roman" panose="02020603050405020304" pitchFamily="18" charset="0"/>
                <a:cs typeface="Times New Roman" panose="02020603050405020304" pitchFamily="18" charset="0"/>
              </a:rPr>
              <a:t> </a:t>
            </a:r>
            <a:r>
              <a:rPr lang="en-US" dirty="0">
                <a:solidFill>
                  <a:schemeClr val="bg2">
                    <a:lumMod val="10000"/>
                  </a:schemeClr>
                </a:solidFill>
                <a:latin typeface="Times New Roman" panose="02020603050405020304" pitchFamily="18" charset="0"/>
                <a:cs typeface="Times New Roman" panose="02020603050405020304" pitchFamily="18" charset="0"/>
              </a:rPr>
              <a:t>CMV in  blood by PCR along with ≥2 of the following :</a:t>
            </a:r>
          </a:p>
          <a:p>
            <a:pPr lvl="1">
              <a:buFont typeface="Wingdings" pitchFamily="2" charset="2"/>
              <a:buChar char="Ø"/>
            </a:pPr>
            <a:r>
              <a:rPr lang="en-US" dirty="0">
                <a:solidFill>
                  <a:schemeClr val="bg2">
                    <a:lumMod val="10000"/>
                  </a:schemeClr>
                </a:solidFill>
                <a:latin typeface="Times New Roman" panose="02020603050405020304" pitchFamily="18" charset="0"/>
                <a:cs typeface="Times New Roman" panose="02020603050405020304" pitchFamily="18" charset="0"/>
              </a:rPr>
              <a:t>Fever ≥38C for ≥2 days.</a:t>
            </a:r>
          </a:p>
          <a:p>
            <a:pPr lvl="1">
              <a:buFont typeface="Wingdings" pitchFamily="2" charset="2"/>
              <a:buChar char="Ø"/>
            </a:pPr>
            <a:r>
              <a:rPr lang="en-US" dirty="0">
                <a:solidFill>
                  <a:schemeClr val="bg2">
                    <a:lumMod val="10000"/>
                  </a:schemeClr>
                </a:solidFill>
                <a:latin typeface="Times New Roman" panose="02020603050405020304" pitchFamily="18" charset="0"/>
                <a:cs typeface="Times New Roman" panose="02020603050405020304" pitchFamily="18" charset="0"/>
              </a:rPr>
              <a:t>New or increased malaise </a:t>
            </a:r>
          </a:p>
          <a:p>
            <a:pPr lvl="1">
              <a:buFont typeface="Wingdings" pitchFamily="2" charset="2"/>
              <a:buChar char="Ø"/>
            </a:pPr>
            <a:r>
              <a:rPr lang="en-US" dirty="0">
                <a:solidFill>
                  <a:schemeClr val="bg2">
                    <a:lumMod val="10000"/>
                  </a:schemeClr>
                </a:solidFill>
                <a:latin typeface="Times New Roman" panose="02020603050405020304" pitchFamily="18" charset="0"/>
                <a:cs typeface="Times New Roman" panose="02020603050405020304" pitchFamily="18" charset="0"/>
              </a:rPr>
              <a:t>Leukopenia or neutropenia on two separate, at least 24hrs apart</a:t>
            </a:r>
          </a:p>
          <a:p>
            <a:pPr lvl="1">
              <a:buFont typeface="Wingdings" pitchFamily="2" charset="2"/>
              <a:buChar char="Ø"/>
            </a:pPr>
            <a:r>
              <a:rPr lang="en-US" dirty="0">
                <a:solidFill>
                  <a:schemeClr val="bg2">
                    <a:lumMod val="10000"/>
                  </a:schemeClr>
                </a:solidFill>
                <a:latin typeface="Times New Roman" panose="02020603050405020304" pitchFamily="18" charset="0"/>
                <a:cs typeface="Times New Roman" panose="02020603050405020304" pitchFamily="18" charset="0"/>
              </a:rPr>
              <a:t>Lymphocytosis of ≥5 percent.</a:t>
            </a:r>
          </a:p>
          <a:p>
            <a:pPr lvl="1">
              <a:buFont typeface="Wingdings" pitchFamily="2" charset="2"/>
              <a:buChar char="Ø"/>
            </a:pPr>
            <a:r>
              <a:rPr lang="en-US" dirty="0">
                <a:solidFill>
                  <a:schemeClr val="bg2">
                    <a:lumMod val="10000"/>
                  </a:schemeClr>
                </a:solidFill>
                <a:latin typeface="Times New Roman" panose="02020603050405020304" pitchFamily="18" charset="0"/>
                <a:cs typeface="Times New Roman" panose="02020603050405020304" pitchFamily="18" charset="0"/>
              </a:rPr>
              <a:t>Thrombocytopenia </a:t>
            </a:r>
          </a:p>
          <a:p>
            <a:pPr lvl="1">
              <a:buFont typeface="Wingdings" pitchFamily="2" charset="2"/>
              <a:buChar char="Ø"/>
            </a:pPr>
            <a:r>
              <a:rPr lang="en-US" dirty="0">
                <a:solidFill>
                  <a:schemeClr val="bg2">
                    <a:lumMod val="10000"/>
                  </a:schemeClr>
                </a:solidFill>
                <a:latin typeface="Times New Roman" panose="02020603050405020304" pitchFamily="18" charset="0"/>
                <a:cs typeface="Times New Roman" panose="02020603050405020304" pitchFamily="18" charset="0"/>
              </a:rPr>
              <a:t>Elevation of transaminases to ≥2 times </a:t>
            </a:r>
          </a:p>
          <a:p>
            <a:endParaRPr lang="en-US" dirty="0">
              <a:solidFill>
                <a:schemeClr val="bg2">
                  <a:lumMod val="10000"/>
                </a:schemeClr>
              </a:solidFill>
              <a:latin typeface="Times New Roman" panose="02020603050405020304" pitchFamily="18" charset="0"/>
              <a:cs typeface="Times New Roman" panose="02020603050405020304" pitchFamily="18" charset="0"/>
            </a:endParaRPr>
          </a:p>
          <a:p>
            <a:pPr marL="0" indent="0">
              <a:buNone/>
            </a:pPr>
            <a:endParaRPr lang="en-US" dirty="0">
              <a:solidFill>
                <a:schemeClr val="bg2">
                  <a:lumMod val="10000"/>
                </a:schemeClr>
              </a:solidFill>
            </a:endParaRPr>
          </a:p>
        </p:txBody>
      </p:sp>
    </p:spTree>
    <p:extLst>
      <p:ext uri="{BB962C8B-B14F-4D97-AF65-F5344CB8AC3E}">
        <p14:creationId xmlns:p14="http://schemas.microsoft.com/office/powerpoint/2010/main" val="2918762813"/>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959EB-8231-E18F-8315-083E65C3999B}"/>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AB771FD-EC27-1C68-C849-EFB1BE863BC3}"/>
              </a:ext>
            </a:extLst>
          </p:cNvPr>
          <p:cNvPicPr>
            <a:picLocks noChangeAspect="1"/>
          </p:cNvPicPr>
          <p:nvPr/>
        </p:nvPicPr>
        <p:blipFill rotWithShape="1">
          <a:blip r:embed="rId3"/>
          <a:srcRect l="5121" r="3953" b="2194"/>
          <a:stretch/>
        </p:blipFill>
        <p:spPr>
          <a:xfrm>
            <a:off x="2209800" y="1499197"/>
            <a:ext cx="3608615" cy="3774933"/>
          </a:xfrm>
          <a:prstGeom prst="rect">
            <a:avLst/>
          </a:prstGeom>
        </p:spPr>
      </p:pic>
      <p:pic>
        <p:nvPicPr>
          <p:cNvPr id="6" name="Content Placeholder 5">
            <a:extLst>
              <a:ext uri="{FF2B5EF4-FFF2-40B4-BE49-F238E27FC236}">
                <a16:creationId xmlns:a16="http://schemas.microsoft.com/office/drawing/2014/main" id="{606FBCBA-D750-9C21-9A8C-BF604562FACA}"/>
              </a:ext>
            </a:extLst>
          </p:cNvPr>
          <p:cNvPicPr>
            <a:picLocks noGrp="1" noChangeAspect="1"/>
          </p:cNvPicPr>
          <p:nvPr>
            <p:ph sz="half" idx="1"/>
          </p:nvPr>
        </p:nvPicPr>
        <p:blipFill rotWithShape="1">
          <a:blip r:embed="rId4"/>
          <a:srcRect l="3333" r="-1" b="-1"/>
          <a:stretch/>
        </p:blipFill>
        <p:spPr>
          <a:xfrm>
            <a:off x="6216649" y="1348248"/>
            <a:ext cx="3968751" cy="4025304"/>
          </a:xfrm>
          <a:prstGeom prst="rect">
            <a:avLst/>
          </a:prstGeom>
          <a:noFill/>
        </p:spPr>
      </p:pic>
      <p:sp>
        <p:nvSpPr>
          <p:cNvPr id="3" name="Rectangle 2">
            <a:extLst>
              <a:ext uri="{FF2B5EF4-FFF2-40B4-BE49-F238E27FC236}">
                <a16:creationId xmlns:a16="http://schemas.microsoft.com/office/drawing/2014/main" id="{0EB6853B-DC67-13D1-4421-4C0854A00B50}"/>
              </a:ext>
            </a:extLst>
          </p:cNvPr>
          <p:cNvSpPr/>
          <p:nvPr/>
        </p:nvSpPr>
        <p:spPr>
          <a:xfrm>
            <a:off x="2634343" y="5535386"/>
            <a:ext cx="7429500" cy="102870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defTabSz="457200" fontAlgn="base">
              <a:spcBef>
                <a:spcPct val="0"/>
              </a:spcBef>
              <a:spcAft>
                <a:spcPct val="0"/>
              </a:spcAft>
              <a:defRPr/>
            </a:pPr>
            <a:r>
              <a:rPr lang="en-US" sz="2000" dirty="0">
                <a:solidFill>
                  <a:srgbClr val="EEECE1">
                    <a:lumMod val="10000"/>
                  </a:srgbClr>
                </a:solidFill>
                <a:latin typeface="Times New Roman" panose="02020603050405020304" pitchFamily="18" charset="0"/>
                <a:cs typeface="Times New Roman" panose="02020603050405020304" pitchFamily="18" charset="0"/>
              </a:rPr>
              <a:t>Yellow- white retinal infiltrates with scattered hemorrhages  resembling tomato sauce and cheese on pizza</a:t>
            </a:r>
          </a:p>
        </p:txBody>
      </p:sp>
      <p:sp>
        <p:nvSpPr>
          <p:cNvPr id="2" name="TextBox 1">
            <a:extLst>
              <a:ext uri="{FF2B5EF4-FFF2-40B4-BE49-F238E27FC236}">
                <a16:creationId xmlns:a16="http://schemas.microsoft.com/office/drawing/2014/main" id="{E02503E4-2803-2091-7F54-9B1D84F3D7EF}"/>
              </a:ext>
            </a:extLst>
          </p:cNvPr>
          <p:cNvSpPr txBox="1"/>
          <p:nvPr/>
        </p:nvSpPr>
        <p:spPr>
          <a:xfrm>
            <a:off x="2012074" y="491407"/>
            <a:ext cx="8329973" cy="769441"/>
          </a:xfrm>
          <a:prstGeom prst="rect">
            <a:avLst/>
          </a:prstGeom>
          <a:noFill/>
        </p:spPr>
        <p:txBody>
          <a:bodyPr wrap="none" rtlCol="0">
            <a:spAutoFit/>
          </a:bodyPr>
          <a:lstStyle/>
          <a:p>
            <a:r>
              <a:rPr lang="en-US" sz="4400" b="1" dirty="0">
                <a:solidFill>
                  <a:schemeClr val="bg2">
                    <a:lumMod val="10000"/>
                  </a:schemeClr>
                </a:solidFill>
                <a:latin typeface="Times New Roman" panose="02020603050405020304" pitchFamily="18" charset="0"/>
                <a:cs typeface="Times New Roman" panose="02020603050405020304" pitchFamily="18" charset="0"/>
              </a:rPr>
              <a:t>CMV retinitis on ophthalmoscope</a:t>
            </a:r>
            <a:endParaRPr lang="en-TZ" sz="4400" b="1" dirty="0">
              <a:solidFill>
                <a:schemeClr val="bg2">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5294484"/>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690" y="598693"/>
            <a:ext cx="9969910" cy="728662"/>
          </a:xfrm>
        </p:spPr>
        <p:txBody>
          <a:bodyPr>
            <a:normAutofit fontScale="90000"/>
          </a:bodyPr>
          <a:lstStyle/>
          <a:p>
            <a:pPr algn="ctr"/>
            <a:br>
              <a:rPr lang="en-US" dirty="0">
                <a:solidFill>
                  <a:schemeClr val="bg2">
                    <a:lumMod val="10000"/>
                  </a:schemeClr>
                </a:solidFill>
              </a:rPr>
            </a:br>
            <a:r>
              <a:rPr lang="en-US" sz="4900" b="1" dirty="0">
                <a:solidFill>
                  <a:schemeClr val="bg2">
                    <a:lumMod val="10000"/>
                  </a:schemeClr>
                </a:solidFill>
                <a:latin typeface="Times New Roman" panose="02020603050405020304" pitchFamily="18" charset="0"/>
                <a:cs typeface="Times New Roman" panose="02020603050405020304" pitchFamily="18" charset="0"/>
              </a:rPr>
              <a:t>CMV </a:t>
            </a:r>
            <a:r>
              <a:rPr lang="en-US" sz="4000" b="1" dirty="0">
                <a:solidFill>
                  <a:schemeClr val="bg2">
                    <a:lumMod val="10000"/>
                  </a:schemeClr>
                </a:solidFill>
                <a:latin typeface="Times New Roman" panose="02020603050405020304" pitchFamily="18" charset="0"/>
                <a:cs typeface="Times New Roman" panose="02020603050405020304" pitchFamily="18" charset="0"/>
              </a:rPr>
              <a:t>Prevention</a:t>
            </a:r>
            <a:br>
              <a:rPr lang="en-US" dirty="0">
                <a:solidFill>
                  <a:schemeClr val="bg2">
                    <a:lumMod val="10000"/>
                  </a:schemeClr>
                </a:solidFill>
              </a:rPr>
            </a:br>
            <a:endParaRPr lang="en-US" dirty="0">
              <a:solidFill>
                <a:schemeClr val="bg2">
                  <a:lumMod val="10000"/>
                </a:schemeClr>
              </a:solidFill>
            </a:endParaRPr>
          </a:p>
        </p:txBody>
      </p:sp>
      <p:sp>
        <p:nvSpPr>
          <p:cNvPr id="3" name="Content Placeholder 2"/>
          <p:cNvSpPr>
            <a:spLocks noGrp="1"/>
          </p:cNvSpPr>
          <p:nvPr>
            <p:ph idx="1"/>
          </p:nvPr>
        </p:nvSpPr>
        <p:spPr>
          <a:xfrm>
            <a:off x="545690" y="1430594"/>
            <a:ext cx="10913807" cy="4911212"/>
          </a:xfrm>
        </p:spPr>
        <p:txBody>
          <a:bodyPr>
            <a:normAutofit/>
          </a:bodyPr>
          <a:lstStyle/>
          <a:p>
            <a:r>
              <a:rPr lang="en-US" sz="3000" b="1" i="1" dirty="0">
                <a:solidFill>
                  <a:schemeClr val="bg2">
                    <a:lumMod val="10000"/>
                  </a:schemeClr>
                </a:solidFill>
                <a:latin typeface="Times New Roman" panose="02020603050405020304" pitchFamily="18" charset="0"/>
                <a:cs typeface="Times New Roman" panose="02020603050405020304" pitchFamily="18" charset="0"/>
              </a:rPr>
              <a:t>VACCINES</a:t>
            </a:r>
            <a:r>
              <a:rPr lang="en-US" sz="3000" dirty="0">
                <a:solidFill>
                  <a:schemeClr val="bg2">
                    <a:lumMod val="10000"/>
                  </a:schemeClr>
                </a:solidFill>
                <a:latin typeface="Times New Roman" panose="02020603050405020304" pitchFamily="18" charset="0"/>
                <a:cs typeface="Times New Roman" panose="02020603050405020304" pitchFamily="18" charset="0"/>
              </a:rPr>
              <a:t>:  no licensed CMV vaccine available, ongoing trials (</a:t>
            </a:r>
            <a:r>
              <a:rPr lang="en-US" sz="3000" b="1" dirty="0">
                <a:solidFill>
                  <a:schemeClr val="bg2">
                    <a:lumMod val="10000"/>
                  </a:schemeClr>
                </a:solidFill>
                <a:latin typeface="Times New Roman" panose="02020603050405020304" pitchFamily="18" charset="0"/>
                <a:cs typeface="Times New Roman" panose="02020603050405020304" pitchFamily="18" charset="0"/>
              </a:rPr>
              <a:t>moderna’s mRNA- 1647 closest to potential approval</a:t>
            </a:r>
            <a:r>
              <a:rPr lang="en-US" sz="3000" dirty="0">
                <a:solidFill>
                  <a:schemeClr val="bg2">
                    <a:lumMod val="10000"/>
                  </a:schemeClr>
                </a:solidFill>
                <a:latin typeface="Times New Roman" panose="02020603050405020304" pitchFamily="18" charset="0"/>
                <a:cs typeface="Times New Roman" panose="02020603050405020304" pitchFamily="18" charset="0"/>
              </a:rPr>
              <a:t>).</a:t>
            </a:r>
          </a:p>
          <a:p>
            <a:r>
              <a:rPr lang="en-US" sz="3000" dirty="0">
                <a:solidFill>
                  <a:schemeClr val="bg2">
                    <a:lumMod val="10000"/>
                  </a:schemeClr>
                </a:solidFill>
                <a:latin typeface="Times New Roman" panose="02020603050405020304" pitchFamily="18" charset="0"/>
                <a:cs typeface="Times New Roman" panose="02020603050405020304" pitchFamily="18" charset="0"/>
              </a:rPr>
              <a:t>Prevention of CMV infection and disease in SOT and HSCT recipients is usually based on one of two methods: </a:t>
            </a:r>
          </a:p>
          <a:p>
            <a:r>
              <a:rPr lang="en-US" sz="3000" b="1" dirty="0">
                <a:solidFill>
                  <a:schemeClr val="bg2">
                    <a:lumMod val="10000"/>
                  </a:schemeClr>
                </a:solidFill>
                <a:latin typeface="Times New Roman" panose="02020603050405020304" pitchFamily="18" charset="0"/>
                <a:cs typeface="Times New Roman" panose="02020603050405020304" pitchFamily="18" charset="0"/>
              </a:rPr>
              <a:t>universal prophylaxis </a:t>
            </a:r>
            <a:r>
              <a:rPr lang="en-US" sz="3000" dirty="0">
                <a:solidFill>
                  <a:schemeClr val="bg2">
                    <a:lumMod val="10000"/>
                  </a:schemeClr>
                </a:solidFill>
                <a:latin typeface="Times New Roman" panose="02020603050405020304" pitchFamily="18" charset="0"/>
                <a:cs typeface="Times New Roman" panose="02020603050405020304" pitchFamily="18" charset="0"/>
              </a:rPr>
              <a:t>or </a:t>
            </a:r>
            <a:r>
              <a:rPr lang="en-US" sz="3000" b="1" dirty="0">
                <a:solidFill>
                  <a:schemeClr val="bg2">
                    <a:lumMod val="10000"/>
                  </a:schemeClr>
                </a:solidFill>
                <a:latin typeface="Times New Roman" panose="02020603050405020304" pitchFamily="18" charset="0"/>
                <a:cs typeface="Times New Roman" panose="02020603050405020304" pitchFamily="18" charset="0"/>
              </a:rPr>
              <a:t>preemptive therapy</a:t>
            </a:r>
            <a:r>
              <a:rPr lang="en-US" sz="3000" dirty="0">
                <a:solidFill>
                  <a:schemeClr val="bg2">
                    <a:lumMod val="10000"/>
                  </a:schemeClr>
                </a:solidFill>
                <a:latin typeface="Times New Roman" panose="02020603050405020304" pitchFamily="18" charset="0"/>
                <a:cs typeface="Times New Roman" panose="02020603050405020304" pitchFamily="18" charset="0"/>
              </a:rPr>
              <a:t>. </a:t>
            </a:r>
          </a:p>
          <a:p>
            <a:r>
              <a:rPr lang="en-US" sz="3000" dirty="0">
                <a:solidFill>
                  <a:schemeClr val="bg2">
                    <a:lumMod val="10000"/>
                  </a:schemeClr>
                </a:solidFill>
                <a:latin typeface="Times New Roman" panose="02020603050405020304" pitchFamily="18" charset="0"/>
                <a:cs typeface="Times New Roman" panose="02020603050405020304" pitchFamily="18" charset="0"/>
              </a:rPr>
              <a:t>With </a:t>
            </a:r>
            <a:r>
              <a:rPr lang="en-US" sz="3000" b="1" dirty="0">
                <a:solidFill>
                  <a:schemeClr val="bg2">
                    <a:lumMod val="10000"/>
                  </a:schemeClr>
                </a:solidFill>
                <a:latin typeface="Times New Roman" panose="02020603050405020304" pitchFamily="18" charset="0"/>
                <a:cs typeface="Times New Roman" panose="02020603050405020304" pitchFamily="18" charset="0"/>
              </a:rPr>
              <a:t>universal prophylaxis</a:t>
            </a:r>
            <a:r>
              <a:rPr lang="en-US" sz="3000" dirty="0">
                <a:solidFill>
                  <a:schemeClr val="bg2">
                    <a:lumMod val="10000"/>
                  </a:schemeClr>
                </a:solidFill>
                <a:latin typeface="Times New Roman" panose="02020603050405020304" pitchFamily="18" charset="0"/>
                <a:cs typeface="Times New Roman" panose="02020603050405020304" pitchFamily="18" charset="0"/>
              </a:rPr>
              <a:t>, antiviral drugs are used for a defined period, often 3 or 6 months with (Val)ganciclovir.</a:t>
            </a: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7141907"/>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39682" y="155205"/>
            <a:ext cx="6975987" cy="584775"/>
          </a:xfrm>
          <a:prstGeom prst="rect">
            <a:avLst/>
          </a:prstGeom>
          <a:noFill/>
        </p:spPr>
        <p:txBody>
          <a:bodyPr wrap="square" rtlCol="0">
            <a:spAutoFit/>
          </a:bodyPr>
          <a:lstStyle/>
          <a:p>
            <a:pPr algn="ctr"/>
            <a:r>
              <a:rPr lang="en-US" sz="3200" b="1" dirty="0">
                <a:solidFill>
                  <a:schemeClr val="bg2">
                    <a:lumMod val="10000"/>
                  </a:schemeClr>
                </a:solidFill>
                <a:latin typeface="Times New Roman" panose="02020603050405020304" pitchFamily="18" charset="0"/>
                <a:cs typeface="Times New Roman" panose="02020603050405020304" pitchFamily="18" charset="0"/>
              </a:rPr>
              <a:t>CMV- TREATMENT</a:t>
            </a:r>
          </a:p>
        </p:txBody>
      </p:sp>
      <p:pic>
        <p:nvPicPr>
          <p:cNvPr id="4" name="Picture 3">
            <a:extLst>
              <a:ext uri="{FF2B5EF4-FFF2-40B4-BE49-F238E27FC236}">
                <a16:creationId xmlns:a16="http://schemas.microsoft.com/office/drawing/2014/main" id="{03F89634-143F-6FF3-1647-1DD4B7708FAD}"/>
              </a:ext>
            </a:extLst>
          </p:cNvPr>
          <p:cNvPicPr>
            <a:picLocks noChangeAspect="1"/>
          </p:cNvPicPr>
          <p:nvPr/>
        </p:nvPicPr>
        <p:blipFill>
          <a:blip r:embed="rId3"/>
          <a:stretch>
            <a:fillRect/>
          </a:stretch>
        </p:blipFill>
        <p:spPr>
          <a:xfrm>
            <a:off x="952500" y="0"/>
            <a:ext cx="10287000" cy="6858000"/>
          </a:xfrm>
          <a:prstGeom prst="rect">
            <a:avLst/>
          </a:prstGeom>
        </p:spPr>
      </p:pic>
    </p:spTree>
    <p:extLst>
      <p:ext uri="{BB962C8B-B14F-4D97-AF65-F5344CB8AC3E}">
        <p14:creationId xmlns:p14="http://schemas.microsoft.com/office/powerpoint/2010/main" val="2452077389"/>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8DEA1-BAC0-8414-3C09-0816F54D4905}"/>
              </a:ext>
            </a:extLst>
          </p:cNvPr>
          <p:cNvSpPr>
            <a:spLocks noGrp="1"/>
          </p:cNvSpPr>
          <p:nvPr>
            <p:ph type="title"/>
          </p:nvPr>
        </p:nvSpPr>
        <p:spPr>
          <a:xfrm>
            <a:off x="838200" y="365126"/>
            <a:ext cx="10515600" cy="304726"/>
          </a:xfrm>
        </p:spPr>
        <p:txBody>
          <a:bodyPr/>
          <a:lstStyle/>
          <a:p>
            <a:pPr algn="ctr"/>
            <a:r>
              <a:rPr lang="en-US" b="1" dirty="0">
                <a:solidFill>
                  <a:schemeClr val="bg2">
                    <a:lumMod val="10000"/>
                  </a:schemeClr>
                </a:solidFill>
                <a:latin typeface="Times New Roman" panose="02020603050405020304" pitchFamily="18" charset="0"/>
                <a:cs typeface="Times New Roman" panose="02020603050405020304" pitchFamily="18" charset="0"/>
              </a:rPr>
              <a:t>  CRYPTOCOCCAL MENINGITIS</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451FCE9-E4A6-24BF-E696-94B21F66FEB2}"/>
              </a:ext>
            </a:extLst>
          </p:cNvPr>
          <p:cNvSpPr>
            <a:spLocks noGrp="1"/>
          </p:cNvSpPr>
          <p:nvPr>
            <p:ph idx="1"/>
          </p:nvPr>
        </p:nvSpPr>
        <p:spPr>
          <a:xfrm>
            <a:off x="486697" y="893135"/>
            <a:ext cx="10867103" cy="5463216"/>
          </a:xfrm>
        </p:spPr>
        <p:txBody>
          <a:bodyPr>
            <a:normAutofit lnSpcReduction="10000"/>
          </a:bodyPr>
          <a:lstStyle/>
          <a:p>
            <a:pPr algn="l"/>
            <a:r>
              <a:rPr lang="en-US" dirty="0">
                <a:solidFill>
                  <a:srgbClr val="222222"/>
                </a:solidFill>
                <a:latin typeface="Times New Roman" panose="02020603050405020304" pitchFamily="18" charset="0"/>
                <a:cs typeface="Times New Roman" panose="02020603050405020304" pitchFamily="18" charset="0"/>
              </a:rPr>
              <a:t>Cryptococcal </a:t>
            </a:r>
            <a:r>
              <a:rPr lang="en-US" dirty="0">
                <a:solidFill>
                  <a:schemeClr val="bg2">
                    <a:lumMod val="10000"/>
                  </a:schemeClr>
                </a:solidFill>
                <a:latin typeface="Times New Roman" panose="02020603050405020304" pitchFamily="18" charset="0"/>
                <a:cs typeface="Times New Roman" panose="02020603050405020304" pitchFamily="18" charset="0"/>
              </a:rPr>
              <a:t>meningitis</a:t>
            </a:r>
            <a:r>
              <a:rPr lang="en-US" dirty="0">
                <a:solidFill>
                  <a:srgbClr val="222222"/>
                </a:solidFill>
                <a:latin typeface="Times New Roman" panose="02020603050405020304" pitchFamily="18" charset="0"/>
                <a:cs typeface="Times New Roman" panose="02020603050405020304" pitchFamily="18" charset="0"/>
              </a:rPr>
              <a:t> is a life-threatening fungal infection caused by the </a:t>
            </a:r>
            <a:r>
              <a:rPr lang="en-US" i="1" dirty="0">
                <a:solidFill>
                  <a:srgbClr val="222222"/>
                </a:solidFill>
                <a:latin typeface="Times New Roman" panose="02020603050405020304" pitchFamily="18" charset="0"/>
                <a:cs typeface="Times New Roman" panose="02020603050405020304" pitchFamily="18" charset="0"/>
              </a:rPr>
              <a:t>C.neoformans</a:t>
            </a:r>
            <a:r>
              <a:rPr lang="en-US" dirty="0">
                <a:solidFill>
                  <a:srgbClr val="222222"/>
                </a:solidFill>
                <a:latin typeface="Times New Roman" panose="02020603050405020304" pitchFamily="18" charset="0"/>
                <a:cs typeface="Times New Roman" panose="02020603050405020304" pitchFamily="18" charset="0"/>
              </a:rPr>
              <a:t>/</a:t>
            </a:r>
            <a:r>
              <a:rPr lang="en-US" i="1" dirty="0" err="1">
                <a:solidFill>
                  <a:srgbClr val="222222"/>
                </a:solidFill>
                <a:latin typeface="Times New Roman" panose="02020603050405020304" pitchFamily="18" charset="0"/>
                <a:cs typeface="Times New Roman" panose="02020603050405020304" pitchFamily="18" charset="0"/>
              </a:rPr>
              <a:t>C.gattii</a:t>
            </a:r>
            <a:r>
              <a:rPr lang="en-US" dirty="0">
                <a:solidFill>
                  <a:srgbClr val="222222"/>
                </a:solidFill>
                <a:latin typeface="Times New Roman" panose="02020603050405020304" pitchFamily="18" charset="0"/>
                <a:cs typeface="Times New Roman" panose="02020603050405020304" pitchFamily="18" charset="0"/>
              </a:rPr>
              <a:t> species </a:t>
            </a:r>
          </a:p>
          <a:p>
            <a:pPr algn="l"/>
            <a:r>
              <a:rPr lang="en-US" i="1" dirty="0">
                <a:solidFill>
                  <a:schemeClr val="bg2">
                    <a:lumMod val="10000"/>
                  </a:schemeClr>
                </a:solidFill>
                <a:latin typeface="Times New Roman" panose="02020603050405020304" pitchFamily="18" charset="0"/>
                <a:cs typeface="Times New Roman" panose="02020603050405020304" pitchFamily="18" charset="0"/>
              </a:rPr>
              <a:t>C. gattii</a:t>
            </a:r>
            <a:r>
              <a:rPr lang="en-US" dirty="0">
                <a:solidFill>
                  <a:schemeClr val="bg2">
                    <a:lumMod val="10000"/>
                  </a:schemeClr>
                </a:solidFill>
                <a:latin typeface="Times New Roman" panose="02020603050405020304" pitchFamily="18" charset="0"/>
                <a:cs typeface="Times New Roman" panose="02020603050405020304" pitchFamily="18" charset="0"/>
              </a:rPr>
              <a:t> has been highly associated with </a:t>
            </a:r>
            <a:r>
              <a:rPr lang="en-US" b="1" dirty="0">
                <a:solidFill>
                  <a:schemeClr val="bg2">
                    <a:lumMod val="10000"/>
                  </a:schemeClr>
                </a:solidFill>
                <a:latin typeface="Times New Roman" panose="02020603050405020304" pitchFamily="18" charset="0"/>
                <a:cs typeface="Times New Roman" panose="02020603050405020304" pitchFamily="18" charset="0"/>
              </a:rPr>
              <a:t>IS</a:t>
            </a:r>
            <a:r>
              <a:rPr lang="en-US" dirty="0">
                <a:solidFill>
                  <a:schemeClr val="bg2">
                    <a:lumMod val="10000"/>
                  </a:schemeClr>
                </a:solidFill>
                <a:latin typeface="Times New Roman" panose="02020603050405020304" pitchFamily="18" charset="0"/>
                <a:cs typeface="Times New Roman" panose="02020603050405020304" pitchFamily="18" charset="0"/>
              </a:rPr>
              <a:t> patients, especially those with anti-GM-CSF autoantibodies</a:t>
            </a:r>
            <a:endParaRPr lang="en-US" sz="2400" dirty="0">
              <a:solidFill>
                <a:schemeClr val="bg2">
                  <a:lumMod val="10000"/>
                </a:schemeClr>
              </a:solidFill>
              <a:latin typeface="Times New Roman" panose="02020603050405020304" pitchFamily="18" charset="0"/>
              <a:cs typeface="Times New Roman" panose="02020603050405020304" pitchFamily="18" charset="0"/>
            </a:endParaRPr>
          </a:p>
          <a:p>
            <a:pPr>
              <a:buNone/>
            </a:pPr>
            <a:r>
              <a:rPr lang="en-US" b="1" dirty="0">
                <a:solidFill>
                  <a:schemeClr val="bg2">
                    <a:lumMod val="10000"/>
                  </a:schemeClr>
                </a:solidFill>
                <a:latin typeface="Times New Roman" panose="02020603050405020304" pitchFamily="18" charset="0"/>
                <a:cs typeface="Times New Roman" panose="02020603050405020304" pitchFamily="18" charset="0"/>
              </a:rPr>
              <a:t>Risk Populations</a:t>
            </a:r>
            <a:r>
              <a:rPr lang="en-US" dirty="0">
                <a:solidFill>
                  <a:schemeClr val="bg2">
                    <a:lumMod val="10000"/>
                  </a:schemeClr>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Solid organ transplant recipients</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Patients on immunosuppressive therapy (e.g., for autoimmune diseases)</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Individuals with hematologic malignancies</a:t>
            </a:r>
          </a:p>
          <a:p>
            <a:pPr>
              <a:buFont typeface="Arial" panose="020B0604020202020204" pitchFamily="34" charset="0"/>
              <a:buChar char="•"/>
            </a:pPr>
            <a:r>
              <a:rPr lang="en-US" dirty="0">
                <a:solidFill>
                  <a:schemeClr val="bg2">
                    <a:lumMod val="10000"/>
                  </a:schemeClr>
                </a:solidFill>
                <a:latin typeface="Times New Roman" panose="02020603050405020304" pitchFamily="18" charset="0"/>
                <a:cs typeface="Times New Roman" panose="02020603050405020304" pitchFamily="18" charset="0"/>
              </a:rPr>
              <a:t>Patients receiving immunomodulatory treatments</a:t>
            </a:r>
          </a:p>
          <a:p>
            <a:pPr algn="l"/>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3270597"/>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E2258-D006-7DC7-2E75-7ECE5DAF02C2}"/>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EB12FC3-D47E-F841-8761-4EB59EA384AC}"/>
              </a:ext>
            </a:extLst>
          </p:cNvPr>
          <p:cNvSpPr>
            <a:spLocks noGrp="1"/>
          </p:cNvSpPr>
          <p:nvPr>
            <p:ph type="subTitle" idx="1"/>
          </p:nvPr>
        </p:nvSpPr>
        <p:spPr/>
        <p:txBody>
          <a:bodyPr/>
          <a:lstStyle/>
          <a:p>
            <a:endParaRPr lang="en-US"/>
          </a:p>
        </p:txBody>
      </p:sp>
      <p:pic>
        <p:nvPicPr>
          <p:cNvPr id="8" name="Picture 7">
            <a:extLst>
              <a:ext uri="{FF2B5EF4-FFF2-40B4-BE49-F238E27FC236}">
                <a16:creationId xmlns:a16="http://schemas.microsoft.com/office/drawing/2014/main" id="{149D9CC8-603D-6AFC-8A24-A8086300282A}"/>
              </a:ext>
            </a:extLst>
          </p:cNvPr>
          <p:cNvPicPr>
            <a:picLocks noChangeAspect="1"/>
          </p:cNvPicPr>
          <p:nvPr/>
        </p:nvPicPr>
        <p:blipFill>
          <a:blip r:embed="rId2"/>
          <a:stretch>
            <a:fillRect/>
          </a:stretch>
        </p:blipFill>
        <p:spPr>
          <a:xfrm>
            <a:off x="0" y="136524"/>
            <a:ext cx="11802140" cy="5977197"/>
          </a:xfrm>
          <a:prstGeom prst="rect">
            <a:avLst/>
          </a:prstGeom>
        </p:spPr>
      </p:pic>
    </p:spTree>
    <p:extLst>
      <p:ext uri="{BB962C8B-B14F-4D97-AF65-F5344CB8AC3E}">
        <p14:creationId xmlns:p14="http://schemas.microsoft.com/office/powerpoint/2010/main" val="379186217"/>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47484"/>
            <a:ext cx="8229600" cy="613082"/>
          </a:xfrm>
        </p:spPr>
        <p:txBody>
          <a:bodyPr wrap="square" anchor="ctr">
            <a:normAutofit fontScale="90000"/>
          </a:bodyPr>
          <a:lstStyle/>
          <a:p>
            <a:pPr algn="ctr"/>
            <a:r>
              <a:rPr lang="en-US" b="1" dirty="0"/>
              <a:t> </a:t>
            </a:r>
            <a:r>
              <a:rPr lang="en-US" sz="4900" b="1" dirty="0">
                <a:solidFill>
                  <a:schemeClr val="bg2">
                    <a:lumMod val="10000"/>
                  </a:schemeClr>
                </a:solidFill>
                <a:latin typeface="Times New Roman" panose="02020603050405020304" pitchFamily="18" charset="0"/>
                <a:cs typeface="Times New Roman" panose="02020603050405020304" pitchFamily="18" charset="0"/>
              </a:rPr>
              <a:t>Investigations</a:t>
            </a:r>
          </a:p>
        </p:txBody>
      </p:sp>
      <p:sp>
        <p:nvSpPr>
          <p:cNvPr id="10" name="Footer Placeholder 3">
            <a:extLst>
              <a:ext uri="{FF2B5EF4-FFF2-40B4-BE49-F238E27FC236}">
                <a16:creationId xmlns:a16="http://schemas.microsoft.com/office/drawing/2014/main" id="{38790081-72D5-0641-689E-9997A945481F}"/>
              </a:ext>
            </a:extLst>
          </p:cNvPr>
          <p:cNvSpPr>
            <a:spLocks noGrp="1"/>
          </p:cNvSpPr>
          <p:nvPr>
            <p:ph type="ftr" sz="quarter" idx="11"/>
          </p:nvPr>
        </p:nvSpPr>
        <p:spPr>
          <a:xfrm>
            <a:off x="4057650" y="6356351"/>
            <a:ext cx="4438650" cy="365125"/>
          </a:xfrm>
        </p:spPr>
        <p:txBody>
          <a:bodyPr/>
          <a:lstStyle/>
          <a:p>
            <a:pPr>
              <a:defRPr/>
            </a:pPr>
            <a:r>
              <a:rPr lang="en-US" i="1" dirty="0">
                <a:solidFill>
                  <a:schemeClr val="bg2">
                    <a:lumMod val="10000"/>
                  </a:schemeClr>
                </a:solidFill>
              </a:rPr>
              <a:t>Current Tropical medicine Update: Mahsa Abassi et al, Cryptococcal Meningitis update on diagnosis and management</a:t>
            </a:r>
          </a:p>
        </p:txBody>
      </p:sp>
      <p:graphicFrame>
        <p:nvGraphicFramePr>
          <p:cNvPr id="6" name="Content Placeholder 2">
            <a:extLst>
              <a:ext uri="{FF2B5EF4-FFF2-40B4-BE49-F238E27FC236}">
                <a16:creationId xmlns:a16="http://schemas.microsoft.com/office/drawing/2014/main" id="{6821319C-D40C-26E6-1A7B-9E051DE61DD2}"/>
              </a:ext>
            </a:extLst>
          </p:cNvPr>
          <p:cNvGraphicFramePr>
            <a:graphicFrameLocks noGrp="1"/>
          </p:cNvGraphicFramePr>
          <p:nvPr>
            <p:ph idx="1"/>
          </p:nvPr>
        </p:nvGraphicFramePr>
        <p:xfrm>
          <a:off x="988142" y="885826"/>
          <a:ext cx="9527458" cy="5220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69670519"/>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43962-7E5E-749F-DE2E-BF93A6942323}"/>
              </a:ext>
            </a:extLst>
          </p:cNvPr>
          <p:cNvSpPr>
            <a:spLocks noGrp="1"/>
          </p:cNvSpPr>
          <p:nvPr>
            <p:ph type="title"/>
          </p:nvPr>
        </p:nvSpPr>
        <p:spPr>
          <a:xfrm>
            <a:off x="457200" y="269941"/>
            <a:ext cx="10515600" cy="923903"/>
          </a:xfrm>
        </p:spPr>
        <p:txBody>
          <a:bodyPr>
            <a:normAutofit/>
          </a:bodyPr>
          <a:lstStyle/>
          <a:p>
            <a:pPr algn="ctr"/>
            <a:r>
              <a:rPr lang="en-US" b="1" dirty="0">
                <a:solidFill>
                  <a:schemeClr val="bg2">
                    <a:lumMod val="10000"/>
                  </a:schemeClr>
                </a:solidFill>
                <a:latin typeface="Times New Roman" panose="02020603050405020304" pitchFamily="18" charset="0"/>
                <a:cs typeface="Times New Roman" panose="02020603050405020304" pitchFamily="18" charset="0"/>
              </a:rPr>
              <a:t>Treatment:3 phases</a:t>
            </a:r>
            <a:endParaRPr lang="en-TZ"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9621001D-F627-0BB5-32F7-32DA2E94704F}"/>
              </a:ext>
            </a:extLst>
          </p:cNvPr>
          <p:cNvSpPr>
            <a:spLocks noGrp="1" noChangeArrowheads="1"/>
          </p:cNvSpPr>
          <p:nvPr>
            <p:ph idx="1"/>
          </p:nvPr>
        </p:nvSpPr>
        <p:spPr bwMode="auto">
          <a:xfrm>
            <a:off x="457200" y="1001628"/>
            <a:ext cx="11208774"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TZ" altLang="en-TZ" sz="3000" b="1"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Induction Phase</a:t>
            </a:r>
            <a:r>
              <a:rPr kumimoji="0" lang="en-TZ"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a:t>
            </a:r>
          </a:p>
          <a:p>
            <a:pPr marR="0" lvl="0" algn="l" defTabSz="914400" rtl="0" eaLnBrk="0" fontAlgn="base" latinLnBrk="0" hangingPunct="0">
              <a:lnSpc>
                <a:spcPct val="100000"/>
              </a:lnSpc>
              <a:spcBef>
                <a:spcPct val="0"/>
              </a:spcBef>
              <a:spcAft>
                <a:spcPct val="0"/>
              </a:spcAft>
              <a:buClrTx/>
              <a:buSzTx/>
              <a:tabLst/>
            </a:pPr>
            <a:r>
              <a:rPr kumimoji="0" lang="en-US"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IV </a:t>
            </a:r>
            <a:r>
              <a:rPr kumimoji="0" lang="en-TZ"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Amphotericin B </a:t>
            </a:r>
            <a:r>
              <a:rPr lang="en-US" altLang="en-TZ" sz="3000" dirty="0">
                <a:solidFill>
                  <a:schemeClr val="bg2">
                    <a:lumMod val="10000"/>
                  </a:schemeClr>
                </a:solidFill>
                <a:latin typeface="Times New Roman" panose="02020603050405020304" pitchFamily="18" charset="0"/>
                <a:cs typeface="Times New Roman" panose="02020603050405020304" pitchFamily="18" charset="0"/>
              </a:rPr>
              <a:t>0.7-1mg/kg/day</a:t>
            </a:r>
            <a:r>
              <a:rPr kumimoji="0" lang="en-TZ"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 </a:t>
            </a:r>
            <a:r>
              <a:rPr kumimoji="0" lang="en-US"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 oral 5</a:t>
            </a:r>
            <a:r>
              <a:rPr kumimoji="0" lang="en-TZ"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flucytosine</a:t>
            </a:r>
            <a:r>
              <a:rPr kumimoji="0" lang="en-US"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 100mg/kg/day  for 7 days. Followed by 7 days of fluconazole 1200mg a day</a:t>
            </a:r>
          </a:p>
          <a:p>
            <a:pPr marR="0" lvl="0" algn="l" defTabSz="914400" rtl="0" eaLnBrk="0" fontAlgn="base" latinLnBrk="0" hangingPunct="0">
              <a:lnSpc>
                <a:spcPct val="100000"/>
              </a:lnSpc>
              <a:spcBef>
                <a:spcPct val="0"/>
              </a:spcBef>
              <a:spcAft>
                <a:spcPct val="0"/>
              </a:spcAft>
              <a:buClrTx/>
              <a:buSzTx/>
              <a:tabLst/>
            </a:pPr>
            <a:r>
              <a:rPr lang="en-US" altLang="en-TZ" sz="3000" dirty="0">
                <a:solidFill>
                  <a:schemeClr val="bg2">
                    <a:lumMod val="10000"/>
                  </a:schemeClr>
                </a:solidFill>
                <a:latin typeface="Times New Roman" panose="02020603050405020304" pitchFamily="18" charset="0"/>
                <a:cs typeface="Times New Roman" panose="02020603050405020304" pitchFamily="18" charset="0"/>
              </a:rPr>
              <a:t>In absence of 5 flucytosine; </a:t>
            </a:r>
            <a:r>
              <a:rPr kumimoji="0" lang="en-US"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IV amphotericin B 0.7-1mg/kg/day for 14 days ( if liposomal amphotericin B </a:t>
            </a:r>
            <a:r>
              <a:rPr lang="en-US" altLang="en-TZ" sz="3000" dirty="0">
                <a:solidFill>
                  <a:schemeClr val="bg2">
                    <a:lumMod val="10000"/>
                  </a:schemeClr>
                </a:solidFill>
                <a:latin typeface="Times New Roman" panose="02020603050405020304" pitchFamily="18" charset="0"/>
                <a:cs typeface="Times New Roman" panose="02020603050405020304" pitchFamily="18" charset="0"/>
              </a:rPr>
              <a:t>3-6mg/kg/day IV for 10 days) and fluconazole 1200mg od for 14 days</a:t>
            </a:r>
            <a:endParaRPr kumimoji="0" lang="en-TZ"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TZ" altLang="en-TZ" sz="3000" b="1"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Consolidation Phase</a:t>
            </a:r>
            <a:r>
              <a:rPr kumimoji="0" lang="en-TZ"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a:t>
            </a:r>
          </a:p>
          <a:p>
            <a:pPr eaLnBrk="0" fontAlgn="base" hangingPunct="0">
              <a:lnSpc>
                <a:spcPct val="100000"/>
              </a:lnSpc>
              <a:spcBef>
                <a:spcPct val="0"/>
              </a:spcBef>
              <a:spcAft>
                <a:spcPct val="0"/>
              </a:spcAft>
            </a:pPr>
            <a:r>
              <a:rPr kumimoji="0" lang="en-TZ"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Fluconazole </a:t>
            </a:r>
            <a:r>
              <a:rPr kumimoji="0" lang="en-US"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800mg a day </a:t>
            </a:r>
            <a:r>
              <a:rPr kumimoji="0" lang="en-TZ"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for 8 weeks​</a:t>
            </a:r>
            <a:r>
              <a:rPr kumimoji="0" lang="en-US"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 or until CSF is sterile</a:t>
            </a:r>
            <a:endParaRPr kumimoji="0" lang="en-TZ"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TZ" altLang="en-TZ" sz="3000" b="1"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Maintenance Phase</a:t>
            </a:r>
            <a:r>
              <a:rPr kumimoji="0" lang="en-TZ"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TZ"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Fluconazole</a:t>
            </a:r>
            <a:r>
              <a:rPr kumimoji="0" lang="en-US"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 200mg per day </a:t>
            </a:r>
            <a:r>
              <a:rPr kumimoji="0" lang="en-TZ"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 for 6–12 months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TZ" altLang="en-TZ"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20379868"/>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D4DD7-2E3F-BAE6-3452-E2EA35BBC3A4}"/>
              </a:ext>
            </a:extLst>
          </p:cNvPr>
          <p:cNvSpPr>
            <a:spLocks noGrp="1"/>
          </p:cNvSpPr>
          <p:nvPr>
            <p:ph type="title"/>
          </p:nvPr>
        </p:nvSpPr>
        <p:spPr>
          <a:xfrm>
            <a:off x="838200" y="365125"/>
            <a:ext cx="10515600" cy="947481"/>
          </a:xfrm>
        </p:spPr>
        <p:txBody>
          <a:bodyPr>
            <a:normAutofit/>
          </a:bodyPr>
          <a:lstStyle/>
          <a:p>
            <a:pPr algn="ctr"/>
            <a:r>
              <a:rPr lang="en-US" sz="4000" b="1" dirty="0">
                <a:solidFill>
                  <a:schemeClr val="bg2">
                    <a:lumMod val="10000"/>
                  </a:schemeClr>
                </a:solidFill>
                <a:latin typeface="Times New Roman" panose="02020603050405020304" pitchFamily="18" charset="0"/>
                <a:cs typeface="Times New Roman" panose="02020603050405020304" pitchFamily="18" charset="0"/>
              </a:rPr>
              <a:t>Pneumocystic Jiroveci Pneumonia</a:t>
            </a:r>
            <a:endParaRPr lang="en-TZ"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8E77AA6-3033-453A-FCCC-DC9F44D45844}"/>
              </a:ext>
            </a:extLst>
          </p:cNvPr>
          <p:cNvSpPr>
            <a:spLocks noGrp="1"/>
          </p:cNvSpPr>
          <p:nvPr>
            <p:ph idx="1"/>
          </p:nvPr>
        </p:nvSpPr>
        <p:spPr>
          <a:xfrm>
            <a:off x="442452" y="1165123"/>
            <a:ext cx="11371006" cy="5368412"/>
          </a:xfrm>
        </p:spPr>
        <p:txBody>
          <a:bodyPr/>
          <a:lstStyle/>
          <a:p>
            <a:pPr eaLnBrk="0" fontAlgn="base" hangingPunct="0">
              <a:lnSpc>
                <a:spcPct val="100000"/>
              </a:lnSpc>
              <a:spcBef>
                <a:spcPct val="0"/>
              </a:spcBef>
              <a:spcAft>
                <a:spcPct val="0"/>
              </a:spcAft>
            </a:pPr>
            <a:r>
              <a:rPr kumimoji="0" lang="en-TZ"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PJP is a fungal infection of the lungs caused by </a:t>
            </a:r>
            <a:r>
              <a:rPr kumimoji="0" lang="en-TZ" altLang="en-TZ" sz="3000" b="0" i="1"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Pneumocystis jirovecii</a:t>
            </a:r>
            <a:r>
              <a:rPr kumimoji="0" lang="en-TZ"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 primarily affecting immunocompromised individuals.​</a:t>
            </a:r>
            <a:endParaRPr lang="en-US" altLang="en-TZ" sz="3000" dirty="0">
              <a:solidFill>
                <a:schemeClr val="bg2">
                  <a:lumMod val="10000"/>
                </a:schemeClr>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TZ" altLang="en-TZ" sz="3000" b="1"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At-Risk Populations</a:t>
            </a:r>
            <a:r>
              <a:rPr kumimoji="0" lang="en-TZ"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a:t>
            </a:r>
            <a:r>
              <a:rPr lang="en-US" altLang="en-TZ" sz="3000" dirty="0">
                <a:solidFill>
                  <a:schemeClr val="bg2">
                    <a:lumMod val="10000"/>
                  </a:schemeClr>
                </a:solidFill>
                <a:latin typeface="Times New Roman" panose="02020603050405020304" pitchFamily="18" charset="0"/>
                <a:cs typeface="Times New Roman" panose="02020603050405020304" pitchFamily="18" charset="0"/>
              </a:rPr>
              <a:t> </a:t>
            </a:r>
            <a:r>
              <a:rPr kumimoji="0" lang="en-TZ"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S</a:t>
            </a:r>
            <a:r>
              <a:rPr kumimoji="0" lang="en-US"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OT, HSCT</a:t>
            </a:r>
            <a:r>
              <a:rPr kumimoji="0" lang="en-TZ"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 recipients</a:t>
            </a:r>
            <a:r>
              <a:rPr lang="en-US" altLang="en-TZ" sz="3000" dirty="0">
                <a:solidFill>
                  <a:schemeClr val="bg2">
                    <a:lumMod val="10000"/>
                  </a:schemeClr>
                </a:solidFill>
                <a:latin typeface="Times New Roman" panose="02020603050405020304" pitchFamily="18" charset="0"/>
                <a:cs typeface="Times New Roman" panose="02020603050405020304" pitchFamily="18" charset="0"/>
              </a:rPr>
              <a:t>, </a:t>
            </a:r>
            <a:r>
              <a:rPr kumimoji="0" lang="en-TZ"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Hematologic malignancy</a:t>
            </a:r>
            <a:r>
              <a:rPr kumimoji="0" lang="en-US"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 patients on </a:t>
            </a:r>
            <a:r>
              <a:rPr kumimoji="0" lang="en-US" altLang="en-TZ" sz="3000" b="1"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IS</a:t>
            </a:r>
            <a:r>
              <a:rPr lang="en-US" altLang="en-TZ" sz="3000" dirty="0">
                <a:solidFill>
                  <a:schemeClr val="bg2">
                    <a:lumMod val="10000"/>
                  </a:schemeClr>
                </a:solidFill>
                <a:latin typeface="Times New Roman" panose="02020603050405020304" pitchFamily="18" charset="0"/>
                <a:cs typeface="Times New Roman" panose="02020603050405020304" pitchFamily="18" charset="0"/>
              </a:rPr>
              <a:t>,</a:t>
            </a:r>
            <a:r>
              <a:rPr kumimoji="0" lang="en-TZ" altLang="en-TZ" sz="3000" b="0" i="0" u="none" strike="noStrike" cap="none" normalizeH="0" baseline="0" dirty="0">
                <a:ln>
                  <a:noFill/>
                </a:ln>
                <a:solidFill>
                  <a:schemeClr val="bg2">
                    <a:lumMod val="10000"/>
                  </a:schemeClr>
                </a:solidFill>
                <a:effectLst/>
                <a:latin typeface="Times New Roman" panose="02020603050405020304" pitchFamily="18" charset="0"/>
                <a:cs typeface="Times New Roman" panose="02020603050405020304" pitchFamily="18" charset="0"/>
              </a:rPr>
              <a:t> primary immunodeficiencies​</a:t>
            </a:r>
            <a:endParaRPr lang="en-US" altLang="en-TZ" sz="3000" dirty="0">
              <a:solidFill>
                <a:schemeClr val="bg2">
                  <a:lumMod val="10000"/>
                </a:schemeClr>
              </a:solidFill>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b="1" dirty="0">
                <a:solidFill>
                  <a:schemeClr val="bg2">
                    <a:lumMod val="10000"/>
                  </a:schemeClr>
                </a:solidFill>
                <a:latin typeface="Times New Roman" panose="02020603050405020304" pitchFamily="18" charset="0"/>
                <a:cs typeface="Times New Roman" panose="02020603050405020304" pitchFamily="18" charset="0"/>
              </a:rPr>
              <a:t>Clinical Features: </a:t>
            </a:r>
            <a:r>
              <a:rPr lang="en-US" dirty="0">
                <a:solidFill>
                  <a:schemeClr val="bg2">
                    <a:lumMod val="10000"/>
                  </a:schemeClr>
                </a:solidFill>
                <a:latin typeface="Times New Roman" panose="02020603050405020304" pitchFamily="18" charset="0"/>
                <a:cs typeface="Times New Roman" panose="02020603050405020304" pitchFamily="18" charset="0"/>
              </a:rPr>
              <a:t>Progressive dyspnea, Fever, Non-productive cough, Oxygen desaturation​</a:t>
            </a:r>
          </a:p>
          <a:p>
            <a:pPr eaLnBrk="0" fontAlgn="base" hangingPunct="0">
              <a:lnSpc>
                <a:spcPct val="100000"/>
              </a:lnSpc>
              <a:spcBef>
                <a:spcPct val="0"/>
              </a:spcBef>
              <a:spcAft>
                <a:spcPct val="0"/>
              </a:spcAft>
            </a:pPr>
            <a:r>
              <a:rPr lang="en-US" b="1" dirty="0">
                <a:solidFill>
                  <a:schemeClr val="bg2">
                    <a:lumMod val="10000"/>
                  </a:schemeClr>
                </a:solidFill>
                <a:latin typeface="Times New Roman" panose="02020603050405020304" pitchFamily="18" charset="0"/>
                <a:cs typeface="Times New Roman" panose="02020603050405020304" pitchFamily="18" charset="0"/>
              </a:rPr>
              <a:t>Diagnostic Methods:</a:t>
            </a:r>
          </a:p>
          <a:p>
            <a:pPr lvl="1" eaLnBrk="0" fontAlgn="base" hangingPunct="0">
              <a:lnSpc>
                <a:spcPct val="100000"/>
              </a:lnSpc>
              <a:spcBef>
                <a:spcPct val="0"/>
              </a:spcBef>
              <a:spcAft>
                <a:spcPct val="0"/>
              </a:spcAft>
              <a:buFont typeface="Wingdings" panose="05000000000000000000" pitchFamily="2" charset="2"/>
              <a:buChar char="§"/>
            </a:pPr>
            <a:r>
              <a:rPr lang="en-US" dirty="0">
                <a:solidFill>
                  <a:schemeClr val="bg2">
                    <a:lumMod val="10000"/>
                  </a:schemeClr>
                </a:solidFill>
                <a:latin typeface="Times New Roman" panose="02020603050405020304" pitchFamily="18" charset="0"/>
                <a:cs typeface="Times New Roman" panose="02020603050405020304" pitchFamily="18" charset="0"/>
              </a:rPr>
              <a:t>CXR-Normal, bat wing appearance</a:t>
            </a:r>
          </a:p>
          <a:p>
            <a:pPr lvl="1" eaLnBrk="0" fontAlgn="base" hangingPunct="0">
              <a:lnSpc>
                <a:spcPct val="100000"/>
              </a:lnSpc>
              <a:spcBef>
                <a:spcPct val="0"/>
              </a:spcBef>
              <a:spcAft>
                <a:spcPct val="0"/>
              </a:spcAft>
              <a:buFont typeface="Wingdings" panose="05000000000000000000" pitchFamily="2" charset="2"/>
              <a:buChar char="§"/>
            </a:pPr>
            <a:r>
              <a:rPr lang="en-US" dirty="0">
                <a:solidFill>
                  <a:schemeClr val="bg2">
                    <a:lumMod val="10000"/>
                  </a:schemeClr>
                </a:solidFill>
                <a:latin typeface="Times New Roman" panose="02020603050405020304" pitchFamily="18" charset="0"/>
                <a:cs typeface="Times New Roman" panose="02020603050405020304" pitchFamily="18" charset="0"/>
              </a:rPr>
              <a:t> HRCT-diffuse ground glass opacities</a:t>
            </a:r>
          </a:p>
          <a:p>
            <a:pPr lvl="1" eaLnBrk="0" fontAlgn="base" hangingPunct="0">
              <a:lnSpc>
                <a:spcPct val="100000"/>
              </a:lnSpc>
              <a:spcBef>
                <a:spcPct val="0"/>
              </a:spcBef>
              <a:spcAft>
                <a:spcPct val="0"/>
              </a:spcAft>
              <a:buFont typeface="Wingdings" panose="05000000000000000000" pitchFamily="2" charset="2"/>
              <a:buChar char="§"/>
            </a:pPr>
            <a:r>
              <a:rPr lang="en-US" dirty="0">
                <a:solidFill>
                  <a:schemeClr val="bg2">
                    <a:lumMod val="10000"/>
                  </a:schemeClr>
                </a:solidFill>
                <a:latin typeface="Times New Roman" panose="02020603050405020304" pitchFamily="18" charset="0"/>
                <a:cs typeface="Times New Roman" panose="02020603050405020304" pitchFamily="18" charset="0"/>
              </a:rPr>
              <a:t>BAL –H&amp;E stain,  PCR or immunofluorescence staining</a:t>
            </a:r>
          </a:p>
          <a:p>
            <a:pPr lvl="1" eaLnBrk="0" fontAlgn="base" hangingPunct="0">
              <a:lnSpc>
                <a:spcPct val="100000"/>
              </a:lnSpc>
              <a:spcBef>
                <a:spcPct val="0"/>
              </a:spcBef>
              <a:spcAft>
                <a:spcPct val="0"/>
              </a:spcAft>
              <a:buFont typeface="Wingdings" panose="05000000000000000000" pitchFamily="2" charset="2"/>
              <a:buChar char="§"/>
            </a:pPr>
            <a:r>
              <a:rPr lang="en-US" dirty="0">
                <a:solidFill>
                  <a:schemeClr val="bg2">
                    <a:lumMod val="10000"/>
                  </a:schemeClr>
                </a:solidFill>
                <a:latin typeface="Times New Roman" panose="02020603050405020304" pitchFamily="18" charset="0"/>
                <a:cs typeface="Times New Roman" panose="02020603050405020304" pitchFamily="18" charset="0"/>
              </a:rPr>
              <a:t>Serum (1→3)-</a:t>
            </a:r>
            <a:r>
              <a:rPr lang="el-GR" dirty="0">
                <a:solidFill>
                  <a:schemeClr val="bg2">
                    <a:lumMod val="10000"/>
                  </a:schemeClr>
                </a:solidFill>
                <a:latin typeface="Times New Roman" panose="02020603050405020304" pitchFamily="18" charset="0"/>
                <a:cs typeface="Times New Roman" panose="02020603050405020304" pitchFamily="18" charset="0"/>
              </a:rPr>
              <a:t>β-</a:t>
            </a:r>
            <a:r>
              <a:rPr lang="en-US" dirty="0">
                <a:solidFill>
                  <a:schemeClr val="bg2">
                    <a:lumMod val="10000"/>
                  </a:schemeClr>
                </a:solidFill>
                <a:latin typeface="Times New Roman" panose="02020603050405020304" pitchFamily="18" charset="0"/>
                <a:cs typeface="Times New Roman" panose="02020603050405020304" pitchFamily="18" charset="0"/>
              </a:rPr>
              <a:t>D-</a:t>
            </a:r>
            <a:r>
              <a:rPr lang="en-US" dirty="0" err="1">
                <a:solidFill>
                  <a:schemeClr val="bg2">
                    <a:lumMod val="10000"/>
                  </a:schemeClr>
                </a:solidFill>
                <a:latin typeface="Times New Roman" panose="02020603050405020304" pitchFamily="18" charset="0"/>
                <a:cs typeface="Times New Roman" panose="02020603050405020304" pitchFamily="18" charset="0"/>
              </a:rPr>
              <a:t>glucan</a:t>
            </a:r>
            <a:r>
              <a:rPr lang="en-US" dirty="0">
                <a:solidFill>
                  <a:schemeClr val="bg2">
                    <a:lumMod val="10000"/>
                  </a:schemeClr>
                </a:solidFill>
                <a:latin typeface="Times New Roman" panose="02020603050405020304" pitchFamily="18" charset="0"/>
                <a:cs typeface="Times New Roman" panose="02020603050405020304" pitchFamily="18" charset="0"/>
              </a:rPr>
              <a:t> assay, LDH</a:t>
            </a:r>
          </a:p>
        </p:txBody>
      </p:sp>
    </p:spTree>
    <p:extLst>
      <p:ext uri="{BB962C8B-B14F-4D97-AF65-F5344CB8AC3E}">
        <p14:creationId xmlns:p14="http://schemas.microsoft.com/office/powerpoint/2010/main" val="1552520616"/>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8929" y="274638"/>
            <a:ext cx="9561871" cy="978975"/>
          </a:xfrm>
        </p:spPr>
        <p:txBody>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PJP Treatment</a:t>
            </a:r>
          </a:p>
        </p:txBody>
      </p:sp>
      <p:sp>
        <p:nvSpPr>
          <p:cNvPr id="3" name="Content Placeholder 2"/>
          <p:cNvSpPr>
            <a:spLocks noGrp="1"/>
          </p:cNvSpPr>
          <p:nvPr>
            <p:ph idx="1"/>
          </p:nvPr>
        </p:nvSpPr>
        <p:spPr>
          <a:xfrm>
            <a:off x="442451" y="1120878"/>
            <a:ext cx="11267768" cy="5265174"/>
          </a:xfrm>
        </p:spPr>
        <p:txBody>
          <a:bodyPr>
            <a:normAutofit/>
          </a:bodyPr>
          <a:lstStyle/>
          <a:p>
            <a:r>
              <a:rPr lang="en-US" sz="3000" dirty="0">
                <a:solidFill>
                  <a:schemeClr val="bg2">
                    <a:lumMod val="10000"/>
                  </a:schemeClr>
                </a:solidFill>
                <a:latin typeface="Times New Roman" panose="02020603050405020304" pitchFamily="18" charset="0"/>
                <a:cs typeface="Times New Roman" panose="02020603050405020304" pitchFamily="18" charset="0"/>
              </a:rPr>
              <a:t>Non-severe cases TMP-SMZ 1920mg </a:t>
            </a:r>
            <a:r>
              <a:rPr lang="en-US" sz="3000" dirty="0" err="1">
                <a:solidFill>
                  <a:schemeClr val="bg2">
                    <a:lumMod val="10000"/>
                  </a:schemeClr>
                </a:solidFill>
                <a:latin typeface="Times New Roman" panose="02020603050405020304" pitchFamily="18" charset="0"/>
                <a:cs typeface="Times New Roman" panose="02020603050405020304" pitchFamily="18" charset="0"/>
              </a:rPr>
              <a:t>tds</a:t>
            </a:r>
            <a:r>
              <a:rPr lang="en-US" sz="3000" dirty="0">
                <a:solidFill>
                  <a:schemeClr val="bg2">
                    <a:lumMod val="10000"/>
                  </a:schemeClr>
                </a:solidFill>
                <a:latin typeface="Times New Roman" panose="02020603050405020304" pitchFamily="18" charset="0"/>
                <a:cs typeface="Times New Roman" panose="02020603050405020304" pitchFamily="18" charset="0"/>
              </a:rPr>
              <a:t> for 21 days.</a:t>
            </a:r>
          </a:p>
          <a:p>
            <a:r>
              <a:rPr lang="en-US" sz="3000" dirty="0">
                <a:solidFill>
                  <a:schemeClr val="bg2">
                    <a:lumMod val="10000"/>
                  </a:schemeClr>
                </a:solidFill>
                <a:latin typeface="Times New Roman" panose="02020603050405020304" pitchFamily="18" charset="0"/>
                <a:cs typeface="Times New Roman" panose="02020603050405020304" pitchFamily="18" charset="0"/>
              </a:rPr>
              <a:t>Severe cases  IV cotrimoxazole 5mg/kg TMP/75-100mg SMX/kg/day IV, administered 6-8hourly, switch to oral after clinical improvement 	</a:t>
            </a:r>
          </a:p>
          <a:p>
            <a:r>
              <a:rPr lang="it-IT" sz="3000" b="1" dirty="0">
                <a:solidFill>
                  <a:schemeClr val="bg2">
                    <a:lumMod val="10000"/>
                  </a:schemeClr>
                </a:solidFill>
                <a:latin typeface="Times New Roman" panose="02020603050405020304" pitchFamily="18" charset="0"/>
                <a:cs typeface="Times New Roman" panose="02020603050405020304" pitchFamily="18" charset="0"/>
              </a:rPr>
              <a:t>Alternative Agents</a:t>
            </a:r>
            <a:r>
              <a:rPr lang="it-IT" sz="3000" dirty="0">
                <a:solidFill>
                  <a:schemeClr val="bg2">
                    <a:lumMod val="10000"/>
                  </a:schemeClr>
                </a:solidFill>
                <a:latin typeface="Times New Roman" panose="02020603050405020304" pitchFamily="18" charset="0"/>
                <a:cs typeface="Times New Roman" panose="02020603050405020304" pitchFamily="18" charset="0"/>
              </a:rPr>
              <a:t>:Pentamidine, Clindamycin+Primaquine, Atovaquone</a:t>
            </a:r>
          </a:p>
          <a:p>
            <a:r>
              <a:rPr lang="en-US" sz="3000" dirty="0">
                <a:solidFill>
                  <a:schemeClr val="bg2">
                    <a:lumMod val="10000"/>
                  </a:schemeClr>
                </a:solidFill>
                <a:latin typeface="Times New Roman" panose="02020603050405020304" pitchFamily="18" charset="0"/>
                <a:cs typeface="Times New Roman" panose="02020603050405020304" pitchFamily="18" charset="0"/>
              </a:rPr>
              <a:t>Adjuvant therapy with steroids 40mg bid 5d, 40mg od 5d, 20mg od 11d PO/IV</a:t>
            </a:r>
            <a:endParaRPr lang="it-IT" sz="3000" dirty="0">
              <a:solidFill>
                <a:schemeClr val="bg2">
                  <a:lumMod val="10000"/>
                </a:schemeClr>
              </a:solidFill>
              <a:latin typeface="Times New Roman" panose="02020603050405020304" pitchFamily="18" charset="0"/>
              <a:cs typeface="Times New Roman" panose="02020603050405020304" pitchFamily="18" charset="0"/>
            </a:endParaRPr>
          </a:p>
          <a:p>
            <a:r>
              <a:rPr lang="en-US" sz="3000" b="1" dirty="0">
                <a:solidFill>
                  <a:schemeClr val="bg2">
                    <a:lumMod val="10000"/>
                  </a:schemeClr>
                </a:solidFill>
                <a:latin typeface="Times New Roman" panose="02020603050405020304" pitchFamily="18" charset="0"/>
                <a:cs typeface="Times New Roman" panose="02020603050405020304" pitchFamily="18" charset="0"/>
              </a:rPr>
              <a:t>Prophylaxis: TMP-SMX</a:t>
            </a:r>
            <a:r>
              <a:rPr lang="en-US" sz="3000" dirty="0">
                <a:solidFill>
                  <a:schemeClr val="bg2">
                    <a:lumMod val="10000"/>
                  </a:schemeClr>
                </a:solidFill>
                <a:latin typeface="Times New Roman" panose="02020603050405020304" pitchFamily="18" charset="0"/>
                <a:cs typeface="Times New Roman" panose="02020603050405020304" pitchFamily="18" charset="0"/>
              </a:rPr>
              <a:t> is recommended for high-risk patients</a:t>
            </a:r>
          </a:p>
          <a:p>
            <a:pPr marL="0" indent="0">
              <a:buNone/>
            </a:pPr>
            <a:r>
              <a:rPr lang="en-US" sz="3000" dirty="0">
                <a:solidFill>
                  <a:schemeClr val="bg2">
                    <a:lumMod val="10000"/>
                  </a:schemeClr>
                </a:solidFill>
                <a:latin typeface="Times New Roman" panose="02020603050405020304" pitchFamily="18" charset="0"/>
                <a:cs typeface="Times New Roman" panose="02020603050405020304" pitchFamily="18" charset="0"/>
              </a:rPr>
              <a:t> TMP-SMX 1tablet od PO alternatively, </a:t>
            </a:r>
            <a:r>
              <a:rPr lang="en-US" sz="3000" dirty="0" err="1">
                <a:solidFill>
                  <a:schemeClr val="bg2">
                    <a:lumMod val="10000"/>
                  </a:schemeClr>
                </a:solidFill>
                <a:latin typeface="Times New Roman" panose="02020603050405020304" pitchFamily="18" charset="0"/>
                <a:cs typeface="Times New Roman" panose="02020603050405020304" pitchFamily="18" charset="0"/>
              </a:rPr>
              <a:t>Dapsone</a:t>
            </a:r>
            <a:r>
              <a:rPr lang="en-US" sz="3000" dirty="0">
                <a:solidFill>
                  <a:schemeClr val="bg2">
                    <a:lumMod val="10000"/>
                  </a:schemeClr>
                </a:solidFill>
                <a:latin typeface="Times New Roman" panose="02020603050405020304" pitchFamily="18" charset="0"/>
                <a:cs typeface="Times New Roman" panose="02020603050405020304" pitchFamily="18" charset="0"/>
              </a:rPr>
              <a:t> 50mg bid PO​</a:t>
            </a:r>
          </a:p>
          <a:p>
            <a:endParaRPr lang="en-US" dirty="0"/>
          </a:p>
          <a:p>
            <a:pPr>
              <a:buNone/>
            </a:pPr>
            <a:endParaRPr lang="it-IT" dirty="0"/>
          </a:p>
          <a:p>
            <a:pPr marL="0" indent="0">
              <a:buNone/>
            </a:pPr>
            <a:endParaRPr lang="en-US" dirty="0">
              <a:solidFill>
                <a:schemeClr val="bg2">
                  <a:lumMod val="10000"/>
                </a:schemeClr>
              </a:solidFill>
            </a:endParaRPr>
          </a:p>
        </p:txBody>
      </p:sp>
    </p:spTree>
    <p:extLst>
      <p:ext uri="{BB962C8B-B14F-4D97-AF65-F5344CB8AC3E}">
        <p14:creationId xmlns:p14="http://schemas.microsoft.com/office/powerpoint/2010/main" val="659218195"/>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A34396F7-58DB-25B5-2AE8-913925B2A4CA}"/>
              </a:ext>
            </a:extLst>
          </p:cNvPr>
          <p:cNvPicPr>
            <a:picLocks noGrp="1" noChangeAspect="1"/>
          </p:cNvPicPr>
          <p:nvPr>
            <p:ph sz="half" idx="1"/>
          </p:nvPr>
        </p:nvPicPr>
        <p:blipFill>
          <a:blip r:embed="rId3"/>
          <a:stretch>
            <a:fillRect/>
          </a:stretch>
        </p:blipFill>
        <p:spPr bwMode="auto">
          <a:xfrm>
            <a:off x="2029073" y="347472"/>
            <a:ext cx="2545854" cy="5778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Content Placeholder 9">
            <a:extLst>
              <a:ext uri="{FF2B5EF4-FFF2-40B4-BE49-F238E27FC236}">
                <a16:creationId xmlns:a16="http://schemas.microsoft.com/office/drawing/2014/main" id="{9BE22DC9-1F16-3C3F-EC30-B9E6EF191A68}"/>
              </a:ext>
            </a:extLst>
          </p:cNvPr>
          <p:cNvGraphicFramePr>
            <a:graphicFrameLocks noGrp="1"/>
          </p:cNvGraphicFramePr>
          <p:nvPr>
            <p:ph sz="half" idx="2"/>
            <p:extLst>
              <p:ext uri="{D42A27DB-BD31-4B8C-83A1-F6EECF244321}">
                <p14:modId xmlns:p14="http://schemas.microsoft.com/office/powerpoint/2010/main" val="3782836862"/>
              </p:ext>
            </p:extLst>
          </p:nvPr>
        </p:nvGraphicFramePr>
        <p:xfrm>
          <a:off x="6197600" y="137160"/>
          <a:ext cx="5384800" cy="6497320"/>
        </p:xfrm>
        <a:graphic>
          <a:graphicData uri="http://schemas.openxmlformats.org/drawingml/2006/table">
            <a:tbl>
              <a:tblPr firstRow="1" bandRow="1">
                <a:tableStyleId>{F5AB1C69-6EDB-4FF4-983F-18BD219EF322}</a:tableStyleId>
              </a:tblPr>
              <a:tblGrid>
                <a:gridCol w="2692400">
                  <a:extLst>
                    <a:ext uri="{9D8B030D-6E8A-4147-A177-3AD203B41FA5}">
                      <a16:colId xmlns:a16="http://schemas.microsoft.com/office/drawing/2014/main" val="1334211347"/>
                    </a:ext>
                  </a:extLst>
                </a:gridCol>
                <a:gridCol w="2692400">
                  <a:extLst>
                    <a:ext uri="{9D8B030D-6E8A-4147-A177-3AD203B41FA5}">
                      <a16:colId xmlns:a16="http://schemas.microsoft.com/office/drawing/2014/main" val="1627735607"/>
                    </a:ext>
                  </a:extLst>
                </a:gridCol>
              </a:tblGrid>
              <a:tr h="370840">
                <a:tc>
                  <a:txBody>
                    <a:bodyPr/>
                    <a:lstStyle/>
                    <a:p>
                      <a:r>
                        <a:rPr lang="en-US" dirty="0"/>
                        <a:t>Aspect </a:t>
                      </a:r>
                      <a:endParaRPr lang="en-TZ" dirty="0"/>
                    </a:p>
                  </a:txBody>
                  <a:tcPr/>
                </a:tc>
                <a:tc>
                  <a:txBody>
                    <a:bodyPr/>
                    <a:lstStyle/>
                    <a:p>
                      <a:r>
                        <a:rPr lang="en-US" dirty="0"/>
                        <a:t>Summary</a:t>
                      </a:r>
                      <a:endParaRPr lang="en-TZ" dirty="0"/>
                    </a:p>
                  </a:txBody>
                  <a:tcPr/>
                </a:tc>
                <a:extLst>
                  <a:ext uri="{0D108BD9-81ED-4DB2-BD59-A6C34878D82A}">
                    <a16:rowId xmlns:a16="http://schemas.microsoft.com/office/drawing/2014/main" val="305562930"/>
                  </a:ext>
                </a:extLst>
              </a:tr>
              <a:tr h="370840">
                <a:tc>
                  <a:txBody>
                    <a:bodyPr/>
                    <a:lstStyle/>
                    <a:p>
                      <a:r>
                        <a:rPr lang="en-US" dirty="0"/>
                        <a:t>Study type</a:t>
                      </a:r>
                      <a:endParaRPr lang="en-TZ" dirty="0"/>
                    </a:p>
                  </a:txBody>
                  <a:tcPr/>
                </a:tc>
                <a:tc>
                  <a:txBody>
                    <a:bodyPr/>
                    <a:lstStyle/>
                    <a:p>
                      <a:r>
                        <a:rPr lang="en-US" dirty="0"/>
                        <a:t>Narrative literature review</a:t>
                      </a:r>
                      <a:endParaRPr lang="en-TZ" dirty="0"/>
                    </a:p>
                  </a:txBody>
                  <a:tcPr/>
                </a:tc>
                <a:extLst>
                  <a:ext uri="{0D108BD9-81ED-4DB2-BD59-A6C34878D82A}">
                    <a16:rowId xmlns:a16="http://schemas.microsoft.com/office/drawing/2014/main" val="2826773953"/>
                  </a:ext>
                </a:extLst>
              </a:tr>
              <a:tr h="370840">
                <a:tc>
                  <a:txBody>
                    <a:bodyPr/>
                    <a:lstStyle/>
                    <a:p>
                      <a:r>
                        <a:rPr lang="en-US" dirty="0"/>
                        <a:t>Population size</a:t>
                      </a:r>
                      <a:endParaRPr lang="en-TZ" dirty="0"/>
                    </a:p>
                  </a:txBody>
                  <a:tcPr/>
                </a:tc>
                <a:tc>
                  <a:txBody>
                    <a:bodyPr/>
                    <a:lstStyle/>
                    <a:p>
                      <a:r>
                        <a:rPr lang="en-US" dirty="0"/>
                        <a:t>The study reviewed multiple previously published studies involving HIV and non-HIV immunocompromised patients with PJP.</a:t>
                      </a:r>
                      <a:endParaRPr lang="en-TZ" dirty="0"/>
                    </a:p>
                  </a:txBody>
                  <a:tcPr/>
                </a:tc>
                <a:extLst>
                  <a:ext uri="{0D108BD9-81ED-4DB2-BD59-A6C34878D82A}">
                    <a16:rowId xmlns:a16="http://schemas.microsoft.com/office/drawing/2014/main" val="522698289"/>
                  </a:ext>
                </a:extLst>
              </a:tr>
              <a:tr h="370840">
                <a:tc>
                  <a:txBody>
                    <a:bodyPr/>
                    <a:lstStyle/>
                    <a:p>
                      <a:r>
                        <a:rPr lang="en-US" dirty="0"/>
                        <a:t>Study population</a:t>
                      </a:r>
                      <a:endParaRPr lang="en-TZ" dirty="0"/>
                    </a:p>
                  </a:txBody>
                  <a:tcPr/>
                </a:tc>
                <a:tc>
                  <a:txBody>
                    <a:bodyPr/>
                    <a:lstStyle/>
                    <a:p>
                      <a:r>
                        <a:rPr lang="en-US" dirty="0"/>
                        <a:t>HIV-infected patients and non-HIV immunocompromised patients </a:t>
                      </a:r>
                      <a:endParaRPr lang="en-TZ" dirty="0"/>
                    </a:p>
                  </a:txBody>
                  <a:tcPr/>
                </a:tc>
                <a:extLst>
                  <a:ext uri="{0D108BD9-81ED-4DB2-BD59-A6C34878D82A}">
                    <a16:rowId xmlns:a16="http://schemas.microsoft.com/office/drawing/2014/main" val="1546164441"/>
                  </a:ext>
                </a:extLst>
              </a:tr>
              <a:tr h="370840">
                <a:tc>
                  <a:txBody>
                    <a:bodyPr/>
                    <a:lstStyle/>
                    <a:p>
                      <a:r>
                        <a:rPr lang="en-US" dirty="0"/>
                        <a:t>Main Objective</a:t>
                      </a:r>
                      <a:endParaRPr lang="en-TZ" dirty="0"/>
                    </a:p>
                  </a:txBody>
                  <a:tcPr/>
                </a:tc>
                <a:tc>
                  <a:txBody>
                    <a:bodyPr/>
                    <a:lstStyle/>
                    <a:p>
                      <a:r>
                        <a:rPr lang="en-US" dirty="0"/>
                        <a:t>To compare clinical presentation, diagnosis, treatment, and outcomes of PJP between HIV and non-HIV immunocompromised patients.</a:t>
                      </a:r>
                      <a:endParaRPr lang="en-TZ" dirty="0"/>
                    </a:p>
                  </a:txBody>
                  <a:tcPr/>
                </a:tc>
                <a:extLst>
                  <a:ext uri="{0D108BD9-81ED-4DB2-BD59-A6C34878D82A}">
                    <a16:rowId xmlns:a16="http://schemas.microsoft.com/office/drawing/2014/main" val="1763391129"/>
                  </a:ext>
                </a:extLst>
              </a:tr>
            </a:tbl>
          </a:graphicData>
        </a:graphic>
      </p:graphicFrame>
    </p:spTree>
    <p:extLst>
      <p:ext uri="{BB962C8B-B14F-4D97-AF65-F5344CB8AC3E}">
        <p14:creationId xmlns:p14="http://schemas.microsoft.com/office/powerpoint/2010/main" val="3086617799"/>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A7194-A488-1141-E33E-9252D15B995B}"/>
              </a:ext>
            </a:extLst>
          </p:cNvPr>
          <p:cNvSpPr>
            <a:spLocks noGrp="1"/>
          </p:cNvSpPr>
          <p:nvPr>
            <p:ph type="title"/>
          </p:nvPr>
        </p:nvSpPr>
        <p:spPr/>
        <p:txBody>
          <a:bodyPr/>
          <a:lstStyle/>
          <a:p>
            <a:r>
              <a:rPr lang="en-US" dirty="0">
                <a:solidFill>
                  <a:schemeClr val="bg2">
                    <a:lumMod val="10000"/>
                  </a:schemeClr>
                </a:solidFill>
              </a:rPr>
              <a:t>Major Findings / Outcomes of the Study</a:t>
            </a:r>
            <a:endParaRPr lang="en-TZ" dirty="0">
              <a:solidFill>
                <a:schemeClr val="bg2">
                  <a:lumMod val="10000"/>
                </a:schemeClr>
              </a:solidFill>
            </a:endParaRPr>
          </a:p>
        </p:txBody>
      </p:sp>
      <p:sp>
        <p:nvSpPr>
          <p:cNvPr id="3" name="Content Placeholder 2">
            <a:extLst>
              <a:ext uri="{FF2B5EF4-FFF2-40B4-BE49-F238E27FC236}">
                <a16:creationId xmlns:a16="http://schemas.microsoft.com/office/drawing/2014/main" id="{DF9F70D2-20C3-3921-AAD6-78D5613F85E3}"/>
              </a:ext>
            </a:extLst>
          </p:cNvPr>
          <p:cNvSpPr>
            <a:spLocks noGrp="1"/>
          </p:cNvSpPr>
          <p:nvPr>
            <p:ph idx="1"/>
          </p:nvPr>
        </p:nvSpPr>
        <p:spPr>
          <a:xfrm>
            <a:off x="609600" y="1263319"/>
            <a:ext cx="10972800" cy="4768513"/>
          </a:xfrm>
        </p:spPr>
        <p:txBody>
          <a:bodyPr/>
          <a:lstStyle/>
          <a:p>
            <a:pPr marL="0" indent="0">
              <a:buNone/>
            </a:pPr>
            <a:r>
              <a:rPr lang="en-US" sz="2400" b="1" dirty="0">
                <a:solidFill>
                  <a:schemeClr val="bg2">
                    <a:lumMod val="10000"/>
                  </a:schemeClr>
                </a:solidFill>
              </a:rPr>
              <a:t>1. Disease severity differs significantly</a:t>
            </a:r>
          </a:p>
          <a:p>
            <a:r>
              <a:rPr lang="en-US" sz="2400" dirty="0">
                <a:solidFill>
                  <a:schemeClr val="bg2">
                    <a:lumMod val="10000"/>
                  </a:schemeClr>
                </a:solidFill>
              </a:rPr>
              <a:t>Non-HIV patients developed: </a:t>
            </a:r>
          </a:p>
          <a:p>
            <a:pPr lvl="1"/>
            <a:r>
              <a:rPr lang="en-US" sz="2400" dirty="0">
                <a:solidFill>
                  <a:schemeClr val="bg2">
                    <a:lumMod val="10000"/>
                  </a:schemeClr>
                </a:solidFill>
              </a:rPr>
              <a:t>More acute disease </a:t>
            </a:r>
          </a:p>
          <a:p>
            <a:pPr lvl="1"/>
            <a:r>
              <a:rPr lang="en-US" sz="2400" dirty="0">
                <a:solidFill>
                  <a:schemeClr val="bg2">
                    <a:lumMod val="10000"/>
                  </a:schemeClr>
                </a:solidFill>
              </a:rPr>
              <a:t>Faster respiratory deterioration </a:t>
            </a:r>
          </a:p>
          <a:p>
            <a:pPr lvl="1"/>
            <a:r>
              <a:rPr lang="en-US" sz="2400" dirty="0">
                <a:solidFill>
                  <a:schemeClr val="bg2">
                    <a:lumMod val="10000"/>
                  </a:schemeClr>
                </a:solidFill>
              </a:rPr>
              <a:t>Severe hypoxemia </a:t>
            </a:r>
          </a:p>
          <a:p>
            <a:pPr lvl="1"/>
            <a:r>
              <a:rPr lang="en-US" sz="2400" dirty="0">
                <a:solidFill>
                  <a:schemeClr val="bg2">
                    <a:lumMod val="10000"/>
                  </a:schemeClr>
                </a:solidFill>
              </a:rPr>
              <a:t>Higher ICU admission rates </a:t>
            </a:r>
          </a:p>
          <a:p>
            <a:pPr lvl="1"/>
            <a:r>
              <a:rPr lang="en-US" sz="2400" dirty="0">
                <a:solidFill>
                  <a:schemeClr val="bg2">
                    <a:lumMod val="10000"/>
                  </a:schemeClr>
                </a:solidFill>
              </a:rPr>
              <a:t>Higher mortality </a:t>
            </a:r>
          </a:p>
          <a:p>
            <a:r>
              <a:rPr lang="en-US" sz="2400" dirty="0">
                <a:solidFill>
                  <a:schemeClr val="bg2">
                    <a:lumMod val="10000"/>
                  </a:schemeClr>
                </a:solidFill>
              </a:rPr>
              <a:t>HIV patients had: </a:t>
            </a:r>
          </a:p>
          <a:p>
            <a:pPr lvl="1"/>
            <a:r>
              <a:rPr lang="en-US" sz="2400" dirty="0">
                <a:solidFill>
                  <a:schemeClr val="bg2">
                    <a:lumMod val="10000"/>
                  </a:schemeClr>
                </a:solidFill>
              </a:rPr>
              <a:t>Slower disease progression </a:t>
            </a:r>
          </a:p>
          <a:p>
            <a:pPr lvl="1"/>
            <a:r>
              <a:rPr lang="en-US" sz="2400" dirty="0">
                <a:solidFill>
                  <a:schemeClr val="bg2">
                    <a:lumMod val="10000"/>
                  </a:schemeClr>
                </a:solidFill>
              </a:rPr>
              <a:t>Higher fungal burden </a:t>
            </a:r>
          </a:p>
          <a:p>
            <a:pPr lvl="1"/>
            <a:r>
              <a:rPr lang="en-US" sz="2400" dirty="0">
                <a:solidFill>
                  <a:schemeClr val="bg2">
                    <a:lumMod val="10000"/>
                  </a:schemeClr>
                </a:solidFill>
              </a:rPr>
              <a:t>Better survival rates</a:t>
            </a:r>
          </a:p>
          <a:p>
            <a:endParaRPr lang="en-TZ" dirty="0"/>
          </a:p>
        </p:txBody>
      </p:sp>
    </p:spTree>
    <p:extLst>
      <p:ext uri="{BB962C8B-B14F-4D97-AF65-F5344CB8AC3E}">
        <p14:creationId xmlns:p14="http://schemas.microsoft.com/office/powerpoint/2010/main" val="402707468"/>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D0B3B-1741-32C6-16C7-EA931034B5D5}"/>
              </a:ext>
            </a:extLst>
          </p:cNvPr>
          <p:cNvSpPr>
            <a:spLocks noGrp="1"/>
          </p:cNvSpPr>
          <p:nvPr>
            <p:ph type="title"/>
          </p:nvPr>
        </p:nvSpPr>
        <p:spPr/>
        <p:txBody>
          <a:bodyPr/>
          <a:lstStyle/>
          <a:p>
            <a:r>
              <a:rPr lang="en-US" dirty="0">
                <a:solidFill>
                  <a:schemeClr val="bg2">
                    <a:lumMod val="10000"/>
                  </a:schemeClr>
                </a:solidFill>
              </a:rPr>
              <a:t>Major Findings / Outcomes of the Study</a:t>
            </a:r>
            <a:endParaRPr lang="en-TZ" dirty="0"/>
          </a:p>
        </p:txBody>
      </p:sp>
      <p:sp>
        <p:nvSpPr>
          <p:cNvPr id="3" name="Content Placeholder 2">
            <a:extLst>
              <a:ext uri="{FF2B5EF4-FFF2-40B4-BE49-F238E27FC236}">
                <a16:creationId xmlns:a16="http://schemas.microsoft.com/office/drawing/2014/main" id="{B7667DF9-2125-95E4-79B2-39A13AAADC85}"/>
              </a:ext>
            </a:extLst>
          </p:cNvPr>
          <p:cNvSpPr>
            <a:spLocks noGrp="1"/>
          </p:cNvSpPr>
          <p:nvPr>
            <p:ph sz="half" idx="1"/>
          </p:nvPr>
        </p:nvSpPr>
        <p:spPr/>
        <p:txBody>
          <a:bodyPr/>
          <a:lstStyle/>
          <a:p>
            <a:pPr marL="0" indent="0">
              <a:buNone/>
            </a:pPr>
            <a:r>
              <a:rPr lang="en-US" sz="2400" b="1" dirty="0">
                <a:solidFill>
                  <a:schemeClr val="bg2">
                    <a:lumMod val="10000"/>
                  </a:schemeClr>
                </a:solidFill>
              </a:rPr>
              <a:t>2. Diagnostic differences</a:t>
            </a:r>
          </a:p>
          <a:p>
            <a:r>
              <a:rPr lang="en-US" sz="2400" dirty="0">
                <a:solidFill>
                  <a:schemeClr val="bg2">
                    <a:lumMod val="10000"/>
                  </a:schemeClr>
                </a:solidFill>
              </a:rPr>
              <a:t>Diagnosis was easier in HIV patients because organism load is high. </a:t>
            </a:r>
          </a:p>
          <a:p>
            <a:r>
              <a:rPr lang="en-US" sz="2400" dirty="0">
                <a:solidFill>
                  <a:schemeClr val="bg2">
                    <a:lumMod val="10000"/>
                  </a:schemeClr>
                </a:solidFill>
              </a:rPr>
              <a:t>Non-HIV patients often had: </a:t>
            </a:r>
          </a:p>
          <a:p>
            <a:pPr lvl="1"/>
            <a:r>
              <a:rPr lang="en-US" dirty="0">
                <a:solidFill>
                  <a:schemeClr val="bg2">
                    <a:lumMod val="10000"/>
                  </a:schemeClr>
                </a:solidFill>
              </a:rPr>
              <a:t>Lower organism burden </a:t>
            </a:r>
          </a:p>
          <a:p>
            <a:pPr lvl="1"/>
            <a:r>
              <a:rPr lang="en-US" dirty="0">
                <a:solidFill>
                  <a:schemeClr val="bg2">
                    <a:lumMod val="10000"/>
                  </a:schemeClr>
                </a:solidFill>
              </a:rPr>
              <a:t>Lower microscopy sensitivity </a:t>
            </a:r>
          </a:p>
          <a:p>
            <a:pPr lvl="1"/>
            <a:r>
              <a:rPr lang="en-US" dirty="0">
                <a:solidFill>
                  <a:schemeClr val="bg2">
                    <a:lumMod val="10000"/>
                  </a:schemeClr>
                </a:solidFill>
              </a:rPr>
              <a:t>Delayed diagnosis </a:t>
            </a:r>
          </a:p>
          <a:p>
            <a:r>
              <a:rPr lang="en-US" sz="2400" dirty="0">
                <a:solidFill>
                  <a:schemeClr val="bg2">
                    <a:lumMod val="10000"/>
                  </a:schemeClr>
                </a:solidFill>
              </a:rPr>
              <a:t>PCR and </a:t>
            </a:r>
            <a:r>
              <a:rPr lang="el-GR" sz="2400" dirty="0">
                <a:solidFill>
                  <a:schemeClr val="bg2">
                    <a:lumMod val="10000"/>
                  </a:schemeClr>
                </a:solidFill>
              </a:rPr>
              <a:t>β-</a:t>
            </a:r>
            <a:r>
              <a:rPr lang="en-US" sz="2400" dirty="0">
                <a:solidFill>
                  <a:schemeClr val="bg2">
                    <a:lumMod val="10000"/>
                  </a:schemeClr>
                </a:solidFill>
              </a:rPr>
              <a:t>D-glucan improved diagnosis especially in non-HIV patients.</a:t>
            </a:r>
          </a:p>
          <a:p>
            <a:endParaRPr lang="en-TZ" dirty="0"/>
          </a:p>
        </p:txBody>
      </p:sp>
      <p:sp>
        <p:nvSpPr>
          <p:cNvPr id="4" name="Content Placeholder 3">
            <a:extLst>
              <a:ext uri="{FF2B5EF4-FFF2-40B4-BE49-F238E27FC236}">
                <a16:creationId xmlns:a16="http://schemas.microsoft.com/office/drawing/2014/main" id="{E0632AD3-22BF-A35D-E7C4-70A987F9631B}"/>
              </a:ext>
            </a:extLst>
          </p:cNvPr>
          <p:cNvSpPr>
            <a:spLocks noGrp="1"/>
          </p:cNvSpPr>
          <p:nvPr>
            <p:ph sz="half" idx="2"/>
          </p:nvPr>
        </p:nvSpPr>
        <p:spPr/>
        <p:txBody>
          <a:bodyPr/>
          <a:lstStyle/>
          <a:p>
            <a:pPr marL="0" indent="0">
              <a:buNone/>
            </a:pPr>
            <a:r>
              <a:rPr lang="en-US" sz="2400" b="1" dirty="0">
                <a:solidFill>
                  <a:schemeClr val="bg2">
                    <a:lumMod val="10000"/>
                  </a:schemeClr>
                </a:solidFill>
              </a:rPr>
              <a:t>3. Treatment outcomes</a:t>
            </a:r>
          </a:p>
          <a:p>
            <a:r>
              <a:rPr lang="en-US" sz="2400" dirty="0">
                <a:solidFill>
                  <a:schemeClr val="bg2">
                    <a:lumMod val="10000"/>
                  </a:schemeClr>
                </a:solidFill>
              </a:rPr>
              <a:t>TMP-SMX remained the first-line treatment in both groups. </a:t>
            </a:r>
          </a:p>
          <a:p>
            <a:r>
              <a:rPr lang="en-US" sz="2400" dirty="0">
                <a:solidFill>
                  <a:schemeClr val="bg2">
                    <a:lumMod val="10000"/>
                  </a:schemeClr>
                </a:solidFill>
              </a:rPr>
              <a:t>Adjunctive corticosteroids beneficial in severe disease. </a:t>
            </a:r>
          </a:p>
          <a:p>
            <a:r>
              <a:rPr lang="en-US" sz="2400" dirty="0">
                <a:solidFill>
                  <a:schemeClr val="bg2">
                    <a:lumMod val="10000"/>
                  </a:schemeClr>
                </a:solidFill>
              </a:rPr>
              <a:t>Early treatment strongly associated with better outcomes.</a:t>
            </a:r>
          </a:p>
          <a:p>
            <a:endParaRPr lang="en-TZ" dirty="0"/>
          </a:p>
        </p:txBody>
      </p:sp>
    </p:spTree>
    <p:extLst>
      <p:ext uri="{BB962C8B-B14F-4D97-AF65-F5344CB8AC3E}">
        <p14:creationId xmlns:p14="http://schemas.microsoft.com/office/powerpoint/2010/main" val="3853096601"/>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FA14E-77FE-3C80-CE51-BB9BE0434EDB}"/>
              </a:ext>
            </a:extLst>
          </p:cNvPr>
          <p:cNvSpPr>
            <a:spLocks noGrp="1"/>
          </p:cNvSpPr>
          <p:nvPr>
            <p:ph type="title"/>
          </p:nvPr>
        </p:nvSpPr>
        <p:spPr/>
        <p:txBody>
          <a:bodyPr/>
          <a:lstStyle/>
          <a:p>
            <a:r>
              <a:rPr lang="en-US" b="1" dirty="0">
                <a:solidFill>
                  <a:schemeClr val="bg2">
                    <a:lumMod val="10000"/>
                  </a:schemeClr>
                </a:solidFill>
              </a:rPr>
              <a:t>Overall Conclusion</a:t>
            </a:r>
            <a:br>
              <a:rPr lang="en-US" b="1" dirty="0"/>
            </a:br>
            <a:endParaRPr lang="en-TZ" dirty="0"/>
          </a:p>
        </p:txBody>
      </p:sp>
      <p:sp>
        <p:nvSpPr>
          <p:cNvPr id="3" name="Content Placeholder 2">
            <a:extLst>
              <a:ext uri="{FF2B5EF4-FFF2-40B4-BE49-F238E27FC236}">
                <a16:creationId xmlns:a16="http://schemas.microsoft.com/office/drawing/2014/main" id="{D86D991C-A1B2-CFA9-8A30-A40A25CC2FAA}"/>
              </a:ext>
            </a:extLst>
          </p:cNvPr>
          <p:cNvSpPr>
            <a:spLocks noGrp="1"/>
          </p:cNvSpPr>
          <p:nvPr>
            <p:ph idx="1"/>
          </p:nvPr>
        </p:nvSpPr>
        <p:spPr/>
        <p:txBody>
          <a:bodyPr/>
          <a:lstStyle/>
          <a:p>
            <a:pPr>
              <a:buFont typeface="Wingdings" panose="05000000000000000000" pitchFamily="2" charset="2"/>
              <a:buChar char="Ø"/>
            </a:pPr>
            <a:r>
              <a:rPr lang="en-US" sz="2400" dirty="0">
                <a:solidFill>
                  <a:schemeClr val="bg2">
                    <a:lumMod val="10000"/>
                  </a:schemeClr>
                </a:solidFill>
              </a:rPr>
              <a:t>The review concluded that:</a:t>
            </a:r>
          </a:p>
          <a:p>
            <a:r>
              <a:rPr lang="en-US" sz="2400" dirty="0">
                <a:solidFill>
                  <a:schemeClr val="bg2">
                    <a:lumMod val="10000"/>
                  </a:schemeClr>
                </a:solidFill>
              </a:rPr>
              <a:t>PJP in non-HIV immunocompromised patients is increasingly important clinically. </a:t>
            </a:r>
          </a:p>
          <a:p>
            <a:r>
              <a:rPr lang="en-US" sz="2400" dirty="0">
                <a:solidFill>
                  <a:schemeClr val="bg2">
                    <a:lumMod val="10000"/>
                  </a:schemeClr>
                </a:solidFill>
              </a:rPr>
              <a:t>Non-HIV PJP is associated with worse prognosis and higher mortality. </a:t>
            </a:r>
          </a:p>
          <a:p>
            <a:r>
              <a:rPr lang="en-US" sz="2400" dirty="0">
                <a:solidFill>
                  <a:schemeClr val="bg2">
                    <a:lumMod val="10000"/>
                  </a:schemeClr>
                </a:solidFill>
              </a:rPr>
              <a:t>Delayed recognition contributes significantly to poor outcomes. </a:t>
            </a:r>
          </a:p>
          <a:p>
            <a:r>
              <a:rPr lang="en-US" sz="2400" dirty="0">
                <a:solidFill>
                  <a:schemeClr val="bg2">
                    <a:lumMod val="10000"/>
                  </a:schemeClr>
                </a:solidFill>
              </a:rPr>
              <a:t>Better prophylaxis strategies and earlier diagnosis are needed in non-HIV populations.</a:t>
            </a:r>
          </a:p>
          <a:p>
            <a:endParaRPr lang="en-TZ" dirty="0"/>
          </a:p>
        </p:txBody>
      </p:sp>
    </p:spTree>
    <p:extLst>
      <p:ext uri="{BB962C8B-B14F-4D97-AF65-F5344CB8AC3E}">
        <p14:creationId xmlns:p14="http://schemas.microsoft.com/office/powerpoint/2010/main" val="3371884641"/>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BC3EA-858E-7FA4-D28B-2F9EE33CA849}"/>
              </a:ext>
            </a:extLst>
          </p:cNvPr>
          <p:cNvSpPr>
            <a:spLocks noGrp="1"/>
          </p:cNvSpPr>
          <p:nvPr>
            <p:ph type="title"/>
          </p:nvPr>
        </p:nvSpPr>
        <p:spPr/>
        <p:txBody>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TOXOPLASMOSIS</a:t>
            </a:r>
            <a:r>
              <a:rPr lang="en-US" b="1" dirty="0">
                <a:solidFill>
                  <a:schemeClr val="bg2">
                    <a:lumMod val="10000"/>
                  </a:schemeClr>
                </a:solidFill>
              </a:rPr>
              <a:t> </a:t>
            </a:r>
            <a:endParaRPr lang="en-TZ" dirty="0"/>
          </a:p>
        </p:txBody>
      </p:sp>
      <p:sp>
        <p:nvSpPr>
          <p:cNvPr id="3" name="Content Placeholder 2">
            <a:extLst>
              <a:ext uri="{FF2B5EF4-FFF2-40B4-BE49-F238E27FC236}">
                <a16:creationId xmlns:a16="http://schemas.microsoft.com/office/drawing/2014/main" id="{D06017A1-6E63-46F3-9ADD-E6EF43602134}"/>
              </a:ext>
            </a:extLst>
          </p:cNvPr>
          <p:cNvSpPr>
            <a:spLocks noGrp="1"/>
          </p:cNvSpPr>
          <p:nvPr>
            <p:ph idx="1"/>
          </p:nvPr>
        </p:nvSpPr>
        <p:spPr/>
        <p:txBody>
          <a:bodyPr/>
          <a:lstStyle/>
          <a:p>
            <a:r>
              <a:rPr lang="en-US" dirty="0" err="1">
                <a:solidFill>
                  <a:schemeClr val="bg2">
                    <a:lumMod val="10000"/>
                  </a:schemeClr>
                </a:solidFill>
                <a:latin typeface="Times New Roman" panose="02020603050405020304" pitchFamily="18" charset="0"/>
                <a:cs typeface="Times New Roman" panose="02020603050405020304" pitchFamily="18" charset="0"/>
              </a:rPr>
              <a:t>T.gondii</a:t>
            </a:r>
            <a:r>
              <a:rPr lang="en-US" dirty="0">
                <a:solidFill>
                  <a:schemeClr val="bg2">
                    <a:lumMod val="10000"/>
                  </a:schemeClr>
                </a:solidFill>
                <a:latin typeface="Times New Roman" panose="02020603050405020304" pitchFamily="18" charset="0"/>
                <a:cs typeface="Times New Roman" panose="02020603050405020304" pitchFamily="18" charset="0"/>
              </a:rPr>
              <a:t> is an obligate intracellular protozoan parasite capable of causing severe infections in immunocompromised individuals.</a:t>
            </a:r>
          </a:p>
          <a:p>
            <a:r>
              <a:rPr lang="en-US" dirty="0">
                <a:solidFill>
                  <a:schemeClr val="bg2">
                    <a:lumMod val="10000"/>
                  </a:schemeClr>
                </a:solidFill>
                <a:latin typeface="Times New Roman" panose="02020603050405020304" pitchFamily="18" charset="0"/>
                <a:cs typeface="Times New Roman" panose="02020603050405020304" pitchFamily="18" charset="0"/>
              </a:rPr>
              <a:t>A global meta-analysis reported a pooled prevalence of </a:t>
            </a:r>
            <a:r>
              <a:rPr lang="en-US" b="1" dirty="0">
                <a:solidFill>
                  <a:schemeClr val="bg2">
                    <a:lumMod val="10000"/>
                  </a:schemeClr>
                </a:solidFill>
                <a:latin typeface="Times New Roman" panose="02020603050405020304" pitchFamily="18" charset="0"/>
                <a:cs typeface="Times New Roman" panose="02020603050405020304" pitchFamily="18" charset="0"/>
              </a:rPr>
              <a:t>35.9%</a:t>
            </a:r>
            <a:r>
              <a:rPr lang="en-US" dirty="0">
                <a:solidFill>
                  <a:schemeClr val="bg2">
                    <a:lumMod val="10000"/>
                  </a:schemeClr>
                </a:solidFill>
                <a:latin typeface="Times New Roman" panose="02020603050405020304" pitchFamily="18" charset="0"/>
                <a:cs typeface="Times New Roman" panose="02020603050405020304" pitchFamily="18" charset="0"/>
              </a:rPr>
              <a:t> for </a:t>
            </a:r>
            <a:r>
              <a:rPr lang="en-US" b="1" dirty="0">
                <a:solidFill>
                  <a:schemeClr val="bg2">
                    <a:lumMod val="10000"/>
                  </a:schemeClr>
                </a:solidFill>
                <a:latin typeface="Times New Roman" panose="02020603050405020304" pitchFamily="18" charset="0"/>
                <a:cs typeface="Times New Roman" panose="02020603050405020304" pitchFamily="18" charset="0"/>
              </a:rPr>
              <a:t>T. gondii</a:t>
            </a:r>
            <a:r>
              <a:rPr lang="en-US" dirty="0">
                <a:solidFill>
                  <a:schemeClr val="bg2">
                    <a:lumMod val="10000"/>
                  </a:schemeClr>
                </a:solidFill>
                <a:latin typeface="Times New Roman" panose="02020603050405020304" pitchFamily="18" charset="0"/>
                <a:cs typeface="Times New Roman" panose="02020603050405020304" pitchFamily="18" charset="0"/>
              </a:rPr>
              <a:t> infection in immunocompromised patients, compared to </a:t>
            </a:r>
            <a:r>
              <a:rPr lang="en-US" b="1" dirty="0">
                <a:solidFill>
                  <a:schemeClr val="bg2">
                    <a:lumMod val="10000"/>
                  </a:schemeClr>
                </a:solidFill>
                <a:latin typeface="Times New Roman" panose="02020603050405020304" pitchFamily="18" charset="0"/>
                <a:cs typeface="Times New Roman" panose="02020603050405020304" pitchFamily="18" charset="0"/>
              </a:rPr>
              <a:t>24.7%</a:t>
            </a:r>
            <a:r>
              <a:rPr lang="en-US" dirty="0">
                <a:solidFill>
                  <a:schemeClr val="bg2">
                    <a:lumMod val="10000"/>
                  </a:schemeClr>
                </a:solidFill>
                <a:latin typeface="Times New Roman" panose="02020603050405020304" pitchFamily="18" charset="0"/>
                <a:cs typeface="Times New Roman" panose="02020603050405020304" pitchFamily="18" charset="0"/>
              </a:rPr>
              <a:t> in controls </a:t>
            </a:r>
          </a:p>
          <a:p>
            <a:r>
              <a:rPr lang="en-US" dirty="0">
                <a:solidFill>
                  <a:schemeClr val="bg2">
                    <a:lumMod val="10000"/>
                  </a:schemeClr>
                </a:solidFill>
                <a:latin typeface="Times New Roman" panose="02020603050405020304" pitchFamily="18" charset="0"/>
                <a:cs typeface="Times New Roman" panose="02020603050405020304" pitchFamily="18" charset="0"/>
              </a:rPr>
              <a:t>Higher odds of infection observed in Cancer patients and </a:t>
            </a:r>
          </a:p>
          <a:p>
            <a:pPr marL="0" indent="0">
              <a:buNone/>
            </a:pPr>
            <a:r>
              <a:rPr lang="en-US" dirty="0">
                <a:solidFill>
                  <a:schemeClr val="bg2">
                    <a:lumMod val="10000"/>
                  </a:schemeClr>
                </a:solidFill>
                <a:latin typeface="Times New Roman" panose="02020603050405020304" pitchFamily="18" charset="0"/>
                <a:cs typeface="Times New Roman" panose="02020603050405020304" pitchFamily="18" charset="0"/>
              </a:rPr>
              <a:t>    transplant recipients </a:t>
            </a:r>
          </a:p>
          <a:p>
            <a:endParaRPr lang="en-TZ" dirty="0"/>
          </a:p>
        </p:txBody>
      </p:sp>
      <p:sp>
        <p:nvSpPr>
          <p:cNvPr id="4" name="Date Placeholder 3">
            <a:extLst>
              <a:ext uri="{FF2B5EF4-FFF2-40B4-BE49-F238E27FC236}">
                <a16:creationId xmlns:a16="http://schemas.microsoft.com/office/drawing/2014/main" id="{99C4FA2E-BF7B-303A-BCE6-A1D287A30016}"/>
              </a:ext>
            </a:extLst>
          </p:cNvPr>
          <p:cNvSpPr>
            <a:spLocks noGrp="1"/>
          </p:cNvSpPr>
          <p:nvPr>
            <p:ph type="dt" sz="half" idx="10"/>
          </p:nvPr>
        </p:nvSpPr>
        <p:spPr/>
        <p:txBody>
          <a:bodyPr/>
          <a:lstStyle/>
          <a:p>
            <a:fld id="{7A482952-A15B-4F66-B92F-C3CBBC9C388C}" type="datetime2">
              <a:rPr lang="en-US" altLang="en-US" smtClean="0"/>
              <a:t>Friday, May 15, 2026</a:t>
            </a:fld>
            <a:endParaRPr lang="en-US" altLang="en-US"/>
          </a:p>
        </p:txBody>
      </p:sp>
      <p:sp>
        <p:nvSpPr>
          <p:cNvPr id="5" name="Footer Placeholder 4">
            <a:extLst>
              <a:ext uri="{FF2B5EF4-FFF2-40B4-BE49-F238E27FC236}">
                <a16:creationId xmlns:a16="http://schemas.microsoft.com/office/drawing/2014/main" id="{C77C65BB-E92D-11BD-80DF-88B2916DCAC1}"/>
              </a:ext>
            </a:extLst>
          </p:cNvPr>
          <p:cNvSpPr>
            <a:spLocks noGrp="1"/>
          </p:cNvSpPr>
          <p:nvPr>
            <p:ph type="ftr" sz="quarter" idx="11"/>
          </p:nvPr>
        </p:nvSpPr>
        <p:spPr/>
        <p:txBody>
          <a:bodyPr/>
          <a:lstStyle/>
          <a:p>
            <a:pPr>
              <a:defRPr/>
            </a:pPr>
            <a:r>
              <a:rPr lang="en-US"/>
              <a:t>Dr. Joseph Jumanne</a:t>
            </a:r>
          </a:p>
        </p:txBody>
      </p:sp>
      <p:sp>
        <p:nvSpPr>
          <p:cNvPr id="6" name="Slide Number Placeholder 5">
            <a:extLst>
              <a:ext uri="{FF2B5EF4-FFF2-40B4-BE49-F238E27FC236}">
                <a16:creationId xmlns:a16="http://schemas.microsoft.com/office/drawing/2014/main" id="{7796B975-F823-0538-9E4F-60C817E57BF0}"/>
              </a:ext>
            </a:extLst>
          </p:cNvPr>
          <p:cNvSpPr>
            <a:spLocks noGrp="1"/>
          </p:cNvSpPr>
          <p:nvPr>
            <p:ph type="sldNum" sz="quarter" idx="12"/>
          </p:nvPr>
        </p:nvSpPr>
        <p:spPr/>
        <p:txBody>
          <a:bodyPr/>
          <a:lstStyle/>
          <a:p>
            <a:fld id="{7F799B34-1B6F-498C-AAD9-0E5AD70A3170}" type="slidenum">
              <a:rPr lang="en-US" altLang="en-US" smtClean="0"/>
              <a:t>57</a:t>
            </a:fld>
            <a:endParaRPr lang="en-US" altLang="en-US"/>
          </a:p>
        </p:txBody>
      </p:sp>
    </p:spTree>
    <p:extLst>
      <p:ext uri="{BB962C8B-B14F-4D97-AF65-F5344CB8AC3E}">
        <p14:creationId xmlns:p14="http://schemas.microsoft.com/office/powerpoint/2010/main" val="3686940714"/>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1AD12-A968-6463-1AFC-6AFB4E2F8500}"/>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C82AF28B-1A6A-9203-D750-B85E4D639495}"/>
              </a:ext>
            </a:extLst>
          </p:cNvPr>
          <p:cNvPicPr>
            <a:picLocks noGrp="1" noChangeAspect="1"/>
          </p:cNvPicPr>
          <p:nvPr>
            <p:ph idx="1"/>
          </p:nvPr>
        </p:nvPicPr>
        <p:blipFill>
          <a:blip r:embed="rId3"/>
          <a:stretch>
            <a:fillRect/>
          </a:stretch>
        </p:blipFill>
        <p:spPr>
          <a:xfrm>
            <a:off x="707984" y="350377"/>
            <a:ext cx="10645816" cy="5991225"/>
          </a:xfrm>
        </p:spPr>
      </p:pic>
    </p:spTree>
    <p:extLst>
      <p:ext uri="{BB962C8B-B14F-4D97-AF65-F5344CB8AC3E}">
        <p14:creationId xmlns:p14="http://schemas.microsoft.com/office/powerpoint/2010/main" val="2380483333"/>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383458"/>
            <a:ext cx="8979310" cy="683341"/>
          </a:xfrm>
        </p:spPr>
        <p:txBody>
          <a:bodyPr>
            <a:normAutofit fontScale="90000"/>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Pathogenesis and clinical presentation</a:t>
            </a:r>
          </a:p>
        </p:txBody>
      </p:sp>
      <p:sp>
        <p:nvSpPr>
          <p:cNvPr id="3" name="Content Placeholder 2"/>
          <p:cNvSpPr>
            <a:spLocks noGrp="1"/>
          </p:cNvSpPr>
          <p:nvPr>
            <p:ph idx="1"/>
          </p:nvPr>
        </p:nvSpPr>
        <p:spPr>
          <a:xfrm>
            <a:off x="501445" y="1179871"/>
            <a:ext cx="11267768" cy="4984955"/>
          </a:xfrm>
        </p:spPr>
        <p:txBody>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Immunocompromised hosts,  lack of effective </a:t>
            </a:r>
            <a:r>
              <a:rPr lang="en-US" b="1" dirty="0">
                <a:solidFill>
                  <a:schemeClr val="bg2">
                    <a:lumMod val="10000"/>
                  </a:schemeClr>
                </a:solidFill>
                <a:latin typeface="Times New Roman" panose="02020603050405020304" pitchFamily="18" charset="0"/>
                <a:cs typeface="Times New Roman" panose="02020603050405020304" pitchFamily="18" charset="0"/>
              </a:rPr>
              <a:t>IFN-γ, </a:t>
            </a:r>
            <a:r>
              <a:rPr lang="en-US" dirty="0">
                <a:solidFill>
                  <a:schemeClr val="bg2">
                    <a:lumMod val="10000"/>
                  </a:schemeClr>
                </a:solidFill>
                <a:latin typeface="Times New Roman" panose="02020603050405020304" pitchFamily="18" charset="0"/>
                <a:cs typeface="Times New Roman" panose="02020603050405020304" pitchFamily="18" charset="0"/>
              </a:rPr>
              <a:t>impairs control </a:t>
            </a:r>
            <a:r>
              <a:rPr lang="en-US" b="1" dirty="0">
                <a:solidFill>
                  <a:schemeClr val="bg2">
                    <a:lumMod val="10000"/>
                  </a:schemeClr>
                </a:solidFill>
                <a:latin typeface="Times New Roman" panose="02020603050405020304" pitchFamily="18" charset="0"/>
                <a:cs typeface="Times New Roman" panose="02020603050405020304" pitchFamily="18" charset="0"/>
              </a:rPr>
              <a:t>T. gondii</a:t>
            </a:r>
            <a:r>
              <a:rPr lang="en-US" dirty="0">
                <a:solidFill>
                  <a:schemeClr val="bg2">
                    <a:lumMod val="10000"/>
                  </a:schemeClr>
                </a:solidFill>
                <a:latin typeface="Times New Roman" panose="02020603050405020304" pitchFamily="18" charset="0"/>
                <a:cs typeface="Times New Roman" panose="02020603050405020304" pitchFamily="18" charset="0"/>
              </a:rPr>
              <a:t> replication.</a:t>
            </a:r>
          </a:p>
          <a:p>
            <a:r>
              <a:rPr lang="en-US" dirty="0">
                <a:solidFill>
                  <a:schemeClr val="bg2">
                    <a:lumMod val="10000"/>
                  </a:schemeClr>
                </a:solidFill>
                <a:latin typeface="Times New Roman" panose="02020603050405020304" pitchFamily="18" charset="0"/>
                <a:cs typeface="Times New Roman" panose="02020603050405020304" pitchFamily="18" charset="0"/>
              </a:rPr>
              <a:t>Deficiencies in </a:t>
            </a:r>
            <a:r>
              <a:rPr lang="en-US" b="1" dirty="0">
                <a:solidFill>
                  <a:schemeClr val="bg2">
                    <a:lumMod val="10000"/>
                  </a:schemeClr>
                </a:solidFill>
                <a:latin typeface="Times New Roman" panose="02020603050405020304" pitchFamily="18" charset="0"/>
                <a:cs typeface="Times New Roman" panose="02020603050405020304" pitchFamily="18" charset="0"/>
              </a:rPr>
              <a:t>Th1</a:t>
            </a:r>
            <a:r>
              <a:rPr lang="en-US" dirty="0">
                <a:solidFill>
                  <a:schemeClr val="bg2">
                    <a:lumMod val="10000"/>
                  </a:schemeClr>
                </a:solidFill>
                <a:latin typeface="Times New Roman" panose="02020603050405020304" pitchFamily="18" charset="0"/>
                <a:cs typeface="Times New Roman" panose="02020603050405020304" pitchFamily="18" charset="0"/>
              </a:rPr>
              <a:t> responses and APC increase susceptibility </a:t>
            </a:r>
          </a:p>
          <a:p>
            <a:r>
              <a:rPr lang="en-US" dirty="0">
                <a:solidFill>
                  <a:schemeClr val="bg2">
                    <a:lumMod val="10000"/>
                  </a:schemeClr>
                </a:solidFill>
                <a:latin typeface="Times New Roman" panose="02020603050405020304" pitchFamily="18" charset="0"/>
                <a:cs typeface="Times New Roman" panose="02020603050405020304" pitchFamily="18" charset="0"/>
              </a:rPr>
              <a:t>Reactivation leads to severe encephalitis and ocular toxoplasmosis.</a:t>
            </a:r>
          </a:p>
          <a:p>
            <a:pPr marL="0" indent="0">
              <a:buNone/>
            </a:pPr>
            <a:endParaRPr lang="en-US" dirty="0"/>
          </a:p>
          <a:p>
            <a:pPr marL="0" indent="0">
              <a:buNone/>
            </a:pPr>
            <a:endParaRPr lang="en-US" b="1" dirty="0"/>
          </a:p>
          <a:p>
            <a:endParaRPr lang="en-US" dirty="0">
              <a:solidFill>
                <a:schemeClr val="bg2">
                  <a:lumMod val="10000"/>
                </a:schemeClr>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46490114"/>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0594" y="1"/>
            <a:ext cx="8780206" cy="822121"/>
          </a:xfrm>
        </p:spPr>
        <p:txBody>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Diagnosis and Management</a:t>
            </a:r>
          </a:p>
        </p:txBody>
      </p:sp>
      <p:sp>
        <p:nvSpPr>
          <p:cNvPr id="3" name="Content Placeholder 2"/>
          <p:cNvSpPr>
            <a:spLocks noGrp="1"/>
          </p:cNvSpPr>
          <p:nvPr>
            <p:ph idx="1"/>
          </p:nvPr>
        </p:nvSpPr>
        <p:spPr>
          <a:xfrm>
            <a:off x="532435" y="822122"/>
            <a:ext cx="11250593" cy="5521529"/>
          </a:xfrm>
        </p:spPr>
        <p:txBody>
          <a:bodyPr>
            <a:normAutofit/>
          </a:bodyPr>
          <a:lstStyle/>
          <a:p>
            <a:r>
              <a:rPr lang="en-US" dirty="0">
                <a:solidFill>
                  <a:schemeClr val="bg2">
                    <a:lumMod val="10000"/>
                  </a:schemeClr>
                </a:solidFill>
                <a:latin typeface="Times New Roman" panose="02020603050405020304" pitchFamily="18" charset="0"/>
                <a:cs typeface="Times New Roman" panose="02020603050405020304" pitchFamily="18" charset="0"/>
              </a:rPr>
              <a:t>Diagnosis involves serological testing (IgG, IgM), PCR assays, and imaging studies </a:t>
            </a:r>
            <a:r>
              <a:rPr lang="en-US" b="1" dirty="0">
                <a:solidFill>
                  <a:schemeClr val="bg2">
                    <a:lumMod val="10000"/>
                  </a:schemeClr>
                </a:solidFill>
                <a:latin typeface="Times New Roman" panose="02020603050405020304" pitchFamily="18" charset="0"/>
                <a:cs typeface="Times New Roman" panose="02020603050405020304" pitchFamily="18" charset="0"/>
              </a:rPr>
              <a:t>MRI (</a:t>
            </a:r>
            <a:r>
              <a:rPr lang="en-US" b="1" u="sng" dirty="0">
                <a:solidFill>
                  <a:schemeClr val="bg2">
                    <a:lumMod val="10000"/>
                  </a:schemeClr>
                </a:solidFill>
                <a:latin typeface="Times New Roman" panose="02020603050405020304" pitchFamily="18" charset="0"/>
                <a:cs typeface="Times New Roman" panose="02020603050405020304" pitchFamily="18" charset="0"/>
              </a:rPr>
              <a:t>ring enhancing lesions</a:t>
            </a:r>
            <a:r>
              <a:rPr lang="en-US" dirty="0">
                <a:solidFill>
                  <a:schemeClr val="bg2">
                    <a:lumMod val="10000"/>
                  </a:schemeClr>
                </a:solidFill>
                <a:latin typeface="Times New Roman" panose="02020603050405020304" pitchFamily="18" charset="0"/>
                <a:cs typeface="Times New Roman" panose="02020603050405020304" pitchFamily="18" charset="0"/>
              </a:rPr>
              <a:t>;) CT Scan </a:t>
            </a:r>
          </a:p>
          <a:p>
            <a:r>
              <a:rPr lang="en-US" dirty="0">
                <a:solidFill>
                  <a:schemeClr val="bg2">
                    <a:lumMod val="10000"/>
                  </a:schemeClr>
                </a:solidFill>
                <a:latin typeface="Times New Roman" panose="02020603050405020304" pitchFamily="18" charset="0"/>
                <a:cs typeface="Times New Roman" panose="02020603050405020304" pitchFamily="18" charset="0"/>
              </a:rPr>
              <a:t>Samples: CSF (lumbar puncture), amniotic fluid (amniocentesis), bronchoalveolar lavage fluid, blood, lymph node biopsy, n’ brain biopsy</a:t>
            </a:r>
          </a:p>
          <a:p>
            <a:r>
              <a:rPr lang="en-US" b="1" dirty="0">
                <a:solidFill>
                  <a:schemeClr val="bg2">
                    <a:lumMod val="10000"/>
                  </a:schemeClr>
                </a:solidFill>
                <a:latin typeface="Times New Roman" panose="02020603050405020304" pitchFamily="18" charset="0"/>
                <a:cs typeface="Times New Roman" panose="02020603050405020304" pitchFamily="18" charset="0"/>
              </a:rPr>
              <a:t>Acute treatment-</a:t>
            </a:r>
            <a:r>
              <a:rPr lang="en-US" dirty="0">
                <a:solidFill>
                  <a:schemeClr val="bg2">
                    <a:lumMod val="10000"/>
                  </a:schemeClr>
                </a:solidFill>
                <a:latin typeface="Times New Roman" panose="02020603050405020304" pitchFamily="18" charset="0"/>
                <a:cs typeface="Times New Roman" panose="02020603050405020304" pitchFamily="18" charset="0"/>
              </a:rPr>
              <a:t>Sulphadiazine tabs 1gm 6 hourly + Pyrimethamine tabs 100mg loading dose, then 50mg /day + Folic acid tabs 10mg /day for 6 weeks.  OR</a:t>
            </a:r>
          </a:p>
          <a:p>
            <a:r>
              <a:rPr lang="en-US" dirty="0">
                <a:solidFill>
                  <a:schemeClr val="bg2">
                    <a:lumMod val="10000"/>
                  </a:schemeClr>
                </a:solidFill>
                <a:latin typeface="Times New Roman" panose="02020603050405020304" pitchFamily="18" charset="0"/>
                <a:cs typeface="Times New Roman" panose="02020603050405020304" pitchFamily="18" charset="0"/>
              </a:rPr>
              <a:t>Clindamycin capsules 450mg -600mg 6 hourly + Pyrimethamine tabs 100mg loading dose, then 50mg /day for 6 weeks. </a:t>
            </a:r>
          </a:p>
          <a:p>
            <a:endParaRPr lang="en-US" dirty="0">
              <a:solidFill>
                <a:schemeClr val="bg2">
                  <a:lumMod val="10000"/>
                </a:schemeClr>
              </a:solidFill>
              <a:latin typeface="Times New Roman" panose="02020603050405020304" pitchFamily="18" charset="0"/>
              <a:cs typeface="Times New Roman" panose="02020603050405020304" pitchFamily="18" charset="0"/>
            </a:endParaRPr>
          </a:p>
          <a:p>
            <a:endParaRPr lang="en-US" sz="3000" b="1" dirty="0">
              <a:solidFill>
                <a:schemeClr val="bg2">
                  <a:lumMod val="10000"/>
                </a:schemeClr>
              </a:solidFill>
              <a:latin typeface="Times New Roman" panose="02020603050405020304" pitchFamily="18" charset="0"/>
              <a:cs typeface="Times New Roman" panose="02020603050405020304" pitchFamily="18" charset="0"/>
            </a:endParaRPr>
          </a:p>
          <a:p>
            <a:pPr marL="0" indent="0">
              <a:buNone/>
            </a:pPr>
            <a:endParaRPr lang="en-US" sz="3000" b="1" dirty="0">
              <a:solidFill>
                <a:schemeClr val="bg2">
                  <a:lumMod val="10000"/>
                </a:schemeClr>
              </a:solidFill>
              <a:latin typeface="Times New Roman" panose="02020603050405020304" pitchFamily="18" charset="0"/>
              <a:cs typeface="Times New Roman" panose="02020603050405020304" pitchFamily="18" charset="0"/>
            </a:endParaRPr>
          </a:p>
          <a:p>
            <a:endParaRPr lang="en-US" dirty="0">
              <a:solidFill>
                <a:schemeClr val="bg2">
                  <a:lumMod val="10000"/>
                </a:schemeClr>
              </a:solidFill>
            </a:endParaRPr>
          </a:p>
        </p:txBody>
      </p:sp>
    </p:spTree>
    <p:extLst>
      <p:ext uri="{BB962C8B-B14F-4D97-AF65-F5344CB8AC3E}">
        <p14:creationId xmlns:p14="http://schemas.microsoft.com/office/powerpoint/2010/main" val="3244065629"/>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75736"/>
          </a:xfrm>
        </p:spPr>
        <p:txBody>
          <a:bodyPr/>
          <a:lstStyle/>
          <a:p>
            <a:r>
              <a:rPr lang="en-US" b="1" dirty="0">
                <a:solidFill>
                  <a:schemeClr val="bg2">
                    <a:lumMod val="10000"/>
                  </a:schemeClr>
                </a:solidFill>
              </a:rPr>
              <a:t>	</a:t>
            </a:r>
            <a:r>
              <a:rPr lang="en-US" b="1" dirty="0">
                <a:solidFill>
                  <a:schemeClr val="bg2">
                    <a:lumMod val="10000"/>
                  </a:schemeClr>
                </a:solidFill>
                <a:latin typeface="Times New Roman" panose="02020603050405020304" pitchFamily="18" charset="0"/>
                <a:cs typeface="Times New Roman" panose="02020603050405020304" pitchFamily="18" charset="0"/>
              </a:rPr>
              <a:t>Prevention</a:t>
            </a:r>
            <a:r>
              <a:rPr lang="en-US" b="1" dirty="0">
                <a:solidFill>
                  <a:schemeClr val="bg2">
                    <a:lumMod val="10000"/>
                  </a:schemeClr>
                </a:solidFill>
              </a:rPr>
              <a:t> </a:t>
            </a:r>
          </a:p>
        </p:txBody>
      </p:sp>
      <p:sp>
        <p:nvSpPr>
          <p:cNvPr id="3" name="Content Placeholder 2"/>
          <p:cNvSpPr>
            <a:spLocks noGrp="1"/>
          </p:cNvSpPr>
          <p:nvPr>
            <p:ph idx="1"/>
          </p:nvPr>
        </p:nvSpPr>
        <p:spPr>
          <a:xfrm>
            <a:off x="368710" y="1271443"/>
            <a:ext cx="11149780" cy="4731151"/>
          </a:xfrm>
        </p:spPr>
        <p:txBody>
          <a:bodyPr>
            <a:normAutofit fontScale="25000" lnSpcReduction="20000"/>
          </a:bodyPr>
          <a:lstStyle/>
          <a:p>
            <a:pPr>
              <a:buFont typeface="Wingdings" panose="05000000000000000000" pitchFamily="2" charset="2"/>
              <a:buChar char="v"/>
            </a:pPr>
            <a:r>
              <a:rPr lang="en-US" sz="11200" b="1" dirty="0">
                <a:solidFill>
                  <a:schemeClr val="bg2">
                    <a:lumMod val="10000"/>
                  </a:schemeClr>
                </a:solidFill>
                <a:latin typeface="Times New Roman" panose="02020603050405020304" pitchFamily="18" charset="0"/>
                <a:cs typeface="Times New Roman" panose="02020603050405020304" pitchFamily="18" charset="0"/>
              </a:rPr>
              <a:t>After six weeks of treatment</a:t>
            </a:r>
            <a:r>
              <a:rPr lang="en-US" sz="11200" dirty="0">
                <a:solidFill>
                  <a:schemeClr val="bg2">
                    <a:lumMod val="10000"/>
                  </a:schemeClr>
                </a:solidFill>
                <a:latin typeface="Times New Roman" panose="02020603050405020304" pitchFamily="18" charset="0"/>
                <a:cs typeface="Times New Roman" panose="02020603050405020304" pitchFamily="18" charset="0"/>
              </a:rPr>
              <a:t>: Give prophylaxis therapy with Sulphadiazine tabs 500mg 6 hourly + Pyrimethamine tabs 25-50mg /day + Folic acid tabs 10mg /day. </a:t>
            </a:r>
          </a:p>
          <a:p>
            <a:pPr>
              <a:buFont typeface="Wingdings" panose="05000000000000000000" pitchFamily="2" charset="2"/>
              <a:buChar char="v"/>
            </a:pPr>
            <a:r>
              <a:rPr lang="en-US" sz="11200" b="1" dirty="0">
                <a:solidFill>
                  <a:schemeClr val="bg2">
                    <a:lumMod val="10000"/>
                  </a:schemeClr>
                </a:solidFill>
                <a:latin typeface="Times New Roman" panose="02020603050405020304" pitchFamily="18" charset="0"/>
                <a:cs typeface="Times New Roman" panose="02020603050405020304" pitchFamily="18" charset="0"/>
              </a:rPr>
              <a:t>European guidelines</a:t>
            </a:r>
            <a:r>
              <a:rPr lang="en-US" sz="11200" dirty="0">
                <a:solidFill>
                  <a:schemeClr val="bg2">
                    <a:lumMod val="10000"/>
                  </a:schemeClr>
                </a:solidFill>
                <a:latin typeface="Times New Roman" panose="02020603050405020304" pitchFamily="18" charset="0"/>
                <a:cs typeface="Times New Roman" panose="02020603050405020304" pitchFamily="18" charset="0"/>
              </a:rPr>
              <a:t> recommend combining PCR screening with prophylaxis for hematopoietic stem cell transplant (HSCT) recipients .</a:t>
            </a:r>
          </a:p>
          <a:p>
            <a:r>
              <a:rPr lang="en-US" sz="11200" dirty="0">
                <a:solidFill>
                  <a:schemeClr val="bg2">
                    <a:lumMod val="10000"/>
                  </a:schemeClr>
                </a:solidFill>
                <a:latin typeface="Times New Roman" panose="02020603050405020304" pitchFamily="18" charset="0"/>
                <a:cs typeface="Times New Roman" panose="02020603050405020304" pitchFamily="18" charset="0"/>
              </a:rPr>
              <a:t>Education on hygiene and food safety practices</a:t>
            </a:r>
          </a:p>
          <a:p>
            <a:r>
              <a:rPr lang="en-US" sz="11200" dirty="0">
                <a:solidFill>
                  <a:schemeClr val="bg2">
                    <a:lumMod val="10000"/>
                  </a:schemeClr>
                </a:solidFill>
                <a:latin typeface="Times New Roman" panose="02020603050405020304" pitchFamily="18" charset="0"/>
                <a:cs typeface="Times New Roman" panose="02020603050405020304" pitchFamily="18" charset="0"/>
              </a:rPr>
              <a:t>Primary prophylaxis with Trimethoprim– TMP-SMX 160/800mg  orally/day. </a:t>
            </a:r>
          </a:p>
          <a:p>
            <a:r>
              <a:rPr lang="en-US" sz="11200" dirty="0">
                <a:solidFill>
                  <a:schemeClr val="bg2">
                    <a:lumMod val="10000"/>
                  </a:schemeClr>
                </a:solidFill>
                <a:latin typeface="Times New Roman" panose="02020603050405020304" pitchFamily="18" charset="0"/>
                <a:cs typeface="Times New Roman" panose="02020603050405020304" pitchFamily="18" charset="0"/>
              </a:rPr>
              <a:t>For those allergic to sulfur, give Dapsone tabs 50mg/day + Pyrimethamine tabs 50mg per week + Folic Acid tabs 10mg 3 times a week. 	</a:t>
            </a:r>
          </a:p>
          <a:p>
            <a:pPr marL="0" indent="0">
              <a:buNone/>
            </a:pPr>
            <a:endParaRPr lang="en-US" sz="11200" dirty="0">
              <a:solidFill>
                <a:schemeClr val="bg2">
                  <a:lumMod val="10000"/>
                </a:schemeClr>
              </a:solidFill>
              <a:latin typeface="Times New Roman" panose="02020603050405020304" pitchFamily="18" charset="0"/>
              <a:cs typeface="Times New Roman" panose="02020603050405020304" pitchFamily="18" charset="0"/>
            </a:endParaRPr>
          </a:p>
          <a:p>
            <a:pPr marL="0" indent="0">
              <a:buNone/>
            </a:pPr>
            <a:endParaRPr lang="en-US" sz="11200" dirty="0">
              <a:solidFill>
                <a:schemeClr val="bg2">
                  <a:lumMod val="10000"/>
                </a:schemeClr>
              </a:solidFill>
              <a:latin typeface="Times New Roman" panose="02020603050405020304" pitchFamily="18" charset="0"/>
              <a:cs typeface="Times New Roman" panose="02020603050405020304" pitchFamily="18" charset="0"/>
            </a:endParaRPr>
          </a:p>
          <a:p>
            <a:pPr marL="0" indent="0">
              <a:buNone/>
            </a:pPr>
            <a:r>
              <a:rPr lang="en-US" sz="11200" dirty="0">
                <a:solidFill>
                  <a:schemeClr val="bg2">
                    <a:lumMod val="10000"/>
                  </a:schemeClr>
                </a:solidFill>
                <a:latin typeface="Times New Roman" panose="02020603050405020304" pitchFamily="18" charset="0"/>
                <a:cs typeface="Times New Roman" panose="02020603050405020304" pitchFamily="18" charset="0"/>
              </a:rPr>
              <a:t>	</a:t>
            </a:r>
          </a:p>
          <a:p>
            <a:endParaRPr lang="en-US" dirty="0"/>
          </a:p>
          <a:p>
            <a:endParaRPr lang="en-US" dirty="0"/>
          </a:p>
          <a:p>
            <a:endParaRPr lang="en-US" dirty="0"/>
          </a:p>
        </p:txBody>
      </p:sp>
    </p:spTree>
    <p:extLst>
      <p:ext uri="{BB962C8B-B14F-4D97-AF65-F5344CB8AC3E}">
        <p14:creationId xmlns:p14="http://schemas.microsoft.com/office/powerpoint/2010/main" val="4079883377"/>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582DC4-492A-EFAC-555B-0C989ADDCD48}"/>
              </a:ext>
            </a:extLst>
          </p:cNvPr>
          <p:cNvSpPr>
            <a:spLocks noGrp="1"/>
          </p:cNvSpPr>
          <p:nvPr>
            <p:ph type="dt" sz="half" idx="10"/>
          </p:nvPr>
        </p:nvSpPr>
        <p:spPr/>
        <p:txBody>
          <a:bodyPr/>
          <a:lstStyle/>
          <a:p>
            <a:fld id="{084EC0D5-E3A4-4FB9-B123-B8BEDD6A3050}" type="datetime2">
              <a:rPr lang="en-US" altLang="en-US" smtClean="0"/>
              <a:t>Friday, May 15, 2026</a:t>
            </a:fld>
            <a:endParaRPr lang="en-US" altLang="en-US"/>
          </a:p>
        </p:txBody>
      </p:sp>
      <p:sp>
        <p:nvSpPr>
          <p:cNvPr id="3" name="Footer Placeholder 2">
            <a:extLst>
              <a:ext uri="{FF2B5EF4-FFF2-40B4-BE49-F238E27FC236}">
                <a16:creationId xmlns:a16="http://schemas.microsoft.com/office/drawing/2014/main" id="{A2CCDEC5-3026-AA71-A6C7-A0C99407CC9B}"/>
              </a:ext>
            </a:extLst>
          </p:cNvPr>
          <p:cNvSpPr>
            <a:spLocks noGrp="1"/>
          </p:cNvSpPr>
          <p:nvPr>
            <p:ph type="ftr" sz="quarter" idx="11"/>
          </p:nvPr>
        </p:nvSpPr>
        <p:spPr/>
        <p:txBody>
          <a:bodyPr/>
          <a:lstStyle/>
          <a:p>
            <a:pPr>
              <a:defRPr/>
            </a:pPr>
            <a:r>
              <a:rPr lang="en-US"/>
              <a:t>Dr. Joseph Jumanne</a:t>
            </a:r>
          </a:p>
        </p:txBody>
      </p:sp>
      <p:sp>
        <p:nvSpPr>
          <p:cNvPr id="4" name="Slide Number Placeholder 3">
            <a:extLst>
              <a:ext uri="{FF2B5EF4-FFF2-40B4-BE49-F238E27FC236}">
                <a16:creationId xmlns:a16="http://schemas.microsoft.com/office/drawing/2014/main" id="{1621877A-383A-9628-6D3C-808D23D9B45F}"/>
              </a:ext>
            </a:extLst>
          </p:cNvPr>
          <p:cNvSpPr>
            <a:spLocks noGrp="1"/>
          </p:cNvSpPr>
          <p:nvPr>
            <p:ph type="sldNum" sz="quarter" idx="12"/>
          </p:nvPr>
        </p:nvSpPr>
        <p:spPr/>
        <p:txBody>
          <a:bodyPr/>
          <a:lstStyle/>
          <a:p>
            <a:fld id="{32E82613-C6EF-4F22-BF61-53C00E45B04F}" type="slidenum">
              <a:rPr lang="en-US" altLang="en-US" smtClean="0"/>
              <a:t>62</a:t>
            </a:fld>
            <a:endParaRPr lang="en-US" altLang="en-US"/>
          </a:p>
        </p:txBody>
      </p:sp>
      <p:pic>
        <p:nvPicPr>
          <p:cNvPr id="6" name="Picture 5">
            <a:extLst>
              <a:ext uri="{FF2B5EF4-FFF2-40B4-BE49-F238E27FC236}">
                <a16:creationId xmlns:a16="http://schemas.microsoft.com/office/drawing/2014/main" id="{EB5A956E-32A6-8F0B-D761-C1DD4A998A00}"/>
              </a:ext>
            </a:extLst>
          </p:cNvPr>
          <p:cNvPicPr>
            <a:picLocks noChangeAspect="1"/>
          </p:cNvPicPr>
          <p:nvPr/>
        </p:nvPicPr>
        <p:blipFill>
          <a:blip r:embed="rId2"/>
          <a:stretch>
            <a:fillRect/>
          </a:stretch>
        </p:blipFill>
        <p:spPr>
          <a:xfrm>
            <a:off x="609599" y="0"/>
            <a:ext cx="11085095" cy="6858000"/>
          </a:xfrm>
          <a:prstGeom prst="rect">
            <a:avLst/>
          </a:prstGeom>
        </p:spPr>
      </p:pic>
    </p:spTree>
    <p:extLst>
      <p:ext uri="{BB962C8B-B14F-4D97-AF65-F5344CB8AC3E}">
        <p14:creationId xmlns:p14="http://schemas.microsoft.com/office/powerpoint/2010/main" val="2713335257"/>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4C1E3-7773-2BC3-123B-6DC1D381C228}"/>
              </a:ext>
            </a:extLst>
          </p:cNvPr>
          <p:cNvSpPr>
            <a:spLocks noGrp="1"/>
          </p:cNvSpPr>
          <p:nvPr>
            <p:ph type="title"/>
          </p:nvPr>
        </p:nvSpPr>
        <p:spPr>
          <a:xfrm>
            <a:off x="838200" y="-574158"/>
            <a:ext cx="10515600" cy="1809848"/>
          </a:xfrm>
        </p:spPr>
        <p:txBody>
          <a:bodyPr/>
          <a:lstStyle/>
          <a:p>
            <a:pPr algn="ctr"/>
            <a:r>
              <a:rPr lang="en-US" b="1" dirty="0">
                <a:solidFill>
                  <a:schemeClr val="bg2">
                    <a:lumMod val="10000"/>
                  </a:schemeClr>
                </a:solidFill>
                <a:latin typeface="Times New Roman" panose="02020603050405020304" pitchFamily="18" charset="0"/>
                <a:cs typeface="Times New Roman" panose="02020603050405020304" pitchFamily="18" charset="0"/>
              </a:rPr>
              <a:t>REFERENCES</a:t>
            </a:r>
            <a:endParaRPr lang="en-TZ"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AE6AF39-B5D8-A166-242E-C7CD9C874454}"/>
              </a:ext>
            </a:extLst>
          </p:cNvPr>
          <p:cNvSpPr>
            <a:spLocks noGrp="1"/>
          </p:cNvSpPr>
          <p:nvPr>
            <p:ph idx="1"/>
          </p:nvPr>
        </p:nvSpPr>
        <p:spPr>
          <a:xfrm>
            <a:off x="353961" y="680484"/>
            <a:ext cx="11341510" cy="5443869"/>
          </a:xfrm>
        </p:spPr>
        <p:txBody>
          <a:bodyPr>
            <a:noAutofit/>
          </a:bodyPr>
          <a:lstStyle/>
          <a:p>
            <a:r>
              <a:rPr lang="en-US" sz="2400" b="0" i="0" dirty="0">
                <a:solidFill>
                  <a:srgbClr val="222222"/>
                </a:solidFill>
                <a:effectLst/>
                <a:latin typeface="Times New Roman" panose="02020603050405020304" pitchFamily="18" charset="0"/>
                <a:cs typeface="Times New Roman" panose="02020603050405020304" pitchFamily="18" charset="0"/>
              </a:rPr>
              <a:t>European Association For The Study Of The Liver. EASL clinical practice guidelines on the management of ascites, spontaneous bacterial peritonitis, and hepatorenal syndrome in cirrhosis. Journal of hepatology. 2010 Sep 1</a:t>
            </a:r>
          </a:p>
          <a:p>
            <a:r>
              <a:rPr lang="en-US" sz="2400" dirty="0">
                <a:solidFill>
                  <a:srgbClr val="222222"/>
                </a:solidFill>
                <a:latin typeface="Times New Roman" panose="02020603050405020304" pitchFamily="18" charset="0"/>
                <a:cs typeface="Times New Roman" panose="02020603050405020304" pitchFamily="18" charset="0"/>
              </a:rPr>
              <a:t>D</a:t>
            </a:r>
            <a:r>
              <a:rPr lang="en-US" sz="2400" b="0" i="0" dirty="0">
                <a:solidFill>
                  <a:srgbClr val="222222"/>
                </a:solidFill>
                <a:effectLst/>
                <a:latin typeface="Times New Roman" panose="02020603050405020304" pitchFamily="18" charset="0"/>
                <a:cs typeface="Times New Roman" panose="02020603050405020304" pitchFamily="18" charset="0"/>
              </a:rPr>
              <a:t>e Mattos ÂZ, et al. Albumin administration in patients with cirrhosis: Current role and novel perspectives. World journal of gastroenterology. 2022 Sep 7;28(33):4773.</a:t>
            </a:r>
          </a:p>
          <a:p>
            <a:r>
              <a:rPr lang="en-US" sz="2400" b="0" i="0" dirty="0">
                <a:solidFill>
                  <a:srgbClr val="222222"/>
                </a:solidFill>
                <a:effectLst/>
                <a:latin typeface="Times New Roman" panose="02020603050405020304" pitchFamily="18" charset="0"/>
                <a:cs typeface="Times New Roman" panose="02020603050405020304" pitchFamily="18" charset="0"/>
              </a:rPr>
              <a:t>Sickles EA, Greene WH, Wiernik PH. Clinical presentation of infection in </a:t>
            </a:r>
            <a:r>
              <a:rPr lang="en-US" sz="2400" b="0" i="0" dirty="0" err="1">
                <a:solidFill>
                  <a:srgbClr val="222222"/>
                </a:solidFill>
                <a:effectLst/>
                <a:latin typeface="Times New Roman" panose="02020603050405020304" pitchFamily="18" charset="0"/>
                <a:cs typeface="Times New Roman" panose="02020603050405020304" pitchFamily="18" charset="0"/>
              </a:rPr>
              <a:t>granulocytopenic</a:t>
            </a:r>
            <a:r>
              <a:rPr lang="en-US" sz="2400" b="0" i="0" dirty="0">
                <a:solidFill>
                  <a:srgbClr val="222222"/>
                </a:solidFill>
                <a:effectLst/>
                <a:latin typeface="Times New Roman" panose="02020603050405020304" pitchFamily="18" charset="0"/>
                <a:cs typeface="Times New Roman" panose="02020603050405020304" pitchFamily="18" charset="0"/>
              </a:rPr>
              <a:t> patients. Archives of Internal Medicine. 1975 May 1</a:t>
            </a:r>
          </a:p>
          <a:p>
            <a:r>
              <a:rPr lang="en-US" sz="2400" b="0" i="0" dirty="0" err="1">
                <a:solidFill>
                  <a:srgbClr val="222222"/>
                </a:solidFill>
                <a:effectLst/>
                <a:latin typeface="Times New Roman" panose="02020603050405020304" pitchFamily="18" charset="0"/>
                <a:cs typeface="Times New Roman" panose="02020603050405020304" pitchFamily="18" charset="0"/>
              </a:rPr>
              <a:t>Dropulic</a:t>
            </a:r>
            <a:r>
              <a:rPr lang="en-US" sz="2400" b="0" i="0" dirty="0">
                <a:solidFill>
                  <a:srgbClr val="222222"/>
                </a:solidFill>
                <a:effectLst/>
                <a:latin typeface="Times New Roman" panose="02020603050405020304" pitchFamily="18" charset="0"/>
                <a:cs typeface="Times New Roman" panose="02020603050405020304" pitchFamily="18" charset="0"/>
              </a:rPr>
              <a:t> LK, Lederman HM. Overview of infections in the immunocompromised host. Diagnostic microbiology of the immunocompromised host. 2016 Aug 15:1-50</a:t>
            </a:r>
          </a:p>
          <a:p>
            <a:r>
              <a:rPr lang="en-US" sz="2400" b="0" i="0" dirty="0" err="1">
                <a:solidFill>
                  <a:srgbClr val="222222"/>
                </a:solidFill>
                <a:effectLst/>
                <a:latin typeface="Times New Roman" panose="02020603050405020304" pitchFamily="18" charset="0"/>
                <a:cs typeface="Times New Roman" panose="02020603050405020304" pitchFamily="18" charset="0"/>
              </a:rPr>
              <a:t>Joob</a:t>
            </a:r>
            <a:r>
              <a:rPr lang="en-US" sz="2400" b="0" i="0" dirty="0">
                <a:solidFill>
                  <a:srgbClr val="222222"/>
                </a:solidFill>
                <a:effectLst/>
                <a:latin typeface="Times New Roman" panose="02020603050405020304" pitchFamily="18" charset="0"/>
                <a:cs typeface="Times New Roman" panose="02020603050405020304" pitchFamily="18" charset="0"/>
              </a:rPr>
              <a:t> B, </a:t>
            </a:r>
            <a:r>
              <a:rPr lang="en-US" sz="2400" b="0" i="0" dirty="0" err="1">
                <a:solidFill>
                  <a:srgbClr val="222222"/>
                </a:solidFill>
                <a:effectLst/>
                <a:latin typeface="Times New Roman" panose="02020603050405020304" pitchFamily="18" charset="0"/>
                <a:cs typeface="Times New Roman" panose="02020603050405020304" pitchFamily="18" charset="0"/>
              </a:rPr>
              <a:t>Wiwanitkit</a:t>
            </a:r>
            <a:r>
              <a:rPr lang="en-US" sz="2400" b="0" i="0" dirty="0">
                <a:solidFill>
                  <a:srgbClr val="222222"/>
                </a:solidFill>
                <a:effectLst/>
                <a:latin typeface="Times New Roman" panose="02020603050405020304" pitchFamily="18" charset="0"/>
                <a:cs typeface="Times New Roman" panose="02020603050405020304" pitchFamily="18" charset="0"/>
              </a:rPr>
              <a:t> V. </a:t>
            </a:r>
            <a:r>
              <a:rPr lang="en-US" sz="2400" b="0" i="0" dirty="0" err="1">
                <a:solidFill>
                  <a:srgbClr val="222222"/>
                </a:solidFill>
                <a:effectLst/>
                <a:latin typeface="Times New Roman" panose="02020603050405020304" pitchFamily="18" charset="0"/>
                <a:cs typeface="Times New Roman" panose="02020603050405020304" pitchFamily="18" charset="0"/>
              </a:rPr>
              <a:t>Pneumocystosis</a:t>
            </a:r>
            <a:r>
              <a:rPr lang="en-US" sz="2400" b="0" i="0" dirty="0">
                <a:solidFill>
                  <a:srgbClr val="222222"/>
                </a:solidFill>
                <a:effectLst/>
                <a:latin typeface="Times New Roman" panose="02020603050405020304" pitchFamily="18" charset="0"/>
                <a:cs typeface="Times New Roman" panose="02020603050405020304" pitchFamily="18" charset="0"/>
              </a:rPr>
              <a:t> pneumonia in immunocompromised patients. Pulmonology. 2020 Nov </a:t>
            </a:r>
            <a:endParaRPr lang="en-US" sz="2400" dirty="0">
              <a:solidFill>
                <a:srgbClr val="22222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2790"/>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55752"/>
          </a:xfrm>
        </p:spPr>
        <p:txBody>
          <a:bodyPr/>
          <a:lstStyle/>
          <a:p>
            <a:pPr algn="ctr"/>
            <a:r>
              <a:rPr lang="en-US" b="1" dirty="0">
                <a:solidFill>
                  <a:schemeClr val="bg2">
                    <a:lumMod val="10000"/>
                  </a:schemeClr>
                </a:solidFill>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619431" y="1120878"/>
            <a:ext cx="11238272" cy="5353664"/>
          </a:xfrm>
        </p:spPr>
        <p:txBody>
          <a:bodyPr>
            <a:normAutofit fontScale="77500" lnSpcReduction="20000"/>
          </a:bodyPr>
          <a:lstStyle/>
          <a:p>
            <a:r>
              <a:rPr lang="en-US" sz="3100" dirty="0">
                <a:solidFill>
                  <a:schemeClr val="bg2">
                    <a:lumMod val="10000"/>
                  </a:schemeClr>
                </a:solidFill>
                <a:latin typeface="Times New Roman" panose="02020603050405020304" pitchFamily="18" charset="0"/>
                <a:cs typeface="Times New Roman" panose="02020603050405020304" pitchFamily="18" charset="0"/>
              </a:rPr>
              <a:t>Holt, R.I.G., </a:t>
            </a:r>
            <a:r>
              <a:rPr lang="en-US" sz="3100" dirty="0" err="1">
                <a:solidFill>
                  <a:schemeClr val="bg2">
                    <a:lumMod val="10000"/>
                  </a:schemeClr>
                </a:solidFill>
                <a:latin typeface="Times New Roman" panose="02020603050405020304" pitchFamily="18" charset="0"/>
                <a:cs typeface="Times New Roman" panose="02020603050405020304" pitchFamily="18" charset="0"/>
              </a:rPr>
              <a:t>Cockram</a:t>
            </a:r>
            <a:r>
              <a:rPr lang="en-US" sz="3100" dirty="0">
                <a:solidFill>
                  <a:schemeClr val="bg2">
                    <a:lumMod val="10000"/>
                  </a:schemeClr>
                </a:solidFill>
                <a:latin typeface="Times New Roman" panose="02020603050405020304" pitchFamily="18" charset="0"/>
                <a:cs typeface="Times New Roman" panose="02020603050405020304" pitchFamily="18" charset="0"/>
              </a:rPr>
              <a:t>, C.S., Ma, R.C.W. et al. Diabetes and infection: review of the epidemiology, mechanisms and principles of treatment. </a:t>
            </a:r>
            <a:r>
              <a:rPr lang="en-US" sz="3100" dirty="0" err="1">
                <a:solidFill>
                  <a:schemeClr val="bg2">
                    <a:lumMod val="10000"/>
                  </a:schemeClr>
                </a:solidFill>
                <a:latin typeface="Times New Roman" panose="02020603050405020304" pitchFamily="18" charset="0"/>
                <a:cs typeface="Times New Roman" panose="02020603050405020304" pitchFamily="18" charset="0"/>
              </a:rPr>
              <a:t>Diabetologia</a:t>
            </a:r>
            <a:r>
              <a:rPr lang="en-US" sz="3100" dirty="0">
                <a:solidFill>
                  <a:schemeClr val="bg2">
                    <a:lumMod val="10000"/>
                  </a:schemeClr>
                </a:solidFill>
                <a:latin typeface="Times New Roman" panose="02020603050405020304" pitchFamily="18" charset="0"/>
                <a:cs typeface="Times New Roman" panose="02020603050405020304" pitchFamily="18" charset="0"/>
              </a:rPr>
              <a:t> 67, 1168–1180 (2024). </a:t>
            </a:r>
            <a:r>
              <a:rPr lang="en-US" sz="3100" dirty="0">
                <a:solidFill>
                  <a:schemeClr val="bg2">
                    <a:lumMod val="10000"/>
                  </a:schemeClr>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https://doi.org/10.1007/s00125-024-06102-x</a:t>
            </a:r>
            <a:endParaRPr lang="en-US" sz="3100" dirty="0">
              <a:solidFill>
                <a:schemeClr val="bg2">
                  <a:lumMod val="10000"/>
                </a:schemeClr>
              </a:solidFill>
              <a:latin typeface="Times New Roman" panose="02020603050405020304" pitchFamily="18" charset="0"/>
              <a:cs typeface="Times New Roman" panose="02020603050405020304" pitchFamily="18" charset="0"/>
            </a:endParaRPr>
          </a:p>
          <a:p>
            <a:r>
              <a:rPr lang="en-US" sz="3100" dirty="0" err="1">
                <a:solidFill>
                  <a:schemeClr val="bg2">
                    <a:lumMod val="10000"/>
                  </a:schemeClr>
                </a:solidFill>
                <a:latin typeface="Times New Roman" panose="02020603050405020304" pitchFamily="18" charset="0"/>
                <a:cs typeface="Times New Roman" panose="02020603050405020304" pitchFamily="18" charset="0"/>
              </a:rPr>
              <a:t>Limaye</a:t>
            </a:r>
            <a:r>
              <a:rPr lang="en-US" sz="3100" dirty="0">
                <a:solidFill>
                  <a:schemeClr val="bg2">
                    <a:lumMod val="10000"/>
                  </a:schemeClr>
                </a:solidFill>
                <a:latin typeface="Times New Roman" panose="02020603050405020304" pitchFamily="18" charset="0"/>
                <a:cs typeface="Times New Roman" panose="02020603050405020304" pitchFamily="18" charset="0"/>
              </a:rPr>
              <a:t> AP, </a:t>
            </a:r>
            <a:r>
              <a:rPr lang="en-US" sz="3100" dirty="0" err="1">
                <a:solidFill>
                  <a:schemeClr val="bg2">
                    <a:lumMod val="10000"/>
                  </a:schemeClr>
                </a:solidFill>
                <a:latin typeface="Times New Roman" panose="02020603050405020304" pitchFamily="18" charset="0"/>
                <a:cs typeface="Times New Roman" panose="02020603050405020304" pitchFamily="18" charset="0"/>
              </a:rPr>
              <a:t>Budde</a:t>
            </a:r>
            <a:r>
              <a:rPr lang="en-US" sz="3100" dirty="0">
                <a:solidFill>
                  <a:schemeClr val="bg2">
                    <a:lumMod val="10000"/>
                  </a:schemeClr>
                </a:solidFill>
                <a:latin typeface="Times New Roman" panose="02020603050405020304" pitchFamily="18" charset="0"/>
                <a:cs typeface="Times New Roman" panose="02020603050405020304" pitchFamily="18" charset="0"/>
              </a:rPr>
              <a:t> K, </a:t>
            </a:r>
            <a:r>
              <a:rPr lang="en-US" sz="3100" dirty="0" err="1">
                <a:solidFill>
                  <a:schemeClr val="bg2">
                    <a:lumMod val="10000"/>
                  </a:schemeClr>
                </a:solidFill>
                <a:latin typeface="Times New Roman" panose="02020603050405020304" pitchFamily="18" charset="0"/>
                <a:cs typeface="Times New Roman" panose="02020603050405020304" pitchFamily="18" charset="0"/>
              </a:rPr>
              <a:t>Humar</a:t>
            </a:r>
            <a:r>
              <a:rPr lang="en-US" sz="3100" dirty="0">
                <a:solidFill>
                  <a:schemeClr val="bg2">
                    <a:lumMod val="10000"/>
                  </a:schemeClr>
                </a:solidFill>
                <a:latin typeface="Times New Roman" panose="02020603050405020304" pitchFamily="18" charset="0"/>
                <a:cs typeface="Times New Roman" panose="02020603050405020304" pitchFamily="18" charset="0"/>
              </a:rPr>
              <a:t> A, </a:t>
            </a:r>
            <a:r>
              <a:rPr lang="en-US" sz="3100" dirty="0" err="1">
                <a:solidFill>
                  <a:schemeClr val="bg2">
                    <a:lumMod val="10000"/>
                  </a:schemeClr>
                </a:solidFill>
                <a:latin typeface="Times New Roman" panose="02020603050405020304" pitchFamily="18" charset="0"/>
                <a:cs typeface="Times New Roman" panose="02020603050405020304" pitchFamily="18" charset="0"/>
              </a:rPr>
              <a:t>Vincenti</a:t>
            </a:r>
            <a:r>
              <a:rPr lang="en-US" sz="3100" dirty="0">
                <a:solidFill>
                  <a:schemeClr val="bg2">
                    <a:lumMod val="10000"/>
                  </a:schemeClr>
                </a:solidFill>
                <a:latin typeface="Times New Roman" panose="02020603050405020304" pitchFamily="18" charset="0"/>
                <a:cs typeface="Times New Roman" panose="02020603050405020304" pitchFamily="18" charset="0"/>
              </a:rPr>
              <a:t> F, </a:t>
            </a:r>
            <a:r>
              <a:rPr lang="en-US" sz="3100" dirty="0" err="1">
                <a:solidFill>
                  <a:schemeClr val="bg2">
                    <a:lumMod val="10000"/>
                  </a:schemeClr>
                </a:solidFill>
                <a:latin typeface="Times New Roman" panose="02020603050405020304" pitchFamily="18" charset="0"/>
                <a:cs typeface="Times New Roman" panose="02020603050405020304" pitchFamily="18" charset="0"/>
              </a:rPr>
              <a:t>Kuypers</a:t>
            </a:r>
            <a:r>
              <a:rPr lang="en-US" sz="3100" dirty="0">
                <a:solidFill>
                  <a:schemeClr val="bg2">
                    <a:lumMod val="10000"/>
                  </a:schemeClr>
                </a:solidFill>
                <a:latin typeface="Times New Roman" panose="02020603050405020304" pitchFamily="18" charset="0"/>
                <a:cs typeface="Times New Roman" panose="02020603050405020304" pitchFamily="18" charset="0"/>
              </a:rPr>
              <a:t> DRJ, Carroll RP, Stauffer N, Murata Y, </a:t>
            </a:r>
            <a:r>
              <a:rPr lang="en-US" sz="3100" dirty="0" err="1">
                <a:solidFill>
                  <a:schemeClr val="bg2">
                    <a:lumMod val="10000"/>
                  </a:schemeClr>
                </a:solidFill>
                <a:latin typeface="Times New Roman" panose="02020603050405020304" pitchFamily="18" charset="0"/>
                <a:cs typeface="Times New Roman" panose="02020603050405020304" pitchFamily="18" charset="0"/>
              </a:rPr>
              <a:t>Strizki</a:t>
            </a:r>
            <a:r>
              <a:rPr lang="en-US" sz="3100" dirty="0">
                <a:solidFill>
                  <a:schemeClr val="bg2">
                    <a:lumMod val="10000"/>
                  </a:schemeClr>
                </a:solidFill>
                <a:latin typeface="Times New Roman" panose="02020603050405020304" pitchFamily="18" charset="0"/>
                <a:cs typeface="Times New Roman" panose="02020603050405020304" pitchFamily="18" charset="0"/>
              </a:rPr>
              <a:t> JM, Teal VL, Gilbert CL, Haber BA. Letermovir vs Valganciclovir for Prophylaxis of Cytomegalovirus in High-Risk Kidney Transplant Recipients: A Randomized Clinical Trial. JAMA. 2023 Jul 3;330(1):33-42. </a:t>
            </a:r>
            <a:r>
              <a:rPr lang="en-US" sz="3100" dirty="0" err="1">
                <a:solidFill>
                  <a:schemeClr val="bg2">
                    <a:lumMod val="10000"/>
                  </a:schemeClr>
                </a:solidFill>
                <a:latin typeface="Times New Roman" panose="02020603050405020304" pitchFamily="18" charset="0"/>
                <a:cs typeface="Times New Roman" panose="02020603050405020304" pitchFamily="18" charset="0"/>
              </a:rPr>
              <a:t>doi</a:t>
            </a:r>
            <a:r>
              <a:rPr lang="en-US" sz="3100" dirty="0">
                <a:solidFill>
                  <a:schemeClr val="bg2">
                    <a:lumMod val="10000"/>
                  </a:schemeClr>
                </a:solidFill>
                <a:latin typeface="Times New Roman" panose="02020603050405020304" pitchFamily="18" charset="0"/>
                <a:cs typeface="Times New Roman" panose="02020603050405020304" pitchFamily="18" charset="0"/>
              </a:rPr>
              <a:t>: 10.1001/jama.2023.9106. PMID: 37279999; PMCID: PMC10245286.</a:t>
            </a:r>
          </a:p>
          <a:p>
            <a:r>
              <a:rPr lang="en-US" sz="3100" dirty="0" err="1">
                <a:solidFill>
                  <a:schemeClr val="bg2">
                    <a:lumMod val="10000"/>
                  </a:schemeClr>
                </a:solidFill>
                <a:latin typeface="Times New Roman" panose="02020603050405020304" pitchFamily="18" charset="0"/>
                <a:cs typeface="Times New Roman" panose="02020603050405020304" pitchFamily="18" charset="0"/>
              </a:rPr>
              <a:t>Mahsa</a:t>
            </a:r>
            <a:r>
              <a:rPr lang="en-US" sz="3100" dirty="0">
                <a:solidFill>
                  <a:schemeClr val="bg2">
                    <a:lumMod val="10000"/>
                  </a:schemeClr>
                </a:solidFill>
                <a:latin typeface="Times New Roman" panose="02020603050405020304" pitchFamily="18" charset="0"/>
                <a:cs typeface="Times New Roman" panose="02020603050405020304" pitchFamily="18" charset="0"/>
              </a:rPr>
              <a:t> </a:t>
            </a:r>
            <a:r>
              <a:rPr lang="en-US" sz="3100" dirty="0" err="1">
                <a:solidFill>
                  <a:schemeClr val="bg2">
                    <a:lumMod val="10000"/>
                  </a:schemeClr>
                </a:solidFill>
                <a:latin typeface="Times New Roman" panose="02020603050405020304" pitchFamily="18" charset="0"/>
                <a:cs typeface="Times New Roman" panose="02020603050405020304" pitchFamily="18" charset="0"/>
              </a:rPr>
              <a:t>Abassi</a:t>
            </a:r>
            <a:r>
              <a:rPr lang="en-US" sz="3100" dirty="0">
                <a:solidFill>
                  <a:schemeClr val="bg2">
                    <a:lumMod val="10000"/>
                  </a:schemeClr>
                </a:solidFill>
                <a:latin typeface="Times New Roman" panose="02020603050405020304" pitchFamily="18" charset="0"/>
                <a:cs typeface="Times New Roman" panose="02020603050405020304" pitchFamily="18" charset="0"/>
              </a:rPr>
              <a:t> et al, Cryptococcal Meningitis update on diagnosis and management-Current Tropical medicine Update 2020</a:t>
            </a:r>
          </a:p>
          <a:p>
            <a:r>
              <a:rPr lang="en-US" sz="3100" dirty="0">
                <a:solidFill>
                  <a:schemeClr val="bg2">
                    <a:lumMod val="10000"/>
                  </a:schemeClr>
                </a:solidFill>
                <a:latin typeface="Times New Roman" panose="02020603050405020304" pitchFamily="18" charset="0"/>
                <a:cs typeface="Times New Roman" panose="02020603050405020304" pitchFamily="18" charset="0"/>
              </a:rPr>
              <a:t>Kasper D, </a:t>
            </a:r>
            <a:r>
              <a:rPr lang="en-US" sz="3100" dirty="0" err="1">
                <a:solidFill>
                  <a:schemeClr val="bg2">
                    <a:lumMod val="10000"/>
                  </a:schemeClr>
                </a:solidFill>
                <a:latin typeface="Times New Roman" panose="02020603050405020304" pitchFamily="18" charset="0"/>
                <a:cs typeface="Times New Roman" panose="02020603050405020304" pitchFamily="18" charset="0"/>
              </a:rPr>
              <a:t>Fauci</a:t>
            </a:r>
            <a:r>
              <a:rPr lang="en-US" sz="3100" dirty="0">
                <a:solidFill>
                  <a:schemeClr val="bg2">
                    <a:lumMod val="10000"/>
                  </a:schemeClr>
                </a:solidFill>
                <a:latin typeface="Times New Roman" panose="02020603050405020304" pitchFamily="18" charset="0"/>
                <a:cs typeface="Times New Roman" panose="02020603050405020304" pitchFamily="18" charset="0"/>
              </a:rPr>
              <a:t> A, Hauser S, Longo D, Jameson J, </a:t>
            </a:r>
            <a:r>
              <a:rPr lang="en-US" sz="3100" dirty="0" err="1">
                <a:solidFill>
                  <a:schemeClr val="bg2">
                    <a:lumMod val="10000"/>
                  </a:schemeClr>
                </a:solidFill>
                <a:latin typeface="Times New Roman" panose="02020603050405020304" pitchFamily="18" charset="0"/>
                <a:cs typeface="Times New Roman" panose="02020603050405020304" pitchFamily="18" charset="0"/>
              </a:rPr>
              <a:t>Loscalzo</a:t>
            </a:r>
            <a:r>
              <a:rPr lang="en-US" sz="3100" dirty="0">
                <a:solidFill>
                  <a:schemeClr val="bg2">
                    <a:lumMod val="10000"/>
                  </a:schemeClr>
                </a:solidFill>
                <a:latin typeface="Times New Roman" panose="02020603050405020304" pitchFamily="18" charset="0"/>
                <a:cs typeface="Times New Roman" panose="02020603050405020304" pitchFamily="18" charset="0"/>
              </a:rPr>
              <a:t> J. Harrison's principles of internal medicine, 21e. New York, NY, USA:: </a:t>
            </a:r>
            <a:r>
              <a:rPr lang="en-US" sz="3100" dirty="0" err="1">
                <a:solidFill>
                  <a:schemeClr val="bg2">
                    <a:lumMod val="10000"/>
                  </a:schemeClr>
                </a:solidFill>
                <a:latin typeface="Times New Roman" panose="02020603050405020304" pitchFamily="18" charset="0"/>
                <a:cs typeface="Times New Roman" panose="02020603050405020304" pitchFamily="18" charset="0"/>
              </a:rPr>
              <a:t>Mcgraw-hill</a:t>
            </a:r>
            <a:r>
              <a:rPr lang="en-US" sz="3100" dirty="0">
                <a:solidFill>
                  <a:schemeClr val="bg2">
                    <a:lumMod val="10000"/>
                  </a:schemeClr>
                </a:solidFill>
                <a:latin typeface="Times New Roman" panose="02020603050405020304" pitchFamily="18" charset="0"/>
                <a:cs typeface="Times New Roman" panose="02020603050405020304" pitchFamily="18" charset="0"/>
              </a:rPr>
              <a:t>; 2022.</a:t>
            </a:r>
          </a:p>
          <a:p>
            <a:r>
              <a:rPr lang="en-US" sz="3100" dirty="0">
                <a:solidFill>
                  <a:schemeClr val="bg2">
                    <a:lumMod val="10000"/>
                  </a:schemeClr>
                </a:solidFill>
                <a:latin typeface="Times New Roman" panose="02020603050405020304" pitchFamily="18" charset="0"/>
                <a:cs typeface="Times New Roman" panose="02020603050405020304" pitchFamily="18" charset="0"/>
              </a:rPr>
              <a:t>Mark J. </a:t>
            </a:r>
            <a:r>
              <a:rPr lang="en-US" sz="3100" dirty="0" err="1">
                <a:solidFill>
                  <a:schemeClr val="bg2">
                    <a:lumMod val="10000"/>
                  </a:schemeClr>
                </a:solidFill>
                <a:latin typeface="Times New Roman" panose="02020603050405020304" pitchFamily="18" charset="0"/>
                <a:cs typeface="Times New Roman" panose="02020603050405020304" pitchFamily="18" charset="0"/>
              </a:rPr>
              <a:t>Sarnak</a:t>
            </a:r>
            <a:r>
              <a:rPr lang="en-US" sz="3100" dirty="0">
                <a:solidFill>
                  <a:schemeClr val="bg2">
                    <a:lumMod val="10000"/>
                  </a:schemeClr>
                </a:solidFill>
                <a:latin typeface="Times New Roman" panose="02020603050405020304" pitchFamily="18" charset="0"/>
                <a:cs typeface="Times New Roman" panose="02020603050405020304" pitchFamily="18" charset="0"/>
              </a:rPr>
              <a:t>, Bertrand L. </a:t>
            </a:r>
            <a:r>
              <a:rPr lang="en-US" sz="3100" dirty="0" err="1">
                <a:solidFill>
                  <a:schemeClr val="bg2">
                    <a:lumMod val="10000"/>
                  </a:schemeClr>
                </a:solidFill>
                <a:latin typeface="Times New Roman" panose="02020603050405020304" pitchFamily="18" charset="0"/>
                <a:cs typeface="Times New Roman" panose="02020603050405020304" pitchFamily="18" charset="0"/>
              </a:rPr>
              <a:t>Jaber</a:t>
            </a:r>
            <a:r>
              <a:rPr lang="en-US" sz="3100" dirty="0">
                <a:solidFill>
                  <a:schemeClr val="bg2">
                    <a:lumMod val="10000"/>
                  </a:schemeClr>
                </a:solidFill>
                <a:latin typeface="Times New Roman" panose="02020603050405020304" pitchFamily="18" charset="0"/>
                <a:cs typeface="Times New Roman" panose="02020603050405020304" pitchFamily="18" charset="0"/>
              </a:rPr>
              <a:t>, Mortality caused by sepsis in patients with end-stage renal disease compared with the general population, Kidney International, Volume 58, Issue 4, 2000,</a:t>
            </a:r>
          </a:p>
          <a:p>
            <a:endParaRPr lang="en-US" dirty="0"/>
          </a:p>
        </p:txBody>
      </p:sp>
    </p:spTree>
    <p:extLst>
      <p:ext uri="{BB962C8B-B14F-4D97-AF65-F5344CB8AC3E}">
        <p14:creationId xmlns:p14="http://schemas.microsoft.com/office/powerpoint/2010/main" val="715164306"/>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6301F-4A51-AD05-9EFD-7DC2D6A97AB7}"/>
              </a:ext>
            </a:extLst>
          </p:cNvPr>
          <p:cNvSpPr>
            <a:spLocks noGrp="1"/>
          </p:cNvSpPr>
          <p:nvPr>
            <p:ph type="title"/>
          </p:nvPr>
        </p:nvSpPr>
        <p:spPr/>
        <p:txBody>
          <a:bodyPr/>
          <a:lstStyle/>
          <a:p>
            <a:r>
              <a:rPr lang="en-US" b="1" dirty="0">
                <a:solidFill>
                  <a:schemeClr val="bg2">
                    <a:lumMod val="10000"/>
                  </a:schemeClr>
                </a:solidFill>
                <a:latin typeface="Times New Roman" panose="02020603050405020304" pitchFamily="18" charset="0"/>
                <a:cs typeface="Times New Roman" panose="02020603050405020304" pitchFamily="18" charset="0"/>
              </a:rPr>
              <a:t>REFERENCES</a:t>
            </a:r>
            <a:endParaRPr lang="en-TZ"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26A31F8-A533-C228-4BEB-6DDAF90955BA}"/>
              </a:ext>
            </a:extLst>
          </p:cNvPr>
          <p:cNvSpPr>
            <a:spLocks noGrp="1"/>
          </p:cNvSpPr>
          <p:nvPr>
            <p:ph idx="1"/>
          </p:nvPr>
        </p:nvSpPr>
        <p:spPr/>
        <p:txBody>
          <a:bodyPr/>
          <a:lstStyle/>
          <a:p>
            <a:r>
              <a:rPr lang="en-US" sz="2400" dirty="0" err="1">
                <a:solidFill>
                  <a:schemeClr val="bg2">
                    <a:lumMod val="10000"/>
                  </a:schemeClr>
                </a:solidFill>
                <a:latin typeface="Times New Roman" panose="02020603050405020304" pitchFamily="18" charset="0"/>
                <a:cs typeface="Times New Roman" panose="02020603050405020304" pitchFamily="18" charset="0"/>
              </a:rPr>
              <a:t>Coussement</a:t>
            </a:r>
            <a:r>
              <a:rPr lang="en-US" sz="2400" dirty="0">
                <a:solidFill>
                  <a:schemeClr val="bg2">
                    <a:lumMod val="10000"/>
                  </a:schemeClr>
                </a:solidFill>
                <a:latin typeface="Times New Roman" panose="02020603050405020304" pitchFamily="18" charset="0"/>
                <a:cs typeface="Times New Roman" panose="02020603050405020304" pitchFamily="18" charset="0"/>
              </a:rPr>
              <a:t>, J. et al. (2023)‘Current epidemiology and clinical features of cryptococcus infection in patients without human immunodeficiency virus: A multicenter study in 46 hospitals in Australia and New </a:t>
            </a:r>
            <a:r>
              <a:rPr lang="en-US" sz="2400" dirty="0" err="1">
                <a:solidFill>
                  <a:schemeClr val="bg2">
                    <a:lumMod val="10000"/>
                  </a:schemeClr>
                </a:solidFill>
                <a:latin typeface="Times New Roman" panose="02020603050405020304" pitchFamily="18" charset="0"/>
                <a:cs typeface="Times New Roman" panose="02020603050405020304" pitchFamily="18" charset="0"/>
              </a:rPr>
              <a:t>Zealand’,Clinical</a:t>
            </a:r>
            <a:r>
              <a:rPr lang="en-US" sz="2400" dirty="0">
                <a:solidFill>
                  <a:schemeClr val="bg2">
                    <a:lumMod val="10000"/>
                  </a:schemeClr>
                </a:solidFill>
                <a:latin typeface="Times New Roman" panose="02020603050405020304" pitchFamily="18" charset="0"/>
                <a:cs typeface="Times New Roman" panose="02020603050405020304" pitchFamily="18" charset="0"/>
              </a:rPr>
              <a:t> Infectious Diseases, 77(7), pp. 976–986.</a:t>
            </a:r>
          </a:p>
          <a:p>
            <a:r>
              <a:rPr lang="en-US" sz="2400" dirty="0">
                <a:solidFill>
                  <a:schemeClr val="bg2">
                    <a:lumMod val="10000"/>
                  </a:schemeClr>
                </a:solidFill>
                <a:latin typeface="Times New Roman" panose="02020603050405020304" pitchFamily="18" charset="0"/>
                <a:cs typeface="Times New Roman" panose="02020603050405020304" pitchFamily="18" charset="0"/>
              </a:rPr>
              <a:t>Wang ZD, et al,  Toxoplasma gondii infection in immunocompromised patients: a systematic review and meta-analysis. Frontiers in microbiology. 2017 Mar </a:t>
            </a:r>
          </a:p>
          <a:p>
            <a:r>
              <a:rPr lang="en-US" sz="2400" dirty="0">
                <a:solidFill>
                  <a:schemeClr val="bg2">
                    <a:lumMod val="10000"/>
                  </a:schemeClr>
                </a:solidFill>
                <a:latin typeface="Times New Roman" panose="02020603050405020304" pitchFamily="18" charset="0"/>
                <a:cs typeface="Times New Roman" panose="02020603050405020304" pitchFamily="18" charset="0"/>
              </a:rPr>
              <a:t>Aerts R, et al, Guidelines for the management of Toxoplasma gondii infection and disease in patients with </a:t>
            </a:r>
            <a:r>
              <a:rPr lang="en-US" sz="2400" dirty="0" err="1">
                <a:solidFill>
                  <a:schemeClr val="bg2">
                    <a:lumMod val="10000"/>
                  </a:schemeClr>
                </a:solidFill>
                <a:latin typeface="Times New Roman" panose="02020603050405020304" pitchFamily="18" charset="0"/>
                <a:cs typeface="Times New Roman" panose="02020603050405020304" pitchFamily="18" charset="0"/>
              </a:rPr>
              <a:t>haematological</a:t>
            </a:r>
            <a:r>
              <a:rPr lang="en-US" sz="2400" dirty="0">
                <a:solidFill>
                  <a:schemeClr val="bg2">
                    <a:lumMod val="10000"/>
                  </a:schemeClr>
                </a:solidFill>
                <a:latin typeface="Times New Roman" panose="02020603050405020304" pitchFamily="18" charset="0"/>
                <a:cs typeface="Times New Roman" panose="02020603050405020304" pitchFamily="18" charset="0"/>
              </a:rPr>
              <a:t> malignancies and after </a:t>
            </a:r>
            <a:r>
              <a:rPr lang="en-US" sz="2400" dirty="0" err="1">
                <a:solidFill>
                  <a:schemeClr val="bg2">
                    <a:lumMod val="10000"/>
                  </a:schemeClr>
                </a:solidFill>
                <a:latin typeface="Times New Roman" panose="02020603050405020304" pitchFamily="18" charset="0"/>
                <a:cs typeface="Times New Roman" panose="02020603050405020304" pitchFamily="18" charset="0"/>
              </a:rPr>
              <a:t>haematopoietic</a:t>
            </a:r>
            <a:r>
              <a:rPr lang="en-US" sz="2400" dirty="0">
                <a:solidFill>
                  <a:schemeClr val="bg2">
                    <a:lumMod val="10000"/>
                  </a:schemeClr>
                </a:solidFill>
                <a:latin typeface="Times New Roman" panose="02020603050405020304" pitchFamily="18" charset="0"/>
                <a:cs typeface="Times New Roman" panose="02020603050405020304" pitchFamily="18" charset="0"/>
              </a:rPr>
              <a:t> stem-cell transplantation: guidelines from the 9th European Conference on Infections in </a:t>
            </a:r>
            <a:r>
              <a:rPr lang="en-US" sz="2400" dirty="0" err="1">
                <a:solidFill>
                  <a:schemeClr val="bg2">
                    <a:lumMod val="10000"/>
                  </a:schemeClr>
                </a:solidFill>
                <a:latin typeface="Times New Roman" panose="02020603050405020304" pitchFamily="18" charset="0"/>
                <a:cs typeface="Times New Roman" panose="02020603050405020304" pitchFamily="18" charset="0"/>
              </a:rPr>
              <a:t>Leukaemia</a:t>
            </a:r>
            <a:r>
              <a:rPr lang="en-US" sz="2400" dirty="0">
                <a:solidFill>
                  <a:schemeClr val="bg2">
                    <a:lumMod val="10000"/>
                  </a:schemeClr>
                </a:solidFill>
                <a:latin typeface="Times New Roman" panose="02020603050405020304" pitchFamily="18" charset="0"/>
                <a:cs typeface="Times New Roman" panose="02020603050405020304" pitchFamily="18" charset="0"/>
              </a:rPr>
              <a:t>, 2022. The Lancet Infectious Diseases. 2024 May </a:t>
            </a:r>
          </a:p>
          <a:p>
            <a:endParaRPr lang="en-TZ" sz="2800" dirty="0">
              <a:solidFill>
                <a:schemeClr val="bg2">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334555"/>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theme/theme1.xml><?xml version="1.0" encoding="utf-8"?>
<a:theme xmlns:a="http://schemas.openxmlformats.org/drawingml/2006/main" name="Office Theme">
  <a:themeElements>
    <a:clrScheme name="Custom 1">
      <a:dk1>
        <a:srgbClr val="32A9E5"/>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1224</TotalTime>
  <Words>4390</Words>
  <Application>Microsoft Office PowerPoint</Application>
  <PresentationFormat>Widescreen</PresentationFormat>
  <Paragraphs>473</Paragraphs>
  <Slides>65</Slides>
  <Notes>38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65</vt:i4>
      </vt:variant>
    </vt:vector>
  </HeadingPairs>
  <TitlesOfParts>
    <vt:vector size="72" baseType="lpstr">
      <vt:lpstr>AdvTTbc475f09</vt:lpstr>
      <vt:lpstr>Arial</vt:lpstr>
      <vt:lpstr>Calibri</vt:lpstr>
      <vt:lpstr>Noto Sans</vt:lpstr>
      <vt:lpstr>Times New Roman</vt:lpstr>
      <vt:lpstr>Wingdings</vt:lpstr>
      <vt:lpstr>Office Theme</vt:lpstr>
      <vt:lpstr> INFECTIONS IN  IMMUNOCOMPROMISED HOST OTHER THAN HIV</vt:lpstr>
      <vt:lpstr>OUTLINE </vt:lpstr>
      <vt:lpstr>Definition</vt:lpstr>
      <vt:lpstr>Epidermiology</vt:lpstr>
      <vt:lpstr>Epidermiology…cont</vt:lpstr>
      <vt:lpstr>Causes of immunodeficiency in non-HIV host</vt:lpstr>
      <vt:lpstr>Classification</vt:lpstr>
      <vt:lpstr>PowerPoint Presentation</vt:lpstr>
      <vt:lpstr>Primary immunodeficiency</vt:lpstr>
      <vt:lpstr>Common Variable immunodeficiency </vt:lpstr>
      <vt:lpstr>CVID – clinical manifestation</vt:lpstr>
      <vt:lpstr>CVID – Diagnosis </vt:lpstr>
      <vt:lpstr>PowerPoint Presentation</vt:lpstr>
      <vt:lpstr>PowerPoint Presentation</vt:lpstr>
      <vt:lpstr>PowerPoint Presentation</vt:lpstr>
      <vt:lpstr>PowerPoint Presentation</vt:lpstr>
      <vt:lpstr>CVID – Treatment </vt:lpstr>
      <vt:lpstr>SECONDARY IMMUNODEFICIENCY</vt:lpstr>
      <vt:lpstr>PowerPoint Presentation</vt:lpstr>
      <vt:lpstr>Diabetes mellitus</vt:lpstr>
      <vt:lpstr>End-stage renal disease</vt:lpstr>
      <vt:lpstr>End-stage renal disease</vt:lpstr>
      <vt:lpstr>Chronic active hepatitis and cirrhosis (advanced liver disease)</vt:lpstr>
      <vt:lpstr>INFECTIONS IN HEMATOPOIETIC CELL TRANSPLANT(HCT) RECIPIENT</vt:lpstr>
      <vt:lpstr>INFECTIONS IN HCT CONT…</vt:lpstr>
      <vt:lpstr>INFECTIONS IN HCT RECIPIENT - PREVENTIVE MEASURES </vt:lpstr>
      <vt:lpstr>INFECTIONS IN  SOLID ORGAN TRANSPLANT (SOT) RECIPIENT </vt:lpstr>
      <vt:lpstr>RISK OF INFECTION FOLLOWING SOT</vt:lpstr>
      <vt:lpstr>TIMING OF INFECTIONS POST SOT</vt:lpstr>
      <vt:lpstr>PROPHYLAXIS IN SOT</vt:lpstr>
      <vt:lpstr>INFECTIONS IN CANCER PATIENTS  ON CHEMOTHERAPY </vt:lpstr>
      <vt:lpstr>INFECTIONS IN HEMATOLOGIC MALIGNANCIES cont..</vt:lpstr>
      <vt:lpstr> INFECTIONS IN SYSTEMIC LUPUS ERYTHEMATOSUS (SLE)</vt:lpstr>
      <vt:lpstr>INFECTIONS IN SLE cont…</vt:lpstr>
      <vt:lpstr>Neutropenic fever</vt:lpstr>
      <vt:lpstr>Neutropenic fever</vt:lpstr>
      <vt:lpstr>Neutropenic fever</vt:lpstr>
      <vt:lpstr>PowerPoint Presentation</vt:lpstr>
      <vt:lpstr>Treatment/Management</vt:lpstr>
      <vt:lpstr>Prevention of febrile neutropenia</vt:lpstr>
      <vt:lpstr>Overview of opportunistic infections in Immunocompromised</vt:lpstr>
      <vt:lpstr> CMV INFECTION IN THE IMMUNOCOMPROMISED HOST  </vt:lpstr>
      <vt:lpstr>Diagnosis and monitoring</vt:lpstr>
      <vt:lpstr>PowerPoint Presentation</vt:lpstr>
      <vt:lpstr> CMV Prevention </vt:lpstr>
      <vt:lpstr>PowerPoint Presentation</vt:lpstr>
      <vt:lpstr>  CRYPTOCOCCAL MENINGITIS</vt:lpstr>
      <vt:lpstr>PowerPoint Presentation</vt:lpstr>
      <vt:lpstr> Investigations</vt:lpstr>
      <vt:lpstr>Treatment:3 phases</vt:lpstr>
      <vt:lpstr>Pneumocystic Jiroveci Pneumonia</vt:lpstr>
      <vt:lpstr>PJP Treatment</vt:lpstr>
      <vt:lpstr>PowerPoint Presentation</vt:lpstr>
      <vt:lpstr>Major Findings / Outcomes of the Study</vt:lpstr>
      <vt:lpstr>Major Findings / Outcomes of the Study</vt:lpstr>
      <vt:lpstr>Overall Conclusion </vt:lpstr>
      <vt:lpstr>TOXOPLASMOSIS </vt:lpstr>
      <vt:lpstr>PowerPoint Presentation</vt:lpstr>
      <vt:lpstr>Pathogenesis and clinical presentation</vt:lpstr>
      <vt:lpstr>Diagnosis and Management</vt:lpstr>
      <vt:lpstr> Prevention </vt:lpstr>
      <vt:lpstr>PowerPoint Presentation</vt:lpstr>
      <vt:lpstr>REFERENCES</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Fredirick Mashili</dc:creator>
  <cp:lastModifiedBy>HP</cp:lastModifiedBy>
  <cp:revision>570</cp:revision>
  <dcterms:created xsi:type="dcterms:W3CDTF">2017-04-05T10:53:00Z</dcterms:created>
  <dcterms:modified xsi:type="dcterms:W3CDTF">2026-05-15T12:02:06Z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5E5D257DCD8B4AF1845569F50671B1D2_13</vt:lpwstr>
  </property>
  <property fmtid="{D5CDD505-2E9C-101B-9397-08002B2CF9AE}" pid="3" name="KSOProductBuildVer">
    <vt:lpwstr>1033-12.2.0.13489</vt:lpwstr>
  </property>
</Properties>
</file>