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9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9" r:id="rId20"/>
    <p:sldId id="280" r:id="rId21"/>
    <p:sldId id="281" r:id="rId22"/>
    <p:sldId id="274" r:id="rId23"/>
    <p:sldId id="275" r:id="rId24"/>
    <p:sldId id="276" r:id="rId25"/>
    <p:sldId id="277" r:id="rId26"/>
    <p:sldId id="278" r:id="rId27"/>
    <p:sldId id="282" r:id="rId28"/>
    <p:sldId id="283" r:id="rId29"/>
    <p:sldId id="284" r:id="rId30"/>
    <p:sldId id="285" r:id="rId31"/>
    <p:sldId id="286" r:id="rId32"/>
    <p:sldId id="288" r:id="rId33"/>
    <p:sldId id="289" r:id="rId34"/>
    <p:sldId id="290" r:id="rId35"/>
    <p:sldId id="291" r:id="rId36"/>
    <p:sldId id="292" r:id="rId37"/>
    <p:sldId id="272" r:id="rId38"/>
    <p:sldId id="287" r:id="rId39"/>
    <p:sldId id="29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3"/>
    <p:restoredTop sz="94274" autoAdjust="0"/>
  </p:normalViewPr>
  <p:slideViewPr>
    <p:cSldViewPr snapToGrid="0">
      <p:cViewPr>
        <p:scale>
          <a:sx n="80" d="100"/>
          <a:sy n="80" d="100"/>
        </p:scale>
        <p:origin x="2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ina Hipoliti" userId="90390f7e65d0d4be" providerId="LiveId" clId="{5F68908E-08A8-44BB-9CC0-43CCABB8E6EF}"/>
    <pc:docChg chg="undo custSel addSld modSld sldOrd">
      <pc:chgData name="Leina Hipoliti" userId="90390f7e65d0d4be" providerId="LiveId" clId="{5F68908E-08A8-44BB-9CC0-43CCABB8E6EF}" dt="2026-05-27T12:09:30.749" v="4895" actId="20577"/>
      <pc:docMkLst>
        <pc:docMk/>
      </pc:docMkLst>
      <pc:sldChg chg="modSp new mod">
        <pc:chgData name="Leina Hipoliti" userId="90390f7e65d0d4be" providerId="LiveId" clId="{5F68908E-08A8-44BB-9CC0-43CCABB8E6EF}" dt="2026-05-24T14:20:21.340" v="96" actId="20577"/>
        <pc:sldMkLst>
          <pc:docMk/>
          <pc:sldMk cId="1560547074" sldId="256"/>
        </pc:sldMkLst>
        <pc:spChg chg="mod">
          <ac:chgData name="Leina Hipoliti" userId="90390f7e65d0d4be" providerId="LiveId" clId="{5F68908E-08A8-44BB-9CC0-43CCABB8E6EF}" dt="2026-05-24T14:19:50.334" v="35" actId="20577"/>
          <ac:spMkLst>
            <pc:docMk/>
            <pc:sldMk cId="1560547074" sldId="256"/>
            <ac:spMk id="2" creationId="{73B0E354-7843-8177-A023-DE275CC806AD}"/>
          </ac:spMkLst>
        </pc:spChg>
        <pc:spChg chg="mod">
          <ac:chgData name="Leina Hipoliti" userId="90390f7e65d0d4be" providerId="LiveId" clId="{5F68908E-08A8-44BB-9CC0-43CCABB8E6EF}" dt="2026-05-24T14:20:21.340" v="96" actId="20577"/>
          <ac:spMkLst>
            <pc:docMk/>
            <pc:sldMk cId="1560547074" sldId="256"/>
            <ac:spMk id="3" creationId="{90EC9934-24C5-E19A-3393-EFC108ADD30E}"/>
          </ac:spMkLst>
        </pc:spChg>
      </pc:sldChg>
      <pc:sldChg chg="modSp new mod">
        <pc:chgData name="Leina Hipoliti" userId="90390f7e65d0d4be" providerId="LiveId" clId="{5F68908E-08A8-44BB-9CC0-43CCABB8E6EF}" dt="2026-05-24T14:21:52.898" v="109" actId="20577"/>
        <pc:sldMkLst>
          <pc:docMk/>
          <pc:sldMk cId="507708107" sldId="257"/>
        </pc:sldMkLst>
        <pc:spChg chg="mod">
          <ac:chgData name="Leina Hipoliti" userId="90390f7e65d0d4be" providerId="LiveId" clId="{5F68908E-08A8-44BB-9CC0-43CCABB8E6EF}" dt="2026-05-24T14:21:52.898" v="109" actId="20577"/>
          <ac:spMkLst>
            <pc:docMk/>
            <pc:sldMk cId="507708107" sldId="257"/>
            <ac:spMk id="2" creationId="{1E69343A-FEB7-EECB-6A15-D16251A706FB}"/>
          </ac:spMkLst>
        </pc:spChg>
      </pc:sldChg>
      <pc:sldChg chg="modSp new mod">
        <pc:chgData name="Leina Hipoliti" userId="90390f7e65d0d4be" providerId="LiveId" clId="{5F68908E-08A8-44BB-9CC0-43CCABB8E6EF}" dt="2026-05-24T14:48:47.811" v="532" actId="20577"/>
        <pc:sldMkLst>
          <pc:docMk/>
          <pc:sldMk cId="3416811030" sldId="258"/>
        </pc:sldMkLst>
        <pc:spChg chg="mod">
          <ac:chgData name="Leina Hipoliti" userId="90390f7e65d0d4be" providerId="LiveId" clId="{5F68908E-08A8-44BB-9CC0-43CCABB8E6EF}" dt="2026-05-24T14:28:17.930" v="133" actId="20577"/>
          <ac:spMkLst>
            <pc:docMk/>
            <pc:sldMk cId="3416811030" sldId="258"/>
            <ac:spMk id="2" creationId="{C330AFC4-1C99-BC9B-6F48-68579B0B7109}"/>
          </ac:spMkLst>
        </pc:spChg>
        <pc:spChg chg="mod">
          <ac:chgData name="Leina Hipoliti" userId="90390f7e65d0d4be" providerId="LiveId" clId="{5F68908E-08A8-44BB-9CC0-43CCABB8E6EF}" dt="2026-05-24T14:48:47.811" v="532" actId="20577"/>
          <ac:spMkLst>
            <pc:docMk/>
            <pc:sldMk cId="3416811030" sldId="258"/>
            <ac:spMk id="3" creationId="{2F857057-F4F7-A8B0-06BD-AD7FA88F48D3}"/>
          </ac:spMkLst>
        </pc:spChg>
      </pc:sldChg>
      <pc:sldChg chg="addSp delSp modSp new mod ord">
        <pc:chgData name="Leina Hipoliti" userId="90390f7e65d0d4be" providerId="LiveId" clId="{5F68908E-08A8-44BB-9CC0-43CCABB8E6EF}" dt="2026-05-24T15:13:01.804" v="937"/>
        <pc:sldMkLst>
          <pc:docMk/>
          <pc:sldMk cId="784722780" sldId="259"/>
        </pc:sldMkLst>
        <pc:spChg chg="add mod">
          <ac:chgData name="Leina Hipoliti" userId="90390f7e65d0d4be" providerId="LiveId" clId="{5F68908E-08A8-44BB-9CC0-43CCABB8E6EF}" dt="2026-05-24T14:44:42.064" v="359" actId="20577"/>
          <ac:spMkLst>
            <pc:docMk/>
            <pc:sldMk cId="784722780" sldId="259"/>
            <ac:spMk id="6" creationId="{52EFA156-706D-6D29-6AFD-3F1F34B17033}"/>
          </ac:spMkLst>
        </pc:spChg>
        <pc:picChg chg="add mod ord">
          <ac:chgData name="Leina Hipoliti" userId="90390f7e65d0d4be" providerId="LiveId" clId="{5F68908E-08A8-44BB-9CC0-43CCABB8E6EF}" dt="2026-05-24T14:43:23.172" v="341" actId="22"/>
          <ac:picMkLst>
            <pc:docMk/>
            <pc:sldMk cId="784722780" sldId="259"/>
            <ac:picMk id="5" creationId="{FCC0A5CB-6B3C-F780-1E52-AE3D2E9A3093}"/>
          </ac:picMkLst>
        </pc:picChg>
      </pc:sldChg>
      <pc:sldChg chg="addSp modSp new mod">
        <pc:chgData name="Leina Hipoliti" userId="90390f7e65d0d4be" providerId="LiveId" clId="{5F68908E-08A8-44BB-9CC0-43CCABB8E6EF}" dt="2026-05-24T16:05:16.915" v="1213"/>
        <pc:sldMkLst>
          <pc:docMk/>
          <pc:sldMk cId="2179232741" sldId="260"/>
        </pc:sldMkLst>
        <pc:spChg chg="mod">
          <ac:chgData name="Leina Hipoliti" userId="90390f7e65d0d4be" providerId="LiveId" clId="{5F68908E-08A8-44BB-9CC0-43CCABB8E6EF}" dt="2026-05-24T14:59:24.231" v="571" actId="20577"/>
          <ac:spMkLst>
            <pc:docMk/>
            <pc:sldMk cId="2179232741" sldId="260"/>
            <ac:spMk id="2" creationId="{82189A5A-C779-0142-DC90-3FF857012476}"/>
          </ac:spMkLst>
        </pc:spChg>
        <pc:spChg chg="mod">
          <ac:chgData name="Leina Hipoliti" userId="90390f7e65d0d4be" providerId="LiveId" clId="{5F68908E-08A8-44BB-9CC0-43CCABB8E6EF}" dt="2026-05-24T15:12:38.247" v="935" actId="20577"/>
          <ac:spMkLst>
            <pc:docMk/>
            <pc:sldMk cId="2179232741" sldId="260"/>
            <ac:spMk id="3" creationId="{3BF4442A-A91F-2995-5A05-48ACDE992748}"/>
          </ac:spMkLst>
        </pc:spChg>
        <pc:spChg chg="add mod">
          <ac:chgData name="Leina Hipoliti" userId="90390f7e65d0d4be" providerId="LiveId" clId="{5F68908E-08A8-44BB-9CC0-43CCABB8E6EF}" dt="2026-05-24T16:05:16.915" v="1213"/>
          <ac:spMkLst>
            <pc:docMk/>
            <pc:sldMk cId="2179232741" sldId="260"/>
            <ac:spMk id="4" creationId="{E416C0A5-362E-B00B-FCE7-D19869A36754}"/>
          </ac:spMkLst>
        </pc:spChg>
      </pc:sldChg>
      <pc:sldChg chg="addSp modSp new mod">
        <pc:chgData name="Leina Hipoliti" userId="90390f7e65d0d4be" providerId="LiveId" clId="{5F68908E-08A8-44BB-9CC0-43CCABB8E6EF}" dt="2026-05-24T18:11:38.313" v="2008" actId="20577"/>
        <pc:sldMkLst>
          <pc:docMk/>
          <pc:sldMk cId="1385883866" sldId="261"/>
        </pc:sldMkLst>
        <pc:spChg chg="mod">
          <ac:chgData name="Leina Hipoliti" userId="90390f7e65d0d4be" providerId="LiveId" clId="{5F68908E-08A8-44BB-9CC0-43CCABB8E6EF}" dt="2026-05-24T15:13:15.332" v="946" actId="5793"/>
          <ac:spMkLst>
            <pc:docMk/>
            <pc:sldMk cId="1385883866" sldId="261"/>
            <ac:spMk id="2" creationId="{D2250DA7-D9B8-FCCD-9D56-1EDE600CB93C}"/>
          </ac:spMkLst>
        </pc:spChg>
        <pc:spChg chg="mod">
          <ac:chgData name="Leina Hipoliti" userId="90390f7e65d0d4be" providerId="LiveId" clId="{5F68908E-08A8-44BB-9CC0-43CCABB8E6EF}" dt="2026-05-24T18:11:38.313" v="2008" actId="20577"/>
          <ac:spMkLst>
            <pc:docMk/>
            <pc:sldMk cId="1385883866" sldId="261"/>
            <ac:spMk id="3" creationId="{ADE52C7C-89F6-77C3-B6C1-B9C39B89701D}"/>
          </ac:spMkLst>
        </pc:spChg>
        <pc:spChg chg="add mod">
          <ac:chgData name="Leina Hipoliti" userId="90390f7e65d0d4be" providerId="LiveId" clId="{5F68908E-08A8-44BB-9CC0-43CCABB8E6EF}" dt="2026-05-24T16:01:18.968" v="1208"/>
          <ac:spMkLst>
            <pc:docMk/>
            <pc:sldMk cId="1385883866" sldId="261"/>
            <ac:spMk id="4" creationId="{AE8E6A0F-70DB-9679-912D-2FD542B4F81B}"/>
          </ac:spMkLst>
        </pc:spChg>
      </pc:sldChg>
      <pc:sldChg chg="modSp new mod">
        <pc:chgData name="Leina Hipoliti" userId="90390f7e65d0d4be" providerId="LiveId" clId="{5F68908E-08A8-44BB-9CC0-43CCABB8E6EF}" dt="2026-05-24T17:28:06.181" v="1622" actId="20577"/>
        <pc:sldMkLst>
          <pc:docMk/>
          <pc:sldMk cId="1800345643" sldId="262"/>
        </pc:sldMkLst>
        <pc:spChg chg="mod">
          <ac:chgData name="Leina Hipoliti" userId="90390f7e65d0d4be" providerId="LiveId" clId="{5F68908E-08A8-44BB-9CC0-43CCABB8E6EF}" dt="2026-05-24T17:22:01.191" v="1226" actId="20577"/>
          <ac:spMkLst>
            <pc:docMk/>
            <pc:sldMk cId="1800345643" sldId="262"/>
            <ac:spMk id="2" creationId="{49A8DCFA-AE20-4442-AEC8-FBFEB0468366}"/>
          </ac:spMkLst>
        </pc:spChg>
        <pc:spChg chg="mod">
          <ac:chgData name="Leina Hipoliti" userId="90390f7e65d0d4be" providerId="LiveId" clId="{5F68908E-08A8-44BB-9CC0-43CCABB8E6EF}" dt="2026-05-24T17:28:06.181" v="1622" actId="20577"/>
          <ac:spMkLst>
            <pc:docMk/>
            <pc:sldMk cId="1800345643" sldId="262"/>
            <ac:spMk id="3" creationId="{C1D62900-7D8C-D62C-C528-2E249C74247D}"/>
          </ac:spMkLst>
        </pc:spChg>
      </pc:sldChg>
      <pc:sldChg chg="addSp modSp new mod">
        <pc:chgData name="Leina Hipoliti" userId="90390f7e65d0d4be" providerId="LiveId" clId="{5F68908E-08A8-44BB-9CC0-43CCABB8E6EF}" dt="2026-05-24T18:11:28.504" v="2007"/>
        <pc:sldMkLst>
          <pc:docMk/>
          <pc:sldMk cId="189182147" sldId="263"/>
        </pc:sldMkLst>
        <pc:spChg chg="mod">
          <ac:chgData name="Leina Hipoliti" userId="90390f7e65d0d4be" providerId="LiveId" clId="{5F68908E-08A8-44BB-9CC0-43CCABB8E6EF}" dt="2026-05-24T17:29:53.453" v="1631" actId="5793"/>
          <ac:spMkLst>
            <pc:docMk/>
            <pc:sldMk cId="189182147" sldId="263"/>
            <ac:spMk id="2" creationId="{A1ED2E76-5564-5410-4C73-CACED30EC147}"/>
          </ac:spMkLst>
        </pc:spChg>
        <pc:spChg chg="mod">
          <ac:chgData name="Leina Hipoliti" userId="90390f7e65d0d4be" providerId="LiveId" clId="{5F68908E-08A8-44BB-9CC0-43CCABB8E6EF}" dt="2026-05-24T18:08:41.036" v="2001" actId="20577"/>
          <ac:spMkLst>
            <pc:docMk/>
            <pc:sldMk cId="189182147" sldId="263"/>
            <ac:spMk id="3" creationId="{AFE8EF73-CFFE-30E4-6AF2-D29EB5890BA2}"/>
          </ac:spMkLst>
        </pc:spChg>
        <pc:spChg chg="add mod">
          <ac:chgData name="Leina Hipoliti" userId="90390f7e65d0d4be" providerId="LiveId" clId="{5F68908E-08A8-44BB-9CC0-43CCABB8E6EF}" dt="2026-05-24T18:11:28.504" v="2007"/>
          <ac:spMkLst>
            <pc:docMk/>
            <pc:sldMk cId="189182147" sldId="263"/>
            <ac:spMk id="4" creationId="{13CE80AC-8A83-4E84-015F-7BC634C30DE5}"/>
          </ac:spMkLst>
        </pc:spChg>
      </pc:sldChg>
      <pc:sldChg chg="addSp modSp new mod">
        <pc:chgData name="Leina Hipoliti" userId="90390f7e65d0d4be" providerId="LiveId" clId="{5F68908E-08A8-44BB-9CC0-43CCABB8E6EF}" dt="2026-05-24T18:27:20.628" v="2387" actId="20577"/>
        <pc:sldMkLst>
          <pc:docMk/>
          <pc:sldMk cId="2069604987" sldId="264"/>
        </pc:sldMkLst>
        <pc:spChg chg="mod">
          <ac:chgData name="Leina Hipoliti" userId="90390f7e65d0d4be" providerId="LiveId" clId="{5F68908E-08A8-44BB-9CC0-43CCABB8E6EF}" dt="2026-05-24T18:18:16.848" v="2023" actId="20577"/>
          <ac:spMkLst>
            <pc:docMk/>
            <pc:sldMk cId="2069604987" sldId="264"/>
            <ac:spMk id="2" creationId="{69FEBCAC-E696-5E08-638D-19C882D58CD0}"/>
          </ac:spMkLst>
        </pc:spChg>
        <pc:spChg chg="mod">
          <ac:chgData name="Leina Hipoliti" userId="90390f7e65d0d4be" providerId="LiveId" clId="{5F68908E-08A8-44BB-9CC0-43CCABB8E6EF}" dt="2026-05-24T18:27:20.628" v="2387" actId="20577"/>
          <ac:spMkLst>
            <pc:docMk/>
            <pc:sldMk cId="2069604987" sldId="264"/>
            <ac:spMk id="3" creationId="{45CD734D-8582-C4E2-3DB3-8515D4A577D2}"/>
          </ac:spMkLst>
        </pc:spChg>
        <pc:spChg chg="add mod">
          <ac:chgData name="Leina Hipoliti" userId="90390f7e65d0d4be" providerId="LiveId" clId="{5F68908E-08A8-44BB-9CC0-43CCABB8E6EF}" dt="2026-05-24T18:26:35.501" v="2382"/>
          <ac:spMkLst>
            <pc:docMk/>
            <pc:sldMk cId="2069604987" sldId="264"/>
            <ac:spMk id="4" creationId="{6FAC2593-65CA-5682-7F66-6443CBD735D7}"/>
          </ac:spMkLst>
        </pc:spChg>
      </pc:sldChg>
      <pc:sldChg chg="new">
        <pc:chgData name="Leina Hipoliti" userId="90390f7e65d0d4be" providerId="LiveId" clId="{5F68908E-08A8-44BB-9CC0-43CCABB8E6EF}" dt="2026-05-24T18:27:31.890" v="2388" actId="680"/>
        <pc:sldMkLst>
          <pc:docMk/>
          <pc:sldMk cId="2928925433" sldId="265"/>
        </pc:sldMkLst>
      </pc:sldChg>
      <pc:sldChg chg="modSp mod">
        <pc:chgData name="Leina Hipoliti" userId="90390f7e65d0d4be" providerId="LiveId" clId="{5F68908E-08A8-44BB-9CC0-43CCABB8E6EF}" dt="2026-05-26T03:40:42.013" v="3590" actId="5793"/>
        <pc:sldMkLst>
          <pc:docMk/>
          <pc:sldMk cId="3159723347" sldId="272"/>
        </pc:sldMkLst>
        <pc:spChg chg="mod">
          <ac:chgData name="Leina Hipoliti" userId="90390f7e65d0d4be" providerId="LiveId" clId="{5F68908E-08A8-44BB-9CC0-43CCABB8E6EF}" dt="2026-05-26T03:40:42.013" v="3590" actId="5793"/>
          <ac:spMkLst>
            <pc:docMk/>
            <pc:sldMk cId="3159723347" sldId="272"/>
            <ac:spMk id="3" creationId="{A802CBD0-C286-B562-D8F7-93AB8431A3C6}"/>
          </ac:spMkLst>
        </pc:spChg>
      </pc:sldChg>
      <pc:sldChg chg="modSp mod">
        <pc:chgData name="Leina Hipoliti" userId="90390f7e65d0d4be" providerId="LiveId" clId="{5F68908E-08A8-44BB-9CC0-43CCABB8E6EF}" dt="2026-05-26T02:57:22.993" v="2743" actId="20577"/>
        <pc:sldMkLst>
          <pc:docMk/>
          <pc:sldMk cId="2583673892" sldId="282"/>
        </pc:sldMkLst>
        <pc:spChg chg="mod">
          <ac:chgData name="Leina Hipoliti" userId="90390f7e65d0d4be" providerId="LiveId" clId="{5F68908E-08A8-44BB-9CC0-43CCABB8E6EF}" dt="2026-05-26T02:57:22.993" v="2743" actId="20577"/>
          <ac:spMkLst>
            <pc:docMk/>
            <pc:sldMk cId="2583673892" sldId="282"/>
            <ac:spMk id="3" creationId="{A767E881-4A49-D307-4CC7-38CFB9AF0FEA}"/>
          </ac:spMkLst>
        </pc:spChg>
      </pc:sldChg>
      <pc:sldChg chg="addSp delSp modSp new mod">
        <pc:chgData name="Leina Hipoliti" userId="90390f7e65d0d4be" providerId="LiveId" clId="{5F68908E-08A8-44BB-9CC0-43CCABB8E6EF}" dt="2026-05-26T03:05:02.324" v="2762" actId="14100"/>
        <pc:sldMkLst>
          <pc:docMk/>
          <pc:sldMk cId="3054640068" sldId="283"/>
        </pc:sldMkLst>
        <pc:spChg chg="mod">
          <ac:chgData name="Leina Hipoliti" userId="90390f7e65d0d4be" providerId="LiveId" clId="{5F68908E-08A8-44BB-9CC0-43CCABB8E6EF}" dt="2026-05-26T03:04:34.836" v="2757" actId="20577"/>
          <ac:spMkLst>
            <pc:docMk/>
            <pc:sldMk cId="3054640068" sldId="283"/>
            <ac:spMk id="2" creationId="{3E1DEA8A-9769-81BE-C97C-F0D651D52AAF}"/>
          </ac:spMkLst>
        </pc:spChg>
        <pc:spChg chg="del mod">
          <ac:chgData name="Leina Hipoliti" userId="90390f7e65d0d4be" providerId="LiveId" clId="{5F68908E-08A8-44BB-9CC0-43CCABB8E6EF}" dt="2026-05-26T03:04:44.061" v="2759" actId="22"/>
          <ac:spMkLst>
            <pc:docMk/>
            <pc:sldMk cId="3054640068" sldId="283"/>
            <ac:spMk id="3" creationId="{637AB3DD-131E-66A3-6EC6-4ABACE9CB958}"/>
          </ac:spMkLst>
        </pc:spChg>
        <pc:picChg chg="add mod ord">
          <ac:chgData name="Leina Hipoliti" userId="90390f7e65d0d4be" providerId="LiveId" clId="{5F68908E-08A8-44BB-9CC0-43CCABB8E6EF}" dt="2026-05-26T03:05:02.324" v="2762" actId="14100"/>
          <ac:picMkLst>
            <pc:docMk/>
            <pc:sldMk cId="3054640068" sldId="283"/>
            <ac:picMk id="5" creationId="{D0F0201F-D804-718D-BAC0-405FC4B620B1}"/>
          </ac:picMkLst>
        </pc:picChg>
      </pc:sldChg>
      <pc:sldChg chg="addSp modSp new mod">
        <pc:chgData name="Leina Hipoliti" userId="90390f7e65d0d4be" providerId="LiveId" clId="{5F68908E-08A8-44BB-9CC0-43CCABB8E6EF}" dt="2026-05-26T03:21:15.934" v="3146" actId="688"/>
        <pc:sldMkLst>
          <pc:docMk/>
          <pc:sldMk cId="3386044387" sldId="284"/>
        </pc:sldMkLst>
        <pc:spChg chg="mod">
          <ac:chgData name="Leina Hipoliti" userId="90390f7e65d0d4be" providerId="LiveId" clId="{5F68908E-08A8-44BB-9CC0-43CCABB8E6EF}" dt="2026-05-26T03:08:32.545" v="2771" actId="5793"/>
          <ac:spMkLst>
            <pc:docMk/>
            <pc:sldMk cId="3386044387" sldId="284"/>
            <ac:spMk id="2" creationId="{CF751E83-6BFC-A462-F5CD-ED718E0A5716}"/>
          </ac:spMkLst>
        </pc:spChg>
        <pc:spChg chg="mod">
          <ac:chgData name="Leina Hipoliti" userId="90390f7e65d0d4be" providerId="LiveId" clId="{5F68908E-08A8-44BB-9CC0-43CCABB8E6EF}" dt="2026-05-26T03:20:06.279" v="3140" actId="20577"/>
          <ac:spMkLst>
            <pc:docMk/>
            <pc:sldMk cId="3386044387" sldId="284"/>
            <ac:spMk id="3" creationId="{B51E2795-DE98-6177-6456-1A6788A0D7D9}"/>
          </ac:spMkLst>
        </pc:spChg>
        <pc:spChg chg="add mod">
          <ac:chgData name="Leina Hipoliti" userId="90390f7e65d0d4be" providerId="LiveId" clId="{5F68908E-08A8-44BB-9CC0-43CCABB8E6EF}" dt="2026-05-26T03:21:15.934" v="3146" actId="688"/>
          <ac:spMkLst>
            <pc:docMk/>
            <pc:sldMk cId="3386044387" sldId="284"/>
            <ac:spMk id="4" creationId="{9D233160-556D-10A4-D5F7-2E7827E270DA}"/>
          </ac:spMkLst>
        </pc:spChg>
      </pc:sldChg>
      <pc:sldChg chg="modSp new mod">
        <pc:chgData name="Leina Hipoliti" userId="90390f7e65d0d4be" providerId="LiveId" clId="{5F68908E-08A8-44BB-9CC0-43CCABB8E6EF}" dt="2026-05-26T03:27:22.659" v="3332" actId="20577"/>
        <pc:sldMkLst>
          <pc:docMk/>
          <pc:sldMk cId="2812893844" sldId="285"/>
        </pc:sldMkLst>
        <pc:spChg chg="mod">
          <ac:chgData name="Leina Hipoliti" userId="90390f7e65d0d4be" providerId="LiveId" clId="{5F68908E-08A8-44BB-9CC0-43CCABB8E6EF}" dt="2026-05-26T03:25:38.985" v="3184" actId="20577"/>
          <ac:spMkLst>
            <pc:docMk/>
            <pc:sldMk cId="2812893844" sldId="285"/>
            <ac:spMk id="2" creationId="{458B397D-DE30-E97E-88D1-3063275C0EE1}"/>
          </ac:spMkLst>
        </pc:spChg>
        <pc:spChg chg="mod">
          <ac:chgData name="Leina Hipoliti" userId="90390f7e65d0d4be" providerId="LiveId" clId="{5F68908E-08A8-44BB-9CC0-43CCABB8E6EF}" dt="2026-05-26T03:27:22.659" v="3332" actId="20577"/>
          <ac:spMkLst>
            <pc:docMk/>
            <pc:sldMk cId="2812893844" sldId="285"/>
            <ac:spMk id="3" creationId="{40D98AAB-46B5-864A-F39B-5B50A0180F32}"/>
          </ac:spMkLst>
        </pc:spChg>
      </pc:sldChg>
      <pc:sldChg chg="addSp delSp modSp new mod">
        <pc:chgData name="Leina Hipoliti" userId="90390f7e65d0d4be" providerId="LiveId" clId="{5F68908E-08A8-44BB-9CC0-43CCABB8E6EF}" dt="2026-05-26T03:38:04.962" v="3588"/>
        <pc:sldMkLst>
          <pc:docMk/>
          <pc:sldMk cId="3808023925" sldId="286"/>
        </pc:sldMkLst>
        <pc:spChg chg="mod">
          <ac:chgData name="Leina Hipoliti" userId="90390f7e65d0d4be" providerId="LiveId" clId="{5F68908E-08A8-44BB-9CC0-43CCABB8E6EF}" dt="2026-05-26T03:30:21.374" v="3390" actId="20577"/>
          <ac:spMkLst>
            <pc:docMk/>
            <pc:sldMk cId="3808023925" sldId="286"/>
            <ac:spMk id="2" creationId="{FC2C7E42-CBA6-9B81-F7AB-0310F7D5AF68}"/>
          </ac:spMkLst>
        </pc:spChg>
        <pc:spChg chg="mod">
          <ac:chgData name="Leina Hipoliti" userId="90390f7e65d0d4be" providerId="LiveId" clId="{5F68908E-08A8-44BB-9CC0-43CCABB8E6EF}" dt="2026-05-26T03:37:37.499" v="3581" actId="1076"/>
          <ac:spMkLst>
            <pc:docMk/>
            <pc:sldMk cId="3808023925" sldId="286"/>
            <ac:spMk id="3" creationId="{8749166F-186B-22D2-C799-B06CC5544F41}"/>
          </ac:spMkLst>
        </pc:spChg>
        <pc:spChg chg="add del mod">
          <ac:chgData name="Leina Hipoliti" userId="90390f7e65d0d4be" providerId="LiveId" clId="{5F68908E-08A8-44BB-9CC0-43CCABB8E6EF}" dt="2026-05-26T03:37:39.688" v="3583"/>
          <ac:spMkLst>
            <pc:docMk/>
            <pc:sldMk cId="3808023925" sldId="286"/>
            <ac:spMk id="4" creationId="{16956886-4A75-EBD6-FCB8-0190EC907B77}"/>
          </ac:spMkLst>
        </pc:spChg>
        <pc:spChg chg="add mod">
          <ac:chgData name="Leina Hipoliti" userId="90390f7e65d0d4be" providerId="LiveId" clId="{5F68908E-08A8-44BB-9CC0-43CCABB8E6EF}" dt="2026-05-26T03:38:04.962" v="3588"/>
          <ac:spMkLst>
            <pc:docMk/>
            <pc:sldMk cId="3808023925" sldId="286"/>
            <ac:spMk id="5" creationId="{11405F11-90CE-EF33-4E20-58ED6E61D44D}"/>
          </ac:spMkLst>
        </pc:spChg>
      </pc:sldChg>
      <pc:sldChg chg="modSp new mod">
        <pc:chgData name="Leina Hipoliti" userId="90390f7e65d0d4be" providerId="LiveId" clId="{5F68908E-08A8-44BB-9CC0-43CCABB8E6EF}" dt="2026-05-26T03:41:02.177" v="3608"/>
        <pc:sldMkLst>
          <pc:docMk/>
          <pc:sldMk cId="2228788912" sldId="287"/>
        </pc:sldMkLst>
        <pc:spChg chg="mod">
          <ac:chgData name="Leina Hipoliti" userId="90390f7e65d0d4be" providerId="LiveId" clId="{5F68908E-08A8-44BB-9CC0-43CCABB8E6EF}" dt="2026-05-26T03:40:49.985" v="3601" actId="20577"/>
          <ac:spMkLst>
            <pc:docMk/>
            <pc:sldMk cId="2228788912" sldId="287"/>
            <ac:spMk id="2" creationId="{7495C2FA-95EA-A0A1-5546-7AAD2170B946}"/>
          </ac:spMkLst>
        </pc:spChg>
        <pc:spChg chg="mod">
          <ac:chgData name="Leina Hipoliti" userId="90390f7e65d0d4be" providerId="LiveId" clId="{5F68908E-08A8-44BB-9CC0-43CCABB8E6EF}" dt="2026-05-26T03:41:02.177" v="3608"/>
          <ac:spMkLst>
            <pc:docMk/>
            <pc:sldMk cId="2228788912" sldId="287"/>
            <ac:spMk id="3" creationId="{CD160FE8-46AF-4AE6-9C1C-974790C65C1D}"/>
          </ac:spMkLst>
        </pc:spChg>
      </pc:sldChg>
      <pc:sldChg chg="addSp delSp modSp new mod">
        <pc:chgData name="Leina Hipoliti" userId="90390f7e65d0d4be" providerId="LiveId" clId="{5F68908E-08A8-44BB-9CC0-43CCABB8E6EF}" dt="2026-05-26T11:27:08.909" v="3654" actId="14100"/>
        <pc:sldMkLst>
          <pc:docMk/>
          <pc:sldMk cId="1691892948" sldId="288"/>
        </pc:sldMkLst>
        <pc:spChg chg="mod">
          <ac:chgData name="Leina Hipoliti" userId="90390f7e65d0d4be" providerId="LiveId" clId="{5F68908E-08A8-44BB-9CC0-43CCABB8E6EF}" dt="2026-05-26T03:42:48.996" v="3650" actId="20577"/>
          <ac:spMkLst>
            <pc:docMk/>
            <pc:sldMk cId="1691892948" sldId="288"/>
            <ac:spMk id="2" creationId="{F73CAAED-F56D-5744-AA93-299D740A677E}"/>
          </ac:spMkLst>
        </pc:spChg>
        <pc:spChg chg="del">
          <ac:chgData name="Leina Hipoliti" userId="90390f7e65d0d4be" providerId="LiveId" clId="{5F68908E-08A8-44BB-9CC0-43CCABB8E6EF}" dt="2026-05-26T11:26:51.173" v="3651" actId="22"/>
          <ac:spMkLst>
            <pc:docMk/>
            <pc:sldMk cId="1691892948" sldId="288"/>
            <ac:spMk id="3" creationId="{772DBC74-6399-239F-F1DE-14EDD0847412}"/>
          </ac:spMkLst>
        </pc:spChg>
        <pc:picChg chg="add mod ord">
          <ac:chgData name="Leina Hipoliti" userId="90390f7e65d0d4be" providerId="LiveId" clId="{5F68908E-08A8-44BB-9CC0-43CCABB8E6EF}" dt="2026-05-26T11:27:08.909" v="3654" actId="14100"/>
          <ac:picMkLst>
            <pc:docMk/>
            <pc:sldMk cId="1691892948" sldId="288"/>
            <ac:picMk id="5" creationId="{9B55B4E0-5B73-3FFC-B28E-79D2A5D03053}"/>
          </ac:picMkLst>
        </pc:picChg>
      </pc:sldChg>
      <pc:sldChg chg="modSp new mod">
        <pc:chgData name="Leina Hipoliti" userId="90390f7e65d0d4be" providerId="LiveId" clId="{5F68908E-08A8-44BB-9CC0-43CCABB8E6EF}" dt="2026-05-26T11:38:43.018" v="4080" actId="20577"/>
        <pc:sldMkLst>
          <pc:docMk/>
          <pc:sldMk cId="3966167060" sldId="289"/>
        </pc:sldMkLst>
        <pc:spChg chg="mod">
          <ac:chgData name="Leina Hipoliti" userId="90390f7e65d0d4be" providerId="LiveId" clId="{5F68908E-08A8-44BB-9CC0-43CCABB8E6EF}" dt="2026-05-26T11:29:45.778" v="3663" actId="5793"/>
          <ac:spMkLst>
            <pc:docMk/>
            <pc:sldMk cId="3966167060" sldId="289"/>
            <ac:spMk id="2" creationId="{BF0BAEB0-0DC9-41CC-DDDE-D6A73FDD871A}"/>
          </ac:spMkLst>
        </pc:spChg>
        <pc:spChg chg="mod">
          <ac:chgData name="Leina Hipoliti" userId="90390f7e65d0d4be" providerId="LiveId" clId="{5F68908E-08A8-44BB-9CC0-43CCABB8E6EF}" dt="2026-05-26T11:38:43.018" v="4080" actId="20577"/>
          <ac:spMkLst>
            <pc:docMk/>
            <pc:sldMk cId="3966167060" sldId="289"/>
            <ac:spMk id="3" creationId="{72EA5079-F8F6-BD17-9437-DCD7EC12DFB1}"/>
          </ac:spMkLst>
        </pc:spChg>
      </pc:sldChg>
      <pc:sldChg chg="addSp delSp modSp new mod">
        <pc:chgData name="Leina Hipoliti" userId="90390f7e65d0d4be" providerId="LiveId" clId="{5F68908E-08A8-44BB-9CC0-43CCABB8E6EF}" dt="2026-05-26T11:39:25.494" v="4086" actId="14100"/>
        <pc:sldMkLst>
          <pc:docMk/>
          <pc:sldMk cId="3122121862" sldId="290"/>
        </pc:sldMkLst>
        <pc:spChg chg="del mod">
          <ac:chgData name="Leina Hipoliti" userId="90390f7e65d0d4be" providerId="LiveId" clId="{5F68908E-08A8-44BB-9CC0-43CCABB8E6EF}" dt="2026-05-26T11:39:10.606" v="4083" actId="22"/>
          <ac:spMkLst>
            <pc:docMk/>
            <pc:sldMk cId="3122121862" sldId="290"/>
            <ac:spMk id="3" creationId="{BA2CAB60-4689-C58B-7BFC-38A1697AEA8A}"/>
          </ac:spMkLst>
        </pc:spChg>
        <pc:picChg chg="add mod ord">
          <ac:chgData name="Leina Hipoliti" userId="90390f7e65d0d4be" providerId="LiveId" clId="{5F68908E-08A8-44BB-9CC0-43CCABB8E6EF}" dt="2026-05-26T11:39:25.494" v="4086" actId="14100"/>
          <ac:picMkLst>
            <pc:docMk/>
            <pc:sldMk cId="3122121862" sldId="290"/>
            <ac:picMk id="5" creationId="{3DDF1341-6951-2E5B-B409-A728D3C342EA}"/>
          </ac:picMkLst>
        </pc:picChg>
      </pc:sldChg>
      <pc:sldChg chg="new">
        <pc:chgData name="Leina Hipoliti" userId="90390f7e65d0d4be" providerId="LiveId" clId="{5F68908E-08A8-44BB-9CC0-43CCABB8E6EF}" dt="2026-05-26T11:40:06.929" v="4087" actId="680"/>
        <pc:sldMkLst>
          <pc:docMk/>
          <pc:sldMk cId="3985079289" sldId="291"/>
        </pc:sldMkLst>
      </pc:sldChg>
      <pc:sldChg chg="modSp new mod">
        <pc:chgData name="Leina Hipoliti" userId="90390f7e65d0d4be" providerId="LiveId" clId="{5F68908E-08A8-44BB-9CC0-43CCABB8E6EF}" dt="2026-05-26T16:22:40.803" v="4681" actId="20577"/>
        <pc:sldMkLst>
          <pc:docMk/>
          <pc:sldMk cId="110574791" sldId="292"/>
        </pc:sldMkLst>
        <pc:spChg chg="mod">
          <ac:chgData name="Leina Hipoliti" userId="90390f7e65d0d4be" providerId="LiveId" clId="{5F68908E-08A8-44BB-9CC0-43CCABB8E6EF}" dt="2026-05-26T16:16:33.213" v="4099" actId="20577"/>
          <ac:spMkLst>
            <pc:docMk/>
            <pc:sldMk cId="110574791" sldId="292"/>
            <ac:spMk id="2" creationId="{83E02744-60F4-E54D-EC32-EDD1DFD5575F}"/>
          </ac:spMkLst>
        </pc:spChg>
        <pc:spChg chg="mod">
          <ac:chgData name="Leina Hipoliti" userId="90390f7e65d0d4be" providerId="LiveId" clId="{5F68908E-08A8-44BB-9CC0-43CCABB8E6EF}" dt="2026-05-26T16:22:40.803" v="4681" actId="20577"/>
          <ac:spMkLst>
            <pc:docMk/>
            <pc:sldMk cId="110574791" sldId="292"/>
            <ac:spMk id="3" creationId="{A1F0DD20-25D6-31B4-0E6C-F74882AE80F2}"/>
          </ac:spMkLst>
        </pc:spChg>
      </pc:sldChg>
      <pc:sldChg chg="addSp delSp modSp new mod">
        <pc:chgData name="Leina Hipoliti" userId="90390f7e65d0d4be" providerId="LiveId" clId="{5F68908E-08A8-44BB-9CC0-43CCABB8E6EF}" dt="2026-05-26T16:25:39.791" v="4692" actId="14100"/>
        <pc:sldMkLst>
          <pc:docMk/>
          <pc:sldMk cId="3289851997" sldId="293"/>
        </pc:sldMkLst>
        <pc:spChg chg="del mod">
          <ac:chgData name="Leina Hipoliti" userId="90390f7e65d0d4be" providerId="LiveId" clId="{5F68908E-08A8-44BB-9CC0-43CCABB8E6EF}" dt="2026-05-26T16:24:44.572" v="4684" actId="931"/>
          <ac:spMkLst>
            <pc:docMk/>
            <pc:sldMk cId="3289851997" sldId="293"/>
            <ac:spMk id="3" creationId="{2E69E8A3-AD49-E439-A3D2-4F7B38B91386}"/>
          </ac:spMkLst>
        </pc:spChg>
        <pc:spChg chg="add mod">
          <ac:chgData name="Leina Hipoliti" userId="90390f7e65d0d4be" providerId="LiveId" clId="{5F68908E-08A8-44BB-9CC0-43CCABB8E6EF}" dt="2026-05-26T16:25:14.439" v="4689" actId="14100"/>
          <ac:spMkLst>
            <pc:docMk/>
            <pc:sldMk cId="3289851997" sldId="293"/>
            <ac:spMk id="6" creationId="{E37CA28E-9CD8-FEC7-896C-07DD2877AD0D}"/>
          </ac:spMkLst>
        </pc:spChg>
        <pc:picChg chg="add mod">
          <ac:chgData name="Leina Hipoliti" userId="90390f7e65d0d4be" providerId="LiveId" clId="{5F68908E-08A8-44BB-9CC0-43CCABB8E6EF}" dt="2026-05-26T16:25:39.791" v="4692" actId="14100"/>
          <ac:picMkLst>
            <pc:docMk/>
            <pc:sldMk cId="3289851997" sldId="293"/>
            <ac:picMk id="5" creationId="{7EBD8689-9F1E-8827-F02A-7910B3828C71}"/>
          </ac:picMkLst>
        </pc:picChg>
      </pc:sldChg>
      <pc:sldChg chg="modSp new mod">
        <pc:chgData name="Leina Hipoliti" userId="90390f7e65d0d4be" providerId="LiveId" clId="{5F68908E-08A8-44BB-9CC0-43CCABB8E6EF}" dt="2026-05-27T12:09:30.749" v="4895" actId="20577"/>
        <pc:sldMkLst>
          <pc:docMk/>
          <pc:sldMk cId="52321657" sldId="294"/>
        </pc:sldMkLst>
        <pc:spChg chg="mod">
          <ac:chgData name="Leina Hipoliti" userId="90390f7e65d0d4be" providerId="LiveId" clId="{5F68908E-08A8-44BB-9CC0-43CCABB8E6EF}" dt="2026-05-27T12:06:49.809" v="4700" actId="20577"/>
          <ac:spMkLst>
            <pc:docMk/>
            <pc:sldMk cId="52321657" sldId="294"/>
            <ac:spMk id="2" creationId="{6D68E9E3-3120-7F0D-14B3-0DA002C71278}"/>
          </ac:spMkLst>
        </pc:spChg>
        <pc:spChg chg="mod">
          <ac:chgData name="Leina Hipoliti" userId="90390f7e65d0d4be" providerId="LiveId" clId="{5F68908E-08A8-44BB-9CC0-43CCABB8E6EF}" dt="2026-05-27T12:09:30.749" v="4895" actId="20577"/>
          <ac:spMkLst>
            <pc:docMk/>
            <pc:sldMk cId="52321657" sldId="294"/>
            <ac:spMk id="3" creationId="{57FA010E-5FED-DFCE-E8E4-69F6F072E5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F1325-E14C-C244-AB5A-DB1B39052ECD}" type="datetimeFigureOut">
              <a:rPr lang="en-TZ" smtClean="0"/>
              <a:t>16/08/2026</a:t>
            </a:fld>
            <a:endParaRPr lang="en-T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4B0C74-8E9E-8546-AB42-3DC43D272E16}" type="slidenum">
              <a:rPr lang="en-TZ" smtClean="0"/>
              <a:t>‹#›</a:t>
            </a:fld>
            <a:endParaRPr lang="en-TZ"/>
          </a:p>
        </p:txBody>
      </p:sp>
    </p:spTree>
    <p:extLst>
      <p:ext uri="{BB962C8B-B14F-4D97-AF65-F5344CB8AC3E}">
        <p14:creationId xmlns:p14="http://schemas.microsoft.com/office/powerpoint/2010/main" val="175722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754B0C74-8E9E-8546-AB42-3DC43D272E16}" type="slidenum">
              <a:rPr lang="en-TZ" smtClean="0"/>
              <a:t>28</a:t>
            </a:fld>
            <a:endParaRPr lang="en-TZ"/>
          </a:p>
        </p:txBody>
      </p:sp>
    </p:spTree>
    <p:extLst>
      <p:ext uri="{BB962C8B-B14F-4D97-AF65-F5344CB8AC3E}">
        <p14:creationId xmlns:p14="http://schemas.microsoft.com/office/powerpoint/2010/main" val="4148314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82BD-C331-35EA-20F4-2BB7B41A7A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D3610BC-A762-48CA-CF84-AA0EFA0D0A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13819D-8D03-6DDF-7980-4E33E14E1704}"/>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5" name="Footer Placeholder 4">
            <a:extLst>
              <a:ext uri="{FF2B5EF4-FFF2-40B4-BE49-F238E27FC236}">
                <a16:creationId xmlns:a16="http://schemas.microsoft.com/office/drawing/2014/main" id="{F46D1FC5-7E41-6CFD-0B12-831299FF0E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D61671-E2E8-E772-262F-5BDB6C61AC52}"/>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1929967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81194-C4D1-7364-31F5-4B6F356E17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071A0C-D971-4280-EA5A-DCE92D4E7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CF61C-5B9B-1BF4-40C1-530F13B15C73}"/>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5" name="Footer Placeholder 4">
            <a:extLst>
              <a:ext uri="{FF2B5EF4-FFF2-40B4-BE49-F238E27FC236}">
                <a16:creationId xmlns:a16="http://schemas.microsoft.com/office/drawing/2014/main" id="{8D955183-7AF2-9AE5-E8EF-FC8C22033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6DCDE7-EC56-29F4-3ABD-3A6C748ADC5F}"/>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2799644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416B5-2A46-F219-FC8A-AD5345822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C00256-3357-2763-BD2E-A4F442FED7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EB7A44-DDAD-626B-99FA-DECF47516077}"/>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5" name="Footer Placeholder 4">
            <a:extLst>
              <a:ext uri="{FF2B5EF4-FFF2-40B4-BE49-F238E27FC236}">
                <a16:creationId xmlns:a16="http://schemas.microsoft.com/office/drawing/2014/main" id="{07C8194F-2EA7-5A89-34DD-D5D8A77A0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C9776-3CC2-898F-7970-6E49FBC6900A}"/>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742430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7869D-12EE-B9DD-4E5F-66E0FC5480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A8E529-CCB8-3263-638C-B1918A13AE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2317EF-9C1A-10CC-BB0A-FC8CB0313F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1BE5EF-A476-A85F-C358-A01C0F681EA5}"/>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6" name="Footer Placeholder 5">
            <a:extLst>
              <a:ext uri="{FF2B5EF4-FFF2-40B4-BE49-F238E27FC236}">
                <a16:creationId xmlns:a16="http://schemas.microsoft.com/office/drawing/2014/main" id="{81778E87-E736-EEB4-84BD-30A3DFCFA5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FF6875-3F1B-0D94-8205-99B72AE3310D}"/>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341712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DB566-2660-FDD7-207E-D60EB9FB45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318E20-C62E-42E2-1864-490EFC7F0E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8BD4A2-7F19-F14C-F045-E84DFF04F0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C122AA-6E8A-E9B8-4C61-9F4BE3545E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B4E791-EFB3-22C4-5791-D26AA83D2F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C5A99F-7B5E-059F-DC09-8A2216909945}"/>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8" name="Footer Placeholder 7">
            <a:extLst>
              <a:ext uri="{FF2B5EF4-FFF2-40B4-BE49-F238E27FC236}">
                <a16:creationId xmlns:a16="http://schemas.microsoft.com/office/drawing/2014/main" id="{CB37B056-D7B3-1F1E-D11D-906ED38C23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E738DB-4E94-9964-F4BF-44D141E47D68}"/>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3918413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68330-0D75-8B14-3808-BED4AE5459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55B6DB-5708-C972-6C40-F5E3B3C1DD31}"/>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4" name="Footer Placeholder 3">
            <a:extLst>
              <a:ext uri="{FF2B5EF4-FFF2-40B4-BE49-F238E27FC236}">
                <a16:creationId xmlns:a16="http://schemas.microsoft.com/office/drawing/2014/main" id="{26354FF1-FD3D-523D-2556-5BBA563751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6097D1-3784-1EB2-0FB5-B98EED09BC75}"/>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463612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A8FE15-EA92-2048-25C1-04F6D6223163}"/>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3" name="Footer Placeholder 2">
            <a:extLst>
              <a:ext uri="{FF2B5EF4-FFF2-40B4-BE49-F238E27FC236}">
                <a16:creationId xmlns:a16="http://schemas.microsoft.com/office/drawing/2014/main" id="{0C5932AA-12A5-603E-5CAA-5654CC5F88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D0D5BF-B78A-1C3B-A7D9-E2D6F1445F53}"/>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2766021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A581F-CFC3-1633-3B8A-AF1F4A2023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44C3F7-CA7B-4D20-8C8F-9D9661E81C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7AFFE1-8A98-A712-D3F2-0BF238458E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4A69A0-27D8-6A2A-46AB-FF404DE8C25A}"/>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6" name="Footer Placeholder 5">
            <a:extLst>
              <a:ext uri="{FF2B5EF4-FFF2-40B4-BE49-F238E27FC236}">
                <a16:creationId xmlns:a16="http://schemas.microsoft.com/office/drawing/2014/main" id="{4AE9B4C6-E776-73AC-E464-1851EC590A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032760-3C8E-69C3-2908-09ABD0AB46D2}"/>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3450387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7E2FB-79DC-082C-222F-4859527DE0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2FF2F8-D9DA-C84E-DAC0-F840C29CFB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9CEE74-4B98-22CD-B090-CB49BDF51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C9C12C-D015-E99A-B922-189C2D42B724}"/>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6" name="Footer Placeholder 5">
            <a:extLst>
              <a:ext uri="{FF2B5EF4-FFF2-40B4-BE49-F238E27FC236}">
                <a16:creationId xmlns:a16="http://schemas.microsoft.com/office/drawing/2014/main" id="{761CC734-F485-722D-2C77-D3B948B815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68980B-467D-0774-FBEC-B4FE5ABD6A51}"/>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77604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08DD9-8352-D29B-FE21-FFFEEBF22E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3DBF1AC-A346-43C8-ED05-9AA4D3928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09F7FD-EDDA-1964-1C35-6D566BA36769}"/>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5" name="Footer Placeholder 4">
            <a:extLst>
              <a:ext uri="{FF2B5EF4-FFF2-40B4-BE49-F238E27FC236}">
                <a16:creationId xmlns:a16="http://schemas.microsoft.com/office/drawing/2014/main" id="{96E759C7-1F2F-DBE6-5C95-BB8A2447B4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A62C82-4650-CD48-A236-D9B637756B15}"/>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4014705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F6068-89A5-432C-D9BB-85F64FBEED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8AAE86-3B82-61AD-7372-0BBF5161A6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E73D8C-5B78-7537-F50F-74E44D8CB358}"/>
              </a:ext>
            </a:extLst>
          </p:cNvPr>
          <p:cNvSpPr>
            <a:spLocks noGrp="1"/>
          </p:cNvSpPr>
          <p:nvPr>
            <p:ph type="dt" sz="half" idx="10"/>
          </p:nvPr>
        </p:nvSpPr>
        <p:spPr/>
        <p:txBody>
          <a:bodyPr/>
          <a:lstStyle/>
          <a:p>
            <a:fld id="{242F0969-FD9A-4D13-A8F6-8FC07EFC3CD5}" type="datetimeFigureOut">
              <a:rPr lang="en-US" smtClean="0"/>
              <a:t>8/16/26</a:t>
            </a:fld>
            <a:endParaRPr lang="en-US"/>
          </a:p>
        </p:txBody>
      </p:sp>
      <p:sp>
        <p:nvSpPr>
          <p:cNvPr id="5" name="Footer Placeholder 4">
            <a:extLst>
              <a:ext uri="{FF2B5EF4-FFF2-40B4-BE49-F238E27FC236}">
                <a16:creationId xmlns:a16="http://schemas.microsoft.com/office/drawing/2014/main" id="{52FD7885-500F-F57C-A2A6-C181F03AC1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1F53C-F856-8DB7-8703-4B0D89A2B4D8}"/>
              </a:ext>
            </a:extLst>
          </p:cNvPr>
          <p:cNvSpPr>
            <a:spLocks noGrp="1"/>
          </p:cNvSpPr>
          <p:nvPr>
            <p:ph type="sldNum" sz="quarter" idx="12"/>
          </p:nvPr>
        </p:nvSpPr>
        <p:spPr/>
        <p:txBody>
          <a:bodyPr/>
          <a:lstStyle/>
          <a:p>
            <a:fld id="{A0EAA499-466F-4C71-9453-BF8A9AA1B26D}" type="slidenum">
              <a:rPr lang="en-US" smtClean="0"/>
              <a:t>‹#›</a:t>
            </a:fld>
            <a:endParaRPr lang="en-US"/>
          </a:p>
        </p:txBody>
      </p:sp>
    </p:spTree>
    <p:extLst>
      <p:ext uri="{BB962C8B-B14F-4D97-AF65-F5344CB8AC3E}">
        <p14:creationId xmlns:p14="http://schemas.microsoft.com/office/powerpoint/2010/main" val="4161401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FA1010-40F8-6EC0-9ADB-4EF52A91D7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F51FB8-73C1-C018-967E-BBDC259EE6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25848-AF3E-6D5A-8A2F-9EA5B3AB79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2F0969-FD9A-4D13-A8F6-8FC07EFC3CD5}" type="datetimeFigureOut">
              <a:rPr lang="en-US" smtClean="0"/>
              <a:t>8/16/26</a:t>
            </a:fld>
            <a:endParaRPr lang="en-US"/>
          </a:p>
        </p:txBody>
      </p:sp>
      <p:sp>
        <p:nvSpPr>
          <p:cNvPr id="5" name="Footer Placeholder 4">
            <a:extLst>
              <a:ext uri="{FF2B5EF4-FFF2-40B4-BE49-F238E27FC236}">
                <a16:creationId xmlns:a16="http://schemas.microsoft.com/office/drawing/2014/main" id="{F6A46ADA-0C83-8392-597A-36B968F26F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B39487-7D68-8DFB-7303-6B57B59F27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EAA499-466F-4C71-9453-BF8A9AA1B26D}" type="slidenum">
              <a:rPr lang="en-US" smtClean="0"/>
              <a:t>‹#›</a:t>
            </a:fld>
            <a:endParaRPr lang="en-US"/>
          </a:p>
        </p:txBody>
      </p:sp>
    </p:spTree>
    <p:extLst>
      <p:ext uri="{BB962C8B-B14F-4D97-AF65-F5344CB8AC3E}">
        <p14:creationId xmlns:p14="http://schemas.microsoft.com/office/powerpoint/2010/main" val="1012380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jayce-o.blogspot.com/2013/09/50-top-examples-of-thank-you-cards.html" TargetMode="External"/><Relationship Id="rId2" Type="http://schemas.openxmlformats.org/officeDocument/2006/relationships/image" Target="../media/image10.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0E354-7843-8177-A023-DE275CC806AD}"/>
              </a:ext>
            </a:extLst>
          </p:cNvPr>
          <p:cNvSpPr>
            <a:spLocks noGrp="1"/>
          </p:cNvSpPr>
          <p:nvPr>
            <p:ph type="ctrTitle"/>
          </p:nvPr>
        </p:nvSpPr>
        <p:spPr/>
        <p:txBody>
          <a:bodyPr/>
          <a:lstStyle/>
          <a:p>
            <a:r>
              <a:rPr lang="en-US" dirty="0"/>
              <a:t>SARS </a:t>
            </a:r>
            <a:r>
              <a:rPr lang="en-US" dirty="0" err="1"/>
              <a:t>CoV</a:t>
            </a:r>
            <a:r>
              <a:rPr lang="en-US" dirty="0"/>
              <a:t> 1 &amp; 2 Infections</a:t>
            </a:r>
          </a:p>
        </p:txBody>
      </p:sp>
      <p:sp>
        <p:nvSpPr>
          <p:cNvPr id="3" name="Subtitle 2">
            <a:extLst>
              <a:ext uri="{FF2B5EF4-FFF2-40B4-BE49-F238E27FC236}">
                <a16:creationId xmlns:a16="http://schemas.microsoft.com/office/drawing/2014/main" id="{90EC9934-24C5-E19A-3393-EFC108ADD30E}"/>
              </a:ext>
            </a:extLst>
          </p:cNvPr>
          <p:cNvSpPr>
            <a:spLocks noGrp="1"/>
          </p:cNvSpPr>
          <p:nvPr>
            <p:ph type="subTitle" idx="1"/>
          </p:nvPr>
        </p:nvSpPr>
        <p:spPr/>
        <p:txBody>
          <a:bodyPr/>
          <a:lstStyle/>
          <a:p>
            <a:endParaRPr lang="en-US" dirty="0"/>
          </a:p>
          <a:p>
            <a:r>
              <a:rPr lang="en-US" sz="2800" dirty="0"/>
              <a:t>Presenter: Dr. Leina Hipoliti</a:t>
            </a:r>
          </a:p>
          <a:p>
            <a:r>
              <a:rPr lang="en-US" sz="2800" dirty="0"/>
              <a:t>Facilitator: Dr. Moledina</a:t>
            </a:r>
          </a:p>
        </p:txBody>
      </p:sp>
    </p:spTree>
    <p:extLst>
      <p:ext uri="{BB962C8B-B14F-4D97-AF65-F5344CB8AC3E}">
        <p14:creationId xmlns:p14="http://schemas.microsoft.com/office/powerpoint/2010/main" val="1560547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8E9E3-3120-7F0D-14B3-0DA002C71278}"/>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57FA010E-5FED-DFCE-E8E4-69F6F072E593}"/>
              </a:ext>
            </a:extLst>
          </p:cNvPr>
          <p:cNvSpPr>
            <a:spLocks noGrp="1"/>
          </p:cNvSpPr>
          <p:nvPr>
            <p:ph idx="1"/>
          </p:nvPr>
        </p:nvSpPr>
        <p:spPr>
          <a:xfrm>
            <a:off x="838200" y="1825625"/>
            <a:ext cx="10515600" cy="4741430"/>
          </a:xfrm>
        </p:spPr>
        <p:txBody>
          <a:bodyPr/>
          <a:lstStyle/>
          <a:p>
            <a:r>
              <a:rPr lang="en-US" dirty="0"/>
              <a:t>Virology and Immunology</a:t>
            </a:r>
          </a:p>
          <a:p>
            <a:r>
              <a:rPr lang="en-US" dirty="0"/>
              <a:t>Immune Responses</a:t>
            </a:r>
          </a:p>
          <a:p>
            <a:r>
              <a:rPr lang="en-US" dirty="0"/>
              <a:t>Epidemiology</a:t>
            </a:r>
          </a:p>
          <a:p>
            <a:r>
              <a:rPr lang="en-US" dirty="0"/>
              <a:t>Clinical Features</a:t>
            </a:r>
          </a:p>
          <a:p>
            <a:r>
              <a:rPr lang="en-US" dirty="0"/>
              <a:t>Complications</a:t>
            </a:r>
          </a:p>
          <a:p>
            <a:r>
              <a:rPr lang="en-US" dirty="0"/>
              <a:t>Recovery and Long-Term Sequelae</a:t>
            </a:r>
          </a:p>
          <a:p>
            <a:r>
              <a:rPr lang="en-US" dirty="0"/>
              <a:t>Diagnosis</a:t>
            </a:r>
          </a:p>
          <a:p>
            <a:r>
              <a:rPr lang="en-US" dirty="0"/>
              <a:t>Management as Out-Patient and In-Patient</a:t>
            </a:r>
          </a:p>
          <a:p>
            <a:r>
              <a:rPr lang="en-US" dirty="0"/>
              <a:t>Discussion Qn</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52321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9343A-FEB7-EECB-6A15-D16251A706FB}"/>
              </a:ext>
            </a:extLst>
          </p:cNvPr>
          <p:cNvSpPr>
            <a:spLocks noGrp="1"/>
          </p:cNvSpPr>
          <p:nvPr>
            <p:ph type="title"/>
          </p:nvPr>
        </p:nvSpPr>
        <p:spPr/>
        <p:txBody>
          <a:bodyPr/>
          <a:lstStyle/>
          <a:p>
            <a:r>
              <a:rPr lang="en-US" dirty="0"/>
              <a:t>Virology and Immunology</a:t>
            </a:r>
          </a:p>
        </p:txBody>
      </p:sp>
      <p:sp>
        <p:nvSpPr>
          <p:cNvPr id="3" name="Content Placeholder 2">
            <a:extLst>
              <a:ext uri="{FF2B5EF4-FFF2-40B4-BE49-F238E27FC236}">
                <a16:creationId xmlns:a16="http://schemas.microsoft.com/office/drawing/2014/main" id="{0A1BF01C-BC32-1899-5256-4F1038FFBEBB}"/>
              </a:ext>
            </a:extLst>
          </p:cNvPr>
          <p:cNvSpPr>
            <a:spLocks noGrp="1"/>
          </p:cNvSpPr>
          <p:nvPr>
            <p:ph idx="1"/>
          </p:nvPr>
        </p:nvSpPr>
        <p:spPr/>
        <p:txBody>
          <a:bodyPr/>
          <a:lstStyle/>
          <a:p>
            <a:r>
              <a:rPr lang="en-US" dirty="0"/>
              <a:t>Coronaviruses are enveloped, positive-sense, </a:t>
            </a:r>
            <a:r>
              <a:rPr lang="en-US" dirty="0" err="1"/>
              <a:t>ssRNA</a:t>
            </a:r>
            <a:r>
              <a:rPr lang="en-US" dirty="0"/>
              <a:t> viruses.</a:t>
            </a:r>
          </a:p>
          <a:p>
            <a:endParaRPr lang="en-US" dirty="0"/>
          </a:p>
          <a:p>
            <a:r>
              <a:rPr lang="en-US" dirty="0"/>
              <a:t>Belong to genus </a:t>
            </a:r>
            <a:r>
              <a:rPr lang="en-US" dirty="0" err="1"/>
              <a:t>Betacoronavirus</a:t>
            </a:r>
            <a:r>
              <a:rPr lang="en-US" dirty="0"/>
              <a:t>.</a:t>
            </a:r>
          </a:p>
          <a:p>
            <a:endParaRPr lang="en-US" dirty="0"/>
          </a:p>
          <a:p>
            <a:r>
              <a:rPr lang="en-US" dirty="0"/>
              <a:t>Cause respiratory disease (mild – severe)</a:t>
            </a:r>
          </a:p>
          <a:p>
            <a:pPr lvl="1">
              <a:buFontTx/>
              <a:buChar char="-"/>
            </a:pPr>
            <a:r>
              <a:rPr lang="en-US" dirty="0"/>
              <a:t>SARS-CoV-1: caused 2002 – 2004 SARS outbreak</a:t>
            </a:r>
          </a:p>
          <a:p>
            <a:pPr lvl="1">
              <a:buFontTx/>
              <a:buChar char="-"/>
            </a:pPr>
            <a:r>
              <a:rPr lang="en-US" dirty="0">
                <a:highlight>
                  <a:srgbClr val="FFFF00"/>
                </a:highlight>
              </a:rPr>
              <a:t>SARS-CoV-2: causes COVID-19 pandemic</a:t>
            </a:r>
          </a:p>
          <a:p>
            <a:endParaRPr lang="en-US" dirty="0"/>
          </a:p>
        </p:txBody>
      </p:sp>
    </p:spTree>
    <p:extLst>
      <p:ext uri="{BB962C8B-B14F-4D97-AF65-F5344CB8AC3E}">
        <p14:creationId xmlns:p14="http://schemas.microsoft.com/office/powerpoint/2010/main" val="507708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AFC4-1C99-BC9B-6F48-68579B0B7109}"/>
              </a:ext>
            </a:extLst>
          </p:cNvPr>
          <p:cNvSpPr>
            <a:spLocks noGrp="1"/>
          </p:cNvSpPr>
          <p:nvPr>
            <p:ph type="title"/>
          </p:nvPr>
        </p:nvSpPr>
        <p:spPr/>
        <p:txBody>
          <a:bodyPr/>
          <a:lstStyle/>
          <a:p>
            <a:r>
              <a:rPr lang="en-US" dirty="0"/>
              <a:t>Virology and Immunology</a:t>
            </a:r>
          </a:p>
        </p:txBody>
      </p:sp>
      <p:sp>
        <p:nvSpPr>
          <p:cNvPr id="3" name="Content Placeholder 2">
            <a:extLst>
              <a:ext uri="{FF2B5EF4-FFF2-40B4-BE49-F238E27FC236}">
                <a16:creationId xmlns:a16="http://schemas.microsoft.com/office/drawing/2014/main" id="{2F857057-F4F7-A8B0-06BD-AD7FA88F48D3}"/>
              </a:ext>
            </a:extLst>
          </p:cNvPr>
          <p:cNvSpPr>
            <a:spLocks noGrp="1"/>
          </p:cNvSpPr>
          <p:nvPr>
            <p:ph idx="1"/>
          </p:nvPr>
        </p:nvSpPr>
        <p:spPr/>
        <p:txBody>
          <a:bodyPr>
            <a:normAutofit fontScale="92500" lnSpcReduction="10000"/>
          </a:bodyPr>
          <a:lstStyle/>
          <a:p>
            <a:r>
              <a:rPr lang="en-US" dirty="0"/>
              <a:t>Both use ACE2 receptor for cell entry (high in lungs, gut, heart, kidneys).</a:t>
            </a:r>
          </a:p>
          <a:p>
            <a:endParaRPr lang="en-US" dirty="0"/>
          </a:p>
          <a:p>
            <a:r>
              <a:rPr lang="en-US" dirty="0"/>
              <a:t>TMPRSS2 – used by delta variant while omicron variant uses cathepsin-dependent endocytosis.</a:t>
            </a:r>
          </a:p>
          <a:p>
            <a:pPr marL="0" indent="0">
              <a:buNone/>
            </a:pPr>
            <a:endParaRPr lang="en-US" dirty="0"/>
          </a:p>
          <a:p>
            <a:r>
              <a:rPr lang="en-US" dirty="0"/>
              <a:t>They bind through receptor binding domain of their spike protein.</a:t>
            </a:r>
          </a:p>
          <a:p>
            <a:endParaRPr lang="en-US" dirty="0"/>
          </a:p>
          <a:p>
            <a:r>
              <a:rPr lang="en-US" dirty="0">
                <a:highlight>
                  <a:srgbClr val="FFFF00"/>
                </a:highlight>
              </a:rPr>
              <a:t>SARS-CoV-2 antivirals target one of two important viral proteins: </a:t>
            </a:r>
            <a:r>
              <a:rPr lang="en-US" dirty="0" err="1">
                <a:highlight>
                  <a:srgbClr val="FFFF00"/>
                </a:highlight>
              </a:rPr>
              <a:t>RdRp</a:t>
            </a:r>
            <a:r>
              <a:rPr lang="en-US" dirty="0">
                <a:highlight>
                  <a:srgbClr val="FFFF00"/>
                </a:highlight>
              </a:rPr>
              <a:t> (remdesivir, </a:t>
            </a:r>
            <a:r>
              <a:rPr lang="en-US" dirty="0" err="1">
                <a:highlight>
                  <a:srgbClr val="FFFF00"/>
                </a:highlight>
              </a:rPr>
              <a:t>molnupiravir</a:t>
            </a:r>
            <a:r>
              <a:rPr lang="en-US" dirty="0">
                <a:highlight>
                  <a:srgbClr val="FFFF00"/>
                </a:highlight>
              </a:rPr>
              <a:t>) and 3CL protease (ritonavir-boosted nirmatrelvir</a:t>
            </a:r>
            <a:r>
              <a:rPr lang="en-US" dirty="0"/>
              <a:t>)</a:t>
            </a:r>
          </a:p>
          <a:p>
            <a:endParaRPr lang="en-US" dirty="0"/>
          </a:p>
          <a:p>
            <a:endParaRPr lang="en-US" dirty="0"/>
          </a:p>
        </p:txBody>
      </p:sp>
    </p:spTree>
    <p:extLst>
      <p:ext uri="{BB962C8B-B14F-4D97-AF65-F5344CB8AC3E}">
        <p14:creationId xmlns:p14="http://schemas.microsoft.com/office/powerpoint/2010/main" val="3416811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9DF6E-A2C2-6E40-BEB2-4ED943239E2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CC0A5CB-6B3C-F780-1E52-AE3D2E9A3093}"/>
              </a:ext>
            </a:extLst>
          </p:cNvPr>
          <p:cNvPicPr>
            <a:picLocks noGrp="1" noChangeAspect="1"/>
          </p:cNvPicPr>
          <p:nvPr>
            <p:ph idx="1"/>
          </p:nvPr>
        </p:nvPicPr>
        <p:blipFill>
          <a:blip r:embed="rId2"/>
          <a:stretch>
            <a:fillRect/>
          </a:stretch>
        </p:blipFill>
        <p:spPr>
          <a:xfrm>
            <a:off x="2394364" y="1825625"/>
            <a:ext cx="7403271" cy="4351338"/>
          </a:xfrm>
          <a:prstGeom prst="rect">
            <a:avLst/>
          </a:prstGeom>
        </p:spPr>
      </p:pic>
      <p:sp>
        <p:nvSpPr>
          <p:cNvPr id="6" name="TextBox 5">
            <a:extLst>
              <a:ext uri="{FF2B5EF4-FFF2-40B4-BE49-F238E27FC236}">
                <a16:creationId xmlns:a16="http://schemas.microsoft.com/office/drawing/2014/main" id="{52EFA156-706D-6D29-6AFD-3F1F34B17033}"/>
              </a:ext>
            </a:extLst>
          </p:cNvPr>
          <p:cNvSpPr txBox="1"/>
          <p:nvPr/>
        </p:nvSpPr>
        <p:spPr>
          <a:xfrm>
            <a:off x="1491673" y="6308209"/>
            <a:ext cx="7818582" cy="369332"/>
          </a:xfrm>
          <a:prstGeom prst="rect">
            <a:avLst/>
          </a:prstGeom>
          <a:noFill/>
        </p:spPr>
        <p:txBody>
          <a:bodyPr wrap="square" rtlCol="0">
            <a:spAutoFit/>
          </a:bodyPr>
          <a:lstStyle/>
          <a:p>
            <a:r>
              <a:rPr lang="en-US" dirty="0"/>
              <a:t>Uptodate.com</a:t>
            </a:r>
          </a:p>
        </p:txBody>
      </p:sp>
    </p:spTree>
    <p:extLst>
      <p:ext uri="{BB962C8B-B14F-4D97-AF65-F5344CB8AC3E}">
        <p14:creationId xmlns:p14="http://schemas.microsoft.com/office/powerpoint/2010/main" val="784722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89A5A-C779-0142-DC90-3FF857012476}"/>
              </a:ext>
            </a:extLst>
          </p:cNvPr>
          <p:cNvSpPr>
            <a:spLocks noGrp="1"/>
          </p:cNvSpPr>
          <p:nvPr>
            <p:ph type="title"/>
          </p:nvPr>
        </p:nvSpPr>
        <p:spPr/>
        <p:txBody>
          <a:bodyPr/>
          <a:lstStyle/>
          <a:p>
            <a:r>
              <a:rPr lang="en-US" dirty="0"/>
              <a:t>Immune Responses</a:t>
            </a:r>
          </a:p>
        </p:txBody>
      </p:sp>
      <p:sp>
        <p:nvSpPr>
          <p:cNvPr id="3" name="Content Placeholder 2">
            <a:extLst>
              <a:ext uri="{FF2B5EF4-FFF2-40B4-BE49-F238E27FC236}">
                <a16:creationId xmlns:a16="http://schemas.microsoft.com/office/drawing/2014/main" id="{3BF4442A-A91F-2995-5A05-48ACDE992748}"/>
              </a:ext>
            </a:extLst>
          </p:cNvPr>
          <p:cNvSpPr>
            <a:spLocks noGrp="1"/>
          </p:cNvSpPr>
          <p:nvPr>
            <p:ph idx="1"/>
          </p:nvPr>
        </p:nvSpPr>
        <p:spPr/>
        <p:txBody>
          <a:bodyPr/>
          <a:lstStyle/>
          <a:p>
            <a:pPr marL="0" indent="0">
              <a:buNone/>
            </a:pPr>
            <a:r>
              <a:rPr lang="en-US" dirty="0"/>
              <a:t>Humoral Immunity</a:t>
            </a:r>
          </a:p>
          <a:p>
            <a:r>
              <a:rPr lang="en-US" dirty="0"/>
              <a:t>Patients develop protective antibodies to the receptor binding protein domain of the viral spike protein and associated neutralizing activity.</a:t>
            </a:r>
          </a:p>
          <a:p>
            <a:endParaRPr lang="en-US" dirty="0"/>
          </a:p>
          <a:p>
            <a:r>
              <a:rPr lang="en-US" dirty="0">
                <a:highlight>
                  <a:srgbClr val="FFFF00"/>
                </a:highlight>
              </a:rPr>
              <a:t>Some studies report detectable neutralizing activity up to 12 months</a:t>
            </a:r>
            <a:r>
              <a:rPr lang="en-US" dirty="0"/>
              <a:t>.</a:t>
            </a:r>
          </a:p>
          <a:p>
            <a:endParaRPr lang="en-US" dirty="0"/>
          </a:p>
          <a:p>
            <a:r>
              <a:rPr lang="en-US" dirty="0"/>
              <a:t>Antibodies and neutralizing activity confer protection from subsequent infection but not from a different variant.</a:t>
            </a:r>
          </a:p>
        </p:txBody>
      </p:sp>
      <p:sp>
        <p:nvSpPr>
          <p:cNvPr id="4" name="TextBox 3">
            <a:extLst>
              <a:ext uri="{FF2B5EF4-FFF2-40B4-BE49-F238E27FC236}">
                <a16:creationId xmlns:a16="http://schemas.microsoft.com/office/drawing/2014/main" id="{E416C0A5-362E-B00B-FCE7-D19869A36754}"/>
              </a:ext>
            </a:extLst>
          </p:cNvPr>
          <p:cNvSpPr txBox="1"/>
          <p:nvPr/>
        </p:nvSpPr>
        <p:spPr>
          <a:xfrm>
            <a:off x="480291" y="5807631"/>
            <a:ext cx="11554691" cy="1200329"/>
          </a:xfrm>
          <a:prstGeom prst="rect">
            <a:avLst/>
          </a:prstGeom>
          <a:noFill/>
        </p:spPr>
        <p:txBody>
          <a:bodyPr wrap="square" rtlCol="0">
            <a:spAutoFit/>
          </a:bodyPr>
          <a:lstStyle/>
          <a:p>
            <a:r>
              <a:rPr lang="en-US" dirty="0"/>
              <a:t>Crawford KHD, </a:t>
            </a:r>
            <a:r>
              <a:rPr lang="en-US" dirty="0" err="1"/>
              <a:t>Dingens</a:t>
            </a:r>
            <a:r>
              <a:rPr lang="en-US" dirty="0"/>
              <a:t> AS, Eguia R, Wolf CR, Wilcox N, Logue JK, Shuey K, Casto AM, Fiala B, Wrenn S, Pettie D, King NP, Greninger AL, Chu HY, Bloom JD. Dynamics of Neutralizing Antibody Titers in the Months After Severe Acute Respiratory Syndrome Coronavirus 2 Infection. J Infect Dis. 2021 Feb 3;223(2):197-205. </a:t>
            </a:r>
            <a:r>
              <a:rPr lang="en-US" dirty="0" err="1"/>
              <a:t>doi</a:t>
            </a:r>
            <a:r>
              <a:rPr lang="en-US" dirty="0"/>
              <a:t>: 10.1093/</a:t>
            </a:r>
            <a:r>
              <a:rPr lang="en-US" dirty="0" err="1"/>
              <a:t>infdis</a:t>
            </a:r>
            <a:r>
              <a:rPr lang="en-US" dirty="0"/>
              <a:t>/jiaa618. PMID: 33535236; PMCID: PMC7543487.</a:t>
            </a:r>
          </a:p>
        </p:txBody>
      </p:sp>
    </p:spTree>
    <p:extLst>
      <p:ext uri="{BB962C8B-B14F-4D97-AF65-F5344CB8AC3E}">
        <p14:creationId xmlns:p14="http://schemas.microsoft.com/office/powerpoint/2010/main" val="2179232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50DA7-D9B8-FCCD-9D56-1EDE600CB93C}"/>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ADE52C7C-89F6-77C3-B6C1-B9C39B89701D}"/>
              </a:ext>
            </a:extLst>
          </p:cNvPr>
          <p:cNvSpPr>
            <a:spLocks noGrp="1"/>
          </p:cNvSpPr>
          <p:nvPr>
            <p:ph idx="1"/>
          </p:nvPr>
        </p:nvSpPr>
        <p:spPr/>
        <p:txBody>
          <a:bodyPr/>
          <a:lstStyle/>
          <a:p>
            <a:pPr marL="0" indent="0">
              <a:buNone/>
            </a:pPr>
            <a:r>
              <a:rPr lang="en-US" dirty="0"/>
              <a:t>Cell-mediated Immunity</a:t>
            </a:r>
          </a:p>
          <a:p>
            <a:r>
              <a:rPr lang="en-US" dirty="0"/>
              <a:t>Studies have identified SARS-CoV-2 specific CD4 and CD8 T-cell responses in patients who had recovered from COVID-19.</a:t>
            </a:r>
          </a:p>
          <a:p>
            <a:endParaRPr lang="en-US" dirty="0"/>
          </a:p>
          <a:p>
            <a:endParaRPr lang="en-US" dirty="0"/>
          </a:p>
          <a:p>
            <a:r>
              <a:rPr lang="en-US" dirty="0"/>
              <a:t>These cells were also noted in individuals who received COVID-19 vaccination.</a:t>
            </a:r>
          </a:p>
        </p:txBody>
      </p:sp>
      <p:sp>
        <p:nvSpPr>
          <p:cNvPr id="4" name="TextBox 3">
            <a:extLst>
              <a:ext uri="{FF2B5EF4-FFF2-40B4-BE49-F238E27FC236}">
                <a16:creationId xmlns:a16="http://schemas.microsoft.com/office/drawing/2014/main" id="{AE8E6A0F-70DB-9679-912D-2FD542B4F81B}"/>
              </a:ext>
            </a:extLst>
          </p:cNvPr>
          <p:cNvSpPr txBox="1"/>
          <p:nvPr/>
        </p:nvSpPr>
        <p:spPr>
          <a:xfrm>
            <a:off x="678874" y="5643418"/>
            <a:ext cx="10917382" cy="1200329"/>
          </a:xfrm>
          <a:prstGeom prst="rect">
            <a:avLst/>
          </a:prstGeom>
          <a:noFill/>
        </p:spPr>
        <p:txBody>
          <a:bodyPr wrap="square" rtlCol="0">
            <a:spAutoFit/>
          </a:bodyPr>
          <a:lstStyle/>
          <a:p>
            <a:r>
              <a:rPr lang="en-US" dirty="0"/>
              <a:t>Dan JM, Mateus J, Kato Y, Hastie KM, Yu ED, </a:t>
            </a:r>
            <a:r>
              <a:rPr lang="en-US" dirty="0" err="1"/>
              <a:t>Faliti</a:t>
            </a:r>
            <a:r>
              <a:rPr lang="en-US" dirty="0"/>
              <a:t> CE, </a:t>
            </a:r>
            <a:r>
              <a:rPr lang="en-US" dirty="0" err="1"/>
              <a:t>Grifoni</a:t>
            </a:r>
            <a:r>
              <a:rPr lang="en-US" dirty="0"/>
              <a:t> A, Ramirez SI, Haupt S, Frazier A, Nakao C, </a:t>
            </a:r>
            <a:r>
              <a:rPr lang="en-US" dirty="0" err="1"/>
              <a:t>Rayaprolu</a:t>
            </a:r>
            <a:r>
              <a:rPr lang="en-US" dirty="0"/>
              <a:t> V, Rawlings SA, Peters B, Krammer F, Simon V, Saphire EO, Smith DM, Weiskopf D, Sette A, Crotty S. Immunological memory to SARS-CoV-2 assessed for up to 8 months after infection. Science. 2021 Feb 5;371(6529):eabf4063. </a:t>
            </a:r>
            <a:r>
              <a:rPr lang="en-US" dirty="0" err="1"/>
              <a:t>doi</a:t>
            </a:r>
            <a:r>
              <a:rPr lang="en-US" dirty="0"/>
              <a:t>: 10.1126/science.abf4063. </a:t>
            </a:r>
            <a:r>
              <a:rPr lang="en-US" dirty="0" err="1"/>
              <a:t>Epub</a:t>
            </a:r>
            <a:r>
              <a:rPr lang="en-US" dirty="0"/>
              <a:t> 2021 Jan 6. PMID: 33408181; PMCID: PMC7919858.</a:t>
            </a:r>
          </a:p>
        </p:txBody>
      </p:sp>
    </p:spTree>
    <p:extLst>
      <p:ext uri="{BB962C8B-B14F-4D97-AF65-F5344CB8AC3E}">
        <p14:creationId xmlns:p14="http://schemas.microsoft.com/office/powerpoint/2010/main" val="1385883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8DCFA-AE20-4442-AEC8-FBFEB0468366}"/>
              </a:ext>
            </a:extLst>
          </p:cNvPr>
          <p:cNvSpPr>
            <a:spLocks noGrp="1"/>
          </p:cNvSpPr>
          <p:nvPr>
            <p:ph type="title"/>
          </p:nvPr>
        </p:nvSpPr>
        <p:spPr/>
        <p:txBody>
          <a:bodyPr/>
          <a:lstStyle/>
          <a:p>
            <a:r>
              <a:rPr lang="en-US" dirty="0"/>
              <a:t>Epidemiology</a:t>
            </a:r>
          </a:p>
        </p:txBody>
      </p:sp>
      <p:sp>
        <p:nvSpPr>
          <p:cNvPr id="3" name="Content Placeholder 2">
            <a:extLst>
              <a:ext uri="{FF2B5EF4-FFF2-40B4-BE49-F238E27FC236}">
                <a16:creationId xmlns:a16="http://schemas.microsoft.com/office/drawing/2014/main" id="{C1D62900-7D8C-D62C-C528-2E249C74247D}"/>
              </a:ext>
            </a:extLst>
          </p:cNvPr>
          <p:cNvSpPr>
            <a:spLocks noGrp="1"/>
          </p:cNvSpPr>
          <p:nvPr>
            <p:ph idx="1"/>
          </p:nvPr>
        </p:nvSpPr>
        <p:spPr/>
        <p:txBody>
          <a:bodyPr/>
          <a:lstStyle/>
          <a:p>
            <a:r>
              <a:rPr lang="en-US" dirty="0"/>
              <a:t>Since the first reports of SARS-CoV-2, infection has spread to every corner of the globe.</a:t>
            </a:r>
          </a:p>
          <a:p>
            <a:endParaRPr lang="en-US" dirty="0"/>
          </a:p>
          <a:p>
            <a:r>
              <a:rPr lang="en-US" dirty="0"/>
              <a:t>Cases occur year-round, peaks and hospitalizations occur particularly in the winter and to a lesser degree in the summer.</a:t>
            </a:r>
          </a:p>
          <a:p>
            <a:endParaRPr lang="en-US" dirty="0"/>
          </a:p>
          <a:p>
            <a:r>
              <a:rPr lang="en-US" dirty="0">
                <a:highlight>
                  <a:srgbClr val="FFFF00"/>
                </a:highlight>
              </a:rPr>
              <a:t>Risk for severe disease include – older age, certain medical comorbidities e.g., immunocompromise, pregnancy and lack of vaccination</a:t>
            </a:r>
            <a:r>
              <a:rPr lang="en-US" dirty="0"/>
              <a:t>.</a:t>
            </a:r>
          </a:p>
        </p:txBody>
      </p:sp>
    </p:spTree>
    <p:extLst>
      <p:ext uri="{BB962C8B-B14F-4D97-AF65-F5344CB8AC3E}">
        <p14:creationId xmlns:p14="http://schemas.microsoft.com/office/powerpoint/2010/main" val="1800345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D2E76-5564-5410-4C73-CACED30EC147}"/>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AFE8EF73-CFFE-30E4-6AF2-D29EB5890BA2}"/>
              </a:ext>
            </a:extLst>
          </p:cNvPr>
          <p:cNvSpPr>
            <a:spLocks noGrp="1"/>
          </p:cNvSpPr>
          <p:nvPr>
            <p:ph idx="1"/>
          </p:nvPr>
        </p:nvSpPr>
        <p:spPr/>
        <p:txBody>
          <a:bodyPr/>
          <a:lstStyle/>
          <a:p>
            <a:r>
              <a:rPr lang="en-US" dirty="0"/>
              <a:t>Risk of reinfection – Common especially more than 180 days after previous infection (with a different SARS-CoV-2 </a:t>
            </a:r>
            <a:r>
              <a:rPr lang="en-US" dirty="0" err="1"/>
              <a:t>sublineage</a:t>
            </a:r>
            <a:r>
              <a:rPr lang="en-US" dirty="0"/>
              <a:t> than the one responsible for initial infection).</a:t>
            </a:r>
          </a:p>
          <a:p>
            <a:endParaRPr lang="en-US" dirty="0"/>
          </a:p>
          <a:p>
            <a:r>
              <a:rPr lang="en-US" dirty="0"/>
              <a:t>Transmission – Person to person by respiratory/airborne transmission as primary route.</a:t>
            </a:r>
          </a:p>
          <a:p>
            <a:endParaRPr lang="en-US" dirty="0"/>
          </a:p>
          <a:p>
            <a:r>
              <a:rPr lang="en-US" dirty="0"/>
              <a:t>Proximity to index case and time for exposure are the main determinants of transmission.</a:t>
            </a:r>
          </a:p>
        </p:txBody>
      </p:sp>
      <p:sp>
        <p:nvSpPr>
          <p:cNvPr id="4" name="TextBox 3">
            <a:extLst>
              <a:ext uri="{FF2B5EF4-FFF2-40B4-BE49-F238E27FC236}">
                <a16:creationId xmlns:a16="http://schemas.microsoft.com/office/drawing/2014/main" id="{13CE80AC-8A83-4E84-015F-7BC634C30DE5}"/>
              </a:ext>
            </a:extLst>
          </p:cNvPr>
          <p:cNvSpPr txBox="1"/>
          <p:nvPr/>
        </p:nvSpPr>
        <p:spPr>
          <a:xfrm>
            <a:off x="683491" y="5845586"/>
            <a:ext cx="10709564" cy="923330"/>
          </a:xfrm>
          <a:prstGeom prst="rect">
            <a:avLst/>
          </a:prstGeom>
          <a:noFill/>
        </p:spPr>
        <p:txBody>
          <a:bodyPr wrap="square" rtlCol="0">
            <a:spAutoFit/>
          </a:bodyPr>
          <a:lstStyle/>
          <a:p>
            <a:r>
              <a:rPr lang="en-US" dirty="0"/>
              <a:t>Hu M, Lin H, Wang J, Xu C, Tatem AJ, Meng B, Zhang X, Liu Y, Wang P, Wu G, Xie H, Lai S. Risk of Coronavirus Disease 2019 Transmission in Train Passengers: an Epidemiological and Modeling Study. Clin Infect Dis. 2021 Feb 16;72(4):604-610. </a:t>
            </a:r>
            <a:r>
              <a:rPr lang="en-US" dirty="0" err="1"/>
              <a:t>doi</a:t>
            </a:r>
            <a:r>
              <a:rPr lang="en-US" dirty="0"/>
              <a:t>: 10.1093/</a:t>
            </a:r>
            <a:r>
              <a:rPr lang="en-US" dirty="0" err="1"/>
              <a:t>cid</a:t>
            </a:r>
            <a:r>
              <a:rPr lang="en-US" dirty="0"/>
              <a:t>/ciaa1057. PMID: 32726405; PMCID: PMC7454391.</a:t>
            </a:r>
          </a:p>
        </p:txBody>
      </p:sp>
    </p:spTree>
    <p:extLst>
      <p:ext uri="{BB962C8B-B14F-4D97-AF65-F5344CB8AC3E}">
        <p14:creationId xmlns:p14="http://schemas.microsoft.com/office/powerpoint/2010/main" val="18918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EBCAC-E696-5E08-638D-19C882D58CD0}"/>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45CD734D-8582-C4E2-3DB3-8515D4A577D2}"/>
              </a:ext>
            </a:extLst>
          </p:cNvPr>
          <p:cNvSpPr>
            <a:spLocks noGrp="1"/>
          </p:cNvSpPr>
          <p:nvPr>
            <p:ph idx="1"/>
          </p:nvPr>
        </p:nvSpPr>
        <p:spPr/>
        <p:txBody>
          <a:bodyPr/>
          <a:lstStyle/>
          <a:p>
            <a:r>
              <a:rPr lang="en-US" dirty="0"/>
              <a:t>Minimal role of other person-to-person routes – Include detection of SARS-CoV-2 in non-respiratory specimens like stool, blood, ocular secretions and semen.</a:t>
            </a:r>
          </a:p>
          <a:p>
            <a:endParaRPr lang="en-US" dirty="0"/>
          </a:p>
          <a:p>
            <a:r>
              <a:rPr lang="en-US" dirty="0"/>
              <a:t>No evidence that SARS-CoV-2 can be transmitted through contact with </a:t>
            </a:r>
            <a:r>
              <a:rPr lang="en-US" dirty="0" err="1"/>
              <a:t>nonmucous</a:t>
            </a:r>
            <a:r>
              <a:rPr lang="en-US" dirty="0"/>
              <a:t> membrane sites (e.g., abraded skin).</a:t>
            </a:r>
          </a:p>
          <a:p>
            <a:endParaRPr lang="en-US" dirty="0"/>
          </a:p>
          <a:p>
            <a:r>
              <a:rPr lang="en-US" dirty="0"/>
              <a:t>Discussion qn – Is there risk for vertical transmission?</a:t>
            </a:r>
          </a:p>
        </p:txBody>
      </p:sp>
      <p:sp>
        <p:nvSpPr>
          <p:cNvPr id="4" name="TextBox 3">
            <a:extLst>
              <a:ext uri="{FF2B5EF4-FFF2-40B4-BE49-F238E27FC236}">
                <a16:creationId xmlns:a16="http://schemas.microsoft.com/office/drawing/2014/main" id="{6FAC2593-65CA-5682-7F66-6443CBD735D7}"/>
              </a:ext>
            </a:extLst>
          </p:cNvPr>
          <p:cNvSpPr txBox="1"/>
          <p:nvPr/>
        </p:nvSpPr>
        <p:spPr>
          <a:xfrm>
            <a:off x="618836" y="5412510"/>
            <a:ext cx="11088254" cy="1200329"/>
          </a:xfrm>
          <a:prstGeom prst="rect">
            <a:avLst/>
          </a:prstGeom>
          <a:noFill/>
        </p:spPr>
        <p:txBody>
          <a:bodyPr wrap="square" rtlCol="0">
            <a:spAutoFit/>
          </a:bodyPr>
          <a:lstStyle/>
          <a:p>
            <a:r>
              <a:rPr lang="en-US" dirty="0" err="1"/>
              <a:t>Kirtsman</a:t>
            </a:r>
            <a:r>
              <a:rPr lang="en-US" dirty="0"/>
              <a:t> M, </a:t>
            </a:r>
            <a:r>
              <a:rPr lang="en-US" dirty="0" err="1"/>
              <a:t>Diambomba</a:t>
            </a:r>
            <a:r>
              <a:rPr lang="en-US" dirty="0"/>
              <a:t> Y, Poutanen SM, Malinowski AK, </a:t>
            </a:r>
            <a:r>
              <a:rPr lang="en-US" dirty="0" err="1"/>
              <a:t>Vlachodimitropoulou</a:t>
            </a:r>
            <a:r>
              <a:rPr lang="en-US" dirty="0"/>
              <a:t> E, Parks WT, Erdman L, Morris SK, Shah PS. Probable congenital SARS-CoV-2 infection in a neonate born to a woman with active SARS-CoV-2 infection. CMAJ. 2020 Jun 15;192(24):E647-E650. </a:t>
            </a:r>
            <a:r>
              <a:rPr lang="en-US" dirty="0" err="1"/>
              <a:t>doi</a:t>
            </a:r>
            <a:r>
              <a:rPr lang="en-US" dirty="0"/>
              <a:t>: 10.1503/cmaj.200821. </a:t>
            </a:r>
            <a:r>
              <a:rPr lang="en-US" dirty="0" err="1"/>
              <a:t>Epub</a:t>
            </a:r>
            <a:r>
              <a:rPr lang="en-US" dirty="0"/>
              <a:t> 2020 May 14. PMID: 32409520; PMCID: PMC7828840.</a:t>
            </a:r>
          </a:p>
        </p:txBody>
      </p:sp>
    </p:spTree>
    <p:extLst>
      <p:ext uri="{BB962C8B-B14F-4D97-AF65-F5344CB8AC3E}">
        <p14:creationId xmlns:p14="http://schemas.microsoft.com/office/powerpoint/2010/main" val="2069604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EE171-AF59-EFCE-F9B2-D48085C411FA}"/>
              </a:ext>
            </a:extLst>
          </p:cNvPr>
          <p:cNvSpPr>
            <a:spLocks noGrp="1"/>
          </p:cNvSpPr>
          <p:nvPr>
            <p:ph type="title"/>
          </p:nvPr>
        </p:nvSpPr>
        <p:spPr/>
        <p:txBody>
          <a:bodyPr/>
          <a:lstStyle/>
          <a:p>
            <a:r>
              <a:rPr lang="en-US" dirty="0"/>
              <a:t>Clinical Features</a:t>
            </a:r>
          </a:p>
        </p:txBody>
      </p:sp>
      <p:sp>
        <p:nvSpPr>
          <p:cNvPr id="3" name="Content Placeholder 2">
            <a:extLst>
              <a:ext uri="{FF2B5EF4-FFF2-40B4-BE49-F238E27FC236}">
                <a16:creationId xmlns:a16="http://schemas.microsoft.com/office/drawing/2014/main" id="{7F376B6C-5E75-BAF6-C3A6-1FE9E64A4B9C}"/>
              </a:ext>
            </a:extLst>
          </p:cNvPr>
          <p:cNvSpPr>
            <a:spLocks noGrp="1"/>
          </p:cNvSpPr>
          <p:nvPr>
            <p:ph idx="1"/>
          </p:nvPr>
        </p:nvSpPr>
        <p:spPr/>
        <p:txBody>
          <a:bodyPr>
            <a:normAutofit lnSpcReduction="10000"/>
          </a:bodyPr>
          <a:lstStyle/>
          <a:p>
            <a:pPr marL="0" indent="0">
              <a:buNone/>
            </a:pPr>
            <a:r>
              <a:rPr lang="en-US" dirty="0"/>
              <a:t>Spectrum of Disease:</a:t>
            </a:r>
          </a:p>
          <a:p>
            <a:r>
              <a:rPr lang="en-US" dirty="0"/>
              <a:t>Asymptomatic infections</a:t>
            </a:r>
          </a:p>
          <a:p>
            <a:r>
              <a:rPr lang="en-US" dirty="0"/>
              <a:t>Mild to moderate disease</a:t>
            </a:r>
          </a:p>
          <a:p>
            <a:r>
              <a:rPr lang="en-US" dirty="0"/>
              <a:t>Severe/critical illness</a:t>
            </a:r>
          </a:p>
          <a:p>
            <a:endParaRPr lang="en-US" dirty="0"/>
          </a:p>
          <a:p>
            <a:pPr marL="0" indent="0">
              <a:buNone/>
            </a:pPr>
            <a:r>
              <a:rPr lang="en-US" dirty="0"/>
              <a:t>Risk Factors for severe disease include:</a:t>
            </a:r>
          </a:p>
          <a:p>
            <a:r>
              <a:rPr lang="en-US" dirty="0"/>
              <a:t>Not vaccinated</a:t>
            </a:r>
          </a:p>
          <a:p>
            <a:r>
              <a:rPr lang="en-US" dirty="0"/>
              <a:t>Increasing age</a:t>
            </a:r>
          </a:p>
          <a:p>
            <a:r>
              <a:rPr lang="en-US" dirty="0"/>
              <a:t>Immunosuppression and other comorbidities</a:t>
            </a:r>
          </a:p>
        </p:txBody>
      </p:sp>
      <p:sp>
        <p:nvSpPr>
          <p:cNvPr id="5" name="TextBox 4">
            <a:extLst>
              <a:ext uri="{FF2B5EF4-FFF2-40B4-BE49-F238E27FC236}">
                <a16:creationId xmlns:a16="http://schemas.microsoft.com/office/drawing/2014/main" id="{EA810BDF-3C68-71AB-FF8E-8B857FB0F3FA}"/>
              </a:ext>
            </a:extLst>
          </p:cNvPr>
          <p:cNvSpPr txBox="1"/>
          <p:nvPr/>
        </p:nvSpPr>
        <p:spPr>
          <a:xfrm>
            <a:off x="254000" y="5942568"/>
            <a:ext cx="11757891" cy="923330"/>
          </a:xfrm>
          <a:prstGeom prst="rect">
            <a:avLst/>
          </a:prstGeom>
          <a:noFill/>
        </p:spPr>
        <p:txBody>
          <a:bodyPr wrap="square" rtlCol="0">
            <a:spAutoFit/>
          </a:bodyPr>
          <a:lstStyle/>
          <a:p>
            <a:r>
              <a:rPr lang="en-US" dirty="0"/>
              <a:t>Petrilli CM, Jones SA, Yang J, Rajagopalan H, O'Donnell L, Chernyak Y, Tobin KA, </a:t>
            </a:r>
            <a:r>
              <a:rPr lang="en-US" dirty="0" err="1"/>
              <a:t>Cerfolio</a:t>
            </a:r>
            <a:r>
              <a:rPr lang="en-US" dirty="0"/>
              <a:t> RJ, Francois F, Horwitz LI. Factors associated with hospital admission and critical illness among 5279 people with coronavirus disease 2019 in New York City: prospective cohort study. BMJ. 2020 May 22;369:m1966. </a:t>
            </a:r>
            <a:r>
              <a:rPr lang="en-US" dirty="0" err="1"/>
              <a:t>doi</a:t>
            </a:r>
            <a:r>
              <a:rPr lang="en-US" dirty="0"/>
              <a:t>: 10.1136/bmj.m1966. PMID: 32444366; PMCID: PMC7243801.</a:t>
            </a:r>
          </a:p>
        </p:txBody>
      </p:sp>
    </p:spTree>
    <p:extLst>
      <p:ext uri="{BB962C8B-B14F-4D97-AF65-F5344CB8AC3E}">
        <p14:creationId xmlns:p14="http://schemas.microsoft.com/office/powerpoint/2010/main" val="2928925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AB987-FB2A-DA4F-7B59-F43DC6988D41}"/>
              </a:ext>
            </a:extLst>
          </p:cNvPr>
          <p:cNvSpPr>
            <a:spLocks noGrp="1"/>
          </p:cNvSpPr>
          <p:nvPr>
            <p:ph type="title"/>
          </p:nvPr>
        </p:nvSpPr>
        <p:spPr/>
        <p:txBody>
          <a:bodyPr/>
          <a:lstStyle/>
          <a:p>
            <a:r>
              <a:rPr lang="en-US" dirty="0"/>
              <a:t>Initial Presentation</a:t>
            </a:r>
          </a:p>
        </p:txBody>
      </p:sp>
      <p:pic>
        <p:nvPicPr>
          <p:cNvPr id="5" name="Content Placeholder 4">
            <a:extLst>
              <a:ext uri="{FF2B5EF4-FFF2-40B4-BE49-F238E27FC236}">
                <a16:creationId xmlns:a16="http://schemas.microsoft.com/office/drawing/2014/main" id="{766817B4-26B3-F77F-6459-AB3A9802345A}"/>
              </a:ext>
            </a:extLst>
          </p:cNvPr>
          <p:cNvPicPr>
            <a:picLocks noGrp="1" noChangeAspect="1"/>
          </p:cNvPicPr>
          <p:nvPr>
            <p:ph idx="1"/>
          </p:nvPr>
        </p:nvPicPr>
        <p:blipFill>
          <a:blip r:embed="rId2"/>
          <a:stretch>
            <a:fillRect/>
          </a:stretch>
        </p:blipFill>
        <p:spPr>
          <a:xfrm>
            <a:off x="2540000" y="1413164"/>
            <a:ext cx="6802582" cy="4763799"/>
          </a:xfrm>
          <a:prstGeom prst="rect">
            <a:avLst/>
          </a:prstGeom>
        </p:spPr>
      </p:pic>
      <p:sp>
        <p:nvSpPr>
          <p:cNvPr id="6" name="TextBox 5">
            <a:extLst>
              <a:ext uri="{FF2B5EF4-FFF2-40B4-BE49-F238E27FC236}">
                <a16:creationId xmlns:a16="http://schemas.microsoft.com/office/drawing/2014/main" id="{10E9C771-C65C-77D4-DFC6-E73F74160B99}"/>
              </a:ext>
            </a:extLst>
          </p:cNvPr>
          <p:cNvSpPr txBox="1"/>
          <p:nvPr/>
        </p:nvSpPr>
        <p:spPr>
          <a:xfrm>
            <a:off x="1819565" y="6262255"/>
            <a:ext cx="7837054" cy="369332"/>
          </a:xfrm>
          <a:prstGeom prst="rect">
            <a:avLst/>
          </a:prstGeom>
          <a:noFill/>
        </p:spPr>
        <p:txBody>
          <a:bodyPr wrap="square" rtlCol="0">
            <a:spAutoFit/>
          </a:bodyPr>
          <a:lstStyle/>
          <a:p>
            <a:r>
              <a:rPr lang="en-US" dirty="0"/>
              <a:t>Uptodate.com</a:t>
            </a:r>
          </a:p>
        </p:txBody>
      </p:sp>
    </p:spTree>
    <p:extLst>
      <p:ext uri="{BB962C8B-B14F-4D97-AF65-F5344CB8AC3E}">
        <p14:creationId xmlns:p14="http://schemas.microsoft.com/office/powerpoint/2010/main" val="1490018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2283F-3C67-EE49-FD32-7B36621F0A9E}"/>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A8FFAC2E-0393-A3F1-2D5B-456531671604}"/>
              </a:ext>
            </a:extLst>
          </p:cNvPr>
          <p:cNvSpPr>
            <a:spLocks noGrp="1"/>
          </p:cNvSpPr>
          <p:nvPr>
            <p:ph idx="1"/>
          </p:nvPr>
        </p:nvSpPr>
        <p:spPr/>
        <p:txBody>
          <a:bodyPr/>
          <a:lstStyle/>
          <a:p>
            <a:r>
              <a:rPr lang="en-US" dirty="0"/>
              <a:t>Pneumonia is the most frequent serious manifestation.</a:t>
            </a:r>
          </a:p>
          <a:p>
            <a:endParaRPr lang="en-US" dirty="0"/>
          </a:p>
          <a:p>
            <a:r>
              <a:rPr lang="en-US" dirty="0"/>
              <a:t>Characterized primarily by fever, cough, dyspnea and bilateral infiltrates on chest imaging.</a:t>
            </a:r>
          </a:p>
          <a:p>
            <a:endParaRPr lang="en-US" dirty="0"/>
          </a:p>
          <a:p>
            <a:r>
              <a:rPr lang="en-US" dirty="0"/>
              <a:t>Dermatologic findings include:</a:t>
            </a:r>
          </a:p>
          <a:p>
            <a:pPr lvl="1">
              <a:buFont typeface="Wingdings" panose="05000000000000000000" pitchFamily="2" charset="2"/>
              <a:buChar char="§"/>
            </a:pPr>
            <a:r>
              <a:rPr lang="en-US" dirty="0">
                <a:highlight>
                  <a:srgbClr val="FFFF00"/>
                </a:highlight>
              </a:rPr>
              <a:t>Maculopapular/morbilliform eruptions</a:t>
            </a:r>
          </a:p>
          <a:p>
            <a:pPr lvl="1">
              <a:buFont typeface="Wingdings" panose="05000000000000000000" pitchFamily="2" charset="2"/>
              <a:buChar char="§"/>
            </a:pPr>
            <a:r>
              <a:rPr lang="en-US" dirty="0">
                <a:highlight>
                  <a:srgbClr val="FFFF00"/>
                </a:highlight>
              </a:rPr>
              <a:t>Transient livedo reticularis</a:t>
            </a:r>
          </a:p>
          <a:p>
            <a:pPr lvl="1">
              <a:buFont typeface="Wingdings" panose="05000000000000000000" pitchFamily="2" charset="2"/>
              <a:buChar char="§"/>
            </a:pPr>
            <a:r>
              <a:rPr lang="en-US" dirty="0">
                <a:highlight>
                  <a:srgbClr val="FFFF00"/>
                </a:highlight>
              </a:rPr>
              <a:t>Reddish-purple nodules on distal digits (similar to pernio) or “COVID </a:t>
            </a:r>
            <a:r>
              <a:rPr lang="en-US" dirty="0"/>
              <a:t>toes”	</a:t>
            </a:r>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2031087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C12C7-33B4-F509-5C95-CA424C7A1CB0}"/>
              </a:ext>
            </a:extLst>
          </p:cNvPr>
          <p:cNvSpPr>
            <a:spLocks noGrp="1"/>
          </p:cNvSpPr>
          <p:nvPr>
            <p:ph type="title"/>
          </p:nvPr>
        </p:nvSpPr>
        <p:spPr/>
        <p:txBody>
          <a:bodyPr/>
          <a:lstStyle/>
          <a:p>
            <a:r>
              <a:rPr lang="en-US" dirty="0"/>
              <a:t>Complications</a:t>
            </a:r>
          </a:p>
        </p:txBody>
      </p:sp>
      <p:sp>
        <p:nvSpPr>
          <p:cNvPr id="3" name="Content Placeholder 2">
            <a:extLst>
              <a:ext uri="{FF2B5EF4-FFF2-40B4-BE49-F238E27FC236}">
                <a16:creationId xmlns:a16="http://schemas.microsoft.com/office/drawing/2014/main" id="{AC8DD47C-4D7A-7DE6-B933-896220D8AF3A}"/>
              </a:ext>
            </a:extLst>
          </p:cNvPr>
          <p:cNvSpPr>
            <a:spLocks noGrp="1"/>
          </p:cNvSpPr>
          <p:nvPr>
            <p:ph idx="1"/>
          </p:nvPr>
        </p:nvSpPr>
        <p:spPr/>
        <p:txBody>
          <a:bodyPr/>
          <a:lstStyle/>
          <a:p>
            <a:pPr marL="0" indent="0">
              <a:buNone/>
            </a:pPr>
            <a:r>
              <a:rPr lang="en-US" dirty="0"/>
              <a:t>A study in Wuhan showed median time to dyspnea is 5 days since onset of symptoms and 8 days for hospital admission.</a:t>
            </a:r>
          </a:p>
          <a:p>
            <a:pPr marL="0" indent="0">
              <a:buNone/>
            </a:pPr>
            <a:endParaRPr lang="en-US" dirty="0"/>
          </a:p>
          <a:p>
            <a:r>
              <a:rPr lang="en-US" dirty="0"/>
              <a:t>ARDS</a:t>
            </a:r>
          </a:p>
          <a:p>
            <a:pPr lvl="1">
              <a:buFontTx/>
              <a:buChar char="-"/>
            </a:pPr>
            <a:r>
              <a:rPr lang="en-US" dirty="0"/>
              <a:t>Major complication in pts with severe disease and manifest shortly after dyspnea.</a:t>
            </a:r>
          </a:p>
          <a:p>
            <a:pPr lvl="1">
              <a:buFontTx/>
              <a:buChar char="-"/>
            </a:pPr>
            <a:r>
              <a:rPr lang="en-US" dirty="0"/>
              <a:t>A mean of 12 – 24% of patients usually require mechanical ventilation.</a:t>
            </a:r>
          </a:p>
          <a:p>
            <a:pPr lvl="1">
              <a:buFontTx/>
              <a:buChar char="-"/>
            </a:pPr>
            <a:endParaRPr lang="en-US" dirty="0"/>
          </a:p>
          <a:p>
            <a:r>
              <a:rPr lang="en-US" dirty="0"/>
              <a:t>Cardiac complications e.g., arrhythmias, myocardial injury, heart failure, shock.</a:t>
            </a:r>
          </a:p>
          <a:p>
            <a:endParaRPr lang="en-US" dirty="0"/>
          </a:p>
        </p:txBody>
      </p:sp>
    </p:spTree>
    <p:extLst>
      <p:ext uri="{BB962C8B-B14F-4D97-AF65-F5344CB8AC3E}">
        <p14:creationId xmlns:p14="http://schemas.microsoft.com/office/powerpoint/2010/main" val="2965451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884AC-0DA7-EDF8-2AD1-519CF0862AC1}"/>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25D0EE23-8353-1CC1-CB15-3F47FB6791B1}"/>
              </a:ext>
            </a:extLst>
          </p:cNvPr>
          <p:cNvSpPr>
            <a:spLocks noGrp="1"/>
          </p:cNvSpPr>
          <p:nvPr>
            <p:ph idx="1"/>
          </p:nvPr>
        </p:nvSpPr>
        <p:spPr/>
        <p:txBody>
          <a:bodyPr>
            <a:normAutofit/>
          </a:bodyPr>
          <a:lstStyle/>
          <a:p>
            <a:r>
              <a:rPr lang="en-US" dirty="0"/>
              <a:t>Thromboembolic complications</a:t>
            </a:r>
          </a:p>
          <a:p>
            <a:pPr marL="457200" lvl="1" indent="0">
              <a:buNone/>
            </a:pPr>
            <a:r>
              <a:rPr lang="en-US" dirty="0"/>
              <a:t>-  Venous thromboembolism include extensive DVT and P.E</a:t>
            </a:r>
          </a:p>
          <a:p>
            <a:pPr lvl="1">
              <a:buFontTx/>
              <a:buChar char="-"/>
            </a:pPr>
            <a:r>
              <a:rPr lang="en-US" dirty="0"/>
              <a:t>Arterial thrombotic events include acute stroke and limb ischemia.</a:t>
            </a:r>
          </a:p>
          <a:p>
            <a:pPr lvl="1">
              <a:buFontTx/>
              <a:buChar char="-"/>
            </a:pPr>
            <a:endParaRPr lang="en-US" dirty="0"/>
          </a:p>
          <a:p>
            <a:r>
              <a:rPr lang="en-US" dirty="0"/>
              <a:t>Neurologic complications</a:t>
            </a:r>
          </a:p>
          <a:p>
            <a:pPr lvl="1">
              <a:buFontTx/>
              <a:buChar char="-"/>
            </a:pPr>
            <a:r>
              <a:rPr lang="en-US" dirty="0"/>
              <a:t>Encephalopathy common especially in critically ill patients.</a:t>
            </a:r>
          </a:p>
          <a:p>
            <a:pPr lvl="1">
              <a:buFontTx/>
              <a:buChar char="-"/>
            </a:pPr>
            <a:r>
              <a:rPr lang="en-US" dirty="0"/>
              <a:t>Stroke, movement disorders, ataxia and motor and sensory deficits occur less frequently.</a:t>
            </a:r>
          </a:p>
          <a:p>
            <a:pPr marL="0" indent="0">
              <a:buNone/>
            </a:pPr>
            <a:r>
              <a:rPr lang="en-US" dirty="0"/>
              <a:t>		</a:t>
            </a:r>
          </a:p>
        </p:txBody>
      </p:sp>
      <p:sp>
        <p:nvSpPr>
          <p:cNvPr id="4" name="TextBox 3">
            <a:extLst>
              <a:ext uri="{FF2B5EF4-FFF2-40B4-BE49-F238E27FC236}">
                <a16:creationId xmlns:a16="http://schemas.microsoft.com/office/drawing/2014/main" id="{C545AF1C-D77C-2B13-FC40-CC3DCB232F22}"/>
              </a:ext>
            </a:extLst>
          </p:cNvPr>
          <p:cNvSpPr txBox="1"/>
          <p:nvPr/>
        </p:nvSpPr>
        <p:spPr>
          <a:xfrm>
            <a:off x="278780" y="5257799"/>
            <a:ext cx="11675327" cy="923330"/>
          </a:xfrm>
          <a:prstGeom prst="rect">
            <a:avLst/>
          </a:prstGeom>
          <a:noFill/>
        </p:spPr>
        <p:txBody>
          <a:bodyPr wrap="square" rtlCol="0">
            <a:spAutoFit/>
          </a:bodyPr>
          <a:lstStyle/>
          <a:p>
            <a:r>
              <a:rPr lang="en-US" dirty="0"/>
              <a:t>Liotta EM, Batra A, Clark JR, </a:t>
            </a:r>
            <a:r>
              <a:rPr lang="en-US" dirty="0" err="1"/>
              <a:t>Shlobin</a:t>
            </a:r>
            <a:r>
              <a:rPr lang="en-US" dirty="0"/>
              <a:t> NA, Hoffman SC, Orban ZS, </a:t>
            </a:r>
            <a:r>
              <a:rPr lang="en-US" dirty="0" err="1"/>
              <a:t>Koralnik</a:t>
            </a:r>
            <a:r>
              <a:rPr lang="en-US" dirty="0"/>
              <a:t> IJ. Frequent neurologic manifestations and encephalopathy-associated morbidity in Covid-19 patients. Ann Clin </a:t>
            </a:r>
            <a:r>
              <a:rPr lang="en-US" dirty="0" err="1"/>
              <a:t>Transl</a:t>
            </a:r>
            <a:r>
              <a:rPr lang="en-US" dirty="0"/>
              <a:t> Neurol. 2020 Nov;7(11):2221-2230. </a:t>
            </a:r>
            <a:r>
              <a:rPr lang="en-US" dirty="0" err="1"/>
              <a:t>doi</a:t>
            </a:r>
            <a:r>
              <a:rPr lang="en-US" dirty="0"/>
              <a:t>: 10.1002/acn3.51210. </a:t>
            </a:r>
            <a:r>
              <a:rPr lang="en-US" dirty="0" err="1"/>
              <a:t>Epub</a:t>
            </a:r>
            <a:r>
              <a:rPr lang="en-US" dirty="0"/>
              <a:t> 2020 Oct 5. PMID: 33016619; PMCID: PMC7664279.</a:t>
            </a:r>
          </a:p>
        </p:txBody>
      </p:sp>
    </p:spTree>
    <p:extLst>
      <p:ext uri="{BB962C8B-B14F-4D97-AF65-F5344CB8AC3E}">
        <p14:creationId xmlns:p14="http://schemas.microsoft.com/office/powerpoint/2010/main" val="2078408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B7C67-8C1A-367C-3D91-BF38542110A8}"/>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85CD48E1-D1F8-4174-2186-DCC87C05E305}"/>
              </a:ext>
            </a:extLst>
          </p:cNvPr>
          <p:cNvSpPr>
            <a:spLocks noGrp="1"/>
          </p:cNvSpPr>
          <p:nvPr>
            <p:ph idx="1"/>
          </p:nvPr>
        </p:nvSpPr>
        <p:spPr>
          <a:xfrm>
            <a:off x="838200" y="1388327"/>
            <a:ext cx="10515600" cy="4577575"/>
          </a:xfrm>
        </p:spPr>
        <p:txBody>
          <a:bodyPr>
            <a:normAutofit lnSpcReduction="10000"/>
          </a:bodyPr>
          <a:lstStyle/>
          <a:p>
            <a:r>
              <a:rPr lang="en-US" dirty="0"/>
              <a:t>Inflammatory complications</a:t>
            </a:r>
          </a:p>
          <a:p>
            <a:pPr lvl="1">
              <a:buFontTx/>
              <a:buChar char="-"/>
            </a:pPr>
            <a:r>
              <a:rPr lang="en-US" dirty="0"/>
              <a:t>Persistent fevers</a:t>
            </a:r>
          </a:p>
          <a:p>
            <a:pPr lvl="1">
              <a:buFontTx/>
              <a:buChar char="-"/>
            </a:pPr>
            <a:r>
              <a:rPr lang="en-US" dirty="0"/>
              <a:t>Elevated inflammatory markers (e.g., D-dimer, ferritin)</a:t>
            </a:r>
          </a:p>
          <a:p>
            <a:pPr lvl="1">
              <a:buFontTx/>
              <a:buChar char="-"/>
            </a:pPr>
            <a:r>
              <a:rPr lang="en-US" dirty="0"/>
              <a:t>Elevated proinflammatory cytokines</a:t>
            </a:r>
          </a:p>
          <a:p>
            <a:pPr lvl="1">
              <a:buFontTx/>
              <a:buChar char="-"/>
            </a:pPr>
            <a:r>
              <a:rPr lang="en-US" dirty="0"/>
              <a:t>GBS may occur (5 – 10 days after initial symptoms)</a:t>
            </a:r>
          </a:p>
          <a:p>
            <a:pPr lvl="1">
              <a:buFontTx/>
              <a:buChar char="-"/>
            </a:pPr>
            <a:r>
              <a:rPr lang="en-US" dirty="0"/>
              <a:t>Are associated with critical and fatal illnesses.</a:t>
            </a:r>
          </a:p>
          <a:p>
            <a:pPr lvl="1">
              <a:buFontTx/>
              <a:buChar char="-"/>
            </a:pPr>
            <a:endParaRPr lang="en-US" dirty="0"/>
          </a:p>
          <a:p>
            <a:r>
              <a:rPr lang="en-US" dirty="0"/>
              <a:t>Secondary infections</a:t>
            </a:r>
          </a:p>
          <a:p>
            <a:pPr lvl="1">
              <a:buFontTx/>
              <a:buChar char="-"/>
            </a:pPr>
            <a:r>
              <a:rPr lang="en-US" dirty="0"/>
              <a:t>Bacterial coinfections (8%) and superinfections (20%) with </a:t>
            </a:r>
            <a:r>
              <a:rPr lang="en-US" i="1" dirty="0"/>
              <a:t>K. pneumoniae, S. pneumoniae, S. aureus</a:t>
            </a:r>
            <a:r>
              <a:rPr lang="en-US" dirty="0"/>
              <a:t> and </a:t>
            </a:r>
            <a:r>
              <a:rPr lang="en-US" i="1" dirty="0" err="1"/>
              <a:t>Acinobacter</a:t>
            </a:r>
            <a:r>
              <a:rPr lang="en-US" dirty="0"/>
              <a:t> </a:t>
            </a:r>
            <a:r>
              <a:rPr lang="en-US" dirty="0" err="1"/>
              <a:t>spp</a:t>
            </a:r>
            <a:r>
              <a:rPr lang="en-US" dirty="0"/>
              <a:t> (for the latter).</a:t>
            </a:r>
          </a:p>
          <a:p>
            <a:pPr lvl="1">
              <a:buFontTx/>
              <a:buChar char="-"/>
            </a:pPr>
            <a:r>
              <a:rPr lang="en-US" dirty="0"/>
              <a:t>Fungal and viral superinfections can also occur with EBV and invasive pulmonary aspergillosis.</a:t>
            </a:r>
          </a:p>
          <a:p>
            <a:pPr lvl="1">
              <a:buFontTx/>
              <a:buChar char="-"/>
            </a:pPr>
            <a:endParaRPr lang="en-US" dirty="0"/>
          </a:p>
        </p:txBody>
      </p:sp>
      <p:sp>
        <p:nvSpPr>
          <p:cNvPr id="4" name="TextBox 3">
            <a:extLst>
              <a:ext uri="{FF2B5EF4-FFF2-40B4-BE49-F238E27FC236}">
                <a16:creationId xmlns:a16="http://schemas.microsoft.com/office/drawing/2014/main" id="{F5D30841-C54F-7A88-2CD0-A24417D3CAE4}"/>
              </a:ext>
            </a:extLst>
          </p:cNvPr>
          <p:cNvSpPr txBox="1"/>
          <p:nvPr/>
        </p:nvSpPr>
        <p:spPr>
          <a:xfrm>
            <a:off x="144966" y="5781236"/>
            <a:ext cx="11881624" cy="923330"/>
          </a:xfrm>
          <a:prstGeom prst="rect">
            <a:avLst/>
          </a:prstGeom>
          <a:noFill/>
        </p:spPr>
        <p:txBody>
          <a:bodyPr wrap="square" rtlCol="0">
            <a:spAutoFit/>
          </a:bodyPr>
          <a:lstStyle/>
          <a:p>
            <a:r>
              <a:rPr lang="en-US" dirty="0"/>
              <a:t>Kurra N, Woodard PI, </a:t>
            </a:r>
            <a:r>
              <a:rPr lang="en-US" dirty="0" err="1"/>
              <a:t>Gandrakota</a:t>
            </a:r>
            <a:r>
              <a:rPr lang="en-US" dirty="0"/>
              <a:t> N, Gandhi H, Polisetty SR, Ang SP, Patel KP, </a:t>
            </a:r>
            <a:r>
              <a:rPr lang="en-US" dirty="0" err="1"/>
              <a:t>Chitimalla</a:t>
            </a:r>
            <a:r>
              <a:rPr lang="en-US" dirty="0"/>
              <a:t> V, Ali Baig MM, Samudrala G. Opportunistic Infections in COVID-19: A Systematic Review and Meta-Analysis. </a:t>
            </a:r>
            <a:r>
              <a:rPr lang="en-US" dirty="0" err="1"/>
              <a:t>Cureus</a:t>
            </a:r>
            <a:r>
              <a:rPr lang="en-US" dirty="0"/>
              <a:t>. 2022 Mar 31;14(3):e23687. </a:t>
            </a:r>
            <a:r>
              <a:rPr lang="en-US" dirty="0" err="1"/>
              <a:t>doi</a:t>
            </a:r>
            <a:r>
              <a:rPr lang="en-US" dirty="0"/>
              <a:t>: 10.7759/cureus.23687. PMID: 35505698; PMCID: PMC9055976.</a:t>
            </a:r>
          </a:p>
        </p:txBody>
      </p:sp>
    </p:spTree>
    <p:extLst>
      <p:ext uri="{BB962C8B-B14F-4D97-AF65-F5344CB8AC3E}">
        <p14:creationId xmlns:p14="http://schemas.microsoft.com/office/powerpoint/2010/main" val="3399407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04B5B-DB59-0D7E-FD6E-487A2A767D0D}"/>
              </a:ext>
            </a:extLst>
          </p:cNvPr>
          <p:cNvSpPr>
            <a:spLocks noGrp="1"/>
          </p:cNvSpPr>
          <p:nvPr>
            <p:ph type="title"/>
          </p:nvPr>
        </p:nvSpPr>
        <p:spPr/>
        <p:txBody>
          <a:bodyPr/>
          <a:lstStyle/>
          <a:p>
            <a:r>
              <a:rPr lang="en-US" dirty="0"/>
              <a:t>Recovery &amp; Long-Term Sequelae</a:t>
            </a:r>
          </a:p>
        </p:txBody>
      </p:sp>
      <p:sp>
        <p:nvSpPr>
          <p:cNvPr id="3" name="Content Placeholder 2">
            <a:extLst>
              <a:ext uri="{FF2B5EF4-FFF2-40B4-BE49-F238E27FC236}">
                <a16:creationId xmlns:a16="http://schemas.microsoft.com/office/drawing/2014/main" id="{D80F172C-6ECA-3B01-52C9-E24A7D88C89B}"/>
              </a:ext>
            </a:extLst>
          </p:cNvPr>
          <p:cNvSpPr>
            <a:spLocks noGrp="1"/>
          </p:cNvSpPr>
          <p:nvPr>
            <p:ph idx="1"/>
          </p:nvPr>
        </p:nvSpPr>
        <p:spPr/>
        <p:txBody>
          <a:bodyPr>
            <a:normAutofit lnSpcReduction="10000"/>
          </a:bodyPr>
          <a:lstStyle/>
          <a:p>
            <a:r>
              <a:rPr lang="en-US" dirty="0"/>
              <a:t>Time of recovery is highly variable and depends on:</a:t>
            </a:r>
          </a:p>
          <a:p>
            <a:pPr lvl="1">
              <a:buFontTx/>
              <a:buChar char="-"/>
            </a:pPr>
            <a:r>
              <a:rPr lang="en-US" dirty="0"/>
              <a:t>Severity of illness (mild – within 2 weeks vs severe – 2 to 3 months)</a:t>
            </a:r>
          </a:p>
          <a:p>
            <a:pPr lvl="1">
              <a:buFontTx/>
              <a:buChar char="-"/>
            </a:pPr>
            <a:r>
              <a:rPr lang="en-US" dirty="0"/>
              <a:t>Age</a:t>
            </a:r>
          </a:p>
          <a:p>
            <a:pPr lvl="1">
              <a:buFontTx/>
              <a:buChar char="-"/>
            </a:pPr>
            <a:r>
              <a:rPr lang="en-US" dirty="0"/>
              <a:t>Pre-existing comorbidities</a:t>
            </a:r>
          </a:p>
          <a:p>
            <a:pPr lvl="1">
              <a:buFontTx/>
              <a:buChar char="-"/>
            </a:pPr>
            <a:endParaRPr lang="en-US" dirty="0"/>
          </a:p>
          <a:p>
            <a:r>
              <a:rPr lang="en-US" dirty="0"/>
              <a:t>A subset of patients go on to develop post-COVID conditions also known as “long COVID.” (Fatigue, dyspnea, chest pain, cough and cognitive deficits).</a:t>
            </a:r>
          </a:p>
          <a:p>
            <a:endParaRPr lang="en-US" dirty="0"/>
          </a:p>
          <a:p>
            <a:r>
              <a:rPr lang="en-US" dirty="0"/>
              <a:t>Data suggest the potential for ongoing respiratory impairment and cardiac sequelae.</a:t>
            </a:r>
          </a:p>
        </p:txBody>
      </p:sp>
    </p:spTree>
    <p:extLst>
      <p:ext uri="{BB962C8B-B14F-4D97-AF65-F5344CB8AC3E}">
        <p14:creationId xmlns:p14="http://schemas.microsoft.com/office/powerpoint/2010/main" val="2343107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87C3C-9788-A166-F95C-BBD0B346EAE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52151D8-9B4F-E63B-D579-7DC1FCF1D0C0}"/>
              </a:ext>
            </a:extLst>
          </p:cNvPr>
          <p:cNvPicPr>
            <a:picLocks noGrp="1" noChangeAspect="1"/>
          </p:cNvPicPr>
          <p:nvPr>
            <p:ph idx="1"/>
          </p:nvPr>
        </p:nvPicPr>
        <p:blipFill>
          <a:blip r:embed="rId2"/>
          <a:stretch>
            <a:fillRect/>
          </a:stretch>
        </p:blipFill>
        <p:spPr>
          <a:xfrm>
            <a:off x="838200" y="105938"/>
            <a:ext cx="10580649" cy="6752062"/>
          </a:xfrm>
          <a:prstGeom prst="rect">
            <a:avLst/>
          </a:prstGeom>
        </p:spPr>
      </p:pic>
    </p:spTree>
    <p:extLst>
      <p:ext uri="{BB962C8B-B14F-4D97-AF65-F5344CB8AC3E}">
        <p14:creationId xmlns:p14="http://schemas.microsoft.com/office/powerpoint/2010/main" val="1860551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8275-0436-4F7B-1059-C378E4A14B5C}"/>
              </a:ext>
            </a:extLst>
          </p:cNvPr>
          <p:cNvSpPr>
            <a:spLocks noGrp="1"/>
          </p:cNvSpPr>
          <p:nvPr>
            <p:ph type="title"/>
          </p:nvPr>
        </p:nvSpPr>
        <p:spPr/>
        <p:txBody>
          <a:bodyPr/>
          <a:lstStyle/>
          <a:p>
            <a:r>
              <a:rPr lang="en-US" dirty="0"/>
              <a:t>Diagnosis</a:t>
            </a:r>
          </a:p>
        </p:txBody>
      </p:sp>
      <p:sp>
        <p:nvSpPr>
          <p:cNvPr id="3" name="Content Placeholder 2">
            <a:extLst>
              <a:ext uri="{FF2B5EF4-FFF2-40B4-BE49-F238E27FC236}">
                <a16:creationId xmlns:a16="http://schemas.microsoft.com/office/drawing/2014/main" id="{9F360E5B-AAAE-F3B2-7FF1-C142CB0AD20E}"/>
              </a:ext>
            </a:extLst>
          </p:cNvPr>
          <p:cNvSpPr>
            <a:spLocks noGrp="1"/>
          </p:cNvSpPr>
          <p:nvPr>
            <p:ph idx="1"/>
          </p:nvPr>
        </p:nvSpPr>
        <p:spPr>
          <a:xfrm>
            <a:off x="838200" y="1825625"/>
            <a:ext cx="10515600" cy="4965468"/>
          </a:xfrm>
        </p:spPr>
        <p:txBody>
          <a:bodyPr/>
          <a:lstStyle/>
          <a:p>
            <a:r>
              <a:rPr lang="en-US" dirty="0"/>
              <a:t>Viral tests used include either an NAAT (RT-PCR) or an antigen test.</a:t>
            </a:r>
          </a:p>
          <a:p>
            <a:endParaRPr lang="en-US" dirty="0"/>
          </a:p>
          <a:p>
            <a:r>
              <a:rPr lang="en-US" dirty="0">
                <a:highlight>
                  <a:srgbClr val="FFFF00"/>
                </a:highlight>
              </a:rPr>
              <a:t>NAAT is preferred due to higher sensitivity. Can be rapid RT-PCR or standard laboratory – based NAAT</a:t>
            </a:r>
            <a:r>
              <a:rPr lang="en-US" dirty="0"/>
              <a:t>.</a:t>
            </a:r>
          </a:p>
          <a:p>
            <a:endParaRPr lang="en-US" dirty="0"/>
          </a:p>
          <a:p>
            <a:r>
              <a:rPr lang="en-US" dirty="0"/>
              <a:t>Antigen tests are more accessible and convenient. Used more commonly for home testing and point of care sites.</a:t>
            </a:r>
          </a:p>
          <a:p>
            <a:endParaRPr lang="en-US" dirty="0"/>
          </a:p>
          <a:p>
            <a:r>
              <a:rPr lang="en-US" dirty="0"/>
              <a:t>Antigen tests can distinguish prolonged viral RNA shedding from a new infection.</a:t>
            </a:r>
          </a:p>
          <a:p>
            <a:endParaRPr lang="en-US" dirty="0"/>
          </a:p>
          <a:p>
            <a:endParaRPr lang="en-US" dirty="0"/>
          </a:p>
        </p:txBody>
      </p:sp>
    </p:spTree>
    <p:extLst>
      <p:ext uri="{BB962C8B-B14F-4D97-AF65-F5344CB8AC3E}">
        <p14:creationId xmlns:p14="http://schemas.microsoft.com/office/powerpoint/2010/main" val="1247772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96DCE-FB53-160F-02C7-6581BDED729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BDB3BA6-8B00-F22D-0C78-02B1EDCA4E6A}"/>
              </a:ext>
            </a:extLst>
          </p:cNvPr>
          <p:cNvPicPr>
            <a:picLocks noGrp="1" noChangeAspect="1"/>
          </p:cNvPicPr>
          <p:nvPr>
            <p:ph idx="1"/>
          </p:nvPr>
        </p:nvPicPr>
        <p:blipFill>
          <a:blip r:embed="rId2"/>
          <a:stretch>
            <a:fillRect/>
          </a:stretch>
        </p:blipFill>
        <p:spPr>
          <a:xfrm>
            <a:off x="875145" y="281996"/>
            <a:ext cx="10515600" cy="6442695"/>
          </a:xfrm>
          <a:prstGeom prst="rect">
            <a:avLst/>
          </a:prstGeom>
        </p:spPr>
      </p:pic>
    </p:spTree>
    <p:extLst>
      <p:ext uri="{BB962C8B-B14F-4D97-AF65-F5344CB8AC3E}">
        <p14:creationId xmlns:p14="http://schemas.microsoft.com/office/powerpoint/2010/main" val="29388370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87F40-C369-F96F-9B86-6F01FB4AFA13}"/>
              </a:ext>
            </a:extLst>
          </p:cNvPr>
          <p:cNvSpPr>
            <a:spLocks noGrp="1"/>
          </p:cNvSpPr>
          <p:nvPr>
            <p:ph type="title"/>
          </p:nvPr>
        </p:nvSpPr>
        <p:spPr/>
        <p:txBody>
          <a:bodyPr/>
          <a:lstStyle/>
          <a:p>
            <a:r>
              <a:rPr lang="en-US" dirty="0"/>
              <a:t>Specimens Collected</a:t>
            </a:r>
          </a:p>
        </p:txBody>
      </p:sp>
      <p:sp>
        <p:nvSpPr>
          <p:cNvPr id="3" name="Content Placeholder 2">
            <a:extLst>
              <a:ext uri="{FF2B5EF4-FFF2-40B4-BE49-F238E27FC236}">
                <a16:creationId xmlns:a16="http://schemas.microsoft.com/office/drawing/2014/main" id="{620EDA29-3F3C-4DC5-5311-D1D4A3EC5D2A}"/>
              </a:ext>
            </a:extLst>
          </p:cNvPr>
          <p:cNvSpPr>
            <a:spLocks noGrp="1"/>
          </p:cNvSpPr>
          <p:nvPr>
            <p:ph idx="1"/>
          </p:nvPr>
        </p:nvSpPr>
        <p:spPr/>
        <p:txBody>
          <a:bodyPr/>
          <a:lstStyle/>
          <a:p>
            <a:r>
              <a:rPr lang="en-US" dirty="0"/>
              <a:t>Upper respiratory samples are the primary specimens for both tests.</a:t>
            </a:r>
          </a:p>
          <a:p>
            <a:endParaRPr lang="en-US" dirty="0"/>
          </a:p>
          <a:p>
            <a:r>
              <a:rPr lang="en-US" dirty="0">
                <a:highlight>
                  <a:srgbClr val="FFFF00"/>
                </a:highlight>
              </a:rPr>
              <a:t>Specimens for NAAT include nasopharyngeal swab, nasal swab specimen from both anterior nares, nasal mid-turbinate swab.</a:t>
            </a:r>
          </a:p>
          <a:p>
            <a:endParaRPr lang="en-US" dirty="0">
              <a:highlight>
                <a:srgbClr val="FFFF00"/>
              </a:highlight>
            </a:endParaRPr>
          </a:p>
          <a:p>
            <a:r>
              <a:rPr lang="en-US" dirty="0"/>
              <a:t>Others include nasopharyngeal wash/aspirate, oropharyngeal swab or saliva.</a:t>
            </a:r>
          </a:p>
          <a:p>
            <a:endParaRPr lang="en-US" dirty="0"/>
          </a:p>
          <a:p>
            <a:r>
              <a:rPr lang="en-US" dirty="0"/>
              <a:t>Antigen test include all except oral or salivary specimens.</a:t>
            </a:r>
          </a:p>
        </p:txBody>
      </p:sp>
    </p:spTree>
    <p:extLst>
      <p:ext uri="{BB962C8B-B14F-4D97-AF65-F5344CB8AC3E}">
        <p14:creationId xmlns:p14="http://schemas.microsoft.com/office/powerpoint/2010/main" val="287798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B932-E355-4B42-F7E7-C62F5B690E68}"/>
              </a:ext>
            </a:extLst>
          </p:cNvPr>
          <p:cNvSpPr>
            <a:spLocks noGrp="1"/>
          </p:cNvSpPr>
          <p:nvPr>
            <p:ph type="title"/>
          </p:nvPr>
        </p:nvSpPr>
        <p:spPr/>
        <p:txBody>
          <a:bodyPr/>
          <a:lstStyle/>
          <a:p>
            <a:r>
              <a:rPr lang="en-US" dirty="0"/>
              <a:t>Laboratory Findings</a:t>
            </a:r>
          </a:p>
        </p:txBody>
      </p:sp>
      <p:sp>
        <p:nvSpPr>
          <p:cNvPr id="3" name="Content Placeholder 2">
            <a:extLst>
              <a:ext uri="{FF2B5EF4-FFF2-40B4-BE49-F238E27FC236}">
                <a16:creationId xmlns:a16="http://schemas.microsoft.com/office/drawing/2014/main" id="{C61E3790-8A66-EE52-F4BF-87987F006CFF}"/>
              </a:ext>
            </a:extLst>
          </p:cNvPr>
          <p:cNvSpPr>
            <a:spLocks noGrp="1"/>
          </p:cNvSpPr>
          <p:nvPr>
            <p:ph idx="1"/>
          </p:nvPr>
        </p:nvSpPr>
        <p:spPr/>
        <p:txBody>
          <a:bodyPr>
            <a:normAutofit fontScale="92500"/>
          </a:bodyPr>
          <a:lstStyle/>
          <a:p>
            <a:r>
              <a:rPr lang="en-US" dirty="0"/>
              <a:t>Common lab findings among hospitalized patients with COVID-19 include:</a:t>
            </a:r>
          </a:p>
          <a:p>
            <a:pPr lvl="1">
              <a:buFontTx/>
              <a:buChar char="-"/>
            </a:pPr>
            <a:r>
              <a:rPr lang="en-US" dirty="0"/>
              <a:t>Lymphopenia (common)</a:t>
            </a:r>
          </a:p>
          <a:p>
            <a:pPr lvl="1">
              <a:buFontTx/>
              <a:buChar char="-"/>
            </a:pPr>
            <a:r>
              <a:rPr lang="en-US" dirty="0"/>
              <a:t>Elevated aminotransaminase</a:t>
            </a:r>
          </a:p>
          <a:p>
            <a:pPr lvl="1">
              <a:buFontTx/>
              <a:buChar char="-"/>
            </a:pPr>
            <a:r>
              <a:rPr lang="en-US" dirty="0"/>
              <a:t>Elevated LDH</a:t>
            </a:r>
          </a:p>
          <a:p>
            <a:pPr lvl="1">
              <a:buFontTx/>
              <a:buChar char="-"/>
            </a:pPr>
            <a:r>
              <a:rPr lang="en-US" dirty="0"/>
              <a:t>Elevated inflammatory markers (e.g., ferritin, CRP, ESR)</a:t>
            </a:r>
          </a:p>
          <a:p>
            <a:pPr lvl="1">
              <a:buFontTx/>
              <a:buChar char="-"/>
            </a:pPr>
            <a:r>
              <a:rPr lang="en-US" dirty="0"/>
              <a:t>Deranged coagulation profile (hypercoagulability)</a:t>
            </a:r>
          </a:p>
          <a:p>
            <a:pPr lvl="1">
              <a:buFontTx/>
              <a:buChar char="-"/>
            </a:pPr>
            <a:r>
              <a:rPr lang="en-US" dirty="0"/>
              <a:t>High D-dimer (associated with critical illness or mortality).</a:t>
            </a:r>
          </a:p>
          <a:p>
            <a:pPr lvl="1">
              <a:buFontTx/>
              <a:buChar char="-"/>
            </a:pPr>
            <a:endParaRPr lang="en-US" dirty="0"/>
          </a:p>
          <a:p>
            <a:r>
              <a:rPr lang="en-US" dirty="0">
                <a:highlight>
                  <a:srgbClr val="FFFF00"/>
                </a:highlight>
              </a:rPr>
              <a:t>On admission, many patients with PNA have normal serum procalcitonin levels; however, in those requiring ICU care, they are more likely to be elevated.</a:t>
            </a:r>
          </a:p>
        </p:txBody>
      </p:sp>
    </p:spTree>
    <p:extLst>
      <p:ext uri="{BB962C8B-B14F-4D97-AF65-F5344CB8AC3E}">
        <p14:creationId xmlns:p14="http://schemas.microsoft.com/office/powerpoint/2010/main" val="35980460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9789F-9CC8-B411-9696-F5144855F6B0}"/>
              </a:ext>
            </a:extLst>
          </p:cNvPr>
          <p:cNvSpPr>
            <a:spLocks noGrp="1"/>
          </p:cNvSpPr>
          <p:nvPr>
            <p:ph type="title"/>
          </p:nvPr>
        </p:nvSpPr>
        <p:spPr/>
        <p:txBody>
          <a:bodyPr/>
          <a:lstStyle/>
          <a:p>
            <a:r>
              <a:rPr lang="en-US" dirty="0"/>
              <a:t>Imaging Findings</a:t>
            </a:r>
          </a:p>
        </p:txBody>
      </p:sp>
      <p:sp>
        <p:nvSpPr>
          <p:cNvPr id="3" name="Content Placeholder 2">
            <a:extLst>
              <a:ext uri="{FF2B5EF4-FFF2-40B4-BE49-F238E27FC236}">
                <a16:creationId xmlns:a16="http://schemas.microsoft.com/office/drawing/2014/main" id="{54077457-2F27-967C-A059-B5D7BB42E6E0}"/>
              </a:ext>
            </a:extLst>
          </p:cNvPr>
          <p:cNvSpPr>
            <a:spLocks noGrp="1"/>
          </p:cNvSpPr>
          <p:nvPr>
            <p:ph idx="1"/>
          </p:nvPr>
        </p:nvSpPr>
        <p:spPr>
          <a:xfrm>
            <a:off x="838200" y="1825625"/>
            <a:ext cx="10515600" cy="4932014"/>
          </a:xfrm>
        </p:spPr>
        <p:txBody>
          <a:bodyPr>
            <a:normAutofit/>
          </a:bodyPr>
          <a:lstStyle/>
          <a:p>
            <a:r>
              <a:rPr lang="en-US" dirty="0"/>
              <a:t>Chest radiographs</a:t>
            </a:r>
          </a:p>
          <a:p>
            <a:pPr lvl="1">
              <a:buFontTx/>
              <a:buChar char="-"/>
            </a:pPr>
            <a:r>
              <a:rPr lang="en-US" dirty="0"/>
              <a:t>May be normal in early/mild disease</a:t>
            </a:r>
          </a:p>
          <a:p>
            <a:pPr lvl="1">
              <a:buFontTx/>
              <a:buChar char="-"/>
            </a:pPr>
            <a:r>
              <a:rPr lang="en-US" dirty="0">
                <a:highlight>
                  <a:srgbClr val="FFFF00"/>
                </a:highlight>
              </a:rPr>
              <a:t>Common findings include: consolidation and ground-glass opacities with bilateral, peripheral and lower lung zone distributions</a:t>
            </a:r>
            <a:r>
              <a:rPr lang="en-US" dirty="0"/>
              <a:t>.</a:t>
            </a:r>
          </a:p>
          <a:p>
            <a:pPr lvl="1">
              <a:buFontTx/>
              <a:buChar char="-"/>
            </a:pPr>
            <a:r>
              <a:rPr lang="en-US" dirty="0"/>
              <a:t>Spontaneous pneumothorax may occur (uncommon, 0.56%)</a:t>
            </a:r>
          </a:p>
          <a:p>
            <a:pPr lvl="1">
              <a:buFontTx/>
              <a:buChar char="-"/>
            </a:pPr>
            <a:endParaRPr lang="en-US" dirty="0"/>
          </a:p>
          <a:p>
            <a:r>
              <a:rPr lang="en-US" dirty="0"/>
              <a:t>Chest CT</a:t>
            </a:r>
          </a:p>
          <a:p>
            <a:pPr lvl="1">
              <a:buFontTx/>
              <a:buChar char="-"/>
            </a:pPr>
            <a:r>
              <a:rPr lang="en-US" dirty="0"/>
              <a:t>More sensitive than CXR</a:t>
            </a:r>
          </a:p>
          <a:p>
            <a:pPr lvl="1">
              <a:buFontTx/>
              <a:buChar char="-"/>
            </a:pPr>
            <a:r>
              <a:rPr lang="en-US" dirty="0">
                <a:highlight>
                  <a:srgbClr val="FFFF00"/>
                </a:highlight>
              </a:rPr>
              <a:t>Ground-glass opacifications – 83%</a:t>
            </a:r>
          </a:p>
          <a:p>
            <a:pPr lvl="1">
              <a:buFontTx/>
              <a:buChar char="-"/>
            </a:pPr>
            <a:r>
              <a:rPr lang="en-US" dirty="0"/>
              <a:t>Ground-glass opacifications with mixed consolidation – 58%</a:t>
            </a:r>
          </a:p>
          <a:p>
            <a:pPr lvl="1">
              <a:buFontTx/>
              <a:buChar char="-"/>
            </a:pPr>
            <a:r>
              <a:rPr lang="en-US" dirty="0"/>
              <a:t>Adjacent pleural thickening – 52%</a:t>
            </a:r>
          </a:p>
          <a:p>
            <a:pPr lvl="1">
              <a:buFontTx/>
              <a:buChar char="-"/>
            </a:pPr>
            <a:r>
              <a:rPr lang="en-US" dirty="0"/>
              <a:t>Interlobular septal thickening – 48%</a:t>
            </a:r>
          </a:p>
          <a:p>
            <a:pPr lvl="1">
              <a:buFontTx/>
              <a:buChar char="-"/>
            </a:pPr>
            <a:endParaRPr lang="en-US" dirty="0"/>
          </a:p>
          <a:p>
            <a:pPr lvl="1">
              <a:buFontTx/>
              <a:buChar char="-"/>
            </a:pPr>
            <a:endParaRPr lang="en-US" dirty="0"/>
          </a:p>
          <a:p>
            <a:pPr marL="457200" lvl="1" indent="0">
              <a:buNone/>
            </a:pPr>
            <a:endParaRPr lang="en-US" dirty="0"/>
          </a:p>
        </p:txBody>
      </p:sp>
    </p:spTree>
    <p:extLst>
      <p:ext uri="{BB962C8B-B14F-4D97-AF65-F5344CB8AC3E}">
        <p14:creationId xmlns:p14="http://schemas.microsoft.com/office/powerpoint/2010/main" val="5730821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7D96-49E9-49C0-4A48-B5DB908602BF}"/>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4C50AB0F-B7A1-676D-3DBF-B1753740F19D}"/>
              </a:ext>
            </a:extLst>
          </p:cNvPr>
          <p:cNvSpPr>
            <a:spLocks noGrp="1"/>
          </p:cNvSpPr>
          <p:nvPr>
            <p:ph idx="1"/>
          </p:nvPr>
        </p:nvSpPr>
        <p:spPr/>
        <p:txBody>
          <a:bodyPr/>
          <a:lstStyle/>
          <a:p>
            <a:r>
              <a:rPr lang="en-US" dirty="0"/>
              <a:t>Air bronchograms can also be seen (46%)</a:t>
            </a:r>
          </a:p>
          <a:p>
            <a:endParaRPr lang="en-US" dirty="0"/>
          </a:p>
          <a:p>
            <a:r>
              <a:rPr lang="en-US" dirty="0"/>
              <a:t>Other less common findings were a crazy paving pattern (ground-glass opacifications with superimposed septal thickening), bronchiectasis, pleural effusion, pericardial effusion, and lymphadenopathy.</a:t>
            </a:r>
          </a:p>
          <a:p>
            <a:endParaRPr lang="en-US" dirty="0"/>
          </a:p>
          <a:p>
            <a:r>
              <a:rPr lang="en-US" dirty="0"/>
              <a:t>Findings are usually bilateral, have a peripheral distribution and involve lower lobes.</a:t>
            </a:r>
          </a:p>
        </p:txBody>
      </p:sp>
    </p:spTree>
    <p:extLst>
      <p:ext uri="{BB962C8B-B14F-4D97-AF65-F5344CB8AC3E}">
        <p14:creationId xmlns:p14="http://schemas.microsoft.com/office/powerpoint/2010/main" val="3773198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B25AD-9139-4021-F873-D8864A177F74}"/>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9EB2C04E-819E-6D0B-4F7E-9DA8E8998B28}"/>
              </a:ext>
            </a:extLst>
          </p:cNvPr>
          <p:cNvPicPr>
            <a:picLocks noGrp="1" noChangeAspect="1"/>
          </p:cNvPicPr>
          <p:nvPr>
            <p:ph idx="1"/>
          </p:nvPr>
        </p:nvPicPr>
        <p:blipFill>
          <a:blip r:embed="rId2"/>
          <a:stretch>
            <a:fillRect/>
          </a:stretch>
        </p:blipFill>
        <p:spPr>
          <a:xfrm>
            <a:off x="713678" y="200722"/>
            <a:ext cx="10738624" cy="6395223"/>
          </a:xfrm>
          <a:prstGeom prst="rect">
            <a:avLst/>
          </a:prstGeom>
        </p:spPr>
      </p:pic>
      <p:sp>
        <p:nvSpPr>
          <p:cNvPr id="6" name="TextBox 5">
            <a:extLst>
              <a:ext uri="{FF2B5EF4-FFF2-40B4-BE49-F238E27FC236}">
                <a16:creationId xmlns:a16="http://schemas.microsoft.com/office/drawing/2014/main" id="{24A43606-4887-B11E-D940-71E58D73D187}"/>
              </a:ext>
            </a:extLst>
          </p:cNvPr>
          <p:cNvSpPr txBox="1"/>
          <p:nvPr/>
        </p:nvSpPr>
        <p:spPr>
          <a:xfrm>
            <a:off x="1984918" y="6411278"/>
            <a:ext cx="6796668" cy="369332"/>
          </a:xfrm>
          <a:prstGeom prst="rect">
            <a:avLst/>
          </a:prstGeom>
          <a:noFill/>
        </p:spPr>
        <p:txBody>
          <a:bodyPr wrap="square" rtlCol="0">
            <a:spAutoFit/>
          </a:bodyPr>
          <a:lstStyle/>
          <a:p>
            <a:r>
              <a:rPr lang="en-US" dirty="0"/>
              <a:t>Uptodate.com</a:t>
            </a:r>
          </a:p>
        </p:txBody>
      </p:sp>
    </p:spTree>
    <p:extLst>
      <p:ext uri="{BB962C8B-B14F-4D97-AF65-F5344CB8AC3E}">
        <p14:creationId xmlns:p14="http://schemas.microsoft.com/office/powerpoint/2010/main" val="1281097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62D0-9C0A-FFC9-0AD4-B3432210FD1C}"/>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46FA6011-E612-BE8E-B9A1-60CE004EED50}"/>
              </a:ext>
            </a:extLst>
          </p:cNvPr>
          <p:cNvSpPr>
            <a:spLocks noGrp="1"/>
          </p:cNvSpPr>
          <p:nvPr>
            <p:ph idx="1"/>
          </p:nvPr>
        </p:nvSpPr>
        <p:spPr/>
        <p:txBody>
          <a:bodyPr/>
          <a:lstStyle/>
          <a:p>
            <a:r>
              <a:rPr lang="en-US" dirty="0"/>
              <a:t>Lung Ultrasound</a:t>
            </a:r>
          </a:p>
          <a:p>
            <a:pPr lvl="1">
              <a:buFontTx/>
              <a:buChar char="-"/>
            </a:pPr>
            <a:r>
              <a:rPr lang="en-US" dirty="0"/>
              <a:t>When other imaging resources are not readily available</a:t>
            </a:r>
          </a:p>
          <a:p>
            <a:pPr lvl="1">
              <a:buFontTx/>
              <a:buChar char="-"/>
            </a:pPr>
            <a:r>
              <a:rPr lang="en-US" dirty="0"/>
              <a:t>Findings include:</a:t>
            </a:r>
          </a:p>
          <a:p>
            <a:pPr lvl="2">
              <a:buFont typeface="Wingdings" panose="05000000000000000000" pitchFamily="2" charset="2"/>
              <a:buChar char="§"/>
            </a:pPr>
            <a:r>
              <a:rPr lang="en-US" dirty="0"/>
              <a:t>Thickening, discontinuation, and interruption of the pleural line</a:t>
            </a:r>
          </a:p>
          <a:p>
            <a:pPr lvl="2">
              <a:buFont typeface="Wingdings" panose="05000000000000000000" pitchFamily="2" charset="2"/>
              <a:buChar char="§"/>
            </a:pPr>
            <a:r>
              <a:rPr lang="en-US" dirty="0"/>
              <a:t>B lines visible under the pleura that appear discrete, multifocal, or confluent</a:t>
            </a:r>
          </a:p>
          <a:p>
            <a:pPr lvl="2">
              <a:buFont typeface="Wingdings" panose="05000000000000000000" pitchFamily="2" charset="2"/>
              <a:buChar char="§"/>
            </a:pPr>
            <a:r>
              <a:rPr lang="en-US" dirty="0"/>
              <a:t>Patchy, strip, and nodular consolidations; and air bronchogram signs in the consolidations.</a:t>
            </a:r>
          </a:p>
          <a:p>
            <a:pPr marL="457200" lvl="1" indent="0">
              <a:buNone/>
            </a:pPr>
            <a:r>
              <a:rPr lang="en-US" dirty="0"/>
              <a:t>-Less sensitive (86%) for the diagnosis of COVID-19.</a:t>
            </a:r>
          </a:p>
        </p:txBody>
      </p:sp>
    </p:spTree>
    <p:extLst>
      <p:ext uri="{BB962C8B-B14F-4D97-AF65-F5344CB8AC3E}">
        <p14:creationId xmlns:p14="http://schemas.microsoft.com/office/powerpoint/2010/main" val="2872679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FB2B-3972-B978-EF80-98362EF6BE8F}"/>
              </a:ext>
            </a:extLst>
          </p:cNvPr>
          <p:cNvSpPr>
            <a:spLocks noGrp="1"/>
          </p:cNvSpPr>
          <p:nvPr>
            <p:ph type="title"/>
          </p:nvPr>
        </p:nvSpPr>
        <p:spPr/>
        <p:txBody>
          <a:bodyPr/>
          <a:lstStyle/>
          <a:p>
            <a:r>
              <a:rPr lang="en-US" dirty="0"/>
              <a:t>Management in Out-Patient Setting</a:t>
            </a:r>
          </a:p>
        </p:txBody>
      </p:sp>
      <p:sp>
        <p:nvSpPr>
          <p:cNvPr id="3" name="Content Placeholder 2">
            <a:extLst>
              <a:ext uri="{FF2B5EF4-FFF2-40B4-BE49-F238E27FC236}">
                <a16:creationId xmlns:a16="http://schemas.microsoft.com/office/drawing/2014/main" id="{A767E881-4A49-D307-4CC7-38CFB9AF0FEA}"/>
              </a:ext>
            </a:extLst>
          </p:cNvPr>
          <p:cNvSpPr>
            <a:spLocks noGrp="1"/>
          </p:cNvSpPr>
          <p:nvPr>
            <p:ph idx="1"/>
          </p:nvPr>
        </p:nvSpPr>
        <p:spPr>
          <a:xfrm>
            <a:off x="838200" y="1825625"/>
            <a:ext cx="10515600" cy="4948886"/>
          </a:xfrm>
        </p:spPr>
        <p:txBody>
          <a:bodyPr/>
          <a:lstStyle/>
          <a:p>
            <a:r>
              <a:rPr lang="en-US" dirty="0"/>
              <a:t>Primary objectives are to:</a:t>
            </a:r>
          </a:p>
          <a:p>
            <a:pPr lvl="1">
              <a:buFontTx/>
              <a:buChar char="-"/>
            </a:pPr>
            <a:r>
              <a:rPr lang="en-US" dirty="0"/>
              <a:t>Establish diagnosis</a:t>
            </a:r>
          </a:p>
          <a:p>
            <a:pPr lvl="1">
              <a:buFontTx/>
              <a:buChar char="-"/>
            </a:pPr>
            <a:r>
              <a:rPr lang="en-US" dirty="0"/>
              <a:t>Assess symptom severity and home setting to determine appropriate site of care</a:t>
            </a:r>
          </a:p>
          <a:p>
            <a:pPr lvl="1">
              <a:buFontTx/>
              <a:buChar char="-"/>
            </a:pPr>
            <a:r>
              <a:rPr lang="en-US" dirty="0"/>
              <a:t>Assess time course of infection</a:t>
            </a:r>
          </a:p>
          <a:p>
            <a:pPr lvl="1">
              <a:buFontTx/>
              <a:buChar char="-"/>
            </a:pPr>
            <a:r>
              <a:rPr lang="en-US" dirty="0"/>
              <a:t>Assess risk of progression to severe disease</a:t>
            </a:r>
          </a:p>
          <a:p>
            <a:pPr lvl="1">
              <a:buFontTx/>
              <a:buChar char="-"/>
            </a:pPr>
            <a:endParaRPr lang="en-US" dirty="0"/>
          </a:p>
          <a:p>
            <a:r>
              <a:rPr lang="en-US" dirty="0">
                <a:highlight>
                  <a:srgbClr val="FFFF00"/>
                </a:highlight>
              </a:rPr>
              <a:t>Indications of hospitalization include:</a:t>
            </a:r>
          </a:p>
          <a:p>
            <a:pPr lvl="1">
              <a:buFontTx/>
              <a:buChar char="-"/>
            </a:pPr>
            <a:r>
              <a:rPr lang="en-US" dirty="0">
                <a:highlight>
                  <a:srgbClr val="FFFF00"/>
                </a:highlight>
              </a:rPr>
              <a:t>SpO2 &lt;94% on R/A</a:t>
            </a:r>
          </a:p>
          <a:p>
            <a:pPr lvl="1">
              <a:buFontTx/>
              <a:buChar char="-"/>
            </a:pPr>
            <a:r>
              <a:rPr lang="en-US" dirty="0">
                <a:highlight>
                  <a:srgbClr val="FFFF00"/>
                </a:highlight>
              </a:rPr>
              <a:t>RR &gt;30 breaths/min</a:t>
            </a:r>
          </a:p>
          <a:p>
            <a:pPr lvl="1">
              <a:buFontTx/>
              <a:buChar char="-"/>
            </a:pPr>
            <a:r>
              <a:rPr lang="en-US" dirty="0">
                <a:highlight>
                  <a:srgbClr val="FFFF00"/>
                </a:highlight>
              </a:rPr>
              <a:t>PaO2/FiO2 &lt;300 mmHg</a:t>
            </a:r>
          </a:p>
          <a:p>
            <a:pPr lvl="1">
              <a:buFontTx/>
              <a:buChar char="-"/>
            </a:pPr>
            <a:r>
              <a:rPr lang="en-US" dirty="0">
                <a:highlight>
                  <a:srgbClr val="FFFF00"/>
                </a:highlight>
              </a:rPr>
              <a:t>Lung infiltrates &gt;50%</a:t>
            </a:r>
          </a:p>
          <a:p>
            <a:pPr lvl="1">
              <a:buFontTx/>
              <a:buChar char="-"/>
            </a:pPr>
            <a:endParaRPr lang="en-US" dirty="0"/>
          </a:p>
        </p:txBody>
      </p:sp>
    </p:spTree>
    <p:extLst>
      <p:ext uri="{BB962C8B-B14F-4D97-AF65-F5344CB8AC3E}">
        <p14:creationId xmlns:p14="http://schemas.microsoft.com/office/powerpoint/2010/main" val="2583673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DEA8A-9769-81BE-C97C-F0D651D52AAF}"/>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D0F0201F-D804-718D-BAC0-405FC4B620B1}"/>
              </a:ext>
            </a:extLst>
          </p:cNvPr>
          <p:cNvPicPr>
            <a:picLocks noGrp="1" noChangeAspect="1"/>
          </p:cNvPicPr>
          <p:nvPr>
            <p:ph idx="1"/>
          </p:nvPr>
        </p:nvPicPr>
        <p:blipFill>
          <a:blip r:embed="rId3"/>
          <a:stretch>
            <a:fillRect/>
          </a:stretch>
        </p:blipFill>
        <p:spPr>
          <a:xfrm>
            <a:off x="987748" y="365125"/>
            <a:ext cx="10205095" cy="6250828"/>
          </a:xfrm>
          <a:prstGeom prst="rect">
            <a:avLst/>
          </a:prstGeom>
        </p:spPr>
      </p:pic>
    </p:spTree>
    <p:extLst>
      <p:ext uri="{BB962C8B-B14F-4D97-AF65-F5344CB8AC3E}">
        <p14:creationId xmlns:p14="http://schemas.microsoft.com/office/powerpoint/2010/main" val="3054640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51E83-6BFC-A462-F5CD-ED718E0A5716}"/>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B51E2795-DE98-6177-6456-1A6788A0D7D9}"/>
              </a:ext>
            </a:extLst>
          </p:cNvPr>
          <p:cNvSpPr>
            <a:spLocks noGrp="1"/>
          </p:cNvSpPr>
          <p:nvPr>
            <p:ph idx="1"/>
          </p:nvPr>
        </p:nvSpPr>
        <p:spPr/>
        <p:txBody>
          <a:bodyPr/>
          <a:lstStyle/>
          <a:p>
            <a:r>
              <a:rPr lang="en-US" dirty="0"/>
              <a:t>Nirmatrelvir-ritonavir as preferred therapy – a combination of protease inhibitors.</a:t>
            </a:r>
          </a:p>
          <a:p>
            <a:endParaRPr lang="en-US" dirty="0"/>
          </a:p>
          <a:p>
            <a:r>
              <a:rPr lang="en-US" dirty="0"/>
              <a:t>Nirmatrelvir blocks the activity of</a:t>
            </a:r>
            <a:r>
              <a:rPr lang="en-US" dirty="0">
                <a:highlight>
                  <a:srgbClr val="FFFF00"/>
                </a:highlight>
              </a:rPr>
              <a:t> viral 3CL protease while ritonavir slows it’s metabolism so nirmatrelvir </a:t>
            </a:r>
            <a:r>
              <a:rPr lang="en-US" dirty="0"/>
              <a:t>remains active in the body for longer.</a:t>
            </a:r>
          </a:p>
          <a:p>
            <a:endParaRPr lang="en-US" dirty="0"/>
          </a:p>
          <a:p>
            <a:r>
              <a:rPr lang="en-US" dirty="0">
                <a:highlight>
                  <a:srgbClr val="FFFF00"/>
                </a:highlight>
              </a:rPr>
              <a:t>The EPIC-HR trial </a:t>
            </a:r>
            <a:r>
              <a:rPr lang="en-US" dirty="0"/>
              <a:t>shows pts had a reduced risk of hospitalization or </a:t>
            </a:r>
            <a:r>
              <a:rPr lang="en-US" dirty="0">
                <a:highlight>
                  <a:srgbClr val="FFFF00"/>
                </a:highlight>
              </a:rPr>
              <a:t>death by 89%</a:t>
            </a:r>
            <a:r>
              <a:rPr lang="en-US" dirty="0"/>
              <a:t> as compared to placebo.</a:t>
            </a:r>
          </a:p>
        </p:txBody>
      </p:sp>
      <p:sp>
        <p:nvSpPr>
          <p:cNvPr id="4" name="TextBox 3">
            <a:extLst>
              <a:ext uri="{FF2B5EF4-FFF2-40B4-BE49-F238E27FC236}">
                <a16:creationId xmlns:a16="http://schemas.microsoft.com/office/drawing/2014/main" id="{9D233160-556D-10A4-D5F7-2E7827E270DA}"/>
              </a:ext>
            </a:extLst>
          </p:cNvPr>
          <p:cNvSpPr txBox="1"/>
          <p:nvPr/>
        </p:nvSpPr>
        <p:spPr>
          <a:xfrm>
            <a:off x="146696" y="5807631"/>
            <a:ext cx="11901870" cy="1200329"/>
          </a:xfrm>
          <a:prstGeom prst="rect">
            <a:avLst/>
          </a:prstGeom>
          <a:noFill/>
        </p:spPr>
        <p:txBody>
          <a:bodyPr wrap="square" rtlCol="0">
            <a:spAutoFit/>
          </a:bodyPr>
          <a:lstStyle/>
          <a:p>
            <a:r>
              <a:rPr lang="en-US" dirty="0"/>
              <a:t>Hammond J, Leister-Tebbe H, Gardner A, Abreu P, Bao W, </a:t>
            </a:r>
            <a:r>
              <a:rPr lang="en-US" dirty="0" err="1"/>
              <a:t>Wisemandle</a:t>
            </a:r>
            <a:r>
              <a:rPr lang="en-US" dirty="0"/>
              <a:t> W, </a:t>
            </a:r>
            <a:r>
              <a:rPr lang="en-US" dirty="0" err="1"/>
              <a:t>Baniecki</a:t>
            </a:r>
            <a:r>
              <a:rPr lang="en-US" dirty="0"/>
              <a:t> M, Hendrick VM, Damle B, Simón-Campos A, </a:t>
            </a:r>
            <a:r>
              <a:rPr lang="en-US" dirty="0" err="1"/>
              <a:t>Pypstra</a:t>
            </a:r>
            <a:r>
              <a:rPr lang="en-US" dirty="0"/>
              <a:t> R, Rusnak JM; EPIC-HR Investigators. Oral Nirmatrelvir for High-Risk, Nonhospitalized Adults with Covid-19. N Engl J Med. 2022 Apr 14;386(15):1397-1408. </a:t>
            </a:r>
            <a:r>
              <a:rPr lang="en-US" dirty="0" err="1"/>
              <a:t>doi</a:t>
            </a:r>
            <a:r>
              <a:rPr lang="en-US" dirty="0"/>
              <a:t>: 10.1056/NEJMoa2118542. </a:t>
            </a:r>
            <a:r>
              <a:rPr lang="en-US" dirty="0" err="1"/>
              <a:t>Epub</a:t>
            </a:r>
            <a:r>
              <a:rPr lang="en-US" dirty="0"/>
              <a:t> 2022 Feb 16. PMID: 35172054; PMCID: PMC8908851.</a:t>
            </a:r>
          </a:p>
        </p:txBody>
      </p:sp>
    </p:spTree>
    <p:extLst>
      <p:ext uri="{BB962C8B-B14F-4D97-AF65-F5344CB8AC3E}">
        <p14:creationId xmlns:p14="http://schemas.microsoft.com/office/powerpoint/2010/main" val="3386044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B397D-DE30-E97E-88D1-3063275C0EE1}"/>
              </a:ext>
            </a:extLst>
          </p:cNvPr>
          <p:cNvSpPr>
            <a:spLocks noGrp="1"/>
          </p:cNvSpPr>
          <p:nvPr>
            <p:ph type="title"/>
          </p:nvPr>
        </p:nvSpPr>
        <p:spPr/>
        <p:txBody>
          <a:bodyPr/>
          <a:lstStyle/>
          <a:p>
            <a:r>
              <a:rPr lang="en-US" dirty="0"/>
              <a:t>Rebound COVID-19 After Rx</a:t>
            </a:r>
          </a:p>
        </p:txBody>
      </p:sp>
      <p:sp>
        <p:nvSpPr>
          <p:cNvPr id="3" name="Content Placeholder 2">
            <a:extLst>
              <a:ext uri="{FF2B5EF4-FFF2-40B4-BE49-F238E27FC236}">
                <a16:creationId xmlns:a16="http://schemas.microsoft.com/office/drawing/2014/main" id="{40D98AAB-46B5-864A-F39B-5B50A0180F32}"/>
              </a:ext>
            </a:extLst>
          </p:cNvPr>
          <p:cNvSpPr>
            <a:spLocks noGrp="1"/>
          </p:cNvSpPr>
          <p:nvPr>
            <p:ph idx="1"/>
          </p:nvPr>
        </p:nvSpPr>
        <p:spPr/>
        <p:txBody>
          <a:bodyPr/>
          <a:lstStyle/>
          <a:p>
            <a:r>
              <a:rPr lang="en-US" dirty="0"/>
              <a:t>Refers to recurrence of symptoms following initial improvement and/or increase in viral levels following initial decline (</a:t>
            </a:r>
            <a:r>
              <a:rPr lang="en-US" dirty="0" err="1"/>
              <a:t>eg</a:t>
            </a:r>
            <a:r>
              <a:rPr lang="en-US" dirty="0"/>
              <a:t>, as reflected by return to antigen positivity after having converted to negative antigen tests) within the first few weeks (usually 10 to 14 days) following infection.</a:t>
            </a:r>
          </a:p>
          <a:p>
            <a:endParaRPr lang="en-US" dirty="0"/>
          </a:p>
          <a:p>
            <a:r>
              <a:rPr lang="en-US" dirty="0"/>
              <a:t>Episodes are usually mild, COVID-19 specific therapy is only given to selected pts with significant immunosuppression.</a:t>
            </a:r>
          </a:p>
        </p:txBody>
      </p:sp>
    </p:spTree>
    <p:extLst>
      <p:ext uri="{BB962C8B-B14F-4D97-AF65-F5344CB8AC3E}">
        <p14:creationId xmlns:p14="http://schemas.microsoft.com/office/powerpoint/2010/main" val="2812893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7E42-CBA6-9B81-F7AB-0310F7D5AF68}"/>
              </a:ext>
            </a:extLst>
          </p:cNvPr>
          <p:cNvSpPr>
            <a:spLocks noGrp="1"/>
          </p:cNvSpPr>
          <p:nvPr>
            <p:ph type="title"/>
          </p:nvPr>
        </p:nvSpPr>
        <p:spPr/>
        <p:txBody>
          <a:bodyPr/>
          <a:lstStyle/>
          <a:p>
            <a:r>
              <a:rPr lang="en-US" dirty="0"/>
              <a:t>Not Recommended Therapies</a:t>
            </a:r>
          </a:p>
        </p:txBody>
      </p:sp>
      <p:sp>
        <p:nvSpPr>
          <p:cNvPr id="3" name="Content Placeholder 2">
            <a:extLst>
              <a:ext uri="{FF2B5EF4-FFF2-40B4-BE49-F238E27FC236}">
                <a16:creationId xmlns:a16="http://schemas.microsoft.com/office/drawing/2014/main" id="{8749166F-186B-22D2-C799-B06CC5544F41}"/>
              </a:ext>
            </a:extLst>
          </p:cNvPr>
          <p:cNvSpPr>
            <a:spLocks noGrp="1"/>
          </p:cNvSpPr>
          <p:nvPr>
            <p:ph idx="1"/>
          </p:nvPr>
        </p:nvSpPr>
        <p:spPr>
          <a:xfrm>
            <a:off x="838200" y="1972320"/>
            <a:ext cx="10515600" cy="4351338"/>
          </a:xfrm>
        </p:spPr>
        <p:txBody>
          <a:bodyPr/>
          <a:lstStyle/>
          <a:p>
            <a:r>
              <a:rPr lang="en-US" dirty="0"/>
              <a:t>Inhaled glucocorticoids</a:t>
            </a:r>
          </a:p>
          <a:p>
            <a:r>
              <a:rPr lang="en-US" dirty="0"/>
              <a:t>Systemic glucocorticoids (</a:t>
            </a:r>
            <a:r>
              <a:rPr lang="en-US" dirty="0" err="1"/>
              <a:t>esp</a:t>
            </a:r>
            <a:r>
              <a:rPr lang="en-US" dirty="0"/>
              <a:t> in outpatients)</a:t>
            </a:r>
          </a:p>
          <a:p>
            <a:r>
              <a:rPr lang="en-US" dirty="0"/>
              <a:t>Hydroxychloroquine and Azithromycin</a:t>
            </a:r>
          </a:p>
          <a:p>
            <a:r>
              <a:rPr lang="en-US" dirty="0"/>
              <a:t>Antibiotics</a:t>
            </a:r>
          </a:p>
          <a:p>
            <a:r>
              <a:rPr lang="en-US" dirty="0"/>
              <a:t>Montelukast</a:t>
            </a:r>
          </a:p>
          <a:p>
            <a:r>
              <a:rPr lang="en-US" dirty="0"/>
              <a:t>Supplementation with vitamin C, vitamin D or zinc</a:t>
            </a:r>
          </a:p>
        </p:txBody>
      </p:sp>
      <p:sp>
        <p:nvSpPr>
          <p:cNvPr id="5" name="TextBox 4">
            <a:extLst>
              <a:ext uri="{FF2B5EF4-FFF2-40B4-BE49-F238E27FC236}">
                <a16:creationId xmlns:a16="http://schemas.microsoft.com/office/drawing/2014/main" id="{11405F11-90CE-EF33-4E20-58ED6E61D44D}"/>
              </a:ext>
            </a:extLst>
          </p:cNvPr>
          <p:cNvSpPr txBox="1"/>
          <p:nvPr/>
        </p:nvSpPr>
        <p:spPr>
          <a:xfrm>
            <a:off x="122246" y="5197899"/>
            <a:ext cx="11965437" cy="1200329"/>
          </a:xfrm>
          <a:prstGeom prst="rect">
            <a:avLst/>
          </a:prstGeom>
          <a:noFill/>
        </p:spPr>
        <p:txBody>
          <a:bodyPr wrap="square" rtlCol="0">
            <a:spAutoFit/>
          </a:bodyPr>
          <a:lstStyle/>
          <a:p>
            <a:r>
              <a:rPr lang="en-US" dirty="0"/>
              <a:t>Boulware DR, Lindsell CJ, Stewart TG, Hernandez AF, Collins S, McCarthy MW, Jayaweera D, Gentile N, Castro M, Sulkowski M, McTigue K, Felker GM, Ginde AA, Dunsmore SE, Adam SJ, DeLong A, Hanna G, Remaly A, Thicklin F, Wilder R, Wilson S, Shenkman E, </a:t>
            </a:r>
            <a:r>
              <a:rPr lang="en-US" dirty="0" err="1"/>
              <a:t>Naggie</a:t>
            </a:r>
            <a:r>
              <a:rPr lang="en-US" dirty="0"/>
              <a:t> S; ACTIV-6 Study Group and Investigators. Inhaled Fluticasone Furoate for Outpatient Treatment of Covid-19. N Engl J Med. 2023 Sep 21;389(12):1085-1095. </a:t>
            </a:r>
            <a:r>
              <a:rPr lang="en-US" dirty="0" err="1"/>
              <a:t>doi</a:t>
            </a:r>
            <a:r>
              <a:rPr lang="en-US" dirty="0"/>
              <a:t>: 10.1056/NEJMoa2209421. PMID: 37733308; PMCID: PMC10597427.</a:t>
            </a:r>
          </a:p>
        </p:txBody>
      </p:sp>
    </p:spTree>
    <p:extLst>
      <p:ext uri="{BB962C8B-B14F-4D97-AF65-F5344CB8AC3E}">
        <p14:creationId xmlns:p14="http://schemas.microsoft.com/office/powerpoint/2010/main" val="3808023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CAAED-F56D-5744-AA93-299D740A677E}"/>
              </a:ext>
            </a:extLst>
          </p:cNvPr>
          <p:cNvSpPr>
            <a:spLocks noGrp="1"/>
          </p:cNvSpPr>
          <p:nvPr>
            <p:ph type="title"/>
          </p:nvPr>
        </p:nvSpPr>
        <p:spPr/>
        <p:txBody>
          <a:bodyPr/>
          <a:lstStyle/>
          <a:p>
            <a:r>
              <a:rPr lang="en-US" dirty="0"/>
              <a:t>Management in Hospitalized Adults</a:t>
            </a:r>
          </a:p>
        </p:txBody>
      </p:sp>
      <p:pic>
        <p:nvPicPr>
          <p:cNvPr id="5" name="Content Placeholder 4">
            <a:extLst>
              <a:ext uri="{FF2B5EF4-FFF2-40B4-BE49-F238E27FC236}">
                <a16:creationId xmlns:a16="http://schemas.microsoft.com/office/drawing/2014/main" id="{9B55B4E0-5B73-3FFC-B28E-79D2A5D03053}"/>
              </a:ext>
            </a:extLst>
          </p:cNvPr>
          <p:cNvPicPr>
            <a:picLocks noGrp="1" noChangeAspect="1"/>
          </p:cNvPicPr>
          <p:nvPr>
            <p:ph idx="1"/>
          </p:nvPr>
        </p:nvPicPr>
        <p:blipFill>
          <a:blip r:embed="rId2"/>
          <a:stretch>
            <a:fillRect/>
          </a:stretch>
        </p:blipFill>
        <p:spPr>
          <a:xfrm>
            <a:off x="1353313" y="1690688"/>
            <a:ext cx="9441832" cy="4486275"/>
          </a:xfrm>
          <a:prstGeom prst="rect">
            <a:avLst/>
          </a:prstGeom>
        </p:spPr>
      </p:pic>
    </p:spTree>
    <p:extLst>
      <p:ext uri="{BB962C8B-B14F-4D97-AF65-F5344CB8AC3E}">
        <p14:creationId xmlns:p14="http://schemas.microsoft.com/office/powerpoint/2010/main" val="1691892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AEB0-0DC9-41CC-DDDE-D6A73FDD871A}"/>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72EA5079-F8F6-BD17-9437-DCD7EC12DFB1}"/>
              </a:ext>
            </a:extLst>
          </p:cNvPr>
          <p:cNvSpPr>
            <a:spLocks noGrp="1"/>
          </p:cNvSpPr>
          <p:nvPr>
            <p:ph idx="1"/>
          </p:nvPr>
        </p:nvSpPr>
        <p:spPr>
          <a:xfrm>
            <a:off x="838200" y="1825625"/>
            <a:ext cx="10515600" cy="4825982"/>
          </a:xfrm>
        </p:spPr>
        <p:txBody>
          <a:bodyPr/>
          <a:lstStyle/>
          <a:p>
            <a:pPr marL="0" indent="0">
              <a:buNone/>
            </a:pPr>
            <a:r>
              <a:rPr lang="en-US" dirty="0"/>
              <a:t>For patients without oxygen requirement:</a:t>
            </a:r>
          </a:p>
          <a:p>
            <a:r>
              <a:rPr lang="en-US" dirty="0"/>
              <a:t>With risk factors for severe disease (clinical or laboratory), remdesivir is recommended.</a:t>
            </a:r>
          </a:p>
          <a:p>
            <a:r>
              <a:rPr lang="en-US" dirty="0"/>
              <a:t>For those with no risk factors for severe disease, only supportive care should be given.</a:t>
            </a:r>
          </a:p>
          <a:p>
            <a:endParaRPr lang="en-US" dirty="0"/>
          </a:p>
          <a:p>
            <a:pPr marL="0" indent="0">
              <a:buNone/>
            </a:pPr>
            <a:r>
              <a:rPr lang="en-US" dirty="0">
                <a:highlight>
                  <a:srgbClr val="FFFF00"/>
                </a:highlight>
              </a:rPr>
              <a:t>For patients with oxygen requirement/severe disease:</a:t>
            </a:r>
          </a:p>
          <a:p>
            <a:r>
              <a:rPr lang="en-US" dirty="0">
                <a:highlight>
                  <a:srgbClr val="FFFF00"/>
                </a:highlight>
              </a:rPr>
              <a:t>Depends on the oxygen/ventilatory requirement</a:t>
            </a:r>
          </a:p>
          <a:p>
            <a:r>
              <a:rPr lang="en-US" dirty="0">
                <a:highlight>
                  <a:srgbClr val="FFFF00"/>
                </a:highlight>
              </a:rPr>
              <a:t>COVID-19 specific therapy is prioritized</a:t>
            </a:r>
          </a:p>
          <a:p>
            <a:endParaRPr lang="en-US" dirty="0"/>
          </a:p>
        </p:txBody>
      </p:sp>
    </p:spTree>
    <p:extLst>
      <p:ext uri="{BB962C8B-B14F-4D97-AF65-F5344CB8AC3E}">
        <p14:creationId xmlns:p14="http://schemas.microsoft.com/office/powerpoint/2010/main" val="3966167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45CEF-7E3F-D201-F4B8-44A6EC8B4BF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DDF1341-6951-2E5B-B409-A728D3C342EA}"/>
              </a:ext>
            </a:extLst>
          </p:cNvPr>
          <p:cNvPicPr>
            <a:picLocks noGrp="1" noChangeAspect="1"/>
          </p:cNvPicPr>
          <p:nvPr>
            <p:ph idx="1"/>
          </p:nvPr>
        </p:nvPicPr>
        <p:blipFill>
          <a:blip r:embed="rId2"/>
          <a:stretch>
            <a:fillRect/>
          </a:stretch>
        </p:blipFill>
        <p:spPr>
          <a:xfrm>
            <a:off x="559090" y="365124"/>
            <a:ext cx="10794709" cy="6035675"/>
          </a:xfrm>
          <a:prstGeom prst="rect">
            <a:avLst/>
          </a:prstGeom>
        </p:spPr>
      </p:pic>
    </p:spTree>
    <p:extLst>
      <p:ext uri="{BB962C8B-B14F-4D97-AF65-F5344CB8AC3E}">
        <p14:creationId xmlns:p14="http://schemas.microsoft.com/office/powerpoint/2010/main" val="3122121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480C9-0DD0-7C41-08C0-A8092A083D7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AB991CE-3398-9D80-6AEE-CAF4ED10ED2D}"/>
              </a:ext>
            </a:extLst>
          </p:cNvPr>
          <p:cNvPicPr>
            <a:picLocks noGrp="1" noChangeAspect="1"/>
          </p:cNvPicPr>
          <p:nvPr>
            <p:ph idx="1"/>
          </p:nvPr>
        </p:nvPicPr>
        <p:blipFill>
          <a:blip r:embed="rId2"/>
          <a:stretch>
            <a:fillRect/>
          </a:stretch>
        </p:blipFill>
        <p:spPr>
          <a:xfrm>
            <a:off x="318733" y="428462"/>
            <a:ext cx="11406487" cy="4868037"/>
          </a:xfrm>
          <a:prstGeom prst="rect">
            <a:avLst/>
          </a:prstGeom>
        </p:spPr>
      </p:pic>
    </p:spTree>
    <p:extLst>
      <p:ext uri="{BB962C8B-B14F-4D97-AF65-F5344CB8AC3E}">
        <p14:creationId xmlns:p14="http://schemas.microsoft.com/office/powerpoint/2010/main" val="3985079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2744-60F4-E54D-EC32-EDD1DFD5575F}"/>
              </a:ext>
            </a:extLst>
          </p:cNvPr>
          <p:cNvSpPr>
            <a:spLocks noGrp="1"/>
          </p:cNvSpPr>
          <p:nvPr>
            <p:ph type="title"/>
          </p:nvPr>
        </p:nvSpPr>
        <p:spPr/>
        <p:txBody>
          <a:bodyPr/>
          <a:lstStyle/>
          <a:p>
            <a:r>
              <a:rPr lang="en-US" dirty="0"/>
              <a:t>Practice Qn</a:t>
            </a:r>
          </a:p>
        </p:txBody>
      </p:sp>
      <p:sp>
        <p:nvSpPr>
          <p:cNvPr id="3" name="Content Placeholder 2">
            <a:extLst>
              <a:ext uri="{FF2B5EF4-FFF2-40B4-BE49-F238E27FC236}">
                <a16:creationId xmlns:a16="http://schemas.microsoft.com/office/drawing/2014/main" id="{A1F0DD20-25D6-31B4-0E6C-F74882AE80F2}"/>
              </a:ext>
            </a:extLst>
          </p:cNvPr>
          <p:cNvSpPr>
            <a:spLocks noGrp="1"/>
          </p:cNvSpPr>
          <p:nvPr>
            <p:ph idx="1"/>
          </p:nvPr>
        </p:nvSpPr>
        <p:spPr>
          <a:xfrm>
            <a:off x="838200" y="1569639"/>
            <a:ext cx="10515600" cy="5232128"/>
          </a:xfrm>
        </p:spPr>
        <p:txBody>
          <a:bodyPr/>
          <a:lstStyle/>
          <a:p>
            <a:r>
              <a:rPr lang="en-US" dirty="0"/>
              <a:t>A 76-year-old man presents at OPD with 3/7 </a:t>
            </a:r>
            <a:r>
              <a:rPr lang="en-US" dirty="0" err="1"/>
              <a:t>hx</a:t>
            </a:r>
            <a:r>
              <a:rPr lang="en-US" dirty="0"/>
              <a:t> of a sore throat, mild dry cough and a low grade fever. He completed his initial COVID-19 primary vaccines series several years ago but has not received any recent boosters. Has T2DM (well controlled).</a:t>
            </a:r>
          </a:p>
          <a:p>
            <a:endParaRPr lang="en-US" dirty="0"/>
          </a:p>
          <a:p>
            <a:r>
              <a:rPr lang="en-US" dirty="0"/>
              <a:t>On examination, T – 38.1 C, HR 82 bpm, SpO2 96% on R/A, RR 18 breaths/min, BP 144/78 mmHg. A rapid Ag test is positive for SARS-CoV-2. </a:t>
            </a:r>
            <a:r>
              <a:rPr lang="en-US" dirty="0" err="1"/>
              <a:t>Qns</a:t>
            </a:r>
            <a:r>
              <a:rPr lang="en-US" dirty="0"/>
              <a:t>:</a:t>
            </a:r>
          </a:p>
          <a:p>
            <a:pPr marL="971550" lvl="1" indent="-514350">
              <a:buFont typeface="+mj-lt"/>
              <a:buAutoNum type="romanLcPeriod"/>
            </a:pPr>
            <a:r>
              <a:rPr lang="en-US" dirty="0"/>
              <a:t>What is the proper disposition for the patient?</a:t>
            </a:r>
          </a:p>
          <a:p>
            <a:pPr marL="971550" lvl="1" indent="-514350">
              <a:buFont typeface="+mj-lt"/>
              <a:buAutoNum type="romanLcPeriod"/>
            </a:pPr>
            <a:r>
              <a:rPr lang="en-US" dirty="0"/>
              <a:t>What is the preferred first line Rx?</a:t>
            </a:r>
          </a:p>
          <a:p>
            <a:pPr marL="971550" lvl="1" indent="-514350">
              <a:buFont typeface="+mj-lt"/>
              <a:buAutoNum type="romanLcPeriod"/>
            </a:pPr>
            <a:r>
              <a:rPr lang="en-US" dirty="0"/>
              <a:t>What safety steps must the clinician observe?</a:t>
            </a:r>
          </a:p>
          <a:p>
            <a:pPr lvl="1"/>
            <a:endParaRPr lang="en-US" dirty="0"/>
          </a:p>
          <a:p>
            <a:endParaRPr lang="en-US" dirty="0"/>
          </a:p>
          <a:p>
            <a:endParaRPr lang="en-US" dirty="0"/>
          </a:p>
          <a:p>
            <a:endParaRPr lang="en-US" dirty="0"/>
          </a:p>
          <a:p>
            <a:endParaRPr lang="en-US" dirty="0"/>
          </a:p>
          <a:p>
            <a:pPr marL="971550" lvl="1" indent="-514350">
              <a:buFont typeface="+mj-lt"/>
              <a:buAutoNum type="romanLcPeriod"/>
            </a:pPr>
            <a:endParaRPr lang="en-US" dirty="0"/>
          </a:p>
        </p:txBody>
      </p:sp>
    </p:spTree>
    <p:extLst>
      <p:ext uri="{BB962C8B-B14F-4D97-AF65-F5344CB8AC3E}">
        <p14:creationId xmlns:p14="http://schemas.microsoft.com/office/powerpoint/2010/main" val="110574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ACD2A-90A3-D09A-7173-57DEBF41BBE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802CBD0-C286-B562-D8F7-93AB8431A3C6}"/>
              </a:ext>
            </a:extLst>
          </p:cNvPr>
          <p:cNvSpPr>
            <a:spLocks noGrp="1"/>
          </p:cNvSpPr>
          <p:nvPr>
            <p:ph idx="1"/>
          </p:nvPr>
        </p:nvSpPr>
        <p:spPr>
          <a:xfrm>
            <a:off x="838200" y="1825624"/>
            <a:ext cx="10515600" cy="4865107"/>
          </a:xfrm>
        </p:spPr>
        <p:txBody>
          <a:bodyPr>
            <a:normAutofit/>
          </a:bodyPr>
          <a:lstStyle/>
          <a:p>
            <a:pPr marL="514350" indent="-514350">
              <a:buFont typeface="+mj-lt"/>
              <a:buAutoNum type="arabicParenR"/>
            </a:pPr>
            <a:r>
              <a:rPr lang="en-US" dirty="0" err="1"/>
              <a:t>Puntmann</a:t>
            </a:r>
            <a:r>
              <a:rPr lang="en-US" dirty="0"/>
              <a:t> VO, </a:t>
            </a:r>
            <a:r>
              <a:rPr lang="en-US" dirty="0" err="1"/>
              <a:t>Carerj</a:t>
            </a:r>
            <a:r>
              <a:rPr lang="en-US" dirty="0"/>
              <a:t> ML, Wieters I, et al. Outcomes of Cardiovascular Magnetic Resonance Imaging in Patients Recently Recovered From Coronavirus Disease 2019 (COVID-19). JAMA </a:t>
            </a:r>
            <a:r>
              <a:rPr lang="en-US" dirty="0" err="1"/>
              <a:t>Cardiol</a:t>
            </a:r>
            <a:r>
              <a:rPr lang="en-US" dirty="0"/>
              <a:t>. 2020 Nov 1;5(11):1265-1273.</a:t>
            </a:r>
          </a:p>
          <a:p>
            <a:pPr marL="514350" indent="-514350">
              <a:buFont typeface="+mj-lt"/>
              <a:buAutoNum type="arabicParenR"/>
            </a:pPr>
            <a:endParaRPr lang="en-US" dirty="0"/>
          </a:p>
          <a:p>
            <a:pPr marL="514350" indent="-514350">
              <a:buFont typeface="+mj-lt"/>
              <a:buAutoNum type="arabicParenR"/>
            </a:pPr>
            <a:r>
              <a:rPr lang="en-US" dirty="0"/>
              <a:t>Chen N, Zhou M, Dong X, et al. Epidemiological and clinical characteristics of 99 cases of 2019 novel coronavirus pneumonia in Wuhan, China: a descriptive study. Lancet. 2020 Feb 15;395(10223):507-513.</a:t>
            </a:r>
          </a:p>
        </p:txBody>
      </p:sp>
    </p:spTree>
    <p:extLst>
      <p:ext uri="{BB962C8B-B14F-4D97-AF65-F5344CB8AC3E}">
        <p14:creationId xmlns:p14="http://schemas.microsoft.com/office/powerpoint/2010/main" val="31597233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5C2FA-95EA-A0A1-5546-7AAD2170B946}"/>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CD160FE8-46AF-4AE6-9C1C-974790C65C1D}"/>
              </a:ext>
            </a:extLst>
          </p:cNvPr>
          <p:cNvSpPr>
            <a:spLocks noGrp="1"/>
          </p:cNvSpPr>
          <p:nvPr>
            <p:ph idx="1"/>
          </p:nvPr>
        </p:nvSpPr>
        <p:spPr/>
        <p:txBody>
          <a:bodyPr/>
          <a:lstStyle/>
          <a:p>
            <a:pPr marL="0" indent="0">
              <a:buNone/>
            </a:pPr>
            <a:r>
              <a:rPr lang="en-US" dirty="0"/>
              <a:t>3) PRINCIPLE Trial Collaborative Group. Azithromycin for community treatment of suspected COVID-19 in people at increased risk of an adverse clinical course in the UK. Lancet. 2021 Mar 20;397(10279):1063-1074.</a:t>
            </a:r>
          </a:p>
          <a:p>
            <a:pPr marL="0" indent="0">
              <a:buNone/>
            </a:pPr>
            <a:endParaRPr lang="en-US" dirty="0"/>
          </a:p>
          <a:p>
            <a:pPr marL="0" indent="0">
              <a:buNone/>
            </a:pPr>
            <a:r>
              <a:rPr lang="en-US" dirty="0"/>
              <a:t>4)  Uptodate.com</a:t>
            </a:r>
          </a:p>
          <a:p>
            <a:pPr marL="0" indent="0">
              <a:buNone/>
            </a:pPr>
            <a:endParaRPr lang="en-US" dirty="0"/>
          </a:p>
        </p:txBody>
      </p:sp>
    </p:spTree>
    <p:extLst>
      <p:ext uri="{BB962C8B-B14F-4D97-AF65-F5344CB8AC3E}">
        <p14:creationId xmlns:p14="http://schemas.microsoft.com/office/powerpoint/2010/main" val="2228788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A9A39-1C0E-1C20-F7BA-D941BF2582F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EBD8689-9F1E-8827-F02A-7910B3828C71}"/>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67705" y="212134"/>
            <a:ext cx="10694079" cy="5719241"/>
          </a:xfrm>
        </p:spPr>
      </p:pic>
      <p:sp>
        <p:nvSpPr>
          <p:cNvPr id="6" name="TextBox 5">
            <a:extLst>
              <a:ext uri="{FF2B5EF4-FFF2-40B4-BE49-F238E27FC236}">
                <a16:creationId xmlns:a16="http://schemas.microsoft.com/office/drawing/2014/main" id="{E37CA28E-9CD8-FEC7-896C-07DD2877AD0D}"/>
              </a:ext>
            </a:extLst>
          </p:cNvPr>
          <p:cNvSpPr txBox="1"/>
          <p:nvPr/>
        </p:nvSpPr>
        <p:spPr>
          <a:xfrm>
            <a:off x="767705" y="4787811"/>
            <a:ext cx="10694079" cy="230832"/>
          </a:xfrm>
          <a:prstGeom prst="rect">
            <a:avLst/>
          </a:prstGeom>
          <a:noFill/>
        </p:spPr>
        <p:txBody>
          <a:bodyPr wrap="square" rtlCol="0">
            <a:spAutoFit/>
          </a:bodyPr>
          <a:lstStyle/>
          <a:p>
            <a:r>
              <a:rPr lang="en-US" sz="900">
                <a:hlinkClick r:id="rId3" tooltip="https://jayce-o.blogspot.com/2013/09/50-top-examples-of-thank-you-cards.html"/>
              </a:rPr>
              <a:t>This Photo</a:t>
            </a:r>
            <a:r>
              <a:rPr lang="en-US" sz="900"/>
              <a:t> by Unknown Author is licensed under </a:t>
            </a:r>
            <a:r>
              <a:rPr lang="en-US" sz="900">
                <a:hlinkClick r:id="rId4" tooltip="https://creativecommons.org/licenses/by-nc-sa/3.0/"/>
              </a:rPr>
              <a:t>CC BY-SA-NC</a:t>
            </a:r>
            <a:endParaRPr lang="en-US" sz="900"/>
          </a:p>
        </p:txBody>
      </p:sp>
    </p:spTree>
    <p:extLst>
      <p:ext uri="{BB962C8B-B14F-4D97-AF65-F5344CB8AC3E}">
        <p14:creationId xmlns:p14="http://schemas.microsoft.com/office/powerpoint/2010/main" val="3289851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1140</TotalTime>
  <Words>2448</Words>
  <Application>Microsoft Macintosh PowerPoint</Application>
  <PresentationFormat>Widescreen</PresentationFormat>
  <Paragraphs>244</Paragraphs>
  <Slides>39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Wingdings</vt:lpstr>
      <vt:lpstr>Office Theme</vt:lpstr>
      <vt:lpstr>SARS CoV 1 &amp; 2 Infections</vt:lpstr>
      <vt:lpstr>Outline</vt:lpstr>
      <vt:lpstr>Virology and Immunology</vt:lpstr>
      <vt:lpstr>Virology and Immunology</vt:lpstr>
      <vt:lpstr>PowerPoint Presentation</vt:lpstr>
      <vt:lpstr>Immune Responses</vt:lpstr>
      <vt:lpstr>Cont…</vt:lpstr>
      <vt:lpstr>Epidemiology</vt:lpstr>
      <vt:lpstr>Cont…</vt:lpstr>
      <vt:lpstr>Cont…</vt:lpstr>
      <vt:lpstr>Clinical Features</vt:lpstr>
      <vt:lpstr>Initial Presentation</vt:lpstr>
      <vt:lpstr>Cont…</vt:lpstr>
      <vt:lpstr>Complications</vt:lpstr>
      <vt:lpstr>Cont…</vt:lpstr>
      <vt:lpstr>Cont…</vt:lpstr>
      <vt:lpstr>Recovery &amp; Long-Term Sequelae</vt:lpstr>
      <vt:lpstr>PowerPoint Presentation</vt:lpstr>
      <vt:lpstr>Diagnosis</vt:lpstr>
      <vt:lpstr>PowerPoint Presentation</vt:lpstr>
      <vt:lpstr>Specimens Collected</vt:lpstr>
      <vt:lpstr>Laboratory Findings</vt:lpstr>
      <vt:lpstr>Imaging Findings</vt:lpstr>
      <vt:lpstr>Cont…</vt:lpstr>
      <vt:lpstr>PowerPoint Presentation</vt:lpstr>
      <vt:lpstr>Cont…</vt:lpstr>
      <vt:lpstr>Management in Out-Patient Setting</vt:lpstr>
      <vt:lpstr>PowerPoint Presentation</vt:lpstr>
      <vt:lpstr>Cont…</vt:lpstr>
      <vt:lpstr>Rebound COVID-19 After Rx</vt:lpstr>
      <vt:lpstr>Not Recommended Therapies</vt:lpstr>
      <vt:lpstr>Management in Hospitalized Adults</vt:lpstr>
      <vt:lpstr>Cont…</vt:lpstr>
      <vt:lpstr>PowerPoint Presentation</vt:lpstr>
      <vt:lpstr>PowerPoint Presentation</vt:lpstr>
      <vt:lpstr>Practice Qn</vt:lpstr>
      <vt:lpstr>References</vt:lpstr>
      <vt:lpstr>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SARS CoV 1 &amp; 2 Infections</dc:title>
  <dc:creator>Leina Hipoliti</dc:creator>
  <cp:lastModifiedBy>clinicalrythm</cp:lastModifiedBy>
  <cp:revision>34</cp:revision>
  <dcterms:created xsi:type="dcterms:W3CDTF">2026-05-24T14:19:27Z</dcterms:created>
  <dcterms:modified xsi:type="dcterms:W3CDTF">2026-08-16T17:31:53Z</dcterms:modified>
</cp:coreProperties>
</file>