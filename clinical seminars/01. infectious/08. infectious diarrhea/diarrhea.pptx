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4" r:id="rId2"/>
    <p:sldMasterId id="2147483698" r:id="rId3"/>
    <p:sldMasterId id="2147483770" r:id="rId4"/>
    <p:sldMasterId id="2147483782" r:id="rId5"/>
    <p:sldMasterId id="2147483818" r:id="rId6"/>
  </p:sldMasterIdLst>
  <p:notesMasterIdLst>
    <p:notesMasterId r:id="rId82"/>
  </p:notesMasterIdLst>
  <p:sldIdLst>
    <p:sldId id="392" r:id="rId7"/>
    <p:sldId id="391" r:id="rId8"/>
    <p:sldId id="260" r:id="rId9"/>
    <p:sldId id="400" r:id="rId10"/>
    <p:sldId id="399" r:id="rId11"/>
    <p:sldId id="345" r:id="rId12"/>
    <p:sldId id="262" r:id="rId13"/>
    <p:sldId id="347" r:id="rId14"/>
    <p:sldId id="401" r:id="rId15"/>
    <p:sldId id="265" r:id="rId16"/>
    <p:sldId id="402" r:id="rId17"/>
    <p:sldId id="403" r:id="rId18"/>
    <p:sldId id="404" r:id="rId19"/>
    <p:sldId id="405" r:id="rId20"/>
    <p:sldId id="406" r:id="rId21"/>
    <p:sldId id="407" r:id="rId22"/>
    <p:sldId id="415" r:id="rId23"/>
    <p:sldId id="419" r:id="rId24"/>
    <p:sldId id="409" r:id="rId25"/>
    <p:sldId id="416" r:id="rId26"/>
    <p:sldId id="382" r:id="rId27"/>
    <p:sldId id="383" r:id="rId28"/>
    <p:sldId id="385" r:id="rId29"/>
    <p:sldId id="452" r:id="rId30"/>
    <p:sldId id="461" r:id="rId31"/>
    <p:sldId id="387" r:id="rId32"/>
    <p:sldId id="462" r:id="rId33"/>
    <p:sldId id="389" r:id="rId34"/>
    <p:sldId id="464" r:id="rId35"/>
    <p:sldId id="465" r:id="rId36"/>
    <p:sldId id="466" r:id="rId37"/>
    <p:sldId id="467" r:id="rId38"/>
    <p:sldId id="468" r:id="rId39"/>
    <p:sldId id="469" r:id="rId40"/>
    <p:sldId id="470" r:id="rId41"/>
    <p:sldId id="471" r:id="rId42"/>
    <p:sldId id="472" r:id="rId43"/>
    <p:sldId id="473" r:id="rId44"/>
    <p:sldId id="474" r:id="rId45"/>
    <p:sldId id="475" r:id="rId46"/>
    <p:sldId id="477" r:id="rId47"/>
    <p:sldId id="478" r:id="rId48"/>
    <p:sldId id="479" r:id="rId49"/>
    <p:sldId id="480" r:id="rId50"/>
    <p:sldId id="481" r:id="rId51"/>
    <p:sldId id="482" r:id="rId52"/>
    <p:sldId id="483" r:id="rId53"/>
    <p:sldId id="484" r:id="rId54"/>
    <p:sldId id="485" r:id="rId55"/>
    <p:sldId id="486" r:id="rId56"/>
    <p:sldId id="487" r:id="rId57"/>
    <p:sldId id="488" r:id="rId58"/>
    <p:sldId id="489" r:id="rId59"/>
    <p:sldId id="490" r:id="rId60"/>
    <p:sldId id="491" r:id="rId61"/>
    <p:sldId id="492" r:id="rId62"/>
    <p:sldId id="493" r:id="rId63"/>
    <p:sldId id="494" r:id="rId64"/>
    <p:sldId id="495" r:id="rId65"/>
    <p:sldId id="496" r:id="rId66"/>
    <p:sldId id="497" r:id="rId67"/>
    <p:sldId id="498" r:id="rId68"/>
    <p:sldId id="499" r:id="rId69"/>
    <p:sldId id="500" r:id="rId70"/>
    <p:sldId id="501" r:id="rId71"/>
    <p:sldId id="502" r:id="rId72"/>
    <p:sldId id="503" r:id="rId73"/>
    <p:sldId id="504" r:id="rId74"/>
    <p:sldId id="505" r:id="rId75"/>
    <p:sldId id="506" r:id="rId76"/>
    <p:sldId id="507" r:id="rId77"/>
    <p:sldId id="508" r:id="rId78"/>
    <p:sldId id="509" r:id="rId79"/>
    <p:sldId id="510" r:id="rId80"/>
    <p:sldId id="463" r:id="rId8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841" autoAdjust="0"/>
  </p:normalViewPr>
  <p:slideViewPr>
    <p:cSldViewPr showGuides="1">
      <p:cViewPr>
        <p:scale>
          <a:sx n="72" d="100"/>
          <a:sy n="72" d="100"/>
        </p:scale>
        <p:origin x="1326" y="-180"/>
      </p:cViewPr>
      <p:guideLst>
        <p:guide orient="horz" pos="2160"/>
        <p:guide pos="2880"/>
      </p:guideLst>
    </p:cSldViewPr>
  </p:slideViewPr>
  <p:notesTextViewPr>
    <p:cViewPr>
      <p:scale>
        <a:sx n="75" d="100"/>
        <a:sy n="75" d="100"/>
      </p:scale>
      <p:origin x="0" y="0"/>
    </p:cViewPr>
  </p:notesTextViewPr>
  <p:notesViewPr>
    <p:cSldViewPr>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viewProps" Target="view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61" Type="http://schemas.openxmlformats.org/officeDocument/2006/relationships/slide" Target="slides/slide55.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7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872"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AD8082-0A39-4F86-A712-A58FC87A5665}" type="datetimeFigureOut">
              <a:rPr lang="en-US" smtClean="0"/>
              <a:t>5/7/2026</a:t>
            </a:fld>
            <a:endParaRPr lang="en-US"/>
          </a:p>
        </p:txBody>
      </p:sp>
      <p:sp>
        <p:nvSpPr>
          <p:cNvPr id="1048873"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87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876"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43E08F-F85E-4FBC-8133-7397D6D5768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5595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Slide Image Placeholder 1"/>
          <p:cNvSpPr>
            <a:spLocks noGrp="1" noRot="1" noChangeAspect="1"/>
          </p:cNvSpPr>
          <p:nvPr>
            <p:ph type="sldImg"/>
          </p:nvPr>
        </p:nvSpPr>
        <p:spPr/>
      </p:sp>
      <p:sp>
        <p:nvSpPr>
          <p:cNvPr id="1048607" name="Notes Placeholder 2"/>
          <p:cNvSpPr>
            <a:spLocks noGrp="1"/>
          </p:cNvSpPr>
          <p:nvPr>
            <p:ph type="body" idx="1"/>
          </p:nvPr>
        </p:nvSpPr>
        <p:spPr/>
        <p:txBody>
          <a:bodyPr/>
          <a:lstStyle/>
          <a:p>
            <a:endParaRPr lang="en-US" dirty="0"/>
          </a:p>
        </p:txBody>
      </p:sp>
      <p:sp>
        <p:nvSpPr>
          <p:cNvPr id="1048608"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1642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Tenesmus is a painful , persistent painful urge to defecate or urinate , even when the bladders are empty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Gastroenteritis, commonly caused by viral pathogens (e.g., rotavirus, norovirus), bacterial pathogens (</a:t>
            </a:r>
            <a:r>
              <a:rPr lang="en-US" sz="2000" i="1" dirty="0"/>
              <a:t>Salmonella</a:t>
            </a:r>
            <a:r>
              <a:rPr lang="en-US" sz="2000" dirty="0"/>
              <a:t>, </a:t>
            </a:r>
            <a:r>
              <a:rPr lang="en-US" sz="2000" i="1" dirty="0"/>
              <a:t>Shigella</a:t>
            </a:r>
            <a:r>
              <a:rPr lang="en-US" sz="2000" dirty="0"/>
              <a:t>, </a:t>
            </a:r>
            <a:r>
              <a:rPr lang="en-US" sz="2000" i="1" dirty="0"/>
              <a:t>Escherichia coli</a:t>
            </a:r>
            <a:r>
              <a:rPr lang="en-US" sz="2000" dirty="0"/>
              <a:t>), or parasites (</a:t>
            </a:r>
            <a:r>
              <a:rPr lang="en-US" sz="2000" i="1" dirty="0"/>
              <a:t>Giardia lamblia</a:t>
            </a:r>
            <a:r>
              <a:rPr lang="en-US" sz="2000" dirty="0"/>
              <a:t>, </a:t>
            </a:r>
            <a:r>
              <a:rPr lang="en-US" sz="2000" i="1" dirty="0"/>
              <a:t>Entamoeba histolytica</a:t>
            </a:r>
            <a:r>
              <a:rPr lang="en-US" sz="2000" dirty="0"/>
              <a:t>), results in inflammation of the gastrointestinal tract lining. Symptoms vary based on the causative agent but typically include watery or bloody diarrhea, abdominal pain, nausea, vomiting, and systemic features like fever. Severe cases may lead to dehydration, especially in vulnerable populations such as children, the elderly, or immunocompromised individuals.</a:t>
            </a:r>
          </a:p>
          <a:p>
            <a:endParaRPr lang="en-TZ" sz="2000" dirty="0"/>
          </a:p>
        </p:txBody>
      </p:sp>
      <p:sp>
        <p:nvSpPr>
          <p:cNvPr id="4" name="Slide Number Placeholder 3"/>
          <p:cNvSpPr>
            <a:spLocks noGrp="1"/>
          </p:cNvSpPr>
          <p:nvPr>
            <p:ph type="sldNum" sz="quarter" idx="5"/>
          </p:nvPr>
        </p:nvSpPr>
        <p:spPr/>
        <p:txBody>
          <a:bodyPr/>
          <a:lstStyle/>
          <a:p>
            <a:fld id="{9343E08F-F85E-4FBC-8133-7397D6D5768B}" type="slidenum">
              <a:rPr lang="en-US" smtClean="0"/>
              <a:t>5</a:t>
            </a:fld>
            <a:endParaRPr lang="en-US"/>
          </a:p>
        </p:txBody>
      </p:sp>
    </p:spTree>
    <p:extLst>
      <p:ext uri="{BB962C8B-B14F-4D97-AF65-F5344CB8AC3E}">
        <p14:creationId xmlns:p14="http://schemas.microsoft.com/office/powerpoint/2010/main" val="804388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Proctitis  is the inflammation of the lining of the rectum , the final section of the large intestine.</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6</a:t>
            </a:fld>
            <a:endParaRPr lang="en-US"/>
          </a:p>
        </p:txBody>
      </p:sp>
    </p:spTree>
    <p:extLst>
      <p:ext uri="{BB962C8B-B14F-4D97-AF65-F5344CB8AC3E}">
        <p14:creationId xmlns:p14="http://schemas.microsoft.com/office/powerpoint/2010/main" val="1861334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Slide Image Placeholder 1"/>
          <p:cNvSpPr>
            <a:spLocks noGrp="1" noRot="1" noChangeAspect="1"/>
          </p:cNvSpPr>
          <p:nvPr>
            <p:ph type="sldImg"/>
          </p:nvPr>
        </p:nvSpPr>
        <p:spPr/>
      </p:sp>
      <p:sp>
        <p:nvSpPr>
          <p:cNvPr id="1048612" name="Notes Placeholder 2"/>
          <p:cNvSpPr>
            <a:spLocks noGrp="1"/>
          </p:cNvSpPr>
          <p:nvPr>
            <p:ph type="body" idx="1"/>
          </p:nvPr>
        </p:nvSpPr>
        <p:spPr/>
        <p:txBody>
          <a:bodyPr/>
          <a:lstStyle/>
          <a:p>
            <a:r>
              <a:rPr lang="en-US" dirty="0"/>
              <a:t>This data is taken from WHO fact sheets regarding childhood </a:t>
            </a:r>
            <a:r>
              <a:rPr lang="en-US" dirty="0" err="1"/>
              <a:t>diarrhoea</a:t>
            </a:r>
            <a:r>
              <a:rPr lang="en-US" dirty="0"/>
              <a:t> diseases global incidence</a:t>
            </a:r>
          </a:p>
        </p:txBody>
      </p:sp>
      <p:sp>
        <p:nvSpPr>
          <p:cNvPr id="1048613" name="Slide Number Placeholder 3"/>
          <p:cNvSpPr>
            <a:spLocks noGrp="1"/>
          </p:cNvSpPr>
          <p:nvPr>
            <p:ph type="sldNum" sz="quarter" idx="10"/>
          </p:nvPr>
        </p:nvSpPr>
        <p:spPr/>
        <p:txBody>
          <a:bodyPr/>
          <a:lstStyle/>
          <a:p>
            <a:fld id="{9343E08F-F85E-4FBC-8133-7397D6D5768B}" type="slidenum">
              <a:rPr lang="en-US" smtClean="0"/>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Title; specific incidence and mortality of diarrheal diseases in the African region: a systematic review and meta-analysis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Estimated 1005 billion diarrhea cases,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 methods; </a:t>
            </a:r>
            <a:r>
              <a:rPr lang="en-US" sz="1200" b="0" i="0" kern="1200" dirty="0">
                <a:solidFill>
                  <a:schemeClr val="tx1"/>
                </a:solidFill>
                <a:effectLst/>
                <a:latin typeface="+mn-lt"/>
                <a:ea typeface="+mn-ea"/>
                <a:cs typeface="+mn-cs"/>
              </a:rPr>
              <a:t>Through a systematic review and meta-analysis of data from African LMICs, we estimated the etiology proportions for diarrheal diseases and deaths. We combined the etiology proportions with incidence data collected from a population survey in Africa from 2020 and mortality data from the Global Health Observatory of WHO.</a:t>
            </a: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r>
              <a:rPr lang="en-US" dirty="0" err="1"/>
              <a:t>E.Coli</a:t>
            </a:r>
            <a:r>
              <a:rPr lang="en-US" dirty="0"/>
              <a:t> and </a:t>
            </a:r>
            <a:r>
              <a:rPr lang="en-US" dirty="0" err="1"/>
              <a:t>giadia</a:t>
            </a:r>
            <a:r>
              <a:rPr lang="en-US" dirty="0"/>
              <a:t> </a:t>
            </a:r>
            <a:r>
              <a:rPr lang="en-US" dirty="0" err="1"/>
              <a:t>lambia</a:t>
            </a:r>
            <a:r>
              <a:rPr lang="en-US" dirty="0"/>
              <a:t> were the leading causes in children under 5</a:t>
            </a:r>
          </a:p>
          <a:p>
            <a:r>
              <a:rPr lang="en-US" dirty="0"/>
              <a:t>Above five mostly salmonella</a:t>
            </a:r>
          </a:p>
          <a:p>
            <a:r>
              <a:rPr lang="en-US" sz="1200" b="0" i="0" kern="1200" dirty="0">
                <a:solidFill>
                  <a:schemeClr val="tx1"/>
                </a:solidFill>
                <a:effectLst/>
                <a:latin typeface="+mn-lt"/>
                <a:ea typeface="+mn-ea"/>
                <a:cs typeface="+mn-cs"/>
              </a:rPr>
              <a:t>These findings provide new information on the incidence and mortality of sixteen pathogens and highlight the need for surveillance and control of diarrheal infectious diseases in Africa. The cause-specific estimates are crucial for prioritizing diarrheal disease prevention in the region.</a:t>
            </a:r>
          </a:p>
          <a:p>
            <a:endParaRPr lang="en-US" dirty="0"/>
          </a:p>
          <a:p>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8</a:t>
            </a:fld>
            <a:endParaRPr lang="en-US"/>
          </a:p>
        </p:txBody>
      </p:sp>
    </p:spTree>
    <p:extLst>
      <p:ext uri="{BB962C8B-B14F-4D97-AF65-F5344CB8AC3E}">
        <p14:creationId xmlns:p14="http://schemas.microsoft.com/office/powerpoint/2010/main" val="884309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Chronic</a:t>
            </a:r>
            <a:r>
              <a:rPr lang="en-US" baseline="0" dirty="0"/>
              <a:t> Diarrhea</a:t>
            </a:r>
            <a:r>
              <a:rPr lang="en-US" dirty="0"/>
              <a:t> is defined as the</a:t>
            </a:r>
            <a:r>
              <a:rPr lang="en-US" baseline="0" dirty="0"/>
              <a:t> </a:t>
            </a:r>
            <a:r>
              <a:rPr lang="en-US" dirty="0"/>
              <a:t>passing of sloppy or mushy stools with increased frequency,</a:t>
            </a:r>
            <a:r>
              <a:rPr lang="en-US" baseline="0" dirty="0"/>
              <a:t> </a:t>
            </a:r>
            <a:r>
              <a:rPr lang="en-US" dirty="0"/>
              <a:t>the urgency of bowel movements, or incontinence. Typically leads nutritional</a:t>
            </a:r>
            <a:r>
              <a:rPr lang="en-US" baseline="0" dirty="0"/>
              <a:t> </a:t>
            </a:r>
            <a:r>
              <a:rPr lang="en-US" dirty="0"/>
              <a:t>and metabolic consequences, such as stunted growth.</a:t>
            </a:r>
          </a:p>
          <a:p>
            <a:r>
              <a:rPr lang="en-US" dirty="0"/>
              <a:t>Reference from infectious diseases society of America</a:t>
            </a:r>
          </a:p>
          <a:p>
            <a:r>
              <a:rPr lang="en-US" dirty="0"/>
              <a:t>American academy of family physicians 2022</a:t>
            </a:r>
          </a:p>
          <a:p>
            <a:r>
              <a:rPr lang="en-US" dirty="0"/>
              <a:t>Stat pearls 2024</a:t>
            </a:r>
          </a:p>
        </p:txBody>
      </p:sp>
      <p:sp>
        <p:nvSpPr>
          <p:cNvPr id="4" name="Slide Number Placeholder 3"/>
          <p:cNvSpPr>
            <a:spLocks noGrp="1"/>
          </p:cNvSpPr>
          <p:nvPr>
            <p:ph type="sldNum" sz="quarter" idx="10"/>
          </p:nvPr>
        </p:nvSpPr>
        <p:spPr/>
        <p:txBody>
          <a:bodyPr/>
          <a:lstStyle/>
          <a:p>
            <a:fld id="{9343E08F-F85E-4FBC-8133-7397D6D5768B}" type="slidenum">
              <a:rPr lang="en-US" smtClean="0"/>
              <a:t>9</a:t>
            </a:fld>
            <a:endParaRPr lang="en-US"/>
          </a:p>
        </p:txBody>
      </p:sp>
    </p:spTree>
    <p:extLst>
      <p:ext uri="{BB962C8B-B14F-4D97-AF65-F5344CB8AC3E}">
        <p14:creationId xmlns:p14="http://schemas.microsoft.com/office/powerpoint/2010/main" val="1610943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10</a:t>
            </a:fld>
            <a:endParaRPr lang="en-US"/>
          </a:p>
        </p:txBody>
      </p:sp>
    </p:spTree>
    <p:extLst>
      <p:ext uri="{BB962C8B-B14F-4D97-AF65-F5344CB8AC3E}">
        <p14:creationId xmlns:p14="http://schemas.microsoft.com/office/powerpoint/2010/main" val="1741141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trigger instead of attacking your intestinal walls directly , it releases enterotoxins  which are chemical messengers that confuse your cells  and turn on enzymes called adenyl cyclase which increases the levels of molecules called cAMP., which unlocks chloride channels CFTR . Salt starts pouring out of your cells and into your intestines her.</a:t>
            </a:r>
          </a:p>
          <a:p>
            <a:r>
              <a:rPr lang="en-US" dirty="0"/>
              <a:t>There is no blood or pus because actually  the bacteria are not damaging the tissue.</a:t>
            </a:r>
          </a:p>
          <a:p>
            <a:r>
              <a:rPr lang="en-US" dirty="0"/>
              <a:t>CFTR-cystic fibrosis  transmembrane conductance regulator.</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11</a:t>
            </a:fld>
            <a:endParaRPr lang="en-US"/>
          </a:p>
        </p:txBody>
      </p:sp>
    </p:spTree>
    <p:extLst>
      <p:ext uri="{BB962C8B-B14F-4D97-AF65-F5344CB8AC3E}">
        <p14:creationId xmlns:p14="http://schemas.microsoft.com/office/powerpoint/2010/main" val="960013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Rotavirus damaging the enterocytes (the cells that absorb nutrients) </a:t>
            </a:r>
          </a:p>
          <a:p>
            <a:r>
              <a:rPr lang="en-US" dirty="0"/>
              <a:t>Lacking lactase , if you drink milk and cant break down lactose (sugar) </a:t>
            </a:r>
          </a:p>
          <a:p>
            <a:r>
              <a:rPr lang="en-US" dirty="0"/>
              <a:t>The sponge effect ;</a:t>
            </a:r>
          </a:p>
          <a:p>
            <a:r>
              <a:rPr lang="en-US" dirty="0"/>
              <a:t>If you stop eating something that can’t absorb , diarrhea stops.</a:t>
            </a:r>
          </a:p>
          <a:p>
            <a:r>
              <a:rPr lang="en-US" dirty="0"/>
              <a:t>Because the unabsorbed food sits on your gut , your </a:t>
            </a:r>
            <a:r>
              <a:rPr lang="en-US" dirty="0" err="1"/>
              <a:t>naturaak</a:t>
            </a:r>
            <a:r>
              <a:rPr lang="en-US" dirty="0"/>
              <a:t> gut bacteria start to ferment , the fermentation produces the gas and painful bloating.</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12</a:t>
            </a:fld>
            <a:endParaRPr lang="en-US"/>
          </a:p>
        </p:txBody>
      </p:sp>
    </p:spTree>
    <p:extLst>
      <p:ext uri="{BB962C8B-B14F-4D97-AF65-F5344CB8AC3E}">
        <p14:creationId xmlns:p14="http://schemas.microsoft.com/office/powerpoint/2010/main" val="1708615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Bacteria like shigella or salmonella actually enter and live inside your intestinal cells. Release toxins that Causing  ulcers </a:t>
            </a:r>
          </a:p>
          <a:p>
            <a:r>
              <a:rPr lang="en-US" dirty="0"/>
              <a:t>Lining of the intestines is damaged.</a:t>
            </a:r>
          </a:p>
          <a:p>
            <a:r>
              <a:rPr lang="en-US" dirty="0"/>
              <a:t>Cytotoxicity ; they release </a:t>
            </a:r>
            <a:r>
              <a:rPr lang="en-US" dirty="0" err="1"/>
              <a:t>toxicins</a:t>
            </a:r>
            <a:r>
              <a:rPr lang="en-US" dirty="0"/>
              <a:t> that kill the </a:t>
            </a:r>
            <a:r>
              <a:rPr lang="en-US" dirty="0" err="1"/>
              <a:t>celss</a:t>
            </a:r>
            <a:r>
              <a:rPr lang="en-US" dirty="0"/>
              <a:t> , causing ulcers in the lining of the gut </a:t>
            </a:r>
          </a:p>
          <a:p>
            <a:r>
              <a:rPr lang="en-US" dirty="0"/>
              <a:t>Because the wall is </a:t>
            </a:r>
            <a:r>
              <a:rPr lang="en-US" dirty="0" err="1"/>
              <a:t>brocken</a:t>
            </a:r>
            <a:r>
              <a:rPr lang="en-US" dirty="0"/>
              <a:t>, so it is not just leaking out anymore, it is  blood, mucus and protein (exudate) </a:t>
            </a:r>
          </a:p>
          <a:p>
            <a:r>
              <a:rPr lang="en-US" dirty="0"/>
              <a:t>Fever- the immune sys is actively fighting an invasion , the body’s temperature.</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13</a:t>
            </a:fld>
            <a:endParaRPr lang="en-US"/>
          </a:p>
        </p:txBody>
      </p:sp>
    </p:spTree>
    <p:extLst>
      <p:ext uri="{BB962C8B-B14F-4D97-AF65-F5344CB8AC3E}">
        <p14:creationId xmlns:p14="http://schemas.microsoft.com/office/powerpoint/2010/main" val="1664378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cells are dying your body sends in the immune system to fight back. This causes inflammation  which makes the gut wall red , swollen and leaky </a:t>
            </a:r>
          </a:p>
          <a:p>
            <a:r>
              <a:rPr lang="en-US" dirty="0"/>
              <a:t>You get a mix of watery </a:t>
            </a:r>
            <a:r>
              <a:rPr lang="en-US" dirty="0" err="1"/>
              <a:t>dirrhea</a:t>
            </a:r>
            <a:r>
              <a:rPr lang="en-US" dirty="0"/>
              <a:t> and bloody stool.</a:t>
            </a:r>
          </a:p>
          <a:p>
            <a:r>
              <a:rPr lang="en-US" dirty="0"/>
              <a:t>Wipes away the friendly bacteria in the gut lining. Which releases toxin A and B which poison the gut lining. The dead cells , white blood </a:t>
            </a:r>
            <a:r>
              <a:rPr lang="en-US" dirty="0" err="1"/>
              <a:t>cellss</a:t>
            </a:r>
            <a:r>
              <a:rPr lang="en-US" dirty="0"/>
              <a:t> and protein create yellowish fake membrane over the surface of the colon. Which is called very high cytotoxic activity.</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14</a:t>
            </a:fld>
            <a:endParaRPr lang="en-US"/>
          </a:p>
        </p:txBody>
      </p:sp>
    </p:spTree>
    <p:extLst>
      <p:ext uri="{BB962C8B-B14F-4D97-AF65-F5344CB8AC3E}">
        <p14:creationId xmlns:p14="http://schemas.microsoft.com/office/powerpoint/2010/main" val="681960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IBS; very common when after a person recovers from  a bad bour of food poisoning like salmonella or campylobacter, their gut nerves remain hypertensive. This leads to IBS where the gut overacts to food of speeding up</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15</a:t>
            </a:fld>
            <a:endParaRPr lang="en-US"/>
          </a:p>
        </p:txBody>
      </p:sp>
    </p:spTree>
    <p:extLst>
      <p:ext uri="{BB962C8B-B14F-4D97-AF65-F5344CB8AC3E}">
        <p14:creationId xmlns:p14="http://schemas.microsoft.com/office/powerpoint/2010/main" val="3923893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Non-inflammatory (Watery)This is caused by toxins that hinders how the gut absorbs water, but they don't actually damage the tissue.</a:t>
            </a:r>
          </a:p>
          <a:p>
            <a:r>
              <a:rPr lang="en-US" dirty="0"/>
              <a:t>the secretory and osmotic types , the bacteria and viruses are just passing through or releasing toxins.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Lactoferrin-biomarker of intestinal inflammation, fecal lactoferrin is the glycoprotein released by activated neutrophils, if present in stool suggest neutrophilic inflammation in the gut</a:t>
            </a:r>
          </a:p>
          <a:p>
            <a:endParaRPr lang="en-US" dirty="0"/>
          </a:p>
          <a:p>
            <a:r>
              <a:rPr lang="en-US" dirty="0"/>
              <a:t>2. Inflammatory (Bloody/Dysentery)This happens when the germs physically invade the lining of the gut or release toxins that kill cells.</a:t>
            </a:r>
          </a:p>
          <a:p>
            <a:r>
              <a:rPr lang="en-US" dirty="0"/>
              <a:t>3. Penetrating (Systemic)The germs don't just stay in the gut; they "penetrate" through the lining to get into the rest of the body.</a:t>
            </a:r>
          </a:p>
          <a:p>
            <a:r>
              <a:rPr lang="en-US" dirty="0" err="1"/>
              <a:t>Inflamamtory</a:t>
            </a:r>
            <a:r>
              <a:rPr lang="en-US" dirty="0"/>
              <a:t>-are attacking and destroying the gut lining</a:t>
            </a:r>
          </a:p>
          <a:p>
            <a:r>
              <a:rPr lang="en-US" dirty="0" err="1"/>
              <a:t>Penetratings</a:t>
            </a:r>
            <a:r>
              <a:rPr lang="en-US" dirty="0"/>
              <a:t>- they burrow the intestines</a:t>
            </a:r>
          </a:p>
          <a:p>
            <a:r>
              <a:rPr lang="en-US" dirty="0"/>
              <a:t>ETEC-Enterotoxigenic </a:t>
            </a:r>
            <a:r>
              <a:rPr lang="en-US" dirty="0" err="1"/>
              <a:t>escheria</a:t>
            </a:r>
            <a:r>
              <a:rPr lang="en-US" dirty="0"/>
              <a:t> coli-</a:t>
            </a:r>
            <a:r>
              <a:rPr lang="en-US" dirty="0" err="1"/>
              <a:t>travellers</a:t>
            </a:r>
            <a:r>
              <a:rPr lang="en-US" dirty="0"/>
              <a:t> diarrhea</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16</a:t>
            </a:fld>
            <a:endParaRPr lang="en-US"/>
          </a:p>
        </p:txBody>
      </p:sp>
    </p:spTree>
    <p:extLst>
      <p:ext uri="{BB962C8B-B14F-4D97-AF65-F5344CB8AC3E}">
        <p14:creationId xmlns:p14="http://schemas.microsoft.com/office/powerpoint/2010/main" val="407293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Watery  with no fever-rehydrate and monitor</a:t>
            </a:r>
          </a:p>
          <a:p>
            <a:r>
              <a:rPr lang="en-US" dirty="0"/>
              <a:t>Bloody plus fever plus RLQ-investigate invasive bacteria </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17</a:t>
            </a:fld>
            <a:endParaRPr lang="en-US"/>
          </a:p>
        </p:txBody>
      </p:sp>
    </p:spTree>
    <p:extLst>
      <p:ext uri="{BB962C8B-B14F-4D97-AF65-F5344CB8AC3E}">
        <p14:creationId xmlns:p14="http://schemas.microsoft.com/office/powerpoint/2010/main" val="3751988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Infectious diarrhea exhibits signs and symptoms such as</a:t>
            </a:r>
          </a:p>
          <a:p>
            <a:r>
              <a:rPr lang="en-US" dirty="0"/>
              <a:t>fever, bloody, mucous or watery stools, sepsis </a:t>
            </a:r>
            <a:r>
              <a:rPr lang="en-US" dirty="0" err="1"/>
              <a:t>manifesta</a:t>
            </a:r>
            <a:r>
              <a:rPr lang="en-US" dirty="0"/>
              <a:t>-</a:t>
            </a:r>
          </a:p>
          <a:p>
            <a:r>
              <a:rPr lang="en-US" dirty="0" err="1"/>
              <a:t>tions</a:t>
            </a:r>
            <a:r>
              <a:rPr lang="en-US" dirty="0"/>
              <a:t> or dehydration , vomiting, abdominal discomfort,</a:t>
            </a:r>
          </a:p>
          <a:p>
            <a:r>
              <a:rPr lang="en-US" dirty="0"/>
              <a:t>Incubation period-time from initial exposure to a pathogen and the first appearance of signs and symptoms.</a:t>
            </a:r>
          </a:p>
          <a:p>
            <a:r>
              <a:rPr lang="en-US" dirty="0"/>
              <a:t>*T </a:t>
            </a:r>
            <a:r>
              <a:rPr lang="en-US" dirty="0" err="1"/>
              <a:t>ime</a:t>
            </a:r>
            <a:r>
              <a:rPr lang="en-US" dirty="0"/>
              <a:t>: Less than 6 hours.* What's happening: You didn't just eat bacteria; you ate the poison (toxin) the bacteria already left in the food. Because the poison is already there, your body reacts almost immediately.</a:t>
            </a:r>
          </a:p>
          <a:p>
            <a:endParaRPr lang="en-US" dirty="0"/>
          </a:p>
          <a:p>
            <a:pPr marL="171450" indent="-171450">
              <a:buFont typeface="Arial" panose="020B0604020202020204" pitchFamily="34" charset="0"/>
              <a:buChar char="•"/>
            </a:pPr>
            <a:r>
              <a:rPr lang="en-US" dirty="0"/>
              <a:t>Time: 8 to 16 hours.* What's happening: You ate the bacteria, and once they got inside your gut (in vivo), they started manufacturing the poison. This takes a few hours to "ramp up."* Main Symptoms: Abdominal cramps and watery diarrhea.* Examples: Clostridium perfringens.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3. Bacterial Infection (The "True" Infection)* Time: 12 to 72 hours (1–3 days).* What's happening: The bacteria need to settle in, multiply (replicate), and sometimes invade the lining of your gut. This process takes a day or two.* Main Symptoms: You start feeling "whole-body" sick, often with a fever.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4. Protozoal (The "Slow" Burner)* Time: 1 to 2 weeks or more.* What's happening: These are parasites (protozoa). They grow much slower than bacteria. You might forget what you even ate by the time you feel sick.* Main Symptoms: Symptoms that last a long time (persistent) and may come and go.* Examples: Giardia and Entamoeba histolytica (Amoebiasis).</a:t>
            </a:r>
          </a:p>
          <a:p>
            <a:endParaRPr lang="en-US" dirty="0"/>
          </a:p>
          <a:p>
            <a:endParaRPr lang="en-US" dirty="0"/>
          </a:p>
        </p:txBody>
      </p:sp>
      <p:sp>
        <p:nvSpPr>
          <p:cNvPr id="4" name="Slide Number Placeholder 3"/>
          <p:cNvSpPr>
            <a:spLocks noGrp="1"/>
          </p:cNvSpPr>
          <p:nvPr>
            <p:ph type="sldNum" sz="quarter" idx="10"/>
          </p:nvPr>
        </p:nvSpPr>
        <p:spPr/>
        <p:txBody>
          <a:bodyPr/>
          <a:lstStyle/>
          <a:p>
            <a:fld id="{9343E08F-F85E-4FBC-8133-7397D6D5768B}" type="slidenum">
              <a:rPr lang="en-US" smtClean="0"/>
              <a:t>18</a:t>
            </a:fld>
            <a:endParaRPr lang="en-US"/>
          </a:p>
        </p:txBody>
      </p:sp>
    </p:spTree>
    <p:extLst>
      <p:ext uri="{BB962C8B-B14F-4D97-AF65-F5344CB8AC3E}">
        <p14:creationId xmlns:p14="http://schemas.microsoft.com/office/powerpoint/2010/main" val="35777649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t>
            </a:r>
            <a:r>
              <a:rPr lang="en-US" dirty="0" err="1"/>
              <a:t>harrisons</a:t>
            </a:r>
            <a:endParaRPr lang="en-US" dirty="0"/>
          </a:p>
          <a:p>
            <a:r>
              <a:rPr lang="en-US" dirty="0"/>
              <a:t>STEC-Shiga toxin producing Escherichia coli </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19</a:t>
            </a:fld>
            <a:endParaRPr lang="en-US"/>
          </a:p>
        </p:txBody>
      </p:sp>
    </p:spTree>
    <p:extLst>
      <p:ext uri="{BB962C8B-B14F-4D97-AF65-F5344CB8AC3E}">
        <p14:creationId xmlns:p14="http://schemas.microsoft.com/office/powerpoint/2010/main" val="1278428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Campylobacter infection- it’s the body/s immune system overreacting after the </a:t>
            </a:r>
            <a:r>
              <a:rPr lang="en-US" dirty="0" err="1"/>
              <a:t>iniial</a:t>
            </a:r>
            <a:r>
              <a:rPr lang="en-US" dirty="0"/>
              <a:t> gut infection has cleared. </a:t>
            </a:r>
          </a:p>
          <a:p>
            <a:r>
              <a:rPr lang="en-US" dirty="0"/>
              <a:t>Post infectious complication through a mechanism known as molecular mimicry </a:t>
            </a:r>
          </a:p>
          <a:p>
            <a:r>
              <a:rPr lang="en-US" dirty="0"/>
              <a:t>The immune system produces antibodies to fight campylobacter. Some of the proteins on the surface of the bacteria look very similar to proteins found in human joint tissue. Where the confused antibodies begin attacking the synovium joints leading to </a:t>
            </a:r>
            <a:r>
              <a:rPr lang="en-US" dirty="0" err="1"/>
              <a:t>inflmammation</a:t>
            </a:r>
            <a:r>
              <a:rPr lang="en-US" dirty="0"/>
              <a:t> , swelling and pain.</a:t>
            </a:r>
          </a:p>
          <a:p>
            <a:endParaRPr lang="en-US" dirty="0"/>
          </a:p>
          <a:p>
            <a:r>
              <a:rPr lang="en-US" dirty="0"/>
              <a:t>Erythema </a:t>
            </a:r>
            <a:r>
              <a:rPr lang="en-US" dirty="0" err="1"/>
              <a:t>nodisum</a:t>
            </a:r>
            <a:r>
              <a:rPr lang="en-US" dirty="0"/>
              <a:t> – delayed hypersensitivity occurring in the subcutaneous fat layer of the skin </a:t>
            </a:r>
          </a:p>
          <a:p>
            <a:r>
              <a:rPr lang="en-US" dirty="0"/>
              <a:t>Common is Guillain Barre syndrome where the immune system to attack the peripheral nerves , leading to ascending paralysis </a:t>
            </a:r>
          </a:p>
          <a:p>
            <a:r>
              <a:rPr lang="en-US" dirty="0"/>
              <a:t>Fever- immune syst produces cytokines , where these cytokines travel through the blood to brain hypothalamus , stimulating the prostaglandins which tell the hypothalamus to raise </a:t>
            </a:r>
            <a:r>
              <a:rPr lang="en-US" dirty="0" err="1"/>
              <a:t>tempe</a:t>
            </a:r>
            <a:endParaRPr lang="en-US" dirty="0"/>
          </a:p>
          <a:p>
            <a:r>
              <a:rPr lang="en-US" dirty="0" err="1"/>
              <a:t>Tachy</a:t>
            </a:r>
            <a:r>
              <a:rPr lang="en-US" dirty="0"/>
              <a:t> and hypo- low blood volume , diarrhea causes massive loss of water and electrolytes which reduces total circulating blood volume , </a:t>
            </a:r>
            <a:r>
              <a:rPr lang="en-US" dirty="0" err="1"/>
              <a:t>tahycaridia</a:t>
            </a:r>
            <a:r>
              <a:rPr lang="en-US" dirty="0"/>
              <a:t> is compensatory when the blood pressure is dropped via baroreceptors . It triggers the </a:t>
            </a:r>
            <a:r>
              <a:rPr lang="en-US" dirty="0" err="1"/>
              <a:t>symphathetic</a:t>
            </a:r>
            <a:r>
              <a:rPr lang="en-US" dirty="0"/>
              <a:t> nervous system to release adrenaline which tells the heart to beat faster to maintain cardiac output.</a:t>
            </a:r>
          </a:p>
          <a:p>
            <a:endParaRPr lang="en-US" dirty="0"/>
          </a:p>
          <a:p>
            <a:r>
              <a:rPr lang="en-US" dirty="0"/>
              <a:t>Toxic megacolon- dilated colon accompanied by signs of systemic toxicity , severe inflammation </a:t>
            </a:r>
            <a:r>
              <a:rPr lang="en-US" dirty="0" err="1"/>
              <a:t>casues</a:t>
            </a:r>
            <a:r>
              <a:rPr lang="en-US" dirty="0"/>
              <a:t> the smooth muscles to become paralyzed </a:t>
            </a:r>
          </a:p>
        </p:txBody>
      </p:sp>
      <p:sp>
        <p:nvSpPr>
          <p:cNvPr id="4" name="Slide Number Placeholder 3"/>
          <p:cNvSpPr>
            <a:spLocks noGrp="1"/>
          </p:cNvSpPr>
          <p:nvPr>
            <p:ph type="sldNum" sz="quarter" idx="5"/>
          </p:nvPr>
        </p:nvSpPr>
        <p:spPr/>
        <p:txBody>
          <a:bodyPr/>
          <a:lstStyle/>
          <a:p>
            <a:fld id="{9343E08F-F85E-4FBC-8133-7397D6D5768B}" type="slidenum">
              <a:rPr lang="en-US" smtClean="0"/>
              <a:t>20</a:t>
            </a:fld>
            <a:endParaRPr lang="en-US"/>
          </a:p>
        </p:txBody>
      </p:sp>
    </p:spTree>
    <p:extLst>
      <p:ext uri="{BB962C8B-B14F-4D97-AF65-F5344CB8AC3E}">
        <p14:creationId xmlns:p14="http://schemas.microsoft.com/office/powerpoint/2010/main" val="3256644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Slide Image Placeholder 1"/>
          <p:cNvSpPr>
            <a:spLocks noGrp="1" noRot="1" noChangeAspect="1"/>
          </p:cNvSpPr>
          <p:nvPr>
            <p:ph type="sldImg"/>
          </p:nvPr>
        </p:nvSpPr>
        <p:spPr/>
      </p:sp>
      <p:sp>
        <p:nvSpPr>
          <p:cNvPr id="1048656" name="Notes Placeholder 2"/>
          <p:cNvSpPr>
            <a:spLocks noGrp="1"/>
          </p:cNvSpPr>
          <p:nvPr>
            <p:ph type="body" idx="1"/>
          </p:nvPr>
        </p:nvSpPr>
        <p:spPr/>
        <p:txBody>
          <a:bodyPr/>
          <a:lstStyle/>
          <a:p>
            <a:r>
              <a:rPr lang="en-US" dirty="0"/>
              <a:t>World Health Organization (WHO) scale for dehydration </a:t>
            </a:r>
          </a:p>
          <a:p>
            <a:r>
              <a:rPr lang="en-US" dirty="0"/>
              <a:t>Also</a:t>
            </a:r>
            <a:r>
              <a:rPr lang="en-US" baseline="0" dirty="0"/>
              <a:t> in WHO Module 4 on diarrhea published in 2014</a:t>
            </a:r>
            <a:endParaRPr lang="en-US" dirty="0"/>
          </a:p>
        </p:txBody>
      </p:sp>
      <p:sp>
        <p:nvSpPr>
          <p:cNvPr id="1048657" name="Slide Number Placeholder 3"/>
          <p:cNvSpPr>
            <a:spLocks noGrp="1"/>
          </p:cNvSpPr>
          <p:nvPr>
            <p:ph type="sldNum" sz="quarter" idx="10"/>
          </p:nvPr>
        </p:nvSpPr>
        <p:spPr/>
        <p:txBody>
          <a:bodyPr/>
          <a:lstStyle/>
          <a:p>
            <a:fld id="{9343E08F-F85E-4FBC-8133-7397D6D5768B}" type="slidenum">
              <a:rPr lang="en-US" smtClean="0"/>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Slide Image Placeholder 1"/>
          <p:cNvSpPr>
            <a:spLocks noGrp="1" noRot="1" noChangeAspect="1"/>
          </p:cNvSpPr>
          <p:nvPr>
            <p:ph type="sldImg"/>
          </p:nvPr>
        </p:nvSpPr>
        <p:spPr/>
      </p:sp>
      <p:sp>
        <p:nvSpPr>
          <p:cNvPr id="1048661" name="Notes Placeholder 2"/>
          <p:cNvSpPr>
            <a:spLocks noGrp="1"/>
          </p:cNvSpPr>
          <p:nvPr>
            <p:ph type="body" idx="1"/>
          </p:nvPr>
        </p:nvSpPr>
        <p:spPr/>
        <p:txBody>
          <a:bodyPr/>
          <a:lstStyle/>
          <a:p>
            <a:r>
              <a:rPr lang="en-US" dirty="0"/>
              <a:t>Developed in 1990 it was first used to monitor patients with IBS</a:t>
            </a:r>
          </a:p>
        </p:txBody>
      </p:sp>
      <p:sp>
        <p:nvSpPr>
          <p:cNvPr id="1048662" name="Slide Number Placeholder 3"/>
          <p:cNvSpPr>
            <a:spLocks noGrp="1"/>
          </p:cNvSpPr>
          <p:nvPr>
            <p:ph type="sldNum" sz="quarter" idx="10"/>
          </p:nvPr>
        </p:nvSpPr>
        <p:spPr/>
        <p:txBody>
          <a:bodyPr/>
          <a:lstStyle/>
          <a:p>
            <a:fld id="{9343E08F-F85E-4FBC-8133-7397D6D5768B}" type="slidenum">
              <a:rPr lang="en-US" smtClean="0"/>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Slide Image Placeholder 1"/>
          <p:cNvSpPr>
            <a:spLocks noGrp="1" noRot="1" noChangeAspect="1"/>
          </p:cNvSpPr>
          <p:nvPr>
            <p:ph type="sldImg"/>
          </p:nvPr>
        </p:nvSpPr>
        <p:spPr/>
      </p:sp>
      <p:sp>
        <p:nvSpPr>
          <p:cNvPr id="1048664" name="Notes Placeholder 2"/>
          <p:cNvSpPr>
            <a:spLocks noGrp="1"/>
          </p:cNvSpPr>
          <p:nvPr>
            <p:ph type="body" idx="1"/>
          </p:nvPr>
        </p:nvSpPr>
        <p:spPr/>
        <p:txBody>
          <a:bodyPr/>
          <a:lstStyle/>
          <a:p>
            <a:r>
              <a:rPr lang="en-US" dirty="0"/>
              <a:t>RAO</a:t>
            </a:r>
            <a:r>
              <a:rPr lang="en-US" baseline="0" dirty="0"/>
              <a:t> ss</a:t>
            </a:r>
          </a:p>
          <a:p>
            <a:r>
              <a:rPr lang="en-US" baseline="0" dirty="0"/>
              <a:t>Tells how a person is improving and how , if you treating  for campylobacter starts </a:t>
            </a:r>
            <a:r>
              <a:rPr lang="en-US" baseline="0" dirty="0" err="1"/>
              <a:t>tx</a:t>
            </a:r>
            <a:r>
              <a:rPr lang="en-US" baseline="0" dirty="0"/>
              <a:t> and stool moves from type 7 to type 5-they are improving.</a:t>
            </a:r>
          </a:p>
          <a:p>
            <a:r>
              <a:rPr lang="en-US" baseline="0" dirty="0"/>
              <a:t>If remains at type 6 for over 2 weeks you should look for protozoal column of your guide</a:t>
            </a:r>
          </a:p>
          <a:p>
            <a:r>
              <a:rPr lang="en-US" baseline="0" dirty="0"/>
              <a:t>Or how </a:t>
            </a:r>
            <a:endParaRPr lang="en-US" dirty="0"/>
          </a:p>
        </p:txBody>
      </p:sp>
      <p:sp>
        <p:nvSpPr>
          <p:cNvPr id="1048665" name="Slide Number Placeholder 3"/>
          <p:cNvSpPr>
            <a:spLocks noGrp="1"/>
          </p:cNvSpPr>
          <p:nvPr>
            <p:ph type="sldNum" sz="quarter" idx="10"/>
          </p:nvPr>
        </p:nvSpPr>
        <p:spPr/>
        <p:txBody>
          <a:bodyPr/>
          <a:lstStyle/>
          <a:p>
            <a:fld id="{9343E08F-F85E-4FBC-8133-7397D6D5768B}" type="slidenum">
              <a:rPr lang="en-US" smtClean="0"/>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Guide to Utilization of the Microbiology Laboratory for Diagnosis of Infectious Diseases: 2024 Update by the Infectious Diseases Society of America (IDSA) and the American Society for Microbiology (ASM)\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Study done my </a:t>
            </a:r>
            <a:r>
              <a:rPr lang="en-US" sz="1200" b="1" i="0" kern="1200" dirty="0" err="1">
                <a:solidFill>
                  <a:schemeClr val="tx1"/>
                </a:solidFill>
                <a:effectLst/>
                <a:latin typeface="+mn-lt"/>
                <a:ea typeface="+mn-ea"/>
                <a:cs typeface="+mn-cs"/>
              </a:rPr>
              <a:t>michale</a:t>
            </a:r>
            <a:r>
              <a:rPr lang="en-US" sz="1200" b="1" i="0" kern="1200" dirty="0">
                <a:solidFill>
                  <a:schemeClr val="tx1"/>
                </a:solidFill>
                <a:effectLst/>
                <a:latin typeface="+mn-lt"/>
                <a:ea typeface="+mn-ea"/>
                <a:cs typeface="+mn-cs"/>
              </a:rPr>
              <a:t> miller et al,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document, developed by experts in both adult and pediatric laboratory and clinical medicine, provides information on which tests are valuable and in which contexts, and on tests that add little or no value for diagnostic decisions.</a:t>
            </a: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24</a:t>
            </a:fld>
            <a:endParaRPr lang="en-US"/>
          </a:p>
        </p:txBody>
      </p:sp>
    </p:spTree>
    <p:extLst>
      <p:ext uri="{BB962C8B-B14F-4D97-AF65-F5344CB8AC3E}">
        <p14:creationId xmlns:p14="http://schemas.microsoft.com/office/powerpoint/2010/main" val="23867823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25</a:t>
            </a:fld>
            <a:endParaRPr lang="en-US"/>
          </a:p>
        </p:txBody>
      </p:sp>
    </p:spTree>
    <p:extLst>
      <p:ext uri="{BB962C8B-B14F-4D97-AF65-F5344CB8AC3E}">
        <p14:creationId xmlns:p14="http://schemas.microsoft.com/office/powerpoint/2010/main" val="35399532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Wetfilm</a:t>
            </a:r>
            <a:r>
              <a:rPr lang="en-US" dirty="0"/>
              <a:t>- bedside diagnostic technique used to identify vibrio cholerae based on its movement </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26</a:t>
            </a:fld>
            <a:endParaRPr lang="en-US"/>
          </a:p>
        </p:txBody>
      </p:sp>
    </p:spTree>
    <p:extLst>
      <p:ext uri="{BB962C8B-B14F-4D97-AF65-F5344CB8AC3E}">
        <p14:creationId xmlns:p14="http://schemas.microsoft.com/office/powerpoint/2010/main" val="2307892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NAAT-Nucleic acid amplification tests –detects DNA or RNA of a pathogen </a:t>
            </a:r>
          </a:p>
          <a:p>
            <a:r>
              <a:rPr lang="en-US" dirty="0" err="1"/>
              <a:t>Pcr</a:t>
            </a:r>
            <a:r>
              <a:rPr lang="en-US" dirty="0"/>
              <a:t>, RT-PCR LCR, LAMP</a:t>
            </a:r>
          </a:p>
          <a:p>
            <a:r>
              <a:rPr lang="en-US" dirty="0"/>
              <a:t>emphasize using culture-independent, molecular tests (like PCR panels) for diagnosing acute, persistent, or traveler's diarrhea in high-risk groups, including children, the elderly, and immunocompromised patients</a:t>
            </a:r>
            <a:endParaRPr lang="en-TZ" dirty="0"/>
          </a:p>
        </p:txBody>
      </p:sp>
      <p:sp>
        <p:nvSpPr>
          <p:cNvPr id="4" name="Slide Number Placeholder 3"/>
          <p:cNvSpPr>
            <a:spLocks noGrp="1"/>
          </p:cNvSpPr>
          <p:nvPr>
            <p:ph type="sldNum" sz="quarter" idx="5"/>
          </p:nvPr>
        </p:nvSpPr>
        <p:spPr/>
        <p:txBody>
          <a:bodyPr/>
          <a:lstStyle/>
          <a:p>
            <a:fld id="{9343E08F-F85E-4FBC-8133-7397D6D5768B}" type="slidenum">
              <a:rPr lang="en-US" smtClean="0"/>
              <a:t>27</a:t>
            </a:fld>
            <a:endParaRPr lang="en-US"/>
          </a:p>
        </p:txBody>
      </p:sp>
    </p:spTree>
    <p:extLst>
      <p:ext uri="{BB962C8B-B14F-4D97-AF65-F5344CB8AC3E}">
        <p14:creationId xmlns:p14="http://schemas.microsoft.com/office/powerpoint/2010/main" val="37694003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Slide Image Placeholder 1"/>
          <p:cNvSpPr>
            <a:spLocks noGrp="1" noRot="1" noChangeAspect="1"/>
          </p:cNvSpPr>
          <p:nvPr>
            <p:ph type="sldImg"/>
          </p:nvPr>
        </p:nvSpPr>
        <p:spPr/>
      </p:sp>
      <p:sp>
        <p:nvSpPr>
          <p:cNvPr id="1048674" name="Notes Placeholder 2"/>
          <p:cNvSpPr>
            <a:spLocks noGrp="1"/>
          </p:cNvSpPr>
          <p:nvPr>
            <p:ph type="body" idx="1"/>
          </p:nvPr>
        </p:nvSpPr>
        <p:spPr/>
        <p:txBody>
          <a:bodyPr/>
          <a:lstStyle/>
          <a:p>
            <a:r>
              <a:rPr lang="en-US" dirty="0"/>
              <a:t>Also can identify ischemic colitis, diverticulitis, IBD, partial</a:t>
            </a:r>
            <a:r>
              <a:rPr lang="en-US" baseline="0" dirty="0"/>
              <a:t> bowel obstruction</a:t>
            </a:r>
          </a:p>
          <a:p>
            <a:r>
              <a:rPr lang="en-US" baseline="0" dirty="0"/>
              <a:t>Used to examine the </a:t>
            </a:r>
            <a:r>
              <a:rPr lang="en-US" baseline="0" dirty="0" err="1"/>
              <a:t>disatl</a:t>
            </a:r>
            <a:r>
              <a:rPr lang="en-US" baseline="0" dirty="0"/>
              <a:t> portion of the colon rectum and sigmoid colon </a:t>
            </a:r>
            <a:endParaRPr lang="en-US" dirty="0"/>
          </a:p>
        </p:txBody>
      </p:sp>
      <p:sp>
        <p:nvSpPr>
          <p:cNvPr id="1048675" name="Slide Number Placeholder 3"/>
          <p:cNvSpPr>
            <a:spLocks noGrp="1"/>
          </p:cNvSpPr>
          <p:nvPr>
            <p:ph type="sldNum" sz="quarter" idx="10"/>
          </p:nvPr>
        </p:nvSpPr>
        <p:spPr/>
        <p:txBody>
          <a:bodyPr/>
          <a:lstStyle/>
          <a:p>
            <a:fld id="{9343E08F-F85E-4FBC-8133-7397D6D5768B}" type="slidenum">
              <a:rPr lang="en-US" smtClean="0"/>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STEC clinical clues Bloody diarrhea initially start as watery diarrhea with little or no fever, compared to shigellosis and campylobacter which always has high</a:t>
            </a:r>
            <a:r>
              <a:rPr lang="en-US" baseline="0" dirty="0" smtClean="0"/>
              <a:t> fever</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81412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smtClean="0">
                <a:solidFill>
                  <a:schemeClr val="tx1"/>
                </a:solidFill>
                <a:effectLst/>
                <a:latin typeface="+mn-lt"/>
                <a:ea typeface="+mn-ea"/>
                <a:cs typeface="+mn-cs"/>
              </a:rPr>
              <a:t>Probiotics are defined by FAO</a:t>
            </a:r>
            <a:r>
              <a:rPr lang="en-US" dirty="0" smtClean="0"/>
              <a:t> and </a:t>
            </a:r>
            <a:r>
              <a:rPr lang="en-US" sz="1200" b="0" u="none" strike="noStrike" kern="1200" dirty="0" smtClean="0">
                <a:solidFill>
                  <a:schemeClr val="tx1"/>
                </a:solidFill>
                <a:effectLst/>
                <a:latin typeface="+mn-lt"/>
                <a:ea typeface="+mn-ea"/>
                <a:cs typeface="+mn-cs"/>
              </a:rPr>
              <a:t>WHO</a:t>
            </a:r>
            <a:r>
              <a:rPr lang="en-US" dirty="0" smtClean="0"/>
              <a:t> as "live microorganisms that, when administered in adequate amounts, confer a health benefit on the </a:t>
            </a:r>
            <a:r>
              <a:rPr lang="en-US" dirty="0" smtClean="0"/>
              <a:t>host</a:t>
            </a:r>
          </a:p>
          <a:p>
            <a:r>
              <a:rPr lang="en-US" dirty="0" smtClean="0"/>
              <a:t>Restoring normal intestinal flora Competing with pathogenic organisms Producing antimicrobial substances Enhancing mucosal immunity Improving gut barrier function</a:t>
            </a:r>
          </a:p>
          <a:p>
            <a:endParaRPr lang="en-US" dirty="0" smtClean="0"/>
          </a:p>
          <a:p>
            <a:r>
              <a:rPr lang="en-US" b="1" dirty="0" smtClean="0"/>
              <a:t>Prebiotics</a:t>
            </a:r>
            <a:r>
              <a:rPr lang="en-US" dirty="0" smtClean="0"/>
              <a:t> are non-digestible food substances that promote the growth and activity of beneficial gut bacteria</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310742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 studies has shown</a:t>
            </a:r>
            <a:r>
              <a:rPr lang="en-US" baseline="0" dirty="0" smtClean="0"/>
              <a:t> effect, but 2 large RCT did not show the effect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Previous Review had shown effect of Probiotics in minimizing duration,</a:t>
            </a:r>
            <a:r>
              <a:rPr lang="en-US" baseline="0" dirty="0" smtClean="0"/>
              <a:t> done in 2019 , limitation, few studies were used which skewed the results</a:t>
            </a:r>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502964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Further studies are required for establishment of which etiology will benefit for probiotics</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917172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spc="-10" dirty="0" smtClean="0">
                <a:solidFill>
                  <a:srgbClr val="404040"/>
                </a:solidFill>
                <a:latin typeface="Times New Roman" panose="02020603050405020304" pitchFamily="18" charset="0"/>
                <a:cs typeface="Times New Roman" panose="02020603050405020304" pitchFamily="18" charset="0"/>
              </a:rPr>
              <a:t>Antibiotic-</a:t>
            </a:r>
            <a:r>
              <a:rPr lang="en-US" sz="1200" dirty="0" smtClean="0">
                <a:solidFill>
                  <a:srgbClr val="404040"/>
                </a:solidFill>
                <a:latin typeface="Times New Roman" panose="02020603050405020304" pitchFamily="18" charset="0"/>
                <a:cs typeface="Times New Roman" panose="02020603050405020304" pitchFamily="18" charset="0"/>
              </a:rPr>
              <a:t>associated</a:t>
            </a:r>
            <a:r>
              <a:rPr lang="en-US" sz="1200" spc="-60" dirty="0" smtClean="0">
                <a:solidFill>
                  <a:srgbClr val="404040"/>
                </a:solidFill>
                <a:latin typeface="Times New Roman" panose="02020603050405020304" pitchFamily="18" charset="0"/>
                <a:cs typeface="Times New Roman" panose="02020603050405020304" pitchFamily="18" charset="0"/>
              </a:rPr>
              <a:t> </a:t>
            </a:r>
            <a:r>
              <a:rPr lang="en-US" sz="1200" dirty="0" smtClean="0">
                <a:solidFill>
                  <a:srgbClr val="404040"/>
                </a:solidFill>
                <a:latin typeface="Times New Roman" panose="02020603050405020304" pitchFamily="18" charset="0"/>
                <a:cs typeface="Times New Roman" panose="02020603050405020304" pitchFamily="18" charset="0"/>
              </a:rPr>
              <a:t>diarrhea</a:t>
            </a:r>
            <a:r>
              <a:rPr lang="en-US" sz="1200" spc="-45" dirty="0" smtClean="0">
                <a:solidFill>
                  <a:srgbClr val="404040"/>
                </a:solidFill>
                <a:latin typeface="Times New Roman" panose="02020603050405020304" pitchFamily="18" charset="0"/>
                <a:cs typeface="Times New Roman" panose="02020603050405020304" pitchFamily="18" charset="0"/>
              </a:rPr>
              <a:t> </a:t>
            </a:r>
            <a:r>
              <a:rPr lang="en-US" sz="1200" dirty="0" smtClean="0">
                <a:solidFill>
                  <a:srgbClr val="404040"/>
                </a:solidFill>
                <a:latin typeface="Times New Roman" panose="02020603050405020304" pitchFamily="18" charset="0"/>
                <a:cs typeface="Times New Roman" panose="02020603050405020304" pitchFamily="18" charset="0"/>
              </a:rPr>
              <a:t>develops</a:t>
            </a:r>
            <a:r>
              <a:rPr lang="en-US" sz="1200" spc="-40" dirty="0" smtClean="0">
                <a:solidFill>
                  <a:srgbClr val="404040"/>
                </a:solidFill>
                <a:latin typeface="Times New Roman" panose="02020603050405020304" pitchFamily="18" charset="0"/>
                <a:cs typeface="Times New Roman" panose="02020603050405020304" pitchFamily="18" charset="0"/>
              </a:rPr>
              <a:t> </a:t>
            </a:r>
            <a:r>
              <a:rPr lang="en-US" sz="1200" dirty="0" smtClean="0">
                <a:solidFill>
                  <a:srgbClr val="404040"/>
                </a:solidFill>
                <a:latin typeface="Times New Roman" panose="02020603050405020304" pitchFamily="18" charset="0"/>
                <a:cs typeface="Times New Roman" panose="02020603050405020304" pitchFamily="18" charset="0"/>
              </a:rPr>
              <a:t>in</a:t>
            </a:r>
            <a:r>
              <a:rPr lang="en-US" sz="1200" spc="-45" dirty="0" smtClean="0">
                <a:solidFill>
                  <a:srgbClr val="404040"/>
                </a:solidFill>
                <a:latin typeface="Times New Roman" panose="02020603050405020304" pitchFamily="18" charset="0"/>
                <a:cs typeface="Times New Roman" panose="02020603050405020304" pitchFamily="18" charset="0"/>
              </a:rPr>
              <a:t> </a:t>
            </a:r>
            <a:r>
              <a:rPr lang="en-US" sz="1200" dirty="0" smtClean="0">
                <a:solidFill>
                  <a:srgbClr val="404040"/>
                </a:solidFill>
                <a:latin typeface="Times New Roman" panose="02020603050405020304" pitchFamily="18" charset="0"/>
                <a:cs typeface="Times New Roman" panose="02020603050405020304" pitchFamily="18" charset="0"/>
              </a:rPr>
              <a:t>up</a:t>
            </a:r>
            <a:r>
              <a:rPr lang="en-US" sz="1200" spc="-45" dirty="0" smtClean="0">
                <a:solidFill>
                  <a:srgbClr val="404040"/>
                </a:solidFill>
                <a:latin typeface="Times New Roman" panose="02020603050405020304" pitchFamily="18" charset="0"/>
                <a:cs typeface="Times New Roman" panose="02020603050405020304" pitchFamily="18" charset="0"/>
              </a:rPr>
              <a:t> </a:t>
            </a:r>
            <a:r>
              <a:rPr lang="en-US" sz="1200" dirty="0" smtClean="0">
                <a:solidFill>
                  <a:srgbClr val="404040"/>
                </a:solidFill>
                <a:latin typeface="Times New Roman" panose="02020603050405020304" pitchFamily="18" charset="0"/>
                <a:cs typeface="Times New Roman" panose="02020603050405020304" pitchFamily="18" charset="0"/>
              </a:rPr>
              <a:t>to</a:t>
            </a:r>
            <a:r>
              <a:rPr lang="en-US" sz="1200" spc="-45" dirty="0" smtClean="0">
                <a:solidFill>
                  <a:srgbClr val="404040"/>
                </a:solidFill>
                <a:latin typeface="Times New Roman" panose="02020603050405020304" pitchFamily="18" charset="0"/>
                <a:cs typeface="Times New Roman" panose="02020603050405020304" pitchFamily="18" charset="0"/>
              </a:rPr>
              <a:t> </a:t>
            </a:r>
            <a:r>
              <a:rPr lang="en-US" sz="1200" dirty="0" smtClean="0">
                <a:solidFill>
                  <a:srgbClr val="404040"/>
                </a:solidFill>
                <a:latin typeface="Times New Roman" panose="02020603050405020304" pitchFamily="18" charset="0"/>
                <a:cs typeface="Times New Roman" panose="02020603050405020304" pitchFamily="18" charset="0"/>
              </a:rPr>
              <a:t>30%</a:t>
            </a:r>
            <a:r>
              <a:rPr lang="en-US" sz="1200" spc="-40" dirty="0" smtClean="0">
                <a:solidFill>
                  <a:srgbClr val="404040"/>
                </a:solidFill>
                <a:latin typeface="Times New Roman" panose="02020603050405020304" pitchFamily="18" charset="0"/>
                <a:cs typeface="Times New Roman" panose="02020603050405020304" pitchFamily="18" charset="0"/>
              </a:rPr>
              <a:t> </a:t>
            </a:r>
            <a:r>
              <a:rPr lang="en-US" sz="1200" spc="-25" dirty="0" smtClean="0">
                <a:solidFill>
                  <a:srgbClr val="404040"/>
                </a:solidFill>
                <a:latin typeface="Times New Roman" panose="02020603050405020304" pitchFamily="18" charset="0"/>
                <a:cs typeface="Times New Roman" panose="02020603050405020304" pitchFamily="18" charset="0"/>
              </a:rPr>
              <a:t>of </a:t>
            </a:r>
            <a:r>
              <a:rPr lang="en-US" sz="1200" spc="-10" dirty="0" smtClean="0">
                <a:solidFill>
                  <a:srgbClr val="404040"/>
                </a:solidFill>
                <a:latin typeface="Times New Roman" panose="02020603050405020304" pitchFamily="18" charset="0"/>
                <a:cs typeface="Times New Roman" panose="02020603050405020304" pitchFamily="18" charset="0"/>
              </a:rPr>
              <a:t>hospitalized</a:t>
            </a:r>
            <a:r>
              <a:rPr lang="en-US" sz="1200" spc="-15" dirty="0" smtClean="0">
                <a:solidFill>
                  <a:srgbClr val="404040"/>
                </a:solidFill>
                <a:latin typeface="Times New Roman" panose="02020603050405020304" pitchFamily="18" charset="0"/>
                <a:cs typeface="Times New Roman" panose="02020603050405020304" pitchFamily="18" charset="0"/>
              </a:rPr>
              <a:t> </a:t>
            </a:r>
            <a:r>
              <a:rPr lang="en-US" sz="1200" spc="-10" dirty="0" smtClean="0">
                <a:solidFill>
                  <a:srgbClr val="404040"/>
                </a:solidFill>
                <a:latin typeface="Times New Roman" panose="02020603050405020304" pitchFamily="18" charset="0"/>
                <a:cs typeface="Times New Roman" panose="02020603050405020304" pitchFamily="18" charset="0"/>
              </a:rPr>
              <a:t>patients</a:t>
            </a:r>
            <a:endParaRPr lang="en-US" sz="1200" dirty="0" smtClean="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136482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smtClean="0"/>
              <a:t>glutamate dehydrogenase enzyme from </a:t>
            </a:r>
            <a:r>
              <a:rPr lang="it-IT" i="1" dirty="0" smtClean="0"/>
              <a:t>C. Difficile, </a:t>
            </a:r>
            <a:r>
              <a:rPr lang="it-IT" i="1" baseline="0" dirty="0" smtClean="0"/>
              <a:t>  GDH good for screening is very sensitive butcannot distinguish toxigeic and nonetoxigenic strains</a:t>
            </a:r>
          </a:p>
          <a:p>
            <a:r>
              <a:rPr lang="en-US" b="1" dirty="0" smtClean="0"/>
              <a:t>Cell Cytotoxicity Neutralization Assay (CCNA)</a:t>
            </a:r>
            <a:r>
              <a:rPr lang="en-US" b="1" baseline="0" dirty="0" smtClean="0"/>
              <a:t> </a:t>
            </a:r>
            <a:r>
              <a:rPr lang="en-US" dirty="0" smtClean="0"/>
              <a:t>Detects:</a:t>
            </a:r>
            <a:r>
              <a:rPr lang="en-US" baseline="0" dirty="0" smtClean="0"/>
              <a:t> </a:t>
            </a:r>
            <a:r>
              <a:rPr lang="en-US" dirty="0" smtClean="0"/>
              <a:t>toxin effect on cultured cells (slow</a:t>
            </a:r>
            <a:r>
              <a:rPr lang="en-US" baseline="0" dirty="0" smtClean="0"/>
              <a:t> and technically difficulty)</a:t>
            </a:r>
          </a:p>
          <a:p>
            <a:r>
              <a:rPr lang="en-US" baseline="0" dirty="0" smtClean="0"/>
              <a:t>ELISA- fast and specific to active disease, has lower sensitivity</a:t>
            </a:r>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078270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bg2">
                    <a:lumMod val="10000"/>
                  </a:schemeClr>
                </a:solidFill>
                <a:latin typeface="Times New Roman" panose="02020603050405020304" pitchFamily="18" charset="0"/>
                <a:cs typeface="Times New Roman" panose="02020603050405020304" pitchFamily="18" charset="0"/>
              </a:rPr>
              <a:t>Current IDSA/SHEA and ACG guidelines recommend because</a:t>
            </a:r>
            <a:r>
              <a:rPr lang="en-US" baseline="0" dirty="0" smtClean="0">
                <a:solidFill>
                  <a:schemeClr val="bg2">
                    <a:lumMod val="10000"/>
                  </a:schemeClr>
                </a:solidFill>
                <a:latin typeface="Times New Roman" panose="02020603050405020304" pitchFamily="18" charset="0"/>
                <a:cs typeface="Times New Roman" panose="02020603050405020304" pitchFamily="18" charset="0"/>
              </a:rPr>
              <a:t> no single test is perfects. Required to combine the test with high sensitivity and high specificity</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9826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Severe CDI is defined as patients with CDI and a leukocyte count 15  109 cells/L and/or creatinine 1.5 mg/</a:t>
            </a:r>
            <a:r>
              <a:rPr lang="en-US" dirty="0" err="1" smtClean="0"/>
              <a:t>dL</a:t>
            </a:r>
            <a:r>
              <a:rPr lang="en-US" dirty="0" smtClean="0"/>
              <a:t>.</a:t>
            </a:r>
          </a:p>
          <a:p>
            <a:r>
              <a:rPr lang="en-US" dirty="0" smtClean="0"/>
              <a:t> Fulminant CDI presents as severe disease with shock, ileus, or </a:t>
            </a:r>
            <a:r>
              <a:rPr lang="en-US" dirty="0" err="1" smtClean="0"/>
              <a:t>megacolon</a:t>
            </a:r>
            <a:endParaRPr lang="en-US" dirty="0" smtClean="0"/>
          </a:p>
          <a:p>
            <a:r>
              <a:rPr lang="en-US" dirty="0" err="1" smtClean="0"/>
              <a:t>Fidaxomicn</a:t>
            </a:r>
            <a:r>
              <a:rPr lang="en-US" dirty="0" smtClean="0"/>
              <a:t>- macrocyclic antibiotics, minimally absorbed in gut, act locally, less impact on microbiota compared to vancomycin</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08168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PLACIDE trial (“Probiotics to Lower Antibiotic‐associated &amp; Clostridium-Induced </a:t>
            </a:r>
            <a:r>
              <a:rPr lang="en-US" dirty="0" err="1" smtClean="0"/>
              <a:t>Diarrhoea</a:t>
            </a:r>
            <a:r>
              <a:rPr lang="en-US" dirty="0" smtClean="0"/>
              <a:t>: Evaluation”) was a large, pragmatic randomized controlled trial testing whether a </a:t>
            </a:r>
            <a:r>
              <a:rPr lang="en-US" dirty="0" err="1" smtClean="0"/>
              <a:t>multistrain</a:t>
            </a:r>
            <a:r>
              <a:rPr lang="en-US" dirty="0" smtClean="0"/>
              <a:t> probiotic could prevent (AAD) and</a:t>
            </a:r>
            <a:r>
              <a:rPr lang="en-US" baseline="0" dirty="0" smtClean="0"/>
              <a:t> </a:t>
            </a:r>
            <a:r>
              <a:rPr lang="en-US" dirty="0" smtClean="0"/>
              <a:t>(CDAD) in older inpatients.</a:t>
            </a:r>
          </a:p>
          <a:p>
            <a:r>
              <a:rPr lang="en-US" dirty="0" smtClean="0"/>
              <a:t>Randomized, double-blind, placebo-controlled, multicenter pragmatic trial</a:t>
            </a:r>
          </a:p>
          <a:p>
            <a:r>
              <a:rPr lang="en-US" b="1" dirty="0" smtClean="0"/>
              <a:t>Population:</a:t>
            </a:r>
            <a:r>
              <a:rPr lang="en-US" dirty="0" smtClean="0"/>
              <a:t> 2,941 hospitalized patients aged ≥65 years starting systemic antibiotics </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307322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Cochrane Database of Systematic Reviews, updated Sept 11, 2025 , involved 47 trials</a:t>
            </a:r>
          </a:p>
          <a:p>
            <a:r>
              <a:rPr lang="en-US" dirty="0" smtClean="0"/>
              <a:t>Cochrane rates the certainty of evidence as </a:t>
            </a:r>
            <a:r>
              <a:rPr lang="en-US" b="1" dirty="0" smtClean="0"/>
              <a:t>low to moderate</a:t>
            </a:r>
            <a:r>
              <a:rPr lang="en-US" dirty="0" smtClean="0"/>
              <a:t> because of </a:t>
            </a:r>
            <a:r>
              <a:rPr lang="en-US" b="1" dirty="0" smtClean="0"/>
              <a:t>risk of bias</a:t>
            </a:r>
            <a:r>
              <a:rPr lang="en-US" dirty="0" smtClean="0"/>
              <a:t>, </a:t>
            </a:r>
            <a:r>
              <a:rPr lang="en-US" b="1" dirty="0" smtClean="0"/>
              <a:t>missing outcome data, and variability across studies</a:t>
            </a:r>
            <a:endParaRPr lang="en-US" b="1"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667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CHRONIC DIARRHEA AS AIDS DEFINING ILLNESS</a:t>
            </a:r>
          </a:p>
          <a:p>
            <a:r>
              <a:rPr lang="en-US" dirty="0" smtClean="0"/>
              <a:t>It becomes AIDS-defining when:</a:t>
            </a:r>
          </a:p>
          <a:p>
            <a:r>
              <a:rPr lang="en-US" dirty="0" smtClean="0"/>
              <a:t>It is chronic (&gt;1 month), AND </a:t>
            </a:r>
          </a:p>
          <a:p>
            <a:r>
              <a:rPr lang="en-US" dirty="0" smtClean="0"/>
              <a:t>Caused by specific opportunistic organisms such as: </a:t>
            </a:r>
          </a:p>
          <a:p>
            <a:pPr lvl="1"/>
            <a:r>
              <a:rPr lang="en-US" dirty="0" smtClean="0"/>
              <a:t>Cryptosporidium </a:t>
            </a:r>
          </a:p>
          <a:p>
            <a:pPr lvl="1"/>
            <a:r>
              <a:rPr lang="en-US" dirty="0" err="1" smtClean="0"/>
              <a:t>Cystoisospora</a:t>
            </a:r>
            <a:r>
              <a:rPr lang="en-US" dirty="0" smtClean="0"/>
              <a:t> belli</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168424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smtClean="0"/>
              <a:t>glutamate dehydrogenase enzyme from </a:t>
            </a:r>
            <a:r>
              <a:rPr lang="it-IT" i="1" dirty="0" smtClean="0"/>
              <a:t>C. Difficile, </a:t>
            </a:r>
            <a:r>
              <a:rPr lang="it-IT" i="1" baseline="0" dirty="0" smtClean="0"/>
              <a:t>  GDH good for screening is very sensitive butcannot distinguish toxigeic and nonetoxigenic strains</a:t>
            </a:r>
          </a:p>
          <a:p>
            <a:r>
              <a:rPr lang="en-US" b="1" dirty="0" smtClean="0"/>
              <a:t>Cell Cytotoxicity Neutralization Assay (CCNA)</a:t>
            </a:r>
            <a:r>
              <a:rPr lang="en-US" b="1" baseline="0" dirty="0" smtClean="0"/>
              <a:t> </a:t>
            </a:r>
            <a:r>
              <a:rPr lang="en-US" dirty="0" smtClean="0"/>
              <a:t>Detects:</a:t>
            </a:r>
            <a:r>
              <a:rPr lang="en-US" baseline="0" dirty="0" smtClean="0"/>
              <a:t> </a:t>
            </a:r>
            <a:r>
              <a:rPr lang="en-US" dirty="0" smtClean="0"/>
              <a:t>toxin effect on cultured cells (slow</a:t>
            </a:r>
            <a:r>
              <a:rPr lang="en-US" baseline="0" dirty="0" smtClean="0"/>
              <a:t> and technically difficulty)</a:t>
            </a:r>
          </a:p>
          <a:p>
            <a:r>
              <a:rPr lang="en-US" baseline="0" dirty="0" smtClean="0"/>
              <a:t>ELISA- fast and specific to active disease, has lower sensitivity</a:t>
            </a:r>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1132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TAKE HOME MESSAGE</a:t>
            </a:r>
          </a:p>
          <a:p>
            <a:r>
              <a:rPr lang="en-US" dirty="0" smtClean="0"/>
              <a:t>-IMMUNOCOMPROMIZED- INVESTIGATIONS ARE IMPRTANT AND EMPERICAL ANTIIOTICS ARE IMPORTANT TOO</a:t>
            </a:r>
          </a:p>
          <a:p>
            <a:r>
              <a:rPr lang="en-US" dirty="0" smtClean="0"/>
              <a:t>-TO PREVENT RISK</a:t>
            </a:r>
            <a:r>
              <a:rPr lang="en-US" baseline="0" dirty="0" smtClean="0"/>
              <a:t> OF RELAPSE- LONG DURATION OF THERAPY IS REQUIRED</a:t>
            </a:r>
          </a:p>
          <a:p>
            <a:r>
              <a:rPr lang="en-US" baseline="0" dirty="0" smtClean="0"/>
              <a:t>-RISK OF CDI IS HIGH IN PT LOW CD4 COUNTS</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98912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All require two doses to fully protect an adult. One dose of </a:t>
            </a:r>
            <a:r>
              <a:rPr lang="en-US" dirty="0" err="1" smtClean="0"/>
              <a:t>Euvichol</a:t>
            </a:r>
            <a:r>
              <a:rPr lang="en-US" dirty="0" smtClean="0"/>
              <a:t>-Plus® or </a:t>
            </a:r>
            <a:r>
              <a:rPr lang="en-US" dirty="0" err="1" smtClean="0"/>
              <a:t>Euvichol</a:t>
            </a:r>
            <a:r>
              <a:rPr lang="en-US" dirty="0" smtClean="0"/>
              <a:t>-S</a:t>
            </a:r>
            <a:r>
              <a:rPr lang="en-US" dirty="0" smtClean="0"/>
              <a:t>®(killed oral </a:t>
            </a:r>
            <a:r>
              <a:rPr lang="en-US" dirty="0" err="1" smtClean="0"/>
              <a:t>cholea</a:t>
            </a:r>
            <a:r>
              <a:rPr lang="en-US" dirty="0" smtClean="0"/>
              <a:t> vaccine) </a:t>
            </a:r>
            <a:r>
              <a:rPr lang="en-US" dirty="0" smtClean="0"/>
              <a:t>provides good short-term protection. </a:t>
            </a:r>
            <a:r>
              <a:rPr lang="en-US" dirty="0" err="1" smtClean="0"/>
              <a:t>Euvichol</a:t>
            </a:r>
            <a:r>
              <a:rPr lang="en-US" dirty="0" smtClean="0"/>
              <a:t>-S®, pre-qualified by WHO in 2024, is a simplified version of </a:t>
            </a:r>
            <a:r>
              <a:rPr lang="en-US" dirty="0" err="1" smtClean="0"/>
              <a:t>Euvichol</a:t>
            </a:r>
            <a:r>
              <a:rPr lang="en-US" dirty="0" smtClean="0"/>
              <a:t>-Plus® is available in global market. Due to shortage only single dose I given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solidFill>
                  <a:schemeClr val="bg2">
                    <a:lumMod val="10000"/>
                  </a:schemeClr>
                </a:solidFill>
                <a:latin typeface="Times New Roman" panose="02020603050405020304" pitchFamily="18" charset="0"/>
                <a:cs typeface="Times New Roman" panose="02020603050405020304" pitchFamily="18" charset="0"/>
              </a:rPr>
              <a:t>Euvichol</a:t>
            </a:r>
            <a:r>
              <a:rPr lang="en-US" dirty="0" smtClean="0">
                <a:solidFill>
                  <a:schemeClr val="bg2">
                    <a:lumMod val="10000"/>
                  </a:schemeClr>
                </a:solidFill>
                <a:latin typeface="Times New Roman" panose="02020603050405020304" pitchFamily="18" charset="0"/>
                <a:cs typeface="Times New Roman" panose="02020603050405020304" pitchFamily="18" charset="0"/>
              </a:rPr>
              <a:t>-Plus, and </a:t>
            </a:r>
            <a:r>
              <a:rPr lang="en-US" b="1" dirty="0" err="1" smtClean="0">
                <a:solidFill>
                  <a:schemeClr val="bg2">
                    <a:lumMod val="10000"/>
                  </a:schemeClr>
                </a:solidFill>
                <a:latin typeface="Times New Roman" panose="02020603050405020304" pitchFamily="18" charset="0"/>
                <a:cs typeface="Times New Roman" panose="02020603050405020304" pitchFamily="18" charset="0"/>
              </a:rPr>
              <a:t>Euvichol</a:t>
            </a:r>
            <a:r>
              <a:rPr lang="en-US" b="1" dirty="0" smtClean="0">
                <a:solidFill>
                  <a:schemeClr val="bg2">
                    <a:lumMod val="10000"/>
                  </a:schemeClr>
                </a:solidFill>
                <a:latin typeface="Times New Roman" panose="02020603050405020304" pitchFamily="18" charset="0"/>
                <a:cs typeface="Times New Roman" panose="02020603050405020304" pitchFamily="18" charset="0"/>
              </a:rPr>
              <a:t>-S </a:t>
            </a:r>
            <a:r>
              <a:rPr lang="en-US" b="1" baseline="0" dirty="0" smtClean="0">
                <a:solidFill>
                  <a:schemeClr val="bg2">
                    <a:lumMod val="10000"/>
                  </a:schemeClr>
                </a:solidFill>
                <a:latin typeface="Times New Roman" panose="02020603050405020304" pitchFamily="18" charset="0"/>
                <a:cs typeface="Times New Roman" panose="02020603050405020304" pitchFamily="18" charset="0"/>
              </a:rPr>
              <a:t> are only available for mass vaccination campaign, supported by GAVI</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err="1" smtClean="0">
                <a:solidFill>
                  <a:schemeClr val="bg2">
                    <a:lumMod val="10000"/>
                  </a:schemeClr>
                </a:solidFill>
                <a:latin typeface="Times New Roman" panose="02020603050405020304" pitchFamily="18" charset="0"/>
                <a:cs typeface="Times New Roman" panose="02020603050405020304" pitchFamily="18" charset="0"/>
              </a:rPr>
              <a:t>Dukoral</a:t>
            </a:r>
            <a:r>
              <a:rPr lang="en-US" b="1" baseline="0" dirty="0" smtClean="0">
                <a:solidFill>
                  <a:schemeClr val="bg2">
                    <a:lumMod val="10000"/>
                  </a:schemeClr>
                </a:solidFill>
                <a:latin typeface="Times New Roman" panose="02020603050405020304" pitchFamily="18" charset="0"/>
                <a:cs typeface="Times New Roman" panose="02020603050405020304" pitchFamily="18" charset="0"/>
              </a:rPr>
              <a:t> recombinant cholera toxin B subunit, </a:t>
            </a:r>
            <a:r>
              <a:rPr lang="en-US" b="1" baseline="0" dirty="0" smtClean="0">
                <a:solidFill>
                  <a:schemeClr val="bg2">
                    <a:lumMod val="10000"/>
                  </a:schemeClr>
                </a:solidFill>
                <a:latin typeface="Times New Roman" panose="02020603050405020304" pitchFamily="18" charset="0"/>
                <a:cs typeface="Times New Roman" panose="02020603050405020304" pitchFamily="18" charset="0"/>
              </a:rPr>
              <a:t>made for travelers to endemic area, </a:t>
            </a:r>
            <a:r>
              <a:rPr lang="en-US" b="1" baseline="0" dirty="0" smtClean="0">
                <a:solidFill>
                  <a:schemeClr val="bg2">
                    <a:lumMod val="10000"/>
                  </a:schemeClr>
                </a:solidFill>
                <a:latin typeface="Times New Roman" panose="02020603050405020304" pitchFamily="18" charset="0"/>
                <a:cs typeface="Times New Roman" panose="02020603050405020304" pitchFamily="18" charset="0"/>
              </a:rPr>
              <a:t>expensive</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CVD 103-HgR</a:t>
            </a:r>
            <a:r>
              <a:rPr lang="en-US" b="1" baseline="0" dirty="0" smtClean="0"/>
              <a:t> , ORAL LIVE ATTENUATED </a:t>
            </a:r>
            <a:r>
              <a:rPr lang="en-US" dirty="0" smtClean="0"/>
              <a:t>Single dose,</a:t>
            </a:r>
            <a:r>
              <a:rPr lang="en-US" baseline="0" dirty="0" smtClean="0"/>
              <a:t> </a:t>
            </a:r>
            <a:r>
              <a:rPr lang="en-US" dirty="0" smtClean="0"/>
              <a:t>Rapid protection,</a:t>
            </a:r>
            <a:r>
              <a:rPr lang="en-US" baseline="0" dirty="0" smtClean="0"/>
              <a:t> </a:t>
            </a:r>
            <a:r>
              <a:rPr lang="en-US" dirty="0" smtClean="0"/>
              <a:t>Mainly used for travelers,</a:t>
            </a:r>
            <a:r>
              <a:rPr lang="en-US" baseline="0" dirty="0" smtClean="0"/>
              <a:t> </a:t>
            </a:r>
            <a:r>
              <a:rPr lang="en-US" dirty="0" smtClean="0"/>
              <a:t>Licensed in some high-income countries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28915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IVI-International Vaccine Institute</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957578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CVD 103-HgR</a:t>
            </a:r>
            <a:r>
              <a:rPr lang="en-US" b="1" baseline="0" dirty="0" smtClean="0"/>
              <a:t> , ORAL LIVE ATTENUATED </a:t>
            </a:r>
            <a:r>
              <a:rPr lang="en-US" dirty="0" smtClean="0"/>
              <a:t>Single dose,</a:t>
            </a:r>
            <a:r>
              <a:rPr lang="en-US" baseline="0" dirty="0" smtClean="0"/>
              <a:t> </a:t>
            </a:r>
            <a:r>
              <a:rPr lang="en-US" dirty="0" smtClean="0"/>
              <a:t>Rapid protection,</a:t>
            </a:r>
            <a:r>
              <a:rPr lang="en-US" baseline="0" dirty="0" smtClean="0"/>
              <a:t> </a:t>
            </a:r>
            <a:r>
              <a:rPr lang="en-US" dirty="0" smtClean="0"/>
              <a:t>Mainly used for travelers,</a:t>
            </a:r>
            <a:r>
              <a:rPr lang="en-US" baseline="0" dirty="0" smtClean="0"/>
              <a:t> </a:t>
            </a:r>
            <a:r>
              <a:rPr lang="en-US" dirty="0" smtClean="0"/>
              <a:t>Licensed in some high-income countries</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343E08F-F85E-4FBC-8133-7397D6D5768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0780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New MUHAS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4739" y="187326"/>
            <a:ext cx="1473200"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6073776"/>
            <a:ext cx="9144000" cy="49213"/>
          </a:xfrm>
          <a:prstGeom prst="rect">
            <a:avLst/>
          </a:prstGeom>
          <a:solidFill>
            <a:srgbClr val="E4001B"/>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35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mn-cs"/>
            </a:endParaRPr>
          </a:p>
        </p:txBody>
      </p:sp>
      <p:sp>
        <p:nvSpPr>
          <p:cNvPr id="6" name="Rectangle 5"/>
          <p:cNvSpPr>
            <a:spLocks noChangeArrowheads="1"/>
          </p:cNvSpPr>
          <p:nvPr/>
        </p:nvSpPr>
        <p:spPr bwMode="auto">
          <a:xfrm>
            <a:off x="4763" y="6167439"/>
            <a:ext cx="9144000" cy="49212"/>
          </a:xfrm>
          <a:prstGeom prst="rect">
            <a:avLst/>
          </a:prstGeom>
          <a:solidFill>
            <a:srgbClr val="E6DF13"/>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35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mn-cs"/>
            </a:endParaRPr>
          </a:p>
        </p:txBody>
      </p:sp>
      <p:sp>
        <p:nvSpPr>
          <p:cNvPr id="7" name="Rectangle 6"/>
          <p:cNvSpPr>
            <a:spLocks noChangeArrowheads="1"/>
          </p:cNvSpPr>
          <p:nvPr/>
        </p:nvSpPr>
        <p:spPr bwMode="auto">
          <a:xfrm>
            <a:off x="4763" y="6267452"/>
            <a:ext cx="9144000" cy="49213"/>
          </a:xfrm>
          <a:prstGeom prst="rect">
            <a:avLst/>
          </a:prstGeom>
          <a:solidFill>
            <a:srgbClr val="1C7F5E"/>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35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mn-cs"/>
            </a:endParaRPr>
          </a:p>
        </p:txBody>
      </p:sp>
      <p:sp>
        <p:nvSpPr>
          <p:cNvPr id="2" name="Title 1"/>
          <p:cNvSpPr>
            <a:spLocks noGrp="1"/>
          </p:cNvSpPr>
          <p:nvPr>
            <p:ph type="ctrTitle"/>
          </p:nvPr>
        </p:nvSpPr>
        <p:spPr>
          <a:xfrm>
            <a:off x="685800" y="2130428"/>
            <a:ext cx="7772400" cy="1470025"/>
          </a:xfrm>
        </p:spPr>
        <p:txBody>
          <a:bodyPr/>
          <a:lstStyle>
            <a:lvl1pPr>
              <a:defRPr>
                <a:solidFill>
                  <a:srgbClr val="20328C"/>
                </a:solidFill>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accent1">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8" name="Date Placeholder 3"/>
          <p:cNvSpPr>
            <a:spLocks noGrp="1"/>
          </p:cNvSpPr>
          <p:nvPr>
            <p:ph type="dt" sz="half" idx="10"/>
          </p:nvPr>
        </p:nvSpPr>
        <p:spPr/>
        <p:txBody>
          <a:bodyPr/>
          <a:lstStyle>
            <a:lvl1pPr>
              <a:defRPr/>
            </a:lvl1pPr>
          </a:lstStyle>
          <a:p>
            <a:pPr defTabSz="914400"/>
            <a:fld id="{4AAD347D-5ACD-4C99-B74B-A9C85AD731AF}" type="datetimeFigureOut">
              <a:rPr lang="en-US" smtClean="0"/>
              <a:pPr defTabSz="914400"/>
              <a:t>5/7/2026</a:t>
            </a:fld>
            <a:endParaRPr lang="en-US" dirty="0"/>
          </a:p>
        </p:txBody>
      </p:sp>
      <p:sp>
        <p:nvSpPr>
          <p:cNvPr id="9"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10"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290316647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a:spLocks noChangeArrowheads="1"/>
          </p:cNvSpPr>
          <p:nvPr/>
        </p:nvSpPr>
        <p:spPr bwMode="auto">
          <a:xfrm>
            <a:off x="0" y="6073776"/>
            <a:ext cx="9144000" cy="49213"/>
          </a:xfrm>
          <a:prstGeom prst="rect">
            <a:avLst/>
          </a:prstGeom>
          <a:solidFill>
            <a:srgbClr val="E4001B"/>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35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mn-cs"/>
            </a:endParaRPr>
          </a:p>
        </p:txBody>
      </p:sp>
      <p:sp>
        <p:nvSpPr>
          <p:cNvPr id="5" name="Rectangle 4"/>
          <p:cNvSpPr>
            <a:spLocks noChangeArrowheads="1"/>
          </p:cNvSpPr>
          <p:nvPr/>
        </p:nvSpPr>
        <p:spPr bwMode="auto">
          <a:xfrm>
            <a:off x="4763" y="6167439"/>
            <a:ext cx="9144000" cy="49212"/>
          </a:xfrm>
          <a:prstGeom prst="rect">
            <a:avLst/>
          </a:prstGeom>
          <a:solidFill>
            <a:srgbClr val="E6DF13"/>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35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mn-cs"/>
            </a:endParaRPr>
          </a:p>
        </p:txBody>
      </p:sp>
      <p:sp>
        <p:nvSpPr>
          <p:cNvPr id="6" name="Rectangle 5"/>
          <p:cNvSpPr>
            <a:spLocks noChangeArrowheads="1"/>
          </p:cNvSpPr>
          <p:nvPr/>
        </p:nvSpPr>
        <p:spPr bwMode="auto">
          <a:xfrm>
            <a:off x="4763" y="6267452"/>
            <a:ext cx="9144000" cy="49213"/>
          </a:xfrm>
          <a:prstGeom prst="rect">
            <a:avLst/>
          </a:prstGeom>
          <a:solidFill>
            <a:srgbClr val="1C7F5E"/>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35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mn-cs"/>
            </a:endParaRPr>
          </a:p>
        </p:txBody>
      </p:sp>
      <p:pic>
        <p:nvPicPr>
          <p:cNvPr id="7" name="Picture 9" descr="New MUHAS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69290" y="5310189"/>
            <a:ext cx="835025"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solidFill>
                  <a:srgbClr val="20328C"/>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20328C"/>
                </a:solidFill>
              </a:defRPr>
            </a:lvl1pPr>
            <a:lvl2pPr>
              <a:defRPr>
                <a:solidFill>
                  <a:srgbClr val="20328C"/>
                </a:solidFill>
              </a:defRPr>
            </a:lvl2pPr>
            <a:lvl3pPr>
              <a:defRPr>
                <a:solidFill>
                  <a:srgbClr val="20328C"/>
                </a:solidFill>
              </a:defRPr>
            </a:lvl3pPr>
            <a:lvl4pPr>
              <a:defRPr>
                <a:solidFill>
                  <a:srgbClr val="20328C"/>
                </a:solidFill>
              </a:defRPr>
            </a:lvl4pPr>
            <a:lvl5pPr>
              <a:defRPr>
                <a:solidFill>
                  <a:srgbClr val="20328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p:cNvSpPr>
            <a:spLocks noGrp="1"/>
          </p:cNvSpPr>
          <p:nvPr>
            <p:ph type="dt" sz="half" idx="10"/>
          </p:nvPr>
        </p:nvSpPr>
        <p:spPr/>
        <p:txBody>
          <a:bodyPr/>
          <a:lstStyle>
            <a:lvl1pPr>
              <a:defRPr/>
            </a:lvl1pPr>
          </a:lstStyle>
          <a:p>
            <a:pPr defTabSz="914400"/>
            <a:fld id="{4509A250-FF31-4206-8172-F9D3106AACB1}" type="datetimeFigureOut">
              <a:rPr lang="en-US" smtClean="0"/>
              <a:pPr defTabSz="914400"/>
              <a:t>5/7/2026</a:t>
            </a:fld>
            <a:endParaRPr lang="en-US" dirty="0"/>
          </a:p>
        </p:txBody>
      </p:sp>
      <p:sp>
        <p:nvSpPr>
          <p:cNvPr id="9"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10"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266539136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defTabSz="914400"/>
            <a:fld id="{9796027F-7875-4030-9381-8BD8C4F21935}" type="datetimeFigureOut">
              <a:rPr lang="en-US" smtClean="0"/>
              <a:pPr defTabSz="914400"/>
              <a:t>5/7/2026</a:t>
            </a:fld>
            <a:endParaRPr lang="en-US" dirty="0"/>
          </a:p>
        </p:txBody>
      </p:sp>
      <p:sp>
        <p:nvSpPr>
          <p:cNvPr id="5"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6"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287105258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defTabSz="914400"/>
            <a:fld id="{9796027F-7875-4030-9381-8BD8C4F21935}" type="datetimeFigureOut">
              <a:rPr lang="en-US" smtClean="0"/>
              <a:pPr defTabSz="914400"/>
              <a:t>5/7/2026</a:t>
            </a:fld>
            <a:endParaRPr lang="en-US" dirty="0"/>
          </a:p>
        </p:txBody>
      </p:sp>
      <p:sp>
        <p:nvSpPr>
          <p:cNvPr id="6"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7"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348331538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defTabSz="914400"/>
            <a:fld id="{9796027F-7875-4030-9381-8BD8C4F21935}" type="datetimeFigureOut">
              <a:rPr lang="en-US" smtClean="0"/>
              <a:pPr defTabSz="914400"/>
              <a:t>5/7/2026</a:t>
            </a:fld>
            <a:endParaRPr lang="en-US" dirty="0"/>
          </a:p>
        </p:txBody>
      </p:sp>
      <p:sp>
        <p:nvSpPr>
          <p:cNvPr id="8"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9"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282945103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defTabSz="914400"/>
            <a:fld id="{4509A250-FF31-4206-8172-F9D3106AACB1}" type="datetimeFigureOut">
              <a:rPr lang="en-US" smtClean="0"/>
              <a:pPr defTabSz="914400"/>
              <a:t>5/7/2026</a:t>
            </a:fld>
            <a:endParaRPr lang="en-US" dirty="0"/>
          </a:p>
        </p:txBody>
      </p:sp>
      <p:sp>
        <p:nvSpPr>
          <p:cNvPr id="4"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5"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34881722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defTabSz="914400"/>
            <a:fld id="{4509A250-FF31-4206-8172-F9D3106AACB1}" type="datetimeFigureOut">
              <a:rPr lang="en-US" smtClean="0"/>
              <a:pPr defTabSz="914400"/>
              <a:t>5/7/2026</a:t>
            </a:fld>
            <a:endParaRPr lang="en-US" dirty="0"/>
          </a:p>
        </p:txBody>
      </p:sp>
      <p:sp>
        <p:nvSpPr>
          <p:cNvPr id="3"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4"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275886104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3"/>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defTabSz="914400"/>
            <a:fld id="{4509A250-FF31-4206-8172-F9D3106AACB1}" type="datetimeFigureOut">
              <a:rPr lang="en-US" smtClean="0"/>
              <a:pPr defTabSz="914400"/>
              <a:t>5/7/2026</a:t>
            </a:fld>
            <a:endParaRPr lang="en-US" dirty="0"/>
          </a:p>
        </p:txBody>
      </p:sp>
      <p:sp>
        <p:nvSpPr>
          <p:cNvPr id="6"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7"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112533775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defTabSz="914400"/>
            <a:fld id="{4509A250-FF31-4206-8172-F9D3106AACB1}" type="datetimeFigureOut">
              <a:rPr lang="en-US" smtClean="0"/>
              <a:pPr defTabSz="914400"/>
              <a:t>5/7/2026</a:t>
            </a:fld>
            <a:endParaRPr lang="en-US" dirty="0"/>
          </a:p>
        </p:txBody>
      </p:sp>
      <p:sp>
        <p:nvSpPr>
          <p:cNvPr id="6"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7"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303561075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400"/>
            <a:fld id="{4509A250-FF31-4206-8172-F9D3106AACB1}" type="datetimeFigureOut">
              <a:rPr lang="en-US" smtClean="0"/>
              <a:pPr defTabSz="914400"/>
              <a:t>5/7/2026</a:t>
            </a:fld>
            <a:endParaRPr lang="en-US" dirty="0"/>
          </a:p>
        </p:txBody>
      </p:sp>
      <p:sp>
        <p:nvSpPr>
          <p:cNvPr id="5"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6"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181738592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400"/>
            <a:fld id="{4509A250-FF31-4206-8172-F9D3106AACB1}" type="datetimeFigureOut">
              <a:rPr lang="en-US" smtClean="0"/>
              <a:pPr defTabSz="914400"/>
              <a:t>5/7/2026</a:t>
            </a:fld>
            <a:endParaRPr lang="en-US" dirty="0"/>
          </a:p>
        </p:txBody>
      </p:sp>
      <p:sp>
        <p:nvSpPr>
          <p:cNvPr id="5" name="Footer Placeholder 4"/>
          <p:cNvSpPr>
            <a:spLocks noGrp="1"/>
          </p:cNvSpPr>
          <p:nvPr>
            <p:ph type="ftr" sz="quarter" idx="11"/>
          </p:nvPr>
        </p:nvSpPr>
        <p:spPr/>
        <p:txBody>
          <a:bodyPr/>
          <a:lstStyle>
            <a:lvl1pPr>
              <a:defRPr/>
            </a:lvl1pPr>
          </a:lstStyle>
          <a:p>
            <a:pPr defTabSz="914400"/>
            <a:endParaRPr lang="en-US" dirty="0">
              <a:solidFill>
                <a:srgbClr val="32A9E5">
                  <a:tint val="75000"/>
                </a:srgbClr>
              </a:solidFill>
            </a:endParaRPr>
          </a:p>
        </p:txBody>
      </p:sp>
      <p:sp>
        <p:nvSpPr>
          <p:cNvPr id="6" name="Slide Number Placeholder 5"/>
          <p:cNvSpPr>
            <a:spLocks noGrp="1"/>
          </p:cNvSpPr>
          <p:nvPr>
            <p:ph type="sldNum" sz="quarter" idx="12"/>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271997537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pic>
        <p:nvPicPr>
          <p:cNvPr id="2" name="New MUHAS Logo.png" descr="New MUHAS Logo.png">
            <a:extLst>
              <a:ext uri="{FF2B5EF4-FFF2-40B4-BE49-F238E27FC236}">
                <a16:creationId xmlns:a16="http://schemas.microsoft.com/office/drawing/2014/main" id="{C50AC24D-CA30-4796-BE69-30B7A9B9FF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4737" y="187326"/>
            <a:ext cx="1472804"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 name="Shape 41">
            <a:extLst>
              <a:ext uri="{FF2B5EF4-FFF2-40B4-BE49-F238E27FC236}">
                <a16:creationId xmlns:a16="http://schemas.microsoft.com/office/drawing/2014/main" id="{00C1CC4F-3C26-436B-B8A4-9F6BD7EA61A4}"/>
              </a:ext>
            </a:extLst>
          </p:cNvPr>
          <p:cNvSpPr/>
          <p:nvPr/>
        </p:nvSpPr>
        <p:spPr>
          <a:xfrm>
            <a:off x="0" y="6073776"/>
            <a:ext cx="9144000" cy="49213"/>
          </a:xfrm>
          <a:prstGeom prst="rect">
            <a:avLst/>
          </a:prstGeom>
          <a:solidFill>
            <a:srgbClr val="E4001B"/>
          </a:solidFill>
          <a:ln w="12700">
            <a:miter lim="400000"/>
          </a:ln>
          <a:effectLst>
            <a:outerShdw blurRad="38100" dist="23000" dir="5400000" rotWithShape="0">
              <a:srgbClr val="808080">
                <a:alpha val="34996"/>
              </a:srgbClr>
            </a:outerShdw>
          </a:effectLst>
        </p:spPr>
        <p:txBody>
          <a:bodyPr lIns="34289" rIns="34289"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sz="135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 name="Shape 42">
            <a:extLst>
              <a:ext uri="{FF2B5EF4-FFF2-40B4-BE49-F238E27FC236}">
                <a16:creationId xmlns:a16="http://schemas.microsoft.com/office/drawing/2014/main" id="{3E45DFF1-FBB7-49C0-9972-C8F762D2935E}"/>
              </a:ext>
            </a:extLst>
          </p:cNvPr>
          <p:cNvSpPr/>
          <p:nvPr/>
        </p:nvSpPr>
        <p:spPr>
          <a:xfrm>
            <a:off x="4763" y="6167439"/>
            <a:ext cx="9144000" cy="49212"/>
          </a:xfrm>
          <a:prstGeom prst="rect">
            <a:avLst/>
          </a:prstGeom>
          <a:solidFill>
            <a:srgbClr val="E6DF13"/>
          </a:solidFill>
          <a:ln w="12700">
            <a:miter lim="400000"/>
          </a:ln>
          <a:effectLst>
            <a:outerShdw blurRad="38100" dist="23000" dir="5400000" rotWithShape="0">
              <a:srgbClr val="808080">
                <a:alpha val="34996"/>
              </a:srgbClr>
            </a:outerShdw>
          </a:effectLst>
        </p:spPr>
        <p:txBody>
          <a:bodyPr lIns="34289" rIns="34289"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sz="135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 name="Shape 43">
            <a:extLst>
              <a:ext uri="{FF2B5EF4-FFF2-40B4-BE49-F238E27FC236}">
                <a16:creationId xmlns:a16="http://schemas.microsoft.com/office/drawing/2014/main" id="{B7D13ED2-22B2-4653-A442-515B7E31A7BE}"/>
              </a:ext>
            </a:extLst>
          </p:cNvPr>
          <p:cNvSpPr/>
          <p:nvPr/>
        </p:nvSpPr>
        <p:spPr>
          <a:xfrm>
            <a:off x="4763" y="6267451"/>
            <a:ext cx="9144000" cy="49213"/>
          </a:xfrm>
          <a:prstGeom prst="rect">
            <a:avLst/>
          </a:prstGeom>
          <a:solidFill>
            <a:srgbClr val="1C7F5E"/>
          </a:solidFill>
          <a:ln w="12700">
            <a:miter lim="400000"/>
          </a:ln>
          <a:effectLst>
            <a:outerShdw blurRad="38100" dist="23000" dir="5400000" rotWithShape="0">
              <a:srgbClr val="808080">
                <a:alpha val="34996"/>
              </a:srgbClr>
            </a:outerShdw>
          </a:effectLst>
        </p:spPr>
        <p:txBody>
          <a:bodyPr lIns="34289" rIns="34289"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sz="135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6" name="Shape 44">
            <a:extLst>
              <a:ext uri="{FF2B5EF4-FFF2-40B4-BE49-F238E27FC236}">
                <a16:creationId xmlns:a16="http://schemas.microsoft.com/office/drawing/2014/main" id="{59D80EB6-5FED-430F-9230-9D7903B31FB2}"/>
              </a:ext>
            </a:extLst>
          </p:cNvPr>
          <p:cNvSpPr>
            <a:spLocks noGrp="1" noChangeArrowheads="1"/>
          </p:cNvSpPr>
          <p:nvPr>
            <p:ph type="sldNum" sz="quarter" idx="10"/>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768820310"/>
      </p:ext>
    </p:extLst>
  </p:cSld>
  <p:clrMapOvr>
    <a:masterClrMapping/>
  </p:clrMapOvr>
  <p:transition spd="med"/>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Default">
    <p:spTree>
      <p:nvGrpSpPr>
        <p:cNvPr id="1" name=""/>
        <p:cNvGrpSpPr/>
        <p:nvPr/>
      </p:nvGrpSpPr>
      <p:grpSpPr>
        <a:xfrm>
          <a:off x="0" y="0"/>
          <a:ext cx="0" cy="0"/>
          <a:chOff x="0" y="0"/>
          <a:chExt cx="0" cy="0"/>
        </a:xfrm>
      </p:grpSpPr>
      <p:sp>
        <p:nvSpPr>
          <p:cNvPr id="3" name="Shape 51">
            <a:extLst>
              <a:ext uri="{FF2B5EF4-FFF2-40B4-BE49-F238E27FC236}">
                <a16:creationId xmlns:a16="http://schemas.microsoft.com/office/drawing/2014/main" id="{D515E3EC-7844-4E33-BB70-F58EFFAF8554}"/>
              </a:ext>
            </a:extLst>
          </p:cNvPr>
          <p:cNvSpPr/>
          <p:nvPr/>
        </p:nvSpPr>
        <p:spPr>
          <a:xfrm>
            <a:off x="0" y="6073776"/>
            <a:ext cx="9144000" cy="49213"/>
          </a:xfrm>
          <a:prstGeom prst="rect">
            <a:avLst/>
          </a:prstGeom>
          <a:solidFill>
            <a:srgbClr val="E4001B"/>
          </a:solidFill>
          <a:ln w="12700">
            <a:miter lim="400000"/>
          </a:ln>
          <a:effectLst>
            <a:outerShdw blurRad="38100" dist="23000" dir="5400000" rotWithShape="0">
              <a:srgbClr val="808080">
                <a:alpha val="34996"/>
              </a:srgbClr>
            </a:outerShdw>
          </a:effectLst>
        </p:spPr>
        <p:txBody>
          <a:bodyPr lIns="34289" rIns="34289"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sz="135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 name="Shape 52">
            <a:extLst>
              <a:ext uri="{FF2B5EF4-FFF2-40B4-BE49-F238E27FC236}">
                <a16:creationId xmlns:a16="http://schemas.microsoft.com/office/drawing/2014/main" id="{ADCC8F80-9822-4426-9D4D-754B0C64CA91}"/>
              </a:ext>
            </a:extLst>
          </p:cNvPr>
          <p:cNvSpPr/>
          <p:nvPr/>
        </p:nvSpPr>
        <p:spPr>
          <a:xfrm>
            <a:off x="4763" y="6167439"/>
            <a:ext cx="9144000" cy="49212"/>
          </a:xfrm>
          <a:prstGeom prst="rect">
            <a:avLst/>
          </a:prstGeom>
          <a:solidFill>
            <a:srgbClr val="E6DF13"/>
          </a:solidFill>
          <a:ln w="12700">
            <a:miter lim="400000"/>
          </a:ln>
          <a:effectLst>
            <a:outerShdw blurRad="38100" dist="23000" dir="5400000" rotWithShape="0">
              <a:srgbClr val="808080">
                <a:alpha val="34996"/>
              </a:srgbClr>
            </a:outerShdw>
          </a:effectLst>
        </p:spPr>
        <p:txBody>
          <a:bodyPr lIns="34289" rIns="34289"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sz="135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 name="Shape 53">
            <a:extLst>
              <a:ext uri="{FF2B5EF4-FFF2-40B4-BE49-F238E27FC236}">
                <a16:creationId xmlns:a16="http://schemas.microsoft.com/office/drawing/2014/main" id="{C561BCE0-0EFC-43CB-9063-0C9C283780A1}"/>
              </a:ext>
            </a:extLst>
          </p:cNvPr>
          <p:cNvSpPr/>
          <p:nvPr/>
        </p:nvSpPr>
        <p:spPr>
          <a:xfrm>
            <a:off x="4763" y="6267451"/>
            <a:ext cx="9144000" cy="49213"/>
          </a:xfrm>
          <a:prstGeom prst="rect">
            <a:avLst/>
          </a:prstGeom>
          <a:solidFill>
            <a:srgbClr val="1C7F5E"/>
          </a:solidFill>
          <a:ln w="12700">
            <a:miter lim="400000"/>
          </a:ln>
          <a:effectLst>
            <a:outerShdw blurRad="38100" dist="23000" dir="5400000" rotWithShape="0">
              <a:srgbClr val="808080">
                <a:alpha val="34996"/>
              </a:srgbClr>
            </a:outerShdw>
          </a:effectLst>
        </p:spPr>
        <p:txBody>
          <a:bodyPr lIns="34289" rIns="34289"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sz="135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6" name="New MUHAS Logo.png" descr="New MUHAS Logo.png">
            <a:extLst>
              <a:ext uri="{FF2B5EF4-FFF2-40B4-BE49-F238E27FC236}">
                <a16:creationId xmlns:a16="http://schemas.microsoft.com/office/drawing/2014/main" id="{7C6715E1-A5A4-46E2-AF6B-6E61681060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68892" y="5310189"/>
            <a:ext cx="835819"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56" name="Shape 56"/>
          <p:cNvSpPr>
            <a:spLocks noGrp="1"/>
          </p:cNvSpPr>
          <p:nvPr>
            <p:ph type="body" idx="1"/>
          </p:nvPr>
        </p:nvSpPr>
        <p:spPr>
          <a:prstGeom prst="rect">
            <a:avLst/>
          </a:prstGeom>
        </p:spPr>
        <p:txBody>
          <a:bodyPr/>
          <a:lstStyle>
            <a:lvl1pPr>
              <a:defRPr>
                <a:solidFill>
                  <a:srgbClr val="050602"/>
                </a:solidFill>
              </a:defRPr>
            </a:lvl1pPr>
            <a:lvl2pPr>
              <a:defRPr>
                <a:solidFill>
                  <a:srgbClr val="050602"/>
                </a:solidFill>
              </a:defRPr>
            </a:lvl2pPr>
            <a:lvl3pPr>
              <a:defRPr>
                <a:solidFill>
                  <a:srgbClr val="050602"/>
                </a:solidFill>
              </a:defRPr>
            </a:lvl3pPr>
            <a:lvl4pPr>
              <a:defRPr>
                <a:solidFill>
                  <a:srgbClr val="050602"/>
                </a:solidFill>
              </a:defRPr>
            </a:lvl4pPr>
            <a:lvl5pPr>
              <a:defRPr>
                <a:solidFill>
                  <a:srgbClr val="05060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hape 55">
            <a:extLst>
              <a:ext uri="{FF2B5EF4-FFF2-40B4-BE49-F238E27FC236}">
                <a16:creationId xmlns:a16="http://schemas.microsoft.com/office/drawing/2014/main" id="{23FD8990-62DA-47D5-A90B-423235F91EDE}"/>
              </a:ext>
            </a:extLst>
          </p:cNvPr>
          <p:cNvSpPr>
            <a:spLocks noGrp="1" noChangeArrowheads="1"/>
          </p:cNvSpPr>
          <p:nvPr>
            <p:ph type="sldNum" sz="quarter" idx="10"/>
          </p:nvPr>
        </p:nvSpPr>
        <p:spPr/>
        <p:txBody>
          <a:bodyPr/>
          <a:lstStyle>
            <a:lvl1pPr>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3081091047"/>
      </p:ext>
    </p:extLst>
  </p:cSld>
  <p:clrMapOvr>
    <a:masterClrMapping/>
  </p:clrMapOvr>
  <p:transition spd="med"/>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5763" y="1597819"/>
            <a:ext cx="4371975" cy="1102519"/>
          </a:xfrm>
        </p:spPr>
        <p:txBody>
          <a:bodyPr/>
          <a:lstStyle/>
          <a:p>
            <a:r>
              <a:rPr lang="en-US"/>
              <a:t>Click to edit Master title style</a:t>
            </a:r>
          </a:p>
        </p:txBody>
      </p:sp>
      <p:sp>
        <p:nvSpPr>
          <p:cNvPr id="3" name="Subtitle 2"/>
          <p:cNvSpPr>
            <a:spLocks noGrp="1"/>
          </p:cNvSpPr>
          <p:nvPr>
            <p:ph type="subTitle" idx="1"/>
          </p:nvPr>
        </p:nvSpPr>
        <p:spPr>
          <a:xfrm>
            <a:off x="771525" y="2914650"/>
            <a:ext cx="3600450" cy="131445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75159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322734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6301" y="3305176"/>
            <a:ext cx="4371975" cy="1021556"/>
          </a:xfr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406301" y="2180035"/>
            <a:ext cx="4371975" cy="1125140"/>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429668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1200151"/>
            <a:ext cx="2271713" cy="3394472"/>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14612" y="1200151"/>
            <a:ext cx="2271713" cy="3394472"/>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15774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57175" y="1151335"/>
            <a:ext cx="2272606" cy="47982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257175" y="1631156"/>
            <a:ext cx="2272606" cy="2963466"/>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612827" y="1151335"/>
            <a:ext cx="2273498" cy="47982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2612827" y="1631156"/>
            <a:ext cx="2273498" cy="2963466"/>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51435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4903589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51435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16181086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51435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744533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7175" y="204787"/>
            <a:ext cx="1692176" cy="871538"/>
          </a:xfr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2010966" y="204788"/>
            <a:ext cx="2875359" cy="438983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7175" y="1076326"/>
            <a:ext cx="1692176" cy="3518297"/>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2811869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8162" y="3600450"/>
            <a:ext cx="3086100" cy="425054"/>
          </a:xfr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1008162" y="459581"/>
            <a:ext cx="3086100" cy="30861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1008162" y="4025503"/>
            <a:ext cx="3086100" cy="603647"/>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0197718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14237064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205979"/>
            <a:ext cx="1157288"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205979"/>
            <a:ext cx="3386138"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9990803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5763" y="1597819"/>
            <a:ext cx="4371975" cy="1102519"/>
          </a:xfrm>
        </p:spPr>
        <p:txBody>
          <a:bodyPr/>
          <a:lstStyle/>
          <a:p>
            <a:r>
              <a:rPr lang="en-US"/>
              <a:t>Click to edit Master title style</a:t>
            </a:r>
          </a:p>
        </p:txBody>
      </p:sp>
      <p:sp>
        <p:nvSpPr>
          <p:cNvPr id="3" name="Subtitle 2"/>
          <p:cNvSpPr>
            <a:spLocks noGrp="1"/>
          </p:cNvSpPr>
          <p:nvPr>
            <p:ph type="subTitle" idx="1"/>
          </p:nvPr>
        </p:nvSpPr>
        <p:spPr>
          <a:xfrm>
            <a:off x="771525" y="2914650"/>
            <a:ext cx="3600450" cy="131445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3467581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622382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6301" y="3305176"/>
            <a:ext cx="4371975" cy="1021556"/>
          </a:xfr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406301" y="2180035"/>
            <a:ext cx="4371975" cy="1125140"/>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8511673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1200151"/>
            <a:ext cx="2271713" cy="3394472"/>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14612" y="1200151"/>
            <a:ext cx="2271713" cy="3394472"/>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892023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57175" y="1151335"/>
            <a:ext cx="2272606" cy="47982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257175" y="1631156"/>
            <a:ext cx="2272606" cy="2963466"/>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612827" y="1151335"/>
            <a:ext cx="2273498" cy="47982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2612827" y="1631156"/>
            <a:ext cx="2273498" cy="2963466"/>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51435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518905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51435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0695764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51435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9184344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7175" y="204787"/>
            <a:ext cx="1692176" cy="871538"/>
          </a:xfr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2010966" y="204788"/>
            <a:ext cx="2875359" cy="438983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7175" y="1076326"/>
            <a:ext cx="1692176" cy="3518297"/>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42218822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8162" y="3600450"/>
            <a:ext cx="3086100" cy="425054"/>
          </a:xfr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1008162" y="459581"/>
            <a:ext cx="3086100" cy="30861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1008162" y="4025503"/>
            <a:ext cx="3086100" cy="603647"/>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1556136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7943059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205979"/>
            <a:ext cx="1157288"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205979"/>
            <a:ext cx="3386138"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7890857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5763" y="1597819"/>
            <a:ext cx="4371975" cy="1102519"/>
          </a:xfrm>
        </p:spPr>
        <p:txBody>
          <a:bodyPr/>
          <a:lstStyle/>
          <a:p>
            <a:r>
              <a:rPr lang="en-US"/>
              <a:t>Click to edit Master title style</a:t>
            </a:r>
          </a:p>
        </p:txBody>
      </p:sp>
      <p:sp>
        <p:nvSpPr>
          <p:cNvPr id="3" name="Subtitle 2"/>
          <p:cNvSpPr>
            <a:spLocks noGrp="1"/>
          </p:cNvSpPr>
          <p:nvPr>
            <p:ph type="subTitle" idx="1"/>
          </p:nvPr>
        </p:nvSpPr>
        <p:spPr>
          <a:xfrm>
            <a:off x="771525" y="2914650"/>
            <a:ext cx="3600450" cy="131445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622071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7859660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6301" y="3305176"/>
            <a:ext cx="4371975" cy="1021556"/>
          </a:xfr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406301" y="2180035"/>
            <a:ext cx="4371975" cy="1125140"/>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9760204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1200151"/>
            <a:ext cx="2271713" cy="3394472"/>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14612" y="1200151"/>
            <a:ext cx="2271713" cy="3394472"/>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10145304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57175" y="1151335"/>
            <a:ext cx="2272606" cy="47982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257175" y="1631156"/>
            <a:ext cx="2272606" cy="2963466"/>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612827" y="1151335"/>
            <a:ext cx="2273498" cy="47982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2612827" y="1631156"/>
            <a:ext cx="2273498" cy="2963466"/>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51435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4397850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51435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3801901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51435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439001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7175" y="204787"/>
            <a:ext cx="1692176" cy="871538"/>
          </a:xfr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2010966" y="204788"/>
            <a:ext cx="2875359" cy="438983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7175" y="1076326"/>
            <a:ext cx="1692176" cy="3518297"/>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9385375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8162" y="3600450"/>
            <a:ext cx="3086100" cy="425054"/>
          </a:xfr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1008162" y="459581"/>
            <a:ext cx="3086100" cy="30861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1008162" y="4025503"/>
            <a:ext cx="3086100" cy="603647"/>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4353246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42586393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205979"/>
            <a:ext cx="1157288"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205979"/>
            <a:ext cx="3386138"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0818710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5763" y="1597819"/>
            <a:ext cx="4371975" cy="1102519"/>
          </a:xfrm>
        </p:spPr>
        <p:txBody>
          <a:bodyPr/>
          <a:lstStyle/>
          <a:p>
            <a:r>
              <a:rPr lang="en-US"/>
              <a:t>Click to edit Master title style</a:t>
            </a:r>
          </a:p>
        </p:txBody>
      </p:sp>
      <p:sp>
        <p:nvSpPr>
          <p:cNvPr id="3" name="Subtitle 2"/>
          <p:cNvSpPr>
            <a:spLocks noGrp="1"/>
          </p:cNvSpPr>
          <p:nvPr>
            <p:ph type="subTitle" idx="1"/>
          </p:nvPr>
        </p:nvSpPr>
        <p:spPr>
          <a:xfrm>
            <a:off x="771525" y="2914650"/>
            <a:ext cx="3600450" cy="131445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0268626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181667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6301" y="3305176"/>
            <a:ext cx="4371975" cy="1021556"/>
          </a:xfr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406301" y="2180035"/>
            <a:ext cx="4371975" cy="1125140"/>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40420025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1200151"/>
            <a:ext cx="2271713" cy="3394472"/>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14612" y="1200151"/>
            <a:ext cx="2271713" cy="3394472"/>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40020120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57175" y="1151335"/>
            <a:ext cx="2272606" cy="47982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257175" y="1631156"/>
            <a:ext cx="2272606" cy="2963466"/>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612827" y="1151335"/>
            <a:ext cx="2273498" cy="47982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2612827" y="1631156"/>
            <a:ext cx="2273498" cy="2963466"/>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51435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698969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51435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0127797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51435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0944903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7175" y="204787"/>
            <a:ext cx="1692176" cy="871538"/>
          </a:xfr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2010966" y="204788"/>
            <a:ext cx="2875359" cy="438983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7175" y="1076326"/>
            <a:ext cx="1692176" cy="3518297"/>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1272376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8162" y="3600450"/>
            <a:ext cx="3086100" cy="425054"/>
          </a:xfr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1008162" y="459581"/>
            <a:ext cx="3086100" cy="30861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1008162" y="4025503"/>
            <a:ext cx="3086100" cy="603647"/>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51435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11877709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2306630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205979"/>
            <a:ext cx="1157288"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205979"/>
            <a:ext cx="3386138"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0141420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New MUHAS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4739" y="187325"/>
            <a:ext cx="1473200"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6073777"/>
            <a:ext cx="9144000" cy="49213"/>
          </a:xfrm>
          <a:prstGeom prst="rect">
            <a:avLst/>
          </a:prstGeom>
          <a:solidFill>
            <a:srgbClr val="E4001B"/>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sz="1350">
              <a:solidFill>
                <a:srgbClr val="FFFFFF"/>
              </a:solidFill>
            </a:endParaRPr>
          </a:p>
        </p:txBody>
      </p:sp>
      <p:sp>
        <p:nvSpPr>
          <p:cNvPr id="6" name="Rectangle 5"/>
          <p:cNvSpPr>
            <a:spLocks noChangeArrowheads="1"/>
          </p:cNvSpPr>
          <p:nvPr/>
        </p:nvSpPr>
        <p:spPr bwMode="auto">
          <a:xfrm>
            <a:off x="4763" y="6167438"/>
            <a:ext cx="9144000" cy="49212"/>
          </a:xfrm>
          <a:prstGeom prst="rect">
            <a:avLst/>
          </a:prstGeom>
          <a:solidFill>
            <a:srgbClr val="E6DF13"/>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sz="1350">
              <a:solidFill>
                <a:srgbClr val="FFFFFF"/>
              </a:solidFill>
            </a:endParaRPr>
          </a:p>
        </p:txBody>
      </p:sp>
      <p:sp>
        <p:nvSpPr>
          <p:cNvPr id="7" name="Rectangle 6"/>
          <p:cNvSpPr>
            <a:spLocks noChangeArrowheads="1"/>
          </p:cNvSpPr>
          <p:nvPr/>
        </p:nvSpPr>
        <p:spPr bwMode="auto">
          <a:xfrm>
            <a:off x="4763" y="6267452"/>
            <a:ext cx="9144000" cy="49213"/>
          </a:xfrm>
          <a:prstGeom prst="rect">
            <a:avLst/>
          </a:prstGeom>
          <a:solidFill>
            <a:srgbClr val="1C7F5E"/>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sz="1350">
              <a:solidFill>
                <a:srgbClr val="FFFFFF"/>
              </a:solidFill>
            </a:endParaRPr>
          </a:p>
        </p:txBody>
      </p:sp>
      <p:sp>
        <p:nvSpPr>
          <p:cNvPr id="2" name="Title 1"/>
          <p:cNvSpPr>
            <a:spLocks noGrp="1"/>
          </p:cNvSpPr>
          <p:nvPr>
            <p:ph type="ctrTitle"/>
          </p:nvPr>
        </p:nvSpPr>
        <p:spPr>
          <a:xfrm>
            <a:off x="685800" y="2130427"/>
            <a:ext cx="7772400" cy="1470025"/>
          </a:xfrm>
        </p:spPr>
        <p:txBody>
          <a:bodyPr/>
          <a:lstStyle>
            <a:lvl1pPr>
              <a:defRPr>
                <a:solidFill>
                  <a:srgbClr val="20328C"/>
                </a:solidFill>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accent1">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8"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9" name="Footer Placeholder 4"/>
          <p:cNvSpPr>
            <a:spLocks noGrp="1"/>
          </p:cNvSpPr>
          <p:nvPr>
            <p:ph type="ftr" sz="quarter" idx="11"/>
          </p:nvPr>
        </p:nvSpPr>
        <p:spPr/>
        <p:txBody>
          <a:bodyPr/>
          <a:lstStyle>
            <a:lvl1pPr>
              <a:defRPr/>
            </a:lvl1pPr>
          </a:lstStyle>
          <a:p>
            <a:endParaRPr lang="en-US"/>
          </a:p>
        </p:txBody>
      </p:sp>
      <p:sp>
        <p:nvSpPr>
          <p:cNvPr id="10"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60426776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a:spLocks noChangeArrowheads="1"/>
          </p:cNvSpPr>
          <p:nvPr/>
        </p:nvSpPr>
        <p:spPr bwMode="auto">
          <a:xfrm>
            <a:off x="0" y="6073777"/>
            <a:ext cx="9144000" cy="49213"/>
          </a:xfrm>
          <a:prstGeom prst="rect">
            <a:avLst/>
          </a:prstGeom>
          <a:solidFill>
            <a:srgbClr val="E4001B"/>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sz="1350">
              <a:solidFill>
                <a:srgbClr val="FFFFFF"/>
              </a:solidFill>
            </a:endParaRPr>
          </a:p>
        </p:txBody>
      </p:sp>
      <p:sp>
        <p:nvSpPr>
          <p:cNvPr id="5" name="Rectangle 4"/>
          <p:cNvSpPr>
            <a:spLocks noChangeArrowheads="1"/>
          </p:cNvSpPr>
          <p:nvPr/>
        </p:nvSpPr>
        <p:spPr bwMode="auto">
          <a:xfrm>
            <a:off x="4763" y="6167438"/>
            <a:ext cx="9144000" cy="49212"/>
          </a:xfrm>
          <a:prstGeom prst="rect">
            <a:avLst/>
          </a:prstGeom>
          <a:solidFill>
            <a:srgbClr val="E6DF13"/>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sz="1350">
              <a:solidFill>
                <a:srgbClr val="FFFFFF"/>
              </a:solidFill>
            </a:endParaRPr>
          </a:p>
        </p:txBody>
      </p:sp>
      <p:sp>
        <p:nvSpPr>
          <p:cNvPr id="6" name="Rectangle 5"/>
          <p:cNvSpPr>
            <a:spLocks noChangeArrowheads="1"/>
          </p:cNvSpPr>
          <p:nvPr/>
        </p:nvSpPr>
        <p:spPr bwMode="auto">
          <a:xfrm>
            <a:off x="4763" y="6267452"/>
            <a:ext cx="9144000" cy="49213"/>
          </a:xfrm>
          <a:prstGeom prst="rect">
            <a:avLst/>
          </a:prstGeom>
          <a:solidFill>
            <a:srgbClr val="1C7F5E"/>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sz="1350">
              <a:solidFill>
                <a:srgbClr val="FFFFFF"/>
              </a:solidFill>
            </a:endParaRPr>
          </a:p>
        </p:txBody>
      </p:sp>
      <p:pic>
        <p:nvPicPr>
          <p:cNvPr id="7" name="Picture 9" descr="New MUHAS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69289" y="5310190"/>
            <a:ext cx="835025"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solidFill>
                  <a:srgbClr val="20328C"/>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20328C"/>
                </a:solidFill>
              </a:defRPr>
            </a:lvl1pPr>
            <a:lvl2pPr>
              <a:defRPr>
                <a:solidFill>
                  <a:srgbClr val="20328C"/>
                </a:solidFill>
              </a:defRPr>
            </a:lvl2pPr>
            <a:lvl3pPr>
              <a:defRPr>
                <a:solidFill>
                  <a:srgbClr val="20328C"/>
                </a:solidFill>
              </a:defRPr>
            </a:lvl3pPr>
            <a:lvl4pPr>
              <a:defRPr>
                <a:solidFill>
                  <a:srgbClr val="20328C"/>
                </a:solidFill>
              </a:defRPr>
            </a:lvl4pPr>
            <a:lvl5pPr>
              <a:defRPr>
                <a:solidFill>
                  <a:srgbClr val="20328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9" name="Footer Placeholder 4"/>
          <p:cNvSpPr>
            <a:spLocks noGrp="1"/>
          </p:cNvSpPr>
          <p:nvPr>
            <p:ph type="ftr" sz="quarter" idx="11"/>
          </p:nvPr>
        </p:nvSpPr>
        <p:spPr/>
        <p:txBody>
          <a:bodyPr/>
          <a:lstStyle>
            <a:lvl1pPr>
              <a:defRPr/>
            </a:lvl1pPr>
          </a:lstStyle>
          <a:p>
            <a:endParaRPr lang="en-US"/>
          </a:p>
        </p:txBody>
      </p:sp>
      <p:sp>
        <p:nvSpPr>
          <p:cNvPr id="10"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12997048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378556562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165258934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25906048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306856948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244824456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284214013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87118949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410753807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F0298DE-DD2E-47AB-9D3F-FAA5746E86A6}" type="datetimeFigureOut">
              <a:rPr lang="en-US" smtClean="0"/>
              <a:t>5/7/2026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350809477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78029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wrap="square" lIns="91440" tIns="45720" rIns="91440" bIns="45720" numCol="1" anchor="ctr" anchorCtr="0" compatLnSpc="1"/>
          <a:lstStyle>
            <a:lvl1pPr>
              <a:defRPr sz="900">
                <a:solidFill>
                  <a:srgbClr val="8FC3EC"/>
                </a:solidFill>
              </a:defRPr>
            </a:lvl1pPr>
          </a:lstStyle>
          <a:p>
            <a:pPr defTabSz="914400"/>
            <a:fld id="{4AAD347D-5ACD-4C99-B74B-A9C85AD731AF}" type="datetimeFigureOut">
              <a:rPr lang="en-US" smtClean="0"/>
              <a:pPr defTabSz="914400"/>
              <a:t>5/7/2026</a:t>
            </a:fld>
            <a:endParaRPr lang="en-US" dirty="0"/>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fontAlgn="auto">
              <a:spcBef>
                <a:spcPts val="0"/>
              </a:spcBef>
              <a:spcAft>
                <a:spcPts val="0"/>
              </a:spcAft>
              <a:defRPr sz="900" smtClean="0">
                <a:solidFill>
                  <a:schemeClr val="tx1">
                    <a:tint val="75000"/>
                  </a:schemeClr>
                </a:solidFill>
                <a:latin typeface="+mn-lt"/>
                <a:ea typeface="+mn-ea"/>
              </a:defRPr>
            </a:lvl1pPr>
          </a:lstStyle>
          <a:p>
            <a:pPr defTabSz="914400"/>
            <a:endParaRPr lang="en-US" dirty="0">
              <a:solidFill>
                <a:srgbClr val="32A9E5">
                  <a:tint val="75000"/>
                </a:srgbClr>
              </a:solidFill>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lstStyle>
            <a:lvl1pPr algn="r">
              <a:defRPr sz="900">
                <a:solidFill>
                  <a:srgbClr val="8FC3EC"/>
                </a:solidFill>
              </a:defRPr>
            </a:lvl1pPr>
          </a:lstStyle>
          <a:p>
            <a:pPr defTabSz="914400"/>
            <a:fld id="{D57F1E4F-1CFF-5643-939E-02111984F565}" type="slidenum">
              <a:rPr lang="en-US" smtClean="0"/>
              <a:pPr defTabSz="914400"/>
              <a:t>‹#›</a:t>
            </a:fld>
            <a:endParaRPr lang="en-US" dirty="0"/>
          </a:p>
        </p:txBody>
      </p:sp>
    </p:spTree>
    <p:extLst>
      <p:ext uri="{BB962C8B-B14F-4D97-AF65-F5344CB8AC3E}">
        <p14:creationId xmlns:p14="http://schemas.microsoft.com/office/powerpoint/2010/main" val="25465695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txStyles>
    <p:titleStyle>
      <a:lvl1pPr algn="ctr" defTabSz="342900" rtl="0" eaLnBrk="1" fontAlgn="base" hangingPunct="1">
        <a:spcBef>
          <a:spcPct val="0"/>
        </a:spcBef>
        <a:spcAft>
          <a:spcPct val="0"/>
        </a:spcAft>
        <a:defRPr sz="3300" kern="1200">
          <a:solidFill>
            <a:schemeClr val="tx1"/>
          </a:solidFill>
          <a:latin typeface="+mj-lt"/>
          <a:ea typeface="MS PGothic" panose="020B0600070205080204" pitchFamily="34" charset="-128"/>
          <a:cs typeface="+mj-cs"/>
        </a:defRPr>
      </a:lvl1pPr>
      <a:lvl2pPr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2pPr>
      <a:lvl3pPr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3pPr>
      <a:lvl4pPr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4pPr>
      <a:lvl5pPr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5pPr>
      <a:lvl6pPr marL="342900"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6pPr>
      <a:lvl7pPr marL="685800"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7pPr>
      <a:lvl8pPr marL="1028700"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8pPr>
      <a:lvl9pPr marL="1371600"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9pPr>
    </p:titleStyle>
    <p:bodyStyle>
      <a:lvl1pPr marL="257175" indent="-257175" algn="l" defTabSz="3429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1pPr>
      <a:lvl2pPr marL="557213" indent="-214313" algn="l" defTabSz="342900" rtl="0" eaLnBrk="1" fontAlgn="base" hangingPunct="1">
        <a:spcBef>
          <a:spcPct val="20000"/>
        </a:spcBef>
        <a:spcAft>
          <a:spcPct val="0"/>
        </a:spcAft>
        <a:buFont typeface="Arial" panose="020B0604020202020204" pitchFamily="34" charset="0"/>
        <a:buChar char="–"/>
        <a:defRPr sz="2100" kern="1200">
          <a:solidFill>
            <a:schemeClr val="tx1"/>
          </a:solidFill>
          <a:latin typeface="+mn-lt"/>
          <a:ea typeface="MS PGothic" panose="020B0600070205080204" pitchFamily="34" charset="-128"/>
          <a:cs typeface="+mn-cs"/>
        </a:defRPr>
      </a:lvl2pPr>
      <a:lvl3pPr marL="857250" indent="-171450" algn="l" defTabSz="342900" rtl="0" eaLnBrk="1" fontAlgn="base" hangingPunct="1">
        <a:spcBef>
          <a:spcPct val="20000"/>
        </a:spcBef>
        <a:spcAft>
          <a:spcPct val="0"/>
        </a:spcAft>
        <a:buFont typeface="Arial" panose="020B0604020202020204" pitchFamily="34" charset="0"/>
        <a:buChar char="•"/>
        <a:defRPr sz="1800" kern="1200">
          <a:solidFill>
            <a:schemeClr val="tx1"/>
          </a:solidFill>
          <a:latin typeface="+mn-lt"/>
          <a:ea typeface="MS PGothic" panose="020B0600070205080204" pitchFamily="34" charset="-128"/>
          <a:cs typeface="+mn-cs"/>
        </a:defRPr>
      </a:lvl3pPr>
      <a:lvl4pPr marL="1200150" indent="-171450" algn="l" defTabSz="342900" rtl="0" eaLnBrk="1" fontAlgn="base" hangingPunct="1">
        <a:spcBef>
          <a:spcPct val="20000"/>
        </a:spcBef>
        <a:spcAft>
          <a:spcPct val="0"/>
        </a:spcAft>
        <a:buFont typeface="Arial" panose="020B0604020202020204" pitchFamily="34" charset="0"/>
        <a:buChar char="–"/>
        <a:defRPr sz="1500" kern="1200">
          <a:solidFill>
            <a:schemeClr val="tx1"/>
          </a:solidFill>
          <a:latin typeface="+mn-lt"/>
          <a:ea typeface="MS PGothic" panose="020B0600070205080204" pitchFamily="34" charset="-128"/>
          <a:cs typeface="+mn-cs"/>
        </a:defRPr>
      </a:lvl4pPr>
      <a:lvl5pPr marL="1543050" indent="-171450" algn="l" defTabSz="342900" rtl="0" eaLnBrk="1" fontAlgn="base" hangingPunct="1">
        <a:spcBef>
          <a:spcPct val="20000"/>
        </a:spcBef>
        <a:spcAft>
          <a:spcPct val="0"/>
        </a:spcAft>
        <a:buFont typeface="Arial" panose="020B0604020202020204" pitchFamily="34" charset="0"/>
        <a:buChar char="»"/>
        <a:defRPr sz="1500" kern="1200">
          <a:solidFill>
            <a:schemeClr val="tx1"/>
          </a:solidFill>
          <a:latin typeface="+mn-lt"/>
          <a:ea typeface="MS PGothic" panose="020B0600070205080204" pitchFamily="34" charset="-128"/>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7175" y="205979"/>
            <a:ext cx="462915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7175" y="1200151"/>
            <a:ext cx="462915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7175" y="4767263"/>
            <a:ext cx="1200150" cy="273844"/>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3"/>
          </p:nvPr>
        </p:nvSpPr>
        <p:spPr>
          <a:xfrm>
            <a:off x="1757363" y="4767263"/>
            <a:ext cx="1628775" cy="273844"/>
          </a:xfrm>
          <a:prstGeom prst="rect">
            <a:avLst/>
          </a:prstGeom>
        </p:spPr>
        <p:txBody>
          <a:bodyPr vert="horz" lIns="91440" tIns="45720" rIns="91440" bIns="45720" rtlCol="0" anchor="ctr"/>
          <a:lstStyle>
            <a:lvl1pPr algn="ctr">
              <a:defRPr sz="675">
                <a:solidFill>
                  <a:schemeClr val="tx1">
                    <a:tint val="75000"/>
                  </a:schemeClr>
                </a:solidFill>
              </a:defRPr>
            </a:lvl1pPr>
          </a:lstStyle>
          <a:p>
            <a:pPr defTabSz="514350"/>
            <a:endParaRPr lang="en-US">
              <a:solidFill>
                <a:prstClr val="black">
                  <a:tint val="75000"/>
                </a:prstClr>
              </a:solidFill>
            </a:endParaRPr>
          </a:p>
        </p:txBody>
      </p:sp>
      <p:sp>
        <p:nvSpPr>
          <p:cNvPr id="6" name="Slide Number Placeholder 5"/>
          <p:cNvSpPr>
            <a:spLocks noGrp="1"/>
          </p:cNvSpPr>
          <p:nvPr>
            <p:ph type="sldNum" sz="quarter" idx="4"/>
          </p:nvPr>
        </p:nvSpPr>
        <p:spPr>
          <a:xfrm>
            <a:off x="3686175" y="4767263"/>
            <a:ext cx="1200150" cy="273844"/>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56466323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514350"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51435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909" indent="-160734" algn="l" defTabSz="514350"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938" indent="-128588" algn="l" defTabSz="514350"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9001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2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7175" y="205979"/>
            <a:ext cx="462915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7175" y="1200151"/>
            <a:ext cx="462915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7175" y="4767263"/>
            <a:ext cx="1200150" cy="273844"/>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3"/>
          </p:nvPr>
        </p:nvSpPr>
        <p:spPr>
          <a:xfrm>
            <a:off x="1757363" y="4767263"/>
            <a:ext cx="1628775" cy="273844"/>
          </a:xfrm>
          <a:prstGeom prst="rect">
            <a:avLst/>
          </a:prstGeom>
        </p:spPr>
        <p:txBody>
          <a:bodyPr vert="horz" lIns="91440" tIns="45720" rIns="91440" bIns="45720" rtlCol="0" anchor="ctr"/>
          <a:lstStyle>
            <a:lvl1pPr algn="ctr">
              <a:defRPr sz="675">
                <a:solidFill>
                  <a:schemeClr val="tx1">
                    <a:tint val="75000"/>
                  </a:schemeClr>
                </a:solidFill>
              </a:defRPr>
            </a:lvl1pPr>
          </a:lstStyle>
          <a:p>
            <a:pPr defTabSz="514350"/>
            <a:endParaRPr lang="en-US">
              <a:solidFill>
                <a:prstClr val="black">
                  <a:tint val="75000"/>
                </a:prstClr>
              </a:solidFill>
            </a:endParaRPr>
          </a:p>
        </p:txBody>
      </p:sp>
      <p:sp>
        <p:nvSpPr>
          <p:cNvPr id="6" name="Slide Number Placeholder 5"/>
          <p:cNvSpPr>
            <a:spLocks noGrp="1"/>
          </p:cNvSpPr>
          <p:nvPr>
            <p:ph type="sldNum" sz="quarter" idx="4"/>
          </p:nvPr>
        </p:nvSpPr>
        <p:spPr>
          <a:xfrm>
            <a:off x="3686175" y="4767263"/>
            <a:ext cx="1200150" cy="273844"/>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298528049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ctr" defTabSz="514350"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51435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909" indent="-160734" algn="l" defTabSz="514350"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938" indent="-128588" algn="l" defTabSz="514350"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9001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2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7175" y="205979"/>
            <a:ext cx="462915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7175" y="1200151"/>
            <a:ext cx="462915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7175" y="4767263"/>
            <a:ext cx="1200150" cy="273844"/>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3"/>
          </p:nvPr>
        </p:nvSpPr>
        <p:spPr>
          <a:xfrm>
            <a:off x="1757363" y="4767263"/>
            <a:ext cx="1628775" cy="273844"/>
          </a:xfrm>
          <a:prstGeom prst="rect">
            <a:avLst/>
          </a:prstGeom>
        </p:spPr>
        <p:txBody>
          <a:bodyPr vert="horz" lIns="91440" tIns="45720" rIns="91440" bIns="45720" rtlCol="0" anchor="ctr"/>
          <a:lstStyle>
            <a:lvl1pPr algn="ctr">
              <a:defRPr sz="675">
                <a:solidFill>
                  <a:schemeClr val="tx1">
                    <a:tint val="75000"/>
                  </a:schemeClr>
                </a:solidFill>
              </a:defRPr>
            </a:lvl1pPr>
          </a:lstStyle>
          <a:p>
            <a:pPr defTabSz="514350"/>
            <a:endParaRPr lang="en-US">
              <a:solidFill>
                <a:prstClr val="black">
                  <a:tint val="75000"/>
                </a:prstClr>
              </a:solidFill>
            </a:endParaRPr>
          </a:p>
        </p:txBody>
      </p:sp>
      <p:sp>
        <p:nvSpPr>
          <p:cNvPr id="6" name="Slide Number Placeholder 5"/>
          <p:cNvSpPr>
            <a:spLocks noGrp="1"/>
          </p:cNvSpPr>
          <p:nvPr>
            <p:ph type="sldNum" sz="quarter" idx="4"/>
          </p:nvPr>
        </p:nvSpPr>
        <p:spPr>
          <a:xfrm>
            <a:off x="3686175" y="4767263"/>
            <a:ext cx="1200150" cy="273844"/>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3429518704"/>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txStyles>
    <p:titleStyle>
      <a:lvl1pPr algn="ctr" defTabSz="514350"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51435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909" indent="-160734" algn="l" defTabSz="514350"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938" indent="-128588" algn="l" defTabSz="514350"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9001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2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7175" y="205979"/>
            <a:ext cx="462915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7175" y="1200151"/>
            <a:ext cx="462915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7175" y="4767263"/>
            <a:ext cx="1200150" cy="273844"/>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514350"/>
            <a:fld id="{1D8BD707-D9CF-40AE-B4C6-C98DA3205C09}" type="datetimeFigureOut">
              <a:rPr lang="en-US" smtClean="0">
                <a:solidFill>
                  <a:prstClr val="black">
                    <a:tint val="75000"/>
                  </a:prstClr>
                </a:solidFill>
              </a:rPr>
              <a:pPr defTabSz="514350"/>
              <a:t>5/7/2026</a:t>
            </a:fld>
            <a:endParaRPr lang="en-US">
              <a:solidFill>
                <a:prstClr val="black">
                  <a:tint val="75000"/>
                </a:prstClr>
              </a:solidFill>
            </a:endParaRPr>
          </a:p>
        </p:txBody>
      </p:sp>
      <p:sp>
        <p:nvSpPr>
          <p:cNvPr id="5" name="Footer Placeholder 4"/>
          <p:cNvSpPr>
            <a:spLocks noGrp="1"/>
          </p:cNvSpPr>
          <p:nvPr>
            <p:ph type="ftr" sz="quarter" idx="3"/>
          </p:nvPr>
        </p:nvSpPr>
        <p:spPr>
          <a:xfrm>
            <a:off x="1757363" y="4767263"/>
            <a:ext cx="1628775" cy="273844"/>
          </a:xfrm>
          <a:prstGeom prst="rect">
            <a:avLst/>
          </a:prstGeom>
        </p:spPr>
        <p:txBody>
          <a:bodyPr vert="horz" lIns="91440" tIns="45720" rIns="91440" bIns="45720" rtlCol="0" anchor="ctr"/>
          <a:lstStyle>
            <a:lvl1pPr algn="ctr">
              <a:defRPr sz="675">
                <a:solidFill>
                  <a:schemeClr val="tx1">
                    <a:tint val="75000"/>
                  </a:schemeClr>
                </a:solidFill>
              </a:defRPr>
            </a:lvl1pPr>
          </a:lstStyle>
          <a:p>
            <a:pPr defTabSz="514350"/>
            <a:endParaRPr lang="en-US">
              <a:solidFill>
                <a:prstClr val="black">
                  <a:tint val="75000"/>
                </a:prstClr>
              </a:solidFill>
            </a:endParaRPr>
          </a:p>
        </p:txBody>
      </p:sp>
      <p:sp>
        <p:nvSpPr>
          <p:cNvPr id="6" name="Slide Number Placeholder 5"/>
          <p:cNvSpPr>
            <a:spLocks noGrp="1"/>
          </p:cNvSpPr>
          <p:nvPr>
            <p:ph type="sldNum" sz="quarter" idx="4"/>
          </p:nvPr>
        </p:nvSpPr>
        <p:spPr>
          <a:xfrm>
            <a:off x="3686175" y="4767263"/>
            <a:ext cx="1200150" cy="273844"/>
          </a:xfrm>
          <a:prstGeom prst="rect">
            <a:avLst/>
          </a:prstGeom>
        </p:spPr>
        <p:txBody>
          <a:bodyPr vert="horz" lIns="91440" tIns="45720" rIns="91440" bIns="45720" rtlCol="0" anchor="ctr"/>
          <a:lstStyle>
            <a:lvl1pPr algn="r">
              <a:defRPr sz="675">
                <a:solidFill>
                  <a:schemeClr val="tx1">
                    <a:tint val="75000"/>
                  </a:schemeClr>
                </a:solidFill>
              </a:defRPr>
            </a:lvl1pPr>
          </a:lstStyle>
          <a:p>
            <a:pPr defTabSz="514350"/>
            <a:fld id="{B6F15528-21DE-4FAA-801E-634DDDAF4B2B}"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715389329"/>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xStyles>
    <p:titleStyle>
      <a:lvl1pPr algn="ctr" defTabSz="514350"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51435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909" indent="-160734" algn="l" defTabSz="514350"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938" indent="-128588" algn="l" defTabSz="514350"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9001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2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wrap="square" lIns="91440" tIns="45720" rIns="91440" bIns="45720" numCol="1" anchor="ctr" anchorCtr="0" compatLnSpc="1"/>
          <a:lstStyle>
            <a:lvl1pPr>
              <a:defRPr sz="900">
                <a:solidFill>
                  <a:srgbClr val="8FC3EC"/>
                </a:solidFill>
              </a:defRPr>
            </a:lvl1pPr>
          </a:lstStyle>
          <a:p>
            <a:fld id="{5F0298DE-DD2E-47AB-9D3F-FAA5746E86A6}" type="datetimeFigureOut">
              <a:rPr lang="en-US" smtClean="0"/>
              <a:t>5/7/2026</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fontAlgn="auto">
              <a:spcBef>
                <a:spcPts val="0"/>
              </a:spcBef>
              <a:spcAft>
                <a:spcPts val="0"/>
              </a:spcAft>
              <a:defRPr sz="900" smtClean="0">
                <a:solidFill>
                  <a:schemeClr val="tx1">
                    <a:tint val="75000"/>
                  </a:schemeClr>
                </a:solidFill>
                <a:latin typeface="+mn-lt"/>
                <a:ea typeface="+mn-ea"/>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lstStyle>
            <a:lvl1pPr algn="r">
              <a:defRPr sz="900">
                <a:solidFill>
                  <a:srgbClr val="8FC3EC"/>
                </a:solidFill>
              </a:defRPr>
            </a:lvl1pPr>
          </a:lstStyle>
          <a:p>
            <a:fld id="{5275DB63-22E2-4F73-AD3D-20674089298B}" type="slidenum">
              <a:rPr lang="en-US" smtClean="0"/>
              <a:t>‹#›</a:t>
            </a:fld>
            <a:endParaRPr lang="en-US"/>
          </a:p>
        </p:txBody>
      </p:sp>
    </p:spTree>
    <p:extLst>
      <p:ext uri="{BB962C8B-B14F-4D97-AF65-F5344CB8AC3E}">
        <p14:creationId xmlns:p14="http://schemas.microsoft.com/office/powerpoint/2010/main" val="809250485"/>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Lst>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sldNum="0" hdr="0" ftr="0" dt="0"/>
  <p:txStyles>
    <p:titleStyle>
      <a:lvl1pPr algn="ctr" defTabSz="342900" rtl="0" eaLnBrk="1" fontAlgn="base" hangingPunct="1">
        <a:spcBef>
          <a:spcPct val="0"/>
        </a:spcBef>
        <a:spcAft>
          <a:spcPct val="0"/>
        </a:spcAft>
        <a:defRPr sz="3300" kern="1200">
          <a:solidFill>
            <a:schemeClr val="tx1"/>
          </a:solidFill>
          <a:latin typeface="+mj-lt"/>
          <a:ea typeface="MS PGothic" panose="020B0600070205080204" pitchFamily="34" charset="-128"/>
          <a:cs typeface="+mj-cs"/>
        </a:defRPr>
      </a:lvl1pPr>
      <a:lvl2pPr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2pPr>
      <a:lvl3pPr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3pPr>
      <a:lvl4pPr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4pPr>
      <a:lvl5pPr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5pPr>
      <a:lvl6pPr marL="342900"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6pPr>
      <a:lvl7pPr marL="685800"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7pPr>
      <a:lvl8pPr marL="1028700"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8pPr>
      <a:lvl9pPr marL="1371600" algn="ctr" defTabSz="342900" rtl="0" eaLnBrk="1" fontAlgn="base" hangingPunct="1">
        <a:spcBef>
          <a:spcPct val="0"/>
        </a:spcBef>
        <a:spcAft>
          <a:spcPct val="0"/>
        </a:spcAft>
        <a:defRPr sz="3300">
          <a:solidFill>
            <a:schemeClr val="tx1"/>
          </a:solidFill>
          <a:latin typeface="Arial" panose="020B0604020202020204" pitchFamily="34" charset="0"/>
          <a:ea typeface="MS PGothic" panose="020B0600070205080204" pitchFamily="34" charset="-128"/>
        </a:defRPr>
      </a:lvl9pPr>
    </p:titleStyle>
    <p:bodyStyle>
      <a:lvl1pPr marL="257175" indent="-257175" algn="l" defTabSz="3429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1pPr>
      <a:lvl2pPr marL="557213" indent="-214313" algn="l" defTabSz="342900" rtl="0" eaLnBrk="1" fontAlgn="base" hangingPunct="1">
        <a:spcBef>
          <a:spcPct val="20000"/>
        </a:spcBef>
        <a:spcAft>
          <a:spcPct val="0"/>
        </a:spcAft>
        <a:buFont typeface="Arial" panose="020B0604020202020204" pitchFamily="34" charset="0"/>
        <a:buChar char="–"/>
        <a:defRPr sz="2100" kern="1200">
          <a:solidFill>
            <a:schemeClr val="tx1"/>
          </a:solidFill>
          <a:latin typeface="+mn-lt"/>
          <a:ea typeface="MS PGothic" panose="020B0600070205080204" pitchFamily="34" charset="-128"/>
          <a:cs typeface="+mn-cs"/>
        </a:defRPr>
      </a:lvl2pPr>
      <a:lvl3pPr marL="857250" indent="-171450" algn="l" defTabSz="342900" rtl="0" eaLnBrk="1" fontAlgn="base" hangingPunct="1">
        <a:spcBef>
          <a:spcPct val="20000"/>
        </a:spcBef>
        <a:spcAft>
          <a:spcPct val="0"/>
        </a:spcAft>
        <a:buFont typeface="Arial" panose="020B0604020202020204" pitchFamily="34" charset="0"/>
        <a:buChar char="•"/>
        <a:defRPr sz="1800" kern="1200">
          <a:solidFill>
            <a:schemeClr val="tx1"/>
          </a:solidFill>
          <a:latin typeface="+mn-lt"/>
          <a:ea typeface="MS PGothic" panose="020B0600070205080204" pitchFamily="34" charset="-128"/>
          <a:cs typeface="+mn-cs"/>
        </a:defRPr>
      </a:lvl3pPr>
      <a:lvl4pPr marL="1200150" indent="-171450" algn="l" defTabSz="342900" rtl="0" eaLnBrk="1" fontAlgn="base" hangingPunct="1">
        <a:spcBef>
          <a:spcPct val="20000"/>
        </a:spcBef>
        <a:spcAft>
          <a:spcPct val="0"/>
        </a:spcAft>
        <a:buFont typeface="Arial" panose="020B0604020202020204" pitchFamily="34" charset="0"/>
        <a:buChar char="–"/>
        <a:defRPr sz="1500" kern="1200">
          <a:solidFill>
            <a:schemeClr val="tx1"/>
          </a:solidFill>
          <a:latin typeface="+mn-lt"/>
          <a:ea typeface="MS PGothic" panose="020B0600070205080204" pitchFamily="34" charset="-128"/>
          <a:cs typeface="+mn-cs"/>
        </a:defRPr>
      </a:lvl4pPr>
      <a:lvl5pPr marL="1543050" indent="-171450" algn="l" defTabSz="342900" rtl="0" eaLnBrk="1" fontAlgn="base" hangingPunct="1">
        <a:spcBef>
          <a:spcPct val="20000"/>
        </a:spcBef>
        <a:spcAft>
          <a:spcPct val="0"/>
        </a:spcAft>
        <a:buFont typeface="Arial" panose="020B0604020202020204" pitchFamily="34" charset="0"/>
        <a:buChar char="»"/>
        <a:defRPr sz="1500" kern="1200">
          <a:solidFill>
            <a:schemeClr val="tx1"/>
          </a:solidFill>
          <a:latin typeface="+mn-lt"/>
          <a:ea typeface="MS PGothic" panose="020B0600070205080204" pitchFamily="34" charset="-128"/>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5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59.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9.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6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9.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5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9.xml"/></Relationships>
</file>

<file path=ppt/slides/_rels/slide47.xml.rels><?xml version="1.0" encoding="UTF-8" standalone="yes"?>
<Relationships xmlns="http://schemas.openxmlformats.org/package/2006/relationships"><Relationship Id="rId2" Type="http://schemas.openxmlformats.org/officeDocument/2006/relationships/hyperlink" Target="https://www.ncbi.nlm.nih.gov/books/NBK431054/" TargetMode="External"/><Relationship Id="rId1" Type="http://schemas.openxmlformats.org/officeDocument/2006/relationships/slideLayout" Target="../slideLayouts/slideLayout5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9.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6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9.xml"/></Relationships>
</file>

<file path=ppt/slides/_rels/slide63.xml.rels><?xml version="1.0" encoding="UTF-8" standalone="yes"?>
<Relationships xmlns="http://schemas.openxmlformats.org/package/2006/relationships"><Relationship Id="rId3" Type="http://schemas.openxmlformats.org/officeDocument/2006/relationships/hyperlink" Target="https://www.ivi.int/" TargetMode="External"/><Relationship Id="rId2" Type="http://schemas.openxmlformats.org/officeDocument/2006/relationships/notesSlide" Target="../notesSlides/notesSlide41.xml"/><Relationship Id="rId1" Type="http://schemas.openxmlformats.org/officeDocument/2006/relationships/slideLayout" Target="../slideLayouts/slideLayout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73.xml.rels><?xml version="1.0" encoding="UTF-8" standalone="yes"?>
<Relationships xmlns="http://schemas.openxmlformats.org/package/2006/relationships"><Relationship Id="rId2" Type="http://schemas.openxmlformats.org/officeDocument/2006/relationships/hyperlink" Target="https://cdn.who.int/media/docs/default-source/dco/wer_36_2024_cholera-annual-report-for-2023_bilingual-proof.pdf?sfvrsn=86fb1faf_1" TargetMode="External"/><Relationship Id="rId1" Type="http://schemas.openxmlformats.org/officeDocument/2006/relationships/slideLayout" Target="../slideLayouts/slideLayout5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5943600" y="857250"/>
            <a:ext cx="3200400" cy="5143500"/>
          </a:xfrm>
          <a:prstGeom prst="rect">
            <a:avLst/>
          </a:prstGeom>
          <a:solidFill>
            <a:srgbClr val="0E7C86">
              <a:alpha val="20000"/>
            </a:srgbClr>
          </a:solidFill>
          <a:ln w="12700">
            <a:solidFill>
              <a:srgbClr val="0E7C86">
                <a:alpha val="20000"/>
              </a:srgbClr>
            </a:solidFill>
            <a:prstDash val="solid"/>
          </a:ln>
        </p:spPr>
      </p:sp>
      <p:sp>
        <p:nvSpPr>
          <p:cNvPr id="3" name="Shape 1"/>
          <p:cNvSpPr/>
          <p:nvPr/>
        </p:nvSpPr>
        <p:spPr>
          <a:xfrm>
            <a:off x="7498080" y="857250"/>
            <a:ext cx="1645920" cy="5143500"/>
          </a:xfrm>
          <a:prstGeom prst="rect">
            <a:avLst/>
          </a:prstGeom>
          <a:solidFill>
            <a:srgbClr val="14B8A6">
              <a:alpha val="30000"/>
            </a:srgbClr>
          </a:solidFill>
          <a:ln w="12700">
            <a:solidFill>
              <a:srgbClr val="14B8A6">
                <a:alpha val="30000"/>
              </a:srgbClr>
            </a:solidFill>
            <a:prstDash val="solid"/>
          </a:ln>
        </p:spPr>
      </p:sp>
      <p:sp>
        <p:nvSpPr>
          <p:cNvPr id="4" name="Shape 2"/>
          <p:cNvSpPr/>
          <p:nvPr/>
        </p:nvSpPr>
        <p:spPr>
          <a:xfrm>
            <a:off x="457200" y="2411730"/>
            <a:ext cx="64008" cy="2011680"/>
          </a:xfrm>
          <a:prstGeom prst="rect">
            <a:avLst/>
          </a:prstGeom>
          <a:solidFill>
            <a:srgbClr val="E8A040"/>
          </a:solidFill>
          <a:ln w="12700">
            <a:solidFill>
              <a:srgbClr val="E8A040"/>
            </a:solidFill>
            <a:prstDash val="solid"/>
          </a:ln>
        </p:spPr>
      </p:sp>
      <p:sp>
        <p:nvSpPr>
          <p:cNvPr id="5" name="Text 3"/>
          <p:cNvSpPr/>
          <p:nvPr/>
        </p:nvSpPr>
        <p:spPr>
          <a:xfrm>
            <a:off x="640080" y="2274570"/>
            <a:ext cx="6858000" cy="685800"/>
          </a:xfrm>
          <a:prstGeom prst="rect">
            <a:avLst/>
          </a:prstGeom>
          <a:noFill/>
          <a:ln/>
        </p:spPr>
        <p:txBody>
          <a:bodyPr wrap="square" rtlCol="0" anchor="ctr"/>
          <a:lstStyle/>
          <a:p>
            <a:pPr defTabSz="914400"/>
            <a:r>
              <a:rPr lang="en-US" sz="4200" b="1" kern="0" spc="800" dirty="0">
                <a:solidFill>
                  <a:srgbClr val="FFFFFF"/>
                </a:solidFill>
                <a:latin typeface="Times New Roman" panose="02020603050405020304" pitchFamily="18" charset="0"/>
                <a:ea typeface="Calibri" pitchFamily="34" charset="-122"/>
                <a:cs typeface="Times New Roman" panose="02020603050405020304" pitchFamily="18" charset="0"/>
              </a:rPr>
              <a:t>INFECTIOUS</a:t>
            </a:r>
            <a:endParaRPr lang="en-US" sz="4200" dirty="0">
              <a:solidFill>
                <a:srgbClr val="32A9E5"/>
              </a:solidFill>
              <a:latin typeface="Times New Roman" panose="02020603050405020304" pitchFamily="18" charset="0"/>
              <a:cs typeface="Times New Roman" panose="02020603050405020304" pitchFamily="18" charset="0"/>
            </a:endParaRPr>
          </a:p>
        </p:txBody>
      </p:sp>
      <p:sp>
        <p:nvSpPr>
          <p:cNvPr id="6" name="Text 4"/>
          <p:cNvSpPr/>
          <p:nvPr/>
        </p:nvSpPr>
        <p:spPr>
          <a:xfrm>
            <a:off x="640080" y="2868930"/>
            <a:ext cx="6858000" cy="731520"/>
          </a:xfrm>
          <a:prstGeom prst="rect">
            <a:avLst/>
          </a:prstGeom>
          <a:noFill/>
          <a:ln/>
        </p:spPr>
        <p:txBody>
          <a:bodyPr wrap="square" rtlCol="0" anchor="ctr"/>
          <a:lstStyle/>
          <a:p>
            <a:pPr defTabSz="914400"/>
            <a:r>
              <a:rPr lang="en-US" sz="4200" b="1" kern="0" spc="800" dirty="0">
                <a:solidFill>
                  <a:srgbClr val="14B8A6"/>
                </a:solidFill>
                <a:latin typeface="Times New Roman" panose="02020603050405020304" pitchFamily="18" charset="0"/>
                <a:ea typeface="Calibri" pitchFamily="34" charset="-122"/>
                <a:cs typeface="Times New Roman" panose="02020603050405020304" pitchFamily="18" charset="0"/>
              </a:rPr>
              <a:t>DIARRHOEA</a:t>
            </a:r>
            <a:endParaRPr lang="en-US" sz="4200" dirty="0">
              <a:solidFill>
                <a:srgbClr val="32A9E5"/>
              </a:solidFill>
              <a:latin typeface="Times New Roman" panose="02020603050405020304" pitchFamily="18" charset="0"/>
              <a:cs typeface="Times New Roman" panose="02020603050405020304" pitchFamily="18" charset="0"/>
            </a:endParaRPr>
          </a:p>
        </p:txBody>
      </p:sp>
      <p:sp>
        <p:nvSpPr>
          <p:cNvPr id="7" name="Text 5"/>
          <p:cNvSpPr/>
          <p:nvPr/>
        </p:nvSpPr>
        <p:spPr>
          <a:xfrm>
            <a:off x="640080" y="3691890"/>
            <a:ext cx="6858000" cy="411480"/>
          </a:xfrm>
          <a:prstGeom prst="rect">
            <a:avLst/>
          </a:prstGeom>
          <a:noFill/>
          <a:ln/>
        </p:spPr>
        <p:txBody>
          <a:bodyPr wrap="square" rtlCol="0" anchor="ctr"/>
          <a:lstStyle/>
          <a:p>
            <a:pPr defTabSz="914400"/>
            <a:r>
              <a:rPr lang="en-US" sz="1600" i="1" dirty="0">
                <a:solidFill>
                  <a:srgbClr val="AADDEE"/>
                </a:solidFill>
                <a:latin typeface="Times New Roman" panose="02020603050405020304" pitchFamily="18" charset="0"/>
                <a:ea typeface="Calibri" pitchFamily="34" charset="-122"/>
                <a:cs typeface="Times New Roman" panose="02020603050405020304" pitchFamily="18" charset="0"/>
              </a:rPr>
              <a:t>A Seminar Presentation</a:t>
            </a:r>
            <a:endParaRPr lang="en-US" sz="1600" dirty="0">
              <a:solidFill>
                <a:srgbClr val="32A9E5"/>
              </a:solidFill>
              <a:latin typeface="Times New Roman" panose="02020603050405020304" pitchFamily="18" charset="0"/>
              <a:cs typeface="Times New Roman" panose="02020603050405020304" pitchFamily="18" charset="0"/>
            </a:endParaRPr>
          </a:p>
        </p:txBody>
      </p:sp>
      <p:sp>
        <p:nvSpPr>
          <p:cNvPr id="8" name="Shape 6"/>
          <p:cNvSpPr/>
          <p:nvPr/>
        </p:nvSpPr>
        <p:spPr>
          <a:xfrm>
            <a:off x="640080" y="4194810"/>
            <a:ext cx="5029200" cy="27432"/>
          </a:xfrm>
          <a:prstGeom prst="rect">
            <a:avLst/>
          </a:prstGeom>
          <a:solidFill>
            <a:srgbClr val="E8A040"/>
          </a:solidFill>
          <a:ln w="12700">
            <a:solidFill>
              <a:srgbClr val="E8A040"/>
            </a:solidFill>
            <a:prstDash val="solid"/>
          </a:ln>
        </p:spPr>
      </p:sp>
      <p:sp>
        <p:nvSpPr>
          <p:cNvPr id="9" name="Text 7"/>
          <p:cNvSpPr/>
          <p:nvPr/>
        </p:nvSpPr>
        <p:spPr>
          <a:xfrm>
            <a:off x="640080" y="4377690"/>
            <a:ext cx="7315200" cy="365760"/>
          </a:xfrm>
          <a:prstGeom prst="rect">
            <a:avLst/>
          </a:prstGeom>
          <a:noFill/>
          <a:ln/>
        </p:spPr>
        <p:txBody>
          <a:bodyPr wrap="square" rtlCol="0" anchor="ctr"/>
          <a:lstStyle/>
          <a:p>
            <a:pPr defTabSz="914400"/>
            <a:r>
              <a:rPr lang="en-US" sz="1400" dirty="0">
                <a:solidFill>
                  <a:srgbClr val="AADDEE"/>
                </a:solidFill>
                <a:latin typeface="Times New Roman" panose="02020603050405020304" pitchFamily="18" charset="0"/>
                <a:cs typeface="Times New Roman" panose="02020603050405020304" pitchFamily="18" charset="0"/>
              </a:rPr>
              <a:t>FACILITATOR: </a:t>
            </a:r>
            <a:r>
              <a:rPr lang="en-US" sz="1400" b="1" dirty="0">
                <a:solidFill>
                  <a:srgbClr val="FFFFFF"/>
                </a:solidFill>
                <a:latin typeface="Times New Roman" panose="02020603050405020304" pitchFamily="18" charset="0"/>
                <a:cs typeface="Times New Roman" panose="02020603050405020304" pitchFamily="18" charset="0"/>
              </a:rPr>
              <a:t>DR. E.KOMBA, </a:t>
            </a:r>
            <a:r>
              <a:rPr lang="en-US" sz="1400" b="1" dirty="0" err="1">
                <a:solidFill>
                  <a:srgbClr val="FFFFFF"/>
                </a:solidFill>
                <a:latin typeface="Times New Roman" panose="02020603050405020304" pitchFamily="18" charset="0"/>
                <a:cs typeface="Times New Roman" panose="02020603050405020304" pitchFamily="18" charset="0"/>
              </a:rPr>
              <a:t>HoD</a:t>
            </a:r>
            <a:r>
              <a:rPr lang="en-US" sz="1400" b="1" dirty="0">
                <a:solidFill>
                  <a:srgbClr val="FFFFFF"/>
                </a:solidFill>
                <a:latin typeface="Times New Roman" panose="02020603050405020304" pitchFamily="18" charset="0"/>
                <a:cs typeface="Times New Roman" panose="02020603050405020304" pitchFamily="18" charset="0"/>
              </a:rPr>
              <a:t> INTERNAL MEDICINE DEPARTMENT, MUHAS</a:t>
            </a:r>
            <a:endParaRPr lang="en-US" sz="1400" dirty="0">
              <a:solidFill>
                <a:srgbClr val="32A9E5"/>
              </a:solidFill>
              <a:latin typeface="Times New Roman" panose="02020603050405020304" pitchFamily="18" charset="0"/>
              <a:cs typeface="Times New Roman" panose="02020603050405020304" pitchFamily="18" charset="0"/>
            </a:endParaRPr>
          </a:p>
        </p:txBody>
      </p:sp>
      <p:sp>
        <p:nvSpPr>
          <p:cNvPr id="10" name="Text 8"/>
          <p:cNvSpPr/>
          <p:nvPr/>
        </p:nvSpPr>
        <p:spPr>
          <a:xfrm>
            <a:off x="640080" y="4789170"/>
            <a:ext cx="8046720" cy="457200"/>
          </a:xfrm>
          <a:prstGeom prst="rect">
            <a:avLst/>
          </a:prstGeom>
          <a:noFill/>
          <a:ln/>
        </p:spPr>
        <p:txBody>
          <a:bodyPr wrap="square" rtlCol="0" anchor="ctr"/>
          <a:lstStyle/>
          <a:p>
            <a:pPr defTabSz="914400"/>
            <a:r>
              <a:rPr lang="en-US" sz="1400" dirty="0">
                <a:solidFill>
                  <a:srgbClr val="CCDDEE"/>
                </a:solidFill>
                <a:latin typeface="Times New Roman" panose="02020603050405020304" pitchFamily="18" charset="0"/>
                <a:cs typeface="Times New Roman" panose="02020603050405020304" pitchFamily="18" charset="0"/>
              </a:rPr>
              <a:t>PRESENTERS: DR. DOREEN WATUGULU AND DR. YASINI, MUHUDI</a:t>
            </a:r>
            <a:endParaRPr lang="en-US" sz="1400" dirty="0">
              <a:solidFill>
                <a:srgbClr val="32A9E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699971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Learning Objectives</a:t>
            </a:r>
          </a:p>
        </p:txBody>
      </p:sp>
      <p:sp>
        <p:nvSpPr>
          <p:cNvPr id="3" name="Content Placeholder 2"/>
          <p:cNvSpPr>
            <a:spLocks noGrp="1"/>
          </p:cNvSpPr>
          <p:nvPr>
            <p:ph idx="1"/>
          </p:nvPr>
        </p:nvSpPr>
        <p:spPr/>
        <p:txBody>
          <a:bodyPr/>
          <a:lstStyle/>
          <a:p>
            <a:r>
              <a:rPr lang="en-US" sz="2400" dirty="0">
                <a:solidFill>
                  <a:schemeClr val="bg2">
                    <a:lumMod val="10000"/>
                  </a:schemeClr>
                </a:solidFill>
                <a:latin typeface="Times New Roman" panose="02020603050405020304" pitchFamily="18" charset="0"/>
                <a:cs typeface="Times New Roman" panose="02020603050405020304" pitchFamily="18" charset="0"/>
              </a:rPr>
              <a:t>By the end of the session, the resident should be able to:</a:t>
            </a: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Classify and explain the epidemiology, causes, and pathophysiology of infectious diarrhea in adults.</a:t>
            </a: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Evaluate patients clinically by eliciting key history, performing focused examination,</a:t>
            </a: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Formulate differential diagnoses and select appropriate investigations</a:t>
            </a: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Develop evidence-based management plans</a:t>
            </a: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Recognize and implement prevention strategies, including infection control, public health measures, and patient education.</a:t>
            </a:r>
          </a:p>
        </p:txBody>
      </p:sp>
    </p:spTree>
    <p:extLst>
      <p:ext uri="{BB962C8B-B14F-4D97-AF65-F5344CB8AC3E}">
        <p14:creationId xmlns:p14="http://schemas.microsoft.com/office/powerpoint/2010/main" val="358120082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a:xfrm>
            <a:off x="685800" y="-228600"/>
            <a:ext cx="7086600" cy="1524000"/>
          </a:xfrm>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OUTLINE</a:t>
            </a:r>
          </a:p>
        </p:txBody>
      </p:sp>
      <p:sp>
        <p:nvSpPr>
          <p:cNvPr id="1048603" name="Content Placeholder 2"/>
          <p:cNvSpPr>
            <a:spLocks noGrp="1"/>
          </p:cNvSpPr>
          <p:nvPr>
            <p:ph idx="1"/>
          </p:nvPr>
        </p:nvSpPr>
        <p:spPr>
          <a:xfrm>
            <a:off x="304800" y="914400"/>
            <a:ext cx="8686800" cy="5562600"/>
          </a:xfrm>
        </p:spPr>
        <p:txBody>
          <a:bodyPr>
            <a:normAutofit/>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Introduction</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E</a:t>
            </a:r>
            <a:r>
              <a:rPr lang="en-US" sz="2800" dirty="0">
                <a:solidFill>
                  <a:schemeClr val="bg2">
                    <a:lumMod val="10000"/>
                  </a:schemeClr>
                </a:solidFill>
                <a:latin typeface="Times New Roman" panose="02020603050405020304" pitchFamily="18" charset="0"/>
                <a:cs typeface="Times New Roman" panose="02020603050405020304" pitchFamily="18" charset="0"/>
                <a:sym typeface="+mn-ea"/>
              </a:rPr>
              <a:t>pidemiology and </a:t>
            </a:r>
            <a:r>
              <a:rPr lang="en-US" sz="2800" dirty="0">
                <a:solidFill>
                  <a:schemeClr val="bg2">
                    <a:lumMod val="10000"/>
                  </a:schemeClr>
                </a:solidFill>
                <a:latin typeface="Times New Roman" panose="02020603050405020304" pitchFamily="18" charset="0"/>
                <a:cs typeface="Times New Roman" panose="02020603050405020304" pitchFamily="18" charset="0"/>
              </a:rPr>
              <a:t>Classification</a:t>
            </a:r>
          </a:p>
          <a:p>
            <a:r>
              <a:rPr lang="en-US" sz="2800" dirty="0">
                <a:solidFill>
                  <a:schemeClr val="bg2">
                    <a:lumMod val="10000"/>
                  </a:schemeClr>
                </a:solidFill>
                <a:latin typeface="Times New Roman" panose="02020603050405020304" pitchFamily="18" charset="0"/>
                <a:cs typeface="Times New Roman" panose="02020603050405020304" pitchFamily="18" charset="0"/>
              </a:rPr>
              <a:t>Etiology and Pathophysiology</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Clinical assessment</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General Management</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CDI</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Infectious diarrhoea in immunocompromised</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Vaccine in infectious diarrhea </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References</a:t>
            </a:r>
          </a:p>
          <a:p>
            <a:pPr>
              <a:buClrTx/>
              <a:buFont typeface="Arial" panose="020B0604020202020204" pitchFamily="34" charset="0"/>
              <a:buChar char="•"/>
            </a:pPr>
            <a:endParaRPr lang="en-US" dirty="0"/>
          </a:p>
          <a:p>
            <a:pPr>
              <a:buClrTx/>
              <a:buFont typeface="Arial" panose="020B0604020202020204" pitchFamily="34" charset="0"/>
              <a:buChar char="•"/>
            </a:pPr>
            <a:endParaRPr lang="en-US" dirty="0"/>
          </a:p>
          <a:p>
            <a:pPr>
              <a:buClrTx/>
              <a:buFont typeface="Arial" panose="020B0604020202020204" pitchFamily="34" charset="0"/>
              <a:buChar char="•"/>
            </a:pPr>
            <a:endParaRPr lang="en-US" dirty="0"/>
          </a:p>
          <a:p>
            <a:pPr>
              <a:buClrTx/>
              <a:buFont typeface="Arial" panose="020B0604020202020204" pitchFamily="34" charset="0"/>
              <a:buChar char="•"/>
            </a:pPr>
            <a:endParaRPr lang="en-US" dirty="0"/>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INTRODUCTION</a:t>
            </a:r>
          </a:p>
        </p:txBody>
      </p:sp>
      <p:sp>
        <p:nvSpPr>
          <p:cNvPr id="1048605" name="Content Placeholder 2"/>
          <p:cNvSpPr>
            <a:spLocks noGrp="1"/>
          </p:cNvSpPr>
          <p:nvPr>
            <p:ph idx="1"/>
          </p:nvPr>
        </p:nvSpPr>
        <p:spPr/>
        <p:txBody>
          <a:bodyPr>
            <a:normAutofit/>
          </a:bodyPr>
          <a:lstStyle/>
          <a:p>
            <a:pPr marL="0" indent="0">
              <a:buFont typeface="Arial" panose="020B0604020202020204" pitchFamily="34" charset="0"/>
              <a:buNone/>
            </a:pPr>
            <a:r>
              <a:rPr lang="en-US" altLang="en-US" sz="2800" dirty="0">
                <a:solidFill>
                  <a:schemeClr val="bg2">
                    <a:lumMod val="10000"/>
                  </a:schemeClr>
                </a:solidFill>
                <a:latin typeface="Times New Roman" panose="02020603050405020304" pitchFamily="18" charset="0"/>
                <a:cs typeface="Times New Roman" panose="02020603050405020304" pitchFamily="18" charset="0"/>
              </a:rPr>
              <a:t>Diarrhea is defined as the passage of three or more loose or liquid stools per day, more frequently than is normal for the individual. </a:t>
            </a:r>
          </a:p>
          <a:p>
            <a:pPr marL="0" indent="0">
              <a:buNone/>
            </a:pPr>
            <a:r>
              <a:rPr lang="en-US" altLang="en-US" sz="2800" dirty="0" err="1">
                <a:solidFill>
                  <a:schemeClr val="bg2">
                    <a:lumMod val="10000"/>
                  </a:schemeClr>
                </a:solidFill>
                <a:latin typeface="Times New Roman" panose="02020603050405020304" pitchFamily="18" charset="0"/>
                <a:cs typeface="Times New Roman" panose="02020603050405020304" pitchFamily="18" charset="0"/>
              </a:rPr>
              <a:t>Diarrhoea</a:t>
            </a:r>
            <a:r>
              <a:rPr lang="en-US" altLang="en-US" sz="2800" dirty="0">
                <a:solidFill>
                  <a:schemeClr val="bg2">
                    <a:lumMod val="10000"/>
                  </a:schemeClr>
                </a:solidFill>
                <a:latin typeface="Times New Roman" panose="02020603050405020304" pitchFamily="18" charset="0"/>
                <a:cs typeface="Times New Roman" panose="02020603050405020304" pitchFamily="18" charset="0"/>
              </a:rPr>
              <a:t> is usually a symptom of an infection in the intestinal tract, which can be caused by a variety of </a:t>
            </a:r>
            <a:r>
              <a:rPr lang="en-US" altLang="en-US" sz="2800" b="1" dirty="0">
                <a:solidFill>
                  <a:schemeClr val="bg2">
                    <a:lumMod val="10000"/>
                  </a:schemeClr>
                </a:solidFill>
                <a:latin typeface="Times New Roman" panose="02020603050405020304" pitchFamily="18" charset="0"/>
                <a:cs typeface="Times New Roman" panose="02020603050405020304" pitchFamily="18" charset="0"/>
              </a:rPr>
              <a:t>bacterial</a:t>
            </a:r>
            <a:r>
              <a:rPr lang="en-US" alt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altLang="en-US" sz="2800" b="1" dirty="0">
                <a:solidFill>
                  <a:schemeClr val="bg2">
                    <a:lumMod val="10000"/>
                  </a:schemeClr>
                </a:solidFill>
                <a:latin typeface="Times New Roman" panose="02020603050405020304" pitchFamily="18" charset="0"/>
                <a:cs typeface="Times New Roman" panose="02020603050405020304" pitchFamily="18" charset="0"/>
              </a:rPr>
              <a:t>viral</a:t>
            </a:r>
            <a:r>
              <a:rPr lang="en-US" altLang="en-US" sz="2800" dirty="0">
                <a:solidFill>
                  <a:schemeClr val="bg2">
                    <a:lumMod val="10000"/>
                  </a:schemeClr>
                </a:solidFill>
                <a:latin typeface="Times New Roman" panose="02020603050405020304" pitchFamily="18" charset="0"/>
                <a:cs typeface="Times New Roman" panose="02020603050405020304" pitchFamily="18" charset="0"/>
              </a:rPr>
              <a:t> and </a:t>
            </a:r>
            <a:r>
              <a:rPr lang="en-US" altLang="en-US" sz="2800" b="1" dirty="0">
                <a:solidFill>
                  <a:schemeClr val="bg2">
                    <a:lumMod val="10000"/>
                  </a:schemeClr>
                </a:solidFill>
                <a:latin typeface="Times New Roman" panose="02020603050405020304" pitchFamily="18" charset="0"/>
                <a:cs typeface="Times New Roman" panose="02020603050405020304" pitchFamily="18" charset="0"/>
              </a:rPr>
              <a:t>parasitic</a:t>
            </a:r>
            <a:r>
              <a:rPr lang="en-US" altLang="en-US" sz="2800" dirty="0">
                <a:solidFill>
                  <a:schemeClr val="bg2">
                    <a:lumMod val="10000"/>
                  </a:schemeClr>
                </a:solidFill>
                <a:latin typeface="Times New Roman" panose="02020603050405020304" pitchFamily="18" charset="0"/>
                <a:cs typeface="Times New Roman" panose="02020603050405020304" pitchFamily="18" charset="0"/>
              </a:rPr>
              <a:t> organisms</a:t>
            </a:r>
          </a:p>
          <a:p>
            <a:pPr marL="0" indent="0">
              <a:buFont typeface="Arial" panose="020B0604020202020204" pitchFamily="34" charset="0"/>
              <a:buNone/>
            </a:pPr>
            <a:endParaRPr lang="en-US" altLang="en-US" sz="2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304800" y="5029200"/>
            <a:ext cx="8077200" cy="923330"/>
          </a:xfrm>
          <a:prstGeom prst="rect">
            <a:avLst/>
          </a:prstGeom>
          <a:solidFill>
            <a:schemeClr val="accent6"/>
          </a:solidFill>
        </p:spPr>
        <p:txBody>
          <a:bodyPr wrap="square" rtlCol="0">
            <a:spAutoFit/>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World Health Organization [WHO]. </a:t>
            </a:r>
            <a:r>
              <a:rPr lang="en-US" dirty="0" err="1">
                <a:solidFill>
                  <a:schemeClr val="bg2">
                    <a:lumMod val="10000"/>
                  </a:schemeClr>
                </a:solidFill>
                <a:latin typeface="Times New Roman" panose="02020603050405020304" pitchFamily="18" charset="0"/>
                <a:cs typeface="Times New Roman" panose="02020603050405020304" pitchFamily="18" charset="0"/>
              </a:rPr>
              <a:t>Diarrhoeal</a:t>
            </a:r>
            <a:r>
              <a:rPr lang="en-US" dirty="0">
                <a:solidFill>
                  <a:schemeClr val="bg2">
                    <a:lumMod val="10000"/>
                  </a:schemeClr>
                </a:solidFill>
                <a:latin typeface="Times New Roman" panose="02020603050405020304" pitchFamily="18" charset="0"/>
                <a:cs typeface="Times New Roman" panose="02020603050405020304" pitchFamily="18" charset="0"/>
              </a:rPr>
              <a:t> disease: Fact sheet., 2024 (https://www.who.int/news-room/fact-sheets/detail/diarrhoeal-disease, accessed 18 March 2024)</a:t>
            </a:r>
          </a:p>
        </p:txBody>
      </p:sp>
    </p:spTree>
    <p:extLst>
      <p:ext uri="{BB962C8B-B14F-4D97-AF65-F5344CB8AC3E}">
        <p14:creationId xmlns:p14="http://schemas.microsoft.com/office/powerpoint/2010/main" val="153060619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Gastroenteritis is inflammation of the stomach and intestinal epithelium.</a:t>
            </a:r>
          </a:p>
          <a:p>
            <a:r>
              <a:rPr lang="en-US" sz="2800" dirty="0">
                <a:solidFill>
                  <a:schemeClr val="bg2">
                    <a:lumMod val="10000"/>
                  </a:schemeClr>
                </a:solidFill>
                <a:latin typeface="Times New Roman" panose="02020603050405020304" pitchFamily="18" charset="0"/>
                <a:cs typeface="Times New Roman" panose="02020603050405020304" pitchFamily="18" charset="0"/>
              </a:rPr>
              <a:t>Food poisoning is vomiting and/or </a:t>
            </a:r>
            <a:r>
              <a:rPr lang="en-US" sz="2800" dirty="0" err="1">
                <a:solidFill>
                  <a:schemeClr val="bg2">
                    <a:lumMod val="10000"/>
                  </a:schemeClr>
                </a:solidFill>
                <a:latin typeface="Times New Roman" panose="02020603050405020304" pitchFamily="18" charset="0"/>
                <a:cs typeface="Times New Roman" panose="02020603050405020304" pitchFamily="18" charset="0"/>
              </a:rPr>
              <a:t>diarrhoea</a:t>
            </a:r>
            <a:r>
              <a:rPr lang="en-US" sz="2800" dirty="0">
                <a:solidFill>
                  <a:schemeClr val="bg2">
                    <a:lumMod val="10000"/>
                  </a:schemeClr>
                </a:solidFill>
                <a:latin typeface="Times New Roman" panose="02020603050405020304" pitchFamily="18" charset="0"/>
                <a:cs typeface="Times New Roman" panose="02020603050405020304" pitchFamily="18" charset="0"/>
              </a:rPr>
              <a:t> caused by eating food contaminated with microorganisms or toxins (bacterial or otherwise, e.g. poisonous mushrooms).</a:t>
            </a:r>
          </a:p>
          <a:p>
            <a:r>
              <a:rPr lang="en-US" sz="2800" dirty="0">
                <a:solidFill>
                  <a:schemeClr val="bg2">
                    <a:lumMod val="10000"/>
                  </a:schemeClr>
                </a:solidFill>
                <a:latin typeface="Times New Roman" panose="02020603050405020304" pitchFamily="18" charset="0"/>
                <a:cs typeface="Times New Roman" panose="02020603050405020304" pitchFamily="18" charset="0"/>
              </a:rPr>
              <a:t>Dysentery is bloody </a:t>
            </a:r>
            <a:r>
              <a:rPr lang="en-US" sz="2800" dirty="0" err="1">
                <a:solidFill>
                  <a:schemeClr val="bg2">
                    <a:lumMod val="10000"/>
                  </a:schemeClr>
                </a:solidFill>
                <a:latin typeface="Times New Roman" panose="02020603050405020304" pitchFamily="18" charset="0"/>
                <a:cs typeface="Times New Roman" panose="02020603050405020304" pitchFamily="18" charset="0"/>
              </a:rPr>
              <a:t>diarrhoea</a:t>
            </a:r>
            <a:r>
              <a:rPr lang="en-US" sz="2800" dirty="0">
                <a:solidFill>
                  <a:schemeClr val="bg2">
                    <a:lumMod val="10000"/>
                  </a:schemeClr>
                </a:solidFill>
                <a:latin typeface="Times New Roman" panose="02020603050405020304" pitchFamily="18" charset="0"/>
                <a:cs typeface="Times New Roman" panose="02020603050405020304" pitchFamily="18" charset="0"/>
              </a:rPr>
              <a:t> with mucus, </a:t>
            </a:r>
            <a:r>
              <a:rPr lang="en-US" sz="2800" dirty="0" err="1">
                <a:solidFill>
                  <a:schemeClr val="bg2">
                    <a:lumMod val="10000"/>
                  </a:schemeClr>
                </a:solidFill>
                <a:latin typeface="Times New Roman" panose="02020603050405020304" pitchFamily="18" charset="0"/>
                <a:cs typeface="Times New Roman" panose="02020603050405020304" pitchFamily="18" charset="0"/>
              </a:rPr>
              <a:t>tenesmus</a:t>
            </a:r>
            <a:r>
              <a:rPr lang="en-US" sz="2800" dirty="0">
                <a:solidFill>
                  <a:schemeClr val="bg2">
                    <a:lumMod val="10000"/>
                  </a:schemeClr>
                </a:solidFill>
                <a:latin typeface="Times New Roman" panose="02020603050405020304" pitchFamily="18" charset="0"/>
                <a:cs typeface="Times New Roman" panose="02020603050405020304" pitchFamily="18" charset="0"/>
              </a:rPr>
              <a:t>, pain, and fever usually caused by bacterial, </a:t>
            </a:r>
            <a:r>
              <a:rPr lang="en-US" sz="2800" dirty="0" smtClean="0">
                <a:solidFill>
                  <a:schemeClr val="bg2">
                    <a:lumMod val="10000"/>
                  </a:schemeClr>
                </a:solidFill>
                <a:latin typeface="Times New Roman" panose="02020603050405020304" pitchFamily="18" charset="0"/>
                <a:cs typeface="Times New Roman" panose="02020603050405020304" pitchFamily="18" charset="0"/>
              </a:rPr>
              <a:t>parasitic, </a:t>
            </a:r>
            <a:r>
              <a:rPr lang="en-US" sz="2800" dirty="0">
                <a:solidFill>
                  <a:schemeClr val="bg2">
                    <a:lumMod val="10000"/>
                  </a:schemeClr>
                </a:solidFill>
                <a:latin typeface="Times New Roman" panose="02020603050405020304" pitchFamily="18" charset="0"/>
                <a:cs typeface="Times New Roman" panose="02020603050405020304" pitchFamily="18" charset="0"/>
              </a:rPr>
              <a:t>or protozoan infection</a:t>
            </a:r>
          </a:p>
        </p:txBody>
      </p:sp>
    </p:spTree>
    <p:extLst>
      <p:ext uri="{BB962C8B-B14F-4D97-AF65-F5344CB8AC3E}">
        <p14:creationId xmlns:p14="http://schemas.microsoft.com/office/powerpoint/2010/main" val="286962053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52401"/>
            <a:ext cx="7543800" cy="914400"/>
          </a:xfrm>
        </p:spPr>
        <p:txBody>
          <a:bodyPr/>
          <a:lstStyle/>
          <a:p>
            <a:r>
              <a:rPr lang="en-US" altLang="en-US" b="1" dirty="0">
                <a:solidFill>
                  <a:schemeClr val="bg2">
                    <a:lumMod val="10000"/>
                  </a:schemeClr>
                </a:solidFill>
                <a:latin typeface="Times New Roman" panose="02020603050405020304" pitchFamily="18" charset="0"/>
                <a:cs typeface="Times New Roman" panose="02020603050405020304" pitchFamily="18" charset="0"/>
                <a:sym typeface="+mn-ea"/>
              </a:rPr>
              <a:t>Conditions Mimicking Diarrhea</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6885" y="1066802"/>
            <a:ext cx="7889875" cy="4802504"/>
          </a:xfrm>
        </p:spPr>
        <p:txBody>
          <a:bodyPr>
            <a:noAutofit/>
          </a:bodyPr>
          <a:lstStyle/>
          <a:p>
            <a:r>
              <a:rPr lang="en-US" altLang="en-US" sz="2800" dirty="0" err="1">
                <a:solidFill>
                  <a:schemeClr val="bg2">
                    <a:lumMod val="10000"/>
                  </a:schemeClr>
                </a:solidFill>
                <a:latin typeface="Times New Roman" panose="02020603050405020304" pitchFamily="18" charset="0"/>
                <a:cs typeface="Times New Roman" panose="02020603050405020304" pitchFamily="18" charset="0"/>
              </a:rPr>
              <a:t>Pseudodiarrhea</a:t>
            </a:r>
            <a:r>
              <a:rPr lang="en-US" altLang="en-US" sz="2800" dirty="0">
                <a:solidFill>
                  <a:schemeClr val="bg2">
                    <a:lumMod val="10000"/>
                  </a:schemeClr>
                </a:solidFill>
                <a:latin typeface="Times New Roman" panose="02020603050405020304" pitchFamily="18" charset="0"/>
                <a:cs typeface="Times New Roman" panose="02020603050405020304" pitchFamily="18" charset="0"/>
              </a:rPr>
              <a:t>: </a:t>
            </a:r>
          </a:p>
          <a:p>
            <a:pPr>
              <a:buFont typeface="Wingdings" panose="05000000000000000000" charset="0"/>
              <a:buChar char="ü"/>
            </a:pPr>
            <a:r>
              <a:rPr lang="en-US" altLang="en-US" sz="2800" dirty="0">
                <a:solidFill>
                  <a:schemeClr val="bg2">
                    <a:lumMod val="10000"/>
                  </a:schemeClr>
                </a:solidFill>
                <a:latin typeface="Times New Roman" panose="02020603050405020304" pitchFamily="18" charset="0"/>
                <a:cs typeface="Times New Roman" panose="02020603050405020304" pitchFamily="18" charset="0"/>
              </a:rPr>
              <a:t>Frequent passage of small stool volumes, often with rectal urgency, </a:t>
            </a:r>
            <a:r>
              <a:rPr lang="en-US" altLang="en-US" sz="2800" dirty="0" err="1">
                <a:solidFill>
                  <a:schemeClr val="bg2">
                    <a:lumMod val="10000"/>
                  </a:schemeClr>
                </a:solidFill>
                <a:latin typeface="Times New Roman" panose="02020603050405020304" pitchFamily="18" charset="0"/>
                <a:cs typeface="Times New Roman" panose="02020603050405020304" pitchFamily="18" charset="0"/>
              </a:rPr>
              <a:t>tenesmus</a:t>
            </a:r>
            <a:r>
              <a:rPr lang="en-US" altLang="en-US" sz="2800" dirty="0">
                <a:solidFill>
                  <a:schemeClr val="bg2">
                    <a:lumMod val="10000"/>
                  </a:schemeClr>
                </a:solidFill>
                <a:latin typeface="Times New Roman" panose="02020603050405020304" pitchFamily="18" charset="0"/>
                <a:cs typeface="Times New Roman" panose="02020603050405020304" pitchFamily="18" charset="0"/>
              </a:rPr>
              <a:t>, or incomplete evacuation (seen in IBS or </a:t>
            </a:r>
            <a:r>
              <a:rPr lang="en-US" altLang="en-US" sz="2800" dirty="0" err="1">
                <a:solidFill>
                  <a:schemeClr val="bg2">
                    <a:lumMod val="10000"/>
                  </a:schemeClr>
                </a:solidFill>
                <a:latin typeface="Times New Roman" panose="02020603050405020304" pitchFamily="18" charset="0"/>
                <a:cs typeface="Times New Roman" panose="02020603050405020304" pitchFamily="18" charset="0"/>
              </a:rPr>
              <a:t>proctitis</a:t>
            </a:r>
            <a:r>
              <a:rPr lang="en-US" altLang="en-US" sz="2800" dirty="0">
                <a:solidFill>
                  <a:schemeClr val="bg2">
                    <a:lumMod val="10000"/>
                  </a:schemeClr>
                </a:solidFill>
                <a:latin typeface="Times New Roman" panose="02020603050405020304" pitchFamily="18" charset="0"/>
                <a:cs typeface="Times New Roman" panose="02020603050405020304" pitchFamily="18" charset="0"/>
              </a:rPr>
              <a:t>).</a:t>
            </a:r>
          </a:p>
          <a:p>
            <a:pPr marL="0" indent="0">
              <a:buNone/>
            </a:pPr>
            <a:r>
              <a:rPr lang="en-US" altLang="en-US" sz="2800" dirty="0">
                <a:solidFill>
                  <a:schemeClr val="bg2">
                    <a:lumMod val="10000"/>
                  </a:schemeClr>
                </a:solidFill>
                <a:latin typeface="Times New Roman" panose="02020603050405020304" pitchFamily="18" charset="0"/>
                <a:cs typeface="Times New Roman" panose="02020603050405020304" pitchFamily="18" charset="0"/>
              </a:rPr>
              <a:t>Fecal incontinence: </a:t>
            </a:r>
          </a:p>
          <a:p>
            <a:pPr>
              <a:buFont typeface="Wingdings" panose="05000000000000000000" charset="0"/>
              <a:buChar char="ü"/>
            </a:pPr>
            <a:r>
              <a:rPr lang="en-US" altLang="en-US" sz="2800" dirty="0">
                <a:solidFill>
                  <a:schemeClr val="bg2">
                    <a:lumMod val="10000"/>
                  </a:schemeClr>
                </a:solidFill>
                <a:latin typeface="Times New Roman" panose="02020603050405020304" pitchFamily="18" charset="0"/>
                <a:cs typeface="Times New Roman" panose="02020603050405020304" pitchFamily="18" charset="0"/>
              </a:rPr>
              <a:t>Involuntary rectal discharge due to neuromuscular or anorectal disorders. Severe diarrhea can worsen incontinence.</a:t>
            </a:r>
          </a:p>
          <a:p>
            <a:r>
              <a:rPr lang="en-US" altLang="en-US" sz="2800" dirty="0">
                <a:solidFill>
                  <a:schemeClr val="bg2">
                    <a:lumMod val="10000"/>
                  </a:schemeClr>
                </a:solidFill>
                <a:latin typeface="Times New Roman" panose="02020603050405020304" pitchFamily="18" charset="0"/>
                <a:cs typeface="Times New Roman" panose="02020603050405020304" pitchFamily="18" charset="0"/>
              </a:rPr>
              <a:t>Overflow diarrhea: Occurs in patients with fecal impaction (e.g., nursing home patients). </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a:xfrm>
            <a:off x="762000" y="274638"/>
            <a:ext cx="7924800" cy="944562"/>
          </a:xfrm>
        </p:spPr>
        <p:txBody>
          <a:bodyPr/>
          <a:lstStyle/>
          <a:p>
            <a:r>
              <a:rPr lang="en-US" b="1" cap="all" dirty="0">
                <a:solidFill>
                  <a:schemeClr val="bg2">
                    <a:lumMod val="10000"/>
                  </a:schemeClr>
                </a:solidFill>
                <a:latin typeface="Times New Roman" panose="02020603050405020304" pitchFamily="18" charset="0"/>
                <a:cs typeface="Times New Roman" panose="02020603050405020304" pitchFamily="18" charset="0"/>
              </a:rPr>
              <a:t>EPIDEMIOLOGY</a:t>
            </a:r>
          </a:p>
        </p:txBody>
      </p:sp>
      <p:sp>
        <p:nvSpPr>
          <p:cNvPr id="1048610" name="Content Placeholder 2"/>
          <p:cNvSpPr>
            <a:spLocks noGrp="1"/>
          </p:cNvSpPr>
          <p:nvPr>
            <p:ph idx="1"/>
          </p:nvPr>
        </p:nvSpPr>
        <p:spPr>
          <a:xfrm>
            <a:off x="190500" y="1219200"/>
            <a:ext cx="8763000" cy="5257800"/>
          </a:xfrm>
        </p:spPr>
        <p:txBody>
          <a:bodyPr>
            <a:normAutofit fontScale="40000" lnSpcReduction="20000"/>
          </a:bodyPr>
          <a:lstStyle/>
          <a:p>
            <a:endParaRPr lang="en-US" dirty="0"/>
          </a:p>
          <a:p>
            <a:pPr>
              <a:buFont typeface="Arial" panose="020B0604020202020204" pitchFamily="34" charset="0"/>
              <a:buChar char="•"/>
            </a:pPr>
            <a:r>
              <a:rPr lang="en-US" altLang="en-US" sz="7000" dirty="0">
                <a:solidFill>
                  <a:schemeClr val="bg2">
                    <a:lumMod val="10000"/>
                  </a:schemeClr>
                </a:solidFill>
                <a:latin typeface="Times New Roman" panose="02020603050405020304" pitchFamily="18" charset="0"/>
                <a:cs typeface="Times New Roman" panose="02020603050405020304" pitchFamily="18" charset="0"/>
              </a:rPr>
              <a:t>Diarrhea is a major global health issue, particularly in low-income countries where sanitation and healthcare access are limited. </a:t>
            </a:r>
          </a:p>
          <a:p>
            <a:pPr>
              <a:buFont typeface="Arial" panose="020B0604020202020204" pitchFamily="34" charset="0"/>
              <a:buChar char="•"/>
            </a:pPr>
            <a:r>
              <a:rPr lang="en-US" altLang="en-US" sz="7000" dirty="0">
                <a:solidFill>
                  <a:schemeClr val="bg2">
                    <a:lumMod val="10000"/>
                  </a:schemeClr>
                </a:solidFill>
                <a:latin typeface="Times New Roman" panose="02020603050405020304" pitchFamily="18" charset="0"/>
                <a:cs typeface="Times New Roman" panose="02020603050405020304" pitchFamily="18" charset="0"/>
              </a:rPr>
              <a:t>Its burden varies based on factors such as age, geography, and socioeconomic status.</a:t>
            </a:r>
          </a:p>
          <a:p>
            <a:pPr>
              <a:buFont typeface="Arial" panose="020B0604020202020204" pitchFamily="34" charset="0"/>
              <a:buChar char="•"/>
            </a:pPr>
            <a:r>
              <a:rPr lang="en-US" altLang="en-US" sz="7000" dirty="0">
                <a:solidFill>
                  <a:schemeClr val="bg2">
                    <a:lumMod val="10000"/>
                  </a:schemeClr>
                </a:solidFill>
                <a:latin typeface="Times New Roman" panose="02020603050405020304" pitchFamily="18" charset="0"/>
                <a:cs typeface="Times New Roman" panose="02020603050405020304" pitchFamily="18" charset="0"/>
              </a:rPr>
              <a:t>1.7 Billions episodes of diarrheal illness annually (WHO,2023)</a:t>
            </a:r>
          </a:p>
          <a:p>
            <a:pPr>
              <a:buFont typeface="Arial" panose="020B0604020202020204" pitchFamily="34" charset="0"/>
              <a:buChar char="•"/>
            </a:pPr>
            <a:r>
              <a:rPr lang="en-US" altLang="en-US" sz="7000" dirty="0">
                <a:solidFill>
                  <a:schemeClr val="bg2">
                    <a:lumMod val="10000"/>
                  </a:schemeClr>
                </a:solidFill>
                <a:latin typeface="Times New Roman" panose="02020603050405020304" pitchFamily="18" charset="0"/>
                <a:cs typeface="Times New Roman" panose="02020603050405020304" pitchFamily="18" charset="0"/>
              </a:rPr>
              <a:t>1.3 million deaths per year; 2nd leading cause of death in children &lt;5 globally (WHO, 2023)</a:t>
            </a:r>
          </a:p>
          <a:p>
            <a:pPr>
              <a:buFont typeface="Arial" panose="020B0604020202020204" pitchFamily="34" charset="0"/>
              <a:buChar char="•"/>
            </a:pPr>
            <a:r>
              <a:rPr lang="en-US" altLang="en-US" sz="7000" dirty="0">
                <a:solidFill>
                  <a:schemeClr val="bg2">
                    <a:lumMod val="10000"/>
                  </a:schemeClr>
                </a:solidFill>
                <a:latin typeface="Times New Roman" panose="02020603050405020304" pitchFamily="18" charset="0"/>
                <a:cs typeface="Times New Roman" panose="02020603050405020304" pitchFamily="18" charset="0"/>
              </a:rPr>
              <a:t>88% is attributable to unsafe water, sanitation &amp; hygiene (WASH) deficits (WHO, 2019)</a:t>
            </a:r>
          </a:p>
          <a:p>
            <a:pPr>
              <a:buFont typeface="Arial" panose="020B0604020202020204" pitchFamily="34" charset="0"/>
              <a:buChar char="•"/>
            </a:pPr>
            <a:endParaRPr lang="en-US" altLang="en-US" sz="7000" dirty="0">
              <a:latin typeface="Times New Roman" panose="02020603050405020304" pitchFamily="18" charset="0"/>
              <a:cs typeface="Times New Roman" panose="02020603050405020304" pitchFamily="18" charset="0"/>
            </a:endParaRPr>
          </a:p>
          <a:p>
            <a:pPr marL="0" indent="0">
              <a:buNone/>
            </a:pPr>
            <a:endParaRPr lang="en-US" altLang="en-US" sz="2800" dirty="0"/>
          </a:p>
          <a:p>
            <a:pPr marL="0" indent="0">
              <a:buNone/>
            </a:pPr>
            <a:r>
              <a:rPr lang="en-US" altLang="en-US" sz="2800" dirty="0"/>
              <a:t>.</a:t>
            </a:r>
          </a:p>
          <a:p>
            <a:pPr marL="0" indent="0">
              <a:buFont typeface="Arial" panose="020B0604020202020204" pitchFamily="34" charset="0"/>
              <a:buNone/>
            </a:pPr>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Epidemiology </a:t>
            </a:r>
            <a:r>
              <a:rPr lang="en-US" dirty="0" err="1">
                <a:solidFill>
                  <a:schemeClr val="bg2">
                    <a:lumMod val="10000"/>
                  </a:schemeClr>
                </a:solidFill>
                <a:latin typeface="Times New Roman" panose="02020603050405020304" pitchFamily="18" charset="0"/>
                <a:cs typeface="Times New Roman" panose="02020603050405020304" pitchFamily="18" charset="0"/>
              </a:rPr>
              <a:t>cont</a:t>
            </a:r>
            <a:r>
              <a:rPr lang="en-US" dirty="0">
                <a:solidFill>
                  <a:schemeClr val="bg2">
                    <a:lumMod val="10000"/>
                  </a:schemeClr>
                </a:solidFill>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a:xfrm>
            <a:off x="609600" y="1143000"/>
            <a:ext cx="8077200" cy="4983165"/>
          </a:xfrm>
        </p:spPr>
        <p:txBody>
          <a:bodyPr>
            <a:normAutofit/>
          </a:bodyPr>
          <a:lstStyle/>
          <a:p>
            <a:pPr>
              <a:buFont typeface="Arial" panose="020B0604020202020204" pitchFamily="34" charset="0"/>
              <a:buChar char="•"/>
            </a:pPr>
            <a:r>
              <a:rPr lang="en-US" altLang="en-US" sz="2800" dirty="0">
                <a:solidFill>
                  <a:schemeClr val="bg2">
                    <a:lumMod val="10000"/>
                  </a:schemeClr>
                </a:solidFill>
                <a:latin typeface="Times New Roman" panose="02020603050405020304" pitchFamily="18" charset="0"/>
                <a:cs typeface="Times New Roman" panose="02020603050405020304" pitchFamily="18" charset="0"/>
                <a:sym typeface="+mn-ea"/>
              </a:rPr>
              <a:t>Developing Countries: Higher prevalence due to poor sanitation, contaminated water, and malnutrition.</a:t>
            </a:r>
          </a:p>
          <a:p>
            <a:pPr>
              <a:buFont typeface="Arial" panose="020B0604020202020204" pitchFamily="34" charset="0"/>
              <a:buChar char="•"/>
            </a:pPr>
            <a:r>
              <a:rPr lang="en-US" altLang="en-US" sz="2800" dirty="0">
                <a:solidFill>
                  <a:schemeClr val="bg2">
                    <a:lumMod val="10000"/>
                  </a:schemeClr>
                </a:solidFill>
                <a:latin typeface="Times New Roman" panose="02020603050405020304" pitchFamily="18" charset="0"/>
                <a:cs typeface="Times New Roman" panose="02020603050405020304" pitchFamily="18" charset="0"/>
                <a:sym typeface="+mn-ea"/>
              </a:rPr>
              <a:t>Developed Countries: Often caused by viral infections, foodborne illness, or antibiotic-associated diarrhea</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sym typeface="+mn-ea"/>
              </a:rPr>
              <a:t>Global estimates for the prevalence of specific types of bacterial diarrhea among all diarrheal causes include </a:t>
            </a:r>
            <a:r>
              <a:rPr lang="en-US" sz="2800" i="1" dirty="0">
                <a:solidFill>
                  <a:schemeClr val="bg2">
                    <a:lumMod val="10000"/>
                  </a:schemeClr>
                </a:solidFill>
                <a:latin typeface="Times New Roman" panose="02020603050405020304" pitchFamily="18" charset="0"/>
                <a:cs typeface="Times New Roman" panose="02020603050405020304" pitchFamily="18" charset="0"/>
                <a:sym typeface="+mn-ea"/>
              </a:rPr>
              <a:t>E.coli</a:t>
            </a:r>
            <a:r>
              <a:rPr lang="en-US" sz="2800" dirty="0">
                <a:solidFill>
                  <a:schemeClr val="bg2">
                    <a:lumMod val="10000"/>
                  </a:schemeClr>
                </a:solidFill>
                <a:latin typeface="Times New Roman" panose="02020603050405020304" pitchFamily="18" charset="0"/>
                <a:cs typeface="Times New Roman" panose="02020603050405020304" pitchFamily="18" charset="0"/>
                <a:sym typeface="+mn-ea"/>
              </a:rPr>
              <a:t> 10% to 25%, </a:t>
            </a:r>
            <a:r>
              <a:rPr lang="en-US" sz="2800" i="1" dirty="0">
                <a:solidFill>
                  <a:schemeClr val="bg2">
                    <a:lumMod val="10000"/>
                  </a:schemeClr>
                </a:solidFill>
                <a:latin typeface="Times New Roman" panose="02020603050405020304" pitchFamily="18" charset="0"/>
                <a:cs typeface="Times New Roman" panose="02020603050405020304" pitchFamily="18" charset="0"/>
                <a:sym typeface="+mn-ea"/>
              </a:rPr>
              <a:t>Shigella</a:t>
            </a:r>
            <a:r>
              <a:rPr lang="en-US" sz="2800" dirty="0">
                <a:solidFill>
                  <a:schemeClr val="bg2">
                    <a:lumMod val="10000"/>
                  </a:schemeClr>
                </a:solidFill>
                <a:latin typeface="Times New Roman" panose="02020603050405020304" pitchFamily="18" charset="0"/>
                <a:cs typeface="Times New Roman" panose="02020603050405020304" pitchFamily="18" charset="0"/>
                <a:sym typeface="+mn-ea"/>
              </a:rPr>
              <a:t> 10%, </a:t>
            </a:r>
            <a:r>
              <a:rPr lang="en-US" sz="2800" i="1" dirty="0">
                <a:solidFill>
                  <a:schemeClr val="bg2">
                    <a:lumMod val="10000"/>
                  </a:schemeClr>
                </a:solidFill>
                <a:latin typeface="Times New Roman" panose="02020603050405020304" pitchFamily="18" charset="0"/>
                <a:cs typeface="Times New Roman" panose="02020603050405020304" pitchFamily="18" charset="0"/>
                <a:sym typeface="+mn-ea"/>
              </a:rPr>
              <a:t>Salmonella</a:t>
            </a:r>
            <a:r>
              <a:rPr lang="en-US" sz="2800" dirty="0">
                <a:solidFill>
                  <a:schemeClr val="bg2">
                    <a:lumMod val="10000"/>
                  </a:schemeClr>
                </a:solidFill>
                <a:latin typeface="Times New Roman" panose="02020603050405020304" pitchFamily="18" charset="0"/>
                <a:cs typeface="Times New Roman" panose="02020603050405020304" pitchFamily="18" charset="0"/>
                <a:sym typeface="+mn-ea"/>
              </a:rPr>
              <a:t> 3%, </a:t>
            </a:r>
            <a:r>
              <a:rPr lang="en-US" sz="2800" i="1" dirty="0">
                <a:solidFill>
                  <a:schemeClr val="bg2">
                    <a:lumMod val="10000"/>
                  </a:schemeClr>
                </a:solidFill>
                <a:latin typeface="Times New Roman" panose="02020603050405020304" pitchFamily="18" charset="0"/>
                <a:cs typeface="Times New Roman" panose="02020603050405020304" pitchFamily="18" charset="0"/>
                <a:sym typeface="+mn-ea"/>
              </a:rPr>
              <a:t>Campylobacter</a:t>
            </a:r>
            <a:r>
              <a:rPr lang="en-US" sz="2800" dirty="0">
                <a:solidFill>
                  <a:schemeClr val="bg2">
                    <a:lumMod val="10000"/>
                  </a:schemeClr>
                </a:solidFill>
                <a:latin typeface="Times New Roman" panose="02020603050405020304" pitchFamily="18" charset="0"/>
                <a:cs typeface="Times New Roman" panose="02020603050405020304" pitchFamily="18" charset="0"/>
                <a:sym typeface="+mn-ea"/>
              </a:rPr>
              <a:t> 3% to 6%</a:t>
            </a: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609600"/>
            <a:ext cx="9144000" cy="5369719"/>
          </a:xfrm>
          <a:prstGeom prst="rect">
            <a:avLst/>
          </a:prstGeom>
        </p:spPr>
      </p:pic>
    </p:spTree>
    <p:extLst>
      <p:ext uri="{BB962C8B-B14F-4D97-AF65-F5344CB8AC3E}">
        <p14:creationId xmlns:p14="http://schemas.microsoft.com/office/powerpoint/2010/main" val="2081141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type="title"/>
          </p:nvPr>
        </p:nvSpPr>
        <p:spPr/>
        <p:txBody>
          <a:bodyPr/>
          <a:lstStyle/>
          <a:p>
            <a:r>
              <a:rPr lang="en-US" dirty="0"/>
              <a:t> </a:t>
            </a:r>
            <a:r>
              <a:rPr lang="en-US" b="1" dirty="0">
                <a:solidFill>
                  <a:schemeClr val="bg2">
                    <a:lumMod val="10000"/>
                  </a:schemeClr>
                </a:solidFill>
                <a:latin typeface="Times New Roman" panose="02020603050405020304" pitchFamily="18" charset="0"/>
                <a:cs typeface="Times New Roman" panose="02020603050405020304" pitchFamily="18" charset="0"/>
              </a:rPr>
              <a:t>Mechanisms of infectious diarrhea</a:t>
            </a:r>
          </a:p>
        </p:txBody>
      </p:sp>
      <p:sp>
        <p:nvSpPr>
          <p:cNvPr id="1048622" name="Content Placeholder 2"/>
          <p:cNvSpPr>
            <a:spLocks noGrp="1"/>
          </p:cNvSpPr>
          <p:nvPr>
            <p:ph idx="1"/>
          </p:nvPr>
        </p:nvSpPr>
        <p:spPr/>
        <p:txBody>
          <a:bodyPr>
            <a:normAutofit/>
          </a:bodyPr>
          <a:lstStyle/>
          <a:p>
            <a:pPr>
              <a:buFont typeface="Arial" panose="020B0604020202020204" pitchFamily="34" charset="0"/>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Secretory</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Osmotic</a:t>
            </a:r>
          </a:p>
          <a:p>
            <a:r>
              <a:rPr lang="en-US" sz="2800" b="1" dirty="0">
                <a:solidFill>
                  <a:schemeClr val="bg2">
                    <a:lumMod val="10000"/>
                  </a:schemeClr>
                </a:solidFill>
                <a:latin typeface="Times New Roman" panose="02020603050405020304" pitchFamily="18" charset="0"/>
                <a:cs typeface="Times New Roman" panose="02020603050405020304" pitchFamily="18" charset="0"/>
              </a:rPr>
              <a:t>Inflammatory</a:t>
            </a:r>
          </a:p>
          <a:p>
            <a:pPr>
              <a:buFont typeface="Arial" panose="020B0604020202020204" pitchFamily="34" charset="0"/>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Cytotoxic</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Dysmotility or functional/altered motility</a:t>
            </a:r>
          </a:p>
          <a:p>
            <a:pPr marL="0" indent="0">
              <a:buNone/>
            </a:pPr>
            <a:endParaRPr lang="en-US" sz="2800" dirty="0">
              <a:solidFill>
                <a:schemeClr val="bg2">
                  <a:lumMod val="1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
            </a:r>
            <a:br>
              <a:rPr lang="en-US" b="1" dirty="0"/>
            </a:br>
            <a:r>
              <a:rPr lang="en-US" b="1" dirty="0">
                <a:solidFill>
                  <a:schemeClr val="bg2">
                    <a:lumMod val="10000"/>
                  </a:schemeClr>
                </a:solidFill>
                <a:latin typeface="Times New Roman" panose="02020603050405020304" pitchFamily="18" charset="0"/>
                <a:cs typeface="Times New Roman" panose="02020603050405020304" pitchFamily="18" charset="0"/>
              </a:rPr>
              <a:t>Secretory </a:t>
            </a:r>
            <a:r>
              <a:rPr lang="en-US" b="1" dirty="0" err="1">
                <a:solidFill>
                  <a:schemeClr val="bg2">
                    <a:lumMod val="10000"/>
                  </a:schemeClr>
                </a:solidFill>
                <a:latin typeface="Times New Roman" panose="02020603050405020304" pitchFamily="18" charset="0"/>
                <a:cs typeface="Times New Roman" panose="02020603050405020304" pitchFamily="18" charset="0"/>
              </a:rPr>
              <a:t>diarrhoea</a:t>
            </a:r>
            <a:r>
              <a:rPr lang="en-US" b="1" dirty="0">
                <a:solidFill>
                  <a:schemeClr val="bg2">
                    <a:lumMod val="10000"/>
                  </a:schemeClr>
                </a:solidFill>
                <a:latin typeface="Times New Roman" panose="02020603050405020304" pitchFamily="18" charset="0"/>
                <a:cs typeface="Times New Roman" panose="02020603050405020304" pitchFamily="18" charset="0"/>
              </a:rPr>
              <a:t> (toxin-mediated)</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90600"/>
            <a:ext cx="8229600" cy="5135563"/>
          </a:xfrm>
        </p:spPr>
        <p:txBody>
          <a:bodyPr/>
          <a:lstStyle/>
          <a:p>
            <a:r>
              <a:rPr lang="en-US" sz="2400" dirty="0">
                <a:solidFill>
                  <a:schemeClr val="bg2">
                    <a:lumMod val="10000"/>
                  </a:schemeClr>
                </a:solidFill>
                <a:latin typeface="Times New Roman" panose="02020603050405020304" pitchFamily="18" charset="0"/>
                <a:cs typeface="Times New Roman" panose="02020603050405020304" pitchFamily="18" charset="0"/>
              </a:rPr>
              <a:t>This occurs when pathogens produce </a:t>
            </a:r>
            <a:r>
              <a:rPr lang="en-US" sz="2400" b="1" dirty="0">
                <a:solidFill>
                  <a:schemeClr val="bg2">
                    <a:lumMod val="10000"/>
                  </a:schemeClr>
                </a:solidFill>
                <a:latin typeface="Times New Roman" panose="02020603050405020304" pitchFamily="18" charset="0"/>
                <a:cs typeface="Times New Roman" panose="02020603050405020304" pitchFamily="18" charset="0"/>
              </a:rPr>
              <a:t>enterotoxins</a:t>
            </a:r>
            <a:r>
              <a:rPr lang="en-US" sz="2400" dirty="0">
                <a:solidFill>
                  <a:schemeClr val="bg2">
                    <a:lumMod val="10000"/>
                  </a:schemeClr>
                </a:solidFill>
                <a:latin typeface="Times New Roman" panose="02020603050405020304" pitchFamily="18" charset="0"/>
                <a:cs typeface="Times New Roman" panose="02020603050405020304" pitchFamily="18" charset="0"/>
              </a:rPr>
              <a:t> that stimulate intestinal secretion without damaging mucosa.</a:t>
            </a:r>
            <a:endParaRPr lang="en-US" sz="2400" b="1" dirty="0">
              <a:solidFill>
                <a:schemeClr val="bg2">
                  <a:lumMod val="1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Activation of adenylate cyclase or guanylate cyclase </a:t>
            </a: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 </a:t>
            </a:r>
            <a:r>
              <a:rPr lang="en-US" sz="2400" dirty="0" err="1">
                <a:solidFill>
                  <a:schemeClr val="bg2">
                    <a:lumMod val="10000"/>
                  </a:schemeClr>
                </a:solidFill>
                <a:latin typeface="Times New Roman" panose="02020603050405020304" pitchFamily="18" charset="0"/>
                <a:cs typeface="Times New Roman" panose="02020603050405020304" pitchFamily="18" charset="0"/>
              </a:rPr>
              <a:t>cAMP</a:t>
            </a:r>
            <a:r>
              <a:rPr lang="en-US" sz="2400" dirty="0">
                <a:solidFill>
                  <a:schemeClr val="bg2">
                    <a:lumMod val="10000"/>
                  </a:schemeClr>
                </a:solidFill>
                <a:latin typeface="Times New Roman" panose="02020603050405020304" pitchFamily="18" charset="0"/>
                <a:cs typeface="Times New Roman" panose="02020603050405020304" pitchFamily="18" charset="0"/>
              </a:rPr>
              <a:t> or cGMP </a:t>
            </a: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 chloride secretion via CFTR channels </a:t>
            </a:r>
          </a:p>
          <a:p>
            <a:pPr>
              <a:buFont typeface="Wingdings" panose="05000000000000000000" pitchFamily="2" charset="2"/>
              <a:buChar char="Ø"/>
            </a:pPr>
            <a:r>
              <a:rPr lang="en-US" sz="2400" dirty="0">
                <a:solidFill>
                  <a:schemeClr val="bg2">
                    <a:lumMod val="10000"/>
                  </a:schemeClr>
                </a:solidFill>
                <a:latin typeface="Times New Roman" panose="02020603050405020304" pitchFamily="18" charset="0"/>
                <a:cs typeface="Times New Roman" panose="02020603050405020304" pitchFamily="18" charset="0"/>
              </a:rPr>
              <a:t>Water follows → profuse watery </a:t>
            </a:r>
            <a:r>
              <a:rPr lang="en-US" sz="2400" dirty="0" err="1">
                <a:solidFill>
                  <a:schemeClr val="bg2">
                    <a:lumMod val="10000"/>
                  </a:schemeClr>
                </a:solidFill>
                <a:latin typeface="Times New Roman" panose="02020603050405020304" pitchFamily="18" charset="0"/>
                <a:cs typeface="Times New Roman" panose="02020603050405020304" pitchFamily="18" charset="0"/>
              </a:rPr>
              <a:t>diarrhoea</a:t>
            </a:r>
            <a:r>
              <a:rPr lang="en-US" sz="2400" dirty="0">
                <a:solidFill>
                  <a:schemeClr val="bg2">
                    <a:lumMod val="10000"/>
                  </a:schemeClr>
                </a:solidFill>
                <a:latin typeface="Times New Roman" panose="02020603050405020304" pitchFamily="18" charset="0"/>
                <a:cs typeface="Times New Roman" panose="02020603050405020304" pitchFamily="18" charset="0"/>
              </a:rPr>
              <a:t> </a:t>
            </a:r>
          </a:p>
          <a:p>
            <a:r>
              <a:rPr lang="en-US" sz="2400" b="1" dirty="0">
                <a:solidFill>
                  <a:schemeClr val="bg2">
                    <a:lumMod val="10000"/>
                  </a:schemeClr>
                </a:solidFill>
                <a:latin typeface="Times New Roman" panose="02020603050405020304" pitchFamily="18" charset="0"/>
                <a:cs typeface="Times New Roman" panose="02020603050405020304" pitchFamily="18" charset="0"/>
              </a:rPr>
              <a:t>Key features:</a:t>
            </a:r>
          </a:p>
          <a:p>
            <a:pPr marL="0" indent="0">
              <a:buNone/>
            </a:pPr>
            <a:r>
              <a:rPr lang="en-US" sz="2400" dirty="0">
                <a:solidFill>
                  <a:schemeClr val="bg2">
                    <a:lumMod val="10000"/>
                  </a:schemeClr>
                </a:solidFill>
                <a:latin typeface="Times New Roman" panose="02020603050405020304" pitchFamily="18" charset="0"/>
                <a:cs typeface="Times New Roman" panose="02020603050405020304" pitchFamily="18" charset="0"/>
              </a:rPr>
              <a:t>Large-volume watery stool </a:t>
            </a:r>
          </a:p>
          <a:p>
            <a:pPr marL="0" indent="0">
              <a:buNone/>
            </a:pPr>
            <a:r>
              <a:rPr lang="en-US" sz="2400" dirty="0">
                <a:solidFill>
                  <a:schemeClr val="bg2">
                    <a:lumMod val="10000"/>
                  </a:schemeClr>
                </a:solidFill>
                <a:latin typeface="Times New Roman" panose="02020603050405020304" pitchFamily="18" charset="0"/>
                <a:cs typeface="Times New Roman" panose="02020603050405020304" pitchFamily="18" charset="0"/>
              </a:rPr>
              <a:t>No blood or pus </a:t>
            </a:r>
          </a:p>
          <a:p>
            <a:pPr marL="0" indent="0">
              <a:buNone/>
            </a:pPr>
            <a:r>
              <a:rPr lang="en-US" sz="2400" dirty="0">
                <a:solidFill>
                  <a:schemeClr val="bg2">
                    <a:lumMod val="10000"/>
                  </a:schemeClr>
                </a:solidFill>
                <a:latin typeface="Times New Roman" panose="02020603050405020304" pitchFamily="18" charset="0"/>
                <a:cs typeface="Times New Roman" panose="02020603050405020304" pitchFamily="18" charset="0"/>
              </a:rPr>
              <a:t>Continues even during fasting</a:t>
            </a:r>
          </a:p>
          <a:p>
            <a:pPr lvl="0"/>
            <a:r>
              <a:rPr lang="en-US" sz="2400" dirty="0">
                <a:solidFill>
                  <a:schemeClr val="bg2">
                    <a:lumMod val="10000"/>
                  </a:schemeClr>
                </a:solidFill>
                <a:latin typeface="Times New Roman" panose="02020603050405020304" pitchFamily="18" charset="0"/>
                <a:cs typeface="Times New Roman" panose="02020603050405020304" pitchFamily="18" charset="0"/>
              </a:rPr>
              <a:t>Example of microorganisms</a:t>
            </a:r>
            <a:r>
              <a:rPr lang="en-US" sz="2400" b="1" dirty="0">
                <a:solidFill>
                  <a:schemeClr val="bg2">
                    <a:lumMod val="10000"/>
                  </a:schemeClr>
                </a:solidFill>
                <a:latin typeface="Times New Roman" panose="02020603050405020304" pitchFamily="18" charset="0"/>
                <a:cs typeface="Times New Roman" panose="02020603050405020304" pitchFamily="18" charset="0"/>
              </a:rPr>
              <a:t> </a:t>
            </a:r>
            <a:r>
              <a:rPr lang="en-US" sz="2400" dirty="0">
                <a:solidFill>
                  <a:schemeClr val="bg2">
                    <a:lumMod val="10000"/>
                  </a:schemeClr>
                </a:solidFill>
                <a:latin typeface="Times New Roman" panose="02020603050405020304" pitchFamily="18" charset="0"/>
                <a:cs typeface="Times New Roman" panose="02020603050405020304" pitchFamily="18" charset="0"/>
              </a:rPr>
              <a:t>are</a:t>
            </a:r>
            <a:r>
              <a:rPr lang="en-US" sz="2400" b="1" dirty="0">
                <a:solidFill>
                  <a:schemeClr val="bg2">
                    <a:lumMod val="10000"/>
                  </a:schemeClr>
                </a:solidFill>
                <a:latin typeface="Times New Roman" panose="02020603050405020304" pitchFamily="18" charset="0"/>
                <a:cs typeface="Times New Roman" panose="02020603050405020304" pitchFamily="18" charset="0"/>
              </a:rPr>
              <a:t> </a:t>
            </a:r>
            <a:r>
              <a:rPr lang="en-US" sz="2400" i="1" dirty="0">
                <a:solidFill>
                  <a:schemeClr val="bg2">
                    <a:lumMod val="10000"/>
                  </a:schemeClr>
                </a:solidFill>
                <a:latin typeface="Times New Roman" panose="02020603050405020304" pitchFamily="18" charset="0"/>
                <a:cs typeface="Times New Roman" panose="02020603050405020304" pitchFamily="18" charset="0"/>
              </a:rPr>
              <a:t>Vibrio </a:t>
            </a:r>
            <a:r>
              <a:rPr lang="en-US" sz="2400" i="1" dirty="0" err="1">
                <a:solidFill>
                  <a:schemeClr val="bg2">
                    <a:lumMod val="10000"/>
                  </a:schemeClr>
                </a:solidFill>
                <a:latin typeface="Times New Roman" panose="02020603050405020304" pitchFamily="18" charset="0"/>
                <a:cs typeface="Times New Roman" panose="02020603050405020304" pitchFamily="18" charset="0"/>
              </a:rPr>
              <a:t>cholerae</a:t>
            </a:r>
            <a:r>
              <a:rPr lang="en-US" sz="2400" dirty="0">
                <a:solidFill>
                  <a:schemeClr val="bg2">
                    <a:lumMod val="10000"/>
                  </a:schemeClr>
                </a:solidFill>
                <a:latin typeface="Times New Roman" panose="02020603050405020304" pitchFamily="18" charset="0"/>
                <a:cs typeface="Times New Roman" panose="02020603050405020304" pitchFamily="18" charset="0"/>
              </a:rPr>
              <a:t>  and </a:t>
            </a:r>
            <a:r>
              <a:rPr lang="en-US" sz="2400" dirty="0" err="1">
                <a:solidFill>
                  <a:schemeClr val="bg2">
                    <a:lumMod val="10000"/>
                  </a:schemeClr>
                </a:solidFill>
                <a:latin typeface="Times New Roman" panose="02020603050405020304" pitchFamily="18" charset="0"/>
                <a:cs typeface="Times New Roman" panose="02020603050405020304" pitchFamily="18" charset="0"/>
              </a:rPr>
              <a:t>Enterotoxigenic</a:t>
            </a:r>
            <a:r>
              <a:rPr lang="en-US" sz="2400" dirty="0">
                <a:solidFill>
                  <a:schemeClr val="bg2">
                    <a:lumMod val="10000"/>
                  </a:schemeClr>
                </a:solidFill>
                <a:latin typeface="Times New Roman" panose="02020603050405020304" pitchFamily="18" charset="0"/>
                <a:cs typeface="Times New Roman" panose="02020603050405020304" pitchFamily="18" charset="0"/>
              </a:rPr>
              <a:t> </a:t>
            </a:r>
            <a:r>
              <a:rPr lang="en-US" sz="2400" i="1" dirty="0">
                <a:solidFill>
                  <a:schemeClr val="bg2">
                    <a:lumMod val="10000"/>
                  </a:schemeClr>
                </a:solidFill>
                <a:latin typeface="Times New Roman" panose="02020603050405020304" pitchFamily="18" charset="0"/>
                <a:cs typeface="Times New Roman" panose="02020603050405020304" pitchFamily="18" charset="0"/>
              </a:rPr>
              <a:t>Escherichia coli</a:t>
            </a:r>
            <a:r>
              <a:rPr lang="en-US" sz="2400" dirty="0">
                <a:solidFill>
                  <a:schemeClr val="bg2">
                    <a:lumMod val="10000"/>
                  </a:schemeClr>
                </a:solidFill>
                <a:latin typeface="Times New Roman" panose="02020603050405020304" pitchFamily="18" charset="0"/>
                <a:cs typeface="Times New Roman" panose="02020603050405020304" pitchFamily="18" charset="0"/>
              </a:rPr>
              <a:t> (ETEC) </a:t>
            </a:r>
          </a:p>
          <a:p>
            <a:pPr marL="0" indent="0">
              <a:buNone/>
            </a:pP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25950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b="1" dirty="0"/>
              <a:t/>
            </a:r>
            <a:br>
              <a:rPr lang="en-US" b="1" dirty="0"/>
            </a:br>
            <a:r>
              <a:rPr lang="en-US" b="1" dirty="0">
                <a:solidFill>
                  <a:schemeClr val="bg2">
                    <a:lumMod val="10000"/>
                  </a:schemeClr>
                </a:solidFill>
                <a:latin typeface="Times New Roman" panose="02020603050405020304" pitchFamily="18" charset="0"/>
                <a:cs typeface="Times New Roman" panose="02020603050405020304" pitchFamily="18" charset="0"/>
              </a:rPr>
              <a:t>Osmotic </a:t>
            </a:r>
            <a:r>
              <a:rPr lang="en-US" b="1" dirty="0" err="1">
                <a:solidFill>
                  <a:schemeClr val="bg2">
                    <a:lumMod val="10000"/>
                  </a:schemeClr>
                </a:solidFill>
                <a:latin typeface="Times New Roman" panose="02020603050405020304" pitchFamily="18" charset="0"/>
                <a:cs typeface="Times New Roman" panose="02020603050405020304" pitchFamily="18" charset="0"/>
              </a:rPr>
              <a:t>diarrhoea</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43000"/>
            <a:ext cx="8229600" cy="4983163"/>
          </a:xfrm>
        </p:spPr>
        <p:txBody>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Occurs when </a:t>
            </a:r>
            <a:r>
              <a:rPr lang="en-US" sz="2800" b="1" dirty="0">
                <a:solidFill>
                  <a:schemeClr val="bg2">
                    <a:lumMod val="10000"/>
                  </a:schemeClr>
                </a:solidFill>
                <a:latin typeface="Times New Roman" panose="02020603050405020304" pitchFamily="18" charset="0"/>
                <a:cs typeface="Times New Roman" panose="02020603050405020304" pitchFamily="18" charset="0"/>
              </a:rPr>
              <a:t>unabsorbed solutes retain water in the lumen</a:t>
            </a:r>
            <a:r>
              <a:rPr lang="en-US" sz="2800" dirty="0">
                <a:solidFill>
                  <a:schemeClr val="bg2">
                    <a:lumMod val="10000"/>
                  </a:schemeClr>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Infection damages absorptive cells (enterocytes) </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dirty="0" err="1">
                <a:solidFill>
                  <a:schemeClr val="bg2">
                    <a:lumMod val="10000"/>
                  </a:schemeClr>
                </a:solidFill>
                <a:latin typeface="Times New Roman" panose="02020603050405020304" pitchFamily="18" charset="0"/>
                <a:cs typeface="Times New Roman" panose="02020603050405020304" pitchFamily="18" charset="0"/>
              </a:rPr>
              <a:t>disaccharidase</a:t>
            </a:r>
            <a:r>
              <a:rPr lang="en-US" sz="2800" dirty="0">
                <a:solidFill>
                  <a:schemeClr val="bg2">
                    <a:lumMod val="10000"/>
                  </a:schemeClr>
                </a:solidFill>
                <a:latin typeface="Times New Roman" panose="02020603050405020304" pitchFamily="18" charset="0"/>
                <a:cs typeface="Times New Roman" panose="02020603050405020304" pitchFamily="18" charset="0"/>
              </a:rPr>
              <a:t> activity (e.g., lactase)</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Accumulation of osmotically active substances </a:t>
            </a:r>
            <a:endParaRPr lang="en-US" sz="2800" b="1" dirty="0">
              <a:solidFill>
                <a:schemeClr val="bg2">
                  <a:lumMod val="10000"/>
                </a:schemeClr>
              </a:solidFill>
              <a:latin typeface="Times New Roman" panose="02020603050405020304" pitchFamily="18" charset="0"/>
              <a:cs typeface="Times New Roman" panose="02020603050405020304" pitchFamily="18" charset="0"/>
            </a:endParaRPr>
          </a:p>
          <a:p>
            <a:r>
              <a:rPr lang="en-US" sz="2800" b="1" dirty="0">
                <a:solidFill>
                  <a:schemeClr val="bg2">
                    <a:lumMod val="10000"/>
                  </a:schemeClr>
                </a:solidFill>
                <a:latin typeface="Times New Roman" panose="02020603050405020304" pitchFamily="18" charset="0"/>
                <a:cs typeface="Times New Roman" panose="02020603050405020304" pitchFamily="18" charset="0"/>
              </a:rPr>
              <a:t>Key features:</a:t>
            </a:r>
          </a:p>
          <a:p>
            <a:r>
              <a:rPr lang="en-US" sz="2800" dirty="0">
                <a:solidFill>
                  <a:schemeClr val="bg2">
                    <a:lumMod val="10000"/>
                  </a:schemeClr>
                </a:solidFill>
                <a:latin typeface="Times New Roman" panose="02020603050405020304" pitchFamily="18" charset="0"/>
                <a:cs typeface="Times New Roman" panose="02020603050405020304" pitchFamily="18" charset="0"/>
              </a:rPr>
              <a:t>Improves with fasting </a:t>
            </a:r>
          </a:p>
          <a:p>
            <a:r>
              <a:rPr lang="en-US" sz="2800" dirty="0">
                <a:solidFill>
                  <a:schemeClr val="bg2">
                    <a:lumMod val="10000"/>
                  </a:schemeClr>
                </a:solidFill>
                <a:latin typeface="Times New Roman" panose="02020603050405020304" pitchFamily="18" charset="0"/>
                <a:cs typeface="Times New Roman" panose="02020603050405020304" pitchFamily="18" charset="0"/>
              </a:rPr>
              <a:t>Bloating and gas common</a:t>
            </a:r>
          </a:p>
          <a:p>
            <a:pPr marL="0" lvl="0" indent="0">
              <a:buNone/>
            </a:pPr>
            <a:r>
              <a:rPr lang="en-US" sz="2800" dirty="0">
                <a:solidFill>
                  <a:schemeClr val="bg2">
                    <a:lumMod val="10000"/>
                  </a:schemeClr>
                </a:solidFill>
                <a:latin typeface="Times New Roman" panose="02020603050405020304" pitchFamily="18" charset="0"/>
                <a:cs typeface="Times New Roman" panose="02020603050405020304" pitchFamily="18" charset="0"/>
              </a:rPr>
              <a:t>Common cause is Viral infections (e.g., norovirus, rotavirus), Cryptosporidium, Giardia</a:t>
            </a:r>
          </a:p>
          <a:p>
            <a:pPr marL="0" lvl="0" indent="0">
              <a:buNone/>
            </a:pPr>
            <a:r>
              <a:rPr lang="en-US" sz="2800" dirty="0">
                <a:solidFill>
                  <a:srgbClr val="000000"/>
                </a:solidFill>
                <a:latin typeface="Times New Roman" panose="02020603050405020304" pitchFamily="18" charset="0"/>
                <a:cs typeface="Times New Roman" panose="02020603050405020304" pitchFamily="18" charset="0"/>
              </a:rPr>
              <a:t> </a:t>
            </a:r>
          </a:p>
          <a:p>
            <a:pPr marL="0" indent="0">
              <a:buNone/>
            </a:pPr>
            <a:endParaRPr lang="en-US" sz="2800" dirty="0"/>
          </a:p>
          <a:p>
            <a:pPr marL="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308898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US" b="1" dirty="0"/>
              <a:t/>
            </a:r>
            <a:br>
              <a:rPr lang="en-US" b="1" dirty="0"/>
            </a:br>
            <a:r>
              <a:rPr lang="en-US" b="1" dirty="0">
                <a:latin typeface="Times New Roman" panose="02020603050405020304" pitchFamily="18" charset="0"/>
                <a:cs typeface="Times New Roman" panose="02020603050405020304" pitchFamily="18" charset="0"/>
              </a:rPr>
              <a:t> </a:t>
            </a:r>
            <a:r>
              <a:rPr lang="en-US" sz="4000" b="1" dirty="0">
                <a:solidFill>
                  <a:schemeClr val="bg2">
                    <a:lumMod val="10000"/>
                  </a:schemeClr>
                </a:solidFill>
                <a:latin typeface="Times New Roman" panose="02020603050405020304" pitchFamily="18" charset="0"/>
                <a:cs typeface="Times New Roman" panose="02020603050405020304" pitchFamily="18" charset="0"/>
              </a:rPr>
              <a:t>Inflammatory (exudative) </a:t>
            </a:r>
            <a:r>
              <a:rPr lang="en-US" sz="4000" b="1" dirty="0" err="1">
                <a:solidFill>
                  <a:schemeClr val="bg2">
                    <a:lumMod val="10000"/>
                  </a:schemeClr>
                </a:solidFill>
                <a:latin typeface="Times New Roman" panose="02020603050405020304" pitchFamily="18" charset="0"/>
                <a:cs typeface="Times New Roman" panose="02020603050405020304" pitchFamily="18" charset="0"/>
              </a:rPr>
              <a:t>diarrhoea</a:t>
            </a:r>
            <a:r>
              <a:rPr lang="en-US" b="1" dirty="0">
                <a:solidFill>
                  <a:schemeClr val="bg2">
                    <a:lumMod val="10000"/>
                  </a:schemeClr>
                </a:solidFill>
              </a:rPr>
              <a:t/>
            </a:r>
            <a:br>
              <a:rPr lang="en-US" b="1" dirty="0">
                <a:solidFill>
                  <a:schemeClr val="bg2">
                    <a:lumMod val="10000"/>
                  </a:schemeClr>
                </a:solidFill>
              </a:rPr>
            </a:br>
            <a:endParaRPr lang="en-US" dirty="0">
              <a:solidFill>
                <a:schemeClr val="bg2">
                  <a:lumMod val="10000"/>
                </a:schemeClr>
              </a:solidFill>
            </a:endParaRPr>
          </a:p>
        </p:txBody>
      </p:sp>
      <p:sp>
        <p:nvSpPr>
          <p:cNvPr id="3" name="Content Placeholder 2"/>
          <p:cNvSpPr>
            <a:spLocks noGrp="1"/>
          </p:cNvSpPr>
          <p:nvPr>
            <p:ph idx="1"/>
          </p:nvPr>
        </p:nvSpPr>
        <p:spPr>
          <a:xfrm>
            <a:off x="457200" y="838200"/>
            <a:ext cx="8229600" cy="5287963"/>
          </a:xfrm>
        </p:spPr>
        <p:txBody>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Due to </a:t>
            </a:r>
            <a:r>
              <a:rPr lang="en-US" sz="2800" b="1" dirty="0">
                <a:solidFill>
                  <a:schemeClr val="bg2">
                    <a:lumMod val="10000"/>
                  </a:schemeClr>
                </a:solidFill>
                <a:latin typeface="Times New Roman" panose="02020603050405020304" pitchFamily="18" charset="0"/>
                <a:cs typeface="Times New Roman" panose="02020603050405020304" pitchFamily="18" charset="0"/>
              </a:rPr>
              <a:t>invasion or cytotoxic damage to intestinal mucosa</a:t>
            </a:r>
            <a:r>
              <a:rPr lang="en-US" sz="2800" dirty="0">
                <a:solidFill>
                  <a:schemeClr val="bg2">
                    <a:lumMod val="10000"/>
                  </a:schemeClr>
                </a:solidFill>
                <a:latin typeface="Times New Roman" panose="02020603050405020304" pitchFamily="18" charset="0"/>
                <a:cs typeface="Times New Roman" panose="02020603050405020304" pitchFamily="18" charset="0"/>
              </a:rPr>
              <a:t>.</a:t>
            </a:r>
            <a:endParaRPr lang="en-US" sz="2800" b="1" dirty="0">
              <a:solidFill>
                <a:schemeClr val="bg2">
                  <a:lumMod val="1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Pathogens invade epithelial cells </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Trigger inflammatory response </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Mucosal ulceration </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Leakage of blood, mucus and proteins</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Reduced absorption </a:t>
            </a:r>
          </a:p>
          <a:p>
            <a:r>
              <a:rPr lang="en-US" sz="2800" b="1" dirty="0" err="1">
                <a:solidFill>
                  <a:schemeClr val="bg2">
                    <a:lumMod val="10000"/>
                  </a:schemeClr>
                </a:solidFill>
                <a:latin typeface="Times New Roman" panose="02020603050405020304" pitchFamily="18" charset="0"/>
                <a:cs typeface="Times New Roman" panose="02020603050405020304" pitchFamily="18" charset="0"/>
              </a:rPr>
              <a:t>Classicorganisms:</a:t>
            </a:r>
            <a:r>
              <a:rPr lang="en-US" sz="2800" i="1" dirty="0" err="1">
                <a:solidFill>
                  <a:schemeClr val="bg2">
                    <a:lumMod val="10000"/>
                  </a:schemeClr>
                </a:solidFill>
                <a:latin typeface="Times New Roman" panose="02020603050405020304" pitchFamily="18" charset="0"/>
                <a:cs typeface="Times New Roman" panose="02020603050405020304" pitchFamily="18" charset="0"/>
              </a:rPr>
              <a:t>Shigella</a:t>
            </a:r>
            <a:r>
              <a:rPr lang="en-US" sz="2800" dirty="0" err="1">
                <a:solidFill>
                  <a:schemeClr val="bg2">
                    <a:lumMod val="10000"/>
                  </a:schemeClr>
                </a:solidFill>
                <a:latin typeface="Times New Roman" panose="02020603050405020304" pitchFamily="18" charset="0"/>
                <a:cs typeface="Times New Roman" panose="02020603050405020304" pitchFamily="18" charset="0"/>
              </a:rPr>
              <a:t>,</a:t>
            </a:r>
            <a:r>
              <a:rPr lang="en-US" sz="2800" i="1" dirty="0" err="1">
                <a:solidFill>
                  <a:schemeClr val="bg2">
                    <a:lumMod val="10000"/>
                  </a:schemeClr>
                </a:solidFill>
                <a:latin typeface="Times New Roman" panose="02020603050405020304" pitchFamily="18" charset="0"/>
                <a:cs typeface="Times New Roman" panose="02020603050405020304" pitchFamily="18" charset="0"/>
              </a:rPr>
              <a:t>Salmonella,Campylobacter</a:t>
            </a:r>
            <a:r>
              <a:rPr lang="en-US" sz="2800" i="1" dirty="0">
                <a:solidFill>
                  <a:schemeClr val="bg2">
                    <a:lumMod val="10000"/>
                  </a:schemeClr>
                </a:solidFill>
                <a:latin typeface="Times New Roman" panose="02020603050405020304" pitchFamily="18" charset="0"/>
                <a:cs typeface="Times New Roman" panose="02020603050405020304" pitchFamily="18" charset="0"/>
              </a:rPr>
              <a:t> </a:t>
            </a:r>
            <a:r>
              <a:rPr lang="en-US" sz="2800" i="1" dirty="0" err="1">
                <a:solidFill>
                  <a:schemeClr val="bg2">
                    <a:lumMod val="10000"/>
                  </a:schemeClr>
                </a:solidFill>
                <a:latin typeface="Times New Roman" panose="02020603050405020304" pitchFamily="18" charset="0"/>
                <a:cs typeface="Times New Roman" panose="02020603050405020304" pitchFamily="18" charset="0"/>
              </a:rPr>
              <a:t>jejuni</a:t>
            </a:r>
            <a:r>
              <a:rPr lang="en-US" sz="2800" dirty="0">
                <a:solidFill>
                  <a:schemeClr val="bg2">
                    <a:lumMod val="10000"/>
                  </a:schemeClr>
                </a:solidFill>
                <a:latin typeface="Times New Roman" panose="02020603050405020304" pitchFamily="18" charset="0"/>
                <a:cs typeface="Times New Roman" panose="02020603050405020304" pitchFamily="18" charset="0"/>
              </a:rPr>
              <a:t> and </a:t>
            </a:r>
            <a:r>
              <a:rPr lang="en-US" sz="2800" dirty="0" err="1">
                <a:solidFill>
                  <a:schemeClr val="bg2">
                    <a:lumMod val="10000"/>
                  </a:schemeClr>
                </a:solidFill>
                <a:latin typeface="Times New Roman" panose="02020603050405020304" pitchFamily="18" charset="0"/>
                <a:cs typeface="Times New Roman" panose="02020603050405020304" pitchFamily="18" charset="0"/>
              </a:rPr>
              <a:t>Enteroinvasive</a:t>
            </a:r>
            <a:r>
              <a:rPr 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i="1" dirty="0">
                <a:solidFill>
                  <a:schemeClr val="bg2">
                    <a:lumMod val="10000"/>
                  </a:schemeClr>
                </a:solidFill>
                <a:latin typeface="Times New Roman" panose="02020603050405020304" pitchFamily="18" charset="0"/>
                <a:cs typeface="Times New Roman" panose="02020603050405020304" pitchFamily="18" charset="0"/>
              </a:rPr>
              <a:t>E. coli</a:t>
            </a:r>
            <a:r>
              <a:rPr lang="en-US" sz="2800" dirty="0">
                <a:solidFill>
                  <a:schemeClr val="bg2">
                    <a:lumMod val="10000"/>
                  </a:schemeClr>
                </a:solidFill>
                <a:latin typeface="Times New Roman" panose="02020603050405020304" pitchFamily="18" charset="0"/>
                <a:cs typeface="Times New Roman" panose="02020603050405020304" pitchFamily="18" charset="0"/>
              </a:rPr>
              <a:t> (EIEC) </a:t>
            </a:r>
          </a:p>
          <a:p>
            <a:r>
              <a:rPr lang="en-US" sz="2800" b="1" dirty="0">
                <a:solidFill>
                  <a:schemeClr val="bg2">
                    <a:lumMod val="10000"/>
                  </a:schemeClr>
                </a:solidFill>
                <a:latin typeface="Times New Roman" panose="02020603050405020304" pitchFamily="18" charset="0"/>
                <a:cs typeface="Times New Roman" panose="02020603050405020304" pitchFamily="18" charset="0"/>
              </a:rPr>
              <a:t>Key features: </a:t>
            </a:r>
            <a:r>
              <a:rPr lang="en-US" sz="2800" dirty="0">
                <a:solidFill>
                  <a:schemeClr val="bg2">
                    <a:lumMod val="10000"/>
                  </a:schemeClr>
                </a:solidFill>
                <a:latin typeface="Times New Roman" panose="02020603050405020304" pitchFamily="18" charset="0"/>
                <a:cs typeface="Times New Roman" panose="02020603050405020304" pitchFamily="18" charset="0"/>
              </a:rPr>
              <a:t>Fever, Abdominal pain, Bloody </a:t>
            </a:r>
            <a:r>
              <a:rPr lang="en-US" sz="2800" dirty="0" err="1">
                <a:solidFill>
                  <a:schemeClr val="bg2">
                    <a:lumMod val="10000"/>
                  </a:schemeClr>
                </a:solidFill>
                <a:latin typeface="Times New Roman" panose="02020603050405020304" pitchFamily="18" charset="0"/>
                <a:cs typeface="Times New Roman" panose="02020603050405020304" pitchFamily="18" charset="0"/>
              </a:rPr>
              <a:t>diarrhoea</a:t>
            </a:r>
            <a:r>
              <a:rPr lang="en-US" sz="2800" dirty="0">
                <a:solidFill>
                  <a:schemeClr val="bg2">
                    <a:lumMod val="10000"/>
                  </a:schemeClr>
                </a:solidFill>
                <a:latin typeface="Times New Roman" panose="02020603050405020304" pitchFamily="18" charset="0"/>
                <a:cs typeface="Times New Roman" panose="02020603050405020304" pitchFamily="18" charset="0"/>
              </a:rPr>
              <a:t> (dysentery) and tenesmus</a:t>
            </a:r>
          </a:p>
        </p:txBody>
      </p:sp>
    </p:spTree>
    <p:extLst>
      <p:ext uri="{BB962C8B-B14F-4D97-AF65-F5344CB8AC3E}">
        <p14:creationId xmlns:p14="http://schemas.microsoft.com/office/powerpoint/2010/main" val="360287789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t/>
            </a:r>
            <a:br>
              <a:rPr lang="en-US" b="1" dirty="0"/>
            </a:br>
            <a:r>
              <a:rPr lang="en-US" b="1" dirty="0">
                <a:solidFill>
                  <a:schemeClr val="bg2">
                    <a:lumMod val="10000"/>
                  </a:schemeClr>
                </a:solidFill>
                <a:latin typeface="Times New Roman" panose="02020603050405020304" pitchFamily="18" charset="0"/>
                <a:cs typeface="Times New Roman" panose="02020603050405020304" pitchFamily="18" charset="0"/>
              </a:rPr>
              <a:t>Cytotoxic diarrhea</a:t>
            </a:r>
            <a:r>
              <a:rPr lang="en-US" b="1" dirty="0"/>
              <a:t/>
            </a:r>
            <a:br>
              <a:rPr lang="en-US" b="1" dirty="0"/>
            </a:br>
            <a:endParaRPr lang="en-US" dirty="0"/>
          </a:p>
        </p:txBody>
      </p:sp>
      <p:sp>
        <p:nvSpPr>
          <p:cNvPr id="3" name="Content Placeholder 2"/>
          <p:cNvSpPr>
            <a:spLocks noGrp="1"/>
          </p:cNvSpPr>
          <p:nvPr>
            <p:ph idx="1"/>
          </p:nvPr>
        </p:nvSpPr>
        <p:spPr>
          <a:xfrm>
            <a:off x="457200" y="1219200"/>
            <a:ext cx="8229600" cy="4906963"/>
          </a:xfrm>
        </p:spPr>
        <p:txBody>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Caused by </a:t>
            </a:r>
            <a:r>
              <a:rPr lang="en-US" sz="2800" b="1" dirty="0">
                <a:solidFill>
                  <a:schemeClr val="bg2">
                    <a:lumMod val="10000"/>
                  </a:schemeClr>
                </a:solidFill>
                <a:latin typeface="Times New Roman" panose="02020603050405020304" pitchFamily="18" charset="0"/>
                <a:cs typeface="Times New Roman" panose="02020603050405020304" pitchFamily="18" charset="0"/>
              </a:rPr>
              <a:t>toxins that directly damage intestinal cells</a:t>
            </a:r>
            <a:r>
              <a:rPr lang="en-US" sz="2800" dirty="0">
                <a:solidFill>
                  <a:schemeClr val="bg2">
                    <a:lumMod val="10000"/>
                  </a:schemeClr>
                </a:solidFill>
                <a:latin typeface="Times New Roman" panose="02020603050405020304" pitchFamily="18" charset="0"/>
                <a:cs typeface="Times New Roman" panose="02020603050405020304" pitchFamily="18" charset="0"/>
              </a:rPr>
              <a:t>.</a:t>
            </a:r>
            <a:endParaRPr lang="en-US" sz="2800" b="1" dirty="0">
              <a:solidFill>
                <a:schemeClr val="bg2">
                  <a:lumMod val="1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Toxin-induced apoptosis or necrosis of enterocytes</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Loss of mucosal integrity </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Inflammation + secretion </a:t>
            </a:r>
          </a:p>
          <a:p>
            <a:r>
              <a:rPr lang="en-US" sz="2800" b="1" dirty="0">
                <a:solidFill>
                  <a:schemeClr val="bg2">
                    <a:lumMod val="10000"/>
                  </a:schemeClr>
                </a:solidFill>
                <a:latin typeface="Times New Roman" panose="02020603050405020304" pitchFamily="18" charset="0"/>
                <a:cs typeface="Times New Roman" panose="02020603050405020304" pitchFamily="18" charset="0"/>
              </a:rPr>
              <a:t>Key features:</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Watery or bloody </a:t>
            </a:r>
            <a:r>
              <a:rPr lang="en-US" sz="2800" dirty="0" err="1">
                <a:solidFill>
                  <a:schemeClr val="bg2">
                    <a:lumMod val="10000"/>
                  </a:schemeClr>
                </a:solidFill>
                <a:latin typeface="Times New Roman" panose="02020603050405020304" pitchFamily="18" charset="0"/>
                <a:cs typeface="Times New Roman" panose="02020603050405020304" pitchFamily="18" charset="0"/>
              </a:rPr>
              <a:t>diarrhoea</a:t>
            </a:r>
            <a:r>
              <a:rPr lang="en-US" sz="2800" dirty="0">
                <a:solidFill>
                  <a:schemeClr val="bg2">
                    <a:lumMod val="10000"/>
                  </a:schemeClr>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Often post-antibiotic </a:t>
            </a:r>
          </a:p>
          <a:p>
            <a:pPr>
              <a:buFont typeface="Wingdings" panose="05000000000000000000" pitchFamily="2" charset="2"/>
              <a:buChar char="Ø"/>
            </a:pPr>
            <a:r>
              <a:rPr lang="en-US" sz="2800" dirty="0">
                <a:solidFill>
                  <a:schemeClr val="bg2">
                    <a:lumMod val="10000"/>
                  </a:schemeClr>
                </a:solidFill>
                <a:latin typeface="Times New Roman" panose="02020603050405020304" pitchFamily="18" charset="0"/>
                <a:cs typeface="Times New Roman" panose="02020603050405020304" pitchFamily="18" charset="0"/>
              </a:rPr>
              <a:t>Can lead to pseudomembranous colitis</a:t>
            </a:r>
          </a:p>
          <a:p>
            <a:pPr marL="0" indent="0">
              <a:buNone/>
            </a:pPr>
            <a:r>
              <a:rPr lang="en-US" sz="2800" b="1" dirty="0" err="1">
                <a:solidFill>
                  <a:schemeClr val="bg2">
                    <a:lumMod val="10000"/>
                  </a:schemeClr>
                </a:solidFill>
                <a:latin typeface="Times New Roman" panose="02020603050405020304" pitchFamily="18" charset="0"/>
                <a:cs typeface="Times New Roman" panose="02020603050405020304" pitchFamily="18" charset="0"/>
              </a:rPr>
              <a:t>Example</a:t>
            </a:r>
            <a:r>
              <a:rPr lang="en-US" sz="2800" i="1" dirty="0" err="1">
                <a:solidFill>
                  <a:schemeClr val="bg2">
                    <a:lumMod val="10000"/>
                  </a:schemeClr>
                </a:solidFill>
                <a:latin typeface="Times New Roman" panose="02020603050405020304" pitchFamily="18" charset="0"/>
                <a:cs typeface="Times New Roman" panose="02020603050405020304" pitchFamily="18" charset="0"/>
              </a:rPr>
              <a:t>Clostridioides</a:t>
            </a:r>
            <a:r>
              <a:rPr lang="en-US" sz="2800" i="1" dirty="0">
                <a:solidFill>
                  <a:schemeClr val="bg2">
                    <a:lumMod val="10000"/>
                  </a:schemeClr>
                </a:solidFill>
                <a:latin typeface="Times New Roman" panose="02020603050405020304" pitchFamily="18" charset="0"/>
                <a:cs typeface="Times New Roman" panose="02020603050405020304" pitchFamily="18" charset="0"/>
              </a:rPr>
              <a:t> difficile</a:t>
            </a:r>
            <a:r>
              <a:rPr lang="en-US" sz="2800" dirty="0">
                <a:solidFill>
                  <a:schemeClr val="bg2">
                    <a:lumMod val="10000"/>
                  </a:schemeClr>
                </a:solidFill>
                <a:latin typeface="Times New Roman" panose="02020603050405020304" pitchFamily="18" charset="0"/>
                <a:cs typeface="Times New Roman" panose="02020603050405020304" pitchFamily="18" charset="0"/>
              </a:rPr>
              <a:t> (toxins A &amp; B) </a:t>
            </a:r>
          </a:p>
          <a:p>
            <a:endParaRPr lang="en-US" dirty="0">
              <a:solidFill>
                <a:schemeClr val="bg2">
                  <a:lumMod val="10000"/>
                </a:schemeClr>
              </a:solidFill>
            </a:endParaRPr>
          </a:p>
        </p:txBody>
      </p:sp>
    </p:spTree>
    <p:extLst>
      <p:ext uri="{BB962C8B-B14F-4D97-AF65-F5344CB8AC3E}">
        <p14:creationId xmlns:p14="http://schemas.microsoft.com/office/powerpoint/2010/main" val="368374198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r>
            <a:br>
              <a:rPr lang="en-US" b="1" dirty="0"/>
            </a:br>
            <a:r>
              <a:rPr lang="en-US" b="1" dirty="0">
                <a:solidFill>
                  <a:schemeClr val="bg2">
                    <a:lumMod val="10000"/>
                  </a:schemeClr>
                </a:solidFill>
                <a:latin typeface="Times New Roman" panose="02020603050405020304" pitchFamily="18" charset="0"/>
                <a:cs typeface="Times New Roman" panose="02020603050405020304" pitchFamily="18" charset="0"/>
              </a:rPr>
              <a:t>Motility-related </a:t>
            </a:r>
            <a:r>
              <a:rPr lang="en-US" b="1" dirty="0" err="1">
                <a:solidFill>
                  <a:schemeClr val="bg2">
                    <a:lumMod val="10000"/>
                  </a:schemeClr>
                </a:solidFill>
                <a:latin typeface="Times New Roman" panose="02020603050405020304" pitchFamily="18" charset="0"/>
                <a:cs typeface="Times New Roman" panose="02020603050405020304" pitchFamily="18" charset="0"/>
              </a:rPr>
              <a:t>diarrhoea</a:t>
            </a:r>
            <a:r>
              <a:rPr lang="en-US" b="1" dirty="0"/>
              <a:t/>
            </a:r>
            <a:br>
              <a:rPr lang="en-US" b="1" dirty="0"/>
            </a:br>
            <a:endParaRPr lang="en-US" dirty="0"/>
          </a:p>
        </p:txBody>
      </p:sp>
      <p:sp>
        <p:nvSpPr>
          <p:cNvPr id="3" name="Content Placeholder 2"/>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Some infections alter </a:t>
            </a:r>
            <a:r>
              <a:rPr lang="en-US" b="1" dirty="0">
                <a:solidFill>
                  <a:schemeClr val="bg2">
                    <a:lumMod val="10000"/>
                  </a:schemeClr>
                </a:solidFill>
                <a:latin typeface="Times New Roman" panose="02020603050405020304" pitchFamily="18" charset="0"/>
                <a:cs typeface="Times New Roman" panose="02020603050405020304" pitchFamily="18" charset="0"/>
              </a:rPr>
              <a:t>gut motility</a:t>
            </a:r>
            <a:r>
              <a:rPr lang="en-US" dirty="0">
                <a:solidFill>
                  <a:schemeClr val="bg2">
                    <a:lumMod val="10000"/>
                  </a:schemeClr>
                </a:solidFill>
                <a:latin typeface="Times New Roman" panose="02020603050405020304" pitchFamily="18" charset="0"/>
                <a:cs typeface="Times New Roman" panose="02020603050405020304" pitchFamily="18" charset="0"/>
              </a:rPr>
              <a:t>.</a:t>
            </a:r>
          </a:p>
          <a:p>
            <a:r>
              <a:rPr lang="en-US" b="1" dirty="0">
                <a:solidFill>
                  <a:schemeClr val="bg2">
                    <a:lumMod val="10000"/>
                  </a:schemeClr>
                </a:solidFill>
                <a:latin typeface="Times New Roman" panose="02020603050405020304" pitchFamily="18" charset="0"/>
                <a:cs typeface="Times New Roman" panose="02020603050405020304" pitchFamily="18" charset="0"/>
              </a:rPr>
              <a:t>Mechanism:</a:t>
            </a:r>
          </a:p>
          <a:p>
            <a:pPr>
              <a:buFont typeface="Wingdings" panose="05000000000000000000"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Increased peristalsis </a:t>
            </a:r>
          </a:p>
          <a:p>
            <a:pPr>
              <a:buFont typeface="Wingdings" panose="05000000000000000000"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Reduced contact time for absorption </a:t>
            </a:r>
          </a:p>
          <a:p>
            <a:r>
              <a:rPr lang="en-US" b="1" dirty="0">
                <a:solidFill>
                  <a:schemeClr val="bg2">
                    <a:lumMod val="10000"/>
                  </a:schemeClr>
                </a:solidFill>
                <a:latin typeface="Times New Roman" panose="02020603050405020304" pitchFamily="18" charset="0"/>
                <a:cs typeface="Times New Roman" panose="02020603050405020304" pitchFamily="18" charset="0"/>
              </a:rPr>
              <a:t>Seen in:</a:t>
            </a:r>
          </a:p>
          <a:p>
            <a:r>
              <a:rPr lang="en-US" dirty="0">
                <a:solidFill>
                  <a:schemeClr val="bg2">
                    <a:lumMod val="10000"/>
                  </a:schemeClr>
                </a:solidFill>
                <a:latin typeface="Times New Roman" panose="02020603050405020304" pitchFamily="18" charset="0"/>
                <a:cs typeface="Times New Roman" panose="02020603050405020304" pitchFamily="18" charset="0"/>
              </a:rPr>
              <a:t>Post infective-IBS overlap</a:t>
            </a:r>
          </a:p>
          <a:p>
            <a:r>
              <a:rPr lang="en-US" dirty="0">
                <a:solidFill>
                  <a:schemeClr val="bg2">
                    <a:lumMod val="10000"/>
                  </a:schemeClr>
                </a:solidFill>
                <a:latin typeface="Times New Roman" panose="02020603050405020304" pitchFamily="18" charset="0"/>
                <a:cs typeface="Times New Roman" panose="02020603050405020304" pitchFamily="18" charset="0"/>
              </a:rPr>
              <a:t>Early stages of some bacterial or viral infections</a:t>
            </a:r>
          </a:p>
        </p:txBody>
      </p:sp>
    </p:spTree>
    <p:extLst>
      <p:ext uri="{BB962C8B-B14F-4D97-AF65-F5344CB8AC3E}">
        <p14:creationId xmlns:p14="http://schemas.microsoft.com/office/powerpoint/2010/main" val="255766424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878681"/>
            <a:ext cx="9144000" cy="5100638"/>
          </a:xfrm>
          <a:prstGeom prst="rect">
            <a:avLst/>
          </a:prstGeom>
        </p:spPr>
      </p:pic>
      <p:sp>
        <p:nvSpPr>
          <p:cNvPr id="4" name="TextBox 3"/>
          <p:cNvSpPr txBox="1"/>
          <p:nvPr/>
        </p:nvSpPr>
        <p:spPr>
          <a:xfrm>
            <a:off x="228600" y="5979319"/>
            <a:ext cx="8686800" cy="369332"/>
          </a:xfrm>
          <a:prstGeom prst="rect">
            <a:avLst/>
          </a:prstGeom>
          <a:solidFill>
            <a:schemeClr val="accent6"/>
          </a:solidFill>
        </p:spPr>
        <p:txBody>
          <a:bodyPr wrap="square" rtlCol="0">
            <a:spAutoFit/>
          </a:bodyPr>
          <a:lstStyle/>
          <a:p>
            <a:r>
              <a:rPr lang="en-US" dirty="0" err="1"/>
              <a:t>Harrisons_Principles_of_Internal_Medicine</a:t>
            </a:r>
            <a:r>
              <a:rPr lang="en-US" dirty="0"/>
              <a:t>, 22</a:t>
            </a:r>
            <a:r>
              <a:rPr lang="en-US" baseline="30000" dirty="0"/>
              <a:t>nd</a:t>
            </a:r>
            <a:r>
              <a:rPr lang="en-US" dirty="0"/>
              <a:t>_Edition </a:t>
            </a:r>
          </a:p>
        </p:txBody>
      </p:sp>
    </p:spTree>
    <p:extLst>
      <p:ext uri="{BB962C8B-B14F-4D97-AF65-F5344CB8AC3E}">
        <p14:creationId xmlns:p14="http://schemas.microsoft.com/office/powerpoint/2010/main" val="543006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878681"/>
            <a:ext cx="9144000" cy="5100638"/>
          </a:xfrm>
          <a:prstGeom prst="rect">
            <a:avLst/>
          </a:prstGeom>
        </p:spPr>
      </p:pic>
    </p:spTree>
    <p:extLst>
      <p:ext uri="{BB962C8B-B14F-4D97-AF65-F5344CB8AC3E}">
        <p14:creationId xmlns:p14="http://schemas.microsoft.com/office/powerpoint/2010/main" val="2417549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685800"/>
            <a:ext cx="9144000" cy="5100638"/>
          </a:xfrm>
          <a:prstGeom prst="rect">
            <a:avLst/>
          </a:prstGeom>
        </p:spPr>
      </p:pic>
    </p:spTree>
    <p:extLst>
      <p:ext uri="{BB962C8B-B14F-4D97-AF65-F5344CB8AC3E}">
        <p14:creationId xmlns:p14="http://schemas.microsoft.com/office/powerpoint/2010/main" val="2472750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762000"/>
            <a:ext cx="9144000" cy="5100638"/>
          </a:xfrm>
          <a:prstGeom prst="rect">
            <a:avLst/>
          </a:prstGeom>
        </p:spPr>
      </p:pic>
    </p:spTree>
    <p:extLst>
      <p:ext uri="{BB962C8B-B14F-4D97-AF65-F5344CB8AC3E}">
        <p14:creationId xmlns:p14="http://schemas.microsoft.com/office/powerpoint/2010/main" val="162376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878681"/>
            <a:ext cx="9144000" cy="5100638"/>
          </a:xfrm>
          <a:prstGeom prst="rect">
            <a:avLst/>
          </a:prstGeom>
        </p:spPr>
      </p:pic>
    </p:spTree>
    <p:extLst>
      <p:ext uri="{BB962C8B-B14F-4D97-AF65-F5344CB8AC3E}">
        <p14:creationId xmlns:p14="http://schemas.microsoft.com/office/powerpoint/2010/main" val="2578994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7" name="Content Placeholder 3"/>
          <p:cNvPicPr>
            <a:picLocks noGrp="1" noChangeAspect="1"/>
          </p:cNvPicPr>
          <p:nvPr>
            <p:ph idx="1"/>
          </p:nvPr>
        </p:nvPicPr>
        <p:blipFill>
          <a:blip r:embed="rId3"/>
          <a:stretch>
            <a:fillRect/>
          </a:stretch>
        </p:blipFill>
        <p:spPr>
          <a:xfrm>
            <a:off x="304800" y="685800"/>
            <a:ext cx="8686801" cy="5839078"/>
          </a:xfrm>
        </p:spPr>
      </p:pic>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Title 1"/>
          <p:cNvSpPr>
            <a:spLocks noGrp="1"/>
          </p:cNvSpPr>
          <p:nvPr>
            <p:ph type="title"/>
          </p:nvPr>
        </p:nvSpPr>
        <p:spPr>
          <a:xfrm>
            <a:off x="457200" y="27709"/>
            <a:ext cx="8229600" cy="1143000"/>
          </a:xfrm>
        </p:spPr>
        <p:txBody>
          <a:bodyPr/>
          <a:lstStyle/>
          <a:p>
            <a:r>
              <a:rPr lang="en-US" b="1" dirty="0">
                <a:solidFill>
                  <a:schemeClr val="bg2">
                    <a:lumMod val="10000"/>
                  </a:schemeClr>
                </a:solidFill>
              </a:rPr>
              <a:t>CLINICAL ASSESSMENT CONT…</a:t>
            </a:r>
          </a:p>
        </p:txBody>
      </p:sp>
      <p:sp>
        <p:nvSpPr>
          <p:cNvPr id="1048659" name="Content Placeholder 2"/>
          <p:cNvSpPr>
            <a:spLocks noGrp="1"/>
          </p:cNvSpPr>
          <p:nvPr>
            <p:ph idx="1"/>
          </p:nvPr>
        </p:nvSpPr>
        <p:spPr>
          <a:xfrm>
            <a:off x="152400" y="1219200"/>
            <a:ext cx="8839200" cy="5410200"/>
          </a:xfrm>
        </p:spPr>
        <p:txBody>
          <a:bodyPr/>
          <a:lstStyle/>
          <a:p>
            <a:endParaRPr lang="en-US" dirty="0"/>
          </a:p>
          <a:p>
            <a:endParaRPr lang="en-US" dirty="0"/>
          </a:p>
          <a:p>
            <a:pPr>
              <a:buFont typeface="Arial" panose="020B0604020202020204" pitchFamily="34" charset="0"/>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Severity of diarrhea may be assessed by Bristol stool form scale</a:t>
            </a:r>
          </a:p>
          <a:p>
            <a:pPr>
              <a:buFont typeface="Wingdings" panose="05000000000000000000" charset="0"/>
              <a:buChar char="ü"/>
            </a:pPr>
            <a:r>
              <a:rPr lang="en-US" sz="2800" dirty="0">
                <a:solidFill>
                  <a:schemeClr val="bg2">
                    <a:lumMod val="10000"/>
                  </a:schemeClr>
                </a:solidFill>
                <a:latin typeface="Times New Roman" panose="02020603050405020304" pitchFamily="18" charset="0"/>
                <a:cs typeface="Times New Roman" panose="02020603050405020304" pitchFamily="18" charset="0"/>
              </a:rPr>
              <a:t>Provides verbal and visual reference scale</a:t>
            </a:r>
          </a:p>
          <a:p>
            <a:pPr>
              <a:buFont typeface="Wingdings" panose="05000000000000000000" charset="0"/>
              <a:buChar char="ü"/>
            </a:pPr>
            <a:r>
              <a:rPr lang="en-US" sz="2800" dirty="0">
                <a:solidFill>
                  <a:schemeClr val="bg2">
                    <a:lumMod val="10000"/>
                  </a:schemeClr>
                </a:solidFill>
                <a:latin typeface="Times New Roman" panose="02020603050405020304" pitchFamily="18" charset="0"/>
                <a:cs typeface="Times New Roman" panose="02020603050405020304" pitchFamily="18" charset="0"/>
              </a:rPr>
              <a:t>Scaled from 1 to 7</a:t>
            </a:r>
          </a:p>
          <a:p>
            <a:pPr>
              <a:buFont typeface="Wingdings" panose="05000000000000000000" charset="0"/>
              <a:buChar char="ü"/>
            </a:pPr>
            <a:r>
              <a:rPr lang="en-US" sz="2800" dirty="0">
                <a:solidFill>
                  <a:schemeClr val="bg2">
                    <a:lumMod val="10000"/>
                  </a:schemeClr>
                </a:solidFill>
                <a:latin typeface="Times New Roman" panose="02020603050405020304" pitchFamily="18" charset="0"/>
                <a:cs typeface="Times New Roman" panose="02020603050405020304" pitchFamily="18" charset="0"/>
              </a:rPr>
              <a:t>Recorded on a chart or patient’s database</a:t>
            </a:r>
          </a:p>
          <a:p>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8" name="Content Placeholder 3"/>
          <p:cNvPicPr>
            <a:picLocks noGrp="1" noChangeAspect="1"/>
          </p:cNvPicPr>
          <p:nvPr>
            <p:ph idx="1"/>
          </p:nvPr>
        </p:nvPicPr>
        <p:blipFill>
          <a:blip r:embed="rId3"/>
          <a:stretch>
            <a:fillRect/>
          </a:stretch>
        </p:blipFill>
        <p:spPr>
          <a:xfrm>
            <a:off x="228600" y="685800"/>
            <a:ext cx="8686800" cy="5791200"/>
          </a:xfrm>
        </p:spPr>
      </p:pic>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76200" y="878681"/>
            <a:ext cx="9144000" cy="5100638"/>
          </a:xfrm>
          <a:prstGeom prst="rect">
            <a:avLst/>
          </a:prstGeom>
        </p:spPr>
      </p:pic>
      <p:sp>
        <p:nvSpPr>
          <p:cNvPr id="3" name="TextBox 2"/>
          <p:cNvSpPr txBox="1"/>
          <p:nvPr/>
        </p:nvSpPr>
        <p:spPr>
          <a:xfrm>
            <a:off x="0" y="5979319"/>
            <a:ext cx="9067800" cy="1200329"/>
          </a:xfrm>
          <a:prstGeom prst="rect">
            <a:avLst/>
          </a:prstGeom>
          <a:solidFill>
            <a:schemeClr val="accent6"/>
          </a:solidFill>
        </p:spPr>
        <p:txBody>
          <a:bodyPr wrap="square" rtlCol="0">
            <a:spAutoFit/>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2024 Updates by the Infectious Disease Society of America and American Society of Microbiology. Guide to Utilization of the Microbiology Laboratory for Diagnosis of Infectious Diseases</a:t>
            </a:r>
          </a:p>
          <a:p>
            <a:endParaRPr lang="en-US" dirty="0"/>
          </a:p>
        </p:txBody>
      </p:sp>
    </p:spTree>
    <p:extLst>
      <p:ext uri="{BB962C8B-B14F-4D97-AF65-F5344CB8AC3E}">
        <p14:creationId xmlns:p14="http://schemas.microsoft.com/office/powerpoint/2010/main" val="3623585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INVESTIGATION</a:t>
            </a:r>
          </a:p>
        </p:txBody>
      </p:sp>
      <p:sp>
        <p:nvSpPr>
          <p:cNvPr id="3" name="Content Placeholder 2"/>
          <p:cNvSpPr>
            <a:spLocks noGrp="1"/>
          </p:cNvSpPr>
          <p:nvPr>
            <p:ph idx="1"/>
          </p:nvPr>
        </p:nvSpPr>
        <p:spPr/>
        <p:txBody>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The specimen of choice to diagnose diarrheal illness is Diarrheal stool, not formed stool or swab except for pediatric</a:t>
            </a:r>
          </a:p>
          <a:p>
            <a:r>
              <a:rPr lang="en-US" sz="2800" dirty="0">
                <a:solidFill>
                  <a:schemeClr val="bg2">
                    <a:lumMod val="10000"/>
                  </a:schemeClr>
                </a:solidFill>
                <a:latin typeface="Times New Roman" panose="02020603050405020304" pitchFamily="18" charset="0"/>
                <a:cs typeface="Times New Roman" panose="02020603050405020304" pitchFamily="18" charset="0"/>
              </a:rPr>
              <a:t>Stool inspection for blood and microscopy for leucocytes, ova, cysts, parasites</a:t>
            </a:r>
          </a:p>
          <a:p>
            <a:endParaRPr lang="en-US" dirty="0">
              <a:solidFill>
                <a:schemeClr val="bg2">
                  <a:lumMod val="10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9742758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Title 1"/>
          <p:cNvSpPr>
            <a:spLocks noGrp="1"/>
          </p:cNvSpPr>
          <p:nvPr>
            <p:ph type="title"/>
          </p:nvPr>
        </p:nvSpPr>
        <p:spPr/>
        <p:txBody>
          <a:bodyPr/>
          <a:lstStyle/>
          <a:p>
            <a:r>
              <a:rPr lang="en-US" dirty="0"/>
              <a:t/>
            </a:r>
            <a:br>
              <a:rPr lang="en-US" dirty="0"/>
            </a:br>
            <a:r>
              <a:rPr lang="en-US" b="1" dirty="0">
                <a:solidFill>
                  <a:schemeClr val="bg2">
                    <a:lumMod val="10000"/>
                  </a:schemeClr>
                </a:solidFill>
                <a:latin typeface="Times New Roman" panose="02020603050405020304" pitchFamily="18" charset="0"/>
                <a:cs typeface="Times New Roman" panose="02020603050405020304" pitchFamily="18" charset="0"/>
              </a:rPr>
              <a:t>INVESTIGATIONS</a:t>
            </a:r>
          </a:p>
        </p:txBody>
      </p:sp>
      <p:sp>
        <p:nvSpPr>
          <p:cNvPr id="1048670" name="Content Placeholder 2"/>
          <p:cNvSpPr>
            <a:spLocks noGrp="1"/>
          </p:cNvSpPr>
          <p:nvPr>
            <p:ph idx="1"/>
          </p:nvPr>
        </p:nvSpPr>
        <p:spPr>
          <a:xfrm>
            <a:off x="152400" y="1600200"/>
            <a:ext cx="8763000" cy="4876800"/>
          </a:xfrm>
        </p:spPr>
        <p:txBody>
          <a:bodyPr>
            <a:normAutofit/>
          </a:bodyPr>
          <a:lstStyle/>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Stool culture, </a:t>
            </a:r>
            <a:r>
              <a:rPr lang="en-US" sz="2800" i="1" dirty="0">
                <a:solidFill>
                  <a:schemeClr val="bg2">
                    <a:lumMod val="10000"/>
                  </a:schemeClr>
                </a:solidFill>
                <a:latin typeface="Times New Roman" panose="02020603050405020304" pitchFamily="18" charset="0"/>
                <a:cs typeface="Times New Roman" panose="02020603050405020304" pitchFamily="18" charset="0"/>
              </a:rPr>
              <a:t>C. difficile </a:t>
            </a:r>
            <a:r>
              <a:rPr lang="en-US" sz="2800" dirty="0">
                <a:solidFill>
                  <a:schemeClr val="bg2">
                    <a:lumMod val="10000"/>
                  </a:schemeClr>
                </a:solidFill>
                <a:latin typeface="Times New Roman" panose="02020603050405020304" pitchFamily="18" charset="0"/>
                <a:cs typeface="Times New Roman" panose="02020603050405020304" pitchFamily="18" charset="0"/>
              </a:rPr>
              <a:t>toxin should be sought </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FBP and electrolytes</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Examination of wet film with dark-field microscopy for darting motility in cholera endemic areas</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In malarious areas, malaria testing protocol should be followed</a:t>
            </a:r>
          </a:p>
        </p:txBody>
      </p:sp>
      <p:sp>
        <p:nvSpPr>
          <p:cNvPr id="3" name="TextBox 2">
            <a:extLst>
              <a:ext uri="{FF2B5EF4-FFF2-40B4-BE49-F238E27FC236}">
                <a16:creationId xmlns:a16="http://schemas.microsoft.com/office/drawing/2014/main" id="{C81A3419-B49F-C661-C62E-27DC068EA5F1}"/>
              </a:ext>
            </a:extLst>
          </p:cNvPr>
          <p:cNvSpPr txBox="1"/>
          <p:nvPr/>
        </p:nvSpPr>
        <p:spPr>
          <a:xfrm>
            <a:off x="304800" y="4495800"/>
            <a:ext cx="8077200" cy="923330"/>
          </a:xfrm>
          <a:prstGeom prst="rect">
            <a:avLst/>
          </a:prstGeom>
          <a:solidFill>
            <a:schemeClr val="accent6"/>
          </a:solidFill>
        </p:spPr>
        <p:txBody>
          <a:bodyPr wrap="square" rtlCol="0">
            <a:spAutoFit/>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2024 Updates by the Infectious Disease Society of America and American Society of Microbiology. Guide to Utilization of the Microbiology Laboratory for Diagnosis of Infectious Diseases</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INVESTIGATIONS</a:t>
            </a:r>
          </a:p>
        </p:txBody>
      </p:sp>
      <p:sp>
        <p:nvSpPr>
          <p:cNvPr id="3" name="Content Placeholder 2"/>
          <p:cNvSpPr>
            <a:spLocks noGrp="1"/>
          </p:cNvSpPr>
          <p:nvPr>
            <p:ph idx="1"/>
          </p:nvPr>
        </p:nvSpPr>
        <p:spPr/>
        <p:txBody>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Culture independent multiplex molecular tests are reported to be more sensitive than culture, though it is more </a:t>
            </a:r>
            <a:r>
              <a:rPr lang="en-US" sz="2800" dirty="0" err="1">
                <a:solidFill>
                  <a:schemeClr val="bg2">
                    <a:lumMod val="10000"/>
                  </a:schemeClr>
                </a:solidFill>
                <a:latin typeface="Times New Roman" panose="02020603050405020304" pitchFamily="18" charset="0"/>
                <a:cs typeface="Times New Roman" panose="02020603050405020304" pitchFamily="18" charset="0"/>
              </a:rPr>
              <a:t>costful</a:t>
            </a:r>
            <a:r>
              <a:rPr lang="en-US" sz="2800" dirty="0">
                <a:solidFill>
                  <a:schemeClr val="bg2">
                    <a:lumMod val="10000"/>
                  </a:schemeClr>
                </a:solidFill>
                <a:latin typeface="Times New Roman" panose="02020603050405020304" pitchFamily="18" charset="0"/>
                <a:cs typeface="Times New Roman" panose="02020603050405020304" pitchFamily="18" charset="0"/>
              </a:rPr>
              <a:t> than culture.</a:t>
            </a:r>
          </a:p>
          <a:p>
            <a:r>
              <a:rPr lang="en-US" sz="2800" dirty="0">
                <a:solidFill>
                  <a:schemeClr val="bg2">
                    <a:lumMod val="10000"/>
                  </a:schemeClr>
                </a:solidFill>
                <a:latin typeface="Times New Roman" panose="02020603050405020304" pitchFamily="18" charset="0"/>
                <a:cs typeface="Times New Roman" panose="02020603050405020304" pitchFamily="18" charset="0"/>
              </a:rPr>
              <a:t>Toxin or NAAT for C. difficile should only be done on diarrheal stool.</a:t>
            </a:r>
          </a:p>
        </p:txBody>
      </p:sp>
      <p:sp>
        <p:nvSpPr>
          <p:cNvPr id="4" name="TextBox 3">
            <a:extLst>
              <a:ext uri="{FF2B5EF4-FFF2-40B4-BE49-F238E27FC236}">
                <a16:creationId xmlns:a16="http://schemas.microsoft.com/office/drawing/2014/main" id="{836B0FB2-E296-7588-522E-E48150628123}"/>
              </a:ext>
            </a:extLst>
          </p:cNvPr>
          <p:cNvSpPr txBox="1"/>
          <p:nvPr/>
        </p:nvSpPr>
        <p:spPr>
          <a:xfrm>
            <a:off x="304800" y="5410200"/>
            <a:ext cx="8001000" cy="923330"/>
          </a:xfrm>
          <a:prstGeom prst="rect">
            <a:avLst/>
          </a:prstGeom>
          <a:solidFill>
            <a:schemeClr val="accent6"/>
          </a:solidFill>
        </p:spPr>
        <p:txBody>
          <a:bodyPr wrap="square" rtlCol="0">
            <a:spAutoFit/>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Randel, A et al, Infectious Diarrhea: IDSA Updates Guidelines for Diagnosis and Management, 2018</a:t>
            </a:r>
          </a:p>
          <a:p>
            <a:endParaRPr lang="en-US" dirty="0"/>
          </a:p>
        </p:txBody>
      </p:sp>
    </p:spTree>
    <p:extLst>
      <p:ext uri="{BB962C8B-B14F-4D97-AF65-F5344CB8AC3E}">
        <p14:creationId xmlns:p14="http://schemas.microsoft.com/office/powerpoint/2010/main" val="359877885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INVESTIGATIONS CONT</a:t>
            </a:r>
            <a:r>
              <a:rPr lang="en-US" dirty="0">
                <a:latin typeface="Times New Roman" panose="02020603050405020304" pitchFamily="18" charset="0"/>
                <a:cs typeface="Times New Roman" panose="02020603050405020304" pitchFamily="18" charset="0"/>
              </a:rPr>
              <a:t>…</a:t>
            </a:r>
          </a:p>
        </p:txBody>
      </p:sp>
      <p:sp>
        <p:nvSpPr>
          <p:cNvPr id="1048672" name="Content Placeholder 2"/>
          <p:cNvSpPr>
            <a:spLocks noGrp="1"/>
          </p:cNvSpPr>
          <p:nvPr>
            <p:ph idx="1"/>
          </p:nvPr>
        </p:nvSpPr>
        <p:spPr/>
        <p:txBody>
          <a:bodyPr>
            <a:normAutofit/>
          </a:bodyPr>
          <a:lstStyle/>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Blood and urine cultures, and chest X Ray may identify alternative sites of infection particularly if the clinical picture suggests a syndrome other than gastroenteritis</a:t>
            </a:r>
          </a:p>
          <a:p>
            <a:pPr>
              <a:buFont typeface="Arial" panose="020B0604020202020204" pitchFamily="34" charset="0"/>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Uncharacterized persistent diarrhea: Sigmoidoscopy, colonoscopy, abdominal CT scan</a:t>
            </a:r>
          </a:p>
        </p:txBody>
      </p:sp>
      <p:sp>
        <p:nvSpPr>
          <p:cNvPr id="3" name="TextBox 2"/>
          <p:cNvSpPr txBox="1"/>
          <p:nvPr/>
        </p:nvSpPr>
        <p:spPr>
          <a:xfrm>
            <a:off x="457200" y="4495800"/>
            <a:ext cx="8229600" cy="1477328"/>
          </a:xfrm>
          <a:prstGeom prst="rect">
            <a:avLst/>
          </a:prstGeom>
          <a:solidFill>
            <a:schemeClr val="accent6"/>
          </a:solidFill>
        </p:spPr>
        <p:txBody>
          <a:bodyPr wrap="square" rtlCol="0">
            <a:spAutoFit/>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Shane, A. L., </a:t>
            </a:r>
            <a:r>
              <a:rPr lang="en-US" dirty="0" err="1">
                <a:solidFill>
                  <a:schemeClr val="bg2">
                    <a:lumMod val="10000"/>
                  </a:schemeClr>
                </a:solidFill>
                <a:latin typeface="Times New Roman" panose="02020603050405020304" pitchFamily="18" charset="0"/>
                <a:cs typeface="Times New Roman" panose="02020603050405020304" pitchFamily="18" charset="0"/>
              </a:rPr>
              <a:t>Mody</a:t>
            </a:r>
            <a:r>
              <a:rPr lang="en-US" dirty="0">
                <a:solidFill>
                  <a:schemeClr val="bg2">
                    <a:lumMod val="10000"/>
                  </a:schemeClr>
                </a:solidFill>
                <a:latin typeface="Times New Roman" panose="02020603050405020304" pitchFamily="18" charset="0"/>
                <a:cs typeface="Times New Roman" panose="02020603050405020304" pitchFamily="18" charset="0"/>
              </a:rPr>
              <a:t>, R. K., Crump, J. A., </a:t>
            </a:r>
            <a:r>
              <a:rPr lang="en-US" dirty="0" err="1">
                <a:solidFill>
                  <a:schemeClr val="bg2">
                    <a:lumMod val="10000"/>
                  </a:schemeClr>
                </a:solidFill>
                <a:latin typeface="Times New Roman" panose="02020603050405020304" pitchFamily="18" charset="0"/>
                <a:cs typeface="Times New Roman" panose="02020603050405020304" pitchFamily="18" charset="0"/>
              </a:rPr>
              <a:t>Tarr</a:t>
            </a:r>
            <a:r>
              <a:rPr lang="en-US" dirty="0">
                <a:solidFill>
                  <a:schemeClr val="bg2">
                    <a:lumMod val="10000"/>
                  </a:schemeClr>
                </a:solidFill>
                <a:latin typeface="Times New Roman" panose="02020603050405020304" pitchFamily="18" charset="0"/>
                <a:cs typeface="Times New Roman" panose="02020603050405020304" pitchFamily="18" charset="0"/>
              </a:rPr>
              <a:t>, P. I., Steiner, T. S., </a:t>
            </a:r>
            <a:r>
              <a:rPr lang="en-US" dirty="0" err="1">
                <a:solidFill>
                  <a:schemeClr val="bg2">
                    <a:lumMod val="10000"/>
                  </a:schemeClr>
                </a:solidFill>
                <a:latin typeface="Times New Roman" panose="02020603050405020304" pitchFamily="18" charset="0"/>
                <a:cs typeface="Times New Roman" panose="02020603050405020304" pitchFamily="18" charset="0"/>
              </a:rPr>
              <a:t>Kotloff</a:t>
            </a:r>
            <a:r>
              <a:rPr lang="en-US" dirty="0">
                <a:solidFill>
                  <a:schemeClr val="bg2">
                    <a:lumMod val="10000"/>
                  </a:schemeClr>
                </a:solidFill>
                <a:latin typeface="Times New Roman" panose="02020603050405020304" pitchFamily="18" charset="0"/>
                <a:cs typeface="Times New Roman" panose="02020603050405020304" pitchFamily="18" charset="0"/>
              </a:rPr>
              <a:t>, K., et at. 2017 Infectious Diseases Society of America Clinical Practice Guidelines for the Diagnosis and Management of Infectious Diarrhea. </a:t>
            </a:r>
            <a:r>
              <a:rPr lang="en-US" i="1" dirty="0">
                <a:solidFill>
                  <a:schemeClr val="bg2">
                    <a:lumMod val="10000"/>
                  </a:schemeClr>
                </a:solidFill>
                <a:latin typeface="Times New Roman" panose="02020603050405020304" pitchFamily="18" charset="0"/>
                <a:cs typeface="Times New Roman" panose="02020603050405020304" pitchFamily="18" charset="0"/>
              </a:rPr>
              <a:t>Clinical Infectious Diseases</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i="1" dirty="0">
                <a:solidFill>
                  <a:schemeClr val="bg2">
                    <a:lumMod val="10000"/>
                  </a:schemeClr>
                </a:solidFill>
                <a:latin typeface="Times New Roman" panose="02020603050405020304" pitchFamily="18" charset="0"/>
                <a:cs typeface="Times New Roman" panose="02020603050405020304" pitchFamily="18" charset="0"/>
              </a:rPr>
              <a:t>65</a:t>
            </a:r>
            <a:r>
              <a:rPr lang="en-US" dirty="0">
                <a:solidFill>
                  <a:schemeClr val="bg2">
                    <a:lumMod val="10000"/>
                  </a:schemeClr>
                </a:solidFill>
                <a:latin typeface="Times New Roman" panose="02020603050405020304" pitchFamily="18" charset="0"/>
                <a:cs typeface="Times New Roman" panose="02020603050405020304" pitchFamily="18" charset="0"/>
              </a:rPr>
              <a:t>(12), e45–e80. </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878681"/>
            <a:ext cx="9144000" cy="5100638"/>
          </a:xfrm>
          <a:prstGeom prst="rect">
            <a:avLst/>
          </a:prstGeom>
        </p:spPr>
      </p:pic>
      <p:sp>
        <p:nvSpPr>
          <p:cNvPr id="3" name="TextBox 2"/>
          <p:cNvSpPr txBox="1"/>
          <p:nvPr/>
        </p:nvSpPr>
        <p:spPr>
          <a:xfrm flipH="1">
            <a:off x="304798" y="6324600"/>
            <a:ext cx="8077201" cy="369332"/>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WHO </a:t>
            </a:r>
            <a:r>
              <a:rPr kumimoji="0" lang="en-US" sz="18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AWaRe</a:t>
            </a:r>
            <a:r>
              <a:rPr kumimoji="0" lang="en-US"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(Access, Watch, Reserve) Antibiotic Book</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2022)</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9563748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1" name="object 2"/>
          <p:cNvSpPr txBox="1">
            <a:spLocks noGrp="1"/>
          </p:cNvSpPr>
          <p:nvPr>
            <p:ph type="title"/>
          </p:nvPr>
        </p:nvSpPr>
        <p:spPr>
          <a:xfrm>
            <a:off x="457200" y="344015"/>
            <a:ext cx="8229600" cy="1004248"/>
          </a:xfrm>
          <a:prstGeom prst="rect">
            <a:avLst/>
          </a:prstGeom>
        </p:spPr>
        <p:txBody>
          <a:bodyPr vert="horz" wrap="square" lIns="0" tIns="491616" rIns="0" bIns="0" rtlCol="0">
            <a:spAutoFit/>
          </a:bodyPr>
          <a:lstStyle/>
          <a:p>
            <a:pPr marL="469900">
              <a:lnSpc>
                <a:spcPct val="100000"/>
              </a:lnSpc>
              <a:spcBef>
                <a:spcPts val="100"/>
              </a:spcBef>
            </a:pPr>
            <a:r>
              <a:rPr lang="en-US" b="1" spc="-50" dirty="0" smtClean="0">
                <a:solidFill>
                  <a:schemeClr val="bg2">
                    <a:lumMod val="10000"/>
                  </a:schemeClr>
                </a:solidFill>
                <a:latin typeface="Times New Roman" panose="02020603050405020304" pitchFamily="18" charset="0"/>
                <a:cs typeface="Times New Roman" panose="02020603050405020304" pitchFamily="18" charset="0"/>
              </a:rPr>
              <a:t>Indication of empirical </a:t>
            </a:r>
            <a:r>
              <a:rPr lang="en-US" b="1" spc="-50" dirty="0">
                <a:solidFill>
                  <a:schemeClr val="bg2">
                    <a:lumMod val="10000"/>
                  </a:schemeClr>
                </a:solidFill>
                <a:latin typeface="Times New Roman" panose="02020603050405020304" pitchFamily="18" charset="0"/>
                <a:cs typeface="Times New Roman" panose="02020603050405020304" pitchFamily="18" charset="0"/>
              </a:rPr>
              <a:t>a</a:t>
            </a:r>
            <a:r>
              <a:rPr b="1" spc="-50" dirty="0" smtClean="0">
                <a:solidFill>
                  <a:schemeClr val="bg2">
                    <a:lumMod val="10000"/>
                  </a:schemeClr>
                </a:solidFill>
                <a:latin typeface="Times New Roman" panose="02020603050405020304" pitchFamily="18" charset="0"/>
                <a:cs typeface="Times New Roman" panose="02020603050405020304" pitchFamily="18" charset="0"/>
              </a:rPr>
              <a:t>ntibiotic</a:t>
            </a:r>
            <a:r>
              <a:rPr b="1" spc="-210" dirty="0" smtClean="0">
                <a:solidFill>
                  <a:schemeClr val="bg2">
                    <a:lumMod val="10000"/>
                  </a:schemeClr>
                </a:solidFill>
                <a:latin typeface="Times New Roman" panose="02020603050405020304" pitchFamily="18" charset="0"/>
                <a:cs typeface="Times New Roman" panose="02020603050405020304" pitchFamily="18" charset="0"/>
              </a:rPr>
              <a:t> </a:t>
            </a:r>
            <a:r>
              <a:rPr b="1" spc="-25" dirty="0" smtClean="0">
                <a:solidFill>
                  <a:schemeClr val="bg2">
                    <a:lumMod val="10000"/>
                  </a:schemeClr>
                </a:solidFill>
                <a:latin typeface="Times New Roman" panose="02020603050405020304" pitchFamily="18" charset="0"/>
                <a:cs typeface="Times New Roman" panose="02020603050405020304" pitchFamily="18" charset="0"/>
              </a:rPr>
              <a:t>us</a:t>
            </a:r>
            <a:r>
              <a:rPr lang="en-US" b="1" spc="-25" dirty="0" smtClean="0">
                <a:solidFill>
                  <a:schemeClr val="bg2">
                    <a:lumMod val="10000"/>
                  </a:schemeClr>
                </a:solidFill>
                <a:latin typeface="Times New Roman" panose="02020603050405020304" pitchFamily="18" charset="0"/>
                <a:cs typeface="Times New Roman" panose="02020603050405020304" pitchFamily="18" charset="0"/>
              </a:rPr>
              <a:t>e</a:t>
            </a:r>
            <a:endParaRPr b="1" spc="-25"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702" name="object 3"/>
          <p:cNvSpPr txBox="1"/>
          <p:nvPr/>
        </p:nvSpPr>
        <p:spPr>
          <a:xfrm>
            <a:off x="146685" y="1540510"/>
            <a:ext cx="8950960" cy="5051425"/>
          </a:xfrm>
          <a:prstGeom prst="rect">
            <a:avLst/>
          </a:prstGeom>
        </p:spPr>
        <p:txBody>
          <a:bodyPr vert="horz" wrap="square" lIns="0" tIns="114935" rIns="0" bIns="0" rtlCol="0">
            <a:noAutofit/>
          </a:bodyPr>
          <a:lstStyle/>
          <a:p>
            <a:pPr marL="12700" marR="0" lvl="0" indent="0" algn="l" defTabSz="457200" rtl="0" eaLnBrk="1" fontAlgn="auto" latinLnBrk="0" hangingPunct="1">
              <a:lnSpc>
                <a:spcPct val="100000"/>
              </a:lnSpc>
              <a:spcBef>
                <a:spcPts val="905"/>
              </a:spcBef>
              <a:spcAft>
                <a:spcPts val="0"/>
              </a:spcAft>
              <a:buClr>
                <a:srgbClr val="EF7E09"/>
              </a:buClr>
              <a:buSzTx/>
              <a:buFontTx/>
              <a:buNone/>
              <a:tabLst>
                <a:tab pos="469265" algn="l"/>
              </a:tabLst>
              <a:defRPr/>
            </a:pPr>
            <a:r>
              <a:rPr kumimoji="0" sz="2800" b="0" i="0" u="none" strike="noStrike" kern="1200" cap="none" spc="-65"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a:t>
            </a:r>
            <a:r>
              <a:rPr kumimoji="0" sz="2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enerally</a:t>
            </a:r>
            <a:r>
              <a:rPr kumimoji="0" sz="2800" b="0" i="0" u="none" strike="noStrike" kern="1200" cap="none" spc="-75"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recommended</a:t>
            </a:r>
            <a:r>
              <a:rPr kumimoji="0" sz="2800" b="0" i="0" u="none" strike="noStrike" kern="1200" cap="none" spc="-8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2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in:</a:t>
            </a:r>
            <a:endPar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538480" marR="0" lvl="1" indent="-342900" algn="l" defTabSz="457200" rtl="0" eaLnBrk="1" fontAlgn="auto" latinLnBrk="0" hangingPunct="1">
              <a:lnSpc>
                <a:spcPct val="100000"/>
              </a:lnSpc>
              <a:spcBef>
                <a:spcPts val="820"/>
              </a:spcBef>
              <a:spcAft>
                <a:spcPts val="0"/>
              </a:spcAft>
              <a:buClr>
                <a:srgbClr val="EF7E09"/>
              </a:buClr>
              <a:buSzTx/>
              <a:buFont typeface="Arial" panose="020B0604020202020204" pitchFamily="34" charset="0"/>
              <a:buChar char="•"/>
              <a:tabLst>
                <a:tab pos="652145" algn="l"/>
              </a:tabLst>
              <a:defRPr/>
            </a:pPr>
            <a:r>
              <a:rPr kumimoji="0" sz="2800" b="0" i="0" u="none" strike="noStrike" kern="1200" cap="none" spc="-3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Traveler’s</a:t>
            </a:r>
            <a:r>
              <a:rPr kumimoji="0" sz="2800" b="0" i="0" u="none" strike="noStrike" kern="1200" cap="none" spc="-2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diarrhea</a:t>
            </a:r>
            <a:endPar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538480" marR="0" lvl="1" indent="-342900" algn="l" defTabSz="457200" rtl="0" eaLnBrk="1" fontAlgn="auto" latinLnBrk="0" hangingPunct="1">
              <a:lnSpc>
                <a:spcPct val="100000"/>
              </a:lnSpc>
              <a:spcBef>
                <a:spcPts val="805"/>
              </a:spcBef>
              <a:spcAft>
                <a:spcPts val="0"/>
              </a:spcAft>
              <a:buClr>
                <a:srgbClr val="EF7E09"/>
              </a:buClr>
              <a:buSzTx/>
              <a:buFont typeface="Arial" panose="020B0604020202020204" pitchFamily="34" charset="0"/>
              <a:buChar char="•"/>
              <a:tabLst>
                <a:tab pos="652145" algn="l"/>
              </a:tabLst>
              <a:defRPr/>
            </a:pPr>
            <a:r>
              <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Elderly</a:t>
            </a:r>
            <a:r>
              <a:rPr kumimoji="0" sz="2800" b="0" i="0" u="none" strike="noStrike" kern="1200" cap="none" spc="-2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and</a:t>
            </a:r>
            <a:r>
              <a:rPr kumimoji="0" sz="28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immune-compromised</a:t>
            </a:r>
            <a:endPar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538480" marR="0" lvl="1" indent="-342900" algn="l" defTabSz="457200" rtl="0" eaLnBrk="1" fontAlgn="auto" latinLnBrk="0" hangingPunct="1">
              <a:lnSpc>
                <a:spcPct val="100000"/>
              </a:lnSpc>
              <a:spcBef>
                <a:spcPts val="795"/>
              </a:spcBef>
              <a:spcAft>
                <a:spcPts val="0"/>
              </a:spcAft>
              <a:buClr>
                <a:srgbClr val="EF7E09"/>
              </a:buClr>
              <a:buSzTx/>
              <a:buFont typeface="Arial" panose="020B0604020202020204" pitchFamily="34" charset="0"/>
              <a:buChar char="•"/>
              <a:tabLst>
                <a:tab pos="652145" algn="l"/>
              </a:tabLst>
              <a:defRPr/>
            </a:pPr>
            <a:r>
              <a:rPr kumimoji="0" sz="28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Patients</a:t>
            </a:r>
            <a:r>
              <a:rPr kumimoji="0" sz="2800" b="0" i="0" u="none" strike="noStrike" kern="1200" cap="none" spc="-3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with</a:t>
            </a:r>
            <a:r>
              <a:rPr kumimoji="0" sz="2800" b="0" i="0" u="none" strike="noStrike" kern="1200" cap="none" spc="-4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prosthetic</a:t>
            </a:r>
            <a:r>
              <a:rPr kumimoji="0" sz="2800" b="0" i="0" u="none" strike="noStrike" kern="1200" cap="none" spc="-6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valves</a:t>
            </a:r>
            <a:r>
              <a:rPr kumimoji="0" sz="2800" b="0" i="0" u="none" strike="noStrike" kern="1200" cap="none" spc="-5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or</a:t>
            </a:r>
            <a:r>
              <a:rPr kumimoji="0" sz="2800" b="0" i="0" u="none" strike="noStrike" kern="1200" cap="none" spc="-6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synthetic</a:t>
            </a:r>
            <a:r>
              <a:rPr kumimoji="0" sz="2800" b="0" i="0" u="none" strike="noStrike" kern="1200" cap="none" spc="-5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vascular</a:t>
            </a:r>
            <a:r>
              <a:rPr kumimoji="0" sz="2800" b="0" i="0" u="none" strike="noStrike" kern="1200" cap="none" spc="-5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grafts</a:t>
            </a:r>
            <a:endParaRPr kumimoji="0"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58148742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878681"/>
            <a:ext cx="9144000" cy="5100638"/>
          </a:xfrm>
          <a:prstGeom prst="rect">
            <a:avLst/>
          </a:prstGeom>
        </p:spPr>
      </p:pic>
    </p:spTree>
    <p:extLst>
      <p:ext uri="{BB962C8B-B14F-4D97-AF65-F5344CB8AC3E}">
        <p14:creationId xmlns:p14="http://schemas.microsoft.com/office/powerpoint/2010/main" val="11849200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878681"/>
            <a:ext cx="9144000" cy="5100638"/>
          </a:xfrm>
          <a:prstGeom prst="rect">
            <a:avLst/>
          </a:prstGeom>
        </p:spPr>
      </p:pic>
    </p:spTree>
    <p:extLst>
      <p:ext uri="{BB962C8B-B14F-4D97-AF65-F5344CB8AC3E}">
        <p14:creationId xmlns:p14="http://schemas.microsoft.com/office/powerpoint/2010/main" val="30075732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10000"/>
                  </a:schemeClr>
                </a:solidFill>
                <a:latin typeface="Times New Roman" panose="02020603050405020304" pitchFamily="18" charset="0"/>
                <a:cs typeface="Times New Roman" panose="02020603050405020304" pitchFamily="18" charset="0"/>
              </a:rPr>
              <a:t>Role of Probiotics in Infectious diarrhea</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406400" marR="322580" indent="-343535">
              <a:lnSpc>
                <a:spcPct val="87000"/>
              </a:lnSpc>
              <a:spcBef>
                <a:spcPts val="2010"/>
              </a:spcBef>
              <a:buClr>
                <a:srgbClr val="EF7E09"/>
              </a:buClr>
              <a:buFont typeface="Symbol" panose="05050102010706020507"/>
              <a:buChar char=""/>
              <a:tabLst>
                <a:tab pos="406400" algn="l"/>
              </a:tabLst>
            </a:pPr>
            <a:r>
              <a:rPr lang="en-US" dirty="0">
                <a:solidFill>
                  <a:schemeClr val="bg2">
                    <a:lumMod val="10000"/>
                  </a:schemeClr>
                </a:solidFill>
                <a:latin typeface="Times New Roman" panose="02020603050405020304" pitchFamily="18" charset="0"/>
                <a:cs typeface="Times New Roman" panose="02020603050405020304" pitchFamily="18" charset="0"/>
              </a:rPr>
              <a:t>Probiotics may improve infectious </a:t>
            </a:r>
            <a:r>
              <a:rPr lang="en-US" dirty="0" err="1">
                <a:solidFill>
                  <a:schemeClr val="bg2">
                    <a:lumMod val="10000"/>
                  </a:schemeClr>
                </a:solidFill>
                <a:latin typeface="Times New Roman" panose="02020603050405020304" pitchFamily="18" charset="0"/>
                <a:cs typeface="Times New Roman" panose="02020603050405020304" pitchFamily="18" charset="0"/>
              </a:rPr>
              <a:t>diarrhoea</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dirty="0" smtClean="0">
                <a:solidFill>
                  <a:schemeClr val="bg2">
                    <a:lumMod val="10000"/>
                  </a:schemeClr>
                </a:solidFill>
                <a:latin typeface="Times New Roman" panose="02020603050405020304" pitchFamily="18" charset="0"/>
                <a:cs typeface="Times New Roman" panose="02020603050405020304" pitchFamily="18" charset="0"/>
              </a:rPr>
              <a:t>through:</a:t>
            </a:r>
          </a:p>
          <a:p>
            <a:pPr marL="405765" marR="322580" indent="-342900">
              <a:lnSpc>
                <a:spcPct val="87000"/>
              </a:lnSpc>
              <a:spcBef>
                <a:spcPts val="2010"/>
              </a:spcBef>
              <a:buClr>
                <a:srgbClr val="EF7E09"/>
              </a:buClr>
              <a:buFont typeface="Wingdings" panose="05000000000000000000" pitchFamily="2" charset="2"/>
              <a:buChar char="Ø"/>
              <a:tabLst>
                <a:tab pos="406400" algn="l"/>
              </a:tabLst>
            </a:pPr>
            <a:r>
              <a:rPr lang="en-US" dirty="0">
                <a:solidFill>
                  <a:schemeClr val="bg2">
                    <a:lumMod val="10000"/>
                  </a:schemeClr>
                </a:solidFill>
                <a:latin typeface="Times New Roman" panose="02020603050405020304" pitchFamily="18" charset="0"/>
                <a:cs typeface="Times New Roman" panose="02020603050405020304" pitchFamily="18" charset="0"/>
              </a:rPr>
              <a:t>C</a:t>
            </a:r>
            <a:r>
              <a:rPr lang="en-US" dirty="0" smtClean="0">
                <a:solidFill>
                  <a:schemeClr val="bg2">
                    <a:lumMod val="10000"/>
                  </a:schemeClr>
                </a:solidFill>
                <a:latin typeface="Times New Roman" panose="02020603050405020304" pitchFamily="18" charset="0"/>
                <a:cs typeface="Times New Roman" panose="02020603050405020304" pitchFamily="18" charset="0"/>
              </a:rPr>
              <a:t>ompetition </a:t>
            </a:r>
            <a:r>
              <a:rPr lang="en-US" dirty="0">
                <a:solidFill>
                  <a:schemeClr val="bg2">
                    <a:lumMod val="10000"/>
                  </a:schemeClr>
                </a:solidFill>
                <a:latin typeface="Times New Roman" panose="02020603050405020304" pitchFamily="18" charset="0"/>
                <a:cs typeface="Times New Roman" panose="02020603050405020304" pitchFamily="18" charset="0"/>
              </a:rPr>
              <a:t>for nutrients and binding sites within the </a:t>
            </a:r>
            <a:r>
              <a:rPr lang="en-US" dirty="0" smtClean="0">
                <a:solidFill>
                  <a:schemeClr val="bg2">
                    <a:lumMod val="10000"/>
                  </a:schemeClr>
                </a:solidFill>
                <a:latin typeface="Times New Roman" panose="02020603050405020304" pitchFamily="18" charset="0"/>
                <a:cs typeface="Times New Roman" panose="02020603050405020304" pitchFamily="18" charset="0"/>
              </a:rPr>
              <a:t>gut</a:t>
            </a:r>
          </a:p>
          <a:p>
            <a:pPr marL="405765" marR="322580" indent="-342900">
              <a:lnSpc>
                <a:spcPct val="87000"/>
              </a:lnSpc>
              <a:spcBef>
                <a:spcPts val="2010"/>
              </a:spcBef>
              <a:buClr>
                <a:srgbClr val="EF7E09"/>
              </a:buClr>
              <a:buFont typeface="Wingdings" panose="05000000000000000000" pitchFamily="2" charset="2"/>
              <a:buChar char="Ø"/>
              <a:tabLst>
                <a:tab pos="406400" algn="l"/>
              </a:tabLst>
            </a:pPr>
            <a:r>
              <a:rPr lang="en-US" dirty="0" smtClean="0">
                <a:solidFill>
                  <a:schemeClr val="bg2">
                    <a:lumMod val="10000"/>
                  </a:schemeClr>
                </a:solidFill>
                <a:latin typeface="Times New Roman" panose="02020603050405020304" pitchFamily="18" charset="0"/>
                <a:cs typeface="Times New Roman" panose="02020603050405020304" pitchFamily="18" charset="0"/>
              </a:rPr>
              <a:t>Production of </a:t>
            </a:r>
            <a:r>
              <a:rPr lang="en-US" dirty="0">
                <a:solidFill>
                  <a:schemeClr val="bg2">
                    <a:lumMod val="10000"/>
                  </a:schemeClr>
                </a:solidFill>
                <a:latin typeface="Times New Roman" panose="02020603050405020304" pitchFamily="18" charset="0"/>
                <a:cs typeface="Times New Roman" panose="02020603050405020304" pitchFamily="18" charset="0"/>
              </a:rPr>
              <a:t>substances such as </a:t>
            </a:r>
            <a:r>
              <a:rPr lang="en-US" dirty="0" err="1">
                <a:solidFill>
                  <a:schemeClr val="bg2">
                    <a:lumMod val="10000"/>
                  </a:schemeClr>
                </a:solidFill>
                <a:latin typeface="Times New Roman" panose="02020603050405020304" pitchFamily="18" charset="0"/>
                <a:cs typeface="Times New Roman" panose="02020603050405020304" pitchFamily="18" charset="0"/>
              </a:rPr>
              <a:t>bacteriocins</a:t>
            </a:r>
            <a:r>
              <a:rPr lang="en-US" dirty="0">
                <a:solidFill>
                  <a:schemeClr val="bg2">
                    <a:lumMod val="10000"/>
                  </a:schemeClr>
                </a:solidFill>
                <a:latin typeface="Times New Roman" panose="02020603050405020304" pitchFamily="18" charset="0"/>
                <a:cs typeface="Times New Roman" panose="02020603050405020304" pitchFamily="18" charset="0"/>
              </a:rPr>
              <a:t> and organic acids, and neutralizing bacterial </a:t>
            </a:r>
            <a:r>
              <a:rPr lang="en-US" dirty="0" smtClean="0">
                <a:solidFill>
                  <a:schemeClr val="bg2">
                    <a:lumMod val="10000"/>
                  </a:schemeClr>
                </a:solidFill>
                <a:latin typeface="Times New Roman" panose="02020603050405020304" pitchFamily="18" charset="0"/>
                <a:cs typeface="Times New Roman" panose="02020603050405020304" pitchFamily="18" charset="0"/>
              </a:rPr>
              <a:t>toxins</a:t>
            </a:r>
          </a:p>
          <a:p>
            <a:pPr marL="405765" marR="322580" indent="-342900">
              <a:lnSpc>
                <a:spcPct val="87000"/>
              </a:lnSpc>
              <a:spcBef>
                <a:spcPts val="2010"/>
              </a:spcBef>
              <a:buClr>
                <a:srgbClr val="EF7E09"/>
              </a:buClr>
              <a:buFont typeface="Wingdings" panose="05000000000000000000" pitchFamily="2" charset="2"/>
              <a:buChar char="Ø"/>
              <a:tabLst>
                <a:tab pos="406400" algn="l"/>
              </a:tabLst>
            </a:pPr>
            <a:r>
              <a:rPr lang="en-US" dirty="0" smtClean="0">
                <a:solidFill>
                  <a:schemeClr val="bg2">
                    <a:lumMod val="10000"/>
                  </a:schemeClr>
                </a:solidFill>
                <a:latin typeface="Times New Roman" panose="02020603050405020304" pitchFamily="18" charset="0"/>
                <a:cs typeface="Times New Roman" panose="02020603050405020304" pitchFamily="18" charset="0"/>
              </a:rPr>
              <a:t>Stimulation </a:t>
            </a:r>
            <a:r>
              <a:rPr lang="en-US" dirty="0">
                <a:solidFill>
                  <a:schemeClr val="bg2">
                    <a:lumMod val="10000"/>
                  </a:schemeClr>
                </a:solidFill>
                <a:latin typeface="Times New Roman" panose="02020603050405020304" pitchFamily="18" charset="0"/>
                <a:cs typeface="Times New Roman" panose="02020603050405020304" pitchFamily="18" charset="0"/>
              </a:rPr>
              <a:t>of mucosal immune responses and reduction of intestinal inflammation and permeability</a:t>
            </a:r>
            <a:endParaRPr lang="en-US" spc="-25"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04800" y="5029200"/>
            <a:ext cx="8077200" cy="1200329"/>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Guarner F, Khan AG,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Garisch</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J,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Eliakim</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R,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Gangl</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 Thompson A, et al. World Gastroenterology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Organisation</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global guidelines: probiotics and prebiotics. Journal of Clinical Gastroenterology </a:t>
            </a:r>
            <a:endPar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288982785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10000"/>
                  </a:schemeClr>
                </a:solidFill>
                <a:latin typeface="Times New Roman" panose="02020603050405020304" pitchFamily="18" charset="0"/>
                <a:cs typeface="Times New Roman" panose="02020603050405020304" pitchFamily="18" charset="0"/>
              </a:rPr>
              <a:t>Evidence on the use of Probiotics-1</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551672"/>
            <a:ext cx="8229600" cy="4525963"/>
          </a:xfrm>
        </p:spPr>
        <p:txBody>
          <a:bodyPr/>
          <a:lstStyle/>
          <a:p>
            <a:r>
              <a:rPr lang="en-US" dirty="0" smtClean="0">
                <a:solidFill>
                  <a:schemeClr val="bg2">
                    <a:lumMod val="10000"/>
                  </a:schemeClr>
                </a:solidFill>
                <a:latin typeface="Times New Roman" panose="02020603050405020304" pitchFamily="18" charset="0"/>
                <a:cs typeface="Times New Roman" panose="02020603050405020304" pitchFamily="18" charset="0"/>
              </a:rPr>
              <a:t>Probiotics </a:t>
            </a:r>
            <a:r>
              <a:rPr lang="en-US" dirty="0">
                <a:solidFill>
                  <a:schemeClr val="bg2">
                    <a:lumMod val="10000"/>
                  </a:schemeClr>
                </a:solidFill>
                <a:latin typeface="Times New Roman" panose="02020603050405020304" pitchFamily="18" charset="0"/>
                <a:cs typeface="Times New Roman" panose="02020603050405020304" pitchFamily="18" charset="0"/>
              </a:rPr>
              <a:t>make little or no difference to the number of people who have </a:t>
            </a:r>
            <a:r>
              <a:rPr lang="en-US" dirty="0" err="1">
                <a:solidFill>
                  <a:schemeClr val="bg2">
                    <a:lumMod val="10000"/>
                  </a:schemeClr>
                </a:solidFill>
                <a:latin typeface="Times New Roman" panose="02020603050405020304" pitchFamily="18" charset="0"/>
                <a:cs typeface="Times New Roman" panose="02020603050405020304" pitchFamily="18" charset="0"/>
              </a:rPr>
              <a:t>diarrhoea</a:t>
            </a:r>
            <a:r>
              <a:rPr lang="en-US" dirty="0">
                <a:solidFill>
                  <a:schemeClr val="bg2">
                    <a:lumMod val="10000"/>
                  </a:schemeClr>
                </a:solidFill>
                <a:latin typeface="Times New Roman" panose="02020603050405020304" pitchFamily="18" charset="0"/>
                <a:cs typeface="Times New Roman" panose="02020603050405020304" pitchFamily="18" charset="0"/>
              </a:rPr>
              <a:t> lasting 48 hours or </a:t>
            </a:r>
            <a:r>
              <a:rPr lang="en-US" dirty="0" smtClean="0">
                <a:solidFill>
                  <a:schemeClr val="bg2">
                    <a:lumMod val="10000"/>
                  </a:schemeClr>
                </a:solidFill>
                <a:latin typeface="Times New Roman" panose="02020603050405020304" pitchFamily="18" charset="0"/>
                <a:cs typeface="Times New Roman" panose="02020603050405020304" pitchFamily="18" charset="0"/>
              </a:rPr>
              <a:t>longer</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Uncertain that probiotics </a:t>
            </a:r>
            <a:r>
              <a:rPr lang="en-US" dirty="0">
                <a:solidFill>
                  <a:schemeClr val="bg2">
                    <a:lumMod val="10000"/>
                  </a:schemeClr>
                </a:solidFill>
                <a:latin typeface="Times New Roman" panose="02020603050405020304" pitchFamily="18" charset="0"/>
                <a:cs typeface="Times New Roman" panose="02020603050405020304" pitchFamily="18" charset="0"/>
              </a:rPr>
              <a:t>reduce the duration of </a:t>
            </a:r>
            <a:r>
              <a:rPr lang="en-US" dirty="0" err="1">
                <a:solidFill>
                  <a:schemeClr val="bg2">
                    <a:lumMod val="10000"/>
                  </a:schemeClr>
                </a:solidFill>
                <a:latin typeface="Times New Roman" panose="02020603050405020304" pitchFamily="18" charset="0"/>
                <a:cs typeface="Times New Roman" panose="02020603050405020304" pitchFamily="18" charset="0"/>
              </a:rPr>
              <a:t>diarrhoea</a:t>
            </a:r>
            <a:r>
              <a:rPr lang="en-US" dirty="0">
                <a:solidFill>
                  <a:schemeClr val="bg2">
                    <a:lumMod val="10000"/>
                  </a:schemeClr>
                </a:solidFill>
                <a:latin typeface="Times New Roman" panose="02020603050405020304" pitchFamily="18" charset="0"/>
                <a:cs typeface="Times New Roman" panose="02020603050405020304" pitchFamily="18" charset="0"/>
              </a:rPr>
              <a:t>. </a:t>
            </a:r>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endParaRPr lang="en-US" dirty="0">
              <a:solidFill>
                <a:schemeClr val="bg2">
                  <a:lumMod val="10000"/>
                </a:schemeClr>
              </a:solidFill>
            </a:endParaRPr>
          </a:p>
        </p:txBody>
      </p:sp>
      <p:sp>
        <p:nvSpPr>
          <p:cNvPr id="6" name="TextBox 5"/>
          <p:cNvSpPr txBox="1"/>
          <p:nvPr/>
        </p:nvSpPr>
        <p:spPr>
          <a:xfrm>
            <a:off x="11963400" y="3276600"/>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
        <p:nvSpPr>
          <p:cNvPr id="8" name="TextBox 7"/>
          <p:cNvSpPr txBox="1"/>
          <p:nvPr/>
        </p:nvSpPr>
        <p:spPr>
          <a:xfrm>
            <a:off x="457200" y="3810000"/>
            <a:ext cx="7924800" cy="923330"/>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Collinson, S., et al. (2020). Probiotics for treating acute infectious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diarrhoea</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1"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Cochrane </a:t>
            </a:r>
            <a:r>
              <a:rPr kumimoji="0" lang="en-US" sz="1800" b="0" i="1" u="none" strike="noStrike" kern="1200" cap="none" spc="0" normalizeH="0" baseline="0" noProof="0" dirty="0" err="1"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Databaseof</a:t>
            </a:r>
            <a:r>
              <a:rPr kumimoji="0" lang="en-US" sz="1800" b="0" i="1"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SystematicReviews</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r>
              <a:rPr kumimoji="0" lang="en-US" sz="1800" b="0" i="1"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2020</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(12</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211185418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Evidence on the use of </a:t>
            </a:r>
            <a:r>
              <a:rPr lang="en-US" dirty="0" smtClean="0">
                <a:solidFill>
                  <a:schemeClr val="bg2">
                    <a:lumMod val="10000"/>
                  </a:schemeClr>
                </a:solidFill>
                <a:latin typeface="Times New Roman" panose="02020603050405020304" pitchFamily="18" charset="0"/>
                <a:cs typeface="Times New Roman" panose="02020603050405020304" pitchFamily="18" charset="0"/>
              </a:rPr>
              <a:t>Probiotics-2</a:t>
            </a:r>
            <a:endParaRPr lang="en-US" dirty="0">
              <a:solidFill>
                <a:schemeClr val="bg2">
                  <a:lumMod val="10000"/>
                </a:schemeClr>
              </a:solidFill>
            </a:endParaRPr>
          </a:p>
        </p:txBody>
      </p:sp>
      <p:sp>
        <p:nvSpPr>
          <p:cNvPr id="3" name="Content Placeholder 2"/>
          <p:cNvSpPr>
            <a:spLocks noGrp="1"/>
          </p:cNvSpPr>
          <p:nvPr>
            <p:ph idx="1"/>
          </p:nvPr>
        </p:nvSpPr>
        <p:spPr/>
        <p:txBody>
          <a:bodyPr/>
          <a:lstStyle/>
          <a:p>
            <a:r>
              <a:rPr lang="en-US" dirty="0" smtClean="0">
                <a:solidFill>
                  <a:schemeClr val="bg2">
                    <a:lumMod val="10000"/>
                  </a:schemeClr>
                </a:solidFill>
              </a:rPr>
              <a:t>Probiotics are:</a:t>
            </a:r>
          </a:p>
          <a:p>
            <a:pPr>
              <a:buFont typeface="Wingdings" panose="05000000000000000000" pitchFamily="2" charset="2"/>
              <a:buChar char="Ø"/>
            </a:pPr>
            <a:r>
              <a:rPr lang="en-US" dirty="0" smtClean="0">
                <a:solidFill>
                  <a:schemeClr val="bg2">
                    <a:lumMod val="10000"/>
                  </a:schemeClr>
                </a:solidFill>
              </a:rPr>
              <a:t>Safe for short or long time administration</a:t>
            </a:r>
          </a:p>
          <a:p>
            <a:pPr>
              <a:buFont typeface="Wingdings" panose="05000000000000000000" pitchFamily="2" charset="2"/>
              <a:buChar char="Ø"/>
            </a:pPr>
            <a:r>
              <a:rPr lang="en-US" dirty="0">
                <a:solidFill>
                  <a:schemeClr val="bg2">
                    <a:lumMod val="10000"/>
                  </a:schemeClr>
                </a:solidFill>
              </a:rPr>
              <a:t>S</a:t>
            </a:r>
            <a:r>
              <a:rPr lang="en-US" dirty="0" smtClean="0">
                <a:solidFill>
                  <a:schemeClr val="bg2">
                    <a:lumMod val="10000"/>
                  </a:schemeClr>
                </a:solidFill>
              </a:rPr>
              <a:t>hown to demonstrate </a:t>
            </a:r>
            <a:r>
              <a:rPr lang="en-US" dirty="0">
                <a:solidFill>
                  <a:schemeClr val="bg2">
                    <a:lumMod val="10000"/>
                  </a:schemeClr>
                </a:solidFill>
              </a:rPr>
              <a:t>a mixed effect </a:t>
            </a:r>
            <a:r>
              <a:rPr lang="en-US" dirty="0" smtClean="0">
                <a:solidFill>
                  <a:schemeClr val="bg2">
                    <a:lumMod val="10000"/>
                  </a:schemeClr>
                </a:solidFill>
              </a:rPr>
              <a:t>of </a:t>
            </a:r>
            <a:r>
              <a:rPr lang="en-US" dirty="0">
                <a:solidFill>
                  <a:schemeClr val="bg2">
                    <a:lumMod val="10000"/>
                  </a:schemeClr>
                </a:solidFill>
              </a:rPr>
              <a:t>therapy in gastroenteritis in </a:t>
            </a:r>
            <a:r>
              <a:rPr lang="en-US" dirty="0" smtClean="0">
                <a:solidFill>
                  <a:schemeClr val="bg2">
                    <a:lumMod val="10000"/>
                  </a:schemeClr>
                </a:solidFill>
              </a:rPr>
              <a:t>adults.</a:t>
            </a:r>
          </a:p>
          <a:p>
            <a:pPr>
              <a:buFont typeface="Wingdings" panose="05000000000000000000" pitchFamily="2" charset="2"/>
              <a:buChar char="Ø"/>
            </a:pPr>
            <a:r>
              <a:rPr lang="en-US" dirty="0">
                <a:solidFill>
                  <a:schemeClr val="bg2">
                    <a:lumMod val="10000"/>
                  </a:schemeClr>
                </a:solidFill>
              </a:rPr>
              <a:t>E</a:t>
            </a:r>
            <a:r>
              <a:rPr lang="en-US" dirty="0" smtClean="0">
                <a:solidFill>
                  <a:schemeClr val="bg2">
                    <a:lumMod val="10000"/>
                  </a:schemeClr>
                </a:solidFill>
              </a:rPr>
              <a:t>ffective </a:t>
            </a:r>
            <a:r>
              <a:rPr lang="en-US" dirty="0">
                <a:solidFill>
                  <a:schemeClr val="bg2">
                    <a:lumMod val="10000"/>
                  </a:schemeClr>
                </a:solidFill>
              </a:rPr>
              <a:t>in treating and reducing relapses of chronic inflammatory gastrointestinal conditions in most </a:t>
            </a:r>
            <a:r>
              <a:rPr lang="en-US" dirty="0" smtClean="0">
                <a:solidFill>
                  <a:schemeClr val="bg2">
                    <a:lumMod val="10000"/>
                  </a:schemeClr>
                </a:solidFill>
              </a:rPr>
              <a:t>adults about 78%</a:t>
            </a:r>
          </a:p>
          <a:p>
            <a:pPr>
              <a:buFont typeface="Wingdings" panose="05000000000000000000" pitchFamily="2" charset="2"/>
              <a:buChar char="Ø"/>
            </a:pPr>
            <a:r>
              <a:rPr lang="en-US" dirty="0" smtClean="0">
                <a:solidFill>
                  <a:schemeClr val="bg2">
                    <a:lumMod val="10000"/>
                  </a:schemeClr>
                </a:solidFill>
              </a:rPr>
              <a:t>Shown to be </a:t>
            </a:r>
            <a:r>
              <a:rPr lang="en-US" dirty="0">
                <a:solidFill>
                  <a:schemeClr val="bg2">
                    <a:lumMod val="10000"/>
                  </a:schemeClr>
                </a:solidFill>
              </a:rPr>
              <a:t>ineffective in about 20% of patients</a:t>
            </a:r>
          </a:p>
        </p:txBody>
      </p:sp>
      <p:sp>
        <p:nvSpPr>
          <p:cNvPr id="6" name="TextBox 5"/>
          <p:cNvSpPr txBox="1"/>
          <p:nvPr/>
        </p:nvSpPr>
        <p:spPr>
          <a:xfrm>
            <a:off x="304800" y="5181600"/>
            <a:ext cx="8001000" cy="1200329"/>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Mitra</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 K.,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Asala</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 F., Malone, S., &amp;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Mridha</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M. K. (2023). Effects of Probiotics in Adults with Gastroenteritis: A Systematic Review and Meta-Analysis of Clinical Trials.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Diseases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11</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(4), 138</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endPar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309064164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878681"/>
            <a:ext cx="9144000" cy="5100638"/>
          </a:xfrm>
          <a:prstGeom prst="rect">
            <a:avLst/>
          </a:prstGeom>
        </p:spPr>
      </p:pic>
      <p:sp>
        <p:nvSpPr>
          <p:cNvPr id="4" name="TextBox 3"/>
          <p:cNvSpPr txBox="1"/>
          <p:nvPr/>
        </p:nvSpPr>
        <p:spPr>
          <a:xfrm>
            <a:off x="152400" y="5979319"/>
            <a:ext cx="8839200" cy="646331"/>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WHO operational guide on </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water, sanitation and hygiene and infection prevention and </a:t>
            </a:r>
            <a:r>
              <a:rPr kumimoji="0" 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control measures </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for infectious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diarrhoea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in health-care settings, 2024</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800624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105835"/>
            <a:ext cx="8610600" cy="58477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CLOSTRIDIUM DEFFICILE INFECTION (CDI)</a:t>
            </a:r>
          </a:p>
        </p:txBody>
      </p:sp>
    </p:spTree>
    <p:extLst>
      <p:ext uri="{BB962C8B-B14F-4D97-AF65-F5344CB8AC3E}">
        <p14:creationId xmlns:p14="http://schemas.microsoft.com/office/powerpoint/2010/main" val="131094465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object 2"/>
          <p:cNvSpPr txBox="1">
            <a:spLocks noGrp="1"/>
          </p:cNvSpPr>
          <p:nvPr>
            <p:ph type="title"/>
          </p:nvPr>
        </p:nvSpPr>
        <p:spPr>
          <a:xfrm>
            <a:off x="457200" y="90099"/>
            <a:ext cx="8229600" cy="1512080"/>
          </a:xfrm>
          <a:prstGeom prst="rect">
            <a:avLst/>
          </a:prstGeom>
        </p:spPr>
        <p:txBody>
          <a:bodyPr vert="horz" wrap="square" lIns="0" tIns="491616" rIns="0" bIns="0" rtlCol="0">
            <a:spAutoFit/>
          </a:bodyPr>
          <a:lstStyle/>
          <a:p>
            <a:pPr marL="469900">
              <a:lnSpc>
                <a:spcPct val="100000"/>
              </a:lnSpc>
              <a:spcBef>
                <a:spcPts val="100"/>
              </a:spcBef>
            </a:pPr>
            <a:r>
              <a:rPr b="1" spc="-60" dirty="0">
                <a:solidFill>
                  <a:schemeClr val="bg2">
                    <a:lumMod val="10000"/>
                  </a:schemeClr>
                </a:solidFill>
                <a:latin typeface="Times New Roman" panose="02020603050405020304" pitchFamily="18" charset="0"/>
                <a:cs typeface="Times New Roman" panose="02020603050405020304" pitchFamily="18" charset="0"/>
              </a:rPr>
              <a:t>General</a:t>
            </a:r>
            <a:r>
              <a:rPr b="1" spc="-215" dirty="0">
                <a:solidFill>
                  <a:schemeClr val="bg2">
                    <a:lumMod val="10000"/>
                  </a:schemeClr>
                </a:solidFill>
                <a:latin typeface="Times New Roman" panose="02020603050405020304" pitchFamily="18" charset="0"/>
                <a:cs typeface="Times New Roman" panose="02020603050405020304" pitchFamily="18" charset="0"/>
              </a:rPr>
              <a:t> </a:t>
            </a:r>
            <a:r>
              <a:rPr b="1" spc="-30" dirty="0" smtClean="0">
                <a:solidFill>
                  <a:schemeClr val="bg2">
                    <a:lumMod val="10000"/>
                  </a:schemeClr>
                </a:solidFill>
                <a:latin typeface="Times New Roman" panose="02020603050405020304" pitchFamily="18" charset="0"/>
                <a:cs typeface="Times New Roman" panose="02020603050405020304" pitchFamily="18" charset="0"/>
              </a:rPr>
              <a:t>concept</a:t>
            </a:r>
            <a:r>
              <a:rPr lang="en-US" b="1" spc="-30" dirty="0" smtClean="0">
                <a:solidFill>
                  <a:schemeClr val="bg2">
                    <a:lumMod val="10000"/>
                  </a:schemeClr>
                </a:solidFill>
                <a:latin typeface="Times New Roman" panose="02020603050405020304" pitchFamily="18" charset="0"/>
                <a:cs typeface="Times New Roman" panose="02020603050405020304" pitchFamily="18" charset="0"/>
              </a:rPr>
              <a:t/>
            </a:r>
            <a:br>
              <a:rPr lang="en-US" b="1" spc="-30" dirty="0" smtClean="0">
                <a:solidFill>
                  <a:schemeClr val="bg2">
                    <a:lumMod val="10000"/>
                  </a:schemeClr>
                </a:solidFill>
                <a:latin typeface="Times New Roman" panose="02020603050405020304" pitchFamily="18" charset="0"/>
                <a:cs typeface="Times New Roman" panose="02020603050405020304" pitchFamily="18" charset="0"/>
              </a:rPr>
            </a:br>
            <a:r>
              <a:rPr lang="en-US" b="1" spc="-30" dirty="0" smtClean="0">
                <a:solidFill>
                  <a:schemeClr val="bg2">
                    <a:lumMod val="10000"/>
                  </a:schemeClr>
                </a:solidFill>
                <a:latin typeface="Times New Roman" panose="02020603050405020304" pitchFamily="18" charset="0"/>
                <a:cs typeface="Times New Roman" panose="02020603050405020304" pitchFamily="18" charset="0"/>
              </a:rPr>
              <a:t>Antibiotic-induced diarrhea</a:t>
            </a:r>
            <a:endParaRPr b="1" spc="-30"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713" name="object 3"/>
          <p:cNvSpPr txBox="1"/>
          <p:nvPr/>
        </p:nvSpPr>
        <p:spPr>
          <a:xfrm>
            <a:off x="4002023" y="1982723"/>
            <a:ext cx="1499870" cy="308418"/>
          </a:xfrm>
          <a:prstGeom prst="rect">
            <a:avLst/>
          </a:prstGeom>
          <a:solidFill>
            <a:srgbClr val="FCE4CD"/>
          </a:solidFill>
          <a:ln w="9144">
            <a:solidFill>
              <a:srgbClr val="EF7E09"/>
            </a:solidFill>
          </a:ln>
        </p:spPr>
        <p:txBody>
          <a:bodyPr vert="horz" wrap="square" lIns="0" tIns="31115" rIns="0" bIns="0" rtlCol="0">
            <a:spAutoFit/>
          </a:bodyPr>
          <a:lstStyle/>
          <a:p>
            <a:pPr marL="92075" marR="0" lvl="0" indent="0" algn="l" defTabSz="457200" rtl="0" eaLnBrk="1" fontAlgn="auto" latinLnBrk="0" hangingPunct="1">
              <a:lnSpc>
                <a:spcPct val="100000"/>
              </a:lnSpc>
              <a:spcBef>
                <a:spcPts val="245"/>
              </a:spcBef>
              <a:spcAft>
                <a:spcPts val="0"/>
              </a:spcAft>
              <a:buClrTx/>
              <a:buSzTx/>
              <a:buFontTx/>
              <a:buNone/>
              <a:tabLst/>
              <a:defRPr/>
            </a:pPr>
            <a:r>
              <a:rPr kumimoji="0" sz="1800" b="1"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Antibiotic</a:t>
            </a:r>
            <a:r>
              <a:rPr kumimoji="0" sz="1800" b="1" i="0" u="none" strike="noStrike" kern="1200" cap="none" spc="-6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1" i="0" u="none" strike="noStrike" kern="1200" cap="none" spc="-25"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use</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
        <p:nvSpPr>
          <p:cNvPr id="1048714" name="object 4"/>
          <p:cNvSpPr txBox="1"/>
          <p:nvPr/>
        </p:nvSpPr>
        <p:spPr>
          <a:xfrm>
            <a:off x="3936491" y="2711195"/>
            <a:ext cx="1602105" cy="309059"/>
          </a:xfrm>
          <a:prstGeom prst="rect">
            <a:avLst/>
          </a:prstGeom>
          <a:solidFill>
            <a:srgbClr val="FCE4CD"/>
          </a:solidFill>
          <a:ln w="9144">
            <a:solidFill>
              <a:srgbClr val="EF7E09"/>
            </a:solidFill>
          </a:ln>
        </p:spPr>
        <p:txBody>
          <a:bodyPr vert="horz" wrap="square" lIns="0" tIns="31750" rIns="0" bIns="0" rtlCol="0">
            <a:spAutoFit/>
          </a:bodyPr>
          <a:lstStyle/>
          <a:p>
            <a:pPr marL="92075" marR="0" lvl="0" indent="0" algn="l" defTabSz="457200" rtl="0" eaLnBrk="1" fontAlgn="auto" latinLnBrk="0" hangingPunct="1">
              <a:lnSpc>
                <a:spcPct val="100000"/>
              </a:lnSpc>
              <a:spcBef>
                <a:spcPts val="250"/>
              </a:spcBef>
              <a:spcAft>
                <a:spcPts val="0"/>
              </a:spcAft>
              <a:buClrTx/>
              <a:buSzTx/>
              <a:buFontTx/>
              <a:buNone/>
              <a:tabLst/>
              <a:defRPr/>
            </a:pP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a:t>
            </a:r>
            <a:r>
              <a:rPr kumimoji="0" sz="1800" b="0" i="0" u="none" strike="noStrike" kern="1200" cap="none" spc="-1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normal</a:t>
            </a:r>
            <a:r>
              <a:rPr kumimoji="0" sz="1800" b="0" i="0" u="none" strike="noStrike" kern="1200" cap="none" spc="-5"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2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flora</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
        <p:nvSpPr>
          <p:cNvPr id="1048715" name="object 5"/>
          <p:cNvSpPr txBox="1"/>
          <p:nvPr/>
        </p:nvSpPr>
        <p:spPr>
          <a:xfrm>
            <a:off x="632650" y="3611753"/>
            <a:ext cx="3131820" cy="308418"/>
          </a:xfrm>
          <a:prstGeom prst="rect">
            <a:avLst/>
          </a:prstGeom>
          <a:solidFill>
            <a:srgbClr val="C4E0F1"/>
          </a:solidFill>
          <a:ln w="9144">
            <a:solidFill>
              <a:srgbClr val="EF7E09"/>
            </a:solidFill>
          </a:ln>
        </p:spPr>
        <p:txBody>
          <a:bodyPr vert="horz" wrap="square" lIns="0" tIns="31115" rIns="0" bIns="0" rtlCol="0">
            <a:spAutoFit/>
          </a:bodyPr>
          <a:lstStyle/>
          <a:p>
            <a:pPr marL="91440" marR="0" lvl="0" indent="0" algn="l" defTabSz="457200" rtl="0" eaLnBrk="1" fontAlgn="auto" latinLnBrk="0" hangingPunct="1">
              <a:lnSpc>
                <a:spcPct val="100000"/>
              </a:lnSpc>
              <a:spcBef>
                <a:spcPts val="245"/>
              </a:spcBef>
              <a:spcAft>
                <a:spcPts val="0"/>
              </a:spcAft>
              <a:buClrTx/>
              <a:buSzTx/>
              <a:buFontTx/>
              <a:buNone/>
              <a:tabLst/>
              <a:defRPr/>
            </a:pPr>
            <a:r>
              <a:rPr kumimoji="0" sz="1800" b="0" i="0" u="none" strike="noStrike" kern="1200" cap="none" spc="0" normalizeH="0" baseline="0" noProof="0" dirty="0">
                <a:ln>
                  <a:noFill/>
                </a:ln>
                <a:solidFill>
                  <a:srgbClr val="32A9E5"/>
                </a:solidFill>
                <a:effectLst/>
                <a:uLnTx/>
                <a:uFillTx/>
                <a:latin typeface="Calibri" panose="020F0502020204030204"/>
                <a:ea typeface="+mn-ea"/>
                <a:cs typeface="Calibri" panose="020F0502020204030204"/>
              </a:rPr>
              <a:t>↓</a:t>
            </a:r>
            <a:r>
              <a:rPr kumimoji="0" sz="1800" b="0" i="0" u="none" strike="noStrike" kern="1200" cap="none" spc="-30" normalizeH="0" baseline="0" noProof="0" dirty="0">
                <a:ln>
                  <a:noFill/>
                </a:ln>
                <a:solidFill>
                  <a:srgbClr val="32A9E5"/>
                </a:solidFill>
                <a:effectLst/>
                <a:uLnTx/>
                <a:uFillTx/>
                <a:latin typeface="Calibri" panose="020F0502020204030204"/>
                <a:ea typeface="+mn-ea"/>
                <a:cs typeface="Calibri" panose="020F0502020204030204"/>
              </a:rPr>
              <a:t> </a:t>
            </a:r>
            <a:r>
              <a:rPr kumimoji="0" sz="1800" b="0" i="0" u="none" strike="noStrike" kern="1200" cap="none" spc="-1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breakdown</a:t>
            </a:r>
            <a:r>
              <a:rPr kumimoji="0" sz="1800" b="0" i="0" u="none" strike="noStrike" kern="1200" cap="none" spc="-2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of</a:t>
            </a:r>
            <a:r>
              <a:rPr kumimoji="0" sz="1800" b="0" i="0" u="none" strike="noStrike" kern="1200" cap="none" spc="-15"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1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carbohydrates</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
        <p:nvSpPr>
          <p:cNvPr id="1048716" name="object 6"/>
          <p:cNvSpPr txBox="1"/>
          <p:nvPr/>
        </p:nvSpPr>
        <p:spPr>
          <a:xfrm>
            <a:off x="1016508" y="4407408"/>
            <a:ext cx="2402205" cy="309059"/>
          </a:xfrm>
          <a:prstGeom prst="rect">
            <a:avLst/>
          </a:prstGeom>
          <a:solidFill>
            <a:srgbClr val="C4E0F1"/>
          </a:solidFill>
          <a:ln w="9144">
            <a:solidFill>
              <a:srgbClr val="EF7E09"/>
            </a:solidFill>
          </a:ln>
        </p:spPr>
        <p:txBody>
          <a:bodyPr vert="horz" wrap="square" lIns="0" tIns="31750" rIns="0" bIns="0" rtlCol="0">
            <a:spAutoFit/>
          </a:bodyPr>
          <a:lstStyle/>
          <a:p>
            <a:pPr marL="92075" marR="0" lvl="0" indent="0" algn="l" defTabSz="457200" rtl="0" eaLnBrk="1" fontAlgn="auto" latinLnBrk="0" hangingPunct="1">
              <a:lnSpc>
                <a:spcPct val="100000"/>
              </a:lnSpc>
              <a:spcBef>
                <a:spcPts val="250"/>
              </a:spcBef>
              <a:spcAft>
                <a:spcPts val="0"/>
              </a:spcAft>
              <a:buClrTx/>
              <a:buSzTx/>
              <a:buFontTx/>
              <a:buNone/>
              <a:tabLst/>
              <a:defRPr/>
            </a:pPr>
            <a:r>
              <a:rPr kumimoji="0" sz="1800" b="0" i="0" u="none" strike="noStrike" kern="1200" cap="none" spc="0" normalizeH="0" baseline="0" noProof="0" dirty="0">
                <a:ln>
                  <a:noFill/>
                </a:ln>
                <a:solidFill>
                  <a:srgbClr val="32A9E5"/>
                </a:solidFill>
                <a:effectLst/>
                <a:uLnTx/>
                <a:uFillTx/>
                <a:latin typeface="Calibri" panose="020F0502020204030204"/>
                <a:ea typeface="+mn-ea"/>
                <a:cs typeface="Calibri" panose="020F0502020204030204"/>
              </a:rPr>
              <a:t>↑</a:t>
            </a:r>
            <a:r>
              <a:rPr kumimoji="0" sz="1800" b="0" i="0" u="none" strike="noStrike" kern="1200" cap="none" spc="-30" normalizeH="0" baseline="0" noProof="0" dirty="0">
                <a:ln>
                  <a:noFill/>
                </a:ln>
                <a:solidFill>
                  <a:srgbClr val="32A9E5"/>
                </a:solidFill>
                <a:effectLst/>
                <a:uLnTx/>
                <a:uFillTx/>
                <a:latin typeface="Calibri" panose="020F0502020204030204"/>
                <a:ea typeface="+mn-ea"/>
                <a:cs typeface="Calibri" panose="020F0502020204030204"/>
              </a:rPr>
              <a:t> </a:t>
            </a: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luminal</a:t>
            </a:r>
            <a:r>
              <a:rPr kumimoji="0" sz="1800" b="0" i="0" u="none" strike="noStrike" kern="1200" cap="none" spc="-2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osmotic</a:t>
            </a:r>
            <a:r>
              <a:rPr kumimoji="0" sz="1800" b="0" i="0" u="none" strike="noStrike" kern="1200" cap="none" spc="-2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load</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
        <p:nvSpPr>
          <p:cNvPr id="1048717" name="object 7"/>
          <p:cNvSpPr txBox="1"/>
          <p:nvPr/>
        </p:nvSpPr>
        <p:spPr>
          <a:xfrm>
            <a:off x="1348739" y="5166359"/>
            <a:ext cx="1737360" cy="308418"/>
          </a:xfrm>
          <a:prstGeom prst="rect">
            <a:avLst/>
          </a:prstGeom>
          <a:solidFill>
            <a:srgbClr val="C4E0F1"/>
          </a:solidFill>
          <a:ln w="9144">
            <a:solidFill>
              <a:srgbClr val="EF7E09"/>
            </a:solidFill>
          </a:ln>
        </p:spPr>
        <p:txBody>
          <a:bodyPr vert="horz" wrap="square" lIns="0" tIns="31115" rIns="0" bIns="0" rtlCol="0">
            <a:spAutoFit/>
          </a:bodyPr>
          <a:lstStyle/>
          <a:p>
            <a:pPr marL="92075" marR="0" lvl="0" indent="0" algn="l" defTabSz="457200" rtl="0" eaLnBrk="1" fontAlgn="auto" latinLnBrk="0" hangingPunct="1">
              <a:lnSpc>
                <a:spcPct val="100000"/>
              </a:lnSpc>
              <a:spcBef>
                <a:spcPts val="245"/>
              </a:spcBef>
              <a:spcAft>
                <a:spcPts val="0"/>
              </a:spcAft>
              <a:buClrTx/>
              <a:buSzTx/>
              <a:buFontTx/>
              <a:buNone/>
              <a:tabLst/>
              <a:defRPr/>
            </a:pP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a:t>
            </a:r>
            <a:r>
              <a:rPr kumimoji="0" sz="1800" b="0" i="0" u="none" strike="noStrike" kern="1200" cap="none" spc="-35"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luminal</a:t>
            </a:r>
            <a:r>
              <a:rPr kumimoji="0" sz="1800" b="0" i="0" u="none" strike="noStrike" kern="1200" cap="none" spc="-2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water</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
        <p:nvSpPr>
          <p:cNvPr id="1048718" name="object 8"/>
          <p:cNvSpPr txBox="1"/>
          <p:nvPr/>
        </p:nvSpPr>
        <p:spPr>
          <a:xfrm>
            <a:off x="4919471" y="5704332"/>
            <a:ext cx="1016635" cy="309699"/>
          </a:xfrm>
          <a:prstGeom prst="rect">
            <a:avLst/>
          </a:prstGeom>
          <a:solidFill>
            <a:srgbClr val="F1CED2"/>
          </a:solidFill>
          <a:ln w="9144">
            <a:solidFill>
              <a:srgbClr val="EF7E09"/>
            </a:solidFill>
          </a:ln>
        </p:spPr>
        <p:txBody>
          <a:bodyPr vert="horz" wrap="square" lIns="0" tIns="32384" rIns="0" bIns="0" rtlCol="0">
            <a:spAutoFit/>
          </a:bodyPr>
          <a:lstStyle/>
          <a:p>
            <a:pPr marL="92710" marR="0" lvl="0" indent="0" algn="l" defTabSz="457200" rtl="0" eaLnBrk="1" fontAlgn="auto" latinLnBrk="0" hangingPunct="1">
              <a:lnSpc>
                <a:spcPct val="100000"/>
              </a:lnSpc>
              <a:spcBef>
                <a:spcPts val="255"/>
              </a:spcBef>
              <a:spcAft>
                <a:spcPts val="0"/>
              </a:spcAft>
              <a:buClrTx/>
              <a:buSzTx/>
              <a:buFontTx/>
              <a:buNone/>
              <a:tabLst/>
              <a:defRPr/>
            </a:pPr>
            <a:r>
              <a:rPr kumimoji="0" sz="1800" b="1" i="0" u="none" strike="noStrike" kern="1200" cap="none" spc="-1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Diarrhea</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
        <p:nvSpPr>
          <p:cNvPr id="1048719" name="object 9"/>
          <p:cNvSpPr txBox="1"/>
          <p:nvPr/>
        </p:nvSpPr>
        <p:spPr>
          <a:xfrm>
            <a:off x="5311140" y="3980688"/>
            <a:ext cx="3055620" cy="863057"/>
          </a:xfrm>
          <a:prstGeom prst="rect">
            <a:avLst/>
          </a:prstGeom>
          <a:solidFill>
            <a:srgbClr val="D9EAD4"/>
          </a:solidFill>
          <a:ln w="9144">
            <a:solidFill>
              <a:srgbClr val="EF7E09"/>
            </a:solidFill>
          </a:ln>
        </p:spPr>
        <p:txBody>
          <a:bodyPr vert="horz" wrap="square" lIns="0" tIns="31750" rIns="0" bIns="0" rtlCol="0">
            <a:spAutoFit/>
          </a:bodyPr>
          <a:lstStyle/>
          <a:p>
            <a:pPr marL="92710" marR="0" lvl="0" indent="0" algn="l" defTabSz="457200" rtl="0" eaLnBrk="1" fontAlgn="auto" latinLnBrk="0" hangingPunct="1">
              <a:lnSpc>
                <a:spcPct val="100000"/>
              </a:lnSpc>
              <a:spcBef>
                <a:spcPts val="250"/>
              </a:spcBef>
              <a:spcAft>
                <a:spcPts val="0"/>
              </a:spcAft>
              <a:buClrTx/>
              <a:buSzTx/>
              <a:buFontTx/>
              <a:buNone/>
              <a:tabLst/>
              <a:defRPr/>
            </a:pPr>
            <a:r>
              <a:rPr kumimoji="0" sz="1800" b="0" i="0" u="none" strike="noStrike" kern="1200" cap="none" spc="0" normalizeH="0" baseline="0" noProof="0" dirty="0">
                <a:ln>
                  <a:noFill/>
                </a:ln>
                <a:solidFill>
                  <a:srgbClr val="32A9E5"/>
                </a:solidFill>
                <a:effectLst/>
                <a:uLnTx/>
                <a:uFillTx/>
                <a:latin typeface="Calibri" panose="020F0502020204030204"/>
                <a:ea typeface="+mn-ea"/>
                <a:cs typeface="Calibri" panose="020F0502020204030204"/>
              </a:rPr>
              <a:t>↑</a:t>
            </a:r>
            <a:r>
              <a:rPr kumimoji="0" sz="1800" b="0" i="0" u="none" strike="noStrike" kern="1200" cap="none" spc="-40" normalizeH="0" baseline="0" noProof="0" dirty="0">
                <a:ln>
                  <a:noFill/>
                </a:ln>
                <a:solidFill>
                  <a:srgbClr val="32A9E5"/>
                </a:solidFill>
                <a:effectLst/>
                <a:uLnTx/>
                <a:uFillTx/>
                <a:latin typeface="Calibri" panose="020F0502020204030204"/>
                <a:ea typeface="+mn-ea"/>
                <a:cs typeface="Calibri" panose="020F0502020204030204"/>
              </a:rPr>
              <a:t> </a:t>
            </a: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growth</a:t>
            </a:r>
            <a:r>
              <a:rPr kumimoji="0" sz="1800" b="0" i="0" u="none" strike="noStrike" kern="1200" cap="none" spc="-25"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of</a:t>
            </a:r>
            <a:r>
              <a:rPr kumimoji="0" sz="1800" b="0" i="0" u="none" strike="noStrike" kern="1200" cap="none" spc="-4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1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resistant</a:t>
            </a:r>
            <a:r>
              <a:rPr kumimoji="0" sz="1800" b="0" i="0" u="none" strike="noStrike" kern="1200" cap="none" spc="-4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0" u="none" strike="noStrike" kern="1200" cap="none" spc="-1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bacteria</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379095" marR="0" lvl="0" indent="-286385" algn="l" defTabSz="457200" rtl="0" eaLnBrk="1" fontAlgn="auto" latinLnBrk="0" hangingPunct="1">
              <a:lnSpc>
                <a:spcPct val="100000"/>
              </a:lnSpc>
              <a:spcBef>
                <a:spcPts val="0"/>
              </a:spcBef>
              <a:spcAft>
                <a:spcPts val="0"/>
              </a:spcAft>
              <a:buClrTx/>
              <a:buSzTx/>
              <a:buFont typeface="Arial MT"/>
              <a:buChar char="•"/>
              <a:tabLst>
                <a:tab pos="379095" algn="l"/>
              </a:tabLst>
              <a:defRPr/>
            </a:pPr>
            <a:r>
              <a:rPr kumimoji="0" sz="1800" b="1" i="1"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Clostridium</a:t>
            </a:r>
            <a:r>
              <a:rPr kumimoji="0" sz="1800" b="1" i="1" u="none" strike="noStrike" kern="1200" cap="none" spc="-75"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1" i="1" u="none" strike="noStrike" kern="1200" cap="none" spc="-1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difficile</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379095" marR="0" lvl="0" indent="-286385" algn="l" defTabSz="457200" rtl="0" eaLnBrk="1" fontAlgn="auto" latinLnBrk="0" hangingPunct="1">
              <a:lnSpc>
                <a:spcPct val="100000"/>
              </a:lnSpc>
              <a:spcBef>
                <a:spcPts val="0"/>
              </a:spcBef>
              <a:spcAft>
                <a:spcPts val="0"/>
              </a:spcAft>
              <a:buClrTx/>
              <a:buSzTx/>
              <a:buFont typeface="Arial MT"/>
              <a:buChar char="•"/>
              <a:tabLst>
                <a:tab pos="379095" algn="l"/>
              </a:tabLst>
              <a:defRPr/>
            </a:pPr>
            <a:r>
              <a:rPr kumimoji="0" sz="1800" b="0" i="1"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Klebsiella</a:t>
            </a:r>
            <a:r>
              <a:rPr kumimoji="0" sz="1800" b="0" i="1" u="none" strike="noStrike" kern="1200" cap="none" spc="-7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 </a:t>
            </a:r>
            <a:r>
              <a:rPr kumimoji="0" sz="1800" b="0" i="1" u="none" strike="noStrike" kern="1200" cap="none" spc="-1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rPr>
              <a:t>oxytoca</a:t>
            </a:r>
            <a:endParaRPr kumimoji="0" sz="1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
        <p:nvSpPr>
          <p:cNvPr id="1048720" name="object 10"/>
          <p:cNvSpPr/>
          <p:nvPr/>
        </p:nvSpPr>
        <p:spPr>
          <a:xfrm>
            <a:off x="4689347" y="2352294"/>
            <a:ext cx="96520" cy="360045"/>
          </a:xfrm>
          <a:custGeom>
            <a:avLst/>
            <a:gdLst/>
            <a:ahLst/>
            <a:cxnLst/>
            <a:rect l="l" t="t" r="r" b="b"/>
            <a:pathLst>
              <a:path w="96520" h="360044">
                <a:moveTo>
                  <a:pt x="32003" y="263778"/>
                </a:moveTo>
                <a:lnTo>
                  <a:pt x="0" y="263778"/>
                </a:lnTo>
                <a:lnTo>
                  <a:pt x="48005" y="359790"/>
                </a:lnTo>
                <a:lnTo>
                  <a:pt x="88011" y="279780"/>
                </a:lnTo>
                <a:lnTo>
                  <a:pt x="32003" y="279780"/>
                </a:lnTo>
                <a:lnTo>
                  <a:pt x="32003" y="263778"/>
                </a:lnTo>
                <a:close/>
              </a:path>
              <a:path w="96520" h="360044">
                <a:moveTo>
                  <a:pt x="64007" y="0"/>
                </a:moveTo>
                <a:lnTo>
                  <a:pt x="32003" y="0"/>
                </a:lnTo>
                <a:lnTo>
                  <a:pt x="32003" y="279780"/>
                </a:lnTo>
                <a:lnTo>
                  <a:pt x="64007" y="279780"/>
                </a:lnTo>
                <a:lnTo>
                  <a:pt x="64007" y="0"/>
                </a:lnTo>
                <a:close/>
              </a:path>
              <a:path w="96520" h="360044">
                <a:moveTo>
                  <a:pt x="96012" y="263778"/>
                </a:moveTo>
                <a:lnTo>
                  <a:pt x="64007" y="263778"/>
                </a:lnTo>
                <a:lnTo>
                  <a:pt x="64007" y="279780"/>
                </a:lnTo>
                <a:lnTo>
                  <a:pt x="88011" y="279780"/>
                </a:lnTo>
                <a:lnTo>
                  <a:pt x="96012" y="263778"/>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A9E5"/>
              </a:solidFill>
              <a:effectLst/>
              <a:uLnTx/>
              <a:uFillTx/>
              <a:latin typeface="Arial"/>
              <a:ea typeface="+mn-ea"/>
              <a:cs typeface="+mn-cs"/>
            </a:endParaRPr>
          </a:p>
        </p:txBody>
      </p:sp>
      <p:sp>
        <p:nvSpPr>
          <p:cNvPr id="1048721" name="object 11"/>
          <p:cNvSpPr/>
          <p:nvPr/>
        </p:nvSpPr>
        <p:spPr>
          <a:xfrm>
            <a:off x="5538978" y="2881883"/>
            <a:ext cx="1348740" cy="1101090"/>
          </a:xfrm>
          <a:custGeom>
            <a:avLst/>
            <a:gdLst/>
            <a:ahLst/>
            <a:cxnLst/>
            <a:rect l="l" t="t" r="r" b="b"/>
            <a:pathLst>
              <a:path w="1348740" h="1101089">
                <a:moveTo>
                  <a:pt x="1284477" y="1004569"/>
                </a:moveTo>
                <a:lnTo>
                  <a:pt x="1252474" y="1004569"/>
                </a:lnTo>
                <a:lnTo>
                  <a:pt x="1300479" y="1100582"/>
                </a:lnTo>
                <a:lnTo>
                  <a:pt x="1340485" y="1020571"/>
                </a:lnTo>
                <a:lnTo>
                  <a:pt x="1284477" y="1020571"/>
                </a:lnTo>
                <a:lnTo>
                  <a:pt x="1284477" y="1004569"/>
                </a:lnTo>
                <a:close/>
              </a:path>
              <a:path w="1348740" h="1101089">
                <a:moveTo>
                  <a:pt x="1284477" y="16001"/>
                </a:moveTo>
                <a:lnTo>
                  <a:pt x="1284477" y="1020571"/>
                </a:lnTo>
                <a:lnTo>
                  <a:pt x="1316481" y="1020571"/>
                </a:lnTo>
                <a:lnTo>
                  <a:pt x="1316481" y="32003"/>
                </a:lnTo>
                <a:lnTo>
                  <a:pt x="1300479" y="32003"/>
                </a:lnTo>
                <a:lnTo>
                  <a:pt x="1284477" y="16001"/>
                </a:lnTo>
                <a:close/>
              </a:path>
              <a:path w="1348740" h="1101089">
                <a:moveTo>
                  <a:pt x="1348486" y="1004569"/>
                </a:moveTo>
                <a:lnTo>
                  <a:pt x="1316481" y="1004569"/>
                </a:lnTo>
                <a:lnTo>
                  <a:pt x="1316481" y="1020571"/>
                </a:lnTo>
                <a:lnTo>
                  <a:pt x="1340485" y="1020571"/>
                </a:lnTo>
                <a:lnTo>
                  <a:pt x="1348486" y="1004569"/>
                </a:lnTo>
                <a:close/>
              </a:path>
              <a:path w="1348740" h="1101089">
                <a:moveTo>
                  <a:pt x="1309243" y="0"/>
                </a:moveTo>
                <a:lnTo>
                  <a:pt x="0" y="0"/>
                </a:lnTo>
                <a:lnTo>
                  <a:pt x="0" y="32003"/>
                </a:lnTo>
                <a:lnTo>
                  <a:pt x="1284477" y="32003"/>
                </a:lnTo>
                <a:lnTo>
                  <a:pt x="1284477" y="16001"/>
                </a:lnTo>
                <a:lnTo>
                  <a:pt x="1316481" y="16001"/>
                </a:lnTo>
                <a:lnTo>
                  <a:pt x="1316481" y="7112"/>
                </a:lnTo>
                <a:lnTo>
                  <a:pt x="1309243" y="0"/>
                </a:lnTo>
                <a:close/>
              </a:path>
              <a:path w="1348740" h="1101089">
                <a:moveTo>
                  <a:pt x="1316481" y="16001"/>
                </a:moveTo>
                <a:lnTo>
                  <a:pt x="1284477" y="16001"/>
                </a:lnTo>
                <a:lnTo>
                  <a:pt x="1300479" y="32003"/>
                </a:lnTo>
                <a:lnTo>
                  <a:pt x="1316481" y="32003"/>
                </a:lnTo>
                <a:lnTo>
                  <a:pt x="1316481" y="16001"/>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A9E5"/>
              </a:solidFill>
              <a:effectLst/>
              <a:uLnTx/>
              <a:uFillTx/>
              <a:latin typeface="Arial"/>
              <a:ea typeface="+mn-ea"/>
              <a:cs typeface="+mn-cs"/>
            </a:endParaRPr>
          </a:p>
        </p:txBody>
      </p:sp>
      <p:sp>
        <p:nvSpPr>
          <p:cNvPr id="1048722" name="object 12"/>
          <p:cNvSpPr/>
          <p:nvPr/>
        </p:nvSpPr>
        <p:spPr>
          <a:xfrm>
            <a:off x="2170176" y="2881883"/>
            <a:ext cx="1767205" cy="769620"/>
          </a:xfrm>
          <a:custGeom>
            <a:avLst/>
            <a:gdLst/>
            <a:ahLst/>
            <a:cxnLst/>
            <a:rect l="l" t="t" r="r" b="b"/>
            <a:pathLst>
              <a:path w="1767204" h="769620">
                <a:moveTo>
                  <a:pt x="32004" y="673480"/>
                </a:moveTo>
                <a:lnTo>
                  <a:pt x="0" y="673480"/>
                </a:lnTo>
                <a:lnTo>
                  <a:pt x="48006" y="769492"/>
                </a:lnTo>
                <a:lnTo>
                  <a:pt x="88011" y="689482"/>
                </a:lnTo>
                <a:lnTo>
                  <a:pt x="32004" y="689482"/>
                </a:lnTo>
                <a:lnTo>
                  <a:pt x="32004" y="673480"/>
                </a:lnTo>
                <a:close/>
              </a:path>
              <a:path w="1767204" h="769620">
                <a:moveTo>
                  <a:pt x="1766824" y="0"/>
                </a:moveTo>
                <a:lnTo>
                  <a:pt x="39116" y="0"/>
                </a:lnTo>
                <a:lnTo>
                  <a:pt x="32004" y="7112"/>
                </a:lnTo>
                <a:lnTo>
                  <a:pt x="32004" y="689482"/>
                </a:lnTo>
                <a:lnTo>
                  <a:pt x="64007" y="689482"/>
                </a:lnTo>
                <a:lnTo>
                  <a:pt x="64007" y="32003"/>
                </a:lnTo>
                <a:lnTo>
                  <a:pt x="48006" y="32003"/>
                </a:lnTo>
                <a:lnTo>
                  <a:pt x="64007" y="16001"/>
                </a:lnTo>
                <a:lnTo>
                  <a:pt x="1766824" y="16001"/>
                </a:lnTo>
                <a:lnTo>
                  <a:pt x="1766824" y="0"/>
                </a:lnTo>
                <a:close/>
              </a:path>
              <a:path w="1767204" h="769620">
                <a:moveTo>
                  <a:pt x="96012" y="673480"/>
                </a:moveTo>
                <a:lnTo>
                  <a:pt x="64007" y="673480"/>
                </a:lnTo>
                <a:lnTo>
                  <a:pt x="64007" y="689482"/>
                </a:lnTo>
                <a:lnTo>
                  <a:pt x="88011" y="689482"/>
                </a:lnTo>
                <a:lnTo>
                  <a:pt x="96012" y="673480"/>
                </a:lnTo>
                <a:close/>
              </a:path>
              <a:path w="1767204" h="769620">
                <a:moveTo>
                  <a:pt x="64007" y="16001"/>
                </a:moveTo>
                <a:lnTo>
                  <a:pt x="48006" y="32003"/>
                </a:lnTo>
                <a:lnTo>
                  <a:pt x="64007" y="32003"/>
                </a:lnTo>
                <a:lnTo>
                  <a:pt x="64007" y="16001"/>
                </a:lnTo>
                <a:close/>
              </a:path>
              <a:path w="1767204" h="769620">
                <a:moveTo>
                  <a:pt x="1766824" y="16001"/>
                </a:moveTo>
                <a:lnTo>
                  <a:pt x="64007" y="16001"/>
                </a:lnTo>
                <a:lnTo>
                  <a:pt x="64007" y="32003"/>
                </a:lnTo>
                <a:lnTo>
                  <a:pt x="1766824" y="32003"/>
                </a:lnTo>
                <a:lnTo>
                  <a:pt x="1766824" y="16001"/>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A9E5"/>
              </a:solidFill>
              <a:effectLst/>
              <a:uLnTx/>
              <a:uFillTx/>
              <a:latin typeface="Arial"/>
              <a:ea typeface="+mn-ea"/>
              <a:cs typeface="+mn-cs"/>
            </a:endParaRPr>
          </a:p>
        </p:txBody>
      </p:sp>
      <p:sp>
        <p:nvSpPr>
          <p:cNvPr id="1048723" name="object 13"/>
          <p:cNvSpPr/>
          <p:nvPr/>
        </p:nvSpPr>
        <p:spPr>
          <a:xfrm>
            <a:off x="2170176" y="4019550"/>
            <a:ext cx="96520" cy="388620"/>
          </a:xfrm>
          <a:custGeom>
            <a:avLst/>
            <a:gdLst/>
            <a:ahLst/>
            <a:cxnLst/>
            <a:rect l="l" t="t" r="r" b="b"/>
            <a:pathLst>
              <a:path w="96519" h="388620">
                <a:moveTo>
                  <a:pt x="32004" y="292607"/>
                </a:moveTo>
                <a:lnTo>
                  <a:pt x="0" y="292607"/>
                </a:lnTo>
                <a:lnTo>
                  <a:pt x="48006" y="388619"/>
                </a:lnTo>
                <a:lnTo>
                  <a:pt x="88011" y="308610"/>
                </a:lnTo>
                <a:lnTo>
                  <a:pt x="32004" y="308610"/>
                </a:lnTo>
                <a:lnTo>
                  <a:pt x="32004" y="292607"/>
                </a:lnTo>
                <a:close/>
              </a:path>
              <a:path w="96519" h="388620">
                <a:moveTo>
                  <a:pt x="64007" y="0"/>
                </a:moveTo>
                <a:lnTo>
                  <a:pt x="32004" y="0"/>
                </a:lnTo>
                <a:lnTo>
                  <a:pt x="32004" y="308610"/>
                </a:lnTo>
                <a:lnTo>
                  <a:pt x="64007" y="308610"/>
                </a:lnTo>
                <a:lnTo>
                  <a:pt x="64007" y="0"/>
                </a:lnTo>
                <a:close/>
              </a:path>
              <a:path w="96519" h="388620">
                <a:moveTo>
                  <a:pt x="96012" y="292607"/>
                </a:moveTo>
                <a:lnTo>
                  <a:pt x="64007" y="292607"/>
                </a:lnTo>
                <a:lnTo>
                  <a:pt x="64007" y="308610"/>
                </a:lnTo>
                <a:lnTo>
                  <a:pt x="88011" y="308610"/>
                </a:lnTo>
                <a:lnTo>
                  <a:pt x="96012" y="292607"/>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A9E5"/>
              </a:solidFill>
              <a:effectLst/>
              <a:uLnTx/>
              <a:uFillTx/>
              <a:latin typeface="Arial"/>
              <a:ea typeface="+mn-ea"/>
              <a:cs typeface="+mn-cs"/>
            </a:endParaRPr>
          </a:p>
        </p:txBody>
      </p:sp>
      <p:sp>
        <p:nvSpPr>
          <p:cNvPr id="1048724" name="object 14"/>
          <p:cNvSpPr/>
          <p:nvPr/>
        </p:nvSpPr>
        <p:spPr>
          <a:xfrm>
            <a:off x="2170176" y="4778502"/>
            <a:ext cx="96520" cy="388620"/>
          </a:xfrm>
          <a:custGeom>
            <a:avLst/>
            <a:gdLst/>
            <a:ahLst/>
            <a:cxnLst/>
            <a:rect l="l" t="t" r="r" b="b"/>
            <a:pathLst>
              <a:path w="96519" h="388620">
                <a:moveTo>
                  <a:pt x="32004" y="292608"/>
                </a:moveTo>
                <a:lnTo>
                  <a:pt x="0" y="292608"/>
                </a:lnTo>
                <a:lnTo>
                  <a:pt x="48006" y="388620"/>
                </a:lnTo>
                <a:lnTo>
                  <a:pt x="88011" y="308610"/>
                </a:lnTo>
                <a:lnTo>
                  <a:pt x="32004" y="308610"/>
                </a:lnTo>
                <a:lnTo>
                  <a:pt x="32004" y="292608"/>
                </a:lnTo>
                <a:close/>
              </a:path>
              <a:path w="96519" h="388620">
                <a:moveTo>
                  <a:pt x="64007" y="0"/>
                </a:moveTo>
                <a:lnTo>
                  <a:pt x="32004" y="0"/>
                </a:lnTo>
                <a:lnTo>
                  <a:pt x="32004" y="308610"/>
                </a:lnTo>
                <a:lnTo>
                  <a:pt x="64007" y="308610"/>
                </a:lnTo>
                <a:lnTo>
                  <a:pt x="64007" y="0"/>
                </a:lnTo>
                <a:close/>
              </a:path>
              <a:path w="96519" h="388620">
                <a:moveTo>
                  <a:pt x="96012" y="292608"/>
                </a:moveTo>
                <a:lnTo>
                  <a:pt x="64007" y="292608"/>
                </a:lnTo>
                <a:lnTo>
                  <a:pt x="64007" y="308610"/>
                </a:lnTo>
                <a:lnTo>
                  <a:pt x="88011" y="308610"/>
                </a:lnTo>
                <a:lnTo>
                  <a:pt x="96012" y="292608"/>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A9E5"/>
              </a:solidFill>
              <a:effectLst/>
              <a:uLnTx/>
              <a:uFillTx/>
              <a:latin typeface="Arial"/>
              <a:ea typeface="+mn-ea"/>
              <a:cs typeface="+mn-cs"/>
            </a:endParaRPr>
          </a:p>
        </p:txBody>
      </p:sp>
      <p:sp>
        <p:nvSpPr>
          <p:cNvPr id="1048725" name="object 15"/>
          <p:cNvSpPr/>
          <p:nvPr/>
        </p:nvSpPr>
        <p:spPr>
          <a:xfrm>
            <a:off x="2202179" y="5535929"/>
            <a:ext cx="2718435" cy="402590"/>
          </a:xfrm>
          <a:custGeom>
            <a:avLst/>
            <a:gdLst/>
            <a:ahLst/>
            <a:cxnLst/>
            <a:rect l="l" t="t" r="r" b="b"/>
            <a:pathLst>
              <a:path w="2718435" h="402589">
                <a:moveTo>
                  <a:pt x="2622042" y="306324"/>
                </a:moveTo>
                <a:lnTo>
                  <a:pt x="2622042" y="402336"/>
                </a:lnTo>
                <a:lnTo>
                  <a:pt x="2686049" y="370332"/>
                </a:lnTo>
                <a:lnTo>
                  <a:pt x="2638044" y="370332"/>
                </a:lnTo>
                <a:lnTo>
                  <a:pt x="2638044" y="338328"/>
                </a:lnTo>
                <a:lnTo>
                  <a:pt x="2686050" y="338328"/>
                </a:lnTo>
                <a:lnTo>
                  <a:pt x="2622042" y="306324"/>
                </a:lnTo>
                <a:close/>
              </a:path>
              <a:path w="2718435" h="402589">
                <a:moveTo>
                  <a:pt x="32003" y="0"/>
                </a:moveTo>
                <a:lnTo>
                  <a:pt x="0" y="0"/>
                </a:lnTo>
                <a:lnTo>
                  <a:pt x="0" y="363169"/>
                </a:lnTo>
                <a:lnTo>
                  <a:pt x="7112" y="370332"/>
                </a:lnTo>
                <a:lnTo>
                  <a:pt x="2622042" y="370332"/>
                </a:lnTo>
                <a:lnTo>
                  <a:pt x="2622042" y="354330"/>
                </a:lnTo>
                <a:lnTo>
                  <a:pt x="32003" y="354330"/>
                </a:lnTo>
                <a:lnTo>
                  <a:pt x="16001" y="338328"/>
                </a:lnTo>
                <a:lnTo>
                  <a:pt x="32003" y="338328"/>
                </a:lnTo>
                <a:lnTo>
                  <a:pt x="32003" y="0"/>
                </a:lnTo>
                <a:close/>
              </a:path>
              <a:path w="2718435" h="402589">
                <a:moveTo>
                  <a:pt x="2686050" y="338328"/>
                </a:moveTo>
                <a:lnTo>
                  <a:pt x="2638044" y="338328"/>
                </a:lnTo>
                <a:lnTo>
                  <a:pt x="2638044" y="370332"/>
                </a:lnTo>
                <a:lnTo>
                  <a:pt x="2686049" y="370332"/>
                </a:lnTo>
                <a:lnTo>
                  <a:pt x="2718054" y="354330"/>
                </a:lnTo>
                <a:lnTo>
                  <a:pt x="2686050" y="338328"/>
                </a:lnTo>
                <a:close/>
              </a:path>
              <a:path w="2718435" h="402589">
                <a:moveTo>
                  <a:pt x="32003" y="338328"/>
                </a:moveTo>
                <a:lnTo>
                  <a:pt x="16001" y="338328"/>
                </a:lnTo>
                <a:lnTo>
                  <a:pt x="32003" y="354330"/>
                </a:lnTo>
                <a:lnTo>
                  <a:pt x="32003" y="338328"/>
                </a:lnTo>
                <a:close/>
              </a:path>
              <a:path w="2718435" h="402589">
                <a:moveTo>
                  <a:pt x="2622042" y="338328"/>
                </a:moveTo>
                <a:lnTo>
                  <a:pt x="32003" y="338328"/>
                </a:lnTo>
                <a:lnTo>
                  <a:pt x="32003" y="354330"/>
                </a:lnTo>
                <a:lnTo>
                  <a:pt x="2622042" y="354330"/>
                </a:lnTo>
                <a:lnTo>
                  <a:pt x="2622042" y="338328"/>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A9E5"/>
              </a:solidFill>
              <a:effectLst/>
              <a:uLnTx/>
              <a:uFillTx/>
              <a:latin typeface="Arial"/>
              <a:ea typeface="+mn-ea"/>
              <a:cs typeface="+mn-cs"/>
            </a:endParaRPr>
          </a:p>
        </p:txBody>
      </p:sp>
      <p:sp>
        <p:nvSpPr>
          <p:cNvPr id="1048726" name="object 16"/>
          <p:cNvSpPr/>
          <p:nvPr/>
        </p:nvSpPr>
        <p:spPr>
          <a:xfrm>
            <a:off x="5936741" y="4904994"/>
            <a:ext cx="918844" cy="1033780"/>
          </a:xfrm>
          <a:custGeom>
            <a:avLst/>
            <a:gdLst/>
            <a:ahLst/>
            <a:cxnLst/>
            <a:rect l="l" t="t" r="r" b="b"/>
            <a:pathLst>
              <a:path w="918845" h="1033779">
                <a:moveTo>
                  <a:pt x="96012" y="937209"/>
                </a:moveTo>
                <a:lnTo>
                  <a:pt x="0" y="985215"/>
                </a:lnTo>
                <a:lnTo>
                  <a:pt x="96012" y="1033221"/>
                </a:lnTo>
                <a:lnTo>
                  <a:pt x="96012" y="1001217"/>
                </a:lnTo>
                <a:lnTo>
                  <a:pt x="80010" y="1001217"/>
                </a:lnTo>
                <a:lnTo>
                  <a:pt x="80010" y="969213"/>
                </a:lnTo>
                <a:lnTo>
                  <a:pt x="96012" y="969213"/>
                </a:lnTo>
                <a:lnTo>
                  <a:pt x="96012" y="937209"/>
                </a:lnTo>
                <a:close/>
              </a:path>
              <a:path w="918845" h="1033779">
                <a:moveTo>
                  <a:pt x="96012" y="969213"/>
                </a:moveTo>
                <a:lnTo>
                  <a:pt x="80010" y="969213"/>
                </a:lnTo>
                <a:lnTo>
                  <a:pt x="80010" y="1001217"/>
                </a:lnTo>
                <a:lnTo>
                  <a:pt x="96012" y="1001217"/>
                </a:lnTo>
                <a:lnTo>
                  <a:pt x="96012" y="969213"/>
                </a:lnTo>
                <a:close/>
              </a:path>
              <a:path w="918845" h="1033779">
                <a:moveTo>
                  <a:pt x="886460" y="969213"/>
                </a:moveTo>
                <a:lnTo>
                  <a:pt x="96012" y="969213"/>
                </a:lnTo>
                <a:lnTo>
                  <a:pt x="96012" y="1001217"/>
                </a:lnTo>
                <a:lnTo>
                  <a:pt x="911225" y="1001217"/>
                </a:lnTo>
                <a:lnTo>
                  <a:pt x="918463" y="994054"/>
                </a:lnTo>
                <a:lnTo>
                  <a:pt x="918463" y="985215"/>
                </a:lnTo>
                <a:lnTo>
                  <a:pt x="886460" y="985215"/>
                </a:lnTo>
                <a:lnTo>
                  <a:pt x="886460" y="969213"/>
                </a:lnTo>
                <a:close/>
              </a:path>
              <a:path w="918845" h="1033779">
                <a:moveTo>
                  <a:pt x="918463" y="0"/>
                </a:moveTo>
                <a:lnTo>
                  <a:pt x="886460" y="0"/>
                </a:lnTo>
                <a:lnTo>
                  <a:pt x="886460" y="985215"/>
                </a:lnTo>
                <a:lnTo>
                  <a:pt x="902462" y="969213"/>
                </a:lnTo>
                <a:lnTo>
                  <a:pt x="918463" y="969213"/>
                </a:lnTo>
                <a:lnTo>
                  <a:pt x="918463" y="0"/>
                </a:lnTo>
                <a:close/>
              </a:path>
              <a:path w="918845" h="1033779">
                <a:moveTo>
                  <a:pt x="918463" y="969213"/>
                </a:moveTo>
                <a:lnTo>
                  <a:pt x="902462" y="969213"/>
                </a:lnTo>
                <a:lnTo>
                  <a:pt x="886460" y="985215"/>
                </a:lnTo>
                <a:lnTo>
                  <a:pt x="918463" y="985215"/>
                </a:lnTo>
                <a:lnTo>
                  <a:pt x="918463" y="969213"/>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213148724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2">
                    <a:lumMod val="10000"/>
                  </a:schemeClr>
                </a:solidFill>
              </a:rPr>
              <a:t>CDI</a:t>
            </a:r>
            <a:endParaRPr lang="en-US" dirty="0">
              <a:solidFill>
                <a:schemeClr val="bg2">
                  <a:lumMod val="10000"/>
                </a:schemeClr>
              </a:solidFill>
            </a:endParaRPr>
          </a:p>
        </p:txBody>
      </p:sp>
      <p:sp>
        <p:nvSpPr>
          <p:cNvPr id="3" name="Content Placeholder 2"/>
          <p:cNvSpPr>
            <a:spLocks noGrp="1"/>
          </p:cNvSpPr>
          <p:nvPr>
            <p:ph idx="1"/>
          </p:nvPr>
        </p:nvSpPr>
        <p:spPr/>
        <p:txBody>
          <a:bodyPr/>
          <a:lstStyle/>
          <a:p>
            <a:r>
              <a:rPr lang="en-US" dirty="0">
                <a:solidFill>
                  <a:schemeClr val="bg2">
                    <a:lumMod val="10000"/>
                  </a:schemeClr>
                </a:solidFill>
              </a:rPr>
              <a:t>The majority of </a:t>
            </a:r>
            <a:r>
              <a:rPr lang="en-US" i="1" dirty="0">
                <a:solidFill>
                  <a:schemeClr val="bg2">
                    <a:lumMod val="10000"/>
                  </a:schemeClr>
                </a:solidFill>
              </a:rPr>
              <a:t>C. difficile</a:t>
            </a:r>
            <a:r>
              <a:rPr lang="en-US" dirty="0">
                <a:solidFill>
                  <a:schemeClr val="bg2">
                    <a:lumMod val="10000"/>
                  </a:schemeClr>
                </a:solidFill>
              </a:rPr>
              <a:t> infections are induced by antimicrobial agents</a:t>
            </a:r>
            <a:r>
              <a:rPr lang="en-US" dirty="0" smtClean="0">
                <a:solidFill>
                  <a:schemeClr val="bg2">
                    <a:lumMod val="10000"/>
                  </a:schemeClr>
                </a:solidFill>
              </a:rPr>
              <a:t>. </a:t>
            </a:r>
          </a:p>
          <a:p>
            <a:r>
              <a:rPr lang="en-US" dirty="0" smtClean="0">
                <a:solidFill>
                  <a:schemeClr val="bg2">
                    <a:lumMod val="10000"/>
                  </a:schemeClr>
                </a:solidFill>
              </a:rPr>
              <a:t>The risk is high when </a:t>
            </a:r>
            <a:r>
              <a:rPr lang="en-US" dirty="0">
                <a:solidFill>
                  <a:schemeClr val="bg2">
                    <a:lumMod val="10000"/>
                  </a:schemeClr>
                </a:solidFill>
              </a:rPr>
              <a:t>administration of agents that have a great impact on the normal gastrointestinal </a:t>
            </a:r>
            <a:r>
              <a:rPr lang="en-US" dirty="0" smtClean="0">
                <a:solidFill>
                  <a:schemeClr val="bg2">
                    <a:lumMod val="10000"/>
                  </a:schemeClr>
                </a:solidFill>
              </a:rPr>
              <a:t>microflora</a:t>
            </a:r>
          </a:p>
          <a:p>
            <a:r>
              <a:rPr lang="en-US" dirty="0">
                <a:solidFill>
                  <a:schemeClr val="bg2">
                    <a:lumMod val="10000"/>
                  </a:schemeClr>
                </a:solidFill>
              </a:rPr>
              <a:t>T</a:t>
            </a:r>
            <a:r>
              <a:rPr lang="en-US" dirty="0" smtClean="0">
                <a:solidFill>
                  <a:schemeClr val="bg2">
                    <a:lumMod val="10000"/>
                  </a:schemeClr>
                </a:solidFill>
              </a:rPr>
              <a:t>raditionally </a:t>
            </a:r>
            <a:r>
              <a:rPr lang="en-US" dirty="0">
                <a:solidFill>
                  <a:schemeClr val="bg2">
                    <a:lumMod val="10000"/>
                  </a:schemeClr>
                </a:solidFill>
              </a:rPr>
              <a:t>considered a primary healthcare-associated infection, </a:t>
            </a:r>
            <a:r>
              <a:rPr lang="en-US" i="1" dirty="0">
                <a:solidFill>
                  <a:schemeClr val="bg2">
                    <a:lumMod val="10000"/>
                  </a:schemeClr>
                </a:solidFill>
              </a:rPr>
              <a:t>C difficile</a:t>
            </a:r>
            <a:r>
              <a:rPr lang="en-US" dirty="0">
                <a:solidFill>
                  <a:schemeClr val="bg2">
                    <a:lumMod val="10000"/>
                  </a:schemeClr>
                </a:solidFill>
              </a:rPr>
              <a:t> is also increasingly diagnosed within community settings</a:t>
            </a:r>
          </a:p>
        </p:txBody>
      </p:sp>
      <p:sp>
        <p:nvSpPr>
          <p:cNvPr id="5" name="TextBox 4"/>
          <p:cNvSpPr txBox="1"/>
          <p:nvPr/>
        </p:nvSpPr>
        <p:spPr>
          <a:xfrm>
            <a:off x="457200" y="4419600"/>
            <a:ext cx="8229600" cy="1477328"/>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1.Barbut </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F, Petit JC. Epidemiology of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Clostridium difficile</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-associated infections.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Clin</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Microbiol</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Infect</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2001; 7: 405 – </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Mada</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PK,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Alam</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M,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StatPearls</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AM.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Clostridioides</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difficile infection. 2024. [3-July-2024]. https://www.ncbi.nlm.nih.gov/books/NBK431054</a:t>
            </a:r>
            <a:r>
              <a:rPr kumimoji="0" lang="en-US" sz="1800" b="0" i="1"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endPar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98936389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7" name="object 2"/>
          <p:cNvSpPr txBox="1">
            <a:spLocks noGrp="1"/>
          </p:cNvSpPr>
          <p:nvPr>
            <p:ph type="title"/>
          </p:nvPr>
        </p:nvSpPr>
        <p:spPr>
          <a:xfrm>
            <a:off x="457200" y="332985"/>
            <a:ext cx="8229600" cy="1026306"/>
          </a:xfrm>
          <a:prstGeom prst="rect">
            <a:avLst/>
          </a:prstGeom>
        </p:spPr>
        <p:txBody>
          <a:bodyPr vert="horz" wrap="square" lIns="0" tIns="513460" rIns="0" bIns="0" rtlCol="0">
            <a:spAutoFit/>
          </a:bodyPr>
          <a:lstStyle/>
          <a:p>
            <a:pPr marL="378460">
              <a:spcBef>
                <a:spcPts val="100"/>
              </a:spcBef>
            </a:pPr>
            <a:r>
              <a:rPr b="1" spc="-50" dirty="0" smtClean="0">
                <a:solidFill>
                  <a:schemeClr val="bg2">
                    <a:lumMod val="10000"/>
                  </a:schemeClr>
                </a:solidFill>
                <a:latin typeface="Times New Roman" panose="02020603050405020304" pitchFamily="18" charset="0"/>
                <a:cs typeface="Times New Roman" panose="02020603050405020304" pitchFamily="18" charset="0"/>
              </a:rPr>
              <a:t>Epidemiology</a:t>
            </a:r>
            <a:r>
              <a:rPr lang="en-US" b="1" spc="-50" dirty="0" smtClean="0">
                <a:solidFill>
                  <a:schemeClr val="bg2">
                    <a:lumMod val="10000"/>
                  </a:schemeClr>
                </a:solidFill>
                <a:latin typeface="Times New Roman" panose="02020603050405020304" pitchFamily="18" charset="0"/>
                <a:cs typeface="Times New Roman" panose="02020603050405020304" pitchFamily="18" charset="0"/>
              </a:rPr>
              <a:t>-1</a:t>
            </a:r>
            <a:endParaRPr b="1" spc="-50"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728" name="object 3"/>
          <p:cNvSpPr txBox="1"/>
          <p:nvPr/>
        </p:nvSpPr>
        <p:spPr>
          <a:xfrm>
            <a:off x="445135" y="1544320"/>
            <a:ext cx="8522970" cy="4641850"/>
          </a:xfrm>
          <a:prstGeom prst="rect">
            <a:avLst/>
          </a:prstGeom>
        </p:spPr>
        <p:txBody>
          <a:bodyPr vert="horz" wrap="square" lIns="0" tIns="12700" rIns="0" bIns="0" rtlCol="0">
            <a:noAutofit/>
          </a:bodyPr>
          <a:lstStyle/>
          <a:p>
            <a:pPr marL="546100" marR="0" lvl="0" indent="-457200" algn="l" defTabSz="457200" rtl="0" eaLnBrk="1" fontAlgn="auto" latinLnBrk="0" hangingPunct="1">
              <a:lnSpc>
                <a:spcPct val="100000"/>
              </a:lnSpc>
              <a:spcBef>
                <a:spcPts val="805"/>
              </a:spcBef>
              <a:spcAft>
                <a:spcPts val="0"/>
              </a:spcAft>
              <a:buClr>
                <a:srgbClr val="EF7E09"/>
              </a:buClr>
              <a:buSzTx/>
              <a:buFont typeface="Arial" panose="020B0604020202020204" pitchFamily="34" charset="0"/>
              <a:buChar char="•"/>
              <a:tabLst>
                <a:tab pos="546100" algn="l"/>
              </a:tabLst>
              <a:defRPr/>
            </a:pPr>
            <a:r>
              <a:rPr kumimoji="0" lang="en-US" sz="2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Clostridioides</a:t>
            </a:r>
            <a:r>
              <a:rPr kumimoji="0" lang="en-US" sz="2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(Clostridium) difficile</a:t>
            </a:r>
            <a:r>
              <a:rPr kumimoji="0" lang="en-US"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infections (CDI) have become an emerging health </a:t>
            </a:r>
            <a:r>
              <a:rPr kumimoji="0" lang="en-US" sz="2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threat</a:t>
            </a:r>
          </a:p>
          <a:p>
            <a:pPr marL="546100" marR="0" lvl="0" indent="-457200" algn="l" defTabSz="457200" rtl="0" eaLnBrk="1" fontAlgn="auto" latinLnBrk="0" hangingPunct="1">
              <a:lnSpc>
                <a:spcPct val="100000"/>
              </a:lnSpc>
              <a:spcBef>
                <a:spcPts val="805"/>
              </a:spcBef>
              <a:spcAft>
                <a:spcPts val="0"/>
              </a:spcAft>
              <a:buClr>
                <a:srgbClr val="EF7E09"/>
              </a:buClr>
              <a:buSzTx/>
              <a:buFont typeface="Arial" panose="020B0604020202020204" pitchFamily="34" charset="0"/>
              <a:buChar char="•"/>
              <a:tabLst>
                <a:tab pos="546100" algn="l"/>
              </a:tabLst>
              <a:defRPr/>
            </a:pPr>
            <a:r>
              <a:rPr kumimoji="0" lang="en-US"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Recently, the prevalence of CDI among adults and children with diarrhea in Mwanza has been documented to be 6.4</a:t>
            </a:r>
            <a:r>
              <a:rPr kumimoji="0" lang="en-US" sz="2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p>
          <a:p>
            <a:pPr marL="546100" marR="0" lvl="0" indent="-457200" algn="l" defTabSz="457200" rtl="0" eaLnBrk="1" fontAlgn="auto" latinLnBrk="0" hangingPunct="1">
              <a:lnSpc>
                <a:spcPct val="100000"/>
              </a:lnSpc>
              <a:spcBef>
                <a:spcPts val="805"/>
              </a:spcBef>
              <a:spcAft>
                <a:spcPts val="0"/>
              </a:spcAft>
              <a:buClr>
                <a:srgbClr val="EF7E09"/>
              </a:buClr>
              <a:buSzTx/>
              <a:buFont typeface="Arial" panose="020B0604020202020204" pitchFamily="34" charset="0"/>
              <a:buChar char="•"/>
              <a:tabLst>
                <a:tab pos="546100" algn="l"/>
              </a:tabLst>
              <a:defRPr/>
            </a:pPr>
            <a:r>
              <a:rPr kumimoji="0" lang="en-US"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Use of </a:t>
            </a:r>
            <a:r>
              <a:rPr kumimoji="0" lang="en-US" sz="2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antibiotics </a:t>
            </a:r>
            <a:r>
              <a:rPr kumimoji="0" lang="en-US"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has been documented to be </a:t>
            </a:r>
            <a:r>
              <a:rPr kumimoji="0" lang="en-US" sz="2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strongly associated </a:t>
            </a:r>
            <a:r>
              <a:rPr kumimoji="0" lang="en-US" sz="2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with CDI in </a:t>
            </a:r>
            <a:r>
              <a:rPr kumimoji="0" lang="en-US" sz="2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children</a:t>
            </a:r>
            <a:endParaRPr kumimoji="0" lang="en-US" sz="2800" b="0" i="0" u="none" strike="noStrike" kern="1200" cap="none" spc="-1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4083029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857250"/>
            <a:ext cx="9144000" cy="5100638"/>
          </a:xfrm>
          <a:prstGeom prst="rect">
            <a:avLst/>
          </a:prstGeom>
        </p:spPr>
      </p:pic>
    </p:spTree>
    <p:extLst>
      <p:ext uri="{BB962C8B-B14F-4D97-AF65-F5344CB8AC3E}">
        <p14:creationId xmlns:p14="http://schemas.microsoft.com/office/powerpoint/2010/main" val="73252842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2" name="object 2"/>
          <p:cNvPicPr/>
          <p:nvPr/>
        </p:nvPicPr>
        <p:blipFill>
          <a:blip r:embed="rId2" cstate="print"/>
          <a:stretch>
            <a:fillRect/>
          </a:stretch>
        </p:blipFill>
        <p:spPr>
          <a:xfrm>
            <a:off x="4719955" y="867410"/>
            <a:ext cx="4177665" cy="3928745"/>
          </a:xfrm>
          <a:prstGeom prst="rect">
            <a:avLst/>
          </a:prstGeom>
        </p:spPr>
      </p:pic>
      <p:pic>
        <p:nvPicPr>
          <p:cNvPr id="2097163" name="object 3"/>
          <p:cNvPicPr/>
          <p:nvPr/>
        </p:nvPicPr>
        <p:blipFill>
          <a:blip r:embed="rId3" cstate="print"/>
          <a:stretch>
            <a:fillRect/>
          </a:stretch>
        </p:blipFill>
        <p:spPr>
          <a:xfrm>
            <a:off x="294005" y="867410"/>
            <a:ext cx="4425315" cy="3942080"/>
          </a:xfrm>
          <a:prstGeom prst="rect">
            <a:avLst/>
          </a:prstGeom>
        </p:spPr>
      </p:pic>
      <p:sp>
        <p:nvSpPr>
          <p:cNvPr id="1048744" name="object 4"/>
          <p:cNvSpPr txBox="1"/>
          <p:nvPr/>
        </p:nvSpPr>
        <p:spPr>
          <a:xfrm>
            <a:off x="5221351" y="4838141"/>
            <a:ext cx="3362325" cy="391795"/>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4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Pseudomembranous</a:t>
            </a:r>
            <a:r>
              <a:rPr kumimoji="0" sz="24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colitis</a:t>
            </a:r>
            <a:endParaRPr kumimoji="0" sz="24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p:txBody>
      </p:sp>
      <p:sp>
        <p:nvSpPr>
          <p:cNvPr id="1048745" name="object 5"/>
          <p:cNvSpPr txBox="1"/>
          <p:nvPr/>
        </p:nvSpPr>
        <p:spPr>
          <a:xfrm>
            <a:off x="2002282" y="4838141"/>
            <a:ext cx="1045718" cy="391795"/>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4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Normal</a:t>
            </a:r>
            <a:endParaRPr kumimoji="0" sz="24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7063653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7" name="object 2"/>
          <p:cNvSpPr txBox="1">
            <a:spLocks noGrp="1"/>
          </p:cNvSpPr>
          <p:nvPr>
            <p:ph type="title"/>
          </p:nvPr>
        </p:nvSpPr>
        <p:spPr>
          <a:xfrm>
            <a:off x="457200" y="210605"/>
            <a:ext cx="8229600" cy="1271066"/>
          </a:xfrm>
          <a:prstGeom prst="rect">
            <a:avLst/>
          </a:prstGeom>
        </p:spPr>
        <p:txBody>
          <a:bodyPr vert="horz" wrap="square" lIns="0" tIns="603453" rIns="0" bIns="0" rtlCol="0">
            <a:spAutoFit/>
          </a:bodyPr>
          <a:lstStyle/>
          <a:p>
            <a:pPr marL="378460">
              <a:lnSpc>
                <a:spcPct val="100000"/>
              </a:lnSpc>
              <a:spcBef>
                <a:spcPts val="95"/>
              </a:spcBef>
            </a:pPr>
            <a:r>
              <a:rPr sz="4300" b="1" spc="-50" dirty="0">
                <a:solidFill>
                  <a:schemeClr val="bg2">
                    <a:lumMod val="10000"/>
                  </a:schemeClr>
                </a:solidFill>
                <a:latin typeface="Times New Roman" panose="02020603050405020304" pitchFamily="18" charset="0"/>
                <a:cs typeface="Times New Roman" panose="02020603050405020304" pitchFamily="18" charset="0"/>
              </a:rPr>
              <a:t>Diagnosis</a:t>
            </a:r>
            <a:r>
              <a:rPr sz="4300" b="1" spc="-180" dirty="0">
                <a:solidFill>
                  <a:schemeClr val="bg2">
                    <a:lumMod val="10000"/>
                  </a:schemeClr>
                </a:solidFill>
                <a:latin typeface="Times New Roman" panose="02020603050405020304" pitchFamily="18" charset="0"/>
                <a:cs typeface="Times New Roman" panose="02020603050405020304" pitchFamily="18" charset="0"/>
              </a:rPr>
              <a:t> </a:t>
            </a:r>
            <a:r>
              <a:rPr sz="4300" b="1" dirty="0">
                <a:solidFill>
                  <a:schemeClr val="bg2">
                    <a:lumMod val="10000"/>
                  </a:schemeClr>
                </a:solidFill>
                <a:latin typeface="Times New Roman" panose="02020603050405020304" pitchFamily="18" charset="0"/>
                <a:cs typeface="Times New Roman" panose="02020603050405020304" pitchFamily="18" charset="0"/>
              </a:rPr>
              <a:t>of</a:t>
            </a:r>
            <a:r>
              <a:rPr sz="4300" b="1" spc="-170" dirty="0">
                <a:solidFill>
                  <a:schemeClr val="bg2">
                    <a:lumMod val="10000"/>
                  </a:schemeClr>
                </a:solidFill>
                <a:latin typeface="Times New Roman" panose="02020603050405020304" pitchFamily="18" charset="0"/>
                <a:cs typeface="Times New Roman" panose="02020603050405020304" pitchFamily="18" charset="0"/>
              </a:rPr>
              <a:t> </a:t>
            </a:r>
            <a:r>
              <a:rPr sz="4300" b="1" i="1" dirty="0">
                <a:solidFill>
                  <a:schemeClr val="bg2">
                    <a:lumMod val="10000"/>
                  </a:schemeClr>
                </a:solidFill>
                <a:latin typeface="Times New Roman" panose="02020603050405020304" pitchFamily="18" charset="0"/>
                <a:cs typeface="Times New Roman" panose="02020603050405020304" pitchFamily="18" charset="0"/>
              </a:rPr>
              <a:t>C.</a:t>
            </a:r>
            <a:r>
              <a:rPr sz="4300" b="1" i="1" spc="-180" dirty="0">
                <a:solidFill>
                  <a:schemeClr val="bg2">
                    <a:lumMod val="10000"/>
                  </a:schemeClr>
                </a:solidFill>
                <a:latin typeface="Times New Roman" panose="02020603050405020304" pitchFamily="18" charset="0"/>
                <a:cs typeface="Times New Roman" panose="02020603050405020304" pitchFamily="18" charset="0"/>
              </a:rPr>
              <a:t> </a:t>
            </a:r>
            <a:r>
              <a:rPr sz="4300" b="1" i="1" spc="-50" dirty="0">
                <a:solidFill>
                  <a:schemeClr val="bg2">
                    <a:lumMod val="10000"/>
                  </a:schemeClr>
                </a:solidFill>
                <a:latin typeface="Times New Roman" panose="02020603050405020304" pitchFamily="18" charset="0"/>
                <a:cs typeface="Times New Roman" panose="02020603050405020304" pitchFamily="18" charset="0"/>
              </a:rPr>
              <a:t>difficile</a:t>
            </a:r>
            <a:r>
              <a:rPr sz="4300" b="1" i="1" spc="-165" dirty="0">
                <a:solidFill>
                  <a:schemeClr val="bg2">
                    <a:lumMod val="10000"/>
                  </a:schemeClr>
                </a:solidFill>
                <a:latin typeface="Times New Roman" panose="02020603050405020304" pitchFamily="18" charset="0"/>
                <a:cs typeface="Times New Roman" panose="02020603050405020304" pitchFamily="18" charset="0"/>
              </a:rPr>
              <a:t> </a:t>
            </a:r>
            <a:r>
              <a:rPr sz="4300" b="1" spc="-10" dirty="0">
                <a:solidFill>
                  <a:schemeClr val="bg2">
                    <a:lumMod val="10000"/>
                  </a:schemeClr>
                </a:solidFill>
                <a:latin typeface="Times New Roman" panose="02020603050405020304" pitchFamily="18" charset="0"/>
                <a:cs typeface="Times New Roman" panose="02020603050405020304" pitchFamily="18" charset="0"/>
              </a:rPr>
              <a:t>diarrhea</a:t>
            </a:r>
            <a:endParaRPr sz="43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758" name="object 3"/>
          <p:cNvSpPr txBox="1"/>
          <p:nvPr/>
        </p:nvSpPr>
        <p:spPr>
          <a:xfrm>
            <a:off x="457835" y="1481672"/>
            <a:ext cx="8284210" cy="6208814"/>
          </a:xfrm>
          <a:prstGeom prst="rect">
            <a:avLst/>
          </a:prstGeom>
        </p:spPr>
        <p:txBody>
          <a:bodyPr vert="horz" wrap="square" lIns="0" tIns="114300" rIns="0" bIns="0" rtlCol="0">
            <a:noAutofit/>
          </a:bodyPr>
          <a:lstStyle/>
          <a:p>
            <a:pPr marL="469900" marR="0" lvl="0" indent="-457200" algn="l" defTabSz="457200" rtl="0" eaLnBrk="1" fontAlgn="auto" latinLnBrk="0" hangingPunct="1">
              <a:lnSpc>
                <a:spcPct val="100000"/>
              </a:lnSpc>
              <a:spcBef>
                <a:spcPts val="900"/>
              </a:spcBef>
              <a:spcAft>
                <a:spcPts val="0"/>
              </a:spcAft>
              <a:buClr>
                <a:srgbClr val="EF7E09"/>
              </a:buClr>
              <a:buSzTx/>
              <a:buFont typeface="Arial MT"/>
              <a:buChar char="•"/>
              <a:tabLst>
                <a:tab pos="469900" algn="l"/>
              </a:tabLst>
              <a:defRPr/>
            </a:pP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Stool</a:t>
            </a:r>
            <a:r>
              <a:rPr kumimoji="0" sz="2800" b="0" i="0" u="none" strike="noStrike" kern="1200" cap="none" spc="-7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culture:</a:t>
            </a:r>
            <a:r>
              <a:rPr kumimoji="0" sz="2800" b="0" i="0" u="none" strike="noStrike" kern="1200" cap="none" spc="-7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difficult</a:t>
            </a:r>
            <a:r>
              <a:rPr kumimoji="0" sz="28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and</a:t>
            </a:r>
            <a:r>
              <a:rPr kumimoji="0" sz="2800" b="0"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many</a:t>
            </a:r>
            <a:r>
              <a:rPr kumimoji="0" sz="2800" b="0" i="0" u="none" strike="noStrike" kern="1200" cap="none" spc="-7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false</a:t>
            </a:r>
            <a:r>
              <a:rPr kumimoji="0" sz="28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positive</a:t>
            </a:r>
            <a:r>
              <a:rPr kumimoji="0" sz="28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rPr>
              <a:t>results</a:t>
            </a:r>
            <a:endParaRPr kumimoji="0" lang="en-US" sz="2800" b="0" i="0" u="none" strike="noStrike" kern="1200" cap="none" spc="-1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endParaRPr>
          </a:p>
          <a:p>
            <a:pPr marL="469900" marR="0" lvl="0" indent="-457200" algn="l" defTabSz="457200" rtl="0" eaLnBrk="1" fontAlgn="auto" latinLnBrk="0" hangingPunct="1">
              <a:lnSpc>
                <a:spcPct val="100000"/>
              </a:lnSpc>
              <a:spcBef>
                <a:spcPts val="900"/>
              </a:spcBef>
              <a:spcAft>
                <a:spcPts val="0"/>
              </a:spcAft>
              <a:buClr>
                <a:srgbClr val="EF7E09"/>
              </a:buClr>
              <a:buSzTx/>
              <a:buFont typeface="Arial MT"/>
              <a:buChar char="•"/>
              <a:tabLst>
                <a:tab pos="469900" algn="l"/>
              </a:tabLst>
              <a:defRPr/>
            </a:pPr>
            <a:r>
              <a:rPr kumimoji="0" lang="en-US" sz="2800" b="0" i="0" u="none" strike="noStrike" kern="1200" cap="none" spc="-1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rPr>
              <a:t>GDH Antigen testing</a:t>
            </a: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900" marR="434975" lvl="0" indent="-457835" algn="l" defTabSz="457200" rtl="0" eaLnBrk="1" fontAlgn="auto" latinLnBrk="0" hangingPunct="1">
              <a:lnSpc>
                <a:spcPct val="100000"/>
              </a:lnSpc>
              <a:spcBef>
                <a:spcPts val="805"/>
              </a:spcBef>
              <a:spcAft>
                <a:spcPts val="0"/>
              </a:spcAft>
              <a:buClr>
                <a:srgbClr val="EF7E09"/>
              </a:buClr>
              <a:buSzTx/>
              <a:buFont typeface="Arial MT"/>
              <a:buChar char="•"/>
              <a:tabLst>
                <a:tab pos="469900" algn="l"/>
              </a:tabLst>
              <a:defRPr/>
            </a:pP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Cytotoxicity</a:t>
            </a:r>
            <a:r>
              <a:rPr kumimoji="0" sz="2800" b="0" i="0" u="none" strike="noStrike" kern="1200" cap="none" spc="-8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2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assay,</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sensitivity</a:t>
            </a:r>
            <a:r>
              <a:rPr kumimoji="0" sz="2800" b="0" i="0" u="none" strike="noStrike" kern="1200" cap="none" spc="-6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94-</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100%</a:t>
            </a:r>
            <a:r>
              <a:rPr kumimoji="0" sz="2800" b="0"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and</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specificity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99%,</a:t>
            </a: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expensive</a:t>
            </a: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and</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requires</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2-</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3</a:t>
            </a: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2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days</a:t>
            </a: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900" marR="5080" lvl="0" indent="-457835" algn="l" defTabSz="457200" rtl="0" eaLnBrk="1" fontAlgn="auto" latinLnBrk="0" hangingPunct="1">
              <a:lnSpc>
                <a:spcPct val="100000"/>
              </a:lnSpc>
              <a:spcBef>
                <a:spcPts val="810"/>
              </a:spcBef>
              <a:spcAft>
                <a:spcPts val="0"/>
              </a:spcAft>
              <a:buClr>
                <a:srgbClr val="EF7E09"/>
              </a:buClr>
              <a:buSzTx/>
              <a:buFont typeface="Arial MT"/>
              <a:buChar char="•"/>
              <a:tabLst>
                <a:tab pos="469900" algn="l"/>
              </a:tabLst>
              <a:defRPr/>
            </a:pP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ELISA</a:t>
            </a:r>
            <a:r>
              <a:rPr kumimoji="0" sz="2800" b="0" i="0" u="none" strike="noStrike" kern="1200" cap="none" spc="-7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detection</a:t>
            </a:r>
            <a:r>
              <a:rPr kumimoji="0" sz="2800" b="0" i="0" u="none" strike="noStrike" kern="1200" cap="none" spc="-8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of</a:t>
            </a:r>
            <a:r>
              <a:rPr kumimoji="0" sz="2800" b="0" i="0" u="none" strike="noStrike" kern="1200" cap="none" spc="-6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toxins</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a:t>
            </a:r>
            <a:r>
              <a:rPr kumimoji="0" sz="2800" b="0"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and</a:t>
            </a:r>
            <a:r>
              <a:rPr kumimoji="0" sz="2800" b="0" i="0" u="none" strike="noStrike" kern="1200" cap="none" spc="-7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B,</a:t>
            </a:r>
            <a:r>
              <a:rPr kumimoji="0" sz="2800" b="0" i="0" u="none" strike="noStrike" kern="1200" cap="none" spc="-7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comparable</a:t>
            </a:r>
            <a:r>
              <a:rPr kumimoji="0" sz="2800" b="0" i="0" u="none" strike="noStrike" kern="1200" cap="none" spc="-6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specificity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and</a:t>
            </a:r>
            <a:r>
              <a:rPr kumimoji="0" sz="2800" b="0" i="0" u="none" strike="noStrike" kern="1200" cap="none" spc="-2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sensitivity</a:t>
            </a:r>
            <a:r>
              <a:rPr kumimoji="0" sz="2800" b="0" i="0" u="none" strike="noStrike" kern="1200" cap="none" spc="-3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70-</a:t>
            </a:r>
            <a:r>
              <a:rPr kumimoji="0" sz="2800" b="0" i="0" u="none" strike="noStrike" kern="1200" cap="none" spc="-2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90%</a:t>
            </a: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900" marR="316865" lvl="0" indent="-457835" algn="l" defTabSz="457200" rtl="0" eaLnBrk="1" fontAlgn="auto" latinLnBrk="0" hangingPunct="1">
              <a:lnSpc>
                <a:spcPct val="100000"/>
              </a:lnSpc>
              <a:spcBef>
                <a:spcPts val="790"/>
              </a:spcBef>
              <a:spcAft>
                <a:spcPts val="0"/>
              </a:spcAft>
              <a:buClr>
                <a:srgbClr val="EF7E09"/>
              </a:buClr>
              <a:buSzTx/>
              <a:buFont typeface="Arial MT"/>
              <a:buChar char="•"/>
              <a:tabLst>
                <a:tab pos="469900" algn="l"/>
              </a:tabLst>
              <a:defRPr/>
            </a:pPr>
            <a:r>
              <a:rPr kumimoji="0" lang="en-US" sz="2800" b="0" i="0" u="none" strike="noStrike" kern="1200" cap="none" spc="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rPr>
              <a:t>NAAT/</a:t>
            </a:r>
            <a:r>
              <a:rPr kumimoji="0" sz="2800" b="0" i="0" u="none" strike="noStrike" kern="1200" cap="none" spc="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rPr>
              <a:t>PCR</a:t>
            </a:r>
            <a:r>
              <a:rPr kumimoji="0" sz="2800" b="0" i="0" u="none" strike="noStrike" kern="1200" cap="none" spc="-7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detection</a:t>
            </a:r>
            <a:r>
              <a:rPr kumimoji="0" sz="2800" b="0" i="0" u="none" strike="noStrike" kern="1200" cap="none" spc="-6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of</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the</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1"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genes</a:t>
            </a:r>
            <a:r>
              <a:rPr kumimoji="0" sz="2800" b="1"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for</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both</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toxins</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is</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2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now </a:t>
            </a:r>
            <a:r>
              <a:rPr kumimoji="0" sz="2800" b="0" i="0" u="none" strike="noStrike" kern="1200" cap="none" spc="-2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preferred,</a:t>
            </a:r>
            <a:r>
              <a:rPr kumimoji="0" sz="2800" b="0" i="0" u="none" strike="noStrike" kern="1200" cap="none" spc="-3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sensitivity</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nearly</a:t>
            </a: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100%</a:t>
            </a: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and</a:t>
            </a: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specificity</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2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97%,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assays</a:t>
            </a:r>
            <a:r>
              <a:rPr kumimoji="0" sz="2800" b="0" i="0" u="none" strike="noStrike" kern="1200" cap="none" spc="-7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that</a:t>
            </a:r>
            <a:r>
              <a:rPr kumimoji="0" sz="2800" b="0" i="0" u="none" strike="noStrike" kern="1200" cap="none" spc="-7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detect</a:t>
            </a:r>
            <a:r>
              <a:rPr kumimoji="0" sz="2800" b="0" i="0" u="none" strike="noStrike" kern="1200" cap="none" spc="-7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both</a:t>
            </a:r>
            <a:r>
              <a:rPr kumimoji="0" sz="2800" b="0" i="0" u="none" strike="noStrike" kern="1200" cap="none" spc="-6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toxins</a:t>
            </a:r>
            <a:r>
              <a:rPr kumimoji="0" sz="2800" b="0" i="0" u="none" strike="noStrike" kern="1200" cap="none" spc="-7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preferred</a:t>
            </a: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900" marR="0" lvl="0" indent="-457200" algn="l" defTabSz="457200" rtl="0" eaLnBrk="1" fontAlgn="auto" latinLnBrk="0" hangingPunct="1">
              <a:lnSpc>
                <a:spcPct val="100000"/>
              </a:lnSpc>
              <a:spcBef>
                <a:spcPts val="805"/>
              </a:spcBef>
              <a:spcAft>
                <a:spcPts val="0"/>
              </a:spcAft>
              <a:buClr>
                <a:srgbClr val="EF7E09"/>
              </a:buClr>
              <a:buSzTx/>
              <a:buFont typeface="Arial MT"/>
              <a:buChar char="•"/>
              <a:tabLst>
                <a:tab pos="469900" algn="l"/>
              </a:tabLst>
              <a:defRPr/>
            </a:pP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8914865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stretch>
            <a:fillRect/>
          </a:stretch>
        </p:blipFill>
        <p:spPr>
          <a:xfrm>
            <a:off x="457201" y="685800"/>
            <a:ext cx="8229600" cy="5440363"/>
          </a:xfrm>
          <a:prstGeom prst="rect">
            <a:avLst/>
          </a:prstGeom>
        </p:spPr>
      </p:pic>
    </p:spTree>
    <p:extLst>
      <p:ext uri="{BB962C8B-B14F-4D97-AF65-F5344CB8AC3E}">
        <p14:creationId xmlns:p14="http://schemas.microsoft.com/office/powerpoint/2010/main" val="354990231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object 2"/>
          <p:cNvSpPr txBox="1">
            <a:spLocks noGrp="1"/>
          </p:cNvSpPr>
          <p:nvPr>
            <p:ph type="title"/>
          </p:nvPr>
        </p:nvSpPr>
        <p:spPr>
          <a:xfrm>
            <a:off x="902004" y="383190"/>
            <a:ext cx="6870700" cy="1335622"/>
          </a:xfrm>
          <a:prstGeom prst="rect">
            <a:avLst/>
          </a:prstGeom>
        </p:spPr>
        <p:txBody>
          <a:bodyPr vert="horz" wrap="square" lIns="0" tIns="12065" rIns="0" bIns="0" rtlCol="0">
            <a:spAutoFit/>
          </a:bodyPr>
          <a:lstStyle/>
          <a:p>
            <a:pPr marL="12700">
              <a:lnSpc>
                <a:spcPct val="100000"/>
              </a:lnSpc>
              <a:spcBef>
                <a:spcPts val="95"/>
              </a:spcBef>
            </a:pPr>
            <a:r>
              <a:rPr sz="4300" b="1" spc="-105" dirty="0">
                <a:solidFill>
                  <a:schemeClr val="bg2">
                    <a:lumMod val="10000"/>
                  </a:schemeClr>
                </a:solidFill>
                <a:latin typeface="Times New Roman" panose="02020603050405020304" pitchFamily="18" charset="0"/>
                <a:cs typeface="Times New Roman" panose="02020603050405020304" pitchFamily="18" charset="0"/>
              </a:rPr>
              <a:t>Treatment</a:t>
            </a:r>
            <a:r>
              <a:rPr sz="4300" b="1" spc="-140" dirty="0">
                <a:solidFill>
                  <a:schemeClr val="bg2">
                    <a:lumMod val="10000"/>
                  </a:schemeClr>
                </a:solidFill>
                <a:latin typeface="Times New Roman" panose="02020603050405020304" pitchFamily="18" charset="0"/>
                <a:cs typeface="Times New Roman" panose="02020603050405020304" pitchFamily="18" charset="0"/>
              </a:rPr>
              <a:t> </a:t>
            </a:r>
            <a:r>
              <a:rPr sz="4300" b="1" dirty="0">
                <a:solidFill>
                  <a:schemeClr val="bg2">
                    <a:lumMod val="10000"/>
                  </a:schemeClr>
                </a:solidFill>
                <a:latin typeface="Times New Roman" panose="02020603050405020304" pitchFamily="18" charset="0"/>
                <a:cs typeface="Times New Roman" panose="02020603050405020304" pitchFamily="18" charset="0"/>
              </a:rPr>
              <a:t>of</a:t>
            </a:r>
            <a:r>
              <a:rPr sz="4300" b="1" spc="-185" dirty="0">
                <a:solidFill>
                  <a:schemeClr val="bg2">
                    <a:lumMod val="10000"/>
                  </a:schemeClr>
                </a:solidFill>
                <a:latin typeface="Times New Roman" panose="02020603050405020304" pitchFamily="18" charset="0"/>
                <a:cs typeface="Times New Roman" panose="02020603050405020304" pitchFamily="18" charset="0"/>
              </a:rPr>
              <a:t> </a:t>
            </a:r>
            <a:r>
              <a:rPr sz="4300" b="1" i="1" dirty="0">
                <a:solidFill>
                  <a:schemeClr val="bg2">
                    <a:lumMod val="10000"/>
                  </a:schemeClr>
                </a:solidFill>
                <a:latin typeface="Times New Roman" panose="02020603050405020304" pitchFamily="18" charset="0"/>
                <a:cs typeface="Times New Roman" panose="02020603050405020304" pitchFamily="18" charset="0"/>
              </a:rPr>
              <a:t>C.</a:t>
            </a:r>
            <a:r>
              <a:rPr sz="4300" b="1" i="1" spc="-140" dirty="0">
                <a:solidFill>
                  <a:schemeClr val="bg2">
                    <a:lumMod val="10000"/>
                  </a:schemeClr>
                </a:solidFill>
                <a:latin typeface="Times New Roman" panose="02020603050405020304" pitchFamily="18" charset="0"/>
                <a:cs typeface="Times New Roman" panose="02020603050405020304" pitchFamily="18" charset="0"/>
              </a:rPr>
              <a:t> </a:t>
            </a:r>
            <a:r>
              <a:rPr sz="4300" b="1" i="1" spc="-50" dirty="0">
                <a:solidFill>
                  <a:schemeClr val="bg2">
                    <a:lumMod val="10000"/>
                  </a:schemeClr>
                </a:solidFill>
                <a:latin typeface="Times New Roman" panose="02020603050405020304" pitchFamily="18" charset="0"/>
                <a:cs typeface="Times New Roman" panose="02020603050405020304" pitchFamily="18" charset="0"/>
              </a:rPr>
              <a:t>difficile</a:t>
            </a:r>
            <a:r>
              <a:rPr sz="4300" b="1" i="1" spc="-140" dirty="0">
                <a:solidFill>
                  <a:schemeClr val="bg2">
                    <a:lumMod val="10000"/>
                  </a:schemeClr>
                </a:solidFill>
                <a:latin typeface="Times New Roman" panose="02020603050405020304" pitchFamily="18" charset="0"/>
                <a:cs typeface="Times New Roman" panose="02020603050405020304" pitchFamily="18" charset="0"/>
              </a:rPr>
              <a:t> </a:t>
            </a:r>
            <a:r>
              <a:rPr sz="4300" b="1" spc="-10" dirty="0" smtClean="0">
                <a:solidFill>
                  <a:schemeClr val="bg2">
                    <a:lumMod val="10000"/>
                  </a:schemeClr>
                </a:solidFill>
                <a:latin typeface="Times New Roman" panose="02020603050405020304" pitchFamily="18" charset="0"/>
                <a:cs typeface="Times New Roman" panose="02020603050405020304" pitchFamily="18" charset="0"/>
              </a:rPr>
              <a:t>diarrhea</a:t>
            </a:r>
            <a:r>
              <a:rPr lang="en-US" sz="4300" b="1" spc="-10" dirty="0" smtClean="0">
                <a:solidFill>
                  <a:schemeClr val="bg2">
                    <a:lumMod val="10000"/>
                  </a:schemeClr>
                </a:solidFill>
                <a:latin typeface="Times New Roman" panose="02020603050405020304" pitchFamily="18" charset="0"/>
                <a:cs typeface="Times New Roman" panose="02020603050405020304" pitchFamily="18" charset="0"/>
              </a:rPr>
              <a:t>-1</a:t>
            </a:r>
            <a:endParaRPr sz="43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762" name="object 3"/>
          <p:cNvSpPr txBox="1"/>
          <p:nvPr/>
        </p:nvSpPr>
        <p:spPr>
          <a:xfrm>
            <a:off x="945896" y="1993773"/>
            <a:ext cx="7437120" cy="2269852"/>
          </a:xfrm>
          <a:prstGeom prst="rect">
            <a:avLst/>
          </a:prstGeom>
        </p:spPr>
        <p:txBody>
          <a:bodyPr vert="horz" wrap="square" lIns="0" tIns="114300" rIns="0" bIns="0" rtlCol="0">
            <a:spAutoFit/>
          </a:bodyPr>
          <a:lstStyle/>
          <a:p>
            <a:pPr marL="469265" marR="0" lvl="0" indent="-456565" algn="l" defTabSz="457200" rtl="0" eaLnBrk="1" fontAlgn="auto" latinLnBrk="0" hangingPunct="1">
              <a:lnSpc>
                <a:spcPct val="100000"/>
              </a:lnSpc>
              <a:spcBef>
                <a:spcPts val="900"/>
              </a:spcBef>
              <a:spcAft>
                <a:spcPts val="0"/>
              </a:spcAft>
              <a:buClr>
                <a:srgbClr val="EF7E09"/>
              </a:buClr>
              <a:buSzTx/>
              <a:buFont typeface="Arial MT"/>
              <a:buChar char="•"/>
              <a:tabLst>
                <a:tab pos="469265" algn="l"/>
              </a:tabLst>
              <a:defRPr/>
            </a:pPr>
            <a:r>
              <a:rPr kumimoji="0" sz="24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Whenever</a:t>
            </a:r>
            <a:r>
              <a:rPr kumimoji="0" sz="2400" b="0"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possible</a:t>
            </a:r>
            <a:r>
              <a:rPr kumimoji="0" sz="2400" b="0"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1"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discontinue</a:t>
            </a:r>
            <a:r>
              <a:rPr kumimoji="0" sz="2400" b="1"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1"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the</a:t>
            </a:r>
            <a:r>
              <a:rPr kumimoji="0" sz="2400" b="1"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1"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offending</a:t>
            </a:r>
            <a:r>
              <a:rPr kumimoji="0" sz="2400" b="1"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1"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antibiotic</a:t>
            </a:r>
            <a:endParaRPr kumimoji="0" sz="24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265" marR="0" lvl="0" indent="-456565" algn="l" defTabSz="457200" rtl="0" eaLnBrk="1" fontAlgn="auto" latinLnBrk="0" hangingPunct="1">
              <a:lnSpc>
                <a:spcPct val="100000"/>
              </a:lnSpc>
              <a:spcBef>
                <a:spcPts val="805"/>
              </a:spcBef>
              <a:spcAft>
                <a:spcPts val="0"/>
              </a:spcAft>
              <a:buClr>
                <a:srgbClr val="EF7E09"/>
              </a:buClr>
              <a:buSzTx/>
              <a:buFont typeface="Arial MT"/>
              <a:buChar char="•"/>
              <a:tabLst>
                <a:tab pos="469265" algn="l"/>
              </a:tabLst>
              <a:defRPr/>
            </a:pP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Avoid</a:t>
            </a:r>
            <a:r>
              <a:rPr kumimoji="0" sz="24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antiperistaltic</a:t>
            </a:r>
            <a:r>
              <a:rPr kumimoji="0" sz="2400" b="0" i="0" u="none" strike="noStrike" kern="1200" cap="none" spc="-7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agents</a:t>
            </a:r>
            <a:r>
              <a:rPr kumimoji="0" sz="24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sz="2400" b="0" i="0" u="none" strike="noStrike" kern="1200" cap="none" spc="-3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t>
            </a:r>
            <a:r>
              <a:rPr kumimoji="0" sz="24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risk</a:t>
            </a:r>
            <a:r>
              <a:rPr kumimoji="0" sz="24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of</a:t>
            </a:r>
            <a:r>
              <a:rPr kumimoji="0" sz="24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toxic</a:t>
            </a:r>
            <a:r>
              <a:rPr kumimoji="0" sz="24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megacolon</a:t>
            </a:r>
            <a:endParaRPr kumimoji="0" sz="24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265" marR="0" lvl="0" indent="-456565" algn="l" defTabSz="457200" rtl="0" eaLnBrk="1" fontAlgn="auto" latinLnBrk="0" hangingPunct="1">
              <a:lnSpc>
                <a:spcPct val="100000"/>
              </a:lnSpc>
              <a:spcBef>
                <a:spcPts val="810"/>
              </a:spcBef>
              <a:spcAft>
                <a:spcPts val="0"/>
              </a:spcAft>
              <a:buClr>
                <a:srgbClr val="EF7E09"/>
              </a:buClr>
              <a:buSzTx/>
              <a:buFont typeface="Arial MT"/>
              <a:buChar char="•"/>
              <a:tabLst>
                <a:tab pos="469265" algn="l"/>
              </a:tabLst>
              <a:defRPr/>
            </a:pP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Fluids</a:t>
            </a:r>
            <a:r>
              <a:rPr kumimoji="0" sz="2400" b="0" i="0" u="none" strike="noStrike" kern="1200" cap="none" spc="-6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and</a:t>
            </a:r>
            <a:r>
              <a:rPr kumimoji="0" sz="24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electrolytes</a:t>
            </a:r>
            <a:r>
              <a:rPr kumimoji="0" sz="2400" b="0" i="0" u="none" strike="noStrike" kern="1200" cap="none" spc="-8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4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replaced</a:t>
            </a:r>
            <a:endParaRPr kumimoji="0" sz="24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265" marR="0" lvl="0" indent="-456565" algn="l" defTabSz="457200" rtl="0" eaLnBrk="1" fontAlgn="auto" latinLnBrk="0" hangingPunct="1">
              <a:lnSpc>
                <a:spcPct val="100000"/>
              </a:lnSpc>
              <a:spcBef>
                <a:spcPts val="790"/>
              </a:spcBef>
              <a:spcAft>
                <a:spcPts val="0"/>
              </a:spcAft>
              <a:buClr>
                <a:srgbClr val="EF7E09"/>
              </a:buClr>
              <a:buSzTx/>
              <a:buFont typeface="Arial MT"/>
              <a:buChar char="•"/>
              <a:tabLst>
                <a:tab pos="469265" algn="l"/>
              </a:tabLst>
              <a:defRPr/>
            </a:pPr>
            <a:r>
              <a:rPr kumimoji="0" lang="en-US" sz="24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Metronidazole is no longer </a:t>
            </a:r>
            <a:r>
              <a:rPr kumimoji="0" lang="en-US" sz="24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favoured</a:t>
            </a:r>
            <a:r>
              <a:rPr kumimoji="0" lang="en-US" sz="24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as first line due to concerns around resistance</a:t>
            </a:r>
            <a:r>
              <a:rPr kumimoji="0" lang="en-US" sz="24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p>
        </p:txBody>
      </p:sp>
    </p:spTree>
    <p:extLst>
      <p:ext uri="{BB962C8B-B14F-4D97-AF65-F5344CB8AC3E}">
        <p14:creationId xmlns:p14="http://schemas.microsoft.com/office/powerpoint/2010/main" val="358364491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spc="-105" dirty="0">
                <a:solidFill>
                  <a:schemeClr val="bg2">
                    <a:lumMod val="10000"/>
                  </a:schemeClr>
                </a:solidFill>
                <a:latin typeface="Times New Roman" panose="02020603050405020304" pitchFamily="18" charset="0"/>
                <a:cs typeface="Times New Roman" panose="02020603050405020304" pitchFamily="18" charset="0"/>
              </a:rPr>
              <a:t>Treatment</a:t>
            </a:r>
            <a:r>
              <a:rPr lang="en-US" sz="3600" b="1" spc="-140" dirty="0">
                <a:solidFill>
                  <a:schemeClr val="bg2">
                    <a:lumMod val="10000"/>
                  </a:schemeClr>
                </a:solidFill>
                <a:latin typeface="Times New Roman" panose="02020603050405020304" pitchFamily="18" charset="0"/>
                <a:cs typeface="Times New Roman" panose="02020603050405020304" pitchFamily="18" charset="0"/>
              </a:rPr>
              <a:t> </a:t>
            </a:r>
            <a:r>
              <a:rPr lang="en-US" sz="3600" b="1" dirty="0">
                <a:solidFill>
                  <a:schemeClr val="bg2">
                    <a:lumMod val="10000"/>
                  </a:schemeClr>
                </a:solidFill>
                <a:latin typeface="Times New Roman" panose="02020603050405020304" pitchFamily="18" charset="0"/>
                <a:cs typeface="Times New Roman" panose="02020603050405020304" pitchFamily="18" charset="0"/>
              </a:rPr>
              <a:t>of</a:t>
            </a:r>
            <a:r>
              <a:rPr lang="en-US" sz="3600" b="1" spc="-185" dirty="0">
                <a:solidFill>
                  <a:schemeClr val="bg2">
                    <a:lumMod val="10000"/>
                  </a:schemeClr>
                </a:solidFill>
                <a:latin typeface="Times New Roman" panose="02020603050405020304" pitchFamily="18" charset="0"/>
                <a:cs typeface="Times New Roman" panose="02020603050405020304" pitchFamily="18" charset="0"/>
              </a:rPr>
              <a:t> </a:t>
            </a:r>
            <a:r>
              <a:rPr lang="en-US" sz="3600" b="1" i="1" dirty="0">
                <a:solidFill>
                  <a:schemeClr val="bg2">
                    <a:lumMod val="10000"/>
                  </a:schemeClr>
                </a:solidFill>
                <a:latin typeface="Times New Roman" panose="02020603050405020304" pitchFamily="18" charset="0"/>
                <a:cs typeface="Times New Roman" panose="02020603050405020304" pitchFamily="18" charset="0"/>
              </a:rPr>
              <a:t>C.</a:t>
            </a:r>
            <a:r>
              <a:rPr lang="en-US" sz="36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600" b="1" i="1" spc="-50" dirty="0">
                <a:solidFill>
                  <a:schemeClr val="bg2">
                    <a:lumMod val="10000"/>
                  </a:schemeClr>
                </a:solidFill>
                <a:latin typeface="Times New Roman" panose="02020603050405020304" pitchFamily="18" charset="0"/>
                <a:cs typeface="Times New Roman" panose="02020603050405020304" pitchFamily="18" charset="0"/>
              </a:rPr>
              <a:t>difficile</a:t>
            </a:r>
            <a:r>
              <a:rPr lang="en-US" sz="36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600" b="1" spc="-10" dirty="0" smtClean="0">
                <a:solidFill>
                  <a:schemeClr val="bg2">
                    <a:lumMod val="10000"/>
                  </a:schemeClr>
                </a:solidFill>
                <a:latin typeface="Times New Roman" panose="02020603050405020304" pitchFamily="18" charset="0"/>
                <a:cs typeface="Times New Roman" panose="02020603050405020304" pitchFamily="18" charset="0"/>
              </a:rPr>
              <a:t>diarrhea-2</a:t>
            </a:r>
            <a:endParaRPr lang="en-US" b="1" dirty="0">
              <a:solidFill>
                <a:schemeClr val="bg2">
                  <a:lumMod val="10000"/>
                </a:schemeClr>
              </a:solidFill>
            </a:endParaRPr>
          </a:p>
        </p:txBody>
      </p:sp>
      <p:sp>
        <p:nvSpPr>
          <p:cNvPr id="3" name="Content Placeholder 2"/>
          <p:cNvSpPr>
            <a:spLocks noGrp="1"/>
          </p:cNvSpPr>
          <p:nvPr>
            <p:ph idx="1"/>
          </p:nvPr>
        </p:nvSpPr>
        <p:spPr/>
        <p:txBody>
          <a:bodyPr/>
          <a:lstStyle/>
          <a:p>
            <a:pPr marL="355600" indent="-342900">
              <a:spcBef>
                <a:spcPts val="790"/>
              </a:spcBef>
              <a:buClr>
                <a:srgbClr val="EF7E09"/>
              </a:buClr>
              <a:tabLst>
                <a:tab pos="469265" algn="l"/>
              </a:tabLst>
            </a:pPr>
            <a:r>
              <a:rPr lang="en-US" dirty="0" smtClean="0">
                <a:solidFill>
                  <a:schemeClr val="bg2">
                    <a:lumMod val="10000"/>
                  </a:schemeClr>
                </a:solidFill>
                <a:latin typeface="Times New Roman" panose="02020603050405020304" pitchFamily="18" charset="0"/>
                <a:cs typeface="Times New Roman" panose="02020603050405020304" pitchFamily="18" charset="0"/>
              </a:rPr>
              <a:t> Vancomycin </a:t>
            </a:r>
            <a:r>
              <a:rPr lang="en-US" dirty="0">
                <a:solidFill>
                  <a:schemeClr val="bg2">
                    <a:lumMod val="10000"/>
                  </a:schemeClr>
                </a:solidFill>
                <a:latin typeface="Times New Roman" panose="02020603050405020304" pitchFamily="18" charset="0"/>
                <a:cs typeface="Times New Roman" panose="02020603050405020304" pitchFamily="18" charset="0"/>
              </a:rPr>
              <a:t>and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Fidaxomicin</a:t>
            </a:r>
            <a:r>
              <a:rPr lang="en-US" dirty="0" smtClean="0">
                <a:solidFill>
                  <a:schemeClr val="bg2">
                    <a:lumMod val="10000"/>
                  </a:schemeClr>
                </a:solidFill>
                <a:latin typeface="Times New Roman" panose="02020603050405020304" pitchFamily="18" charset="0"/>
                <a:cs typeface="Times New Roman" panose="02020603050405020304" pitchFamily="18" charset="0"/>
              </a:rPr>
              <a:t> </a:t>
            </a:r>
            <a:r>
              <a:rPr lang="en-US" dirty="0">
                <a:solidFill>
                  <a:schemeClr val="bg2">
                    <a:lumMod val="10000"/>
                  </a:schemeClr>
                </a:solidFill>
                <a:latin typeface="Times New Roman" panose="02020603050405020304" pitchFamily="18" charset="0"/>
                <a:cs typeface="Times New Roman" panose="02020603050405020304" pitchFamily="18" charset="0"/>
              </a:rPr>
              <a:t>are now recommended as first line options. </a:t>
            </a:r>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a:p>
            <a:pPr marL="355600" indent="-342900">
              <a:spcBef>
                <a:spcPts val="790"/>
              </a:spcBef>
              <a:buClr>
                <a:srgbClr val="EF7E09"/>
              </a:buClr>
              <a:tabLst>
                <a:tab pos="469265" algn="l"/>
              </a:tabLst>
            </a:pPr>
            <a:r>
              <a:rPr lang="en-US" dirty="0" smtClean="0">
                <a:solidFill>
                  <a:schemeClr val="bg2">
                    <a:lumMod val="10000"/>
                  </a:schemeClr>
                </a:solidFill>
                <a:latin typeface="Times New Roman" panose="02020603050405020304" pitchFamily="18" charset="0"/>
                <a:cs typeface="Times New Roman" panose="02020603050405020304" pitchFamily="18" charset="0"/>
              </a:rPr>
              <a:t>Antibiotic </a:t>
            </a:r>
            <a:r>
              <a:rPr lang="en-US" dirty="0">
                <a:solidFill>
                  <a:schemeClr val="bg2">
                    <a:lumMod val="10000"/>
                  </a:schemeClr>
                </a:solidFill>
                <a:latin typeface="Times New Roman" panose="02020603050405020304" pitchFamily="18" charset="0"/>
                <a:cs typeface="Times New Roman" panose="02020603050405020304" pitchFamily="18" charset="0"/>
              </a:rPr>
              <a:t>therapy should be used in conjunction with good supportive </a:t>
            </a:r>
            <a:r>
              <a:rPr lang="en-US" dirty="0" smtClean="0">
                <a:solidFill>
                  <a:schemeClr val="bg2">
                    <a:lumMod val="10000"/>
                  </a:schemeClr>
                </a:solidFill>
                <a:latin typeface="Times New Roman" panose="02020603050405020304" pitchFamily="18" charset="0"/>
                <a:cs typeface="Times New Roman" panose="02020603050405020304" pitchFamily="18" charset="0"/>
              </a:rPr>
              <a:t>measures</a:t>
            </a:r>
          </a:p>
          <a:p>
            <a:pPr marL="355600" indent="-342900">
              <a:spcBef>
                <a:spcPts val="790"/>
              </a:spcBef>
              <a:buClr>
                <a:srgbClr val="EF7E09"/>
              </a:buClr>
              <a:tabLst>
                <a:tab pos="469265" algn="l"/>
              </a:tabLst>
            </a:pPr>
            <a:r>
              <a:rPr lang="en-US" dirty="0">
                <a:solidFill>
                  <a:schemeClr val="bg2">
                    <a:lumMod val="10000"/>
                  </a:schemeClr>
                </a:solidFill>
                <a:latin typeface="Times New Roman" panose="02020603050405020304" pitchFamily="18" charset="0"/>
                <a:cs typeface="Times New Roman" panose="02020603050405020304" pitchFamily="18" charset="0"/>
              </a:rPr>
              <a:t>E</a:t>
            </a:r>
            <a:r>
              <a:rPr lang="en-US" dirty="0" smtClean="0">
                <a:solidFill>
                  <a:schemeClr val="bg2">
                    <a:lumMod val="10000"/>
                  </a:schemeClr>
                </a:solidFill>
                <a:latin typeface="Times New Roman" panose="02020603050405020304" pitchFamily="18" charset="0"/>
                <a:cs typeface="Times New Roman" panose="02020603050405020304" pitchFamily="18" charset="0"/>
              </a:rPr>
              <a:t>arly </a:t>
            </a:r>
            <a:r>
              <a:rPr lang="en-US" dirty="0">
                <a:solidFill>
                  <a:schemeClr val="bg2">
                    <a:lumMod val="10000"/>
                  </a:schemeClr>
                </a:solidFill>
                <a:latin typeface="Times New Roman" panose="02020603050405020304" pitchFamily="18" charset="0"/>
                <a:cs typeface="Times New Roman" panose="02020603050405020304" pitchFamily="18" charset="0"/>
              </a:rPr>
              <a:t>consideration of surgical management. </a:t>
            </a:r>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a:p>
            <a:pPr marL="355600" indent="-342900">
              <a:spcBef>
                <a:spcPts val="790"/>
              </a:spcBef>
              <a:buClr>
                <a:srgbClr val="EF7E09"/>
              </a:buClr>
              <a:tabLst>
                <a:tab pos="469265" algn="l"/>
              </a:tabLst>
            </a:pPr>
            <a:r>
              <a:rPr lang="en-US" dirty="0" err="1" smtClean="0">
                <a:solidFill>
                  <a:schemeClr val="bg2">
                    <a:lumMod val="10000"/>
                  </a:schemeClr>
                </a:solidFill>
                <a:latin typeface="Times New Roman" panose="02020603050405020304" pitchFamily="18" charset="0"/>
                <a:cs typeface="Times New Roman" panose="02020603050405020304" pitchFamily="18" charset="0"/>
              </a:rPr>
              <a:t>Faecal</a:t>
            </a:r>
            <a:r>
              <a:rPr lang="en-US" dirty="0" smtClean="0">
                <a:solidFill>
                  <a:schemeClr val="bg2">
                    <a:lumMod val="10000"/>
                  </a:schemeClr>
                </a:solidFill>
                <a:latin typeface="Times New Roman" panose="02020603050405020304" pitchFamily="18" charset="0"/>
                <a:cs typeface="Times New Roman" panose="02020603050405020304" pitchFamily="18" charset="0"/>
              </a:rPr>
              <a:t> </a:t>
            </a:r>
            <a:r>
              <a:rPr lang="en-US" dirty="0">
                <a:solidFill>
                  <a:schemeClr val="bg2">
                    <a:lumMod val="10000"/>
                  </a:schemeClr>
                </a:solidFill>
                <a:latin typeface="Times New Roman" panose="02020603050405020304" pitchFamily="18" charset="0"/>
                <a:cs typeface="Times New Roman" panose="02020603050405020304" pitchFamily="18" charset="0"/>
              </a:rPr>
              <a:t>microbiota transplant can be utilized in recurrent CDI and may be useful in severe disease</a:t>
            </a:r>
          </a:p>
        </p:txBody>
      </p:sp>
      <p:sp>
        <p:nvSpPr>
          <p:cNvPr id="4" name="TextBox 3"/>
          <p:cNvSpPr txBox="1"/>
          <p:nvPr/>
        </p:nvSpPr>
        <p:spPr>
          <a:xfrm>
            <a:off x="457200" y="4800600"/>
            <a:ext cx="7924800" cy="1200329"/>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Ubsdell</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D., Maddox, N. L., &amp; Sheridan, R. (2025). Management of severe and fulminant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Clostridioides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difficile infection in adults.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Journal of Medical Microbiology</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74</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(4). https://doi.org/10.1099/jmm.0.001991</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38252785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spc="-105" dirty="0">
                <a:solidFill>
                  <a:schemeClr val="bg2">
                    <a:lumMod val="10000"/>
                  </a:schemeClr>
                </a:solidFill>
                <a:latin typeface="Times New Roman" panose="02020603050405020304" pitchFamily="18" charset="0"/>
                <a:cs typeface="Times New Roman" panose="02020603050405020304" pitchFamily="18" charset="0"/>
              </a:rPr>
              <a:t>Treatment</a:t>
            </a:r>
            <a:r>
              <a:rPr lang="en-US" sz="3600" b="1" spc="-140" dirty="0">
                <a:solidFill>
                  <a:schemeClr val="bg2">
                    <a:lumMod val="10000"/>
                  </a:schemeClr>
                </a:solidFill>
                <a:latin typeface="Times New Roman" panose="02020603050405020304" pitchFamily="18" charset="0"/>
                <a:cs typeface="Times New Roman" panose="02020603050405020304" pitchFamily="18" charset="0"/>
              </a:rPr>
              <a:t> </a:t>
            </a:r>
            <a:r>
              <a:rPr lang="en-US" sz="3600" b="1" dirty="0">
                <a:solidFill>
                  <a:schemeClr val="bg2">
                    <a:lumMod val="10000"/>
                  </a:schemeClr>
                </a:solidFill>
                <a:latin typeface="Times New Roman" panose="02020603050405020304" pitchFamily="18" charset="0"/>
                <a:cs typeface="Times New Roman" panose="02020603050405020304" pitchFamily="18" charset="0"/>
              </a:rPr>
              <a:t>of</a:t>
            </a:r>
            <a:r>
              <a:rPr lang="en-US" sz="3600" b="1" spc="-185" dirty="0">
                <a:solidFill>
                  <a:schemeClr val="bg2">
                    <a:lumMod val="10000"/>
                  </a:schemeClr>
                </a:solidFill>
                <a:latin typeface="Times New Roman" panose="02020603050405020304" pitchFamily="18" charset="0"/>
                <a:cs typeface="Times New Roman" panose="02020603050405020304" pitchFamily="18" charset="0"/>
              </a:rPr>
              <a:t> </a:t>
            </a:r>
            <a:r>
              <a:rPr lang="en-US" sz="3600" b="1" i="1" dirty="0">
                <a:solidFill>
                  <a:schemeClr val="bg2">
                    <a:lumMod val="10000"/>
                  </a:schemeClr>
                </a:solidFill>
                <a:latin typeface="Times New Roman" panose="02020603050405020304" pitchFamily="18" charset="0"/>
                <a:cs typeface="Times New Roman" panose="02020603050405020304" pitchFamily="18" charset="0"/>
              </a:rPr>
              <a:t>C.</a:t>
            </a:r>
            <a:r>
              <a:rPr lang="en-US" sz="36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600" b="1" i="1" spc="-50" dirty="0">
                <a:solidFill>
                  <a:schemeClr val="bg2">
                    <a:lumMod val="10000"/>
                  </a:schemeClr>
                </a:solidFill>
                <a:latin typeface="Times New Roman" panose="02020603050405020304" pitchFamily="18" charset="0"/>
                <a:cs typeface="Times New Roman" panose="02020603050405020304" pitchFamily="18" charset="0"/>
              </a:rPr>
              <a:t>difficile</a:t>
            </a:r>
            <a:r>
              <a:rPr lang="en-US" sz="36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600" b="1" spc="-10" dirty="0" smtClean="0">
                <a:solidFill>
                  <a:schemeClr val="bg2">
                    <a:lumMod val="10000"/>
                  </a:schemeClr>
                </a:solidFill>
                <a:latin typeface="Times New Roman" panose="02020603050405020304" pitchFamily="18" charset="0"/>
                <a:cs typeface="Times New Roman" panose="02020603050405020304" pitchFamily="18" charset="0"/>
              </a:rPr>
              <a:t>diarrhea-3</a:t>
            </a:r>
            <a:endParaRPr lang="en-US" b="1" dirty="0">
              <a:solidFill>
                <a:schemeClr val="bg2">
                  <a:lumMod val="10000"/>
                </a:schemeClr>
              </a:solidFill>
            </a:endParaRPr>
          </a:p>
        </p:txBody>
      </p:sp>
      <p:sp>
        <p:nvSpPr>
          <p:cNvPr id="3" name="Content Placeholder 2"/>
          <p:cNvSpPr>
            <a:spLocks noGrp="1"/>
          </p:cNvSpPr>
          <p:nvPr>
            <p:ph idx="1"/>
          </p:nvPr>
        </p:nvSpPr>
        <p:spPr/>
        <p:txBody>
          <a:bodyPr/>
          <a:lstStyle/>
          <a:p>
            <a:r>
              <a:rPr lang="en-US" dirty="0" smtClean="0">
                <a:solidFill>
                  <a:schemeClr val="bg2">
                    <a:lumMod val="10000"/>
                  </a:schemeClr>
                </a:solidFill>
                <a:latin typeface="Times New Roman" panose="02020603050405020304" pitchFamily="18" charset="0"/>
                <a:cs typeface="Times New Roman" panose="02020603050405020304" pitchFamily="18" charset="0"/>
              </a:rPr>
              <a:t>In treatment </a:t>
            </a:r>
            <a:r>
              <a:rPr lang="en-US" dirty="0">
                <a:solidFill>
                  <a:schemeClr val="bg2">
                    <a:lumMod val="10000"/>
                  </a:schemeClr>
                </a:solidFill>
                <a:latin typeface="Times New Roman" panose="02020603050405020304" pitchFamily="18" charset="0"/>
                <a:cs typeface="Times New Roman" panose="02020603050405020304" pitchFamily="18" charset="0"/>
              </a:rPr>
              <a:t>of CDI when </a:t>
            </a:r>
            <a:r>
              <a:rPr lang="en-US" dirty="0" err="1">
                <a:solidFill>
                  <a:schemeClr val="bg2">
                    <a:lumMod val="10000"/>
                  </a:schemeClr>
                </a:solidFill>
                <a:latin typeface="Times New Roman" panose="02020603050405020304" pitchFamily="18" charset="0"/>
                <a:cs typeface="Times New Roman" panose="02020603050405020304" pitchFamily="18" charset="0"/>
              </a:rPr>
              <a:t>fidaxomicin</a:t>
            </a:r>
            <a:r>
              <a:rPr lang="en-US" dirty="0">
                <a:solidFill>
                  <a:schemeClr val="bg2">
                    <a:lumMod val="10000"/>
                  </a:schemeClr>
                </a:solidFill>
                <a:latin typeface="Times New Roman" panose="02020603050405020304" pitchFamily="18" charset="0"/>
                <a:cs typeface="Times New Roman" panose="02020603050405020304" pitchFamily="18" charset="0"/>
              </a:rPr>
              <a:t> or vancomycin are available, </a:t>
            </a:r>
            <a:r>
              <a:rPr lang="en-US" dirty="0" err="1">
                <a:solidFill>
                  <a:schemeClr val="bg2">
                    <a:lumMod val="10000"/>
                  </a:schemeClr>
                </a:solidFill>
                <a:latin typeface="Times New Roman" panose="02020603050405020304" pitchFamily="18" charset="0"/>
                <a:cs typeface="Times New Roman" panose="02020603050405020304" pitchFamily="18" charset="0"/>
              </a:rPr>
              <a:t>F</a:t>
            </a:r>
            <a:r>
              <a:rPr lang="en-US" dirty="0" err="1" smtClean="0">
                <a:solidFill>
                  <a:schemeClr val="bg2">
                    <a:lumMod val="10000"/>
                  </a:schemeClr>
                </a:solidFill>
                <a:latin typeface="Times New Roman" panose="02020603050405020304" pitchFamily="18" charset="0"/>
                <a:cs typeface="Times New Roman" panose="02020603050405020304" pitchFamily="18" charset="0"/>
              </a:rPr>
              <a:t>idaxomicin</a:t>
            </a:r>
            <a:r>
              <a:rPr lang="en-US" dirty="0" smtClean="0">
                <a:solidFill>
                  <a:schemeClr val="bg2">
                    <a:lumMod val="10000"/>
                  </a:schemeClr>
                </a:solidFill>
                <a:latin typeface="Times New Roman" panose="02020603050405020304" pitchFamily="18" charset="0"/>
                <a:cs typeface="Times New Roman" panose="02020603050405020304" pitchFamily="18" charset="0"/>
              </a:rPr>
              <a:t> (200mg PO bid 10/7) </a:t>
            </a:r>
            <a:r>
              <a:rPr lang="en-US" dirty="0">
                <a:solidFill>
                  <a:schemeClr val="bg2">
                    <a:lumMod val="10000"/>
                  </a:schemeClr>
                </a:solidFill>
                <a:latin typeface="Times New Roman" panose="02020603050405020304" pitchFamily="18" charset="0"/>
                <a:cs typeface="Times New Roman" panose="02020603050405020304" pitchFamily="18" charset="0"/>
              </a:rPr>
              <a:t>is the preferred agent for treatment of initial CDI and the first recurrence of </a:t>
            </a:r>
            <a:r>
              <a:rPr lang="en-US" dirty="0" smtClean="0">
                <a:solidFill>
                  <a:schemeClr val="bg2">
                    <a:lumMod val="10000"/>
                  </a:schemeClr>
                </a:solidFill>
                <a:latin typeface="Times New Roman" panose="02020603050405020304" pitchFamily="18" charset="0"/>
                <a:cs typeface="Times New Roman" panose="02020603050405020304" pitchFamily="18" charset="0"/>
              </a:rPr>
              <a:t>CDI</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r>
              <a:rPr lang="en-US" dirty="0">
                <a:solidFill>
                  <a:schemeClr val="bg2">
                    <a:lumMod val="10000"/>
                  </a:schemeClr>
                </a:solidFill>
                <a:latin typeface="Times New Roman" panose="02020603050405020304" pitchFamily="18" charset="0"/>
                <a:cs typeface="Times New Roman" panose="02020603050405020304" pitchFamily="18" charset="0"/>
              </a:rPr>
              <a:t>If </a:t>
            </a:r>
            <a:r>
              <a:rPr lang="en-US" dirty="0" err="1">
                <a:solidFill>
                  <a:schemeClr val="bg2">
                    <a:lumMod val="10000"/>
                  </a:schemeClr>
                </a:solidFill>
                <a:latin typeface="Times New Roman" panose="02020603050405020304" pitchFamily="18" charset="0"/>
                <a:cs typeface="Times New Roman" panose="02020603050405020304" pitchFamily="18" charset="0"/>
              </a:rPr>
              <a:t>fidaxomicin</a:t>
            </a:r>
            <a:r>
              <a:rPr lang="en-US" dirty="0">
                <a:solidFill>
                  <a:schemeClr val="bg2">
                    <a:lumMod val="10000"/>
                  </a:schemeClr>
                </a:solidFill>
                <a:latin typeface="Times New Roman" panose="02020603050405020304" pitchFamily="18" charset="0"/>
                <a:cs typeface="Times New Roman" panose="02020603050405020304" pitchFamily="18" charset="0"/>
              </a:rPr>
              <a:t> is unavailable, oral vancomycin should be given at 125 mg every 6 hours for 10 days</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r>
              <a:rPr lang="en-US" dirty="0">
                <a:solidFill>
                  <a:schemeClr val="bg2">
                    <a:lumMod val="10000"/>
                  </a:schemeClr>
                </a:solidFill>
                <a:latin typeface="Times New Roman" panose="02020603050405020304" pitchFamily="18" charset="0"/>
                <a:cs typeface="Times New Roman" panose="02020603050405020304" pitchFamily="18" charset="0"/>
              </a:rPr>
              <a:t>If neither </a:t>
            </a:r>
            <a:r>
              <a:rPr lang="en-US" dirty="0" err="1">
                <a:solidFill>
                  <a:schemeClr val="bg2">
                    <a:lumMod val="10000"/>
                  </a:schemeClr>
                </a:solidFill>
                <a:latin typeface="Times New Roman" panose="02020603050405020304" pitchFamily="18" charset="0"/>
                <a:cs typeface="Times New Roman" panose="02020603050405020304" pitchFamily="18" charset="0"/>
              </a:rPr>
              <a:t>fidaxomicin</a:t>
            </a:r>
            <a:r>
              <a:rPr lang="en-US" dirty="0">
                <a:solidFill>
                  <a:schemeClr val="bg2">
                    <a:lumMod val="10000"/>
                  </a:schemeClr>
                </a:solidFill>
                <a:latin typeface="Times New Roman" panose="02020603050405020304" pitchFamily="18" charset="0"/>
                <a:cs typeface="Times New Roman" panose="02020603050405020304" pitchFamily="18" charset="0"/>
              </a:rPr>
              <a:t> nor vancomycin are available, metronidazole should be administered orally</a:t>
            </a:r>
          </a:p>
        </p:txBody>
      </p:sp>
      <p:sp>
        <p:nvSpPr>
          <p:cNvPr id="4" name="TextBox 3"/>
          <p:cNvSpPr txBox="1"/>
          <p:nvPr/>
        </p:nvSpPr>
        <p:spPr>
          <a:xfrm>
            <a:off x="304800" y="5029200"/>
            <a:ext cx="8077200" cy="1754326"/>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1.Van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Prehn</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J.,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Reigadas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E</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et al </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(2021). European Society of Clinical Microbiology and Infectious Diseases: 2021 update on the treatment guidance document for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Clostridioides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difficile infection in adults.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Clinical Microbiology and Infection</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endPar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2.Mada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PK,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Alam</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M,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StatPearls</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AM.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Clostridioides</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difficile infection. 2024. [3-July-2024].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hlinkClick r:id="rId2"/>
              </a:rPr>
              <a:t>https://www.ncbi.nlm.nih.gov/books/NBK431054/</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endPar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400857132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spc="-105" dirty="0">
                <a:solidFill>
                  <a:schemeClr val="bg2">
                    <a:lumMod val="10000"/>
                  </a:schemeClr>
                </a:solidFill>
                <a:latin typeface="Times New Roman" panose="02020603050405020304" pitchFamily="18" charset="0"/>
                <a:cs typeface="Times New Roman" panose="02020603050405020304" pitchFamily="18" charset="0"/>
              </a:rPr>
              <a:t>Treatment</a:t>
            </a:r>
            <a:r>
              <a:rPr lang="en-US" sz="3200" b="1" spc="-140" dirty="0">
                <a:solidFill>
                  <a:schemeClr val="bg2">
                    <a:lumMod val="10000"/>
                  </a:schemeClr>
                </a:solidFill>
                <a:latin typeface="Times New Roman" panose="02020603050405020304" pitchFamily="18" charset="0"/>
                <a:cs typeface="Times New Roman" panose="02020603050405020304" pitchFamily="18" charset="0"/>
              </a:rPr>
              <a:t> </a:t>
            </a:r>
            <a:r>
              <a:rPr lang="en-US" sz="3200" b="1" dirty="0">
                <a:solidFill>
                  <a:schemeClr val="bg2">
                    <a:lumMod val="10000"/>
                  </a:schemeClr>
                </a:solidFill>
                <a:latin typeface="Times New Roman" panose="02020603050405020304" pitchFamily="18" charset="0"/>
                <a:cs typeface="Times New Roman" panose="02020603050405020304" pitchFamily="18" charset="0"/>
              </a:rPr>
              <a:t>of</a:t>
            </a:r>
            <a:r>
              <a:rPr lang="en-US" sz="3200" b="1" spc="-185" dirty="0">
                <a:solidFill>
                  <a:schemeClr val="bg2">
                    <a:lumMod val="10000"/>
                  </a:schemeClr>
                </a:solidFill>
                <a:latin typeface="Times New Roman" panose="02020603050405020304" pitchFamily="18" charset="0"/>
                <a:cs typeface="Times New Roman" panose="02020603050405020304" pitchFamily="18" charset="0"/>
              </a:rPr>
              <a:t> </a:t>
            </a:r>
            <a:r>
              <a:rPr lang="en-US" sz="3200" b="1" i="1" dirty="0">
                <a:solidFill>
                  <a:schemeClr val="bg2">
                    <a:lumMod val="10000"/>
                  </a:schemeClr>
                </a:solidFill>
                <a:latin typeface="Times New Roman" panose="02020603050405020304" pitchFamily="18" charset="0"/>
                <a:cs typeface="Times New Roman" panose="02020603050405020304" pitchFamily="18" charset="0"/>
              </a:rPr>
              <a:t>C.</a:t>
            </a:r>
            <a:r>
              <a:rPr lang="en-US" sz="32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200" b="1" i="1" spc="-50" dirty="0">
                <a:solidFill>
                  <a:schemeClr val="bg2">
                    <a:lumMod val="10000"/>
                  </a:schemeClr>
                </a:solidFill>
                <a:latin typeface="Times New Roman" panose="02020603050405020304" pitchFamily="18" charset="0"/>
                <a:cs typeface="Times New Roman" panose="02020603050405020304" pitchFamily="18" charset="0"/>
              </a:rPr>
              <a:t>difficile</a:t>
            </a:r>
            <a:r>
              <a:rPr lang="en-US" sz="32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200" b="1" spc="-10" dirty="0" smtClean="0">
                <a:solidFill>
                  <a:schemeClr val="bg2">
                    <a:lumMod val="10000"/>
                  </a:schemeClr>
                </a:solidFill>
                <a:latin typeface="Times New Roman" panose="02020603050405020304" pitchFamily="18" charset="0"/>
                <a:cs typeface="Times New Roman" panose="02020603050405020304" pitchFamily="18" charset="0"/>
              </a:rPr>
              <a:t>diarrhea-4</a:t>
            </a:r>
            <a:endParaRPr lang="en-US" b="1" dirty="0">
              <a:solidFill>
                <a:schemeClr val="bg2">
                  <a:lumMod val="10000"/>
                </a:schemeClr>
              </a:solidFill>
            </a:endParaRPr>
          </a:p>
        </p:txBody>
      </p:sp>
      <p:sp>
        <p:nvSpPr>
          <p:cNvPr id="3" name="Content Placeholder 2"/>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ESCMID 2021 recommends </a:t>
            </a:r>
            <a:r>
              <a:rPr lang="en-US" dirty="0" err="1">
                <a:solidFill>
                  <a:schemeClr val="bg2">
                    <a:lumMod val="10000"/>
                  </a:schemeClr>
                </a:solidFill>
                <a:latin typeface="Times New Roman" panose="02020603050405020304" pitchFamily="18" charset="0"/>
                <a:cs typeface="Times New Roman" panose="02020603050405020304" pitchFamily="18" charset="0"/>
              </a:rPr>
              <a:t>bezlotoxumab</a:t>
            </a:r>
            <a:r>
              <a:rPr lang="en-US" dirty="0">
                <a:solidFill>
                  <a:schemeClr val="bg2">
                    <a:lumMod val="10000"/>
                  </a:schemeClr>
                </a:solidFill>
                <a:latin typeface="Times New Roman" panose="02020603050405020304" pitchFamily="18" charset="0"/>
                <a:cs typeface="Times New Roman" panose="02020603050405020304" pitchFamily="18" charset="0"/>
              </a:rPr>
              <a:t> is considered as an adjuvant treatment for recurrent CDI alongside standard-of-care antibiotics when </a:t>
            </a:r>
            <a:r>
              <a:rPr lang="en-US" dirty="0" err="1">
                <a:solidFill>
                  <a:schemeClr val="bg2">
                    <a:lumMod val="10000"/>
                  </a:schemeClr>
                </a:solidFill>
                <a:latin typeface="Times New Roman" panose="02020603050405020304" pitchFamily="18" charset="0"/>
                <a:cs typeface="Times New Roman" panose="02020603050405020304" pitchFamily="18" charset="0"/>
              </a:rPr>
              <a:t>fidaxomicin</a:t>
            </a:r>
            <a:r>
              <a:rPr lang="en-US" dirty="0">
                <a:solidFill>
                  <a:schemeClr val="bg2">
                    <a:lumMod val="10000"/>
                  </a:schemeClr>
                </a:solidFill>
                <a:latin typeface="Times New Roman" panose="02020603050405020304" pitchFamily="18" charset="0"/>
                <a:cs typeface="Times New Roman" panose="02020603050405020304" pitchFamily="18" charset="0"/>
              </a:rPr>
              <a:t> is not available or feasible. </a:t>
            </a:r>
            <a:r>
              <a:rPr lang="en-US" dirty="0" smtClean="0">
                <a:solidFill>
                  <a:schemeClr val="bg2">
                    <a:lumMod val="10000"/>
                  </a:schemeClr>
                </a:solidFill>
                <a:latin typeface="Times New Roman" panose="02020603050405020304" pitchFamily="18" charset="0"/>
                <a:cs typeface="Times New Roman" panose="02020603050405020304" pitchFamily="18" charset="0"/>
              </a:rPr>
              <a:t>. </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IDSA 2021 </a:t>
            </a:r>
            <a:r>
              <a:rPr lang="en-US" dirty="0">
                <a:solidFill>
                  <a:schemeClr val="bg2">
                    <a:lumMod val="10000"/>
                  </a:schemeClr>
                </a:solidFill>
                <a:latin typeface="Times New Roman" panose="02020603050405020304" pitchFamily="18" charset="0"/>
                <a:cs typeface="Times New Roman" panose="02020603050405020304" pitchFamily="18" charset="0"/>
              </a:rPr>
              <a:t>recommends that for patients with a recurrent CDI episode within the last 6 months, </a:t>
            </a:r>
            <a:r>
              <a:rPr lang="en-US" dirty="0" err="1">
                <a:solidFill>
                  <a:schemeClr val="bg2">
                    <a:lumMod val="10000"/>
                  </a:schemeClr>
                </a:solidFill>
                <a:latin typeface="Times New Roman" panose="02020603050405020304" pitchFamily="18" charset="0"/>
                <a:cs typeface="Times New Roman" panose="02020603050405020304" pitchFamily="18" charset="0"/>
              </a:rPr>
              <a:t>bezlotoxumab</a:t>
            </a:r>
            <a:r>
              <a:rPr lang="en-US" dirty="0">
                <a:solidFill>
                  <a:schemeClr val="bg2">
                    <a:lumMod val="10000"/>
                  </a:schemeClr>
                </a:solidFill>
                <a:latin typeface="Times New Roman" panose="02020603050405020304" pitchFamily="18" charset="0"/>
                <a:cs typeface="Times New Roman" panose="02020603050405020304" pitchFamily="18" charset="0"/>
              </a:rPr>
              <a:t> is used as a co-intervention along with antibiotics rather than antibiotics alone</a:t>
            </a:r>
          </a:p>
        </p:txBody>
      </p:sp>
      <p:sp>
        <p:nvSpPr>
          <p:cNvPr id="4" name="TextBox 3"/>
          <p:cNvSpPr txBox="1"/>
          <p:nvPr/>
        </p:nvSpPr>
        <p:spPr>
          <a:xfrm>
            <a:off x="457200" y="4876800"/>
            <a:ext cx="7848600" cy="1477328"/>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Johnson, S</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er</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al. </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(2021). Clinical Practice Guideline by the Infectious Diseases Society of America (IDSA) and Society for Healthcare Epidemiology of America (SHEA): 2021 Focused Update Guidelines on Management of </a:t>
            </a:r>
            <a:r>
              <a:rPr kumimoji="0" lang="en-US" sz="1800" b="0" i="1"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Clostridioides</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difficile</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Infection in Adults.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Clinical Infectious Diseases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73</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(5), e1029–e1044</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endPar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47007611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spc="-105" dirty="0" smtClean="0">
                <a:solidFill>
                  <a:schemeClr val="bg2">
                    <a:lumMod val="10000"/>
                  </a:schemeClr>
                </a:solidFill>
                <a:latin typeface="Times New Roman" panose="02020603050405020304" pitchFamily="18" charset="0"/>
                <a:cs typeface="Times New Roman" panose="02020603050405020304" pitchFamily="18" charset="0"/>
              </a:rPr>
              <a:t>Prevention </a:t>
            </a:r>
            <a:r>
              <a:rPr lang="en-US" sz="3200" b="1" dirty="0" smtClean="0">
                <a:solidFill>
                  <a:schemeClr val="bg2">
                    <a:lumMod val="10000"/>
                  </a:schemeClr>
                </a:solidFill>
                <a:latin typeface="Times New Roman" panose="02020603050405020304" pitchFamily="18" charset="0"/>
                <a:cs typeface="Times New Roman" panose="02020603050405020304" pitchFamily="18" charset="0"/>
              </a:rPr>
              <a:t>of</a:t>
            </a:r>
            <a:r>
              <a:rPr lang="en-US" sz="3200" b="1" spc="-185" dirty="0" smtClean="0">
                <a:solidFill>
                  <a:schemeClr val="bg2">
                    <a:lumMod val="10000"/>
                  </a:schemeClr>
                </a:solidFill>
                <a:latin typeface="Times New Roman" panose="02020603050405020304" pitchFamily="18" charset="0"/>
                <a:cs typeface="Times New Roman" panose="02020603050405020304" pitchFamily="18" charset="0"/>
              </a:rPr>
              <a:t> </a:t>
            </a:r>
            <a:r>
              <a:rPr lang="en-US" sz="3200" b="1" i="1" dirty="0">
                <a:solidFill>
                  <a:schemeClr val="bg2">
                    <a:lumMod val="10000"/>
                  </a:schemeClr>
                </a:solidFill>
                <a:latin typeface="Times New Roman" panose="02020603050405020304" pitchFamily="18" charset="0"/>
                <a:cs typeface="Times New Roman" panose="02020603050405020304" pitchFamily="18" charset="0"/>
              </a:rPr>
              <a:t>C.</a:t>
            </a:r>
            <a:r>
              <a:rPr lang="en-US" sz="32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200" b="1" i="1" spc="-50" dirty="0">
                <a:solidFill>
                  <a:schemeClr val="bg2">
                    <a:lumMod val="10000"/>
                  </a:schemeClr>
                </a:solidFill>
                <a:latin typeface="Times New Roman" panose="02020603050405020304" pitchFamily="18" charset="0"/>
                <a:cs typeface="Times New Roman" panose="02020603050405020304" pitchFamily="18" charset="0"/>
              </a:rPr>
              <a:t>difficile</a:t>
            </a:r>
            <a:r>
              <a:rPr lang="en-US" sz="32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200" b="1" spc="-10" dirty="0" smtClean="0">
                <a:solidFill>
                  <a:schemeClr val="bg2">
                    <a:lumMod val="10000"/>
                  </a:schemeClr>
                </a:solidFill>
                <a:latin typeface="Times New Roman" panose="02020603050405020304" pitchFamily="18" charset="0"/>
                <a:cs typeface="Times New Roman" panose="02020603050405020304" pitchFamily="18" charset="0"/>
              </a:rPr>
              <a:t>diarrhea-1</a:t>
            </a:r>
            <a:endParaRPr lang="en-US" b="1" dirty="0">
              <a:solidFill>
                <a:schemeClr val="bg2">
                  <a:lumMod val="10000"/>
                </a:schemeClr>
              </a:solidFill>
            </a:endParaRPr>
          </a:p>
        </p:txBody>
      </p:sp>
      <p:sp>
        <p:nvSpPr>
          <p:cNvPr id="3" name="Content Placeholder 2"/>
          <p:cNvSpPr>
            <a:spLocks noGrp="1"/>
          </p:cNvSpPr>
          <p:nvPr>
            <p:ph idx="1"/>
          </p:nvPr>
        </p:nvSpPr>
        <p:spPr/>
        <p:txBody>
          <a:bodyPr/>
          <a:lstStyle/>
          <a:p>
            <a:pPr marL="0" indent="0">
              <a:buNone/>
            </a:pPr>
            <a:r>
              <a:rPr lang="en-US" dirty="0" smtClean="0">
                <a:solidFill>
                  <a:schemeClr val="bg2">
                    <a:lumMod val="10000"/>
                  </a:schemeClr>
                </a:solidFill>
                <a:latin typeface="Times New Roman" panose="02020603050405020304" pitchFamily="18" charset="0"/>
                <a:cs typeface="Times New Roman" panose="02020603050405020304" pitchFamily="18" charset="0"/>
              </a:rPr>
              <a:t>Use of Probiotics in Prevention of CDAD</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PLACIDE Trial (2013)- no significant difference between Intervention group and Control (placebo) group in prevention of Antibiotic Associated Diarrhea.</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Follow up observational of PLACIDE trial revealed no </a:t>
            </a:r>
            <a:r>
              <a:rPr lang="en-US" dirty="0">
                <a:solidFill>
                  <a:schemeClr val="bg2">
                    <a:lumMod val="10000"/>
                  </a:schemeClr>
                </a:solidFill>
                <a:latin typeface="Times New Roman" panose="02020603050405020304" pitchFamily="18" charset="0"/>
                <a:cs typeface="Times New Roman" panose="02020603050405020304" pitchFamily="18" charset="0"/>
              </a:rPr>
              <a:t>overall probiotic </a:t>
            </a:r>
            <a:r>
              <a:rPr lang="en-US" dirty="0" smtClean="0">
                <a:solidFill>
                  <a:schemeClr val="bg2">
                    <a:lumMod val="10000"/>
                  </a:schemeClr>
                </a:solidFill>
                <a:latin typeface="Times New Roman" panose="02020603050405020304" pitchFamily="18" charset="0"/>
                <a:cs typeface="Times New Roman" panose="02020603050405020304" pitchFamily="18" charset="0"/>
              </a:rPr>
              <a:t>benefit but </a:t>
            </a:r>
            <a:r>
              <a:rPr lang="en-US" dirty="0">
                <a:solidFill>
                  <a:schemeClr val="bg2">
                    <a:lumMod val="10000"/>
                  </a:schemeClr>
                </a:solidFill>
                <a:latin typeface="Times New Roman" panose="02020603050405020304" pitchFamily="18" charset="0"/>
                <a:cs typeface="Times New Roman" panose="02020603050405020304" pitchFamily="18" charset="0"/>
              </a:rPr>
              <a:t>identified potential microbiota subgroups that might respond differently</a:t>
            </a:r>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a:p>
            <a:r>
              <a:rPr lang="en-US" dirty="0" smtClean="0">
                <a:solidFill>
                  <a:schemeClr val="bg2">
                    <a:lumMod val="10000"/>
                  </a:schemeClr>
                </a:solidFill>
                <a:latin typeface="Times New Roman" panose="02020603050405020304" pitchFamily="18" charset="0"/>
                <a:cs typeface="Times New Roman" panose="02020603050405020304" pitchFamily="18" charset="0"/>
              </a:rPr>
              <a:t>These findings warrant further </a:t>
            </a:r>
            <a:r>
              <a:rPr lang="en-US" dirty="0" smtClean="0">
                <a:solidFill>
                  <a:schemeClr val="bg2">
                    <a:lumMod val="10000"/>
                  </a:schemeClr>
                </a:solidFill>
                <a:latin typeface="Times New Roman" panose="02020603050405020304" pitchFamily="18" charset="0"/>
                <a:cs typeface="Times New Roman" panose="02020603050405020304" pitchFamily="18" charset="0"/>
              </a:rPr>
              <a:t>trial on </a:t>
            </a:r>
            <a:r>
              <a:rPr lang="en-US" dirty="0" smtClean="0">
                <a:solidFill>
                  <a:schemeClr val="bg2">
                    <a:lumMod val="10000"/>
                  </a:schemeClr>
                </a:solidFill>
                <a:latin typeface="Times New Roman" panose="02020603050405020304" pitchFamily="18" charset="0"/>
                <a:cs typeface="Times New Roman" panose="02020603050405020304" pitchFamily="18" charset="0"/>
              </a:rPr>
              <a:t>personalized probiotic intervention</a:t>
            </a:r>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295586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spc="-105" dirty="0">
                <a:solidFill>
                  <a:schemeClr val="bg2">
                    <a:lumMod val="10000"/>
                  </a:schemeClr>
                </a:solidFill>
                <a:latin typeface="Times New Roman" panose="02020603050405020304" pitchFamily="18" charset="0"/>
                <a:cs typeface="Times New Roman" panose="02020603050405020304" pitchFamily="18" charset="0"/>
              </a:rPr>
              <a:t>Prevention </a:t>
            </a:r>
            <a:r>
              <a:rPr lang="en-US" sz="3600" b="1" dirty="0">
                <a:solidFill>
                  <a:schemeClr val="bg2">
                    <a:lumMod val="10000"/>
                  </a:schemeClr>
                </a:solidFill>
                <a:latin typeface="Times New Roman" panose="02020603050405020304" pitchFamily="18" charset="0"/>
                <a:cs typeface="Times New Roman" panose="02020603050405020304" pitchFamily="18" charset="0"/>
              </a:rPr>
              <a:t>of</a:t>
            </a:r>
            <a:r>
              <a:rPr lang="en-US" sz="3600" b="1" spc="-185" dirty="0">
                <a:solidFill>
                  <a:schemeClr val="bg2">
                    <a:lumMod val="10000"/>
                  </a:schemeClr>
                </a:solidFill>
                <a:latin typeface="Times New Roman" panose="02020603050405020304" pitchFamily="18" charset="0"/>
                <a:cs typeface="Times New Roman" panose="02020603050405020304" pitchFamily="18" charset="0"/>
              </a:rPr>
              <a:t> </a:t>
            </a:r>
            <a:r>
              <a:rPr lang="en-US" sz="3600" b="1" i="1" dirty="0">
                <a:solidFill>
                  <a:schemeClr val="bg2">
                    <a:lumMod val="10000"/>
                  </a:schemeClr>
                </a:solidFill>
                <a:latin typeface="Times New Roman" panose="02020603050405020304" pitchFamily="18" charset="0"/>
                <a:cs typeface="Times New Roman" panose="02020603050405020304" pitchFamily="18" charset="0"/>
              </a:rPr>
              <a:t>C.</a:t>
            </a:r>
            <a:r>
              <a:rPr lang="en-US" sz="36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600" b="1" i="1" spc="-50" dirty="0">
                <a:solidFill>
                  <a:schemeClr val="bg2">
                    <a:lumMod val="10000"/>
                  </a:schemeClr>
                </a:solidFill>
                <a:latin typeface="Times New Roman" panose="02020603050405020304" pitchFamily="18" charset="0"/>
                <a:cs typeface="Times New Roman" panose="02020603050405020304" pitchFamily="18" charset="0"/>
              </a:rPr>
              <a:t>difficile</a:t>
            </a:r>
            <a:r>
              <a:rPr lang="en-US" sz="3600" b="1" i="1" spc="-140" dirty="0">
                <a:solidFill>
                  <a:schemeClr val="bg2">
                    <a:lumMod val="10000"/>
                  </a:schemeClr>
                </a:solidFill>
                <a:latin typeface="Times New Roman" panose="02020603050405020304" pitchFamily="18" charset="0"/>
                <a:cs typeface="Times New Roman" panose="02020603050405020304" pitchFamily="18" charset="0"/>
              </a:rPr>
              <a:t> </a:t>
            </a:r>
            <a:r>
              <a:rPr lang="en-US" sz="3600" b="1" spc="-10" dirty="0" smtClean="0">
                <a:solidFill>
                  <a:schemeClr val="bg2">
                    <a:lumMod val="10000"/>
                  </a:schemeClr>
                </a:solidFill>
                <a:latin typeface="Times New Roman" panose="02020603050405020304" pitchFamily="18" charset="0"/>
                <a:cs typeface="Times New Roman" panose="02020603050405020304" pitchFamily="18" charset="0"/>
              </a:rPr>
              <a:t>diarrhea-2</a:t>
            </a:r>
            <a:endParaRPr lang="en-US" dirty="0"/>
          </a:p>
        </p:txBody>
      </p:sp>
      <p:sp>
        <p:nvSpPr>
          <p:cNvPr id="3" name="Content Placeholder 2"/>
          <p:cNvSpPr>
            <a:spLocks noGrp="1"/>
          </p:cNvSpPr>
          <p:nvPr>
            <p:ph idx="1"/>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Cochrane Review: Probiotics for the Prevention of </a:t>
            </a:r>
            <a:r>
              <a:rPr lang="en-US" b="1" i="1" dirty="0" err="1">
                <a:solidFill>
                  <a:schemeClr val="bg2">
                    <a:lumMod val="10000"/>
                  </a:schemeClr>
                </a:solidFill>
                <a:latin typeface="Times New Roman" panose="02020603050405020304" pitchFamily="18" charset="0"/>
                <a:cs typeface="Times New Roman" panose="02020603050405020304" pitchFamily="18" charset="0"/>
              </a:rPr>
              <a:t>Clostridioides</a:t>
            </a:r>
            <a:r>
              <a:rPr lang="en-US" b="1" i="1" dirty="0">
                <a:solidFill>
                  <a:schemeClr val="bg2">
                    <a:lumMod val="10000"/>
                  </a:schemeClr>
                </a:solidFill>
                <a:latin typeface="Times New Roman" panose="02020603050405020304" pitchFamily="18" charset="0"/>
                <a:cs typeface="Times New Roman" panose="02020603050405020304" pitchFamily="18" charset="0"/>
              </a:rPr>
              <a:t> </a:t>
            </a:r>
            <a:r>
              <a:rPr lang="en-US" b="1" i="1" dirty="0" smtClean="0">
                <a:solidFill>
                  <a:schemeClr val="bg2">
                    <a:lumMod val="10000"/>
                  </a:schemeClr>
                </a:solidFill>
                <a:latin typeface="Times New Roman" panose="02020603050405020304" pitchFamily="18" charset="0"/>
                <a:cs typeface="Times New Roman" panose="02020603050405020304" pitchFamily="18" charset="0"/>
              </a:rPr>
              <a:t>difficile</a:t>
            </a:r>
            <a:r>
              <a:rPr lang="en-US" b="1" dirty="0" smtClean="0">
                <a:solidFill>
                  <a:schemeClr val="bg2">
                    <a:lumMod val="10000"/>
                  </a:schemeClr>
                </a:solidFill>
                <a:latin typeface="Times New Roman" panose="02020603050405020304" pitchFamily="18" charset="0"/>
                <a:cs typeface="Times New Roman" panose="02020603050405020304" pitchFamily="18" charset="0"/>
              </a:rPr>
              <a:t>–Associated </a:t>
            </a:r>
            <a:r>
              <a:rPr lang="en-US" b="1" dirty="0">
                <a:solidFill>
                  <a:schemeClr val="bg2">
                    <a:lumMod val="10000"/>
                  </a:schemeClr>
                </a:solidFill>
                <a:latin typeface="Times New Roman" panose="02020603050405020304" pitchFamily="18" charset="0"/>
                <a:cs typeface="Times New Roman" panose="02020603050405020304" pitchFamily="18" charset="0"/>
              </a:rPr>
              <a:t>Diarrhea (2025 update</a:t>
            </a:r>
            <a:r>
              <a:rPr lang="en-US" b="1" dirty="0" smtClean="0">
                <a:solidFill>
                  <a:schemeClr val="bg2">
                    <a:lumMod val="10000"/>
                  </a:schemeClr>
                </a:solidFill>
                <a:latin typeface="Times New Roman" panose="02020603050405020304" pitchFamily="18" charset="0"/>
                <a:cs typeface="Times New Roman" panose="02020603050405020304" pitchFamily="18" charset="0"/>
              </a:rPr>
              <a:t>)</a:t>
            </a:r>
          </a:p>
          <a:p>
            <a:pPr marL="0" indent="0">
              <a:buNone/>
            </a:pPr>
            <a:r>
              <a:rPr lang="en-US" b="1" dirty="0">
                <a:solidFill>
                  <a:schemeClr val="bg2">
                    <a:lumMod val="10000"/>
                  </a:schemeClr>
                </a:solidFill>
                <a:latin typeface="Times New Roman" panose="02020603050405020304" pitchFamily="18" charset="0"/>
                <a:cs typeface="Times New Roman" panose="02020603050405020304" pitchFamily="18" charset="0"/>
              </a:rPr>
              <a:t> </a:t>
            </a:r>
            <a:r>
              <a:rPr lang="en-US" b="1" dirty="0" smtClean="0">
                <a:solidFill>
                  <a:schemeClr val="bg2">
                    <a:lumMod val="10000"/>
                  </a:schemeClr>
                </a:solidFill>
                <a:latin typeface="Times New Roman" panose="02020603050405020304" pitchFamily="18" charset="0"/>
                <a:cs typeface="Times New Roman" panose="02020603050405020304" pitchFamily="18" charset="0"/>
              </a:rPr>
              <a:t>Probiotic use has:</a:t>
            </a:r>
            <a:endParaRPr lang="en-US" b="1" dirty="0">
              <a:solidFill>
                <a:schemeClr val="bg2">
                  <a:lumMod val="1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Small risk reduction </a:t>
            </a:r>
            <a:r>
              <a:rPr lang="en-US" dirty="0" smtClean="0">
                <a:solidFill>
                  <a:schemeClr val="bg2">
                    <a:lumMod val="10000"/>
                  </a:schemeClr>
                </a:solidFill>
                <a:latin typeface="Times New Roman" panose="02020603050405020304" pitchFamily="18" charset="0"/>
                <a:cs typeface="Times New Roman" panose="02020603050405020304" pitchFamily="18" charset="0"/>
              </a:rPr>
              <a:t>compared to </a:t>
            </a:r>
            <a:r>
              <a:rPr lang="en-US" dirty="0">
                <a:solidFill>
                  <a:schemeClr val="bg2">
                    <a:lumMod val="10000"/>
                  </a:schemeClr>
                </a:solidFill>
                <a:latin typeface="Times New Roman" panose="02020603050405020304" pitchFamily="18" charset="0"/>
                <a:cs typeface="Times New Roman" panose="02020603050405020304" pitchFamily="18" charset="0"/>
              </a:rPr>
              <a:t>placebo/no treatment (low–moderate certainty</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dirty="0" smtClean="0">
                <a:solidFill>
                  <a:schemeClr val="bg2">
                    <a:lumMod val="10000"/>
                  </a:schemeClr>
                </a:solidFill>
                <a:latin typeface="Times New Roman" panose="02020603050405020304" pitchFamily="18" charset="0"/>
                <a:cs typeface="Times New Roman" panose="02020603050405020304" pitchFamily="18" charset="0"/>
              </a:rPr>
              <a:t>American Collage of Gastroenterology still recommends against</a:t>
            </a:r>
          </a:p>
          <a:p>
            <a:pPr>
              <a:buFont typeface="Wingdings" panose="05000000000000000000" pitchFamily="2" charset="2"/>
              <a:buChar char="Ø"/>
            </a:pP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33563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object 2"/>
          <p:cNvSpPr txBox="1">
            <a:spLocks noGrp="1"/>
          </p:cNvSpPr>
          <p:nvPr>
            <p:ph type="title"/>
          </p:nvPr>
        </p:nvSpPr>
        <p:spPr>
          <a:xfrm>
            <a:off x="457200" y="225135"/>
            <a:ext cx="8229600" cy="1242007"/>
          </a:xfrm>
          <a:prstGeom prst="rect">
            <a:avLst/>
          </a:prstGeom>
        </p:spPr>
        <p:txBody>
          <a:bodyPr vert="horz" wrap="square" lIns="0" tIns="112395" rIns="0" bIns="0" rtlCol="0">
            <a:spAutoFit/>
          </a:bodyPr>
          <a:lstStyle/>
          <a:p>
            <a:pPr marL="378460" marR="5080">
              <a:lnSpc>
                <a:spcPts val="4390"/>
              </a:lnSpc>
              <a:spcBef>
                <a:spcPts val="885"/>
              </a:spcBef>
            </a:pPr>
            <a:r>
              <a:rPr sz="4300" b="1" spc="-70" dirty="0">
                <a:solidFill>
                  <a:schemeClr val="bg2">
                    <a:lumMod val="10000"/>
                  </a:schemeClr>
                </a:solidFill>
                <a:latin typeface="Times New Roman" panose="02020603050405020304" pitchFamily="18" charset="0"/>
                <a:cs typeface="Times New Roman" panose="02020603050405020304" pitchFamily="18" charset="0"/>
              </a:rPr>
              <a:t>Prognosis</a:t>
            </a:r>
            <a:r>
              <a:rPr sz="4300" b="1" spc="-175" dirty="0">
                <a:solidFill>
                  <a:schemeClr val="bg2">
                    <a:lumMod val="10000"/>
                  </a:schemeClr>
                </a:solidFill>
                <a:latin typeface="Times New Roman" panose="02020603050405020304" pitchFamily="18" charset="0"/>
                <a:cs typeface="Times New Roman" panose="02020603050405020304" pitchFamily="18" charset="0"/>
              </a:rPr>
              <a:t> </a:t>
            </a:r>
            <a:r>
              <a:rPr sz="4300" b="1" spc="-10" dirty="0">
                <a:solidFill>
                  <a:schemeClr val="bg2">
                    <a:lumMod val="10000"/>
                  </a:schemeClr>
                </a:solidFill>
                <a:latin typeface="Times New Roman" panose="02020603050405020304" pitchFamily="18" charset="0"/>
                <a:cs typeface="Times New Roman" panose="02020603050405020304" pitchFamily="18" charset="0"/>
              </a:rPr>
              <a:t>and</a:t>
            </a:r>
            <a:r>
              <a:rPr sz="4300" b="1" spc="-155" dirty="0">
                <a:solidFill>
                  <a:schemeClr val="bg2">
                    <a:lumMod val="10000"/>
                  </a:schemeClr>
                </a:solidFill>
                <a:latin typeface="Times New Roman" panose="02020603050405020304" pitchFamily="18" charset="0"/>
                <a:cs typeface="Times New Roman" panose="02020603050405020304" pitchFamily="18" charset="0"/>
              </a:rPr>
              <a:t> </a:t>
            </a:r>
            <a:r>
              <a:rPr sz="4300" b="1" spc="-70" dirty="0">
                <a:solidFill>
                  <a:schemeClr val="bg2">
                    <a:lumMod val="10000"/>
                  </a:schemeClr>
                </a:solidFill>
                <a:latin typeface="Times New Roman" panose="02020603050405020304" pitchFamily="18" charset="0"/>
                <a:cs typeface="Times New Roman" panose="02020603050405020304" pitchFamily="18" charset="0"/>
              </a:rPr>
              <a:t>prevention</a:t>
            </a:r>
            <a:r>
              <a:rPr sz="4300" b="1" spc="-175" dirty="0">
                <a:solidFill>
                  <a:schemeClr val="bg2">
                    <a:lumMod val="10000"/>
                  </a:schemeClr>
                </a:solidFill>
                <a:latin typeface="Times New Roman" panose="02020603050405020304" pitchFamily="18" charset="0"/>
                <a:cs typeface="Times New Roman" panose="02020603050405020304" pitchFamily="18" charset="0"/>
              </a:rPr>
              <a:t> </a:t>
            </a:r>
            <a:r>
              <a:rPr sz="4300" b="1" dirty="0">
                <a:solidFill>
                  <a:schemeClr val="bg2">
                    <a:lumMod val="10000"/>
                  </a:schemeClr>
                </a:solidFill>
                <a:latin typeface="Times New Roman" panose="02020603050405020304" pitchFamily="18" charset="0"/>
                <a:cs typeface="Times New Roman" panose="02020603050405020304" pitchFamily="18" charset="0"/>
              </a:rPr>
              <a:t>of</a:t>
            </a:r>
            <a:r>
              <a:rPr sz="4300" b="1" spc="-130" dirty="0">
                <a:solidFill>
                  <a:schemeClr val="bg2">
                    <a:lumMod val="10000"/>
                  </a:schemeClr>
                </a:solidFill>
                <a:latin typeface="Times New Roman" panose="02020603050405020304" pitchFamily="18" charset="0"/>
                <a:cs typeface="Times New Roman" panose="02020603050405020304" pitchFamily="18" charset="0"/>
              </a:rPr>
              <a:t> </a:t>
            </a:r>
            <a:r>
              <a:rPr sz="4300" b="1" i="1" spc="-25" dirty="0">
                <a:solidFill>
                  <a:schemeClr val="bg2">
                    <a:lumMod val="10000"/>
                  </a:schemeClr>
                </a:solidFill>
                <a:latin typeface="Times New Roman" panose="02020603050405020304" pitchFamily="18" charset="0"/>
                <a:cs typeface="Times New Roman" panose="02020603050405020304" pitchFamily="18" charset="0"/>
              </a:rPr>
              <a:t>C. </a:t>
            </a:r>
            <a:r>
              <a:rPr sz="4300" b="1" i="1" spc="-50" dirty="0">
                <a:solidFill>
                  <a:schemeClr val="bg2">
                    <a:lumMod val="10000"/>
                  </a:schemeClr>
                </a:solidFill>
                <a:latin typeface="Times New Roman" panose="02020603050405020304" pitchFamily="18" charset="0"/>
                <a:cs typeface="Times New Roman" panose="02020603050405020304" pitchFamily="18" charset="0"/>
              </a:rPr>
              <a:t>difficile</a:t>
            </a:r>
            <a:r>
              <a:rPr sz="4300" b="1" i="1" spc="-160" dirty="0">
                <a:solidFill>
                  <a:schemeClr val="bg2">
                    <a:lumMod val="10000"/>
                  </a:schemeClr>
                </a:solidFill>
                <a:latin typeface="Times New Roman" panose="02020603050405020304" pitchFamily="18" charset="0"/>
                <a:cs typeface="Times New Roman" panose="02020603050405020304" pitchFamily="18" charset="0"/>
              </a:rPr>
              <a:t> </a:t>
            </a:r>
            <a:r>
              <a:rPr sz="4300" b="1" spc="-10" dirty="0">
                <a:solidFill>
                  <a:schemeClr val="bg2">
                    <a:lumMod val="10000"/>
                  </a:schemeClr>
                </a:solidFill>
                <a:latin typeface="Times New Roman" panose="02020603050405020304" pitchFamily="18" charset="0"/>
                <a:cs typeface="Times New Roman" panose="02020603050405020304" pitchFamily="18" charset="0"/>
              </a:rPr>
              <a:t>diarrhea</a:t>
            </a:r>
            <a:endParaRPr sz="43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774" name="object 3"/>
          <p:cNvSpPr txBox="1"/>
          <p:nvPr/>
        </p:nvSpPr>
        <p:spPr>
          <a:xfrm>
            <a:off x="459740" y="1759585"/>
            <a:ext cx="8201660" cy="4508500"/>
          </a:xfrm>
          <a:prstGeom prst="rect">
            <a:avLst/>
          </a:prstGeom>
        </p:spPr>
        <p:txBody>
          <a:bodyPr vert="horz" wrap="square" lIns="0" tIns="12700" rIns="0" bIns="0" rtlCol="0">
            <a:noAutofit/>
          </a:bodyPr>
          <a:lstStyle/>
          <a:p>
            <a:pPr marL="469900" marR="5080" lvl="0" indent="-457835" algn="l" defTabSz="457200" rtl="0" eaLnBrk="1" fontAlgn="auto" latinLnBrk="0" hangingPunct="1">
              <a:lnSpc>
                <a:spcPct val="100000"/>
              </a:lnSpc>
              <a:spcBef>
                <a:spcPts val="100"/>
              </a:spcBef>
              <a:spcAft>
                <a:spcPts val="0"/>
              </a:spcAft>
              <a:buClr>
                <a:srgbClr val="EF7E09"/>
              </a:buClr>
              <a:buSzTx/>
              <a:buFont typeface="Arial MT"/>
              <a:buChar char="•"/>
              <a:tabLst>
                <a:tab pos="469900" algn="l"/>
              </a:tabLst>
              <a:defRPr/>
            </a:pP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Toxic</a:t>
            </a:r>
            <a:r>
              <a:rPr kumimoji="0" sz="2800" b="0"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megacolon</a:t>
            </a:r>
            <a:r>
              <a:rPr kumimoji="0" sz="2800" b="0" i="0" u="none" strike="noStrike" kern="1200" cap="none" spc="-7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and</a:t>
            </a:r>
            <a:r>
              <a:rPr kumimoji="0" sz="28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bowel</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perforation</a:t>
            </a:r>
            <a:r>
              <a:rPr kumimoji="0" sz="28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arise</a:t>
            </a:r>
            <a:r>
              <a:rPr kumimoji="0" sz="28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in</a:t>
            </a:r>
            <a:r>
              <a:rPr kumimoji="0" sz="2800" b="0" i="0" u="none" strike="noStrike" kern="1200" cap="none" spc="-6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0.4-</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4</a:t>
            </a:r>
            <a:r>
              <a:rPr kumimoji="0" sz="2800" b="0" i="0" u="none" strike="noStrike" kern="1200" cap="none" spc="-5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of</a:t>
            </a:r>
            <a:r>
              <a:rPr kumimoji="0" sz="2800" b="0" i="0" u="none" strike="noStrike" kern="1200" cap="none" spc="-6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patients,</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but</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have</a:t>
            </a: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mortality</a:t>
            </a:r>
            <a:r>
              <a:rPr kumimoji="0" sz="2800" b="0" i="0" u="none" strike="noStrike" kern="1200" cap="none" spc="-7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rate</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of</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30-</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50</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t>
            </a:r>
            <a:r>
              <a:rPr kumimoji="0" sz="28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surgery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is</a:t>
            </a:r>
            <a:r>
              <a:rPr kumimoji="0" sz="2800" b="0" i="0" u="none" strike="noStrike" kern="1200" cap="none" spc="-3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frequently</a:t>
            </a:r>
            <a:r>
              <a:rPr kumimoji="0" sz="2800" b="0" i="0" u="none" strike="noStrike" kern="1200" cap="none" spc="-2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needed</a:t>
            </a: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900" marR="52705" lvl="0" indent="-457835" algn="l" defTabSz="457200" rtl="0" eaLnBrk="1" fontAlgn="auto" latinLnBrk="0" hangingPunct="1">
              <a:lnSpc>
                <a:spcPct val="100000"/>
              </a:lnSpc>
              <a:spcBef>
                <a:spcPts val="805"/>
              </a:spcBef>
              <a:spcAft>
                <a:spcPts val="0"/>
              </a:spcAft>
              <a:buClr>
                <a:srgbClr val="EF7E09"/>
              </a:buClr>
              <a:buSzTx/>
              <a:buFont typeface="Arial MT"/>
              <a:buChar char="•"/>
              <a:tabLst>
                <a:tab pos="469900" algn="l"/>
              </a:tabLst>
              <a:defRPr/>
            </a:pPr>
            <a:r>
              <a:rPr kumimoji="0" lang="en-US" sz="2800" b="0" i="0" u="none" strike="noStrike" kern="1200" cap="none" spc="-1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rPr>
              <a:t>Hospital based IPC should be practiced to prevent patient to patient spread of spores</a:t>
            </a:r>
            <a:endParaRPr kumimoji="0" lang="en-US"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469900" marR="52705" lvl="0" indent="-457835" algn="l" defTabSz="457200" rtl="0" eaLnBrk="1" fontAlgn="auto" latinLnBrk="0" hangingPunct="1">
              <a:lnSpc>
                <a:spcPct val="100000"/>
              </a:lnSpc>
              <a:spcBef>
                <a:spcPts val="805"/>
              </a:spcBef>
              <a:spcAft>
                <a:spcPts val="0"/>
              </a:spcAft>
              <a:buClr>
                <a:srgbClr val="EF7E09"/>
              </a:buClr>
              <a:buSzTx/>
              <a:buFont typeface="Arial MT"/>
              <a:buChar char="•"/>
              <a:tabLst>
                <a:tab pos="469900" algn="l"/>
              </a:tabLst>
              <a:defRPr/>
            </a:pPr>
            <a:r>
              <a:rPr kumimoji="0" sz="2800" b="0" i="0" u="none" strike="noStrike" kern="1200" cap="none" spc="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rPr>
              <a:t>Physical</a:t>
            </a:r>
            <a:r>
              <a:rPr kumimoji="0" sz="2800" b="0" i="0" u="none" strike="noStrike" kern="1200" cap="none" spc="-70" normalizeH="0" baseline="0" noProof="0" dirty="0" smtClean="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hand</a:t>
            </a:r>
            <a:r>
              <a:rPr kumimoji="0" sz="2800" b="0" i="0" u="none" strike="noStrike" kern="1200" cap="none" spc="-8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washing</a:t>
            </a: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652145" marR="0" lvl="1" indent="-456565" algn="l" defTabSz="457200" rtl="0" eaLnBrk="1" fontAlgn="auto" latinLnBrk="0" hangingPunct="1">
              <a:lnSpc>
                <a:spcPct val="100000"/>
              </a:lnSpc>
              <a:spcBef>
                <a:spcPts val="805"/>
              </a:spcBef>
              <a:spcAft>
                <a:spcPts val="0"/>
              </a:spcAft>
              <a:buClr>
                <a:srgbClr val="EF7E09"/>
              </a:buClr>
              <a:buSzTx/>
              <a:buFont typeface="Arial MT"/>
              <a:buChar char="•"/>
              <a:tabLst>
                <a:tab pos="652145" algn="l"/>
              </a:tabLst>
              <a:defRPr/>
            </a:pP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Prolonged</a:t>
            </a:r>
            <a:r>
              <a:rPr kumimoji="0" sz="2800" b="0" i="0" u="none" strike="noStrike" kern="1200" cap="none" spc="-4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2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broad-</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spectrum</a:t>
            </a:r>
            <a:r>
              <a:rPr kumimoji="0" sz="2800" b="0" i="0" u="none" strike="noStrike" kern="1200" cap="none" spc="-5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antibiotics</a:t>
            </a:r>
            <a:r>
              <a:rPr kumimoji="0" sz="2800" b="0" i="0" u="none" strike="noStrike" kern="1200" cap="none" spc="-7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avoided</a:t>
            </a:r>
            <a:r>
              <a:rPr kumimoji="0" sz="2800" b="0" i="0" u="none" strike="noStrike" kern="1200" cap="none" spc="-6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if</a:t>
            </a:r>
            <a:r>
              <a:rPr kumimoji="0" sz="2800" b="0" i="0" u="none" strike="noStrike" kern="1200" cap="none" spc="-4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possible</a:t>
            </a: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a:p>
            <a:pPr marL="652145" marR="0" lvl="1" indent="-456565" algn="l" defTabSz="457200" rtl="0" eaLnBrk="1" fontAlgn="auto" latinLnBrk="0" hangingPunct="1">
              <a:lnSpc>
                <a:spcPct val="100000"/>
              </a:lnSpc>
              <a:spcBef>
                <a:spcPts val="795"/>
              </a:spcBef>
              <a:spcAft>
                <a:spcPts val="0"/>
              </a:spcAft>
              <a:buClr>
                <a:srgbClr val="EF7E09"/>
              </a:buClr>
              <a:buSzTx/>
              <a:buFont typeface="Arial MT"/>
              <a:buChar char="•"/>
              <a:tabLst>
                <a:tab pos="652145" algn="l"/>
              </a:tabLst>
              <a:defRPr/>
            </a:pP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Limit</a:t>
            </a:r>
            <a:r>
              <a:rPr kumimoji="0" sz="2800" b="0" i="0" u="none" strike="noStrike" kern="1200" cap="none" spc="-3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the</a:t>
            </a:r>
            <a:r>
              <a:rPr kumimoji="0" sz="2800" b="0" i="0" u="none" strike="noStrike" kern="1200" cap="none" spc="-2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use</a:t>
            </a:r>
            <a:r>
              <a:rPr kumimoji="0" sz="2800" b="0" i="0" u="none" strike="noStrike" kern="1200" cap="none" spc="-2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of</a:t>
            </a:r>
            <a:r>
              <a:rPr kumimoji="0" sz="2800" b="0" i="0" u="none" strike="noStrike" kern="1200" cap="none" spc="-25"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 </a:t>
            </a:r>
            <a:r>
              <a:rPr kumimoji="0" sz="2800" b="0" i="0" u="none" strike="noStrike" kern="1200" cap="none" spc="-10" normalizeH="0" baseline="0" noProof="0" dirty="0">
                <a:ln>
                  <a:noFill/>
                </a:ln>
                <a:solidFill>
                  <a:srgbClr val="404040"/>
                </a:solidFill>
                <a:effectLst/>
                <a:uLnTx/>
                <a:uFillTx/>
                <a:latin typeface="Times New Roman" panose="02020603050405020304" pitchFamily="18" charset="0"/>
                <a:ea typeface="+mn-ea"/>
                <a:cs typeface="Times New Roman" panose="02020603050405020304" pitchFamily="18" charset="0"/>
              </a:rPr>
              <a:t>clindamycin</a:t>
            </a:r>
            <a:endParaRPr kumimoji="0" sz="2800" b="0" i="0" u="none" strike="noStrike" kern="1200" cap="none" spc="0" normalizeH="0" baseline="0" noProof="0" dirty="0">
              <a:ln>
                <a:noFill/>
              </a:ln>
              <a:solidFill>
                <a:srgbClr val="32A9E5"/>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9950054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10" y="2819400"/>
            <a:ext cx="9009518" cy="64633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6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Infectious</a:t>
            </a:r>
            <a:r>
              <a:rPr kumimoji="0" lang="en-US" sz="3600" b="0" i="0" u="none" strike="noStrike" kern="1200" cap="none" spc="-30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3600" b="0" i="0" u="none" strike="noStrike" kern="1200" cap="none" spc="-3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diarrhea</a:t>
            </a:r>
            <a:r>
              <a:rPr kumimoji="0" lang="en-US" sz="3600" b="0" i="0" u="none" strike="noStrike" kern="1200" cap="none" spc="-30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3600" b="0" i="0" u="none" strike="noStrike" kern="1200" cap="none" spc="-2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in </a:t>
            </a:r>
            <a:r>
              <a:rPr kumimoji="0" lang="en-US" sz="3600" b="0" i="0" u="none" strike="noStrike" kern="1200" cap="none" spc="-6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immunocompromised </a:t>
            </a:r>
            <a:r>
              <a:rPr kumimoji="0" lang="en-US" sz="36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hosts</a:t>
            </a:r>
            <a:endParaRPr kumimoji="0" lang="en-US" sz="3600" b="0" i="0" u="none" strike="noStrike" kern="1200" cap="none" spc="0" normalizeH="0" baseline="0" noProof="0" dirty="0">
              <a:ln>
                <a:noFill/>
              </a:ln>
              <a:solidFill>
                <a:srgbClr val="EEECE1">
                  <a:lumMod val="10000"/>
                </a:srgbClr>
              </a:solidFill>
              <a:effectLst/>
              <a:uLnTx/>
              <a:uFillTx/>
              <a:latin typeface="Arial"/>
              <a:ea typeface="+mn-ea"/>
              <a:cs typeface="+mn-cs"/>
            </a:endParaRPr>
          </a:p>
        </p:txBody>
      </p:sp>
    </p:spTree>
    <p:extLst>
      <p:ext uri="{BB962C8B-B14F-4D97-AF65-F5344CB8AC3E}">
        <p14:creationId xmlns:p14="http://schemas.microsoft.com/office/powerpoint/2010/main" val="35916639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10000"/>
                  </a:schemeClr>
                </a:solidFill>
              </a:rPr>
              <a:t>Bacterial Enteric Infection in HIV/AIDS</a:t>
            </a:r>
            <a:endParaRPr lang="en-US" b="1" dirty="0">
              <a:solidFill>
                <a:schemeClr val="bg2">
                  <a:lumMod val="10000"/>
                </a:schemeClr>
              </a:solidFill>
            </a:endParaRPr>
          </a:p>
        </p:txBody>
      </p:sp>
      <p:sp>
        <p:nvSpPr>
          <p:cNvPr id="3" name="Content Placeholder 2"/>
          <p:cNvSpPr>
            <a:spLocks noGrp="1"/>
          </p:cNvSpPr>
          <p:nvPr>
            <p:ph idx="1"/>
          </p:nvPr>
        </p:nvSpPr>
        <p:spPr/>
        <p:txBody>
          <a:bodyPr/>
          <a:lstStyle/>
          <a:p>
            <a:r>
              <a:rPr lang="en-US" dirty="0">
                <a:solidFill>
                  <a:schemeClr val="bg2">
                    <a:lumMod val="10000"/>
                  </a:schemeClr>
                </a:solidFill>
              </a:rPr>
              <a:t>HIV-associated alterations in mucosal immunity or intestinal </a:t>
            </a:r>
            <a:r>
              <a:rPr lang="en-US" dirty="0" smtClean="0">
                <a:solidFill>
                  <a:schemeClr val="bg2">
                    <a:lumMod val="10000"/>
                  </a:schemeClr>
                </a:solidFill>
              </a:rPr>
              <a:t>integrity </a:t>
            </a:r>
            <a:r>
              <a:rPr lang="en-US" dirty="0">
                <a:solidFill>
                  <a:schemeClr val="bg2">
                    <a:lumMod val="10000"/>
                  </a:schemeClr>
                </a:solidFill>
              </a:rPr>
              <a:t>may increase the risk of enteric bacterial infections. </a:t>
            </a:r>
            <a:endParaRPr lang="en-US" dirty="0" smtClean="0">
              <a:solidFill>
                <a:schemeClr val="bg2">
                  <a:lumMod val="10000"/>
                </a:schemeClr>
              </a:solidFill>
            </a:endParaRPr>
          </a:p>
          <a:p>
            <a:r>
              <a:rPr lang="en-US" dirty="0" smtClean="0">
                <a:solidFill>
                  <a:schemeClr val="bg2">
                    <a:lumMod val="10000"/>
                  </a:schemeClr>
                </a:solidFill>
              </a:rPr>
              <a:t>Gram-negative bacterial </a:t>
            </a:r>
            <a:r>
              <a:rPr lang="en-US" dirty="0">
                <a:solidFill>
                  <a:schemeClr val="bg2">
                    <a:lumMod val="10000"/>
                  </a:schemeClr>
                </a:solidFill>
              </a:rPr>
              <a:t>enteric infections are at least 10 times higher among adults with HIV than in the </a:t>
            </a:r>
            <a:r>
              <a:rPr lang="en-US" dirty="0" smtClean="0">
                <a:solidFill>
                  <a:schemeClr val="bg2">
                    <a:lumMod val="10000"/>
                  </a:schemeClr>
                </a:solidFill>
              </a:rPr>
              <a:t>general population</a:t>
            </a:r>
          </a:p>
          <a:p>
            <a:r>
              <a:rPr lang="en-US" dirty="0">
                <a:solidFill>
                  <a:schemeClr val="bg2">
                    <a:lumMod val="10000"/>
                  </a:schemeClr>
                </a:solidFill>
              </a:rPr>
              <a:t>R</a:t>
            </a:r>
            <a:r>
              <a:rPr lang="en-US" dirty="0" smtClean="0">
                <a:solidFill>
                  <a:schemeClr val="bg2">
                    <a:lumMod val="10000"/>
                  </a:schemeClr>
                </a:solidFill>
              </a:rPr>
              <a:t>ates </a:t>
            </a:r>
            <a:r>
              <a:rPr lang="en-US" dirty="0">
                <a:solidFill>
                  <a:schemeClr val="bg2">
                    <a:lumMod val="10000"/>
                  </a:schemeClr>
                </a:solidFill>
              </a:rPr>
              <a:t>are lower among people with HIV who are treated with </a:t>
            </a:r>
            <a:r>
              <a:rPr lang="en-US" dirty="0" smtClean="0">
                <a:solidFill>
                  <a:schemeClr val="bg2">
                    <a:lumMod val="10000"/>
                  </a:schemeClr>
                </a:solidFill>
              </a:rPr>
              <a:t>antiretroviral therapy </a:t>
            </a:r>
            <a:r>
              <a:rPr lang="en-US" dirty="0">
                <a:solidFill>
                  <a:schemeClr val="bg2">
                    <a:lumMod val="10000"/>
                  </a:schemeClr>
                </a:solidFill>
              </a:rPr>
              <a:t>(</a:t>
            </a:r>
            <a:r>
              <a:rPr lang="en-US" dirty="0" smtClean="0">
                <a:solidFill>
                  <a:schemeClr val="bg2">
                    <a:lumMod val="10000"/>
                  </a:schemeClr>
                </a:solidFill>
              </a:rPr>
              <a:t>ART)</a:t>
            </a:r>
          </a:p>
          <a:p>
            <a:r>
              <a:rPr lang="en-US" dirty="0">
                <a:solidFill>
                  <a:schemeClr val="bg2">
                    <a:lumMod val="10000"/>
                  </a:schemeClr>
                </a:solidFill>
              </a:rPr>
              <a:t>The risk of bacterial diarrhea </a:t>
            </a:r>
            <a:r>
              <a:rPr lang="en-US" dirty="0" smtClean="0">
                <a:solidFill>
                  <a:schemeClr val="bg2">
                    <a:lumMod val="10000"/>
                  </a:schemeClr>
                </a:solidFill>
              </a:rPr>
              <a:t>is high in </a:t>
            </a:r>
            <a:r>
              <a:rPr lang="en-US" dirty="0">
                <a:solidFill>
                  <a:schemeClr val="bg2">
                    <a:lumMod val="10000"/>
                  </a:schemeClr>
                </a:solidFill>
              </a:rPr>
              <a:t>individuals with clinical AIDS or CD4 counts &lt;200 cells/mm3</a:t>
            </a:r>
            <a:r>
              <a:rPr lang="en-US" dirty="0"/>
              <a:t>.</a:t>
            </a:r>
          </a:p>
        </p:txBody>
      </p:sp>
      <p:sp>
        <p:nvSpPr>
          <p:cNvPr id="4" name="TextBox 3"/>
          <p:cNvSpPr txBox="1"/>
          <p:nvPr/>
        </p:nvSpPr>
        <p:spPr>
          <a:xfrm>
            <a:off x="457200" y="5562600"/>
            <a:ext cx="7772400" cy="923330"/>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Guidelines for the Prevention and Treatment of Opportunistic Infections in Adults and Adolescents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n.d.</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25490417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bg2">
                    <a:lumMod val="10000"/>
                  </a:schemeClr>
                </a:solidFill>
              </a:rPr>
              <a:t>Cont</a:t>
            </a:r>
            <a:r>
              <a:rPr lang="en-US" dirty="0" smtClean="0">
                <a:solidFill>
                  <a:schemeClr val="bg2">
                    <a:lumMod val="10000"/>
                  </a:schemeClr>
                </a:solidFill>
              </a:rPr>
              <a:t>…</a:t>
            </a:r>
            <a:endParaRPr lang="en-US" dirty="0">
              <a:solidFill>
                <a:schemeClr val="bg2">
                  <a:lumMod val="10000"/>
                </a:schemeClr>
              </a:solidFill>
            </a:endParaRPr>
          </a:p>
        </p:txBody>
      </p:sp>
      <p:sp>
        <p:nvSpPr>
          <p:cNvPr id="3" name="Content Placeholder 2"/>
          <p:cNvSpPr>
            <a:spLocks noGrp="1"/>
          </p:cNvSpPr>
          <p:nvPr>
            <p:ph idx="1"/>
          </p:nvPr>
        </p:nvSpPr>
        <p:spPr/>
        <p:txBody>
          <a:bodyPr/>
          <a:lstStyle/>
          <a:p>
            <a:r>
              <a:rPr lang="en-US" dirty="0" smtClean="0">
                <a:solidFill>
                  <a:schemeClr val="bg2">
                    <a:lumMod val="10000"/>
                  </a:schemeClr>
                </a:solidFill>
              </a:rPr>
              <a:t>In US the most frequent isolated bacteria by culture from adults with HIV are </a:t>
            </a:r>
            <a:r>
              <a:rPr lang="en-US" dirty="0" err="1" smtClean="0">
                <a:solidFill>
                  <a:schemeClr val="bg2">
                    <a:lumMod val="10000"/>
                  </a:schemeClr>
                </a:solidFill>
              </a:rPr>
              <a:t>Shigella</a:t>
            </a:r>
            <a:r>
              <a:rPr lang="en-US" dirty="0" smtClean="0">
                <a:solidFill>
                  <a:schemeClr val="bg2">
                    <a:lumMod val="10000"/>
                  </a:schemeClr>
                </a:solidFill>
              </a:rPr>
              <a:t>, </a:t>
            </a:r>
            <a:r>
              <a:rPr lang="en-US" dirty="0" err="1" smtClean="0">
                <a:solidFill>
                  <a:schemeClr val="bg2">
                    <a:lumMod val="10000"/>
                  </a:schemeClr>
                </a:solidFill>
              </a:rPr>
              <a:t>Compylobacter</a:t>
            </a:r>
            <a:r>
              <a:rPr lang="en-US" dirty="0" smtClean="0">
                <a:solidFill>
                  <a:schemeClr val="bg2">
                    <a:lumMod val="10000"/>
                  </a:schemeClr>
                </a:solidFill>
              </a:rPr>
              <a:t>, non-</a:t>
            </a:r>
            <a:r>
              <a:rPr lang="en-US" dirty="0" err="1" smtClean="0">
                <a:solidFill>
                  <a:schemeClr val="bg2">
                    <a:lumMod val="10000"/>
                  </a:schemeClr>
                </a:solidFill>
              </a:rPr>
              <a:t>typhoidal</a:t>
            </a:r>
            <a:r>
              <a:rPr lang="en-US" dirty="0" smtClean="0">
                <a:solidFill>
                  <a:schemeClr val="bg2">
                    <a:lumMod val="10000"/>
                  </a:schemeClr>
                </a:solidFill>
              </a:rPr>
              <a:t> salmonella </a:t>
            </a:r>
            <a:r>
              <a:rPr lang="en-US" dirty="0" err="1" smtClean="0">
                <a:solidFill>
                  <a:schemeClr val="bg2">
                    <a:lumMod val="10000"/>
                  </a:schemeClr>
                </a:solidFill>
              </a:rPr>
              <a:t>spp</a:t>
            </a:r>
            <a:endParaRPr lang="en-US" dirty="0" smtClean="0">
              <a:solidFill>
                <a:schemeClr val="bg2">
                  <a:lumMod val="10000"/>
                </a:schemeClr>
              </a:solidFill>
            </a:endParaRPr>
          </a:p>
          <a:p>
            <a:r>
              <a:rPr lang="en-US" dirty="0" err="1">
                <a:solidFill>
                  <a:schemeClr val="bg2">
                    <a:lumMod val="10000"/>
                  </a:schemeClr>
                </a:solidFill>
              </a:rPr>
              <a:t>Clostridioides</a:t>
            </a:r>
            <a:r>
              <a:rPr lang="en-US" dirty="0">
                <a:solidFill>
                  <a:schemeClr val="bg2">
                    <a:lumMod val="10000"/>
                  </a:schemeClr>
                </a:solidFill>
              </a:rPr>
              <a:t> difficile–associated infection (CDI) is common in people with </a:t>
            </a:r>
            <a:r>
              <a:rPr lang="en-US" dirty="0" smtClean="0">
                <a:solidFill>
                  <a:schemeClr val="bg2">
                    <a:lumMod val="10000"/>
                  </a:schemeClr>
                </a:solidFill>
              </a:rPr>
              <a:t>HIV</a:t>
            </a:r>
          </a:p>
          <a:p>
            <a:r>
              <a:rPr lang="en-US" dirty="0" smtClean="0">
                <a:solidFill>
                  <a:schemeClr val="bg2">
                    <a:lumMod val="10000"/>
                  </a:schemeClr>
                </a:solidFill>
              </a:rPr>
              <a:t>In CDI low CD4+ count (&lt;50cells/mm cubic) is an independent risk factor</a:t>
            </a:r>
            <a:endParaRPr lang="en-US" dirty="0">
              <a:solidFill>
                <a:schemeClr val="bg2">
                  <a:lumMod val="10000"/>
                </a:schemeClr>
              </a:solidFill>
            </a:endParaRPr>
          </a:p>
        </p:txBody>
      </p:sp>
    </p:spTree>
    <p:extLst>
      <p:ext uri="{BB962C8B-B14F-4D97-AF65-F5344CB8AC3E}">
        <p14:creationId xmlns:p14="http://schemas.microsoft.com/office/powerpoint/2010/main" val="423485653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10000"/>
                  </a:schemeClr>
                </a:solidFill>
              </a:rPr>
              <a:t>Burden of </a:t>
            </a:r>
            <a:r>
              <a:rPr lang="en-US" b="1" dirty="0" smtClean="0">
                <a:solidFill>
                  <a:schemeClr val="bg2">
                    <a:lumMod val="10000"/>
                  </a:schemeClr>
                </a:solidFill>
              </a:rPr>
              <a:t>CDI </a:t>
            </a:r>
            <a:r>
              <a:rPr lang="en-US" b="1" dirty="0" smtClean="0">
                <a:solidFill>
                  <a:schemeClr val="bg2">
                    <a:lumMod val="10000"/>
                  </a:schemeClr>
                </a:solidFill>
              </a:rPr>
              <a:t>in </a:t>
            </a:r>
            <a:r>
              <a:rPr lang="en-US" b="1" dirty="0" smtClean="0">
                <a:solidFill>
                  <a:schemeClr val="bg2">
                    <a:lumMod val="10000"/>
                  </a:schemeClr>
                </a:solidFill>
              </a:rPr>
              <a:t>HIV/AIDS</a:t>
            </a:r>
            <a:endParaRPr lang="en-US" b="1" dirty="0">
              <a:solidFill>
                <a:schemeClr val="bg2">
                  <a:lumMod val="10000"/>
                </a:schemeClr>
              </a:solidFill>
            </a:endParaRPr>
          </a:p>
        </p:txBody>
      </p:sp>
      <p:sp>
        <p:nvSpPr>
          <p:cNvPr id="3" name="Content Placeholder 2"/>
          <p:cNvSpPr>
            <a:spLocks noGrp="1"/>
          </p:cNvSpPr>
          <p:nvPr>
            <p:ph idx="1"/>
          </p:nvPr>
        </p:nvSpPr>
        <p:spPr>
          <a:xfrm>
            <a:off x="457200" y="1417638"/>
            <a:ext cx="8229600" cy="4708527"/>
          </a:xfrm>
        </p:spPr>
        <p:txBody>
          <a:bodyPr/>
          <a:lstStyle/>
          <a:p>
            <a:r>
              <a:rPr lang="en-US" dirty="0" smtClean="0">
                <a:solidFill>
                  <a:schemeClr val="bg2">
                    <a:lumMod val="10000"/>
                  </a:schemeClr>
                </a:solidFill>
              </a:rPr>
              <a:t>Out of 141 participants with diarrhea, 9 of them was positive for C. </a:t>
            </a:r>
            <a:r>
              <a:rPr lang="en-US" dirty="0" err="1" smtClean="0">
                <a:solidFill>
                  <a:schemeClr val="bg2">
                    <a:lumMod val="10000"/>
                  </a:schemeClr>
                </a:solidFill>
              </a:rPr>
              <a:t>defficile</a:t>
            </a:r>
            <a:endParaRPr lang="en-US" dirty="0" smtClean="0">
              <a:solidFill>
                <a:schemeClr val="bg2">
                  <a:lumMod val="10000"/>
                </a:schemeClr>
              </a:solidFill>
            </a:endParaRPr>
          </a:p>
          <a:p>
            <a:r>
              <a:rPr lang="en-US" dirty="0">
                <a:solidFill>
                  <a:schemeClr val="bg2">
                    <a:lumMod val="10000"/>
                  </a:schemeClr>
                </a:solidFill>
              </a:rPr>
              <a:t>All 9</a:t>
            </a:r>
            <a:r>
              <a:rPr lang="en-US" dirty="0" smtClean="0">
                <a:solidFill>
                  <a:schemeClr val="bg2">
                    <a:lumMod val="10000"/>
                  </a:schemeClr>
                </a:solidFill>
              </a:rPr>
              <a:t> </a:t>
            </a:r>
            <a:r>
              <a:rPr lang="en-US" dirty="0">
                <a:solidFill>
                  <a:schemeClr val="bg2">
                    <a:lumMod val="10000"/>
                  </a:schemeClr>
                </a:solidFill>
              </a:rPr>
              <a:t>patients who were found to carry </a:t>
            </a:r>
            <a:r>
              <a:rPr lang="en-US" i="1" dirty="0">
                <a:solidFill>
                  <a:schemeClr val="bg2">
                    <a:lumMod val="10000"/>
                  </a:schemeClr>
                </a:solidFill>
              </a:rPr>
              <a:t>C. difficile</a:t>
            </a:r>
            <a:r>
              <a:rPr lang="en-US" dirty="0">
                <a:solidFill>
                  <a:schemeClr val="bg2">
                    <a:lumMod val="10000"/>
                  </a:schemeClr>
                </a:solidFill>
              </a:rPr>
              <a:t> reported that they had used antibiotics previously. </a:t>
            </a:r>
            <a:endParaRPr lang="en-US" dirty="0" smtClean="0">
              <a:solidFill>
                <a:schemeClr val="bg2">
                  <a:lumMod val="10000"/>
                </a:schemeClr>
              </a:solidFill>
            </a:endParaRPr>
          </a:p>
          <a:p>
            <a:r>
              <a:rPr lang="en-US" dirty="0" smtClean="0">
                <a:solidFill>
                  <a:schemeClr val="bg2">
                    <a:lumMod val="10000"/>
                  </a:schemeClr>
                </a:solidFill>
              </a:rPr>
              <a:t>8 of </a:t>
            </a:r>
            <a:r>
              <a:rPr lang="en-US" dirty="0" err="1" smtClean="0">
                <a:solidFill>
                  <a:schemeClr val="bg2">
                    <a:lumMod val="10000"/>
                  </a:schemeClr>
                </a:solidFill>
              </a:rPr>
              <a:t>of</a:t>
            </a:r>
            <a:r>
              <a:rPr lang="en-US" dirty="0" smtClean="0">
                <a:solidFill>
                  <a:schemeClr val="bg2">
                    <a:lumMod val="10000"/>
                  </a:schemeClr>
                </a:solidFill>
              </a:rPr>
              <a:t> them were </a:t>
            </a:r>
            <a:r>
              <a:rPr lang="en-US" dirty="0">
                <a:solidFill>
                  <a:schemeClr val="bg2">
                    <a:lumMod val="10000"/>
                  </a:schemeClr>
                </a:solidFill>
              </a:rPr>
              <a:t>HIV-positive individuals </a:t>
            </a:r>
            <a:r>
              <a:rPr lang="en-US" dirty="0" smtClean="0">
                <a:solidFill>
                  <a:schemeClr val="bg2">
                    <a:lumMod val="10000"/>
                  </a:schemeClr>
                </a:solidFill>
              </a:rPr>
              <a:t>while </a:t>
            </a:r>
            <a:r>
              <a:rPr lang="en-US" dirty="0">
                <a:solidFill>
                  <a:schemeClr val="bg2">
                    <a:lumMod val="10000"/>
                  </a:schemeClr>
                </a:solidFill>
              </a:rPr>
              <a:t>only </a:t>
            </a:r>
            <a:r>
              <a:rPr lang="en-US" dirty="0" smtClean="0">
                <a:solidFill>
                  <a:schemeClr val="bg2">
                    <a:lumMod val="10000"/>
                  </a:schemeClr>
                </a:solidFill>
              </a:rPr>
              <a:t>one </a:t>
            </a:r>
            <a:r>
              <a:rPr lang="en-US" dirty="0">
                <a:solidFill>
                  <a:schemeClr val="bg2">
                    <a:lumMod val="10000"/>
                  </a:schemeClr>
                </a:solidFill>
              </a:rPr>
              <a:t>HIV-negative </a:t>
            </a:r>
            <a:r>
              <a:rPr lang="en-US" dirty="0" smtClean="0">
                <a:solidFill>
                  <a:schemeClr val="bg2">
                    <a:lumMod val="10000"/>
                  </a:schemeClr>
                </a:solidFill>
              </a:rPr>
              <a:t>individuals</a:t>
            </a:r>
          </a:p>
          <a:p>
            <a:r>
              <a:rPr lang="en-US" dirty="0" smtClean="0">
                <a:solidFill>
                  <a:schemeClr val="bg2">
                    <a:lumMod val="10000"/>
                  </a:schemeClr>
                </a:solidFill>
              </a:rPr>
              <a:t>All 9 </a:t>
            </a:r>
            <a:r>
              <a:rPr lang="en-US" dirty="0">
                <a:solidFill>
                  <a:schemeClr val="bg2">
                    <a:lumMod val="10000"/>
                  </a:schemeClr>
                </a:solidFill>
              </a:rPr>
              <a:t>were susceptible to metronidazole, </a:t>
            </a:r>
            <a:r>
              <a:rPr lang="en-US" dirty="0" err="1">
                <a:solidFill>
                  <a:schemeClr val="bg2">
                    <a:lumMod val="10000"/>
                  </a:schemeClr>
                </a:solidFill>
              </a:rPr>
              <a:t>moxifloxacin</a:t>
            </a:r>
            <a:r>
              <a:rPr lang="en-US" dirty="0">
                <a:solidFill>
                  <a:schemeClr val="bg2">
                    <a:lumMod val="10000"/>
                  </a:schemeClr>
                </a:solidFill>
              </a:rPr>
              <a:t> and clarithromycin, while three isolates were resistant to clarithromycin</a:t>
            </a:r>
          </a:p>
          <a:p>
            <a:pPr marL="0" indent="0">
              <a:buNone/>
            </a:pPr>
            <a:endParaRPr lang="en-US" dirty="0"/>
          </a:p>
        </p:txBody>
      </p:sp>
      <p:sp>
        <p:nvSpPr>
          <p:cNvPr id="5" name="TextBox 4"/>
          <p:cNvSpPr txBox="1"/>
          <p:nvPr/>
        </p:nvSpPr>
        <p:spPr>
          <a:xfrm>
            <a:off x="304800" y="5029200"/>
            <a:ext cx="8001000" cy="1477328"/>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Seugendo</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M.,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Mshana</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S</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(2015). Clostridium difficile infections among adults and children in Mwanza/Tanzania: Is it an underappreciated pathogen among immunocompromised patients in sub-Saharan Africa?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New Microbes and New Infections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8</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99–102. https://doi.org/10.1016/j.nmni.2015.09.016</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90277995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10000"/>
                  </a:schemeClr>
                </a:solidFill>
              </a:rPr>
              <a:t>Clinical presentation</a:t>
            </a:r>
            <a:endParaRPr lang="en-US" b="1" dirty="0">
              <a:solidFill>
                <a:schemeClr val="bg2">
                  <a:lumMod val="10000"/>
                </a:schemeClr>
              </a:solidFill>
            </a:endParaRPr>
          </a:p>
        </p:txBody>
      </p:sp>
      <p:sp>
        <p:nvSpPr>
          <p:cNvPr id="3" name="Content Placeholder 2"/>
          <p:cNvSpPr>
            <a:spLocks noGrp="1"/>
          </p:cNvSpPr>
          <p:nvPr>
            <p:ph idx="1"/>
          </p:nvPr>
        </p:nvSpPr>
        <p:spPr/>
        <p:txBody>
          <a:bodyPr/>
          <a:lstStyle/>
          <a:p>
            <a:r>
              <a:rPr lang="en-US" dirty="0">
                <a:solidFill>
                  <a:schemeClr val="bg2">
                    <a:lumMod val="10000"/>
                  </a:schemeClr>
                </a:solidFill>
              </a:rPr>
              <a:t>Three major clinical syndromes of infection are associated with Gram-negative enteric </a:t>
            </a:r>
            <a:r>
              <a:rPr lang="en-US" dirty="0" smtClean="0">
                <a:solidFill>
                  <a:schemeClr val="bg2">
                    <a:lumMod val="10000"/>
                  </a:schemeClr>
                </a:solidFill>
              </a:rPr>
              <a:t>bacteria among </a:t>
            </a:r>
            <a:r>
              <a:rPr lang="en-US" dirty="0">
                <a:solidFill>
                  <a:schemeClr val="bg2">
                    <a:lumMod val="10000"/>
                  </a:schemeClr>
                </a:solidFill>
              </a:rPr>
              <a:t>people with HIV:</a:t>
            </a:r>
          </a:p>
          <a:p>
            <a:pPr>
              <a:buFont typeface="Wingdings" panose="05000000000000000000" pitchFamily="2" charset="2"/>
              <a:buChar char="Ø"/>
            </a:pPr>
            <a:r>
              <a:rPr lang="en-US" dirty="0" smtClean="0">
                <a:solidFill>
                  <a:schemeClr val="bg2">
                    <a:lumMod val="10000"/>
                  </a:schemeClr>
                </a:solidFill>
              </a:rPr>
              <a:t> </a:t>
            </a:r>
            <a:r>
              <a:rPr lang="en-US" dirty="0">
                <a:solidFill>
                  <a:schemeClr val="bg2">
                    <a:lumMod val="10000"/>
                  </a:schemeClr>
                </a:solidFill>
              </a:rPr>
              <a:t>Self-limited </a:t>
            </a:r>
            <a:r>
              <a:rPr lang="en-US" dirty="0" smtClean="0">
                <a:solidFill>
                  <a:schemeClr val="bg2">
                    <a:lumMod val="10000"/>
                  </a:schemeClr>
                </a:solidFill>
              </a:rPr>
              <a:t>gastroenteritis</a:t>
            </a:r>
          </a:p>
          <a:p>
            <a:pPr>
              <a:buFont typeface="Wingdings" panose="05000000000000000000" pitchFamily="2" charset="2"/>
              <a:buChar char="Ø"/>
            </a:pPr>
            <a:r>
              <a:rPr lang="en-US" dirty="0" smtClean="0">
                <a:solidFill>
                  <a:schemeClr val="bg2">
                    <a:lumMod val="10000"/>
                  </a:schemeClr>
                </a:solidFill>
              </a:rPr>
              <a:t>Severe </a:t>
            </a:r>
            <a:r>
              <a:rPr lang="en-US" dirty="0">
                <a:solidFill>
                  <a:schemeClr val="bg2">
                    <a:lumMod val="10000"/>
                  </a:schemeClr>
                </a:solidFill>
              </a:rPr>
              <a:t>and prolonged diarrheal disease, potentially associated with </a:t>
            </a:r>
            <a:r>
              <a:rPr lang="en-US" b="1" dirty="0">
                <a:solidFill>
                  <a:schemeClr val="bg2">
                    <a:lumMod val="10000"/>
                  </a:schemeClr>
                </a:solidFill>
              </a:rPr>
              <a:t>fever, bloody diarrhea, </a:t>
            </a:r>
            <a:r>
              <a:rPr lang="en-US" b="1" dirty="0" smtClean="0">
                <a:solidFill>
                  <a:schemeClr val="bg2">
                    <a:lumMod val="10000"/>
                  </a:schemeClr>
                </a:solidFill>
              </a:rPr>
              <a:t>and weight loss</a:t>
            </a:r>
          </a:p>
          <a:p>
            <a:pPr>
              <a:buFont typeface="Wingdings" panose="05000000000000000000" pitchFamily="2" charset="2"/>
              <a:buChar char="Ø"/>
            </a:pPr>
            <a:r>
              <a:rPr lang="en-US" dirty="0" smtClean="0">
                <a:solidFill>
                  <a:schemeClr val="bg2">
                    <a:lumMod val="10000"/>
                  </a:schemeClr>
                </a:solidFill>
              </a:rPr>
              <a:t> </a:t>
            </a:r>
            <a:r>
              <a:rPr lang="en-US" dirty="0">
                <a:solidFill>
                  <a:schemeClr val="bg2">
                    <a:lumMod val="10000"/>
                  </a:schemeClr>
                </a:solidFill>
              </a:rPr>
              <a:t>Bacteremia associated with extra-intestinal involvement, with or without concurrent or </a:t>
            </a:r>
            <a:r>
              <a:rPr lang="en-US" dirty="0" smtClean="0">
                <a:solidFill>
                  <a:schemeClr val="bg2">
                    <a:lumMod val="10000"/>
                  </a:schemeClr>
                </a:solidFill>
              </a:rPr>
              <a:t>preceding gastrointestinal </a:t>
            </a:r>
            <a:r>
              <a:rPr lang="en-US" dirty="0">
                <a:solidFill>
                  <a:schemeClr val="bg2">
                    <a:lumMod val="10000"/>
                  </a:schemeClr>
                </a:solidFill>
              </a:rPr>
              <a:t>(GI) </a:t>
            </a:r>
            <a:r>
              <a:rPr lang="en-US" dirty="0" smtClean="0">
                <a:solidFill>
                  <a:schemeClr val="bg2">
                    <a:lumMod val="10000"/>
                  </a:schemeClr>
                </a:solidFill>
              </a:rPr>
              <a:t>illness.</a:t>
            </a:r>
            <a:endParaRPr lang="en-US" dirty="0">
              <a:solidFill>
                <a:schemeClr val="bg2">
                  <a:lumMod val="10000"/>
                </a:schemeClr>
              </a:solidFill>
            </a:endParaRPr>
          </a:p>
        </p:txBody>
      </p:sp>
      <p:sp>
        <p:nvSpPr>
          <p:cNvPr id="4" name="TextBox 3"/>
          <p:cNvSpPr txBox="1"/>
          <p:nvPr/>
        </p:nvSpPr>
        <p:spPr>
          <a:xfrm>
            <a:off x="457200" y="5410200"/>
            <a:ext cx="7848600" cy="923330"/>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Guidelines for the Prevention and Treatment of Opportunistic Infections in Adults and Adolescents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n.d.</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373685027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10000"/>
                  </a:schemeClr>
                </a:solidFill>
                <a:latin typeface="Times New Roman" panose="02020603050405020304" pitchFamily="18" charset="0"/>
                <a:cs typeface="Times New Roman" panose="02020603050405020304" pitchFamily="18" charset="0"/>
              </a:rPr>
              <a:t>Diagnosis and Investigations</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solidFill>
                  <a:schemeClr val="bg2">
                    <a:lumMod val="10000"/>
                  </a:schemeClr>
                </a:solidFill>
                <a:latin typeface="Times New Roman" panose="02020603050405020304" pitchFamily="18" charset="0"/>
                <a:cs typeface="Times New Roman" panose="02020603050405020304" pitchFamily="18" charset="0"/>
              </a:rPr>
              <a:t>Focused history</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r>
              <a:rPr lang="en-US" dirty="0" smtClean="0">
                <a:solidFill>
                  <a:schemeClr val="bg2">
                    <a:lumMod val="10000"/>
                  </a:schemeClr>
                </a:solidFill>
                <a:latin typeface="Times New Roman" panose="02020603050405020304" pitchFamily="18" charset="0"/>
                <a:cs typeface="Times New Roman" panose="02020603050405020304" pitchFamily="18" charset="0"/>
              </a:rPr>
              <a:t>Physical examinations</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Stool culture and sensitivity</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Blood culture </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For CDI, NAAT and EIA are required</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Endoscopy with biopsy should be reserved</a:t>
            </a:r>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42063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835819"/>
            <a:ext cx="9144000" cy="5100638"/>
          </a:xfrm>
          <a:prstGeom prst="rect">
            <a:avLst/>
          </a:prstGeom>
        </p:spPr>
      </p:pic>
      <p:sp>
        <p:nvSpPr>
          <p:cNvPr id="4" name="TextBox 3"/>
          <p:cNvSpPr txBox="1"/>
          <p:nvPr/>
        </p:nvSpPr>
        <p:spPr>
          <a:xfrm>
            <a:off x="381000" y="5936457"/>
            <a:ext cx="8534400" cy="923330"/>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r>
              <a:rPr kumimoji="0" lang="en-US" sz="1800" b="0" i="1"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Guidelines for the Prevention and Treatment of Opportunistic Infections in Adults and Adolescents</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n.d.</a:t>
            </a: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2A9E5"/>
              </a:solidFill>
              <a:effectLst/>
              <a:uLnTx/>
              <a:uFillTx/>
              <a:latin typeface="Arial"/>
              <a:ea typeface="+mn-ea"/>
              <a:cs typeface="+mn-cs"/>
            </a:endParaRPr>
          </a:p>
        </p:txBody>
      </p:sp>
    </p:spTree>
    <p:extLst>
      <p:ext uri="{BB962C8B-B14F-4D97-AF65-F5344CB8AC3E}">
        <p14:creationId xmlns:p14="http://schemas.microsoft.com/office/powerpoint/2010/main" val="181521408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00" y="2895600"/>
            <a:ext cx="8038108"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Vaccine in Infectious diarrhea</a:t>
            </a:r>
            <a:endParaRPr kumimoji="0" lang="en-US" sz="3600" b="0" i="0" u="none" strike="noStrike" kern="1200" cap="none" spc="0" normalizeH="0" baseline="0" noProof="0" dirty="0">
              <a:ln>
                <a:noFill/>
              </a:ln>
              <a:solidFill>
                <a:srgbClr val="EEECE1">
                  <a:lumMod val="10000"/>
                </a:srgbClr>
              </a:solidFill>
              <a:effectLst/>
              <a:uLnTx/>
              <a:uFillTx/>
              <a:latin typeface="Arial"/>
              <a:ea typeface="+mn-ea"/>
              <a:cs typeface="+mn-cs"/>
            </a:endParaRPr>
          </a:p>
        </p:txBody>
      </p:sp>
    </p:spTree>
    <p:extLst>
      <p:ext uri="{BB962C8B-B14F-4D97-AF65-F5344CB8AC3E}">
        <p14:creationId xmlns:p14="http://schemas.microsoft.com/office/powerpoint/2010/main" val="4622723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10000"/>
                  </a:schemeClr>
                </a:solidFill>
                <a:latin typeface="Times New Roman" panose="02020603050405020304" pitchFamily="18" charset="0"/>
                <a:cs typeface="Times New Roman" panose="02020603050405020304" pitchFamily="18" charset="0"/>
              </a:rPr>
              <a:t>Vaccine in Infectious diarrhea</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Vaccines play a critical role as a primary prevention strategy in reducing the global morbidity and mortality associated with infectious diarrhea</a:t>
            </a:r>
          </a:p>
        </p:txBody>
      </p:sp>
    </p:spTree>
    <p:extLst>
      <p:ext uri="{BB962C8B-B14F-4D97-AF65-F5344CB8AC3E}">
        <p14:creationId xmlns:p14="http://schemas.microsoft.com/office/powerpoint/2010/main" val="406103344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Cholera Vaccine</a:t>
            </a:r>
            <a:r>
              <a:rPr lang="en-US" dirty="0"/>
              <a:t/>
            </a:r>
            <a:br>
              <a:rPr lang="en-US" dirty="0"/>
            </a:br>
            <a:endParaRPr lang="en-US" dirty="0"/>
          </a:p>
        </p:txBody>
      </p:sp>
      <p:sp>
        <p:nvSpPr>
          <p:cNvPr id="3" name="Content Placeholder 2"/>
          <p:cNvSpPr>
            <a:spLocks noGrp="1"/>
          </p:cNvSpPr>
          <p:nvPr>
            <p:ph idx="1"/>
          </p:nvPr>
        </p:nvSpPr>
        <p:spPr/>
        <p:txBody>
          <a:bodyPr/>
          <a:lstStyle/>
          <a:p>
            <a:pPr marL="0" indent="0">
              <a:buNone/>
            </a:pPr>
            <a:r>
              <a:rPr lang="en-US" sz="2400" b="1" dirty="0" smtClean="0">
                <a:solidFill>
                  <a:schemeClr val="bg2">
                    <a:lumMod val="10000"/>
                  </a:schemeClr>
                </a:solidFill>
                <a:latin typeface="Times New Roman" panose="02020603050405020304" pitchFamily="18" charset="0"/>
                <a:cs typeface="Times New Roman" panose="02020603050405020304" pitchFamily="18" charset="0"/>
              </a:rPr>
              <a:t>Public </a:t>
            </a:r>
            <a:r>
              <a:rPr lang="en-US" sz="2400" b="1" dirty="0">
                <a:solidFill>
                  <a:schemeClr val="bg2">
                    <a:lumMod val="10000"/>
                  </a:schemeClr>
                </a:solidFill>
                <a:latin typeface="Times New Roman" panose="02020603050405020304" pitchFamily="18" charset="0"/>
                <a:cs typeface="Times New Roman" panose="02020603050405020304" pitchFamily="18" charset="0"/>
              </a:rPr>
              <a:t>Health </a:t>
            </a:r>
            <a:r>
              <a:rPr lang="en-US" sz="2400" b="1" dirty="0" smtClean="0">
                <a:solidFill>
                  <a:schemeClr val="bg2">
                    <a:lumMod val="10000"/>
                  </a:schemeClr>
                </a:solidFill>
                <a:latin typeface="Times New Roman" panose="02020603050405020304" pitchFamily="18" charset="0"/>
                <a:cs typeface="Times New Roman" panose="02020603050405020304" pitchFamily="18" charset="0"/>
              </a:rPr>
              <a:t>Use</a:t>
            </a:r>
            <a:endParaRPr lang="en-US" sz="2400" dirty="0" smtClean="0">
              <a:solidFill>
                <a:schemeClr val="bg2">
                  <a:lumMod val="10000"/>
                </a:schemeClr>
              </a:solidFill>
              <a:latin typeface="Times New Roman" panose="02020603050405020304" pitchFamily="18" charset="0"/>
              <a:cs typeface="Times New Roman" panose="02020603050405020304" pitchFamily="18" charset="0"/>
            </a:endParaRPr>
          </a:p>
          <a:p>
            <a:r>
              <a:rPr lang="en-US" dirty="0" smtClean="0">
                <a:solidFill>
                  <a:schemeClr val="bg2">
                    <a:lumMod val="10000"/>
                  </a:schemeClr>
                </a:solidFill>
                <a:latin typeface="Times New Roman" panose="02020603050405020304" pitchFamily="18" charset="0"/>
                <a:cs typeface="Times New Roman" panose="02020603050405020304" pitchFamily="18" charset="0"/>
              </a:rPr>
              <a:t>WHO </a:t>
            </a:r>
            <a:r>
              <a:rPr lang="en-US" dirty="0">
                <a:solidFill>
                  <a:schemeClr val="bg2">
                    <a:lumMod val="10000"/>
                  </a:schemeClr>
                </a:solidFill>
                <a:latin typeface="Times New Roman" panose="02020603050405020304" pitchFamily="18" charset="0"/>
                <a:cs typeface="Times New Roman" panose="02020603050405020304" pitchFamily="18" charset="0"/>
              </a:rPr>
              <a:t>recommends the use of oral cholera </a:t>
            </a:r>
            <a:r>
              <a:rPr lang="en-US" dirty="0" smtClean="0">
                <a:solidFill>
                  <a:schemeClr val="bg2">
                    <a:lumMod val="10000"/>
                  </a:schemeClr>
                </a:solidFill>
                <a:latin typeface="Times New Roman" panose="02020603050405020304" pitchFamily="18" charset="0"/>
                <a:cs typeface="Times New Roman" panose="02020603050405020304" pitchFamily="18" charset="0"/>
              </a:rPr>
              <a:t>vaccines </a:t>
            </a:r>
            <a:r>
              <a:rPr lang="en-US" dirty="0">
                <a:solidFill>
                  <a:schemeClr val="bg2">
                    <a:lumMod val="10000"/>
                  </a:schemeClr>
                </a:solidFill>
                <a:latin typeface="Times New Roman" panose="02020603050405020304" pitchFamily="18" charset="0"/>
                <a:cs typeface="Times New Roman" panose="02020603050405020304" pitchFamily="18" charset="0"/>
              </a:rPr>
              <a:t>together with traditional control measures, including health promotion, provision of safe water and improving </a:t>
            </a:r>
            <a:r>
              <a:rPr lang="en-US" dirty="0" smtClean="0">
                <a:solidFill>
                  <a:schemeClr val="bg2">
                    <a:lumMod val="10000"/>
                  </a:schemeClr>
                </a:solidFill>
                <a:latin typeface="Times New Roman" panose="02020603050405020304" pitchFamily="18" charset="0"/>
                <a:cs typeface="Times New Roman" panose="02020603050405020304" pitchFamily="18" charset="0"/>
              </a:rPr>
              <a:t>sanitation</a:t>
            </a:r>
          </a:p>
          <a:p>
            <a:pPr>
              <a:buFont typeface="Wingdings" panose="05000000000000000000" pitchFamily="2" charset="2"/>
              <a:buChar char="Ø"/>
            </a:pPr>
            <a:r>
              <a:rPr lang="en-US" dirty="0" smtClean="0">
                <a:solidFill>
                  <a:schemeClr val="bg2">
                    <a:lumMod val="10000"/>
                  </a:schemeClr>
                </a:solidFill>
                <a:latin typeface="Times New Roman" panose="02020603050405020304" pitchFamily="18" charset="0"/>
                <a:cs typeface="Times New Roman" panose="02020603050405020304" pitchFamily="18" charset="0"/>
              </a:rPr>
              <a:t>Cholera </a:t>
            </a:r>
            <a:r>
              <a:rPr lang="en-US" dirty="0">
                <a:solidFill>
                  <a:schemeClr val="bg2">
                    <a:lumMod val="10000"/>
                  </a:schemeClr>
                </a:solidFill>
                <a:latin typeface="Times New Roman" panose="02020603050405020304" pitchFamily="18" charset="0"/>
                <a:cs typeface="Times New Roman" panose="02020603050405020304" pitchFamily="18" charset="0"/>
              </a:rPr>
              <a:t>endemic areas </a:t>
            </a:r>
          </a:p>
          <a:p>
            <a:pPr>
              <a:buFont typeface="Wingdings" panose="05000000000000000000"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D</a:t>
            </a:r>
            <a:r>
              <a:rPr lang="en-US" dirty="0" smtClean="0">
                <a:solidFill>
                  <a:schemeClr val="bg2">
                    <a:lumMod val="10000"/>
                  </a:schemeClr>
                </a:solidFill>
                <a:latin typeface="Times New Roman" panose="02020603050405020304" pitchFamily="18" charset="0"/>
                <a:cs typeface="Times New Roman" panose="02020603050405020304" pitchFamily="18" charset="0"/>
              </a:rPr>
              <a:t>uring </a:t>
            </a:r>
            <a:r>
              <a:rPr lang="en-US" dirty="0">
                <a:solidFill>
                  <a:schemeClr val="bg2">
                    <a:lumMod val="10000"/>
                  </a:schemeClr>
                </a:solidFill>
                <a:latin typeface="Times New Roman" panose="02020603050405020304" pitchFamily="18" charset="0"/>
                <a:cs typeface="Times New Roman" panose="02020603050405020304" pitchFamily="18" charset="0"/>
              </a:rPr>
              <a:t>cholera </a:t>
            </a:r>
            <a:r>
              <a:rPr lang="en-US" dirty="0" smtClean="0">
                <a:solidFill>
                  <a:schemeClr val="bg2">
                    <a:lumMod val="10000"/>
                  </a:schemeClr>
                </a:solidFill>
                <a:latin typeface="Times New Roman" panose="02020603050405020304" pitchFamily="18" charset="0"/>
                <a:cs typeface="Times New Roman" panose="02020603050405020304" pitchFamily="18" charset="0"/>
              </a:rPr>
              <a:t>outbreaks</a:t>
            </a:r>
          </a:p>
          <a:p>
            <a:pPr>
              <a:buFont typeface="Wingdings" panose="05000000000000000000" pitchFamily="2" charset="2"/>
              <a:buChar char="Ø"/>
            </a:pPr>
            <a:r>
              <a:rPr lang="en-US" sz="2400" dirty="0" smtClean="0">
                <a:solidFill>
                  <a:schemeClr val="bg2">
                    <a:lumMod val="10000"/>
                  </a:schemeClr>
                </a:solidFill>
                <a:latin typeface="Times New Roman" panose="02020603050405020304" pitchFamily="18" charset="0"/>
                <a:cs typeface="Times New Roman" panose="02020603050405020304" pitchFamily="18" charset="0"/>
              </a:rPr>
              <a:t>Traveler’s to endemic areas</a:t>
            </a:r>
          </a:p>
          <a:p>
            <a:pPr marL="0" indent="0">
              <a:buNone/>
            </a:pPr>
            <a:endParaRPr lang="en-US" sz="2400" dirty="0"/>
          </a:p>
          <a:p>
            <a:endParaRPr lang="en-US" dirty="0"/>
          </a:p>
        </p:txBody>
      </p:sp>
    </p:spTree>
    <p:extLst>
      <p:ext uri="{BB962C8B-B14F-4D97-AF65-F5344CB8AC3E}">
        <p14:creationId xmlns:p14="http://schemas.microsoft.com/office/powerpoint/2010/main" val="264801915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EEECE1">
                    <a:lumMod val="10000"/>
                  </a:srgbClr>
                </a:solidFill>
                <a:latin typeface="Times New Roman" panose="02020603050405020304" pitchFamily="18" charset="0"/>
                <a:cs typeface="Times New Roman" panose="02020603050405020304" pitchFamily="18" charset="0"/>
              </a:rPr>
              <a:t>Cholera Vaccine</a:t>
            </a:r>
            <a:endParaRPr lang="en-US" dirty="0"/>
          </a:p>
        </p:txBody>
      </p:sp>
      <p:sp>
        <p:nvSpPr>
          <p:cNvPr id="3" name="Content Placeholder 2"/>
          <p:cNvSpPr>
            <a:spLocks noGrp="1"/>
          </p:cNvSpPr>
          <p:nvPr>
            <p:ph idx="1"/>
          </p:nvPr>
        </p:nvSpPr>
        <p:spPr>
          <a:xfrm>
            <a:off x="457200" y="1600200"/>
            <a:ext cx="8229600" cy="4525963"/>
          </a:xfrm>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Only two </a:t>
            </a:r>
            <a:r>
              <a:rPr lang="en-US" dirty="0" err="1">
                <a:solidFill>
                  <a:schemeClr val="bg2">
                    <a:lumMod val="10000"/>
                  </a:schemeClr>
                </a:solidFill>
                <a:latin typeface="Times New Roman" panose="02020603050405020304" pitchFamily="18" charset="0"/>
                <a:cs typeface="Times New Roman" panose="02020603050405020304" pitchFamily="18" charset="0"/>
              </a:rPr>
              <a:t>serogroups</a:t>
            </a:r>
            <a:r>
              <a:rPr lang="en-US" dirty="0">
                <a:solidFill>
                  <a:schemeClr val="bg2">
                    <a:lumMod val="10000"/>
                  </a:schemeClr>
                </a:solidFill>
                <a:latin typeface="Times New Roman" panose="02020603050405020304" pitchFamily="18" charset="0"/>
                <a:cs typeface="Times New Roman" panose="02020603050405020304" pitchFamily="18" charset="0"/>
              </a:rPr>
              <a:t>, O1 and O139</a:t>
            </a:r>
            <a:r>
              <a:rPr lang="en-US" dirty="0" smtClean="0">
                <a:solidFill>
                  <a:schemeClr val="bg2">
                    <a:lumMod val="10000"/>
                  </a:schemeClr>
                </a:solidFill>
                <a:latin typeface="Times New Roman" panose="02020603050405020304" pitchFamily="18" charset="0"/>
                <a:cs typeface="Times New Roman" panose="02020603050405020304" pitchFamily="18" charset="0"/>
              </a:rPr>
              <a:t>, </a:t>
            </a:r>
            <a:r>
              <a:rPr lang="en-US" dirty="0">
                <a:solidFill>
                  <a:schemeClr val="bg2">
                    <a:lumMod val="10000"/>
                  </a:schemeClr>
                </a:solidFill>
                <a:latin typeface="Times New Roman" panose="02020603050405020304" pitchFamily="18" charset="0"/>
                <a:cs typeface="Times New Roman" panose="02020603050405020304" pitchFamily="18" charset="0"/>
              </a:rPr>
              <a:t>cause cholera outbreaks. </a:t>
            </a:r>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a:p>
            <a:r>
              <a:rPr lang="en-US" i="1" dirty="0" smtClean="0">
                <a:solidFill>
                  <a:schemeClr val="bg2">
                    <a:lumMod val="10000"/>
                  </a:schemeClr>
                </a:solidFill>
                <a:latin typeface="Times New Roman" panose="02020603050405020304" pitchFamily="18" charset="0"/>
                <a:cs typeface="Times New Roman" panose="02020603050405020304" pitchFamily="18" charset="0"/>
              </a:rPr>
              <a:t>V</a:t>
            </a:r>
            <a:r>
              <a:rPr lang="en-US" i="1" dirty="0">
                <a:solidFill>
                  <a:schemeClr val="bg2">
                    <a:lumMod val="10000"/>
                  </a:schemeClr>
                </a:solidFill>
                <a:latin typeface="Times New Roman" panose="02020603050405020304" pitchFamily="18" charset="0"/>
                <a:cs typeface="Times New Roman" panose="02020603050405020304" pitchFamily="18" charset="0"/>
              </a:rPr>
              <a:t>. </a:t>
            </a:r>
            <a:r>
              <a:rPr lang="en-US" i="1" dirty="0" err="1">
                <a:solidFill>
                  <a:schemeClr val="bg2">
                    <a:lumMod val="10000"/>
                  </a:schemeClr>
                </a:solidFill>
                <a:latin typeface="Times New Roman" panose="02020603050405020304" pitchFamily="18" charset="0"/>
                <a:cs typeface="Times New Roman" panose="02020603050405020304" pitchFamily="18" charset="0"/>
              </a:rPr>
              <a:t>cholerae</a:t>
            </a:r>
            <a:r>
              <a:rPr lang="en-US" dirty="0">
                <a:solidFill>
                  <a:schemeClr val="bg2">
                    <a:lumMod val="10000"/>
                  </a:schemeClr>
                </a:solidFill>
                <a:latin typeface="Times New Roman" panose="02020603050405020304" pitchFamily="18" charset="0"/>
                <a:cs typeface="Times New Roman" panose="02020603050405020304" pitchFamily="18" charset="0"/>
              </a:rPr>
              <a:t> O1 has caused all recent outbreaks</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p>
          <a:p>
            <a:r>
              <a:rPr lang="en-US" dirty="0">
                <a:solidFill>
                  <a:schemeClr val="bg2">
                    <a:lumMod val="10000"/>
                  </a:schemeClr>
                </a:solidFill>
                <a:latin typeface="Times New Roman" panose="02020603050405020304" pitchFamily="18" charset="0"/>
                <a:cs typeface="Times New Roman" panose="02020603050405020304" pitchFamily="18" charset="0"/>
              </a:rPr>
              <a:t>Currently, three WHO pre-qualified oral cholera vaccines (OCV) are available</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Dukoral</a:t>
            </a:r>
            <a:r>
              <a:rPr lang="en-US" dirty="0" smtClean="0">
                <a:solidFill>
                  <a:schemeClr val="bg2">
                    <a:lumMod val="10000"/>
                  </a:schemeClr>
                </a:solidFill>
                <a:latin typeface="Times New Roman" panose="02020603050405020304" pitchFamily="18" charset="0"/>
                <a:cs typeface="Times New Roman" panose="02020603050405020304" pitchFamily="18" charset="0"/>
              </a:rPr>
              <a:t>,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Euvichol</a:t>
            </a:r>
            <a:r>
              <a:rPr lang="en-US" dirty="0" smtClean="0">
                <a:solidFill>
                  <a:schemeClr val="bg2">
                    <a:lumMod val="10000"/>
                  </a:schemeClr>
                </a:solidFill>
                <a:latin typeface="Times New Roman" panose="02020603050405020304" pitchFamily="18" charset="0"/>
                <a:cs typeface="Times New Roman" panose="02020603050405020304" pitchFamily="18" charset="0"/>
              </a:rPr>
              <a:t>-Plus, </a:t>
            </a:r>
            <a:r>
              <a:rPr lang="en-US" dirty="0">
                <a:solidFill>
                  <a:schemeClr val="bg2">
                    <a:lumMod val="10000"/>
                  </a:schemeClr>
                </a:solidFill>
                <a:latin typeface="Times New Roman" panose="02020603050405020304" pitchFamily="18" charset="0"/>
                <a:cs typeface="Times New Roman" panose="02020603050405020304" pitchFamily="18" charset="0"/>
              </a:rPr>
              <a:t>and </a:t>
            </a:r>
            <a:r>
              <a:rPr lang="en-US" b="1" dirty="0" err="1" smtClean="0">
                <a:solidFill>
                  <a:schemeClr val="bg2">
                    <a:lumMod val="10000"/>
                  </a:schemeClr>
                </a:solidFill>
                <a:latin typeface="Times New Roman" panose="02020603050405020304" pitchFamily="18" charset="0"/>
                <a:cs typeface="Times New Roman" panose="02020603050405020304" pitchFamily="18" charset="0"/>
              </a:rPr>
              <a:t>Euvichol</a:t>
            </a:r>
            <a:r>
              <a:rPr lang="en-US" b="1" dirty="0" smtClean="0">
                <a:solidFill>
                  <a:schemeClr val="bg2">
                    <a:lumMod val="10000"/>
                  </a:schemeClr>
                </a:solidFill>
                <a:latin typeface="Times New Roman" panose="02020603050405020304" pitchFamily="18" charset="0"/>
                <a:cs typeface="Times New Roman" panose="02020603050405020304" pitchFamily="18" charset="0"/>
              </a:rPr>
              <a:t>-S</a:t>
            </a:r>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a:p>
            <a:r>
              <a:rPr lang="en-US" dirty="0" smtClean="0">
                <a:solidFill>
                  <a:schemeClr val="bg2">
                    <a:lumMod val="10000"/>
                  </a:schemeClr>
                </a:solidFill>
                <a:latin typeface="Times New Roman" panose="02020603050405020304" pitchFamily="18" charset="0"/>
                <a:cs typeface="Times New Roman" panose="02020603050405020304" pitchFamily="18" charset="0"/>
              </a:rPr>
              <a:t>Due to shortage, 2022 WHO suspended 2-dose regime</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1-dose </a:t>
            </a:r>
            <a:r>
              <a:rPr lang="en-US" dirty="0">
                <a:solidFill>
                  <a:schemeClr val="bg2">
                    <a:lumMod val="10000"/>
                  </a:schemeClr>
                </a:solidFill>
                <a:latin typeface="Times New Roman" panose="02020603050405020304" pitchFamily="18" charset="0"/>
                <a:cs typeface="Times New Roman" panose="02020603050405020304" pitchFamily="18" charset="0"/>
              </a:rPr>
              <a:t>strategy has proven effective in </a:t>
            </a:r>
            <a:r>
              <a:rPr lang="en-US" dirty="0" smtClean="0">
                <a:solidFill>
                  <a:schemeClr val="bg2">
                    <a:lumMod val="10000"/>
                  </a:schemeClr>
                </a:solidFill>
                <a:latin typeface="Times New Roman" panose="02020603050405020304" pitchFamily="18" charset="0"/>
                <a:cs typeface="Times New Roman" panose="02020603050405020304" pitchFamily="18" charset="0"/>
              </a:rPr>
              <a:t>responding to outbreaks</a:t>
            </a:r>
          </a:p>
          <a:p>
            <a:r>
              <a:rPr lang="en-US" sz="2000" b="1" dirty="0">
                <a:solidFill>
                  <a:schemeClr val="bg2">
                    <a:lumMod val="10000"/>
                  </a:schemeClr>
                </a:solidFill>
                <a:latin typeface="Times New Roman" panose="02020603050405020304" pitchFamily="18" charset="0"/>
                <a:cs typeface="Times New Roman" panose="02020603050405020304" pitchFamily="18" charset="0"/>
              </a:rPr>
              <a:t>CVD 103-HgR , ORAL LIVE ATTENUATED </a:t>
            </a:r>
            <a:r>
              <a:rPr lang="en-US" sz="2000" dirty="0">
                <a:solidFill>
                  <a:schemeClr val="bg2">
                    <a:lumMod val="10000"/>
                  </a:schemeClr>
                </a:solidFill>
                <a:latin typeface="Times New Roman" panose="02020603050405020304" pitchFamily="18" charset="0"/>
                <a:cs typeface="Times New Roman" panose="02020603050405020304" pitchFamily="18" charset="0"/>
              </a:rPr>
              <a:t>Single dose, Rapid protection, Mainly used for travelers, Licensed in some high-income countries</a:t>
            </a:r>
          </a:p>
          <a:p>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04800" y="5181600"/>
            <a:ext cx="8001000" cy="646331"/>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Cholera Annual Report 2023. Weekly Epidemiological Record, 9 September 2024, Vol 99 (36), (pp 481- 496).</a:t>
            </a:r>
          </a:p>
        </p:txBody>
      </p:sp>
    </p:spTree>
    <p:extLst>
      <p:ext uri="{BB962C8B-B14F-4D97-AF65-F5344CB8AC3E}">
        <p14:creationId xmlns:p14="http://schemas.microsoft.com/office/powerpoint/2010/main" val="427468196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EEECE1">
                    <a:lumMod val="10000"/>
                  </a:srgbClr>
                </a:solidFill>
                <a:latin typeface="Times New Roman" panose="02020603050405020304" pitchFamily="18" charset="0"/>
                <a:cs typeface="Times New Roman" panose="02020603050405020304" pitchFamily="18" charset="0"/>
              </a:rPr>
              <a:t>Cholera Vaccine</a:t>
            </a:r>
            <a:endParaRPr lang="en-US" dirty="0"/>
          </a:p>
        </p:txBody>
      </p:sp>
      <p:sp>
        <p:nvSpPr>
          <p:cNvPr id="3" name="Content Placeholder 2"/>
          <p:cNvSpPr>
            <a:spLocks noGrp="1"/>
          </p:cNvSpPr>
          <p:nvPr>
            <p:ph idx="1"/>
          </p:nvPr>
        </p:nvSpPr>
        <p:spPr/>
        <p:txBody>
          <a:bodyPr/>
          <a:lstStyle/>
          <a:p>
            <a:r>
              <a:rPr lang="en-US" dirty="0" smtClean="0">
                <a:solidFill>
                  <a:schemeClr val="bg2">
                    <a:lumMod val="10000"/>
                  </a:schemeClr>
                </a:solidFill>
                <a:latin typeface="Times New Roman" panose="02020603050405020304" pitchFamily="18" charset="0"/>
                <a:cs typeface="Times New Roman" panose="02020603050405020304" pitchFamily="18" charset="0"/>
              </a:rPr>
              <a:t>As result of Global shortage, IVI conducted a phase 3 trial</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r>
              <a:rPr lang="en-US" dirty="0" smtClean="0">
                <a:solidFill>
                  <a:schemeClr val="bg2">
                    <a:lumMod val="10000"/>
                  </a:schemeClr>
                </a:solidFill>
                <a:latin typeface="Times New Roman" panose="02020603050405020304" pitchFamily="18" charset="0"/>
                <a:cs typeface="Times New Roman" panose="02020603050405020304" pitchFamily="18" charset="0"/>
              </a:rPr>
              <a:t>It was </a:t>
            </a:r>
            <a:r>
              <a:rPr lang="en-US" dirty="0">
                <a:solidFill>
                  <a:schemeClr val="bg2">
                    <a:lumMod val="10000"/>
                  </a:schemeClr>
                </a:solidFill>
                <a:latin typeface="Times New Roman" panose="02020603050405020304" pitchFamily="18" charset="0"/>
                <a:cs typeface="Times New Roman" panose="02020603050405020304" pitchFamily="18" charset="0"/>
              </a:rPr>
              <a:t>comparing the lower-cost </a:t>
            </a:r>
            <a:r>
              <a:rPr lang="en-US" dirty="0" smtClean="0">
                <a:solidFill>
                  <a:schemeClr val="bg2">
                    <a:lumMod val="10000"/>
                  </a:schemeClr>
                </a:solidFill>
                <a:latin typeface="Times New Roman" panose="02020603050405020304" pitchFamily="18" charset="0"/>
                <a:cs typeface="Times New Roman" panose="02020603050405020304" pitchFamily="18" charset="0"/>
              </a:rPr>
              <a:t>formulation </a:t>
            </a:r>
            <a:r>
              <a:rPr lang="en-US" dirty="0" smtClean="0">
                <a:solidFill>
                  <a:schemeClr val="bg2">
                    <a:lumMod val="10000"/>
                  </a:schemeClr>
                </a:solidFill>
                <a:latin typeface="Times New Roman" panose="02020603050405020304" pitchFamily="18" charset="0"/>
                <a:cs typeface="Times New Roman" panose="02020603050405020304" pitchFamily="18" charset="0"/>
              </a:rPr>
              <a:t>between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Euvichol</a:t>
            </a:r>
            <a:r>
              <a:rPr lang="en-US" dirty="0" smtClean="0">
                <a:solidFill>
                  <a:schemeClr val="bg2">
                    <a:lumMod val="10000"/>
                  </a:schemeClr>
                </a:solidFill>
                <a:latin typeface="Times New Roman" panose="02020603050405020304" pitchFamily="18" charset="0"/>
                <a:cs typeface="Times New Roman" panose="02020603050405020304" pitchFamily="18" charset="0"/>
              </a:rPr>
              <a:t>-S</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dirty="0" smtClean="0">
                <a:solidFill>
                  <a:schemeClr val="bg2">
                    <a:lumMod val="10000"/>
                  </a:schemeClr>
                </a:solidFill>
                <a:latin typeface="Times New Roman" panose="02020603050405020304" pitchFamily="18" charset="0"/>
                <a:cs typeface="Times New Roman" panose="02020603050405020304" pitchFamily="18" charset="0"/>
              </a:rPr>
              <a:t>and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Shanchol</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p>
          <a:p>
            <a:r>
              <a:rPr lang="en-US" dirty="0" smtClean="0">
                <a:solidFill>
                  <a:schemeClr val="bg2">
                    <a:lumMod val="10000"/>
                  </a:schemeClr>
                </a:solidFill>
                <a:latin typeface="Times New Roman" panose="02020603050405020304" pitchFamily="18" charset="0"/>
                <a:cs typeface="Times New Roman" panose="02020603050405020304" pitchFamily="18" charset="0"/>
              </a:rPr>
              <a:t>It </a:t>
            </a:r>
            <a:r>
              <a:rPr lang="en-US" dirty="0">
                <a:solidFill>
                  <a:schemeClr val="bg2">
                    <a:lumMod val="10000"/>
                  </a:schemeClr>
                </a:solidFill>
                <a:latin typeface="Times New Roman" panose="02020603050405020304" pitchFamily="18" charset="0"/>
                <a:cs typeface="Times New Roman" panose="02020603050405020304" pitchFamily="18" charset="0"/>
              </a:rPr>
              <a:t>was successfully completed in Nepal in October 2022 </a:t>
            </a:r>
            <a:r>
              <a:rPr lang="en-US" dirty="0" smtClean="0">
                <a:solidFill>
                  <a:schemeClr val="bg2">
                    <a:lumMod val="10000"/>
                  </a:schemeClr>
                </a:solidFill>
                <a:latin typeface="Times New Roman" panose="02020603050405020304" pitchFamily="18" charset="0"/>
                <a:cs typeface="Times New Roman" panose="02020603050405020304" pitchFamily="18" charset="0"/>
              </a:rPr>
              <a:t>where demonstrated </a:t>
            </a:r>
            <a:r>
              <a:rPr lang="en-US" dirty="0">
                <a:solidFill>
                  <a:schemeClr val="bg2">
                    <a:lumMod val="10000"/>
                  </a:schemeClr>
                </a:solidFill>
                <a:latin typeface="Times New Roman" panose="02020603050405020304" pitchFamily="18" charset="0"/>
                <a:cs typeface="Times New Roman" panose="02020603050405020304" pitchFamily="18" charset="0"/>
              </a:rPr>
              <a:t>the non-inferiority of </a:t>
            </a:r>
            <a:r>
              <a:rPr lang="en-US" dirty="0" err="1">
                <a:solidFill>
                  <a:schemeClr val="bg2">
                    <a:lumMod val="10000"/>
                  </a:schemeClr>
                </a:solidFill>
                <a:latin typeface="Times New Roman" panose="02020603050405020304" pitchFamily="18" charset="0"/>
                <a:cs typeface="Times New Roman" panose="02020603050405020304" pitchFamily="18" charset="0"/>
              </a:rPr>
              <a:t>Euvichol</a:t>
            </a:r>
            <a:r>
              <a:rPr lang="en-US" dirty="0">
                <a:solidFill>
                  <a:schemeClr val="bg2">
                    <a:lumMod val="10000"/>
                  </a:schemeClr>
                </a:solidFill>
                <a:latin typeface="Times New Roman" panose="02020603050405020304" pitchFamily="18" charset="0"/>
                <a:cs typeface="Times New Roman" panose="02020603050405020304" pitchFamily="18" charset="0"/>
              </a:rPr>
              <a:t>-S compared to </a:t>
            </a:r>
            <a:r>
              <a:rPr lang="en-US" dirty="0" err="1">
                <a:solidFill>
                  <a:schemeClr val="bg2">
                    <a:lumMod val="10000"/>
                  </a:schemeClr>
                </a:solidFill>
                <a:latin typeface="Times New Roman" panose="02020603050405020304" pitchFamily="18" charset="0"/>
                <a:cs typeface="Times New Roman" panose="02020603050405020304" pitchFamily="18" charset="0"/>
              </a:rPr>
              <a:t>Shanchol</a:t>
            </a:r>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838200" y="5029200"/>
            <a:ext cx="7848600" cy="369332"/>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For more information, please visit </a:t>
            </a:r>
            <a:r>
              <a:rPr kumimoji="0" lang="en-US" sz="1800" b="0" i="0" u="none" strike="noStrike" kern="1200" cap="none" spc="0" normalizeH="0" baseline="0" noProof="0" dirty="0">
                <a:ln>
                  <a:noFill/>
                </a:ln>
                <a:solidFill>
                  <a:srgbClr val="32A9E5"/>
                </a:solidFill>
                <a:effectLst/>
                <a:uLnTx/>
                <a:uFillTx/>
                <a:latin typeface="Arial"/>
                <a:ea typeface="+mn-ea"/>
                <a:cs typeface="+mn-cs"/>
                <a:hlinkClick r:id="rId3"/>
              </a:rPr>
              <a:t>https://www.ivi.int</a:t>
            </a:r>
            <a:r>
              <a:rPr kumimoji="0" lang="en-US" sz="1800" b="0" i="0" u="none" strike="noStrike" kern="1200" cap="none" spc="0" normalizeH="0" baseline="0" noProof="0" dirty="0">
                <a:ln>
                  <a:noFill/>
                </a:ln>
                <a:solidFill>
                  <a:srgbClr val="32A9E5"/>
                </a:solidFill>
                <a:effectLst/>
                <a:uLnTx/>
                <a:uFillTx/>
                <a:latin typeface="Arial"/>
                <a:ea typeface="+mn-ea"/>
                <a:cs typeface="+mn-cs"/>
              </a:rPr>
              <a:t>.</a:t>
            </a:r>
            <a:r>
              <a:rPr kumimoji="0" lang="en-US" sz="18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endParaRPr kumimoji="0" lang="en-US" sz="18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498462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lvl="0" indent="-342900">
              <a:spcBef>
                <a:spcPct val="20000"/>
              </a:spcBef>
            </a:pPr>
            <a:r>
              <a:rPr lang="en-US" sz="3200" b="1" dirty="0">
                <a:solidFill>
                  <a:srgbClr val="000000"/>
                </a:solidFill>
                <a:latin typeface="Times New Roman" panose="02020603050405020304" pitchFamily="18" charset="0"/>
                <a:cs typeface="Times New Roman" panose="02020603050405020304" pitchFamily="18" charset="0"/>
              </a:rPr>
              <a:t>Typhoid (Salmonella </a:t>
            </a:r>
            <a:r>
              <a:rPr lang="en-US" sz="3200" b="1" dirty="0" err="1">
                <a:solidFill>
                  <a:srgbClr val="000000"/>
                </a:solidFill>
                <a:latin typeface="Times New Roman" panose="02020603050405020304" pitchFamily="18" charset="0"/>
                <a:cs typeface="Times New Roman" panose="02020603050405020304" pitchFamily="18" charset="0"/>
              </a:rPr>
              <a:t>Typhi</a:t>
            </a:r>
            <a:r>
              <a:rPr lang="en-US" sz="3200" b="1" dirty="0">
                <a:solidFill>
                  <a:srgbClr val="000000"/>
                </a:solidFill>
                <a:latin typeface="Times New Roman" panose="02020603050405020304" pitchFamily="18" charset="0"/>
                <a:cs typeface="Times New Roman" panose="02020603050405020304" pitchFamily="18" charset="0"/>
              </a:rPr>
              <a:t>) Vaccine</a:t>
            </a:r>
            <a:endParaRPr lang="en-US" sz="3200" dirty="0">
              <a:solidFill>
                <a:srgbClr val="0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R</a:t>
            </a:r>
            <a:r>
              <a:rPr lang="en-US" sz="2800" dirty="0" smtClean="0">
                <a:solidFill>
                  <a:schemeClr val="bg2">
                    <a:lumMod val="10000"/>
                  </a:schemeClr>
                </a:solidFill>
                <a:latin typeface="Times New Roman" panose="02020603050405020304" pitchFamily="18" charset="0"/>
                <a:cs typeface="Times New Roman" panose="02020603050405020304" pitchFamily="18" charset="0"/>
              </a:rPr>
              <a:t>ecommended </a:t>
            </a:r>
            <a:r>
              <a:rPr lang="en-US" sz="2800" dirty="0">
                <a:solidFill>
                  <a:schemeClr val="bg2">
                    <a:lumMod val="10000"/>
                  </a:schemeClr>
                </a:solidFill>
                <a:latin typeface="Times New Roman" panose="02020603050405020304" pitchFamily="18" charset="0"/>
                <a:cs typeface="Times New Roman" panose="02020603050405020304" pitchFamily="18" charset="0"/>
              </a:rPr>
              <a:t>as an adjunct to hand hygiene and food safety, particularly for those at high risk of exposure.</a:t>
            </a:r>
          </a:p>
          <a:p>
            <a:pPr>
              <a:buFont typeface="Arial" panose="020B0604020202020204" pitchFamily="34" charset="0"/>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Indications:</a:t>
            </a:r>
            <a:r>
              <a:rPr lang="en-US" sz="2800" dirty="0">
                <a:solidFill>
                  <a:schemeClr val="bg2">
                    <a:lumMod val="10000"/>
                  </a:schemeClr>
                </a:solidFill>
                <a:latin typeface="Times New Roman" panose="02020603050405020304" pitchFamily="18" charset="0"/>
                <a:cs typeface="Times New Roman" panose="02020603050405020304" pitchFamily="18" charset="0"/>
              </a:rPr>
              <a:t> It is primarily recommended </a:t>
            </a:r>
            <a:r>
              <a:rPr lang="en-US" sz="2800" dirty="0" smtClean="0">
                <a:solidFill>
                  <a:schemeClr val="bg2">
                    <a:lumMod val="10000"/>
                  </a:schemeClr>
                </a:solidFill>
                <a:latin typeface="Times New Roman" panose="02020603050405020304" pitchFamily="18" charset="0"/>
                <a:cs typeface="Times New Roman" panose="02020603050405020304" pitchFamily="18" charset="0"/>
              </a:rPr>
              <a:t>for: </a:t>
            </a:r>
          </a:p>
          <a:p>
            <a:pPr>
              <a:buFont typeface="Wingdings" panose="05000000000000000000" pitchFamily="2" charset="2"/>
              <a:buChar char="Ø"/>
            </a:pPr>
            <a:r>
              <a:rPr lang="en-US" sz="2800" dirty="0" smtClean="0">
                <a:solidFill>
                  <a:schemeClr val="bg2">
                    <a:lumMod val="10000"/>
                  </a:schemeClr>
                </a:solidFill>
                <a:latin typeface="Times New Roman" panose="02020603050405020304" pitchFamily="18" charset="0"/>
                <a:cs typeface="Times New Roman" panose="02020603050405020304" pitchFamily="18" charset="0"/>
              </a:rPr>
              <a:t> Travelers </a:t>
            </a:r>
            <a:r>
              <a:rPr lang="en-US" sz="2800" dirty="0">
                <a:solidFill>
                  <a:schemeClr val="bg2">
                    <a:lumMod val="10000"/>
                  </a:schemeClr>
                </a:solidFill>
                <a:latin typeface="Times New Roman" panose="02020603050405020304" pitchFamily="18" charset="0"/>
                <a:cs typeface="Times New Roman" panose="02020603050405020304" pitchFamily="18" charset="0"/>
              </a:rPr>
              <a:t>to endemic </a:t>
            </a:r>
            <a:r>
              <a:rPr lang="en-US" sz="2800" dirty="0" smtClean="0">
                <a:solidFill>
                  <a:schemeClr val="bg2">
                    <a:lumMod val="10000"/>
                  </a:schemeClr>
                </a:solidFill>
                <a:latin typeface="Times New Roman" panose="02020603050405020304" pitchFamily="18" charset="0"/>
                <a:cs typeface="Times New Roman" panose="02020603050405020304" pitchFamily="18" charset="0"/>
              </a:rPr>
              <a:t>regions</a:t>
            </a:r>
          </a:p>
          <a:p>
            <a:pPr>
              <a:buFont typeface="Wingdings" panose="05000000000000000000" pitchFamily="2" charset="2"/>
              <a:buChar char="Ø"/>
            </a:pPr>
            <a:r>
              <a:rPr lang="en-US" sz="2800" dirty="0" smtClean="0">
                <a:solidFill>
                  <a:schemeClr val="bg2">
                    <a:lumMod val="10000"/>
                  </a:schemeClr>
                </a:solidFill>
                <a:latin typeface="Times New Roman" panose="02020603050405020304" pitchFamily="18" charset="0"/>
                <a:cs typeface="Times New Roman" panose="02020603050405020304" pitchFamily="18" charset="0"/>
              </a:rPr>
              <a:t> </a:t>
            </a:r>
            <a:r>
              <a:rPr lang="en-US" sz="2800" dirty="0">
                <a:solidFill>
                  <a:schemeClr val="bg2">
                    <a:lumMod val="10000"/>
                  </a:schemeClr>
                </a:solidFill>
                <a:latin typeface="Times New Roman" panose="02020603050405020304" pitchFamily="18" charset="0"/>
                <a:cs typeface="Times New Roman" panose="02020603050405020304" pitchFamily="18" charset="0"/>
              </a:rPr>
              <a:t>H</a:t>
            </a:r>
            <a:r>
              <a:rPr lang="en-US" sz="2800" dirty="0" smtClean="0">
                <a:solidFill>
                  <a:schemeClr val="bg2">
                    <a:lumMod val="10000"/>
                  </a:schemeClr>
                </a:solidFill>
                <a:latin typeface="Times New Roman" panose="02020603050405020304" pitchFamily="18" charset="0"/>
                <a:cs typeface="Times New Roman" panose="02020603050405020304" pitchFamily="18" charset="0"/>
              </a:rPr>
              <a:t>ousehold </a:t>
            </a:r>
            <a:r>
              <a:rPr lang="en-US" sz="2800" dirty="0">
                <a:solidFill>
                  <a:schemeClr val="bg2">
                    <a:lumMod val="10000"/>
                  </a:schemeClr>
                </a:solidFill>
                <a:latin typeface="Times New Roman" panose="02020603050405020304" pitchFamily="18" charset="0"/>
                <a:cs typeface="Times New Roman" panose="02020603050405020304" pitchFamily="18" charset="0"/>
              </a:rPr>
              <a:t>contacts of documented chronic </a:t>
            </a:r>
            <a:r>
              <a:rPr lang="en-US" sz="2800" dirty="0" smtClean="0">
                <a:solidFill>
                  <a:schemeClr val="bg2">
                    <a:lumMod val="10000"/>
                  </a:schemeClr>
                </a:solidFill>
                <a:latin typeface="Times New Roman" panose="02020603050405020304" pitchFamily="18" charset="0"/>
                <a:cs typeface="Times New Roman" panose="02020603050405020304" pitchFamily="18" charset="0"/>
              </a:rPr>
              <a:t>carriers</a:t>
            </a:r>
          </a:p>
          <a:p>
            <a:pPr>
              <a:buFont typeface="Wingdings" panose="05000000000000000000" pitchFamily="2" charset="2"/>
              <a:buChar char="Ø"/>
            </a:pPr>
            <a:r>
              <a:rPr lang="en-US" sz="2800" dirty="0" smtClean="0">
                <a:solidFill>
                  <a:schemeClr val="bg2">
                    <a:lumMod val="10000"/>
                  </a:schemeClr>
                </a:solidFill>
                <a:latin typeface="Times New Roman" panose="02020603050405020304" pitchFamily="18" charset="0"/>
                <a:cs typeface="Times New Roman" panose="02020603050405020304" pitchFamily="18" charset="0"/>
              </a:rPr>
              <a:t> Laboratory </a:t>
            </a:r>
            <a:r>
              <a:rPr lang="en-US" sz="2800" dirty="0">
                <a:solidFill>
                  <a:schemeClr val="bg2">
                    <a:lumMod val="10000"/>
                  </a:schemeClr>
                </a:solidFill>
                <a:latin typeface="Times New Roman" panose="02020603050405020304" pitchFamily="18" charset="0"/>
                <a:cs typeface="Times New Roman" panose="02020603050405020304" pitchFamily="18" charset="0"/>
              </a:rPr>
              <a:t>personnel.</a:t>
            </a:r>
          </a:p>
          <a:p>
            <a:endParaRPr lang="en-US" sz="2800" dirty="0"/>
          </a:p>
        </p:txBody>
      </p:sp>
    </p:spTree>
    <p:extLst>
      <p:ext uri="{BB962C8B-B14F-4D97-AF65-F5344CB8AC3E}">
        <p14:creationId xmlns:p14="http://schemas.microsoft.com/office/powerpoint/2010/main" val="311025627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smtClean="0">
                <a:solidFill>
                  <a:srgbClr val="000000"/>
                </a:solidFill>
                <a:latin typeface="Times New Roman" panose="02020603050405020304" pitchFamily="18" charset="0"/>
                <a:cs typeface="Times New Roman" panose="02020603050405020304" pitchFamily="18" charset="0"/>
              </a:rPr>
              <a:t>Typhoid Vaccine Types</a:t>
            </a:r>
            <a:r>
              <a:rPr lang="en-US" dirty="0">
                <a:solidFill>
                  <a:srgbClr val="000000"/>
                </a:solidFill>
              </a:rPr>
              <a:t/>
            </a:r>
            <a:br>
              <a:rPr lang="en-US" dirty="0">
                <a:solidFill>
                  <a:srgbClr val="000000"/>
                </a:solidFill>
              </a:rPr>
            </a:br>
            <a:endParaRPr lang="en-US" dirty="0"/>
          </a:p>
        </p:txBody>
      </p:sp>
      <p:sp>
        <p:nvSpPr>
          <p:cNvPr id="3" name="Content Placeholder 2"/>
          <p:cNvSpPr>
            <a:spLocks noGrp="1"/>
          </p:cNvSpPr>
          <p:nvPr>
            <p:ph idx="1"/>
          </p:nvPr>
        </p:nvSpPr>
        <p:spPr>
          <a:xfrm>
            <a:off x="457200" y="990600"/>
            <a:ext cx="8229600" cy="5135563"/>
          </a:xfrm>
        </p:spPr>
        <p:txBody>
          <a:bodyPr/>
          <a:lstStyle/>
          <a:p>
            <a:pPr lvl="1">
              <a:buFont typeface="Wingdings" panose="05000000000000000000" pitchFamily="2" charset="2"/>
              <a:buChar char="Ø"/>
            </a:pPr>
            <a:r>
              <a:rPr lang="en-US" sz="2400" b="1" dirty="0" smtClean="0">
                <a:solidFill>
                  <a:srgbClr val="000000"/>
                </a:solidFill>
                <a:latin typeface="Times New Roman" panose="02020603050405020304" pitchFamily="18" charset="0"/>
                <a:cs typeface="Times New Roman" panose="02020603050405020304" pitchFamily="18" charset="0"/>
              </a:rPr>
              <a:t>Oral </a:t>
            </a:r>
            <a:r>
              <a:rPr lang="en-US" sz="2400" b="1" dirty="0">
                <a:solidFill>
                  <a:srgbClr val="000000"/>
                </a:solidFill>
                <a:latin typeface="Times New Roman" panose="02020603050405020304" pitchFamily="18" charset="0"/>
                <a:cs typeface="Times New Roman" panose="02020603050405020304" pitchFamily="18" charset="0"/>
              </a:rPr>
              <a:t>(Ty21a):</a:t>
            </a:r>
            <a:r>
              <a:rPr lang="en-US" sz="2400" dirty="0">
                <a:solidFill>
                  <a:srgbClr val="000000"/>
                </a:solidFill>
                <a:latin typeface="Times New Roman" panose="02020603050405020304" pitchFamily="18" charset="0"/>
                <a:cs typeface="Times New Roman" panose="02020603050405020304" pitchFamily="18" charset="0"/>
              </a:rPr>
              <a:t> A live attenuated vaccine given as enteric capsules to immunocompetent individuals and children ≥ 6 years old, requiring a booster every five years.</a:t>
            </a:r>
          </a:p>
          <a:p>
            <a:pPr lvl="1">
              <a:buFont typeface="Wingdings" panose="05000000000000000000" pitchFamily="2" charset="2"/>
              <a:buChar char="Ø"/>
            </a:pPr>
            <a:r>
              <a:rPr lang="en-US" sz="2400" b="1" dirty="0">
                <a:solidFill>
                  <a:srgbClr val="000000"/>
                </a:solidFill>
                <a:latin typeface="Times New Roman" panose="02020603050405020304" pitchFamily="18" charset="0"/>
                <a:cs typeface="Times New Roman" panose="02020603050405020304" pitchFamily="18" charset="0"/>
              </a:rPr>
              <a:t>Parenteral (Vi-polysaccharide):</a:t>
            </a:r>
            <a:r>
              <a:rPr lang="en-US" sz="2400" dirty="0">
                <a:solidFill>
                  <a:srgbClr val="000000"/>
                </a:solidFill>
                <a:latin typeface="Times New Roman" panose="02020603050405020304" pitchFamily="18" charset="0"/>
                <a:cs typeface="Times New Roman" panose="02020603050405020304" pitchFamily="18" charset="0"/>
              </a:rPr>
              <a:t> An injectable vaccine for adults and children ≥ 2 years old, with a booster recommended every two years.</a:t>
            </a:r>
          </a:p>
          <a:p>
            <a:pPr lvl="1">
              <a:buFont typeface="Wingdings" panose="05000000000000000000" pitchFamily="2" charset="2"/>
              <a:buChar char="Ø"/>
            </a:pPr>
            <a:r>
              <a:rPr lang="en-US" sz="2400" b="1" dirty="0">
                <a:solidFill>
                  <a:srgbClr val="000000"/>
                </a:solidFill>
                <a:latin typeface="Times New Roman" panose="02020603050405020304" pitchFamily="18" charset="0"/>
                <a:cs typeface="Times New Roman" panose="02020603050405020304" pitchFamily="18" charset="0"/>
              </a:rPr>
              <a:t>Typhoid Conjugate Vaccine (TCV):</a:t>
            </a:r>
            <a:r>
              <a:rPr lang="en-US" sz="2400" dirty="0">
                <a:solidFill>
                  <a:srgbClr val="000000"/>
                </a:solidFill>
                <a:latin typeface="Times New Roman" panose="02020603050405020304" pitchFamily="18" charset="0"/>
                <a:cs typeface="Times New Roman" panose="02020603050405020304" pitchFamily="18" charset="0"/>
              </a:rPr>
              <a:t> Newer single-dose conjugate vaccines can be used in children as young as six months and provide longer-lasting protection.</a:t>
            </a:r>
          </a:p>
          <a:p>
            <a:pPr lvl="0">
              <a:buFont typeface="Arial" panose="020B0604020202020204" pitchFamily="34" charset="0"/>
              <a:buChar char="•"/>
            </a:pPr>
            <a:r>
              <a:rPr lang="en-US" sz="2400" b="1" dirty="0">
                <a:solidFill>
                  <a:srgbClr val="000000"/>
                </a:solidFill>
                <a:latin typeface="Times New Roman" panose="02020603050405020304" pitchFamily="18" charset="0"/>
                <a:cs typeface="Times New Roman" panose="02020603050405020304" pitchFamily="18" charset="0"/>
              </a:rPr>
              <a:t>Limitations:</a:t>
            </a:r>
            <a:r>
              <a:rPr lang="en-US" sz="2400" dirty="0">
                <a:solidFill>
                  <a:srgbClr val="000000"/>
                </a:solidFill>
                <a:latin typeface="Times New Roman" panose="02020603050405020304" pitchFamily="18" charset="0"/>
                <a:cs typeface="Times New Roman" panose="02020603050405020304" pitchFamily="18" charset="0"/>
              </a:rPr>
              <a:t> Current typhoid vaccines do not offer protection against </a:t>
            </a:r>
            <a:r>
              <a:rPr lang="en-US" sz="2400" i="1" dirty="0">
                <a:solidFill>
                  <a:srgbClr val="000000"/>
                </a:solidFill>
                <a:latin typeface="Times New Roman" panose="02020603050405020304" pitchFamily="18" charset="0"/>
                <a:cs typeface="Times New Roman" panose="02020603050405020304" pitchFamily="18" charset="0"/>
              </a:rPr>
              <a:t>Salmonella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Paratyphi</a:t>
            </a:r>
            <a:r>
              <a:rPr lang="en-US" sz="2400" dirty="0">
                <a:solidFill>
                  <a:srgbClr val="000000"/>
                </a:solidFill>
                <a:latin typeface="Times New Roman" panose="02020603050405020304" pitchFamily="18" charset="0"/>
                <a:cs typeface="Times New Roman" panose="02020603050405020304" pitchFamily="18" charset="0"/>
              </a:rPr>
              <a:t> A, B, or C</a:t>
            </a:r>
          </a:p>
        </p:txBody>
      </p:sp>
    </p:spTree>
    <p:extLst>
      <p:ext uri="{BB962C8B-B14F-4D97-AF65-F5344CB8AC3E}">
        <p14:creationId xmlns:p14="http://schemas.microsoft.com/office/powerpoint/2010/main" val="47958313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Considerations for Immunocompromised Patients</a:t>
            </a:r>
            <a:r>
              <a:rPr lang="en-US" dirty="0"/>
              <a:t/>
            </a:r>
            <a:br>
              <a:rPr lang="en-US" dirty="0"/>
            </a:br>
            <a:endParaRPr lang="en-US" dirty="0"/>
          </a:p>
        </p:txBody>
      </p:sp>
      <p:sp>
        <p:nvSpPr>
          <p:cNvPr id="3" name="Content Placeholder 2"/>
          <p:cNvSpPr>
            <a:spLocks noGrp="1"/>
          </p:cNvSpPr>
          <p:nvPr>
            <p:ph idx="1"/>
          </p:nvPr>
        </p:nvSpPr>
        <p:spPr/>
        <p:txBody>
          <a:bodyPr/>
          <a:lstStyle/>
          <a:p>
            <a:r>
              <a:rPr lang="en-US" sz="2400" dirty="0" smtClean="0">
                <a:solidFill>
                  <a:schemeClr val="bg2">
                    <a:lumMod val="10000"/>
                  </a:schemeClr>
                </a:solidFill>
                <a:latin typeface="Times New Roman" panose="02020603050405020304" pitchFamily="18" charset="0"/>
                <a:cs typeface="Times New Roman" panose="02020603050405020304" pitchFamily="18" charset="0"/>
              </a:rPr>
              <a:t>Patients </a:t>
            </a:r>
            <a:r>
              <a:rPr lang="en-US" sz="2400" dirty="0">
                <a:solidFill>
                  <a:schemeClr val="bg2">
                    <a:lumMod val="10000"/>
                  </a:schemeClr>
                </a:solidFill>
                <a:latin typeface="Times New Roman" panose="02020603050405020304" pitchFamily="18" charset="0"/>
                <a:cs typeface="Times New Roman" panose="02020603050405020304" pitchFamily="18" charset="0"/>
              </a:rPr>
              <a:t>with HIV or other forms of immunosuppression require careful vaccine selection:</a:t>
            </a:r>
          </a:p>
          <a:p>
            <a:pPr>
              <a:buFont typeface="Arial" panose="020B0604020202020204" pitchFamily="34" charset="0"/>
              <a:buChar char="•"/>
            </a:pPr>
            <a:r>
              <a:rPr lang="en-US" sz="2400" b="1" dirty="0">
                <a:solidFill>
                  <a:schemeClr val="bg2">
                    <a:lumMod val="10000"/>
                  </a:schemeClr>
                </a:solidFill>
                <a:latin typeface="Times New Roman" panose="02020603050405020304" pitchFamily="18" charset="0"/>
                <a:cs typeface="Times New Roman" panose="02020603050405020304" pitchFamily="18" charset="0"/>
              </a:rPr>
              <a:t>Contraindications:</a:t>
            </a:r>
            <a:r>
              <a:rPr lang="en-US" sz="2400" dirty="0">
                <a:solidFill>
                  <a:schemeClr val="bg2">
                    <a:lumMod val="10000"/>
                  </a:schemeClr>
                </a:solidFill>
                <a:latin typeface="Times New Roman" panose="02020603050405020304" pitchFamily="18" charset="0"/>
                <a:cs typeface="Times New Roman" panose="02020603050405020304" pitchFamily="18" charset="0"/>
              </a:rPr>
              <a:t> Live attenuated vaccines, such as the </a:t>
            </a:r>
            <a:r>
              <a:rPr lang="en-US" sz="2400" b="1" dirty="0">
                <a:solidFill>
                  <a:schemeClr val="bg2">
                    <a:lumMod val="10000"/>
                  </a:schemeClr>
                </a:solidFill>
                <a:latin typeface="Times New Roman" panose="02020603050405020304" pitchFamily="18" charset="0"/>
                <a:cs typeface="Times New Roman" panose="02020603050405020304" pitchFamily="18" charset="0"/>
              </a:rPr>
              <a:t>oral typhoid vaccine (</a:t>
            </a:r>
            <a:r>
              <a:rPr lang="en-US" sz="2400" b="1" dirty="0" err="1">
                <a:solidFill>
                  <a:schemeClr val="bg2">
                    <a:lumMod val="10000"/>
                  </a:schemeClr>
                </a:solidFill>
                <a:latin typeface="Times New Roman" panose="02020603050405020304" pitchFamily="18" charset="0"/>
                <a:cs typeface="Times New Roman" panose="02020603050405020304" pitchFamily="18" charset="0"/>
              </a:rPr>
              <a:t>Vivotif</a:t>
            </a:r>
            <a:r>
              <a:rPr lang="en-US" sz="2400" b="1" dirty="0">
                <a:solidFill>
                  <a:schemeClr val="bg2">
                    <a:lumMod val="10000"/>
                  </a:schemeClr>
                </a:solidFill>
                <a:latin typeface="Times New Roman" panose="02020603050405020304" pitchFamily="18" charset="0"/>
                <a:cs typeface="Times New Roman" panose="02020603050405020304" pitchFamily="18" charset="0"/>
              </a:rPr>
              <a:t>)</a:t>
            </a:r>
            <a:r>
              <a:rPr lang="en-US" sz="2400" dirty="0">
                <a:solidFill>
                  <a:schemeClr val="bg2">
                    <a:lumMod val="10000"/>
                  </a:schemeClr>
                </a:solidFill>
                <a:latin typeface="Times New Roman" panose="02020603050405020304" pitchFamily="18" charset="0"/>
                <a:cs typeface="Times New Roman" panose="02020603050405020304" pitchFamily="18" charset="0"/>
              </a:rPr>
              <a:t>, are strictly contraindicated in people living with HIV due to safety concerns.</a:t>
            </a:r>
          </a:p>
          <a:p>
            <a:pPr>
              <a:buFont typeface="Arial" panose="020B0604020202020204" pitchFamily="34" charset="0"/>
              <a:buChar char="•"/>
            </a:pPr>
            <a:r>
              <a:rPr lang="en-US" sz="2400" b="1" dirty="0">
                <a:solidFill>
                  <a:schemeClr val="bg2">
                    <a:lumMod val="10000"/>
                  </a:schemeClr>
                </a:solidFill>
                <a:latin typeface="Times New Roman" panose="02020603050405020304" pitchFamily="18" charset="0"/>
                <a:cs typeface="Times New Roman" panose="02020603050405020304" pitchFamily="18" charset="0"/>
              </a:rPr>
              <a:t>Recommendations:</a:t>
            </a:r>
            <a:r>
              <a:rPr lang="en-US" sz="2400" dirty="0">
                <a:solidFill>
                  <a:schemeClr val="bg2">
                    <a:lumMod val="10000"/>
                  </a:schemeClr>
                </a:solidFill>
                <a:latin typeface="Times New Roman" panose="02020603050405020304" pitchFamily="18" charset="0"/>
                <a:cs typeface="Times New Roman" panose="02020603050405020304" pitchFamily="18" charset="0"/>
              </a:rPr>
              <a:t> For travelers with HIV, the </a:t>
            </a:r>
            <a:r>
              <a:rPr lang="en-US" sz="2400" b="1" dirty="0">
                <a:solidFill>
                  <a:schemeClr val="bg2">
                    <a:lumMod val="10000"/>
                  </a:schemeClr>
                </a:solidFill>
                <a:latin typeface="Times New Roman" panose="02020603050405020304" pitchFamily="18" charset="0"/>
                <a:cs typeface="Times New Roman" panose="02020603050405020304" pitchFamily="18" charset="0"/>
              </a:rPr>
              <a:t>inactivated Vi capsular polysaccharide typhoid vaccine</a:t>
            </a:r>
            <a:r>
              <a:rPr lang="en-US" sz="2400" dirty="0">
                <a:solidFill>
                  <a:schemeClr val="bg2">
                    <a:lumMod val="10000"/>
                  </a:schemeClr>
                </a:solidFill>
                <a:latin typeface="Times New Roman" panose="02020603050405020304" pitchFamily="18" charset="0"/>
                <a:cs typeface="Times New Roman" panose="02020603050405020304" pitchFamily="18" charset="0"/>
              </a:rPr>
              <a:t> is the preferred alternative</a:t>
            </a:r>
            <a:r>
              <a:rPr lang="en-US" sz="2400" dirty="0" smtClean="0">
                <a:solidFill>
                  <a:schemeClr val="bg2">
                    <a:lumMod val="10000"/>
                  </a:schemeClr>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smtClean="0">
                <a:solidFill>
                  <a:schemeClr val="bg2">
                    <a:lumMod val="10000"/>
                  </a:schemeClr>
                </a:solidFill>
                <a:latin typeface="Times New Roman" panose="02020603050405020304" pitchFamily="18" charset="0"/>
                <a:cs typeface="Times New Roman" panose="02020603050405020304" pitchFamily="18" charset="0"/>
              </a:rPr>
              <a:t> </a:t>
            </a:r>
            <a:r>
              <a:rPr lang="en-US" sz="2400" dirty="0">
                <a:solidFill>
                  <a:schemeClr val="bg2">
                    <a:lumMod val="10000"/>
                  </a:schemeClr>
                </a:solidFill>
                <a:latin typeface="Times New Roman" panose="02020603050405020304" pitchFamily="18" charset="0"/>
                <a:cs typeface="Times New Roman" panose="02020603050405020304" pitchFamily="18" charset="0"/>
              </a:rPr>
              <a:t>While some cholera vaccines like </a:t>
            </a:r>
            <a:r>
              <a:rPr lang="en-US" sz="2400" b="1" dirty="0">
                <a:solidFill>
                  <a:schemeClr val="bg2">
                    <a:lumMod val="10000"/>
                  </a:schemeClr>
                </a:solidFill>
                <a:latin typeface="Times New Roman" panose="02020603050405020304" pitchFamily="18" charset="0"/>
                <a:cs typeface="Times New Roman" panose="02020603050405020304" pitchFamily="18" charset="0"/>
              </a:rPr>
              <a:t>CVD 103-HgR </a:t>
            </a:r>
            <a:r>
              <a:rPr lang="en-US" sz="2400" dirty="0">
                <a:solidFill>
                  <a:schemeClr val="bg2">
                    <a:lumMod val="10000"/>
                  </a:schemeClr>
                </a:solidFill>
                <a:latin typeface="Times New Roman" panose="02020603050405020304" pitchFamily="18" charset="0"/>
                <a:cs typeface="Times New Roman" panose="02020603050405020304" pitchFamily="18" charset="0"/>
              </a:rPr>
              <a:t>may be considered for HIV patients with CD4 counts &gt;200 cells/mm³, their safety and efficacy in this population are not yet fully established.</a:t>
            </a:r>
          </a:p>
          <a:p>
            <a:endParaRPr lang="en-US" sz="2400" dirty="0"/>
          </a:p>
        </p:txBody>
      </p:sp>
    </p:spTree>
    <p:extLst>
      <p:ext uri="{BB962C8B-B14F-4D97-AF65-F5344CB8AC3E}">
        <p14:creationId xmlns:p14="http://schemas.microsoft.com/office/powerpoint/2010/main" val="154283630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6" name="object 2"/>
          <p:cNvSpPr txBox="1">
            <a:spLocks noGrp="1"/>
          </p:cNvSpPr>
          <p:nvPr>
            <p:ph type="title"/>
          </p:nvPr>
        </p:nvSpPr>
        <p:spPr>
          <a:xfrm>
            <a:off x="457200" y="306632"/>
            <a:ext cx="8229600" cy="1079012"/>
          </a:xfrm>
          <a:prstGeom prst="rect">
            <a:avLst/>
          </a:prstGeom>
        </p:spPr>
        <p:txBody>
          <a:bodyPr vert="horz" wrap="square" lIns="0" tIns="565657" rIns="0" bIns="0" rtlCol="0">
            <a:spAutoFit/>
          </a:bodyPr>
          <a:lstStyle/>
          <a:p>
            <a:pPr marL="490855">
              <a:lnSpc>
                <a:spcPct val="100000"/>
              </a:lnSpc>
              <a:spcBef>
                <a:spcPts val="100"/>
              </a:spcBef>
            </a:pPr>
            <a:r>
              <a:rPr lang="en-US" b="1" spc="-70" dirty="0">
                <a:solidFill>
                  <a:schemeClr val="bg2">
                    <a:lumMod val="10000"/>
                  </a:schemeClr>
                </a:solidFill>
                <a:latin typeface="Times New Roman" panose="02020603050405020304" pitchFamily="18" charset="0"/>
                <a:cs typeface="Times New Roman" panose="02020603050405020304" pitchFamily="18" charset="0"/>
              </a:rPr>
              <a:t>R</a:t>
            </a:r>
            <a:r>
              <a:rPr b="1" spc="-70" dirty="0" smtClean="0">
                <a:solidFill>
                  <a:schemeClr val="bg2">
                    <a:lumMod val="10000"/>
                  </a:schemeClr>
                </a:solidFill>
                <a:latin typeface="Times New Roman" panose="02020603050405020304" pitchFamily="18" charset="0"/>
                <a:cs typeface="Times New Roman" panose="02020603050405020304" pitchFamily="18" charset="0"/>
              </a:rPr>
              <a:t>eferences</a:t>
            </a:r>
            <a:endParaRPr b="1" spc="-70"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48817" name="object 3"/>
          <p:cNvSpPr txBox="1"/>
          <p:nvPr/>
        </p:nvSpPr>
        <p:spPr>
          <a:xfrm>
            <a:off x="369570" y="1385644"/>
            <a:ext cx="8317230" cy="4782746"/>
          </a:xfrm>
          <a:prstGeom prst="rect">
            <a:avLst/>
          </a:prstGeom>
        </p:spPr>
        <p:txBody>
          <a:bodyPr vert="horz" wrap="square" lIns="0" tIns="58419" rIns="0" bIns="0" rtlCol="0">
            <a:noAutofit/>
          </a:bodyPr>
          <a:lstStyle/>
          <a:p>
            <a:pPr marL="406400" marR="68580" lvl="0" indent="-343535" algn="l" defTabSz="457200" rtl="0" eaLnBrk="1" fontAlgn="auto" latinLnBrk="0" hangingPunct="1">
              <a:lnSpc>
                <a:spcPts val="2290"/>
              </a:lnSpc>
              <a:spcBef>
                <a:spcPts val="460"/>
              </a:spcBef>
              <a:spcAft>
                <a:spcPts val="0"/>
              </a:spcAft>
              <a:buClr>
                <a:srgbClr val="EF7E09"/>
              </a:buClr>
              <a:buSzTx/>
              <a:buFont typeface="Symbol" panose="05050102010706020507"/>
              <a:buChar char=""/>
              <a:tabLst>
                <a:tab pos="406400" algn="l"/>
              </a:tabLst>
              <a:defRPr/>
            </a:pP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Southwick</a:t>
            </a:r>
            <a:r>
              <a:rPr kumimoji="0" sz="2200" b="0" i="0" u="none" strike="noStrike" kern="1200" cap="none" spc="-114"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10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F.</a:t>
            </a:r>
            <a:r>
              <a:rPr kumimoji="0" sz="2200" b="0" i="0" u="none" strike="noStrike" kern="1200" cap="none" spc="-4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Infectious</a:t>
            </a:r>
            <a:r>
              <a:rPr kumimoji="0" sz="2200" b="0" i="0" u="none" strike="noStrike" kern="1200" cap="none" spc="-7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disease.</a:t>
            </a:r>
            <a:r>
              <a:rPr kumimoji="0" sz="2200" b="0" i="0" u="none" strike="noStrike" kern="1200" cap="none" spc="-14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a:t>
            </a:r>
            <a:r>
              <a:rPr kumimoji="0" sz="2200" b="0" i="0" u="none" strike="noStrike" kern="1200" cap="none" spc="-15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clinical</a:t>
            </a:r>
            <a:r>
              <a:rPr kumimoji="0" sz="2200" b="0" i="0" u="none" strike="noStrike" kern="1200" cap="none" spc="-7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short</a:t>
            </a:r>
            <a:r>
              <a:rPr kumimoji="0" sz="2200" b="0" i="0" u="none" strike="noStrike" kern="1200" cap="none" spc="-4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course.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3</a:t>
            </a:r>
            <a:r>
              <a:rPr kumimoji="0" sz="2175" b="0" i="0" u="none" strike="noStrike" kern="1200" cap="none" spc="0" normalizeH="0" baseline="2500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rd</a:t>
            </a:r>
            <a:r>
              <a:rPr kumimoji="0" sz="2175" b="0" i="0" u="none" strike="noStrike" kern="1200" cap="none" spc="195" normalizeH="0" baseline="2500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Edition.</a:t>
            </a:r>
            <a:r>
              <a:rPr kumimoji="0" sz="2200" b="0" i="0" u="none" strike="noStrike" kern="1200" cap="none" spc="-6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New</a:t>
            </a:r>
            <a:r>
              <a:rPr kumimoji="0" sz="2200" b="0" i="0" u="none" strike="noStrike" kern="1200" cap="none" spc="-10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2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York:</a:t>
            </a:r>
            <a:r>
              <a:rPr kumimoji="0" sz="2200" b="0" i="0" u="none" strike="noStrike" kern="1200" cap="none" spc="-5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2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McGraw-</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Hill,</a:t>
            </a:r>
            <a:r>
              <a:rPr kumimoji="0" sz="2200" b="0" i="0" u="none" strike="noStrike" kern="1200" cap="none" spc="-4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2014.</a:t>
            </a:r>
            <a:r>
              <a:rPr kumimoji="0" sz="2200" b="0" i="0" u="none" strike="noStrike" kern="1200" cap="none" spc="-5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Chapter</a:t>
            </a:r>
            <a:r>
              <a:rPr kumimoji="0" sz="2200" b="0" i="0" u="none" strike="noStrike" kern="1200" cap="none" spc="-5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3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8.</a:t>
            </a:r>
            <a:endPar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406400" marR="139065" lvl="0" indent="-343535" algn="l" defTabSz="457200" rtl="0" eaLnBrk="1" fontAlgn="auto" latinLnBrk="0" hangingPunct="1">
              <a:lnSpc>
                <a:spcPct val="87000"/>
              </a:lnSpc>
              <a:spcBef>
                <a:spcPts val="1990"/>
              </a:spcBef>
              <a:spcAft>
                <a:spcPts val="0"/>
              </a:spcAft>
              <a:buClr>
                <a:srgbClr val="EF7E09"/>
              </a:buClr>
              <a:buSzTx/>
              <a:buFont typeface="Symbol" panose="05050102010706020507"/>
              <a:buChar char=""/>
              <a:tabLst>
                <a:tab pos="406400" algn="l"/>
              </a:tabLst>
              <a:defRPr/>
            </a:pP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Longo</a:t>
            </a:r>
            <a:r>
              <a:rPr kumimoji="0" sz="2200" b="0" i="0" u="none" strike="noStrike" kern="1200" cap="none" spc="-5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DL,</a:t>
            </a:r>
            <a:r>
              <a:rPr kumimoji="0" sz="2200" b="0" i="0" u="none" strike="noStrike" kern="1200" cap="none" spc="-3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Fauci</a:t>
            </a:r>
            <a:r>
              <a:rPr kumimoji="0" sz="2200" b="0" i="0" u="none" strike="noStrike" kern="1200" cap="none" spc="-14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AS,</a:t>
            </a:r>
            <a:r>
              <a:rPr kumimoji="0" sz="2200" b="0" i="0" u="none" strike="noStrike" kern="1200" cap="none" spc="-4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Kasper</a:t>
            </a:r>
            <a:r>
              <a:rPr kumimoji="0" sz="2200" b="0" i="0" u="none" strike="noStrike" kern="1200" cap="none" spc="-4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DL,</a:t>
            </a:r>
            <a:r>
              <a:rPr kumimoji="0" sz="2200" b="0" i="0" u="none" strike="noStrike" kern="1200" cap="none" spc="-4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Hauser</a:t>
            </a:r>
            <a:r>
              <a:rPr kumimoji="0" sz="2200" b="0" i="0" u="none" strike="noStrike" kern="1200" cap="none" spc="-3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SL,</a:t>
            </a:r>
            <a:r>
              <a:rPr kumimoji="0" sz="2200" b="0" i="0" u="none" strike="noStrike" kern="1200" cap="none" spc="-4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Jameson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JL,</a:t>
            </a:r>
            <a:r>
              <a:rPr kumimoji="0" sz="2200" b="0" i="0" u="none" strike="noStrike" kern="1200" cap="none" spc="-7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Loscalzo</a:t>
            </a:r>
            <a:r>
              <a:rPr kumimoji="0" sz="2200" b="0" i="0" u="none" strike="noStrike" kern="1200" cap="none" spc="-7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J,</a:t>
            </a:r>
            <a:r>
              <a:rPr kumimoji="0" sz="2200" b="0" i="0" u="none" strike="noStrike" kern="1200" cap="none" spc="-6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editors.</a:t>
            </a:r>
            <a:r>
              <a:rPr kumimoji="0" sz="2200" b="0" i="0" u="none" strike="noStrike" kern="1200" cap="none" spc="-7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Harrison's</a:t>
            </a:r>
            <a:r>
              <a:rPr kumimoji="0" sz="2200" b="0" i="0" u="none" strike="noStrike" kern="1200" cap="none" spc="-5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principles</a:t>
            </a:r>
            <a:r>
              <a:rPr kumimoji="0" sz="2200" b="0" i="0" u="none" strike="noStrike" kern="1200" cap="none" spc="-7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of</a:t>
            </a:r>
            <a:r>
              <a:rPr kumimoji="0" sz="2200" b="0" i="0" u="none" strike="noStrike" kern="1200" cap="none" spc="-7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internal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medicine.</a:t>
            </a:r>
            <a:r>
              <a:rPr kumimoji="0" sz="2200" b="0" i="0" u="none" strike="noStrike" kern="1200" cap="none" spc="-6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18th</a:t>
            </a:r>
            <a:r>
              <a:rPr kumimoji="0" sz="2200" b="0" i="0" u="none" strike="noStrike" kern="1200" cap="none" spc="-5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ed.</a:t>
            </a:r>
            <a:r>
              <a:rPr kumimoji="0" sz="2200" b="0" i="0" u="none" strike="noStrike" kern="1200" cap="none" spc="-5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New</a:t>
            </a:r>
            <a:r>
              <a:rPr kumimoji="0" sz="2200" b="0" i="0" u="none" strike="noStrike" kern="1200" cap="none" spc="-9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2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York:</a:t>
            </a:r>
            <a:r>
              <a:rPr kumimoji="0" sz="2200" b="0" i="0" u="none" strike="noStrike" kern="1200" cap="none" spc="-5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2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McGraw-</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Hill,</a:t>
            </a:r>
            <a:r>
              <a:rPr kumimoji="0" sz="2200" b="0" i="0" u="none" strike="noStrike" kern="1200" cap="none" spc="-3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2012.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Chapter</a:t>
            </a:r>
            <a:r>
              <a:rPr kumimoji="0" sz="2200" b="0" i="0" u="none" strike="noStrike" kern="1200" cap="none" spc="-8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2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128.</a:t>
            </a:r>
            <a:endPar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406400" marR="322580" lvl="0" indent="-343535" algn="l" defTabSz="457200" rtl="0" eaLnBrk="1" fontAlgn="auto" latinLnBrk="0" hangingPunct="1">
              <a:lnSpc>
                <a:spcPct val="87000"/>
              </a:lnSpc>
              <a:spcBef>
                <a:spcPts val="2010"/>
              </a:spcBef>
              <a:spcAft>
                <a:spcPts val="0"/>
              </a:spcAft>
              <a:buClr>
                <a:srgbClr val="EF7E09"/>
              </a:buClr>
              <a:buSzTx/>
              <a:buFont typeface="Symbol" panose="05050102010706020507"/>
              <a:buChar char=""/>
              <a:tabLst>
                <a:tab pos="406400" algn="l"/>
              </a:tabLst>
              <a:defRPr/>
            </a:pP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Dickinson</a:t>
            </a:r>
            <a:r>
              <a:rPr kumimoji="0" sz="2200" b="0" i="0" u="none" strike="noStrike" kern="1200" cap="none" spc="-8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B,</a:t>
            </a:r>
            <a:r>
              <a:rPr kumimoji="0" sz="2200" b="0" i="0" u="none" strike="noStrike" kern="1200" cap="none" spc="-7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Surawicz</a:t>
            </a:r>
            <a:r>
              <a:rPr kumimoji="0" sz="2200" b="0" i="0" u="none" strike="noStrike" kern="1200" cap="none" spc="-6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CM.</a:t>
            </a:r>
            <a:r>
              <a:rPr kumimoji="0" sz="2200" b="0" i="0" u="none" strike="noStrike" kern="1200" cap="none" spc="-6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Infectious</a:t>
            </a:r>
            <a:r>
              <a:rPr kumimoji="0" sz="2200" b="0" i="0" u="none" strike="noStrike" kern="1200" cap="none" spc="-8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diarrhea:</a:t>
            </a:r>
            <a:r>
              <a:rPr kumimoji="0" sz="2200" b="0" i="0" u="none" strike="noStrike" kern="1200" cap="none" spc="-6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2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an </a:t>
            </a:r>
            <a:r>
              <a:rPr kumimoji="0" sz="22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overview.</a:t>
            </a:r>
            <a:r>
              <a:rPr kumimoji="0" sz="2200" b="0" i="0" u="none" strike="noStrike" kern="1200" cap="none" spc="-5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Curr</a:t>
            </a:r>
            <a:r>
              <a:rPr kumimoji="0" sz="2200" b="0" i="0" u="none" strike="noStrike" kern="1200" cap="none" spc="-5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Gastroenterol</a:t>
            </a:r>
            <a:r>
              <a:rPr kumimoji="0" sz="2200" b="0" i="0" u="none" strike="noStrike" kern="1200" cap="none" spc="-4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Rep</a:t>
            </a:r>
            <a:r>
              <a:rPr kumimoji="0" sz="2200" b="0" i="0" u="none" strike="noStrike" kern="1200" cap="none" spc="-7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2014;</a:t>
            </a:r>
            <a:r>
              <a:rPr kumimoji="0" sz="2200" b="0" i="0" u="none" strike="noStrike" kern="1200" cap="none" spc="-6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16:</a:t>
            </a:r>
            <a:r>
              <a:rPr kumimoji="0" sz="2200" b="0" i="0" u="none" strike="noStrike" kern="1200" cap="none" spc="-7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399.</a:t>
            </a:r>
            <a:r>
              <a:rPr kumimoji="0" sz="2200" b="0" i="0" u="none" strike="noStrike" kern="1200" cap="none" spc="-7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 </a:t>
            </a:r>
            <a:r>
              <a:rPr kumimoji="0" sz="2200" b="0" i="0" u="none" strike="noStrike" kern="1200" cap="none" spc="-2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doi: </a:t>
            </a:r>
            <a:r>
              <a:rPr kumimoji="0" sz="2200" b="0" i="0" u="none" strike="noStrike" kern="1200" cap="none" spc="-3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10.1007/s11894-</a:t>
            </a:r>
            <a:r>
              <a:rPr kumimoji="0" sz="2200" b="0" i="0" u="none" strike="noStrike" kern="1200" cap="none" spc="-2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014-</a:t>
            </a:r>
            <a:r>
              <a:rPr kumimoji="0" sz="2200" b="0" i="0" u="none" strike="noStrike" kern="1200" cap="none" spc="-1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0399-</a:t>
            </a:r>
            <a:r>
              <a:rPr kumimoji="0" sz="2200" b="0" i="0" u="none" strike="noStrike" kern="1200" cap="none" spc="-2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8</a:t>
            </a:r>
            <a:r>
              <a:rPr kumimoji="0" sz="2200" b="0" i="0" u="none" strike="noStrike" kern="1200" cap="none" spc="-25"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a:t>
            </a:r>
            <a:endParaRPr kumimoji="0" lang="en-US" sz="2200" b="0" i="0" u="none" strike="noStrike" kern="1200" cap="none" spc="-25"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406400" marR="322580" lvl="0" indent="-343535" algn="l" defTabSz="457200" rtl="0" eaLnBrk="1" fontAlgn="auto" latinLnBrk="0" hangingPunct="1">
              <a:lnSpc>
                <a:spcPct val="87000"/>
              </a:lnSpc>
              <a:spcBef>
                <a:spcPts val="2010"/>
              </a:spcBef>
              <a:spcAft>
                <a:spcPts val="0"/>
              </a:spcAft>
              <a:buClr>
                <a:srgbClr val="EF7E09"/>
              </a:buClr>
              <a:buSzTx/>
              <a:buFont typeface="Symbol" panose="05050102010706020507"/>
              <a:buChar char=""/>
              <a:tabLst>
                <a:tab pos="406400" algn="l"/>
              </a:tabLst>
              <a:defRPr/>
            </a:pPr>
            <a:r>
              <a:rPr kumimoji="0" lang="en-US" sz="24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2017 Infectious Diseases Society of America Clinical Practice Guidelines for the Diagnosis and Management of Infectious </a:t>
            </a:r>
            <a:r>
              <a:rPr kumimoji="0" lang="en-US" sz="24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Diarrhea</a:t>
            </a:r>
            <a:endParaRPr kumimoji="0" sz="2200" b="0" i="0" u="none" strike="noStrike" kern="1200" cap="none" spc="-25"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endParaRPr>
          </a:p>
          <a:p>
            <a:pPr marL="406400" marR="322580" lvl="0" indent="-343535" algn="l" defTabSz="457200" rtl="0" eaLnBrk="1" fontAlgn="auto" latinLnBrk="0" hangingPunct="1">
              <a:lnSpc>
                <a:spcPct val="87000"/>
              </a:lnSpc>
              <a:spcBef>
                <a:spcPts val="2010"/>
              </a:spcBef>
              <a:spcAft>
                <a:spcPts val="0"/>
              </a:spcAft>
              <a:buClr>
                <a:srgbClr val="EF7E09"/>
              </a:buClr>
              <a:buSzTx/>
              <a:buFont typeface="Symbol" panose="05050102010706020507"/>
              <a:buChar char=""/>
              <a:tabLst>
                <a:tab pos="406400" algn="l"/>
              </a:tabLst>
              <a:defRPr/>
            </a:pPr>
            <a:r>
              <a:rPr kumimoji="0" lang="en-US" sz="2200" b="0" i="0" u="none" strike="noStrike" kern="1200" cap="none" spc="0" normalizeH="0" baseline="0" noProof="0" dirty="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Updates online</a:t>
            </a:r>
          </a:p>
          <a:p>
            <a:pPr marL="406400" marR="322580" lvl="0" indent="-343535" algn="l" defTabSz="457200" rtl="0" eaLnBrk="1" fontAlgn="auto" latinLnBrk="0" hangingPunct="1">
              <a:lnSpc>
                <a:spcPct val="87000"/>
              </a:lnSpc>
              <a:spcBef>
                <a:spcPts val="2010"/>
              </a:spcBef>
              <a:spcAft>
                <a:spcPts val="0"/>
              </a:spcAft>
              <a:buClr>
                <a:srgbClr val="EF7E09"/>
              </a:buClr>
              <a:buSzTx/>
              <a:buFont typeface="Symbol" panose="05050102010706020507"/>
              <a:buChar char=""/>
              <a:tabLst>
                <a:tab pos="406400" algn="l"/>
              </a:tabLst>
              <a:defRPr/>
            </a:pPr>
            <a:r>
              <a:rPr kumimoji="0" lang="en-US" sz="2200" b="0" i="0" u="none" strike="noStrike" kern="1200" cap="none" spc="0" normalizeH="0" baseline="0" noProof="0" dirty="0" smtClean="0">
                <a:ln>
                  <a:noFill/>
                </a:ln>
                <a:solidFill>
                  <a:srgbClr val="EEECE1">
                    <a:lumMod val="10000"/>
                  </a:srgbClr>
                </a:solidFill>
                <a:effectLst/>
                <a:uLnTx/>
                <a:uFillTx/>
                <a:latin typeface="Times New Roman" panose="02020603050405020304" pitchFamily="18" charset="0"/>
                <a:ea typeface="+mn-ea"/>
                <a:cs typeface="Times New Roman" panose="02020603050405020304" pitchFamily="18" charset="0"/>
              </a:rPr>
              <a:t>WHO</a:t>
            </a:r>
          </a:p>
        </p:txBody>
      </p:sp>
    </p:spTree>
    <p:extLst>
      <p:ext uri="{BB962C8B-B14F-4D97-AF65-F5344CB8AC3E}">
        <p14:creationId xmlns:p14="http://schemas.microsoft.com/office/powerpoint/2010/main" val="155842741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8"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References cont</a:t>
            </a:r>
            <a:r>
              <a:rPr lang="en-US" dirty="0">
                <a:latin typeface="Times New Roman" panose="02020603050405020304" pitchFamily="18" charset="0"/>
                <a:cs typeface="Times New Roman" panose="02020603050405020304" pitchFamily="18" charset="0"/>
              </a:rPr>
              <a:t>…</a:t>
            </a:r>
          </a:p>
        </p:txBody>
      </p:sp>
      <p:sp>
        <p:nvSpPr>
          <p:cNvPr id="1048819" name="Content Placeholder 2"/>
          <p:cNvSpPr>
            <a:spLocks noGrp="1"/>
          </p:cNvSpPr>
          <p:nvPr>
            <p:ph idx="1"/>
          </p:nvPr>
        </p:nvSpPr>
        <p:spPr>
          <a:xfrm>
            <a:off x="158750" y="1333500"/>
            <a:ext cx="8700770" cy="4792980"/>
          </a:xfrm>
        </p:spPr>
        <p:txBody>
          <a:bodyPr/>
          <a:lstStyle/>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ACG Clinical Guideline: Diagnosis, Treatment, and</a:t>
            </a:r>
            <a:br>
              <a:rPr lang="en-US" dirty="0">
                <a:solidFill>
                  <a:schemeClr val="bg2">
                    <a:lumMod val="10000"/>
                  </a:schemeClr>
                </a:solidFill>
                <a:latin typeface="Times New Roman" panose="02020603050405020304" pitchFamily="18" charset="0"/>
                <a:cs typeface="Times New Roman" panose="02020603050405020304" pitchFamily="18" charset="0"/>
              </a:rPr>
            </a:br>
            <a:r>
              <a:rPr lang="en-US" dirty="0">
                <a:solidFill>
                  <a:schemeClr val="bg2">
                    <a:lumMod val="10000"/>
                  </a:schemeClr>
                </a:solidFill>
                <a:latin typeface="Times New Roman" panose="02020603050405020304" pitchFamily="18" charset="0"/>
                <a:cs typeface="Times New Roman" panose="02020603050405020304" pitchFamily="18" charset="0"/>
              </a:rPr>
              <a:t>Prevention of Acute Diarrheal Infections in Adults. Am J Gastroenterol advance online publication, 12 April 2016; doi:10.1038/ajg.2016.126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Kansakar P, Baral P, Malla S et al. Antimicrobial susceptibilities of enteric</a:t>
            </a:r>
            <a:br>
              <a:rPr lang="en-US" dirty="0">
                <a:solidFill>
                  <a:schemeClr val="bg2">
                    <a:lumMod val="10000"/>
                  </a:schemeClr>
                </a:solidFill>
                <a:latin typeface="Times New Roman" panose="02020603050405020304" pitchFamily="18" charset="0"/>
                <a:cs typeface="Times New Roman" panose="02020603050405020304" pitchFamily="18" charset="0"/>
              </a:rPr>
            </a:br>
            <a:r>
              <a:rPr lang="en-US" dirty="0">
                <a:solidFill>
                  <a:schemeClr val="bg2">
                    <a:lumMod val="10000"/>
                  </a:schemeClr>
                </a:solidFill>
                <a:latin typeface="Times New Roman" panose="02020603050405020304" pitchFamily="18" charset="0"/>
                <a:cs typeface="Times New Roman" panose="02020603050405020304" pitchFamily="18" charset="0"/>
              </a:rPr>
              <a:t>bacterial pathogens isolated in Kathmandu, Nepal, during 2002–2004.</a:t>
            </a:r>
            <a:br>
              <a:rPr lang="en-US" dirty="0">
                <a:solidFill>
                  <a:schemeClr val="bg2">
                    <a:lumMod val="10000"/>
                  </a:schemeClr>
                </a:solidFill>
                <a:latin typeface="Times New Roman" panose="02020603050405020304" pitchFamily="18" charset="0"/>
                <a:cs typeface="Times New Roman" panose="02020603050405020304" pitchFamily="18" charset="0"/>
              </a:rPr>
            </a:br>
            <a:r>
              <a:rPr lang="en-US" dirty="0">
                <a:solidFill>
                  <a:schemeClr val="bg2">
                    <a:lumMod val="10000"/>
                  </a:schemeClr>
                </a:solidFill>
                <a:latin typeface="Times New Roman" panose="02020603050405020304" pitchFamily="18" charset="0"/>
                <a:cs typeface="Times New Roman" panose="02020603050405020304" pitchFamily="18" charset="0"/>
              </a:rPr>
              <a:t>J Infect Dev Ctries 2011;5:163–8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Rao SS. Constipation: Evaluation and treatment. Gastroenterol Clin North Am 2003; 32: </a:t>
            </a:r>
            <a:r>
              <a:rPr lang="en-US" dirty="0" smtClean="0">
                <a:solidFill>
                  <a:schemeClr val="bg2">
                    <a:lumMod val="10000"/>
                  </a:schemeClr>
                </a:solidFill>
                <a:latin typeface="Times New Roman" panose="02020603050405020304" pitchFamily="18" charset="0"/>
                <a:cs typeface="Times New Roman" panose="02020603050405020304" pitchFamily="18" charset="0"/>
              </a:rPr>
              <a:t>659-83</a:t>
            </a:r>
          </a:p>
          <a:p>
            <a:pPr>
              <a:buFont typeface="Arial" panose="020B0604020202020204" pitchFamily="34" charset="0"/>
              <a:buChar char="•"/>
            </a:pPr>
            <a:endParaRPr lang="en-US" dirty="0">
              <a:solidFill>
                <a:schemeClr val="bg2">
                  <a:lumMod val="10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Tree>
    <p:extLst>
      <p:ext uri="{BB962C8B-B14F-4D97-AF65-F5344CB8AC3E}">
        <p14:creationId xmlns:p14="http://schemas.microsoft.com/office/powerpoint/2010/main" val="91369980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EEECE1">
                    <a:lumMod val="10000"/>
                  </a:srgbClr>
                </a:solidFill>
                <a:latin typeface="Times New Roman" panose="02020603050405020304" pitchFamily="18" charset="0"/>
                <a:cs typeface="Times New Roman" panose="02020603050405020304" pitchFamily="18" charset="0"/>
              </a:rPr>
              <a:t>References </a:t>
            </a:r>
            <a:r>
              <a:rPr lang="en-US" dirty="0" err="1">
                <a:solidFill>
                  <a:srgbClr val="EEECE1">
                    <a:lumMod val="10000"/>
                  </a:srgbClr>
                </a:solidFill>
                <a:latin typeface="Times New Roman" panose="02020603050405020304" pitchFamily="18" charset="0"/>
                <a:cs typeface="Times New Roman" panose="02020603050405020304" pitchFamily="18" charset="0"/>
              </a:rPr>
              <a:t>cont</a:t>
            </a:r>
            <a:endParaRPr lang="en-US" dirty="0"/>
          </a:p>
        </p:txBody>
      </p:sp>
      <p:sp>
        <p:nvSpPr>
          <p:cNvPr id="3" name="Content Placeholder 2"/>
          <p:cNvSpPr>
            <a:spLocks noGrp="1"/>
          </p:cNvSpPr>
          <p:nvPr>
            <p:ph idx="1"/>
          </p:nvPr>
        </p:nvSpPr>
        <p:spPr/>
        <p:txBody>
          <a:bodyPr/>
          <a:lstStyle/>
          <a:p>
            <a:r>
              <a:rPr lang="en-US" i="1" dirty="0">
                <a:solidFill>
                  <a:schemeClr val="bg2">
                    <a:lumMod val="10000"/>
                  </a:schemeClr>
                </a:solidFill>
                <a:latin typeface="Times New Roman" panose="02020603050405020304" pitchFamily="18" charset="0"/>
                <a:cs typeface="Times New Roman" panose="02020603050405020304" pitchFamily="18" charset="0"/>
              </a:rPr>
              <a:t>Guarner F, Khan AG, </a:t>
            </a:r>
            <a:r>
              <a:rPr lang="en-US" i="1" dirty="0" err="1">
                <a:solidFill>
                  <a:schemeClr val="bg2">
                    <a:lumMod val="10000"/>
                  </a:schemeClr>
                </a:solidFill>
                <a:latin typeface="Times New Roman" panose="02020603050405020304" pitchFamily="18" charset="0"/>
                <a:cs typeface="Times New Roman" panose="02020603050405020304" pitchFamily="18" charset="0"/>
              </a:rPr>
              <a:t>Garisch</a:t>
            </a:r>
            <a:r>
              <a:rPr lang="en-US" i="1" dirty="0">
                <a:solidFill>
                  <a:schemeClr val="bg2">
                    <a:lumMod val="10000"/>
                  </a:schemeClr>
                </a:solidFill>
                <a:latin typeface="Times New Roman" panose="02020603050405020304" pitchFamily="18" charset="0"/>
                <a:cs typeface="Times New Roman" panose="02020603050405020304" pitchFamily="18" charset="0"/>
              </a:rPr>
              <a:t> J, </a:t>
            </a:r>
            <a:r>
              <a:rPr lang="en-US" i="1" dirty="0" err="1">
                <a:solidFill>
                  <a:schemeClr val="bg2">
                    <a:lumMod val="10000"/>
                  </a:schemeClr>
                </a:solidFill>
                <a:latin typeface="Times New Roman" panose="02020603050405020304" pitchFamily="18" charset="0"/>
                <a:cs typeface="Times New Roman" panose="02020603050405020304" pitchFamily="18" charset="0"/>
              </a:rPr>
              <a:t>Eliakim</a:t>
            </a:r>
            <a:r>
              <a:rPr lang="en-US" i="1" dirty="0">
                <a:solidFill>
                  <a:schemeClr val="bg2">
                    <a:lumMod val="10000"/>
                  </a:schemeClr>
                </a:solidFill>
                <a:latin typeface="Times New Roman" panose="02020603050405020304" pitchFamily="18" charset="0"/>
                <a:cs typeface="Times New Roman" panose="02020603050405020304" pitchFamily="18" charset="0"/>
              </a:rPr>
              <a:t> R, </a:t>
            </a:r>
            <a:r>
              <a:rPr lang="en-US" i="1" dirty="0" err="1">
                <a:solidFill>
                  <a:schemeClr val="bg2">
                    <a:lumMod val="10000"/>
                  </a:schemeClr>
                </a:solidFill>
                <a:latin typeface="Times New Roman" panose="02020603050405020304" pitchFamily="18" charset="0"/>
                <a:cs typeface="Times New Roman" panose="02020603050405020304" pitchFamily="18" charset="0"/>
              </a:rPr>
              <a:t>Gangl</a:t>
            </a:r>
            <a:r>
              <a:rPr lang="en-US" i="1" dirty="0">
                <a:solidFill>
                  <a:schemeClr val="bg2">
                    <a:lumMod val="10000"/>
                  </a:schemeClr>
                </a:solidFill>
                <a:latin typeface="Times New Roman" panose="02020603050405020304" pitchFamily="18" charset="0"/>
                <a:cs typeface="Times New Roman" panose="02020603050405020304" pitchFamily="18" charset="0"/>
              </a:rPr>
              <a:t> A, Thompson A, et al. World Gastroenterology </a:t>
            </a:r>
            <a:r>
              <a:rPr lang="en-US" i="1" dirty="0" err="1">
                <a:solidFill>
                  <a:schemeClr val="bg2">
                    <a:lumMod val="10000"/>
                  </a:schemeClr>
                </a:solidFill>
                <a:latin typeface="Times New Roman" panose="02020603050405020304" pitchFamily="18" charset="0"/>
                <a:cs typeface="Times New Roman" panose="02020603050405020304" pitchFamily="18" charset="0"/>
              </a:rPr>
              <a:t>Organisation</a:t>
            </a:r>
            <a:r>
              <a:rPr lang="en-US" i="1" dirty="0">
                <a:solidFill>
                  <a:schemeClr val="bg2">
                    <a:lumMod val="10000"/>
                  </a:schemeClr>
                </a:solidFill>
                <a:latin typeface="Times New Roman" panose="02020603050405020304" pitchFamily="18" charset="0"/>
                <a:cs typeface="Times New Roman" panose="02020603050405020304" pitchFamily="18" charset="0"/>
              </a:rPr>
              <a:t> global guidelines: probiotics and prebiotics. Journal of Clinical Gastroenterology </a:t>
            </a:r>
            <a:endParaRPr lang="en-US" i="1" dirty="0" smtClean="0">
              <a:solidFill>
                <a:schemeClr val="bg2">
                  <a:lumMod val="10000"/>
                </a:schemeClr>
              </a:solidFill>
              <a:latin typeface="Times New Roman" panose="02020603050405020304" pitchFamily="18" charset="0"/>
              <a:cs typeface="Times New Roman" panose="02020603050405020304" pitchFamily="18" charset="0"/>
            </a:endParaRPr>
          </a:p>
          <a:p>
            <a:r>
              <a:rPr lang="en-US" dirty="0">
                <a:solidFill>
                  <a:schemeClr val="bg2">
                    <a:lumMod val="10000"/>
                  </a:schemeClr>
                </a:solidFill>
                <a:latin typeface="Times New Roman" panose="02020603050405020304" pitchFamily="18" charset="0"/>
                <a:cs typeface="Times New Roman" panose="02020603050405020304" pitchFamily="18" charset="0"/>
              </a:rPr>
              <a:t>Collinson, S., et al. (2020). Probiotics for treating acute infectious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diarrhoea.</a:t>
            </a:r>
            <a:r>
              <a:rPr lang="en-US" i="1" dirty="0" err="1" smtClean="0">
                <a:solidFill>
                  <a:schemeClr val="bg2">
                    <a:lumMod val="10000"/>
                  </a:schemeClr>
                </a:solidFill>
                <a:latin typeface="Times New Roman" panose="02020603050405020304" pitchFamily="18" charset="0"/>
                <a:cs typeface="Times New Roman" panose="02020603050405020304" pitchFamily="18" charset="0"/>
              </a:rPr>
              <a:t>Cochrane</a:t>
            </a:r>
            <a:r>
              <a:rPr lang="en-US" i="1" dirty="0" smtClean="0">
                <a:solidFill>
                  <a:schemeClr val="bg2">
                    <a:lumMod val="10000"/>
                  </a:schemeClr>
                </a:solidFill>
                <a:latin typeface="Times New Roman" panose="02020603050405020304" pitchFamily="18" charset="0"/>
                <a:cs typeface="Times New Roman" panose="02020603050405020304" pitchFamily="18" charset="0"/>
              </a:rPr>
              <a:t> DatabaseofSystematicReviews</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r>
              <a:rPr lang="en-US" i="1" dirty="0" smtClean="0">
                <a:solidFill>
                  <a:schemeClr val="bg2">
                    <a:lumMod val="10000"/>
                  </a:schemeClr>
                </a:solidFill>
                <a:latin typeface="Times New Roman" panose="02020603050405020304" pitchFamily="18" charset="0"/>
                <a:cs typeface="Times New Roman" panose="02020603050405020304" pitchFamily="18" charset="0"/>
              </a:rPr>
              <a:t>2020</a:t>
            </a:r>
            <a:r>
              <a:rPr lang="en-US" dirty="0" smtClean="0">
                <a:solidFill>
                  <a:schemeClr val="bg2">
                    <a:lumMod val="10000"/>
                  </a:schemeClr>
                </a:solidFill>
                <a:latin typeface="Times New Roman" panose="02020603050405020304" pitchFamily="18" charset="0"/>
                <a:cs typeface="Times New Roman" panose="02020603050405020304" pitchFamily="18" charset="0"/>
              </a:rPr>
              <a:t>(12).</a:t>
            </a:r>
          </a:p>
          <a:p>
            <a:r>
              <a:rPr lang="en-US" dirty="0" err="1">
                <a:solidFill>
                  <a:schemeClr val="bg2">
                    <a:lumMod val="10000"/>
                  </a:schemeClr>
                </a:solidFill>
                <a:latin typeface="Times New Roman" panose="02020603050405020304" pitchFamily="18" charset="0"/>
                <a:cs typeface="Times New Roman" panose="02020603050405020304" pitchFamily="18" charset="0"/>
              </a:rPr>
              <a:t>Ubsdell</a:t>
            </a:r>
            <a:r>
              <a:rPr lang="en-US" dirty="0">
                <a:solidFill>
                  <a:schemeClr val="bg2">
                    <a:lumMod val="10000"/>
                  </a:schemeClr>
                </a:solidFill>
                <a:latin typeface="Times New Roman" panose="02020603050405020304" pitchFamily="18" charset="0"/>
                <a:cs typeface="Times New Roman" panose="02020603050405020304" pitchFamily="18" charset="0"/>
              </a:rPr>
              <a:t>, D., Maddox, N. L., &amp; Sheridan, R. (2025). Management of severe and fulminant </a:t>
            </a:r>
            <a:r>
              <a:rPr lang="en-US" dirty="0" err="1">
                <a:solidFill>
                  <a:schemeClr val="bg2">
                    <a:lumMod val="10000"/>
                  </a:schemeClr>
                </a:solidFill>
                <a:latin typeface="Times New Roman" panose="02020603050405020304" pitchFamily="18" charset="0"/>
                <a:cs typeface="Times New Roman" panose="02020603050405020304" pitchFamily="18" charset="0"/>
              </a:rPr>
              <a:t>Clostridioides</a:t>
            </a:r>
            <a:r>
              <a:rPr lang="en-US" dirty="0">
                <a:solidFill>
                  <a:schemeClr val="bg2">
                    <a:lumMod val="10000"/>
                  </a:schemeClr>
                </a:solidFill>
                <a:latin typeface="Times New Roman" panose="02020603050405020304" pitchFamily="18" charset="0"/>
                <a:cs typeface="Times New Roman" panose="02020603050405020304" pitchFamily="18" charset="0"/>
              </a:rPr>
              <a:t> difficile infection in adults. </a:t>
            </a:r>
            <a:r>
              <a:rPr lang="en-US" i="1" dirty="0">
                <a:solidFill>
                  <a:schemeClr val="bg2">
                    <a:lumMod val="10000"/>
                  </a:schemeClr>
                </a:solidFill>
                <a:latin typeface="Times New Roman" panose="02020603050405020304" pitchFamily="18" charset="0"/>
                <a:cs typeface="Times New Roman" panose="02020603050405020304" pitchFamily="18" charset="0"/>
              </a:rPr>
              <a:t>Journal of Medical Microbiology</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i="1" dirty="0">
                <a:solidFill>
                  <a:schemeClr val="bg2">
                    <a:lumMod val="10000"/>
                  </a:schemeClr>
                </a:solidFill>
                <a:latin typeface="Times New Roman" panose="02020603050405020304" pitchFamily="18" charset="0"/>
                <a:cs typeface="Times New Roman" panose="02020603050405020304" pitchFamily="18" charset="0"/>
              </a:rPr>
              <a:t>74</a:t>
            </a:r>
            <a:r>
              <a:rPr lang="en-US" dirty="0">
                <a:solidFill>
                  <a:schemeClr val="bg2">
                    <a:lumMod val="10000"/>
                  </a:schemeClr>
                </a:solidFill>
                <a:latin typeface="Times New Roman" panose="02020603050405020304" pitchFamily="18" charset="0"/>
                <a:cs typeface="Times New Roman" panose="02020603050405020304" pitchFamily="18" charset="0"/>
              </a:rPr>
              <a:t>(4). https://doi.org/10.1099/jmm.0.001991</a:t>
            </a:r>
          </a:p>
          <a:p>
            <a:endParaRPr lang="en-US" dirty="0">
              <a:solidFill>
                <a:schemeClr val="bg2">
                  <a:lumMod val="10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7222386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References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cont</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endParaRPr lang="en-US" dirty="0"/>
          </a:p>
        </p:txBody>
      </p:sp>
      <p:sp>
        <p:nvSpPr>
          <p:cNvPr id="3" name="Content Placeholder 2"/>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Van </a:t>
            </a:r>
            <a:r>
              <a:rPr lang="en-US" dirty="0" err="1">
                <a:solidFill>
                  <a:schemeClr val="bg2">
                    <a:lumMod val="10000"/>
                  </a:schemeClr>
                </a:solidFill>
                <a:latin typeface="Times New Roman" panose="02020603050405020304" pitchFamily="18" charset="0"/>
                <a:cs typeface="Times New Roman" panose="02020603050405020304" pitchFamily="18" charset="0"/>
              </a:rPr>
              <a:t>Prehn</a:t>
            </a:r>
            <a:r>
              <a:rPr lang="en-US" dirty="0">
                <a:solidFill>
                  <a:schemeClr val="bg2">
                    <a:lumMod val="10000"/>
                  </a:schemeClr>
                </a:solidFill>
                <a:latin typeface="Times New Roman" panose="02020603050405020304" pitchFamily="18" charset="0"/>
                <a:cs typeface="Times New Roman" panose="02020603050405020304" pitchFamily="18" charset="0"/>
              </a:rPr>
              <a:t>, J., </a:t>
            </a:r>
            <a:r>
              <a:rPr lang="en-US" dirty="0" err="1">
                <a:solidFill>
                  <a:schemeClr val="bg2">
                    <a:lumMod val="10000"/>
                  </a:schemeClr>
                </a:solidFill>
                <a:latin typeface="Times New Roman" panose="02020603050405020304" pitchFamily="18" charset="0"/>
                <a:cs typeface="Times New Roman" panose="02020603050405020304" pitchFamily="18" charset="0"/>
              </a:rPr>
              <a:t>Reigadas</a:t>
            </a:r>
            <a:r>
              <a:rPr lang="en-US" dirty="0">
                <a:solidFill>
                  <a:schemeClr val="bg2">
                    <a:lumMod val="10000"/>
                  </a:schemeClr>
                </a:solidFill>
                <a:latin typeface="Times New Roman" panose="02020603050405020304" pitchFamily="18" charset="0"/>
                <a:cs typeface="Times New Roman" panose="02020603050405020304" pitchFamily="18" charset="0"/>
              </a:rPr>
              <a:t>, E., </a:t>
            </a:r>
            <a:r>
              <a:rPr lang="en-US" dirty="0" err="1">
                <a:solidFill>
                  <a:schemeClr val="bg2">
                    <a:lumMod val="10000"/>
                  </a:schemeClr>
                </a:solidFill>
                <a:latin typeface="Times New Roman" panose="02020603050405020304" pitchFamily="18" charset="0"/>
                <a:cs typeface="Times New Roman" panose="02020603050405020304" pitchFamily="18" charset="0"/>
              </a:rPr>
              <a:t>Vogelzang</a:t>
            </a:r>
            <a:r>
              <a:rPr lang="en-US" dirty="0">
                <a:solidFill>
                  <a:schemeClr val="bg2">
                    <a:lumMod val="10000"/>
                  </a:schemeClr>
                </a:solidFill>
                <a:latin typeface="Times New Roman" panose="02020603050405020304" pitchFamily="18" charset="0"/>
                <a:cs typeface="Times New Roman" panose="02020603050405020304" pitchFamily="18" charset="0"/>
              </a:rPr>
              <a:t>, E. H., </a:t>
            </a:r>
            <a:r>
              <a:rPr lang="en-US" dirty="0" err="1">
                <a:solidFill>
                  <a:schemeClr val="bg2">
                    <a:lumMod val="10000"/>
                  </a:schemeClr>
                </a:solidFill>
                <a:latin typeface="Times New Roman" panose="02020603050405020304" pitchFamily="18" charset="0"/>
                <a:cs typeface="Times New Roman" panose="02020603050405020304" pitchFamily="18" charset="0"/>
              </a:rPr>
              <a:t>Bouza</a:t>
            </a:r>
            <a:r>
              <a:rPr lang="en-US" dirty="0">
                <a:solidFill>
                  <a:schemeClr val="bg2">
                    <a:lumMod val="10000"/>
                  </a:schemeClr>
                </a:solidFill>
                <a:latin typeface="Times New Roman" panose="02020603050405020304" pitchFamily="18" charset="0"/>
                <a:cs typeface="Times New Roman" panose="02020603050405020304" pitchFamily="18" charset="0"/>
              </a:rPr>
              <a:t>, E., </a:t>
            </a:r>
            <a:r>
              <a:rPr lang="en-US" dirty="0" err="1">
                <a:solidFill>
                  <a:schemeClr val="bg2">
                    <a:lumMod val="10000"/>
                  </a:schemeClr>
                </a:solidFill>
                <a:latin typeface="Times New Roman" panose="02020603050405020304" pitchFamily="18" charset="0"/>
                <a:cs typeface="Times New Roman" panose="02020603050405020304" pitchFamily="18" charset="0"/>
              </a:rPr>
              <a:t>Hristea</a:t>
            </a:r>
            <a:r>
              <a:rPr lang="en-US" dirty="0">
                <a:solidFill>
                  <a:schemeClr val="bg2">
                    <a:lumMod val="10000"/>
                  </a:schemeClr>
                </a:solidFill>
                <a:latin typeface="Times New Roman" panose="02020603050405020304" pitchFamily="18" charset="0"/>
                <a:cs typeface="Times New Roman" panose="02020603050405020304" pitchFamily="18" charset="0"/>
              </a:rPr>
              <a:t>, A., </a:t>
            </a:r>
            <a:r>
              <a:rPr lang="en-US" dirty="0" err="1">
                <a:solidFill>
                  <a:schemeClr val="bg2">
                    <a:lumMod val="10000"/>
                  </a:schemeClr>
                </a:solidFill>
                <a:latin typeface="Times New Roman" panose="02020603050405020304" pitchFamily="18" charset="0"/>
                <a:cs typeface="Times New Roman" panose="02020603050405020304" pitchFamily="18" charset="0"/>
              </a:rPr>
              <a:t>Guery</a:t>
            </a:r>
            <a:r>
              <a:rPr lang="en-US" dirty="0">
                <a:solidFill>
                  <a:schemeClr val="bg2">
                    <a:lumMod val="10000"/>
                  </a:schemeClr>
                </a:solidFill>
                <a:latin typeface="Times New Roman" panose="02020603050405020304" pitchFamily="18" charset="0"/>
                <a:cs typeface="Times New Roman" panose="02020603050405020304" pitchFamily="18" charset="0"/>
              </a:rPr>
              <a:t>, B., </a:t>
            </a:r>
            <a:r>
              <a:rPr lang="en-US" dirty="0" err="1">
                <a:solidFill>
                  <a:schemeClr val="bg2">
                    <a:lumMod val="10000"/>
                  </a:schemeClr>
                </a:solidFill>
                <a:latin typeface="Times New Roman" panose="02020603050405020304" pitchFamily="18" charset="0"/>
                <a:cs typeface="Times New Roman" panose="02020603050405020304" pitchFamily="18" charset="0"/>
              </a:rPr>
              <a:t>Krutova</a:t>
            </a:r>
            <a:r>
              <a:rPr lang="en-US" dirty="0">
                <a:solidFill>
                  <a:schemeClr val="bg2">
                    <a:lumMod val="10000"/>
                  </a:schemeClr>
                </a:solidFill>
                <a:latin typeface="Times New Roman" panose="02020603050405020304" pitchFamily="18" charset="0"/>
                <a:cs typeface="Times New Roman" panose="02020603050405020304" pitchFamily="18" charset="0"/>
              </a:rPr>
              <a:t>, M., </a:t>
            </a:r>
            <a:r>
              <a:rPr lang="en-US" dirty="0" err="1">
                <a:solidFill>
                  <a:schemeClr val="bg2">
                    <a:lumMod val="10000"/>
                  </a:schemeClr>
                </a:solidFill>
                <a:latin typeface="Times New Roman" panose="02020603050405020304" pitchFamily="18" charset="0"/>
                <a:cs typeface="Times New Roman" panose="02020603050405020304" pitchFamily="18" charset="0"/>
              </a:rPr>
              <a:t>Norén</a:t>
            </a:r>
            <a:r>
              <a:rPr lang="en-US" dirty="0">
                <a:solidFill>
                  <a:schemeClr val="bg2">
                    <a:lumMod val="10000"/>
                  </a:schemeClr>
                </a:solidFill>
                <a:latin typeface="Times New Roman" panose="02020603050405020304" pitchFamily="18" charset="0"/>
                <a:cs typeface="Times New Roman" panose="02020603050405020304" pitchFamily="18" charset="0"/>
              </a:rPr>
              <a:t>, T., </a:t>
            </a:r>
            <a:r>
              <a:rPr lang="en-US" dirty="0" err="1">
                <a:solidFill>
                  <a:schemeClr val="bg2">
                    <a:lumMod val="10000"/>
                  </a:schemeClr>
                </a:solidFill>
                <a:latin typeface="Times New Roman" panose="02020603050405020304" pitchFamily="18" charset="0"/>
                <a:cs typeface="Times New Roman" panose="02020603050405020304" pitchFamily="18" charset="0"/>
              </a:rPr>
              <a:t>Allerberger</a:t>
            </a:r>
            <a:r>
              <a:rPr lang="en-US" dirty="0">
                <a:solidFill>
                  <a:schemeClr val="bg2">
                    <a:lumMod val="10000"/>
                  </a:schemeClr>
                </a:solidFill>
                <a:latin typeface="Times New Roman" panose="02020603050405020304" pitchFamily="18" charset="0"/>
                <a:cs typeface="Times New Roman" panose="02020603050405020304" pitchFamily="18" charset="0"/>
              </a:rPr>
              <a:t>, F., </a:t>
            </a:r>
            <a:r>
              <a:rPr lang="en-US" dirty="0" err="1">
                <a:solidFill>
                  <a:schemeClr val="bg2">
                    <a:lumMod val="10000"/>
                  </a:schemeClr>
                </a:solidFill>
                <a:latin typeface="Times New Roman" panose="02020603050405020304" pitchFamily="18" charset="0"/>
                <a:cs typeface="Times New Roman" panose="02020603050405020304" pitchFamily="18" charset="0"/>
              </a:rPr>
              <a:t>Coia</a:t>
            </a:r>
            <a:r>
              <a:rPr lang="en-US" dirty="0">
                <a:solidFill>
                  <a:schemeClr val="bg2">
                    <a:lumMod val="10000"/>
                  </a:schemeClr>
                </a:solidFill>
                <a:latin typeface="Times New Roman" panose="02020603050405020304" pitchFamily="18" charset="0"/>
                <a:cs typeface="Times New Roman" panose="02020603050405020304" pitchFamily="18" charset="0"/>
              </a:rPr>
              <a:t>, J. E., </a:t>
            </a:r>
            <a:r>
              <a:rPr lang="en-US" dirty="0" err="1">
                <a:solidFill>
                  <a:schemeClr val="bg2">
                    <a:lumMod val="10000"/>
                  </a:schemeClr>
                </a:solidFill>
                <a:latin typeface="Times New Roman" panose="02020603050405020304" pitchFamily="18" charset="0"/>
                <a:cs typeface="Times New Roman" panose="02020603050405020304" pitchFamily="18" charset="0"/>
              </a:rPr>
              <a:t>Goorhuis</a:t>
            </a:r>
            <a:r>
              <a:rPr lang="en-US" dirty="0">
                <a:solidFill>
                  <a:schemeClr val="bg2">
                    <a:lumMod val="10000"/>
                  </a:schemeClr>
                </a:solidFill>
                <a:latin typeface="Times New Roman" panose="02020603050405020304" pitchFamily="18" charset="0"/>
                <a:cs typeface="Times New Roman" panose="02020603050405020304" pitchFamily="18" charset="0"/>
              </a:rPr>
              <a:t>, A., Van </a:t>
            </a:r>
            <a:r>
              <a:rPr lang="en-US" dirty="0" err="1">
                <a:solidFill>
                  <a:schemeClr val="bg2">
                    <a:lumMod val="10000"/>
                  </a:schemeClr>
                </a:solidFill>
                <a:latin typeface="Times New Roman" panose="02020603050405020304" pitchFamily="18" charset="0"/>
                <a:cs typeface="Times New Roman" panose="02020603050405020304" pitchFamily="18" charset="0"/>
              </a:rPr>
              <a:t>Rossen</a:t>
            </a:r>
            <a:r>
              <a:rPr lang="en-US" dirty="0">
                <a:solidFill>
                  <a:schemeClr val="bg2">
                    <a:lumMod val="10000"/>
                  </a:schemeClr>
                </a:solidFill>
                <a:latin typeface="Times New Roman" panose="02020603050405020304" pitchFamily="18" charset="0"/>
                <a:cs typeface="Times New Roman" panose="02020603050405020304" pitchFamily="18" charset="0"/>
              </a:rPr>
              <a:t>, T. M., </a:t>
            </a:r>
            <a:r>
              <a:rPr lang="en-US" dirty="0" err="1">
                <a:solidFill>
                  <a:schemeClr val="bg2">
                    <a:lumMod val="10000"/>
                  </a:schemeClr>
                </a:solidFill>
                <a:latin typeface="Times New Roman" panose="02020603050405020304" pitchFamily="18" charset="0"/>
                <a:cs typeface="Times New Roman" panose="02020603050405020304" pitchFamily="18" charset="0"/>
              </a:rPr>
              <a:t>Ooijevaar</a:t>
            </a:r>
            <a:r>
              <a:rPr lang="en-US" dirty="0">
                <a:solidFill>
                  <a:schemeClr val="bg2">
                    <a:lumMod val="10000"/>
                  </a:schemeClr>
                </a:solidFill>
                <a:latin typeface="Times New Roman" panose="02020603050405020304" pitchFamily="18" charset="0"/>
                <a:cs typeface="Times New Roman" panose="02020603050405020304" pitchFamily="18" charset="0"/>
              </a:rPr>
              <a:t>, R. E., Burns, K., </a:t>
            </a:r>
            <a:r>
              <a:rPr lang="en-US" dirty="0" err="1">
                <a:solidFill>
                  <a:schemeClr val="bg2">
                    <a:lumMod val="10000"/>
                  </a:schemeClr>
                </a:solidFill>
                <a:latin typeface="Times New Roman" panose="02020603050405020304" pitchFamily="18" charset="0"/>
                <a:cs typeface="Times New Roman" panose="02020603050405020304" pitchFamily="18" charset="0"/>
              </a:rPr>
              <a:t>Scharvik</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dirty="0" err="1">
                <a:solidFill>
                  <a:schemeClr val="bg2">
                    <a:lumMod val="10000"/>
                  </a:schemeClr>
                </a:solidFill>
                <a:latin typeface="Times New Roman" panose="02020603050405020304" pitchFamily="18" charset="0"/>
                <a:cs typeface="Times New Roman" panose="02020603050405020304" pitchFamily="18" charset="0"/>
              </a:rPr>
              <a:t>Olesen</a:t>
            </a:r>
            <a:r>
              <a:rPr lang="en-US" dirty="0">
                <a:solidFill>
                  <a:schemeClr val="bg2">
                    <a:lumMod val="10000"/>
                  </a:schemeClr>
                </a:solidFill>
                <a:latin typeface="Times New Roman" panose="02020603050405020304" pitchFamily="18" charset="0"/>
                <a:cs typeface="Times New Roman" panose="02020603050405020304" pitchFamily="18" charset="0"/>
              </a:rPr>
              <a:t>, B. R., </a:t>
            </a:r>
            <a:r>
              <a:rPr lang="en-US" dirty="0" err="1">
                <a:solidFill>
                  <a:schemeClr val="bg2">
                    <a:lumMod val="10000"/>
                  </a:schemeClr>
                </a:solidFill>
                <a:latin typeface="Times New Roman" panose="02020603050405020304" pitchFamily="18" charset="0"/>
                <a:cs typeface="Times New Roman" panose="02020603050405020304" pitchFamily="18" charset="0"/>
              </a:rPr>
              <a:t>Tschudin</a:t>
            </a:r>
            <a:r>
              <a:rPr lang="en-US" dirty="0">
                <a:solidFill>
                  <a:schemeClr val="bg2">
                    <a:lumMod val="10000"/>
                  </a:schemeClr>
                </a:solidFill>
                <a:latin typeface="Times New Roman" panose="02020603050405020304" pitchFamily="18" charset="0"/>
                <a:cs typeface="Times New Roman" panose="02020603050405020304" pitchFamily="18" charset="0"/>
              </a:rPr>
              <a:t>-Sutter, S., Wilcox, M. H., </a:t>
            </a:r>
            <a:r>
              <a:rPr lang="en-US" dirty="0" err="1">
                <a:solidFill>
                  <a:schemeClr val="bg2">
                    <a:lumMod val="10000"/>
                  </a:schemeClr>
                </a:solidFill>
                <a:latin typeface="Times New Roman" panose="02020603050405020304" pitchFamily="18" charset="0"/>
                <a:cs typeface="Times New Roman" panose="02020603050405020304" pitchFamily="18" charset="0"/>
              </a:rPr>
              <a:t>Vehreschild</a:t>
            </a:r>
            <a:r>
              <a:rPr lang="en-US" dirty="0">
                <a:solidFill>
                  <a:schemeClr val="bg2">
                    <a:lumMod val="10000"/>
                  </a:schemeClr>
                </a:solidFill>
                <a:latin typeface="Times New Roman" panose="02020603050405020304" pitchFamily="18" charset="0"/>
                <a:cs typeface="Times New Roman" panose="02020603050405020304" pitchFamily="18" charset="0"/>
              </a:rPr>
              <a:t>, M. J. G. T., Fitzpatrick, F., &amp; </a:t>
            </a:r>
            <a:r>
              <a:rPr lang="en-US" dirty="0" err="1">
                <a:solidFill>
                  <a:schemeClr val="bg2">
                    <a:lumMod val="10000"/>
                  </a:schemeClr>
                </a:solidFill>
                <a:latin typeface="Times New Roman" panose="02020603050405020304" pitchFamily="18" charset="0"/>
                <a:cs typeface="Times New Roman" panose="02020603050405020304" pitchFamily="18" charset="0"/>
              </a:rPr>
              <a:t>Kuijper</a:t>
            </a:r>
            <a:r>
              <a:rPr lang="en-US" dirty="0">
                <a:solidFill>
                  <a:schemeClr val="bg2">
                    <a:lumMod val="10000"/>
                  </a:schemeClr>
                </a:solidFill>
                <a:latin typeface="Times New Roman" panose="02020603050405020304" pitchFamily="18" charset="0"/>
                <a:cs typeface="Times New Roman" panose="02020603050405020304" pitchFamily="18" charset="0"/>
              </a:rPr>
              <a:t>, E. J. (2021). European Society of Clinical Microbiology and Infectious Diseases: 2021 update on the treatment guidance document for </a:t>
            </a:r>
            <a:r>
              <a:rPr lang="en-US" dirty="0" err="1">
                <a:solidFill>
                  <a:schemeClr val="bg2">
                    <a:lumMod val="10000"/>
                  </a:schemeClr>
                </a:solidFill>
                <a:latin typeface="Times New Roman" panose="02020603050405020304" pitchFamily="18" charset="0"/>
                <a:cs typeface="Times New Roman" panose="02020603050405020304" pitchFamily="18" charset="0"/>
              </a:rPr>
              <a:t>Clostridioides</a:t>
            </a:r>
            <a:r>
              <a:rPr lang="en-US" dirty="0">
                <a:solidFill>
                  <a:schemeClr val="bg2">
                    <a:lumMod val="10000"/>
                  </a:schemeClr>
                </a:solidFill>
                <a:latin typeface="Times New Roman" panose="02020603050405020304" pitchFamily="18" charset="0"/>
                <a:cs typeface="Times New Roman" panose="02020603050405020304" pitchFamily="18" charset="0"/>
              </a:rPr>
              <a:t> difficile infection in adults. </a:t>
            </a:r>
            <a:r>
              <a:rPr lang="en-US" i="1" dirty="0">
                <a:solidFill>
                  <a:schemeClr val="bg2">
                    <a:lumMod val="10000"/>
                  </a:schemeClr>
                </a:solidFill>
                <a:latin typeface="Times New Roman" panose="02020603050405020304" pitchFamily="18" charset="0"/>
                <a:cs typeface="Times New Roman" panose="02020603050405020304" pitchFamily="18" charset="0"/>
              </a:rPr>
              <a:t>Clinical Microbiology and Infection</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i="1" dirty="0">
                <a:solidFill>
                  <a:schemeClr val="bg2">
                    <a:lumMod val="10000"/>
                  </a:schemeClr>
                </a:solidFill>
                <a:latin typeface="Times New Roman" panose="02020603050405020304" pitchFamily="18" charset="0"/>
                <a:cs typeface="Times New Roman" panose="02020603050405020304" pitchFamily="18" charset="0"/>
              </a:rPr>
              <a:t>27</a:t>
            </a:r>
            <a:r>
              <a:rPr lang="en-US" dirty="0">
                <a:solidFill>
                  <a:schemeClr val="bg2">
                    <a:lumMod val="10000"/>
                  </a:schemeClr>
                </a:solidFill>
                <a:latin typeface="Times New Roman" panose="02020603050405020304" pitchFamily="18" charset="0"/>
                <a:cs typeface="Times New Roman" panose="02020603050405020304" pitchFamily="18" charset="0"/>
              </a:rPr>
              <a:t>, S1–S21. https://doi.org/10.1016/j.cmi.2021.09.038</a:t>
            </a:r>
          </a:p>
        </p:txBody>
      </p:sp>
    </p:spTree>
    <p:extLst>
      <p:ext uri="{BB962C8B-B14F-4D97-AF65-F5344CB8AC3E}">
        <p14:creationId xmlns:p14="http://schemas.microsoft.com/office/powerpoint/2010/main" val="184343715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References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cont</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endParaRPr lang="en-US" dirty="0"/>
          </a:p>
        </p:txBody>
      </p:sp>
      <p:sp>
        <p:nvSpPr>
          <p:cNvPr id="3" name="Content Placeholder 2"/>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Johnson, S., </a:t>
            </a:r>
            <a:r>
              <a:rPr lang="en-US" dirty="0" err="1">
                <a:solidFill>
                  <a:schemeClr val="bg2">
                    <a:lumMod val="10000"/>
                  </a:schemeClr>
                </a:solidFill>
                <a:latin typeface="Times New Roman" panose="02020603050405020304" pitchFamily="18" charset="0"/>
                <a:cs typeface="Times New Roman" panose="02020603050405020304" pitchFamily="18" charset="0"/>
              </a:rPr>
              <a:t>Lavergne</a:t>
            </a:r>
            <a:r>
              <a:rPr lang="en-US" dirty="0">
                <a:solidFill>
                  <a:schemeClr val="bg2">
                    <a:lumMod val="10000"/>
                  </a:schemeClr>
                </a:solidFill>
                <a:latin typeface="Times New Roman" panose="02020603050405020304" pitchFamily="18" charset="0"/>
                <a:cs typeface="Times New Roman" panose="02020603050405020304" pitchFamily="18" charset="0"/>
              </a:rPr>
              <a:t>, V., Skinner, A. M., Gonzales-Luna, A. J., </a:t>
            </a:r>
            <a:r>
              <a:rPr lang="en-US" dirty="0" err="1">
                <a:solidFill>
                  <a:schemeClr val="bg2">
                    <a:lumMod val="10000"/>
                  </a:schemeClr>
                </a:solidFill>
                <a:latin typeface="Times New Roman" panose="02020603050405020304" pitchFamily="18" charset="0"/>
                <a:cs typeface="Times New Roman" panose="02020603050405020304" pitchFamily="18" charset="0"/>
              </a:rPr>
              <a:t>Garey</a:t>
            </a:r>
            <a:r>
              <a:rPr lang="en-US" dirty="0">
                <a:solidFill>
                  <a:schemeClr val="bg2">
                    <a:lumMod val="10000"/>
                  </a:schemeClr>
                </a:solidFill>
                <a:latin typeface="Times New Roman" panose="02020603050405020304" pitchFamily="18" charset="0"/>
                <a:cs typeface="Times New Roman" panose="02020603050405020304" pitchFamily="18" charset="0"/>
              </a:rPr>
              <a:t>, K. W., Kelly, C. P., &amp; Wilcox, M. H. (2021). Clinical Practice Guideline by the Infectious Diseases Society of America (IDSA) and Society for Healthcare Epidemiology of America (SHEA): 2021 Focused Update Guidelines on Management of </a:t>
            </a:r>
            <a:r>
              <a:rPr lang="en-US" i="1" dirty="0" err="1">
                <a:solidFill>
                  <a:schemeClr val="bg2">
                    <a:lumMod val="10000"/>
                  </a:schemeClr>
                </a:solidFill>
                <a:latin typeface="Times New Roman" panose="02020603050405020304" pitchFamily="18" charset="0"/>
                <a:cs typeface="Times New Roman" panose="02020603050405020304" pitchFamily="18" charset="0"/>
              </a:rPr>
              <a:t>Clostridioides</a:t>
            </a:r>
            <a:r>
              <a:rPr lang="en-US" i="1" dirty="0">
                <a:solidFill>
                  <a:schemeClr val="bg2">
                    <a:lumMod val="10000"/>
                  </a:schemeClr>
                </a:solidFill>
                <a:latin typeface="Times New Roman" panose="02020603050405020304" pitchFamily="18" charset="0"/>
                <a:cs typeface="Times New Roman" panose="02020603050405020304" pitchFamily="18" charset="0"/>
              </a:rPr>
              <a:t> difficile</a:t>
            </a:r>
            <a:r>
              <a:rPr lang="en-US" dirty="0">
                <a:solidFill>
                  <a:schemeClr val="bg2">
                    <a:lumMod val="10000"/>
                  </a:schemeClr>
                </a:solidFill>
                <a:latin typeface="Times New Roman" panose="02020603050405020304" pitchFamily="18" charset="0"/>
                <a:cs typeface="Times New Roman" panose="02020603050405020304" pitchFamily="18" charset="0"/>
              </a:rPr>
              <a:t> Infection in Adults. </a:t>
            </a:r>
            <a:r>
              <a:rPr lang="en-US" i="1" dirty="0">
                <a:solidFill>
                  <a:schemeClr val="bg2">
                    <a:lumMod val="10000"/>
                  </a:schemeClr>
                </a:solidFill>
                <a:latin typeface="Times New Roman" panose="02020603050405020304" pitchFamily="18" charset="0"/>
                <a:cs typeface="Times New Roman" panose="02020603050405020304" pitchFamily="18" charset="0"/>
              </a:rPr>
              <a:t>Clinical Infectious Diseases</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i="1" dirty="0">
                <a:solidFill>
                  <a:schemeClr val="bg2">
                    <a:lumMod val="10000"/>
                  </a:schemeClr>
                </a:solidFill>
                <a:latin typeface="Times New Roman" panose="02020603050405020304" pitchFamily="18" charset="0"/>
                <a:cs typeface="Times New Roman" panose="02020603050405020304" pitchFamily="18" charset="0"/>
              </a:rPr>
              <a:t>73</a:t>
            </a:r>
            <a:r>
              <a:rPr lang="en-US" dirty="0">
                <a:solidFill>
                  <a:schemeClr val="bg2">
                    <a:lumMod val="10000"/>
                  </a:schemeClr>
                </a:solidFill>
                <a:latin typeface="Times New Roman" panose="02020603050405020304" pitchFamily="18" charset="0"/>
                <a:cs typeface="Times New Roman" panose="02020603050405020304" pitchFamily="18" charset="0"/>
              </a:rPr>
              <a:t>(5), e1029–e1044. https://doi.org/10.1093/cid/ciab549</a:t>
            </a:r>
          </a:p>
        </p:txBody>
      </p:sp>
    </p:spTree>
    <p:extLst>
      <p:ext uri="{BB962C8B-B14F-4D97-AF65-F5344CB8AC3E}">
        <p14:creationId xmlns:p14="http://schemas.microsoft.com/office/powerpoint/2010/main" val="358498310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References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cont</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endParaRPr lang="en-US" dirty="0"/>
          </a:p>
        </p:txBody>
      </p:sp>
      <p:sp>
        <p:nvSpPr>
          <p:cNvPr id="3" name="Content Placeholder 2"/>
          <p:cNvSpPr>
            <a:spLocks noGrp="1"/>
          </p:cNvSpPr>
          <p:nvPr>
            <p:ph idx="1"/>
          </p:nvPr>
        </p:nvSpPr>
        <p:spPr/>
        <p:txBody>
          <a:bodyPr/>
          <a:lstStyle/>
          <a:p>
            <a:r>
              <a:rPr lang="en-US" dirty="0" err="1">
                <a:solidFill>
                  <a:schemeClr val="bg2">
                    <a:lumMod val="10000"/>
                  </a:schemeClr>
                </a:solidFill>
                <a:latin typeface="Times New Roman" panose="02020603050405020304" pitchFamily="18" charset="0"/>
                <a:cs typeface="Times New Roman" panose="02020603050405020304" pitchFamily="18" charset="0"/>
              </a:rPr>
              <a:t>Seugendo</a:t>
            </a:r>
            <a:r>
              <a:rPr lang="en-US" dirty="0">
                <a:solidFill>
                  <a:schemeClr val="bg2">
                    <a:lumMod val="10000"/>
                  </a:schemeClr>
                </a:solidFill>
                <a:latin typeface="Times New Roman" panose="02020603050405020304" pitchFamily="18" charset="0"/>
                <a:cs typeface="Times New Roman" panose="02020603050405020304" pitchFamily="18" charset="0"/>
              </a:rPr>
              <a:t>, M., </a:t>
            </a:r>
            <a:r>
              <a:rPr lang="en-US" dirty="0" err="1">
                <a:solidFill>
                  <a:schemeClr val="bg2">
                    <a:lumMod val="10000"/>
                  </a:schemeClr>
                </a:solidFill>
                <a:latin typeface="Times New Roman" panose="02020603050405020304" pitchFamily="18" charset="0"/>
                <a:cs typeface="Times New Roman" panose="02020603050405020304" pitchFamily="18" charset="0"/>
              </a:rPr>
              <a:t>Mshana</a:t>
            </a:r>
            <a:r>
              <a:rPr lang="en-US" dirty="0">
                <a:solidFill>
                  <a:schemeClr val="bg2">
                    <a:lumMod val="10000"/>
                  </a:schemeClr>
                </a:solidFill>
                <a:latin typeface="Times New Roman" panose="02020603050405020304" pitchFamily="18" charset="0"/>
                <a:cs typeface="Times New Roman" panose="02020603050405020304" pitchFamily="18" charset="0"/>
              </a:rPr>
              <a:t>, S. E., </a:t>
            </a:r>
            <a:r>
              <a:rPr lang="en-US" dirty="0" err="1">
                <a:solidFill>
                  <a:schemeClr val="bg2">
                    <a:lumMod val="10000"/>
                  </a:schemeClr>
                </a:solidFill>
                <a:latin typeface="Times New Roman" panose="02020603050405020304" pitchFamily="18" charset="0"/>
                <a:cs typeface="Times New Roman" panose="02020603050405020304" pitchFamily="18" charset="0"/>
              </a:rPr>
              <a:t>Hokororo</a:t>
            </a:r>
            <a:r>
              <a:rPr lang="en-US" dirty="0">
                <a:solidFill>
                  <a:schemeClr val="bg2">
                    <a:lumMod val="10000"/>
                  </a:schemeClr>
                </a:solidFill>
                <a:latin typeface="Times New Roman" panose="02020603050405020304" pitchFamily="18" charset="0"/>
                <a:cs typeface="Times New Roman" panose="02020603050405020304" pitchFamily="18" charset="0"/>
              </a:rPr>
              <a:t>, A., </a:t>
            </a:r>
            <a:r>
              <a:rPr lang="en-US" dirty="0" err="1">
                <a:solidFill>
                  <a:schemeClr val="bg2">
                    <a:lumMod val="10000"/>
                  </a:schemeClr>
                </a:solidFill>
                <a:latin typeface="Times New Roman" panose="02020603050405020304" pitchFamily="18" charset="0"/>
                <a:cs typeface="Times New Roman" panose="02020603050405020304" pitchFamily="18" charset="0"/>
              </a:rPr>
              <a:t>Okamo</a:t>
            </a:r>
            <a:r>
              <a:rPr lang="en-US" dirty="0">
                <a:solidFill>
                  <a:schemeClr val="bg2">
                    <a:lumMod val="10000"/>
                  </a:schemeClr>
                </a:solidFill>
                <a:latin typeface="Times New Roman" panose="02020603050405020304" pitchFamily="18" charset="0"/>
                <a:cs typeface="Times New Roman" panose="02020603050405020304" pitchFamily="18" charset="0"/>
              </a:rPr>
              <a:t>, B., </a:t>
            </a:r>
            <a:r>
              <a:rPr lang="en-US" dirty="0" err="1">
                <a:solidFill>
                  <a:schemeClr val="bg2">
                    <a:lumMod val="10000"/>
                  </a:schemeClr>
                </a:solidFill>
                <a:latin typeface="Times New Roman" panose="02020603050405020304" pitchFamily="18" charset="0"/>
                <a:cs typeface="Times New Roman" panose="02020603050405020304" pitchFamily="18" charset="0"/>
              </a:rPr>
              <a:t>Mirambo</a:t>
            </a:r>
            <a:r>
              <a:rPr lang="en-US" dirty="0">
                <a:solidFill>
                  <a:schemeClr val="bg2">
                    <a:lumMod val="10000"/>
                  </a:schemeClr>
                </a:solidFill>
                <a:latin typeface="Times New Roman" panose="02020603050405020304" pitchFamily="18" charset="0"/>
                <a:cs typeface="Times New Roman" panose="02020603050405020304" pitchFamily="18" charset="0"/>
              </a:rPr>
              <a:t>, M. M., Von Müller, L., </a:t>
            </a:r>
            <a:r>
              <a:rPr lang="en-US" dirty="0" err="1">
                <a:solidFill>
                  <a:schemeClr val="bg2">
                    <a:lumMod val="10000"/>
                  </a:schemeClr>
                </a:solidFill>
                <a:latin typeface="Times New Roman" panose="02020603050405020304" pitchFamily="18" charset="0"/>
                <a:cs typeface="Times New Roman" panose="02020603050405020304" pitchFamily="18" charset="0"/>
              </a:rPr>
              <a:t>Gunka</a:t>
            </a:r>
            <a:r>
              <a:rPr lang="en-US" dirty="0">
                <a:solidFill>
                  <a:schemeClr val="bg2">
                    <a:lumMod val="10000"/>
                  </a:schemeClr>
                </a:solidFill>
                <a:latin typeface="Times New Roman" panose="02020603050405020304" pitchFamily="18" charset="0"/>
                <a:cs typeface="Times New Roman" panose="02020603050405020304" pitchFamily="18" charset="0"/>
              </a:rPr>
              <a:t>, K., Zimmermann, O., &amp; </a:t>
            </a:r>
            <a:r>
              <a:rPr lang="en-US" dirty="0" err="1">
                <a:solidFill>
                  <a:schemeClr val="bg2">
                    <a:lumMod val="10000"/>
                  </a:schemeClr>
                </a:solidFill>
                <a:latin typeface="Times New Roman" panose="02020603050405020304" pitchFamily="18" charset="0"/>
                <a:cs typeface="Times New Roman" panose="02020603050405020304" pitchFamily="18" charset="0"/>
              </a:rPr>
              <a:t>Groß</a:t>
            </a:r>
            <a:r>
              <a:rPr lang="en-US" dirty="0">
                <a:solidFill>
                  <a:schemeClr val="bg2">
                    <a:lumMod val="10000"/>
                  </a:schemeClr>
                </a:solidFill>
                <a:latin typeface="Times New Roman" panose="02020603050405020304" pitchFamily="18" charset="0"/>
                <a:cs typeface="Times New Roman" panose="02020603050405020304" pitchFamily="18" charset="0"/>
              </a:rPr>
              <a:t>, U. (2015). Clostridium difficile infections among adults and children in Mwanza/Tanzania: Is it an underappreciated pathogen among immunocompromised patients in sub-Saharan Africa? </a:t>
            </a:r>
            <a:r>
              <a:rPr lang="en-US" i="1" dirty="0">
                <a:solidFill>
                  <a:schemeClr val="bg2">
                    <a:lumMod val="10000"/>
                  </a:schemeClr>
                </a:solidFill>
                <a:latin typeface="Times New Roman" panose="02020603050405020304" pitchFamily="18" charset="0"/>
                <a:cs typeface="Times New Roman" panose="02020603050405020304" pitchFamily="18" charset="0"/>
              </a:rPr>
              <a:t>New Microbes and New Infections</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i="1" dirty="0">
                <a:solidFill>
                  <a:schemeClr val="bg2">
                    <a:lumMod val="10000"/>
                  </a:schemeClr>
                </a:solidFill>
                <a:latin typeface="Times New Roman" panose="02020603050405020304" pitchFamily="18" charset="0"/>
                <a:cs typeface="Times New Roman" panose="02020603050405020304" pitchFamily="18" charset="0"/>
              </a:rPr>
              <a:t>8</a:t>
            </a:r>
            <a:r>
              <a:rPr lang="en-US" dirty="0">
                <a:solidFill>
                  <a:schemeClr val="bg2">
                    <a:lumMod val="10000"/>
                  </a:schemeClr>
                </a:solidFill>
                <a:latin typeface="Times New Roman" panose="02020603050405020304" pitchFamily="18" charset="0"/>
                <a:cs typeface="Times New Roman" panose="02020603050405020304" pitchFamily="18" charset="0"/>
              </a:rPr>
              <a:t>, 99–102. https://doi.org/10.1016/j.nmni.2015.09.016</a:t>
            </a:r>
          </a:p>
        </p:txBody>
      </p:sp>
    </p:spTree>
    <p:extLst>
      <p:ext uri="{BB962C8B-B14F-4D97-AF65-F5344CB8AC3E}">
        <p14:creationId xmlns:p14="http://schemas.microsoft.com/office/powerpoint/2010/main" val="205776287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References </a:t>
            </a:r>
            <a:r>
              <a:rPr lang="en-US" dirty="0" err="1" smtClean="0">
                <a:solidFill>
                  <a:schemeClr val="bg2">
                    <a:lumMod val="10000"/>
                  </a:schemeClr>
                </a:solidFill>
                <a:latin typeface="Times New Roman" panose="02020603050405020304" pitchFamily="18" charset="0"/>
                <a:cs typeface="Times New Roman" panose="02020603050405020304" pitchFamily="18" charset="0"/>
              </a:rPr>
              <a:t>cont</a:t>
            </a:r>
            <a:r>
              <a:rPr lang="en-US" dirty="0" smtClean="0">
                <a:solidFill>
                  <a:schemeClr val="bg2">
                    <a:lumMod val="10000"/>
                  </a:schemeClr>
                </a:solidFill>
                <a:latin typeface="Times New Roman" panose="02020603050405020304" pitchFamily="18" charset="0"/>
                <a:cs typeface="Times New Roman" panose="02020603050405020304" pitchFamily="18" charset="0"/>
              </a:rPr>
              <a:t>…</a:t>
            </a:r>
            <a:endParaRPr lang="en-US" dirty="0"/>
          </a:p>
        </p:txBody>
      </p:sp>
      <p:sp>
        <p:nvSpPr>
          <p:cNvPr id="3" name="Content Placeholder 2"/>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Cholera Annual Report 2023. Weekly Epidemiological Record, 9 September 2024, Vol 99 (36), (pp 481- 496). </a:t>
            </a:r>
            <a:r>
              <a:rPr lang="en-US" dirty="0">
                <a:solidFill>
                  <a:schemeClr val="bg2">
                    <a:lumMod val="10000"/>
                  </a:schemeClr>
                </a:solidFill>
                <a:latin typeface="Times New Roman" panose="02020603050405020304" pitchFamily="18" charset="0"/>
                <a:cs typeface="Times New Roman" panose="02020603050405020304" pitchFamily="18" charset="0"/>
                <a:hlinkClick r:id="rId2"/>
              </a:rPr>
              <a:t>https://</a:t>
            </a:r>
            <a:r>
              <a:rPr lang="en-US" dirty="0" smtClean="0">
                <a:solidFill>
                  <a:schemeClr val="bg2">
                    <a:lumMod val="10000"/>
                  </a:schemeClr>
                </a:solidFill>
                <a:latin typeface="Times New Roman" panose="02020603050405020304" pitchFamily="18" charset="0"/>
                <a:cs typeface="Times New Roman" panose="02020603050405020304" pitchFamily="18" charset="0"/>
                <a:hlinkClick r:id="rId2"/>
              </a:rPr>
              <a:t>cdn.who.int/media/docs/default-source/dco/wer_36_2024_cholera-annual-report-for-2023_bilingual-proof.pdf?sfvrsn=86fb1faf_1</a:t>
            </a:r>
            <a:endParaRPr lang="en-US" dirty="0" smtClean="0">
              <a:solidFill>
                <a:schemeClr val="bg2">
                  <a:lumMod val="10000"/>
                </a:schemeClr>
              </a:solidFill>
              <a:latin typeface="Times New Roman" panose="02020603050405020304" pitchFamily="18" charset="0"/>
              <a:cs typeface="Times New Roman" panose="02020603050405020304" pitchFamily="18" charset="0"/>
            </a:endParaRPr>
          </a:p>
          <a:p>
            <a:r>
              <a:rPr lang="en-US" dirty="0">
                <a:solidFill>
                  <a:schemeClr val="bg2">
                    <a:lumMod val="10000"/>
                  </a:schemeClr>
                </a:solidFill>
                <a:latin typeface="Times New Roman" panose="02020603050405020304" pitchFamily="18" charset="0"/>
                <a:cs typeface="Times New Roman" panose="02020603050405020304" pitchFamily="18" charset="0"/>
              </a:rPr>
              <a:t>Randel, A et al, Infectious Diarrhea: IDSA Updates Guidelines for Diagnosis and Management, </a:t>
            </a:r>
            <a:r>
              <a:rPr lang="en-US" dirty="0" smtClean="0">
                <a:solidFill>
                  <a:schemeClr val="bg2">
                    <a:lumMod val="10000"/>
                  </a:schemeClr>
                </a:solidFill>
                <a:latin typeface="Times New Roman" panose="02020603050405020304" pitchFamily="18" charset="0"/>
                <a:cs typeface="Times New Roman" panose="02020603050405020304" pitchFamily="18" charset="0"/>
              </a:rPr>
              <a:t>2018</a:t>
            </a:r>
          </a:p>
          <a:p>
            <a:r>
              <a:rPr lang="en-US" dirty="0">
                <a:solidFill>
                  <a:schemeClr val="bg2">
                    <a:lumMod val="10000"/>
                  </a:schemeClr>
                </a:solidFill>
                <a:latin typeface="Times New Roman" panose="02020603050405020304" pitchFamily="18" charset="0"/>
                <a:cs typeface="Times New Roman" panose="02020603050405020304" pitchFamily="18" charset="0"/>
              </a:rPr>
              <a:t>2024 Updates by the Infectious Disease Society of America and American Society of Microbiology. Guide to Utilization of the Microbiology Laboratory for Diagnosis of Infectious Diseases</a:t>
            </a:r>
          </a:p>
          <a:p>
            <a:endParaRPr lang="en-US" dirty="0">
              <a:solidFill>
                <a:schemeClr val="bg2">
                  <a:lumMod val="10000"/>
                </a:schemeClr>
              </a:solidFill>
              <a:latin typeface="Times New Roman" panose="02020603050405020304" pitchFamily="18" charset="0"/>
              <a:cs typeface="Times New Roman" panose="02020603050405020304" pitchFamily="18" charset="0"/>
            </a:endParaRPr>
          </a:p>
          <a:p>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502245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bg2">
                    <a:lumMod val="10000"/>
                  </a:schemeClr>
                </a:solidFill>
                <a:latin typeface="Times New Roman" panose="02020603050405020304" pitchFamily="18" charset="0"/>
                <a:cs typeface="Times New Roman" panose="02020603050405020304" pitchFamily="18" charset="0"/>
              </a:rPr>
              <a:t>Referrences</a:t>
            </a:r>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err="1">
                <a:solidFill>
                  <a:schemeClr val="bg2">
                    <a:lumMod val="10000"/>
                  </a:schemeClr>
                </a:solidFill>
                <a:latin typeface="Times New Roman" panose="02020603050405020304" pitchFamily="18" charset="0"/>
                <a:cs typeface="Times New Roman" panose="02020603050405020304" pitchFamily="18" charset="0"/>
              </a:rPr>
              <a:t>Acree</a:t>
            </a:r>
            <a:r>
              <a:rPr lang="en-US" dirty="0">
                <a:solidFill>
                  <a:schemeClr val="bg2">
                    <a:lumMod val="10000"/>
                  </a:schemeClr>
                </a:solidFill>
                <a:latin typeface="Times New Roman" panose="02020603050405020304" pitchFamily="18" charset="0"/>
                <a:cs typeface="Times New Roman" panose="02020603050405020304" pitchFamily="18" charset="0"/>
              </a:rPr>
              <a:t> Davis, A. M. (2017). Acute Diarrheal Infections in Adults. </a:t>
            </a:r>
            <a:r>
              <a:rPr lang="en-US" i="1" dirty="0">
                <a:solidFill>
                  <a:schemeClr val="bg2">
                    <a:lumMod val="10000"/>
                  </a:schemeClr>
                </a:solidFill>
                <a:latin typeface="Times New Roman" panose="02020603050405020304" pitchFamily="18" charset="0"/>
                <a:cs typeface="Times New Roman" panose="02020603050405020304" pitchFamily="18" charset="0"/>
              </a:rPr>
              <a:t>JAMA</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i="1" dirty="0">
                <a:solidFill>
                  <a:schemeClr val="bg2">
                    <a:lumMod val="10000"/>
                  </a:schemeClr>
                </a:solidFill>
                <a:latin typeface="Times New Roman" panose="02020603050405020304" pitchFamily="18" charset="0"/>
                <a:cs typeface="Times New Roman" panose="02020603050405020304" pitchFamily="18" charset="0"/>
              </a:rPr>
              <a:t>318</a:t>
            </a:r>
            <a:r>
              <a:rPr lang="en-US" dirty="0">
                <a:solidFill>
                  <a:schemeClr val="bg2">
                    <a:lumMod val="10000"/>
                  </a:schemeClr>
                </a:solidFill>
                <a:latin typeface="Times New Roman" panose="02020603050405020304" pitchFamily="18" charset="0"/>
                <a:cs typeface="Times New Roman" panose="02020603050405020304" pitchFamily="18" charset="0"/>
              </a:rPr>
              <a:t>(10), 957. https://doi.org/10.1001/jama.2017.8485</a:t>
            </a:r>
            <a:r>
              <a:rPr lang="en-US" dirty="0" smtClean="0">
                <a:solidFill>
                  <a:schemeClr val="bg2">
                    <a:lumMod val="10000"/>
                  </a:schemeClr>
                </a:solidFill>
                <a:latin typeface="Times New Roman" panose="02020603050405020304" pitchFamily="18" charset="0"/>
                <a:cs typeface="Times New Roman" panose="02020603050405020304" pitchFamily="18" charset="0"/>
              </a:rPr>
              <a:t>, </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967250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99842728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theme/theme1.xml><?xml version="1.0" encoding="utf-8"?>
<a:theme xmlns:a="http://schemas.openxmlformats.org/drawingml/2006/main" name="ANTICOAGULANT,ANTIPLATELET">
  <a:themeElements>
    <a:clrScheme name="Custom 1">
      <a:dk1>
        <a:srgbClr val="32A9E5"/>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NEURODEGENERATIVE DISORDERS">
  <a:themeElements>
    <a:clrScheme name="Custom 1">
      <a:dk1>
        <a:srgbClr val="32A9E5"/>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7704</TotalTime>
  <Words>5718</Words>
  <Application>Microsoft Office PowerPoint</Application>
  <PresentationFormat>On-screen Show (4:3)</PresentationFormat>
  <Paragraphs>487</Paragraphs>
  <Slides>75</Slides>
  <Notes>42</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75</vt:i4>
      </vt:variant>
    </vt:vector>
  </HeadingPairs>
  <TitlesOfParts>
    <vt:vector size="88" baseType="lpstr">
      <vt:lpstr>MS PGothic</vt:lpstr>
      <vt:lpstr>Arial</vt:lpstr>
      <vt:lpstr>Arial MT</vt:lpstr>
      <vt:lpstr>Calibri</vt:lpstr>
      <vt:lpstr>Symbol</vt:lpstr>
      <vt:lpstr>Times New Roman</vt:lpstr>
      <vt:lpstr>Wingdings</vt:lpstr>
      <vt:lpstr>ANTICOAGULANT,ANTIPLATELET</vt:lpstr>
      <vt:lpstr>Office Theme</vt:lpstr>
      <vt:lpstr>2_Office Theme</vt:lpstr>
      <vt:lpstr>8_Office Theme</vt:lpstr>
      <vt:lpstr>9_Office Theme</vt:lpstr>
      <vt:lpstr>NEURODEGENERATIVE DISORDERS</vt:lpstr>
      <vt:lpstr>PowerPoint Presentation</vt:lpstr>
      <vt:lpstr>Learning Objectives</vt:lpstr>
      <vt:lpstr>OUTLINE</vt:lpstr>
      <vt:lpstr>INTRODUCTION</vt:lpstr>
      <vt:lpstr>INTRODUCTION</vt:lpstr>
      <vt:lpstr>Conditions Mimicking Diarrhea</vt:lpstr>
      <vt:lpstr>EPIDEMIOLOGY</vt:lpstr>
      <vt:lpstr>Epidemiology cont…</vt:lpstr>
      <vt:lpstr>PowerPoint Presentation</vt:lpstr>
      <vt:lpstr> Mechanisms of infectious diarrhea</vt:lpstr>
      <vt:lpstr> Secretory diarrhoea (toxin-mediated) </vt:lpstr>
      <vt:lpstr> Osmotic diarrhoea </vt:lpstr>
      <vt:lpstr>  Inflammatory (exudative) diarrhoea </vt:lpstr>
      <vt:lpstr> Cytotoxic diarrhea </vt:lpstr>
      <vt:lpstr> Motility-related diarrhoea </vt:lpstr>
      <vt:lpstr>PowerPoint Presentation</vt:lpstr>
      <vt:lpstr>PowerPoint Presentation</vt:lpstr>
      <vt:lpstr>PowerPoint Presentation</vt:lpstr>
      <vt:lpstr>PowerPoint Presentation</vt:lpstr>
      <vt:lpstr>PowerPoint Presentation</vt:lpstr>
      <vt:lpstr>PowerPoint Presentation</vt:lpstr>
      <vt:lpstr>CLINICAL ASSESSMENT CONT…</vt:lpstr>
      <vt:lpstr>PowerPoint Presentation</vt:lpstr>
      <vt:lpstr>PowerPoint Presentation</vt:lpstr>
      <vt:lpstr>INVESTIGATION</vt:lpstr>
      <vt:lpstr> INVESTIGATIONS</vt:lpstr>
      <vt:lpstr>INVESTIGATIONS</vt:lpstr>
      <vt:lpstr>INVESTIGATIONS CONT…</vt:lpstr>
      <vt:lpstr>PowerPoint Presentation</vt:lpstr>
      <vt:lpstr>Indication of empirical antibiotic use</vt:lpstr>
      <vt:lpstr>PowerPoint Presentation</vt:lpstr>
      <vt:lpstr>PowerPoint Presentation</vt:lpstr>
      <vt:lpstr>Role of Probiotics in Infectious diarrhea</vt:lpstr>
      <vt:lpstr>Evidence on the use of Probiotics-1</vt:lpstr>
      <vt:lpstr>Evidence on the use of Probiotics-2</vt:lpstr>
      <vt:lpstr>PowerPoint Presentation</vt:lpstr>
      <vt:lpstr>PowerPoint Presentation</vt:lpstr>
      <vt:lpstr>General concept Antibiotic-induced diarrhea</vt:lpstr>
      <vt:lpstr>CDI</vt:lpstr>
      <vt:lpstr>Epidemiology-1</vt:lpstr>
      <vt:lpstr>PowerPoint Presentation</vt:lpstr>
      <vt:lpstr>PowerPoint Presentation</vt:lpstr>
      <vt:lpstr>Diagnosis of C. difficile diarrhea</vt:lpstr>
      <vt:lpstr>PowerPoint Presentation</vt:lpstr>
      <vt:lpstr>Treatment of C. difficile diarrhea-1</vt:lpstr>
      <vt:lpstr>Treatment of C. difficile diarrhea-2</vt:lpstr>
      <vt:lpstr>Treatment of C. difficile diarrhea-3</vt:lpstr>
      <vt:lpstr>Treatment of C. difficile diarrhea-4</vt:lpstr>
      <vt:lpstr>Prevention of C. difficile diarrhea-1</vt:lpstr>
      <vt:lpstr>Prevention of C. difficile diarrhea-2</vt:lpstr>
      <vt:lpstr>Prognosis and prevention of C. difficile diarrhea</vt:lpstr>
      <vt:lpstr>PowerPoint Presentation</vt:lpstr>
      <vt:lpstr>Bacterial Enteric Infection in HIV/AIDS</vt:lpstr>
      <vt:lpstr>Cont…</vt:lpstr>
      <vt:lpstr>Burden of CDI in HIV/AIDS</vt:lpstr>
      <vt:lpstr>Clinical presentation</vt:lpstr>
      <vt:lpstr>Diagnosis and Investigations</vt:lpstr>
      <vt:lpstr>PowerPoint Presentation</vt:lpstr>
      <vt:lpstr>PowerPoint Presentation</vt:lpstr>
      <vt:lpstr>Vaccine in Infectious diarrhea</vt:lpstr>
      <vt:lpstr>Cholera Vaccine </vt:lpstr>
      <vt:lpstr>Cholera Vaccine</vt:lpstr>
      <vt:lpstr>Cholera Vaccine</vt:lpstr>
      <vt:lpstr>Typhoid (Salmonella Typhi) Vaccine</vt:lpstr>
      <vt:lpstr>Typhoid Vaccine Types </vt:lpstr>
      <vt:lpstr>Considerations for Immunocompromised Patients </vt:lpstr>
      <vt:lpstr>References</vt:lpstr>
      <vt:lpstr>References cont…</vt:lpstr>
      <vt:lpstr>References cont</vt:lpstr>
      <vt:lpstr>References cont…</vt:lpstr>
      <vt:lpstr>References cont…</vt:lpstr>
      <vt:lpstr>References cont…</vt:lpstr>
      <vt:lpstr>References cont…</vt:lpstr>
      <vt:lpstr>Referrences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INFECTIOUS DIARRHEA</dc:title>
  <dc:creator>Dr Mario</dc:creator>
  <cp:lastModifiedBy>hp</cp:lastModifiedBy>
  <cp:revision>151</cp:revision>
  <dcterms:created xsi:type="dcterms:W3CDTF">2022-04-11T15:28:00Z</dcterms:created>
  <dcterms:modified xsi:type="dcterms:W3CDTF">2026-05-07T13:52:33Z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c582552a7f374395808ff9aaaee569e3</vt:lpwstr>
  </property>
  <property fmtid="{D5CDD505-2E9C-101B-9397-08002B2CF9AE}" pid="3" name="KSOProductBuildVer">
    <vt:lpwstr>1033-12.2.0.20782</vt:lpwstr>
  </property>
</Properties>
</file>