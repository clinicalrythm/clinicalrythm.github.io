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98" r:id="rId2"/>
    <p:sldId id="499" r:id="rId3"/>
    <p:sldId id="501" r:id="rId4"/>
    <p:sldId id="500" r:id="rId5"/>
    <p:sldId id="511" r:id="rId6"/>
    <p:sldId id="508" r:id="rId7"/>
    <p:sldId id="503" r:id="rId8"/>
    <p:sldId id="504" r:id="rId9"/>
    <p:sldId id="510" r:id="rId10"/>
    <p:sldId id="505" r:id="rId11"/>
    <p:sldId id="513" r:id="rId12"/>
    <p:sldId id="526" r:id="rId13"/>
    <p:sldId id="527" r:id="rId14"/>
    <p:sldId id="528" r:id="rId15"/>
    <p:sldId id="529" r:id="rId16"/>
    <p:sldId id="506" r:id="rId17"/>
    <p:sldId id="518" r:id="rId18"/>
    <p:sldId id="515" r:id="rId19"/>
    <p:sldId id="514" r:id="rId20"/>
    <p:sldId id="516" r:id="rId21"/>
    <p:sldId id="517" r:id="rId22"/>
    <p:sldId id="522" r:id="rId23"/>
    <p:sldId id="519" r:id="rId24"/>
    <p:sldId id="521" r:id="rId25"/>
    <p:sldId id="530" r:id="rId26"/>
    <p:sldId id="523" r:id="rId27"/>
    <p:sldId id="524" r:id="rId28"/>
    <p:sldId id="531" r:id="rId29"/>
    <p:sldId id="509" r:id="rId3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91E3B"/>
    <a:srgbClr val="20328C"/>
    <a:srgbClr val="E4001B"/>
    <a:srgbClr val="1C7F5E"/>
    <a:srgbClr val="E6DF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13" autoAdjust="0"/>
    <p:restoredTop sz="68296" autoAdjust="0"/>
  </p:normalViewPr>
  <p:slideViewPr>
    <p:cSldViewPr snapToGrid="0" snapToObjects="1" showGuides="1">
      <p:cViewPr varScale="1">
        <p:scale>
          <a:sx n="73" d="100"/>
          <a:sy n="73" d="100"/>
        </p:scale>
        <p:origin x="1304" y="184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notesViewPr>
    <p:cSldViewPr snapToGrid="0" snapToObjects="1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A5C2878-4654-4079-B030-5E47C2C5D674}" type="datetimeFigureOut">
              <a:rPr lang="en-US" altLang="en-US"/>
              <a:t>7/28/26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497DE80-0297-46C5-B5C0-F08F29C2DD8F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EECDD41-E951-430A-8AF4-2C94325B6799}" type="datetimeFigureOut">
              <a:rPr lang="en-US" altLang="en-US"/>
              <a:t>7/28/26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6948324-13D7-4655-B8F7-1E5C093BA4F7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3590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27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7083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Font typeface="+mj-lt"/>
              <a:buAutoNum type="arabicPeriod"/>
            </a:pPr>
            <a:r>
              <a:rPr lang="en-GB" b="1" i="0" dirty="0" err="1">
                <a:solidFill>
                  <a:srgbClr val="303030"/>
                </a:solidFill>
                <a:effectLst/>
                <a:latin typeface="Google Sans Text"/>
              </a:rPr>
              <a:t>Arenaviridae</a:t>
            </a: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 (Old &amp; New World):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Enveloped, </a:t>
            </a:r>
            <a:r>
              <a:rPr lang="en-GB" b="0" i="0" dirty="0" err="1">
                <a:solidFill>
                  <a:srgbClr val="303030"/>
                </a:solidFill>
                <a:effectLst/>
                <a:latin typeface="Google Sans Text"/>
              </a:rPr>
              <a:t>bisegmented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negative-strand RNA viruses using an </a:t>
            </a:r>
            <a:r>
              <a:rPr lang="en-GB" b="1" i="0" dirty="0" err="1">
                <a:solidFill>
                  <a:srgbClr val="303030"/>
                </a:solidFill>
                <a:effectLst/>
                <a:latin typeface="Google Sans Text"/>
              </a:rPr>
              <a:t>ambisense</a:t>
            </a: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 coding strategy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. Key members include Lassa virus (Old World) and Junín/</a:t>
            </a:r>
            <a:r>
              <a:rPr lang="en-GB" b="0" i="0" dirty="0" err="1">
                <a:solidFill>
                  <a:srgbClr val="303030"/>
                </a:solidFill>
                <a:effectLst/>
                <a:latin typeface="Google Sans Text"/>
              </a:rPr>
              <a:t>Machupo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(New World)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Filoviridae: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Negative-sense, </a:t>
            </a:r>
            <a:r>
              <a:rPr lang="en-GB" b="0" i="0" dirty="0" err="1">
                <a:solidFill>
                  <a:srgbClr val="303030"/>
                </a:solidFill>
                <a:effectLst/>
                <a:latin typeface="Google Sans Text"/>
              </a:rPr>
              <a:t>nonsegmented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linear RNA. Characteristic filament structure (80 nm diameter, up to 1100 nm length). Includes </a:t>
            </a:r>
            <a:r>
              <a:rPr lang="en-GB" b="0" i="1" dirty="0">
                <a:solidFill>
                  <a:srgbClr val="303030"/>
                </a:solidFill>
                <a:effectLst/>
                <a:latin typeface="Google Sans Text"/>
              </a:rPr>
              <a:t>Ebolavirus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(5 species) and </a:t>
            </a:r>
            <a:r>
              <a:rPr lang="en-GB" b="0" i="1" dirty="0">
                <a:solidFill>
                  <a:srgbClr val="303030"/>
                </a:solidFill>
                <a:effectLst/>
                <a:latin typeface="Google Sans Text"/>
              </a:rPr>
              <a:t>Marburgvirus</a:t>
            </a:r>
            <a:endParaRPr lang="en-GB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Flaviviridae: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Small (40–65 nm), spherical, positive-sense RNA viruses. Encodes a single polyprotein cleaved into three structural and seven </a:t>
            </a:r>
            <a:r>
              <a:rPr lang="en-GB" b="0" i="0" dirty="0" err="1">
                <a:solidFill>
                  <a:srgbClr val="303030"/>
                </a:solidFill>
                <a:effectLst/>
                <a:latin typeface="Google Sans Text"/>
              </a:rPr>
              <a:t>nonstructural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(NS) proteins.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Bunyavirales (</a:t>
            </a:r>
            <a:r>
              <a:rPr lang="en-GB" b="1" i="0" dirty="0" err="1">
                <a:solidFill>
                  <a:srgbClr val="303030"/>
                </a:solidFill>
                <a:effectLst/>
                <a:latin typeface="Google Sans Text"/>
              </a:rPr>
              <a:t>Nairoviridae</a:t>
            </a: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 &amp; </a:t>
            </a:r>
            <a:r>
              <a:rPr lang="en-GB" b="1" i="0" dirty="0" err="1">
                <a:solidFill>
                  <a:srgbClr val="303030"/>
                </a:solidFill>
                <a:effectLst/>
                <a:latin typeface="Google Sans Text"/>
              </a:rPr>
              <a:t>Phenuiviridae</a:t>
            </a:r>
            <a:r>
              <a:rPr lang="en-GB" b="1" i="0" dirty="0">
                <a:solidFill>
                  <a:srgbClr val="303030"/>
                </a:solidFill>
                <a:effectLst/>
                <a:latin typeface="Google Sans Text"/>
              </a:rPr>
              <a:t>):</a:t>
            </a:r>
            <a:r>
              <a:rPr lang="en-GB" b="0" i="0" dirty="0">
                <a:solidFill>
                  <a:srgbClr val="303030"/>
                </a:solidFill>
                <a:effectLst/>
                <a:latin typeface="Google Sans Text"/>
              </a:rPr>
              <a:t> Large group including CCHF (tick-borne) and Rift Valley Fever (mosquito-borne/livestock contact)</a:t>
            </a:r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965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Bats as Key Reservoirs: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Fruit bats (specifically </a:t>
            </a:r>
            <a:r>
              <a:rPr lang="en-GB" b="0" i="1" dirty="0">
                <a:solidFill>
                  <a:srgbClr val="C7C7C7"/>
                </a:solidFill>
                <a:effectLst/>
                <a:latin typeface="Google Sans Text"/>
              </a:rPr>
              <a:t>Rousettus </a:t>
            </a:r>
            <a:r>
              <a:rPr lang="en-GB" b="0" i="1" dirty="0" err="1">
                <a:solidFill>
                  <a:srgbClr val="C7C7C7"/>
                </a:solidFill>
                <a:effectLst/>
                <a:latin typeface="Google Sans Text"/>
              </a:rPr>
              <a:t>aegyptiacus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for Marburg) are the recognized or suspected reservoirs for filoviruses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Rodent-Borne Cycles: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Arenaviruses and Hantaviruses are maintained in chronic, often asymptomatic, infections in specific rodent hosts, such as the 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multimammate rat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(</a:t>
            </a:r>
            <a:r>
              <a:rPr lang="en-GB" b="0" i="1" dirty="0" err="1">
                <a:solidFill>
                  <a:srgbClr val="C7C7C7"/>
                </a:solidFill>
                <a:effectLst/>
                <a:latin typeface="Google Sans Text"/>
              </a:rPr>
              <a:t>Mastomys</a:t>
            </a:r>
            <a:r>
              <a:rPr lang="en-GB" b="0" i="1" dirty="0">
                <a:solidFill>
                  <a:srgbClr val="C7C7C7"/>
                </a:solidFill>
                <a:effectLst/>
                <a:latin typeface="Google Sans Text"/>
              </a:rPr>
              <a:t> </a:t>
            </a:r>
            <a:r>
              <a:rPr lang="en-GB" b="0" i="1" dirty="0" err="1">
                <a:solidFill>
                  <a:srgbClr val="C7C7C7"/>
                </a:solidFill>
                <a:effectLst/>
                <a:latin typeface="Google Sans Text"/>
              </a:rPr>
              <a:t>natalensis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) for Lassa and the 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vesper mouse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(</a:t>
            </a:r>
            <a:r>
              <a:rPr lang="en-GB" b="0" i="1" dirty="0" err="1">
                <a:solidFill>
                  <a:srgbClr val="C7C7C7"/>
                </a:solidFill>
                <a:effectLst/>
                <a:latin typeface="Google Sans Text"/>
              </a:rPr>
              <a:t>Calomys</a:t>
            </a:r>
            <a:r>
              <a:rPr lang="en-GB" b="0" i="1" dirty="0">
                <a:solidFill>
                  <a:srgbClr val="C7C7C7"/>
                </a:solidFill>
                <a:effectLst/>
                <a:latin typeface="Google Sans Text"/>
              </a:rPr>
              <a:t> </a:t>
            </a:r>
            <a:r>
              <a:rPr lang="en-GB" b="0" i="1" dirty="0" err="1">
                <a:solidFill>
                  <a:srgbClr val="C7C7C7"/>
                </a:solidFill>
                <a:effectLst/>
                <a:latin typeface="Google Sans Text"/>
              </a:rPr>
              <a:t>musculinus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) for Junín virus.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Arthropod Vectors:</a:t>
            </a:r>
            <a:endParaRPr lang="en-GB" b="0" i="0" dirty="0">
              <a:solidFill>
                <a:srgbClr val="C7C7C7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Ticks: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</a:t>
            </a:r>
            <a:r>
              <a:rPr lang="en-GB" b="0" i="1" dirty="0" err="1">
                <a:solidFill>
                  <a:srgbClr val="C7C7C7"/>
                </a:solidFill>
                <a:effectLst/>
                <a:latin typeface="Google Sans Text"/>
              </a:rPr>
              <a:t>Hyalomma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species are both the reservoir and primary vector for CCHF.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Mosquitoes: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</a:t>
            </a:r>
            <a:r>
              <a:rPr lang="en-GB" b="0" i="1" dirty="0">
                <a:solidFill>
                  <a:srgbClr val="C7C7C7"/>
                </a:solidFill>
                <a:effectLst/>
                <a:latin typeface="Google Sans Text"/>
              </a:rPr>
              <a:t>Aedes aegypti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and </a:t>
            </a:r>
            <a:r>
              <a:rPr lang="en-GB" b="0" i="1" dirty="0">
                <a:solidFill>
                  <a:srgbClr val="C7C7C7"/>
                </a:solidFill>
                <a:effectLst/>
                <a:latin typeface="Google Sans Text"/>
              </a:rPr>
              <a:t>Aedes albopictus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are the primary vectors for DENV and YFV. RVFV is maintained in </a:t>
            </a:r>
            <a:r>
              <a:rPr lang="en-GB" b="0" i="1" dirty="0">
                <a:solidFill>
                  <a:srgbClr val="C7C7C7"/>
                </a:solidFill>
                <a:effectLst/>
                <a:latin typeface="Google Sans Text"/>
              </a:rPr>
              <a:t>Aedes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eggs via 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transovarian transmission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and amplified in livestock during heavy rainfall.</a:t>
            </a:r>
          </a:p>
          <a:p>
            <a:endParaRPr lang="en-GB" b="1" dirty="0">
              <a:effectLst/>
            </a:endParaRPr>
          </a:p>
          <a:p>
            <a:r>
              <a:rPr lang="en-GB" b="1" dirty="0">
                <a:effectLst/>
              </a:rPr>
              <a:t>Transmission Dynamics</a:t>
            </a:r>
            <a:endParaRPr lang="en-GB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Zoonotic </a:t>
            </a:r>
            <a:r>
              <a:rPr lang="en-GB" b="1" i="0" dirty="0" err="1">
                <a:solidFill>
                  <a:srgbClr val="C7C7C7"/>
                </a:solidFill>
                <a:effectLst/>
                <a:latin typeface="Google Sans Text"/>
              </a:rPr>
              <a:t>Spillover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Human infection typically occurs through direct contact with 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infected animal tissues, blood, or excreta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(e.g., butchering livestock for RVF/CCHF, or inhaling aerosolized rodent urine for Lassa/Hantaviruses).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Human-to-Human Transmission: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This is a hallmark of Filoviruses, CCHF, and Arenaviruses (specifically Lassa and </a:t>
            </a:r>
            <a:r>
              <a:rPr lang="en-GB" b="0" i="0" dirty="0" err="1">
                <a:solidFill>
                  <a:srgbClr val="C7C7C7"/>
                </a:solidFill>
                <a:effectLst/>
                <a:latin typeface="Google Sans Text"/>
              </a:rPr>
              <a:t>Machupo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). It occurs through direct contact with 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blood, secretions, or organs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of infected individuals, often exacerbated by inadequate infection control in healthcare settings.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Occupational Risk: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Adult male </a:t>
            </a:r>
            <a:r>
              <a:rPr lang="en-GB" b="1" i="0" dirty="0">
                <a:solidFill>
                  <a:srgbClr val="C7C7C7"/>
                </a:solidFill>
                <a:effectLst/>
                <a:latin typeface="Google Sans Text"/>
              </a:rPr>
              <a:t>agricultural workers</a:t>
            </a:r>
            <a:r>
              <a:rPr lang="en-GB" b="0" i="0" dirty="0">
                <a:solidFill>
                  <a:srgbClr val="C7C7C7"/>
                </a:solidFill>
                <a:effectLst/>
                <a:latin typeface="Google Sans Text"/>
              </a:rPr>
              <a:t> are at highest risk for New World arenaviruses due to exposure during harvest seasons</a:t>
            </a:r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4554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987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784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1. Incubation phase (2–21 days depending on virus)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Clinical:</a:t>
            </a:r>
            <a:r>
              <a:rPr lang="en-GB" dirty="0"/>
              <a:t> Asymptomatic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Pathobiology: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Viral entry via skin (bites, needles, mucosa, aerosols depending on virus)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Early replication in dendritic cells and macrophages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Spread to regional lymph nodes → primary viremia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Innate immune evasion begins (interferon antagonism in filoviruses, e.g., Ebola/Marburg) </a:t>
            </a:r>
          </a:p>
          <a:p>
            <a:r>
              <a:rPr lang="en-GB" b="1" dirty="0"/>
              <a:t>2. Early febrile phase (</a:t>
            </a:r>
            <a:r>
              <a:rPr lang="en-GB" b="1" dirty="0" err="1"/>
              <a:t>viremic</a:t>
            </a:r>
            <a:r>
              <a:rPr lang="en-GB" b="1" dirty="0"/>
              <a:t> phase)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Clinical:</a:t>
            </a:r>
            <a:r>
              <a:rPr lang="en-GB" dirty="0"/>
              <a:t> High fever, headache, myalgia, malaise, nausea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Pathobiology: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High-level viremia with systemic dissemination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Infection of monocytes/macrophages → cytokine release (TNF-</a:t>
            </a:r>
            <a:r>
              <a:rPr lang="el-GR" dirty="0"/>
              <a:t>α, </a:t>
            </a:r>
            <a:r>
              <a:rPr lang="en-GB" dirty="0"/>
              <a:t>IL-6, IL-1</a:t>
            </a:r>
            <a:r>
              <a:rPr lang="el-GR" dirty="0"/>
              <a:t>β)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Endothelial activation begins (not direct destruction in most VHFs)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Initial thrombocytopenia due to platelet consumption + bone marrow suppression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“Flu-like” presentation driven by cytokine storm </a:t>
            </a:r>
          </a:p>
          <a:p>
            <a:r>
              <a:rPr lang="en-GB" b="1" dirty="0"/>
              <a:t>3. Systemic vascular phase (critical transition phase)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Clinical:</a:t>
            </a:r>
            <a:r>
              <a:rPr lang="en-GB" dirty="0"/>
              <a:t> Vomiting, </a:t>
            </a:r>
            <a:r>
              <a:rPr lang="en-GB" dirty="0" err="1"/>
              <a:t>diarrhea</a:t>
            </a:r>
            <a:r>
              <a:rPr lang="en-GB" dirty="0"/>
              <a:t>, hypotension, confusion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Pathobiology: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Widespread infection of mononuclear phagocyte 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Massive cytokine storm → endothelial dysfunction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Increased vascular permeability (VEGF, TNF-mediated)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Coagulation cascade activation → early disseminated intravascular coagulation (DIC)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Hepatic injury → reduced clotting factor synthesis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Lymphocyte apoptosis (especially in Ebola/Marburg) </a:t>
            </a:r>
          </a:p>
          <a:p>
            <a:r>
              <a:rPr lang="en-GB" b="1" dirty="0"/>
              <a:t>4. </a:t>
            </a:r>
            <a:r>
              <a:rPr lang="en-GB" b="1" dirty="0" err="1"/>
              <a:t>Hemorrhagic</a:t>
            </a:r>
            <a:r>
              <a:rPr lang="en-GB" b="1" dirty="0"/>
              <a:t> phase (not universal, severity-dependent)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Clinical:</a:t>
            </a:r>
            <a:r>
              <a:rPr lang="en-GB" dirty="0"/>
              <a:t> Petechiae, mucosal bleeding, GI bleed, </a:t>
            </a:r>
            <a:r>
              <a:rPr lang="en-GB" dirty="0" err="1"/>
              <a:t>hematuria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Pathobiology: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Platelet dysfunction + thrombocytopenia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Consumption coagulopathy (DIC)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Endothelial barrier breakdown → plasma + RBC leakage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Viral proteins disrupt coagulation pathways (e.g., tissue factor upregulation in Ebola)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NOT purely “vessel rupture”—functional vascular failure dominates </a:t>
            </a:r>
          </a:p>
          <a:p>
            <a:r>
              <a:rPr lang="en-GB" b="1" dirty="0"/>
              <a:t>5. Shock / multiorgan failure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Clinical:</a:t>
            </a:r>
            <a:r>
              <a:rPr lang="en-GB" dirty="0"/>
              <a:t> Hypotension, renal failure, hepatic failure, encephalopathy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Pathobiology: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Capillary leak → intravascular volume depletion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Myocardial depression from cytokines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Acute tubular necrosis from hypoperfusion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Severe hepatocellular necrosis → coagulopathy worsens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Metabolic acidosis + lactate accumulation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Terminal </a:t>
            </a:r>
            <a:r>
              <a:rPr lang="en-GB" dirty="0" err="1"/>
              <a:t>immunoparalysis</a:t>
            </a:r>
            <a:r>
              <a:rPr lang="en-GB" dirty="0"/>
              <a:t> in some cases </a:t>
            </a:r>
          </a:p>
          <a:p>
            <a:r>
              <a:rPr lang="en-GB" b="1" dirty="0"/>
              <a:t>6. Convalescent phase (survivors)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Clinical:</a:t>
            </a:r>
            <a:r>
              <a:rPr lang="en-GB" dirty="0"/>
              <a:t> Prolonged fatigue, weakness, arthralgia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Pathobiology: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Immune recovery after viral clearance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Tissue repair after endothelial and hepatic injury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Persistent antigen/virus possible in immune-privileged sites (Ebola: eye, testes)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Post-viral inflammatory syndrome</a:t>
            </a:r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925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579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Dry blood swabs may be used but may lead to a significant loss of sensitivity. 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preferred swab type is nylon flocked swabs. 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Swabbing of the nasopharynx is not recommended as the likelihood of detecting virus is not well understood. 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Dry swabs may be used if the lab is equipped to resuspend them in nuclease-free water. 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2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Serology: Identify previous exposure - asymptomatic or convalescent individual who may have been 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Pan-filovirus NAAT To confirm if the infection is caused by a filovirus affecting humans (</a:t>
            </a:r>
            <a:r>
              <a:rPr lang="en-GB" sz="12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Orthoebolavirus</a:t>
            </a: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GB" sz="12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Orthomarburgvirus</a:t>
            </a:r>
            <a:r>
              <a:rPr lang="en-GB" sz="12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endParaRPr lang="en-GB" sz="12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TZ" sz="12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TZ" sz="1200" i="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521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633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Simple rapid tests for NS1/IgM/IgG</a:t>
            </a:r>
          </a:p>
          <a:p>
            <a:pPr lvl="1"/>
            <a:r>
              <a:rPr lang="en-US" sz="2000" dirty="0"/>
              <a:t>Most facilities</a:t>
            </a:r>
          </a:p>
          <a:p>
            <a:r>
              <a:rPr lang="en-US" sz="2400" dirty="0"/>
              <a:t>All positive for NS1/IgM/IgG sent to NHLQATC </a:t>
            </a:r>
          </a:p>
          <a:p>
            <a:pPr lvl="1"/>
            <a:r>
              <a:rPr lang="en-US" sz="2400" dirty="0"/>
              <a:t>Serotyping</a:t>
            </a:r>
          </a:p>
          <a:p>
            <a:pPr lvl="1"/>
            <a:r>
              <a:rPr lang="en-US" sz="2400" dirty="0"/>
              <a:t>quality check</a:t>
            </a:r>
          </a:p>
          <a:p>
            <a:pPr lvl="1"/>
            <a:r>
              <a:rPr lang="en-US" sz="2400" dirty="0"/>
              <a:t>Genotyping</a:t>
            </a:r>
          </a:p>
          <a:p>
            <a:pPr lvl="1"/>
            <a:r>
              <a:rPr lang="en-US" sz="2400" dirty="0"/>
              <a:t>Sequencing </a:t>
            </a:r>
          </a:p>
          <a:p>
            <a:r>
              <a:rPr lang="en-US" sz="2400" dirty="0"/>
              <a:t>Quantitative method (ELISA) for IgG IgM and NS1 </a:t>
            </a:r>
          </a:p>
          <a:p>
            <a:r>
              <a:rPr lang="en-US" sz="2400" dirty="0"/>
              <a:t>Molecular Test Polymerase Chain Reaction - PCR </a:t>
            </a:r>
          </a:p>
          <a:p>
            <a:endParaRPr lang="en-US" sz="2400" dirty="0"/>
          </a:p>
          <a:p>
            <a:r>
              <a:rPr lang="en-US" sz="2400" dirty="0"/>
              <a:t>Many types of rapid tests from different manufacturers</a:t>
            </a:r>
          </a:p>
          <a:p>
            <a:r>
              <a:rPr lang="en-US" sz="2400" dirty="0"/>
              <a:t>Some rapid test used not evaluated in country</a:t>
            </a:r>
          </a:p>
          <a:p>
            <a:r>
              <a:rPr lang="en-US" sz="2400" dirty="0"/>
              <a:t>Accessibility of quantitative and more specific methods</a:t>
            </a:r>
          </a:p>
          <a:p>
            <a:r>
              <a:rPr lang="en-US" sz="2400" dirty="0"/>
              <a:t>Interpretations of results</a:t>
            </a:r>
          </a:p>
          <a:p>
            <a:r>
              <a:rPr lang="en-US" sz="2400" dirty="0"/>
              <a:t>NS1 drops from day 4 of illness</a:t>
            </a:r>
          </a:p>
          <a:p>
            <a:r>
              <a:rPr lang="en-US" sz="2400" dirty="0"/>
              <a:t>IgM/IgG higher yield later in the convalescent phase</a:t>
            </a:r>
          </a:p>
          <a:p>
            <a:r>
              <a:rPr lang="en-US" sz="2400" dirty="0"/>
              <a:t>Low levels/absence  of detectable IgM in some secondary infections</a:t>
            </a:r>
          </a:p>
          <a:p>
            <a:r>
              <a:rPr lang="en-US" sz="2400" dirty="0"/>
              <a:t>Cross-reaction with other flaviviruses</a:t>
            </a:r>
          </a:p>
          <a:p>
            <a:pPr lvl="1"/>
            <a:r>
              <a:rPr lang="en-US" sz="2000" dirty="0"/>
              <a:t>Difficult to interpret - presumed positive, equivocal, or inconclusive tests </a:t>
            </a:r>
          </a:p>
          <a:p>
            <a:endParaRPr lang="en-TZ" dirty="0"/>
          </a:p>
          <a:p>
            <a:r>
              <a:rPr lang="en-US" altLang="en-TZ" dirty="0"/>
              <a:t>*Jorge O </a:t>
            </a:r>
            <a:r>
              <a:rPr lang="en-US" altLang="en-TZ" dirty="0" err="1"/>
              <a:t>Pozo</a:t>
            </a:r>
            <a:r>
              <a:rPr lang="en-US" altLang="en-TZ" dirty="0"/>
              <a:t>-Aguilar Evaluation of host and viral factors associated with severe dengue based on the 2009 WHO classification</a:t>
            </a:r>
          </a:p>
          <a:p>
            <a:endParaRPr lang="en-US" altLang="en-TZ" dirty="0"/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323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831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591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770D2C"/>
                </a:solidFill>
                <a:effectLst/>
                <a:latin typeface="Helvetica" pitchFamily="2" charset="0"/>
              </a:rPr>
              <a:t>Treatment of patient with some dehydration using oral rehydration salts (ORS) </a:t>
            </a:r>
            <a:endParaRPr lang="en-GB" dirty="0">
              <a:solidFill>
                <a:srgbClr val="770D2C"/>
              </a:solidFill>
              <a:effectLst/>
              <a:latin typeface="Helvetica" pitchFamily="2" charset="0"/>
            </a:endParaRPr>
          </a:p>
          <a:p>
            <a:r>
              <a:rPr lang="en-GB" dirty="0">
                <a:solidFill>
                  <a:srgbClr val="211D1E"/>
                </a:solidFill>
                <a:effectLst/>
                <a:latin typeface="Helvetica" pitchFamily="2" charset="0"/>
              </a:rPr>
              <a:t>WHO ORS contain: glucose 13.5 g/l, sodium chloride 2.6 g/l, potassium chloride 1.5 g/l, trisodium citrate dihydrate 2.9 g/l, (total osmolarity of 245 </a:t>
            </a:r>
            <a:r>
              <a:rPr lang="en-GB" dirty="0" err="1">
                <a:solidFill>
                  <a:srgbClr val="211D1E"/>
                </a:solidFill>
                <a:effectLst/>
                <a:latin typeface="Helvetica" pitchFamily="2" charset="0"/>
              </a:rPr>
              <a:t>mOsm</a:t>
            </a:r>
            <a:r>
              <a:rPr lang="en-GB" dirty="0">
                <a:solidFill>
                  <a:srgbClr val="211D1E"/>
                </a:solidFill>
                <a:effectLst/>
                <a:latin typeface="Helvetica" pitchFamily="2" charset="0"/>
              </a:rPr>
              <a:t>/l). </a:t>
            </a:r>
          </a:p>
          <a:p>
            <a:r>
              <a:rPr lang="en-GB" dirty="0">
                <a:solidFill>
                  <a:srgbClr val="211D1E"/>
                </a:solidFill>
                <a:effectLst/>
                <a:latin typeface="Helvetica" pitchFamily="2" charset="0"/>
              </a:rPr>
              <a:t>For adult patients unable to drink sufficient volumes of liquids to maintain hydration status, it is recommended to give IV fluids. </a:t>
            </a:r>
          </a:p>
          <a:p>
            <a:r>
              <a:rPr lang="en-GB" dirty="0">
                <a:solidFill>
                  <a:srgbClr val="211D1E"/>
                </a:solidFill>
                <a:effectLst/>
                <a:latin typeface="Helvetica" pitchFamily="2" charset="0"/>
              </a:rPr>
              <a:t>• In adults, it is recommended to alternate between 0.9% saline and Ringer’s lactate. </a:t>
            </a:r>
          </a:p>
          <a:p>
            <a:r>
              <a:rPr lang="en-GB" dirty="0">
                <a:solidFill>
                  <a:srgbClr val="211D1E"/>
                </a:solidFill>
                <a:effectLst/>
                <a:latin typeface="Helvetica" pitchFamily="2" charset="0"/>
              </a:rPr>
              <a:t>• In children, use Ringer’s lactate if available but monitor the serum electrolytes regularly. </a:t>
            </a:r>
          </a:p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72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875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069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Result:</a:t>
            </a:r>
            <a:r>
              <a:rPr lang="en-GB" sz="1200" dirty="0"/>
              <a:t> </a:t>
            </a:r>
            <a:r>
              <a:rPr lang="en-GB" sz="1200" b="1" dirty="0"/>
              <a:t>REGN-EB3 and mAb114 significantly reduced mortality</a:t>
            </a:r>
            <a:r>
              <a:rPr lang="en-GB" sz="1200" dirty="0"/>
              <a:t> compared with ZMapp and remdesivir, leading to this recommendation </a:t>
            </a:r>
          </a:p>
          <a:p>
            <a:endParaRPr lang="en-GB" sz="1200" dirty="0"/>
          </a:p>
          <a:p>
            <a:r>
              <a:rPr lang="en-GB" sz="1200" dirty="0"/>
              <a:t>Prevail trial: tested </a:t>
            </a:r>
            <a:r>
              <a:rPr lang="en-GB" sz="1200" dirty="0" err="1"/>
              <a:t>Zmapp</a:t>
            </a:r>
            <a:r>
              <a:rPr lang="en-GB" sz="1200" dirty="0"/>
              <a:t>  (a triple monoclonal antibody) vs standard care in March – Nov 2025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6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025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11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6AB3D1-6DB5-48E8-8E66-BC530E8E14FF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8A2F7-7EFE-4CD9-B702-1E4B6E00B8A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6494690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6351" y="6588352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6351" y="6688365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0"/>
          </a:xfrm>
        </p:spPr>
        <p:txBody>
          <a:bodyPr/>
          <a:lstStyle>
            <a:lvl1pPr>
              <a:defRPr sz="4000">
                <a:solidFill>
                  <a:srgbClr val="20328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9829"/>
            <a:ext cx="10972800" cy="4311423"/>
          </a:xfrm>
        </p:spPr>
        <p:txBody>
          <a:bodyPr/>
          <a:lstStyle>
            <a:lvl1pPr>
              <a:defRPr sz="3200">
                <a:solidFill>
                  <a:srgbClr val="000000"/>
                </a:solidFill>
              </a:defRPr>
            </a:lvl1pPr>
            <a:lvl2pPr>
              <a:defRPr sz="2800">
                <a:solidFill>
                  <a:srgbClr val="000000"/>
                </a:solidFill>
              </a:defRPr>
            </a:lvl2pPr>
            <a:lvl3pPr>
              <a:defRPr sz="2400">
                <a:solidFill>
                  <a:srgbClr val="000000"/>
                </a:solidFill>
              </a:defRPr>
            </a:lvl3pPr>
            <a:lvl4pPr>
              <a:defRPr sz="2000">
                <a:solidFill>
                  <a:srgbClr val="000000"/>
                </a:solidFill>
              </a:defRPr>
            </a:lvl4pPr>
            <a:lvl5pPr>
              <a:defRPr sz="20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CB48E3-D5AF-44C5-BD1F-670AC2B5F203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ED6D0-55B1-475C-965C-8B60615A93F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2B28DE-E07C-4482-8778-D4D352CF1192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D7F7AD-559D-40EF-93EF-C2EF8DFE6BD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B6466-B2EC-4155-BC74-30CD799F3382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27321C-A958-490C-8DF3-FB6D03F9098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6FF888-81B0-47BF-9886-C9CE8ACDC1D9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40818-CC6C-4855-AAF4-BC35D4D0C0C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4EC0D5-E3A4-4FB9-B123-B8BEDD6A3050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2613-C6EF-4F22-BF61-53C00E45B04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841004-09AB-417B-A0DF-180326076515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61BD5-D7F5-443A-B85D-9B7EFAF7FFE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110F2-4C4E-4C8A-BA93-FAD859B05306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1D2E8-0304-4A0D-8CFE-6C8B65ADC46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9C2150-4E09-495F-BE00-AF5F832440C9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805DC-062E-4591-982C-A90D862E97C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40E99C-1359-421A-BABB-0F2C34D836F5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2D8E8-64D2-4FD6-9B4B-22063417951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wedge/>
  </p:transition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FC3EC"/>
                </a:solidFill>
              </a:defRPr>
            </a:lvl1pPr>
          </a:lstStyle>
          <a:p>
            <a:fld id="{2F430D95-D1CB-4A9E-BDE2-84CD7F073305}" type="datetime2">
              <a:rPr lang="en-US" altLang="en-US"/>
              <a:t>Tuesday, July 28, 2026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FC3EC"/>
                </a:solidFill>
              </a:defRPr>
            </a:lvl1pPr>
          </a:lstStyle>
          <a:p>
            <a:fld id="{71C4D8BE-8B01-4B18-A281-B0A79AC19526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edge/>
  </p:transition>
  <p:hf hdr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201C-FC2B-27C3-E7BA-3D57B0B94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9756"/>
            <a:ext cx="10363200" cy="2760696"/>
          </a:xfrm>
        </p:spPr>
        <p:txBody>
          <a:bodyPr/>
          <a:lstStyle/>
          <a:p>
            <a:r>
              <a:rPr lang="en-GB" sz="4800" b="1" dirty="0"/>
              <a:t>VIRAL HAEMORRHAGIC FEVERS</a:t>
            </a:r>
            <a:endParaRPr lang="en-AE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6452-7E9E-6C52-A8F8-3F3AEF9E4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5286" y="3029338"/>
            <a:ext cx="7801428" cy="2808515"/>
          </a:xfrm>
        </p:spPr>
        <p:txBody>
          <a:bodyPr/>
          <a:lstStyle/>
          <a:p>
            <a:r>
              <a:rPr lang="en-GB" sz="2800" b="1" dirty="0">
                <a:solidFill>
                  <a:srgbClr val="000000"/>
                </a:solidFill>
              </a:rPr>
              <a:t>Presenters:  			</a:t>
            </a:r>
            <a:r>
              <a:rPr lang="en-GB" sz="2800" dirty="0">
                <a:solidFill>
                  <a:srgbClr val="000000"/>
                </a:solidFill>
              </a:rPr>
              <a:t>Dr. Elizabeth </a:t>
            </a:r>
            <a:r>
              <a:rPr lang="en-GB" sz="2800" dirty="0" err="1">
                <a:solidFill>
                  <a:srgbClr val="000000"/>
                </a:solidFill>
              </a:rPr>
              <a:t>Danstan</a:t>
            </a:r>
            <a:endParaRPr lang="en-GB" sz="2800" dirty="0">
              <a:solidFill>
                <a:srgbClr val="000000"/>
              </a:solidFill>
            </a:endParaRPr>
          </a:p>
          <a:p>
            <a:r>
              <a:rPr lang="en-GB" sz="2800" dirty="0">
                <a:solidFill>
                  <a:srgbClr val="000000"/>
                </a:solidFill>
              </a:rPr>
              <a:t>				     Dr. Silas Gamba</a:t>
            </a:r>
          </a:p>
          <a:p>
            <a:br>
              <a:rPr lang="en-GB" sz="2800" dirty="0">
                <a:solidFill>
                  <a:srgbClr val="000000"/>
                </a:solidFill>
              </a:rPr>
            </a:br>
            <a:r>
              <a:rPr lang="en-GB" sz="2800" b="1" dirty="0">
                <a:solidFill>
                  <a:srgbClr val="000000"/>
                </a:solidFill>
              </a:rPr>
              <a:t>Facilitator</a:t>
            </a:r>
            <a:r>
              <a:rPr lang="en-GB" sz="2800" dirty="0">
                <a:solidFill>
                  <a:srgbClr val="000000"/>
                </a:solidFill>
              </a:rPr>
              <a:t>: 	   Dr. Joan </a:t>
            </a:r>
            <a:r>
              <a:rPr lang="en-GB" sz="2800" dirty="0" err="1">
                <a:solidFill>
                  <a:srgbClr val="000000"/>
                </a:solidFill>
              </a:rPr>
              <a:t>Rugemalila</a:t>
            </a:r>
            <a:endParaRPr lang="en-AE" sz="1800" b="1" dirty="0">
              <a:solidFill>
                <a:srgbClr val="0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7C6D1-4B98-8479-A05E-DA780315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B3D1-6DB5-48E8-8E66-BC530E8E14FF}" type="datetime2">
              <a:rPr lang="en-US" altLang="en-US" smtClean="0"/>
              <a:t>Tuesday, July 28, 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8310-1441-A32F-75D4-48A9CA4A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8A2F7-7EFE-4CD9-B702-1E4B6E00B8AC}" type="slidenum">
              <a:rPr lang="en-US" altLang="en-US" smtClean="0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785746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22B9-1C06-8530-39E6-C08EA2F6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E79F8-3EB5-FCCA-9C27-7C203E8CD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8201891" cy="366674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VHF are defined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by</a:t>
            </a:r>
            <a:r>
              <a:rPr lang="en-GB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febrile illnesses, </a:t>
            </a:r>
            <a:r>
              <a:rPr lang="en-GB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abnormal vascular regulation</a:t>
            </a:r>
            <a:r>
              <a:rPr lang="en-GB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GB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damage</a:t>
            </a:r>
            <a:endParaRPr lang="en-GB" sz="28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GB" sz="1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GB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Early ~ mild hypotension, flushing &amp; conjunctival vasodilation.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6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Progress to shock ~ </a:t>
            </a:r>
            <a:r>
              <a:rPr lang="en-GB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capillary leakage, effusions</a:t>
            </a:r>
          </a:p>
          <a:p>
            <a:pPr marL="457200" lvl="1" indent="0">
              <a:buNone/>
            </a:pPr>
            <a:endParaRPr lang="en-GB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Haemorrhage is not a universal feature</a:t>
            </a:r>
            <a:r>
              <a:rPr lang="en-GB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Commonest with CCHF less with Lassa fever.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D2A71-7583-2E7E-2AE0-A46C34F130F8}"/>
              </a:ext>
            </a:extLst>
          </p:cNvPr>
          <p:cNvSpPr txBox="1"/>
          <p:nvPr/>
        </p:nvSpPr>
        <p:spPr>
          <a:xfrm>
            <a:off x="775855" y="5809190"/>
            <a:ext cx="10307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sz="1600" dirty="0" err="1">
                <a:solidFill>
                  <a:srgbClr val="000000"/>
                </a:solidFill>
              </a:rPr>
              <a:t>Paessler</a:t>
            </a:r>
            <a:r>
              <a:rPr lang="en-GB" sz="1600" dirty="0">
                <a:solidFill>
                  <a:srgbClr val="000000"/>
                </a:solidFill>
              </a:rPr>
              <a:t>, S. and Walker, D.H., 2013. Pathogenesis of the viral </a:t>
            </a:r>
            <a:r>
              <a:rPr lang="en-GB" sz="1600" dirty="0" err="1">
                <a:solidFill>
                  <a:srgbClr val="000000"/>
                </a:solidFill>
              </a:rPr>
              <a:t>hemorrhagic</a:t>
            </a:r>
            <a:r>
              <a:rPr lang="en-GB" sz="1600" dirty="0">
                <a:solidFill>
                  <a:srgbClr val="000000"/>
                </a:solidFill>
              </a:rPr>
              <a:t> fevers. </a:t>
            </a:r>
            <a:r>
              <a:rPr lang="en-GB" sz="1600" i="1" dirty="0">
                <a:solidFill>
                  <a:srgbClr val="000000"/>
                </a:solidFill>
              </a:rPr>
              <a:t>Annual Review of Pathology: Mechanisms of Disease</a:t>
            </a:r>
            <a:r>
              <a:rPr lang="en-GB" sz="1600" dirty="0">
                <a:solidFill>
                  <a:srgbClr val="000000"/>
                </a:solidFill>
              </a:rPr>
              <a:t>, 8, pp.411–440. https://</a:t>
            </a:r>
            <a:r>
              <a:rPr lang="en-GB" sz="1600" dirty="0" err="1">
                <a:solidFill>
                  <a:srgbClr val="000000"/>
                </a:solidFill>
              </a:rPr>
              <a:t>doi.org</a:t>
            </a:r>
            <a:r>
              <a:rPr lang="en-GB" sz="1600" dirty="0">
                <a:solidFill>
                  <a:srgbClr val="000000"/>
                </a:solidFill>
              </a:rPr>
              <a:t>/10.1146/annurev-pathol-020712-164041.</a:t>
            </a:r>
            <a:endParaRPr lang="en-TZ" sz="1600" dirty="0">
              <a:solidFill>
                <a:srgbClr val="000000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8C6612C-E735-ADC2-FAEA-9E99E45E26CF}"/>
              </a:ext>
            </a:extLst>
          </p:cNvPr>
          <p:cNvSpPr txBox="1">
            <a:spLocks/>
          </p:cNvSpPr>
          <p:nvPr/>
        </p:nvSpPr>
        <p:spPr bwMode="auto">
          <a:xfrm>
            <a:off x="609600" y="5731103"/>
            <a:ext cx="10972800" cy="712786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55CC1F-7E82-DD0E-05F8-67B3CC9C3A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992"/>
          <a:stretch/>
        </p:blipFill>
        <p:spPr>
          <a:xfrm>
            <a:off x="8811489" y="1883763"/>
            <a:ext cx="3380511" cy="316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66067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CAE5D-1B52-16CA-B203-59111F72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ETIOLOGY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AC840C-8C57-B115-0A2C-25C5D08F1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1893276" y="3449273"/>
            <a:ext cx="8405446" cy="1535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27817E-DDAF-56FA-8E4C-C86E4A5F2B51}"/>
              </a:ext>
            </a:extLst>
          </p:cNvPr>
          <p:cNvSpPr txBox="1"/>
          <p:nvPr/>
        </p:nvSpPr>
        <p:spPr>
          <a:xfrm>
            <a:off x="609599" y="1432847"/>
            <a:ext cx="10972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</a:rPr>
              <a:t>23 agents, </a:t>
            </a:r>
            <a:r>
              <a:rPr lang="en-GB" sz="2800" b="1" dirty="0">
                <a:solidFill>
                  <a:srgbClr val="000000"/>
                </a:solidFill>
              </a:rPr>
              <a:t>enveloped RNA viruses </a:t>
            </a:r>
            <a:r>
              <a:rPr lang="en-GB" sz="2800" dirty="0">
                <a:solidFill>
                  <a:srgbClr val="000000"/>
                </a:solidFill>
              </a:rPr>
              <a:t>but distinct genetic lineage.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</a:rPr>
              <a:t>These variation dictates cell tropism, replication, and clinical manifestations.</a:t>
            </a:r>
            <a:endParaRPr lang="en-TZ" sz="280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F5140-75B6-1087-CBB2-0C358E4F9B6F}"/>
              </a:ext>
            </a:extLst>
          </p:cNvPr>
          <p:cNvSpPr txBox="1"/>
          <p:nvPr/>
        </p:nvSpPr>
        <p:spPr>
          <a:xfrm>
            <a:off x="775855" y="5809190"/>
            <a:ext cx="103077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sz="1300" dirty="0" err="1">
                <a:solidFill>
                  <a:srgbClr val="000000"/>
                </a:solidFill>
              </a:rPr>
              <a:t>Paessler</a:t>
            </a:r>
            <a:r>
              <a:rPr lang="en-GB" sz="1300" dirty="0">
                <a:solidFill>
                  <a:srgbClr val="000000"/>
                </a:solidFill>
              </a:rPr>
              <a:t>, S. and Walker, D.H., 2013. Pathogenesis of the viral </a:t>
            </a:r>
            <a:r>
              <a:rPr lang="en-GB" sz="1300" dirty="0" err="1">
                <a:solidFill>
                  <a:srgbClr val="000000"/>
                </a:solidFill>
              </a:rPr>
              <a:t>hemorrhagic</a:t>
            </a:r>
            <a:r>
              <a:rPr lang="en-GB" sz="1300" dirty="0">
                <a:solidFill>
                  <a:srgbClr val="000000"/>
                </a:solidFill>
              </a:rPr>
              <a:t> fevers. </a:t>
            </a:r>
            <a:r>
              <a:rPr lang="en-GB" sz="1300" i="1" dirty="0">
                <a:solidFill>
                  <a:srgbClr val="000000"/>
                </a:solidFill>
              </a:rPr>
              <a:t>Annual Review of Pathology: Mechanisms of Disease</a:t>
            </a:r>
            <a:r>
              <a:rPr lang="en-GB" sz="1300" dirty="0">
                <a:solidFill>
                  <a:srgbClr val="000000"/>
                </a:solidFill>
              </a:rPr>
              <a:t>, 8, pp.411–440. https://</a:t>
            </a:r>
            <a:r>
              <a:rPr lang="en-GB" sz="1300" dirty="0" err="1">
                <a:solidFill>
                  <a:srgbClr val="000000"/>
                </a:solidFill>
              </a:rPr>
              <a:t>doi.org</a:t>
            </a:r>
            <a:r>
              <a:rPr lang="en-GB" sz="1300" dirty="0">
                <a:solidFill>
                  <a:srgbClr val="000000"/>
                </a:solidFill>
              </a:rPr>
              <a:t>/10.1146/annurev-pathol-020712-164041.</a:t>
            </a:r>
            <a:endParaRPr lang="en-TZ" sz="1300" dirty="0">
              <a:solidFill>
                <a:srgbClr val="00000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ACC351-BEE7-54A6-F5B2-2FF967B29EAC}"/>
              </a:ext>
            </a:extLst>
          </p:cNvPr>
          <p:cNvSpPr txBox="1">
            <a:spLocks/>
          </p:cNvSpPr>
          <p:nvPr/>
        </p:nvSpPr>
        <p:spPr bwMode="auto">
          <a:xfrm>
            <a:off x="513519" y="5696819"/>
            <a:ext cx="11068880" cy="645190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DAC840C-8C57-B115-0A2C-25C5D08F172E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43210" y="3361101"/>
            <a:ext cx="8943648" cy="2065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209461"/>
      </p:ext>
    </p:extLst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EB17-B6E9-0689-52DD-7FE284C9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EPIDEMIOLOGY</a:t>
            </a:r>
            <a:endParaRPr lang="en-TZ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45BD2-CF10-C975-18A0-645B089D22A7}"/>
              </a:ext>
            </a:extLst>
          </p:cNvPr>
          <p:cNvSpPr txBox="1"/>
          <p:nvPr/>
        </p:nvSpPr>
        <p:spPr>
          <a:xfrm>
            <a:off x="632604" y="5183014"/>
            <a:ext cx="5670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Fig. Geographic distribution of haemorrhagic fever viruses</a:t>
            </a:r>
            <a:endParaRPr lang="en-GB" sz="16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8EAF8-344E-E562-6305-61E6523222A7}"/>
              </a:ext>
            </a:extLst>
          </p:cNvPr>
          <p:cNvSpPr txBox="1"/>
          <p:nvPr/>
        </p:nvSpPr>
        <p:spPr>
          <a:xfrm>
            <a:off x="6504317" y="1140676"/>
            <a:ext cx="505507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000000"/>
                </a:solidFill>
              </a:rPr>
              <a:t>Filoviruses (Ebola, Marburg):</a:t>
            </a:r>
            <a:r>
              <a:rPr lang="en-GB" sz="2200" dirty="0">
                <a:solidFill>
                  <a:srgbClr val="000000"/>
                </a:solidFill>
              </a:rPr>
              <a:t> SSA; sporadic zoonotic outbreaks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000000"/>
                </a:solidFill>
              </a:rPr>
              <a:t>Arenaviruses: </a:t>
            </a:r>
            <a:r>
              <a:rPr lang="en-GB" sz="2200" dirty="0">
                <a:solidFill>
                  <a:srgbClr val="000000"/>
                </a:solidFill>
              </a:rPr>
              <a:t>Lassa → W. Africa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000000"/>
                </a:solidFill>
              </a:rPr>
              <a:t>Flaviviruses:</a:t>
            </a:r>
            <a:r>
              <a:rPr lang="en-GB" sz="2200" dirty="0">
                <a:solidFill>
                  <a:srgbClr val="000000"/>
                </a:solidFill>
              </a:rPr>
              <a:t>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0000"/>
                </a:solidFill>
              </a:rPr>
              <a:t>Dengue → global tropics/subtropics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0000"/>
                </a:solidFill>
              </a:rPr>
              <a:t>Yellow fever → tropical Africa &amp; South America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000000"/>
                </a:solidFill>
              </a:rPr>
              <a:t>Bunyavirales: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0000"/>
                </a:solidFill>
              </a:rPr>
              <a:t>CCHF → Africa, Middle East, SE Europe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0000"/>
                </a:solidFill>
              </a:rPr>
              <a:t>RVF → Africa &amp; Arabian Peninsula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A66E3-901F-69C7-4C06-1A83639B8FD6}"/>
              </a:ext>
            </a:extLst>
          </p:cNvPr>
          <p:cNvSpPr txBox="1"/>
          <p:nvPr/>
        </p:nvSpPr>
        <p:spPr>
          <a:xfrm>
            <a:off x="775855" y="5809190"/>
            <a:ext cx="10307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sz="1400" dirty="0">
                <a:solidFill>
                  <a:srgbClr val="000000"/>
                </a:solidFill>
              </a:rPr>
              <a:t>Perkins, M.V. and </a:t>
            </a:r>
            <a:r>
              <a:rPr lang="en-GB" sz="1400" dirty="0" err="1">
                <a:solidFill>
                  <a:srgbClr val="000000"/>
                </a:solidFill>
              </a:rPr>
              <a:t>Mackman</a:t>
            </a:r>
            <a:r>
              <a:rPr lang="en-GB" sz="1400" dirty="0">
                <a:solidFill>
                  <a:srgbClr val="000000"/>
                </a:solidFill>
              </a:rPr>
              <a:t>, N., 2026. Potential mechanisms underlying bleeding during infection with </a:t>
            </a:r>
            <a:r>
              <a:rPr lang="en-GB" sz="1400" dirty="0" err="1">
                <a:solidFill>
                  <a:srgbClr val="000000"/>
                </a:solidFill>
              </a:rPr>
              <a:t>hemorrhagic</a:t>
            </a:r>
            <a:r>
              <a:rPr lang="en-GB" sz="1400" dirty="0">
                <a:solidFill>
                  <a:srgbClr val="000000"/>
                </a:solidFill>
              </a:rPr>
              <a:t> fever viruses. Arteriosclerosis, Thrombosis, and Vascular Biology, 46(2), e323625. https://</a:t>
            </a:r>
            <a:r>
              <a:rPr lang="en-GB" sz="1400" dirty="0" err="1">
                <a:solidFill>
                  <a:srgbClr val="000000"/>
                </a:solidFill>
              </a:rPr>
              <a:t>doi.org</a:t>
            </a:r>
            <a:r>
              <a:rPr lang="en-GB" sz="1400" dirty="0">
                <a:solidFill>
                  <a:srgbClr val="000000"/>
                </a:solidFill>
              </a:rPr>
              <a:t>/10.1161/ATVBAHA.125.323625.</a:t>
            </a:r>
            <a:endParaRPr lang="en-TZ" sz="1400" dirty="0">
              <a:solidFill>
                <a:srgbClr val="0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1DF0AB-791D-C5AE-8A3C-9B1129684CB8}"/>
              </a:ext>
            </a:extLst>
          </p:cNvPr>
          <p:cNvSpPr txBox="1">
            <a:spLocks/>
          </p:cNvSpPr>
          <p:nvPr/>
        </p:nvSpPr>
        <p:spPr bwMode="auto">
          <a:xfrm>
            <a:off x="609600" y="5682305"/>
            <a:ext cx="10972800" cy="712786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A3F71-086D-42A1-BD54-2DDCB1D9F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4839"/>
            <a:ext cx="10972800" cy="44164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2AABBC8E-EC64-B472-8EE1-1DCE34EAED8E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3"/>
          <a:srcRect r="20032"/>
          <a:stretch/>
        </p:blipFill>
        <p:spPr bwMode="auto">
          <a:xfrm>
            <a:off x="733245" y="1349829"/>
            <a:ext cx="5647427" cy="3822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2382863"/>
      </p:ext>
    </p:ext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4921-3D2D-796F-82D5-A283EAB8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B52F1-FA48-CB05-31DB-F9E86ADFC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8523" y="1349829"/>
            <a:ext cx="8223877" cy="4128701"/>
          </a:xfrm>
        </p:spPr>
        <p:txBody>
          <a:bodyPr/>
          <a:lstStyle/>
          <a:p>
            <a:pPr>
              <a:lnSpc>
                <a:spcPts val="3920"/>
              </a:lnSpc>
            </a:pPr>
            <a:r>
              <a:rPr lang="en-GB" sz="2600" dirty="0"/>
              <a:t>Tanzania reported Marburg outbreaks in 2023 and 2025 in </a:t>
            </a:r>
            <a:r>
              <a:rPr lang="en-GB" sz="2600" dirty="0" err="1"/>
              <a:t>Kagera</a:t>
            </a:r>
            <a:r>
              <a:rPr lang="en-GB" sz="2600" dirty="0"/>
              <a:t> region</a:t>
            </a:r>
          </a:p>
          <a:p>
            <a:pPr>
              <a:lnSpc>
                <a:spcPts val="3920"/>
              </a:lnSpc>
            </a:pPr>
            <a:r>
              <a:rPr lang="en-GB" sz="2600" dirty="0"/>
              <a:t>Across both, 174 suspected cases were investigated</a:t>
            </a:r>
          </a:p>
          <a:p>
            <a:pPr>
              <a:lnSpc>
                <a:spcPts val="3920"/>
              </a:lnSpc>
            </a:pPr>
            <a:r>
              <a:rPr lang="en-GB" sz="2600" dirty="0"/>
              <a:t>Only 10 were confirmed infections but six deaths; case fatality rate: 66.7%</a:t>
            </a:r>
          </a:p>
          <a:p>
            <a:pPr>
              <a:lnSpc>
                <a:spcPts val="3920"/>
              </a:lnSpc>
            </a:pPr>
            <a:r>
              <a:rPr lang="en-GB" sz="2600" dirty="0"/>
              <a:t>Genomic analysis showed relation to Rwanda 2024 and Uganda 2014 strains</a:t>
            </a:r>
            <a:endParaRPr lang="en-TZ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B4B6B-115F-9FB7-38FD-124CC2FD6E2C}"/>
              </a:ext>
            </a:extLst>
          </p:cNvPr>
          <p:cNvSpPr txBox="1"/>
          <p:nvPr/>
        </p:nvSpPr>
        <p:spPr>
          <a:xfrm>
            <a:off x="513520" y="5589831"/>
            <a:ext cx="106661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sz="1300" dirty="0" err="1">
                <a:solidFill>
                  <a:srgbClr val="000000"/>
                </a:solidFill>
              </a:rPr>
              <a:t>Mapunda</a:t>
            </a:r>
            <a:r>
              <a:rPr lang="en-GB" sz="1300" dirty="0">
                <a:solidFill>
                  <a:srgbClr val="000000"/>
                </a:solidFill>
              </a:rPr>
              <a:t>, L.A. et al., 2026. Genomic insights into Marburg virus strains from 2023 and 2025 outbreaks in </a:t>
            </a:r>
            <a:r>
              <a:rPr lang="en-GB" sz="1300" dirty="0" err="1">
                <a:solidFill>
                  <a:srgbClr val="000000"/>
                </a:solidFill>
              </a:rPr>
              <a:t>Kagera</a:t>
            </a:r>
            <a:r>
              <a:rPr lang="en-GB" sz="1300" dirty="0">
                <a:solidFill>
                  <a:srgbClr val="000000"/>
                </a:solidFill>
              </a:rPr>
              <a:t>, Tanzania. Emerging Infectious Diseases, 32(1), pp.55–62. https://</a:t>
            </a:r>
            <a:r>
              <a:rPr lang="en-GB" sz="1300" dirty="0" err="1">
                <a:solidFill>
                  <a:srgbClr val="000000"/>
                </a:solidFill>
              </a:rPr>
              <a:t>doi.org</a:t>
            </a:r>
            <a:r>
              <a:rPr lang="en-GB" sz="1300" dirty="0">
                <a:solidFill>
                  <a:srgbClr val="000000"/>
                </a:solidFill>
              </a:rPr>
              <a:t>/10.3201/eid3201.251314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300" dirty="0">
                <a:solidFill>
                  <a:srgbClr val="000000"/>
                </a:solidFill>
              </a:rPr>
              <a:t>Haque, H. et al., 2026. Infectious disease response in Tanzania: Enhanced strategies from the 2023 to 2025 Marburg outbreaks. Public Health Challenges, 5, e70266. https://</a:t>
            </a:r>
            <a:r>
              <a:rPr lang="en-GB" sz="1300" dirty="0" err="1">
                <a:solidFill>
                  <a:srgbClr val="000000"/>
                </a:solidFill>
              </a:rPr>
              <a:t>doi.org</a:t>
            </a:r>
            <a:r>
              <a:rPr lang="en-GB" sz="1300" dirty="0">
                <a:solidFill>
                  <a:srgbClr val="000000"/>
                </a:solidFill>
              </a:rPr>
              <a:t>/10.1002/puh2.70266. PMC13130137.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18C338-4AD1-B2C2-E970-4AC1C3709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" r="57071" b="50000"/>
          <a:stretch/>
        </p:blipFill>
        <p:spPr bwMode="auto">
          <a:xfrm>
            <a:off x="609600" y="1446098"/>
            <a:ext cx="2748923" cy="378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5C74AC5-E073-BA89-2FEC-83FD8DE4C9F3}"/>
              </a:ext>
            </a:extLst>
          </p:cNvPr>
          <p:cNvSpPr txBox="1">
            <a:spLocks/>
          </p:cNvSpPr>
          <p:nvPr/>
        </p:nvSpPr>
        <p:spPr bwMode="auto">
          <a:xfrm>
            <a:off x="513520" y="5614223"/>
            <a:ext cx="11068880" cy="969139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481341061"/>
      </p:ext>
    </p:extLst>
  </p:cSld>
  <p:clrMapOvr>
    <a:masterClrMapping/>
  </p:clrMapOvr>
  <p:transition spd="slow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A8F3-1D7E-25BB-9914-52B5E37E0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3401-77B9-356C-3A79-23E41D1C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800" dirty="0"/>
              <a:t>Study by Shao et al. (2012–2014, n=735 febrile pts) confirmed Crimean-Congo </a:t>
            </a:r>
            <a:r>
              <a:rPr lang="en-GB" sz="2800" dirty="0" err="1"/>
              <a:t>hemorrhagic</a:t>
            </a:r>
            <a:r>
              <a:rPr lang="en-GB" sz="2800" dirty="0"/>
              <a:t> fever exposure in north Tanzania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1.8%  IgG confirmed seropositivity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was associated with livestock contact (</a:t>
            </a:r>
            <a:r>
              <a:rPr lang="en-GB" sz="2400" dirty="0" err="1"/>
              <a:t>aOR</a:t>
            </a:r>
            <a:r>
              <a:rPr lang="en-GB" sz="2400" dirty="0"/>
              <a:t> 12.6, 95% CI 1.6–99.8)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Major dengue outbreaks have also been reported, e.g.,  in 2019  there were 6,795 cases confirmed cases</a:t>
            </a:r>
          </a:p>
          <a:p>
            <a:pPr lvl="1">
              <a:lnSpc>
                <a:spcPct val="150000"/>
              </a:lnSpc>
            </a:pPr>
            <a:endParaRPr lang="en-TZ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E58E5-AE48-ECB9-B827-87FB6D5BC923}"/>
              </a:ext>
            </a:extLst>
          </p:cNvPr>
          <p:cNvSpPr txBox="1"/>
          <p:nvPr/>
        </p:nvSpPr>
        <p:spPr>
          <a:xfrm>
            <a:off x="609600" y="5413811"/>
            <a:ext cx="106661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GB" sz="1300" dirty="0">
                <a:solidFill>
                  <a:srgbClr val="000000"/>
                </a:solidFill>
              </a:rPr>
              <a:t>Belau, M.H. et al., 2025. Integrated rapid risk assessment for dengue fever in settings with limited diagnostic capacity and uncertain exposure: Development of a methodological framework for Tanzania. </a:t>
            </a:r>
            <a:r>
              <a:rPr lang="en-GB" sz="1300" i="1" dirty="0" err="1">
                <a:solidFill>
                  <a:srgbClr val="000000"/>
                </a:solidFill>
              </a:rPr>
              <a:t>PLoS</a:t>
            </a:r>
            <a:r>
              <a:rPr lang="en-GB" sz="1300" i="1" dirty="0">
                <a:solidFill>
                  <a:srgbClr val="000000"/>
                </a:solidFill>
              </a:rPr>
              <a:t> Neglected Tropical Diseases</a:t>
            </a:r>
            <a:r>
              <a:rPr lang="en-GB" sz="1300" dirty="0">
                <a:solidFill>
                  <a:srgbClr val="000000"/>
                </a:solidFill>
              </a:rPr>
              <a:t>, 19(3), e0012946. https://</a:t>
            </a:r>
            <a:r>
              <a:rPr lang="en-GB" sz="1300" dirty="0" err="1">
                <a:solidFill>
                  <a:srgbClr val="000000"/>
                </a:solidFill>
              </a:rPr>
              <a:t>doi.org</a:t>
            </a:r>
            <a:r>
              <a:rPr lang="en-GB" sz="1300" dirty="0">
                <a:solidFill>
                  <a:srgbClr val="000000"/>
                </a:solidFill>
              </a:rPr>
              <a:t>/10.1371/journal.pntd.0012946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GB" sz="1300" dirty="0">
                <a:solidFill>
                  <a:srgbClr val="000000"/>
                </a:solidFill>
              </a:rPr>
              <a:t>Shao, E.R. et al., 2025. Seroprevalence and risk factors for Crimean-Congo </a:t>
            </a:r>
            <a:r>
              <a:rPr lang="en-GB" sz="1300" dirty="0" err="1">
                <a:solidFill>
                  <a:srgbClr val="000000"/>
                </a:solidFill>
              </a:rPr>
              <a:t>hemorrhagic</a:t>
            </a:r>
            <a:r>
              <a:rPr lang="en-GB" sz="1300" dirty="0">
                <a:solidFill>
                  <a:srgbClr val="000000"/>
                </a:solidFill>
              </a:rPr>
              <a:t> fever virus exposure among febrile patients in northern Tanzania. </a:t>
            </a:r>
            <a:r>
              <a:rPr lang="en-GB" sz="1300" i="1" dirty="0">
                <a:solidFill>
                  <a:srgbClr val="000000"/>
                </a:solidFill>
              </a:rPr>
              <a:t>Tropical Medicine &amp; International Health</a:t>
            </a:r>
            <a:r>
              <a:rPr lang="en-GB" sz="1300" dirty="0">
                <a:solidFill>
                  <a:srgbClr val="000000"/>
                </a:solidFill>
              </a:rPr>
              <a:t>, 30(3), pp.193–200.</a:t>
            </a:r>
            <a:endParaRPr lang="en-TZ" sz="1300" dirty="0">
              <a:solidFill>
                <a:srgbClr val="0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8706E6-5A9E-6208-0E1C-A8E53C0E6DFD}"/>
              </a:ext>
            </a:extLst>
          </p:cNvPr>
          <p:cNvSpPr txBox="1">
            <a:spLocks/>
          </p:cNvSpPr>
          <p:nvPr/>
        </p:nvSpPr>
        <p:spPr bwMode="auto">
          <a:xfrm>
            <a:off x="609600" y="5413811"/>
            <a:ext cx="10972800" cy="1030078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591571082"/>
      </p:ext>
    </p:extLst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71F5-7DDE-78E0-6B7B-16B1975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CLINICAL PROGRESSION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C596C-68E0-4225-ECAF-13ABD046BC11}"/>
              </a:ext>
            </a:extLst>
          </p:cNvPr>
          <p:cNvSpPr txBox="1"/>
          <p:nvPr/>
        </p:nvSpPr>
        <p:spPr>
          <a:xfrm>
            <a:off x="609600" y="5844698"/>
            <a:ext cx="107038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000000"/>
                </a:solidFill>
              </a:rPr>
              <a:t>Slobodan </a:t>
            </a:r>
            <a:r>
              <a:rPr lang="en-GB" sz="1400" dirty="0" err="1">
                <a:solidFill>
                  <a:srgbClr val="000000"/>
                </a:solidFill>
              </a:rPr>
              <a:t>Paessler</a:t>
            </a:r>
            <a:r>
              <a:rPr lang="en-GB" sz="1400" dirty="0">
                <a:solidFill>
                  <a:srgbClr val="000000"/>
                </a:solidFill>
              </a:rPr>
              <a:t>, David H. Walker. </a:t>
            </a:r>
            <a:r>
              <a:rPr lang="en-GB" sz="1400" b="1" dirty="0">
                <a:solidFill>
                  <a:srgbClr val="000000"/>
                </a:solidFill>
              </a:rPr>
              <a:t>Pathogenesis of the viral </a:t>
            </a:r>
            <a:r>
              <a:rPr lang="en-GB" sz="1400" b="1" dirty="0" err="1">
                <a:solidFill>
                  <a:srgbClr val="000000"/>
                </a:solidFill>
              </a:rPr>
              <a:t>hemorrhagic</a:t>
            </a:r>
            <a:r>
              <a:rPr lang="en-GB" sz="1400" b="1" dirty="0">
                <a:solidFill>
                  <a:srgbClr val="000000"/>
                </a:solidFill>
              </a:rPr>
              <a:t> fevers.</a:t>
            </a:r>
            <a:r>
              <a:rPr lang="en-GB" sz="1400" dirty="0">
                <a:solidFill>
                  <a:srgbClr val="000000"/>
                </a:solidFill>
              </a:rPr>
              <a:t> </a:t>
            </a:r>
            <a:r>
              <a:rPr lang="en-GB" sz="1400" i="1" dirty="0">
                <a:solidFill>
                  <a:srgbClr val="000000"/>
                </a:solidFill>
              </a:rPr>
              <a:t>Annual Review of Pathology: Mechanisms of Disease.</a:t>
            </a:r>
            <a:r>
              <a:rPr lang="en-GB" sz="1400" dirty="0">
                <a:solidFill>
                  <a:srgbClr val="000000"/>
                </a:solidFill>
              </a:rPr>
              <a:t> 2013;8:411–440. doi:10.1146/annurev-pathol-020712-164041</a:t>
            </a:r>
          </a:p>
          <a:p>
            <a:endParaRPr lang="en-TZ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3A9C-8787-1A13-261F-22AE04C50220}"/>
              </a:ext>
            </a:extLst>
          </p:cNvPr>
          <p:cNvSpPr txBox="1">
            <a:spLocks/>
          </p:cNvSpPr>
          <p:nvPr/>
        </p:nvSpPr>
        <p:spPr bwMode="auto">
          <a:xfrm>
            <a:off x="475129" y="5752646"/>
            <a:ext cx="10972800" cy="712786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C9B66-B742-E523-9708-08DC2412DD59}"/>
              </a:ext>
            </a:extLst>
          </p:cNvPr>
          <p:cNvSpPr txBox="1"/>
          <p:nvPr/>
        </p:nvSpPr>
        <p:spPr>
          <a:xfrm rot="16200000">
            <a:off x="377687" y="2186609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Z" b="1" dirty="0">
                <a:solidFill>
                  <a:srgbClr val="091E3B"/>
                </a:solidFill>
              </a:rPr>
              <a:t>incubation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56410B-4B4C-4FEA-89F6-BB1B31FD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090C093-676B-B911-F70E-0C9A5FBC363C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9600" y="1297183"/>
            <a:ext cx="10972800" cy="426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9554228"/>
      </p:ext>
    </p:extLst>
  </p:cSld>
  <p:clrMapOvr>
    <a:masterClrMapping/>
  </p:clrMapOvr>
  <p:transition spd="slow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CBF0-B43A-D51F-3311-91FC8641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HEMORRHAGIC CASCADE</a:t>
            </a:r>
            <a:endParaRPr lang="en-TZ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362DBA-5BEA-AE04-EB49-4BD387448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/>
          <a:srcRect t="19121" b="12272"/>
          <a:stretch/>
        </p:blipFill>
        <p:spPr>
          <a:xfrm>
            <a:off x="609600" y="1349248"/>
            <a:ext cx="10972800" cy="38323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F6B266-5A5B-0D5D-7CA2-58482645D8CF}"/>
              </a:ext>
            </a:extLst>
          </p:cNvPr>
          <p:cNvSpPr txBox="1"/>
          <p:nvPr/>
        </p:nvSpPr>
        <p:spPr>
          <a:xfrm>
            <a:off x="744069" y="5842100"/>
            <a:ext cx="107038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300" dirty="0">
                <a:solidFill>
                  <a:srgbClr val="000000"/>
                </a:solidFill>
              </a:rPr>
              <a:t>Megan V. Perkins, Nigel </a:t>
            </a:r>
            <a:r>
              <a:rPr lang="en-GB" sz="1300" dirty="0" err="1">
                <a:solidFill>
                  <a:srgbClr val="000000"/>
                </a:solidFill>
              </a:rPr>
              <a:t>Mackman</a:t>
            </a:r>
            <a:r>
              <a:rPr lang="en-GB" sz="1300" dirty="0">
                <a:solidFill>
                  <a:srgbClr val="000000"/>
                </a:solidFill>
              </a:rPr>
              <a:t>. Potential mechanisms underlying bleeding during infection with </a:t>
            </a:r>
            <a:r>
              <a:rPr lang="en-GB" sz="1300" dirty="0" err="1">
                <a:solidFill>
                  <a:srgbClr val="000000"/>
                </a:solidFill>
              </a:rPr>
              <a:t>hemorrhagic</a:t>
            </a:r>
            <a:r>
              <a:rPr lang="en-GB" sz="1300" dirty="0">
                <a:solidFill>
                  <a:srgbClr val="000000"/>
                </a:solidFill>
              </a:rPr>
              <a:t> fever viruses. Arteriosclerosis, Thrombosis, and Vascular Biology. 2026;46(2):e323625. doi:10.1161/ATVBAHA.125.323625</a:t>
            </a:r>
            <a:endParaRPr lang="en-TZ" sz="1300" dirty="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02A0C-D658-71B6-D9DB-3DD4564D9A5A}"/>
              </a:ext>
            </a:extLst>
          </p:cNvPr>
          <p:cNvSpPr txBox="1"/>
          <p:nvPr/>
        </p:nvSpPr>
        <p:spPr>
          <a:xfrm>
            <a:off x="-1613647" y="4984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TZ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10EC2B-246B-C1CA-0ACB-86B8E288D9F5}"/>
              </a:ext>
            </a:extLst>
          </p:cNvPr>
          <p:cNvSpPr txBox="1">
            <a:spLocks/>
          </p:cNvSpPr>
          <p:nvPr/>
        </p:nvSpPr>
        <p:spPr bwMode="auto">
          <a:xfrm>
            <a:off x="513520" y="5765849"/>
            <a:ext cx="11068880" cy="564579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AD362DBA-5BEA-AE04-EB49-4BD3874486D5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3"/>
          <a:srcRect t="19121" b="12272"/>
          <a:stretch/>
        </p:blipFill>
        <p:spPr bwMode="auto">
          <a:xfrm>
            <a:off x="609600" y="1512824"/>
            <a:ext cx="10972800" cy="3832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105243"/>
      </p:ext>
    </p:extLst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CA9C-EC4B-33C8-B12F-485598EE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DIFFERENTIAL APPROACH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BBDA93-663D-24F3-7508-BF45070AC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38" t="15832" r="1149" b="2704"/>
          <a:stretch/>
        </p:blipFill>
        <p:spPr>
          <a:xfrm>
            <a:off x="726831" y="1196748"/>
            <a:ext cx="10738338" cy="500708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50093878"/>
      </p:ext>
    </p:extLst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65F0-2F60-5A93-414B-39B7E38C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DIAGNOSTIC MODALITIES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F1E4C-2E01-0E75-A1B2-95B460E36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860"/>
              </a:lnSpc>
            </a:pPr>
            <a:r>
              <a:rPr lang="en-GB" sz="2800" dirty="0"/>
              <a:t>Culture requires BSL-3/4 RT-PCR</a:t>
            </a:r>
          </a:p>
          <a:p>
            <a:pPr>
              <a:lnSpc>
                <a:spcPts val="3860"/>
              </a:lnSpc>
            </a:pPr>
            <a:r>
              <a:rPr lang="en-GB" sz="2800" dirty="0"/>
              <a:t>RT-PCR  is  gold standard first line test in acute/</a:t>
            </a:r>
            <a:r>
              <a:rPr lang="en-GB" sz="2800" dirty="0" err="1"/>
              <a:t>viremic</a:t>
            </a:r>
            <a:r>
              <a:rPr lang="en-GB" sz="2800" dirty="0"/>
              <a:t> phase</a:t>
            </a:r>
          </a:p>
          <a:p>
            <a:pPr lvl="1">
              <a:lnSpc>
                <a:spcPts val="3860"/>
              </a:lnSpc>
            </a:pPr>
            <a:r>
              <a:rPr lang="en-GB" sz="2400" dirty="0"/>
              <a:t>On inactivated samples can be performed at BSL-2, broadening access</a:t>
            </a:r>
          </a:p>
          <a:p>
            <a:pPr>
              <a:lnSpc>
                <a:spcPts val="3860"/>
              </a:lnSpc>
            </a:pPr>
            <a:r>
              <a:rPr lang="en-GB" sz="2800" dirty="0"/>
              <a:t>Serology is reserved for later illness or convalescent confirmation</a:t>
            </a:r>
          </a:p>
          <a:p>
            <a:pPr lvl="1">
              <a:lnSpc>
                <a:spcPts val="3860"/>
              </a:lnSpc>
            </a:pPr>
            <a:r>
              <a:rPr lang="en-GB" sz="2400" dirty="0"/>
              <a:t> Negative antibody during second week does not exclude diagnosis </a:t>
            </a:r>
          </a:p>
          <a:p>
            <a:pPr>
              <a:lnSpc>
                <a:spcPts val="3860"/>
              </a:lnSpc>
            </a:pPr>
            <a:r>
              <a:rPr lang="en-GB" sz="2800" dirty="0"/>
              <a:t>Multiplex RT-PCR: can simultaneously detect EBOV, MARV, LASV, CCHFV, RVFV, DENV, and YFV</a:t>
            </a:r>
          </a:p>
          <a:p>
            <a:pPr>
              <a:lnSpc>
                <a:spcPts val="3860"/>
              </a:lnSpc>
            </a:pPr>
            <a:r>
              <a:rPr lang="en-GB" sz="2800" dirty="0"/>
              <a:t>Plasma/blood if alive or oropharyngeal swabs if dead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D9C723-D148-2622-2BBF-CD7003D4388A}"/>
              </a:ext>
            </a:extLst>
          </p:cNvPr>
          <p:cNvSpPr txBox="1">
            <a:spLocks/>
          </p:cNvSpPr>
          <p:nvPr/>
        </p:nvSpPr>
        <p:spPr bwMode="auto">
          <a:xfrm>
            <a:off x="513520" y="5870446"/>
            <a:ext cx="11068880" cy="564579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20328C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T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17BC3-4CB0-D32D-4B07-3946171F2D59}"/>
              </a:ext>
            </a:extLst>
          </p:cNvPr>
          <p:cNvSpPr txBox="1"/>
          <p:nvPr/>
        </p:nvSpPr>
        <p:spPr>
          <a:xfrm>
            <a:off x="744070" y="5942582"/>
            <a:ext cx="107038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300" dirty="0">
                <a:solidFill>
                  <a:srgbClr val="000000"/>
                </a:solidFill>
              </a:rPr>
              <a:t>Megan V. Perkins, Nigel </a:t>
            </a:r>
            <a:r>
              <a:rPr lang="en-GB" sz="1300" dirty="0" err="1">
                <a:solidFill>
                  <a:srgbClr val="000000"/>
                </a:solidFill>
              </a:rPr>
              <a:t>Mackman</a:t>
            </a:r>
            <a:r>
              <a:rPr lang="en-GB" sz="1300" dirty="0">
                <a:solidFill>
                  <a:srgbClr val="000000"/>
                </a:solidFill>
              </a:rPr>
              <a:t>. Potential mechanisms underlying bleeding during infection with </a:t>
            </a:r>
            <a:r>
              <a:rPr lang="en-GB" sz="1300" dirty="0" err="1">
                <a:solidFill>
                  <a:srgbClr val="000000"/>
                </a:solidFill>
              </a:rPr>
              <a:t>hemorrhagic</a:t>
            </a:r>
            <a:r>
              <a:rPr lang="en-GB" sz="1300" dirty="0">
                <a:solidFill>
                  <a:srgbClr val="000000"/>
                </a:solidFill>
              </a:rPr>
              <a:t> fever viruses. Arteriosclerosis, Thrombosis, and Vascular Biology. 2026;46(2):e323625. doi:10.1161/ATVBAHA.125.323625</a:t>
            </a:r>
            <a:endParaRPr lang="en-TZ" sz="13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954061"/>
      </p:ext>
    </p:extLst>
  </p:cSld>
  <p:clrMapOvr>
    <a:masterClrMapping/>
  </p:clrMapOvr>
  <p:transition spd="slow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65F0-2F60-5A93-414B-39B7E38C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DIAGNOSTIC MODALITIES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1F1C7-8E10-D0CE-0FA5-5C52139AAA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09" b="3386"/>
          <a:stretch/>
        </p:blipFill>
        <p:spPr>
          <a:xfrm>
            <a:off x="1154430" y="1024108"/>
            <a:ext cx="9883140" cy="528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10200"/>
      </p:ext>
    </p:extLst>
  </p:cSld>
  <p:clrMapOvr>
    <a:masterClrMapping/>
  </p:clrMapOvr>
  <p:transition spd="slow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1039-126A-B0AA-A8F5-03C2DB1C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..contd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5DFD4-9985-5753-4474-3687CB345D8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664200" y="1349829"/>
            <a:ext cx="6172200" cy="43114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800" dirty="0"/>
              <a:t>Dengue often misdiagnosed as malaria.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Diagnosis is mainly outbreak-driven (PCR/NS1), not routine.</a:t>
            </a:r>
          </a:p>
          <a:p>
            <a:pPr>
              <a:lnSpc>
                <a:spcPct val="150000"/>
              </a:lnSpc>
            </a:pPr>
            <a:endParaRPr lang="en-TZ" sz="2800" dirty="0"/>
          </a:p>
        </p:txBody>
      </p:sp>
      <p:pic>
        <p:nvPicPr>
          <p:cNvPr id="4" name="Picture 2" descr="Image result for interpretation of dengue serology">
            <a:extLst>
              <a:ext uri="{FF2B5EF4-FFF2-40B4-BE49-F238E27FC236}">
                <a16:creationId xmlns:a16="http://schemas.microsoft.com/office/drawing/2014/main" id="{F82FB069-1105-7B8A-D955-2B664FC8F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258"/>
          <a:stretch/>
        </p:blipFill>
        <p:spPr bwMode="auto">
          <a:xfrm>
            <a:off x="609600" y="1349829"/>
            <a:ext cx="4724400" cy="49388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9187231"/>
      </p:ext>
    </p:extLst>
  </p:cSld>
  <p:clrMapOvr>
    <a:masterClrMapping/>
  </p:clrMapOvr>
  <p:transition spd="slow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1039-126A-B0AA-A8F5-03C2DB1C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DENGUE DIAGNOSTICS</a:t>
            </a:r>
          </a:p>
        </p:txBody>
      </p:sp>
      <p:pic>
        <p:nvPicPr>
          <p:cNvPr id="6" name="Picture 4" descr="Image result for guide for interpretation of dengue serology">
            <a:extLst>
              <a:ext uri="{FF2B5EF4-FFF2-40B4-BE49-F238E27FC236}">
                <a16:creationId xmlns:a16="http://schemas.microsoft.com/office/drawing/2014/main" id="{E4B076B2-6F71-AFFC-0009-128A62C526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98853" y="1393576"/>
            <a:ext cx="7625226" cy="434662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860452-88F1-CC01-F55E-EBD0988CEC67}"/>
              </a:ext>
            </a:extLst>
          </p:cNvPr>
          <p:cNvSpPr txBox="1"/>
          <p:nvPr/>
        </p:nvSpPr>
        <p:spPr>
          <a:xfrm>
            <a:off x="8005347" y="1526742"/>
            <a:ext cx="3987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</a:rPr>
              <a:t>IgM/IgG antibody ratios is used  to distinguish primary and secondary dengue infections </a:t>
            </a:r>
          </a:p>
          <a:p>
            <a:endParaRPr lang="en-TZ" sz="2800" dirty="0">
              <a:solidFill>
                <a:srgbClr val="000000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5E88D39-074D-93E9-DED9-2F30E64EE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6250" t="36154" r="29823" b="28756"/>
          <a:stretch>
            <a:fillRect/>
          </a:stretch>
        </p:blipFill>
        <p:spPr bwMode="auto">
          <a:xfrm>
            <a:off x="8234826" y="3473272"/>
            <a:ext cx="3758321" cy="21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AEBB6B-40E8-0F18-52AD-E87F0E91604B}"/>
              </a:ext>
            </a:extLst>
          </p:cNvPr>
          <p:cNvSpPr txBox="1"/>
          <p:nvPr/>
        </p:nvSpPr>
        <p:spPr>
          <a:xfrm>
            <a:off x="609600" y="5740203"/>
            <a:ext cx="6573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antibody-dependent enhancement → cytokine storm → endothelial junction disruption → capillary leak syndrome</a:t>
            </a:r>
            <a:endParaRPr lang="en-T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821108"/>
      </p:ext>
    </p:extLst>
  </p:cSld>
  <p:clrMapOvr>
    <a:masterClrMapping/>
  </p:clrMapOvr>
  <p:transition spd="slow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971E-AC73-0B22-B6C3-CE8B3121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…contd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4294-4CB1-8376-1234-CDCF2B73D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/>
              <a:t>↓WBC &lt; 5,000/µL:</a:t>
            </a:r>
            <a:r>
              <a:rPr lang="en-GB" sz="2800" dirty="0"/>
              <a:t> bone marrow suppression by dengue virus</a:t>
            </a:r>
            <a:endParaRPr lang="en-GB" sz="2800" b="1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/>
              <a:t>↓Platelets &lt; 100,000/µL (severe &lt; 50,000/µL):</a:t>
            </a:r>
            <a:r>
              <a:rPr lang="en-GB" sz="2800" dirty="0"/>
              <a:t> immune destruction + marrow suppression + consumption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/>
              <a:t>↑</a:t>
            </a:r>
            <a:r>
              <a:rPr lang="en-GB" sz="2800" b="1" dirty="0" err="1"/>
              <a:t>Hematocrit</a:t>
            </a:r>
            <a:r>
              <a:rPr lang="en-GB" sz="2800" b="1" dirty="0"/>
              <a:t> ≥ 5-10% rise from baseline (warning sign):</a:t>
            </a:r>
            <a:r>
              <a:rPr lang="en-GB" sz="2800" dirty="0"/>
              <a:t> plasma leakage due to endothelial dysfunction </a:t>
            </a:r>
            <a:endParaRPr lang="en-GB" sz="2800" b="1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/>
              <a:t>↑AST &gt; 2× ALT (often AST &gt; 200 IU/L):</a:t>
            </a:r>
            <a:r>
              <a:rPr lang="en-GB" sz="2800" dirty="0"/>
              <a:t> muscle + hepatic injury from systemic viral inflammation</a:t>
            </a:r>
            <a:endParaRPr lang="en-TZ" sz="2800" dirty="0"/>
          </a:p>
        </p:txBody>
      </p:sp>
    </p:spTree>
    <p:extLst>
      <p:ext uri="{BB962C8B-B14F-4D97-AF65-F5344CB8AC3E}">
        <p14:creationId xmlns:p14="http://schemas.microsoft.com/office/powerpoint/2010/main" val="3121635245"/>
      </p:ext>
    </p:extLst>
  </p:cSld>
  <p:clrMapOvr>
    <a:masterClrMapping/>
  </p:clrMapOvr>
  <p:transition spd="slow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971E-AC73-0B22-B6C3-CE8B3121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…contd</a:t>
            </a:r>
          </a:p>
        </p:txBody>
      </p:sp>
      <p:pic>
        <p:nvPicPr>
          <p:cNvPr id="11266" name="Picture 2" descr="4: WHO 2009 classification">
            <a:extLst>
              <a:ext uri="{FF2B5EF4-FFF2-40B4-BE49-F238E27FC236}">
                <a16:creationId xmlns:a16="http://schemas.microsoft.com/office/drawing/2014/main" id="{85FBAF7E-B845-3E89-BB28-8509096E3C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6"/>
          <a:stretch/>
        </p:blipFill>
        <p:spPr bwMode="auto">
          <a:xfrm>
            <a:off x="323850" y="1196748"/>
            <a:ext cx="8709981" cy="514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88A6A8-B76D-A13F-35F9-2CF32A0318C0}"/>
              </a:ext>
            </a:extLst>
          </p:cNvPr>
          <p:cNvSpPr txBox="1"/>
          <p:nvPr/>
        </p:nvSpPr>
        <p:spPr>
          <a:xfrm>
            <a:off x="8185151" y="3770504"/>
            <a:ext cx="368299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TZ" b="1" dirty="0">
                <a:solidFill>
                  <a:srgbClr val="000000"/>
                </a:solidFill>
              </a:rPr>
              <a:t>WHO C</a:t>
            </a:r>
            <a:r>
              <a:rPr lang="en-US" altLang="en-TZ" b="1" dirty="0" err="1">
                <a:solidFill>
                  <a:srgbClr val="000000"/>
                </a:solidFill>
              </a:rPr>
              <a:t>lassification</a:t>
            </a:r>
            <a:r>
              <a:rPr lang="en-US" altLang="en-TZ" b="1" dirty="0">
                <a:solidFill>
                  <a:srgbClr val="000000"/>
                </a:solidFill>
              </a:rPr>
              <a:t>: 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TZ" b="1" dirty="0">
                <a:solidFill>
                  <a:srgbClr val="000000"/>
                </a:solidFill>
              </a:rPr>
              <a:t>Classic dengue fever 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TZ" b="1" dirty="0">
                <a:solidFill>
                  <a:srgbClr val="000000"/>
                </a:solidFill>
              </a:rPr>
              <a:t>Dengue Hemorrhagic fever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TZ" b="1" dirty="0">
                <a:solidFill>
                  <a:srgbClr val="000000"/>
                </a:solidFill>
              </a:rPr>
              <a:t>Dengue shock syndrome</a:t>
            </a:r>
          </a:p>
        </p:txBody>
      </p:sp>
    </p:spTree>
    <p:extLst>
      <p:ext uri="{BB962C8B-B14F-4D97-AF65-F5344CB8AC3E}">
        <p14:creationId xmlns:p14="http://schemas.microsoft.com/office/powerpoint/2010/main" val="1602687757"/>
      </p:ext>
    </p:extLst>
  </p:cSld>
  <p:clrMapOvr>
    <a:masterClrMapping/>
  </p:clrMapOvr>
  <p:transition spd="slow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C97E-6AB2-0F39-E5D3-30CAF8F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MANAGEMENT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3D1F-714B-7C28-529A-DB6C941CC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198" y="1349830"/>
            <a:ext cx="10800202" cy="55081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000" b="1" dirty="0"/>
              <a:t>Strict Infection prevention and control </a:t>
            </a:r>
          </a:p>
          <a:p>
            <a:pPr marL="1344613" indent="-285750">
              <a:lnSpc>
                <a:spcPct val="150000"/>
              </a:lnSpc>
            </a:pPr>
            <a:r>
              <a:rPr lang="en-GB" sz="2000" dirty="0"/>
              <a:t>Immediate patient isolation, full barrier precautions, PPE, and infection prevention to stop nosocomial transmission </a:t>
            </a:r>
          </a:p>
          <a:p>
            <a:pPr marL="1344613" indent="-285750">
              <a:lnSpc>
                <a:spcPct val="150000"/>
              </a:lnSpc>
            </a:pPr>
            <a:r>
              <a:rPr lang="en-GB" sz="2000" dirty="0"/>
              <a:t>Early diagnosis and public response: Rapid testing, contact tracing, surveillance, and safe burial practices </a:t>
            </a:r>
          </a:p>
          <a:p>
            <a:pPr marL="1344613" indent="-285750">
              <a:lnSpc>
                <a:spcPct val="150000"/>
              </a:lnSpc>
            </a:pPr>
            <a:r>
              <a:rPr lang="en-GB" sz="2000" dirty="0"/>
              <a:t>Identification of patients at high risk for complications </a:t>
            </a:r>
          </a:p>
          <a:p>
            <a:pPr marL="1344613" lvl="1">
              <a:lnSpc>
                <a:spcPct val="150000"/>
              </a:lnSpc>
            </a:pPr>
            <a:r>
              <a:rPr lang="en-GB" sz="2000" dirty="0"/>
              <a:t>Low SBP, AMS, Tachypnoea, Hypoxia, Haemorrhagic manifestations etc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Early optimized supportive care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Prompt management of shock, oxygenation, electrolyte correction, and organ support in high-dependency/ICU settings </a:t>
            </a:r>
          </a:p>
        </p:txBody>
      </p:sp>
    </p:spTree>
    <p:extLst>
      <p:ext uri="{BB962C8B-B14F-4D97-AF65-F5344CB8AC3E}">
        <p14:creationId xmlns:p14="http://schemas.microsoft.com/office/powerpoint/2010/main" val="4281179710"/>
      </p:ext>
    </p:extLst>
  </p:cSld>
  <p:clrMapOvr>
    <a:masterClrMapping/>
  </p:clrMapOvr>
  <p:transition spd="slow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0354-C09B-8920-4D87-37A1787D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..contd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73B1A-20D7-559B-F188-5055AF2E6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Complications of VHD include: </a:t>
            </a: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eizure </a:t>
            </a: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ncephalopathy </a:t>
            </a: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aemorrhage </a:t>
            </a:r>
          </a:p>
          <a:p>
            <a:pPr lvl="1"/>
            <a:r>
              <a:rPr lang="en-GB" sz="20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haematemesis </a:t>
            </a:r>
          </a:p>
          <a:p>
            <a:pPr lvl="1"/>
            <a:r>
              <a:rPr lang="en-GB" sz="20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haematochezia </a:t>
            </a:r>
          </a:p>
          <a:p>
            <a:pPr lvl="1"/>
            <a:r>
              <a:rPr lang="en-GB" sz="20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vaginal bleeding </a:t>
            </a:r>
          </a:p>
          <a:p>
            <a:pPr lvl="1"/>
            <a:r>
              <a:rPr lang="en-GB" sz="20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gingival bleeding</a:t>
            </a:r>
          </a:p>
          <a:p>
            <a:pPr lvl="1"/>
            <a:r>
              <a:rPr lang="en-GB" sz="20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intracerebral haemorrhage </a:t>
            </a:r>
          </a:p>
          <a:p>
            <a:pPr marL="0" indent="0">
              <a:buNone/>
            </a:pPr>
            <a:endParaRPr lang="en-GB" sz="2800" dirty="0">
              <a:solidFill>
                <a:srgbClr val="211D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cute renal failure/kidney injury </a:t>
            </a: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etabolic acidosis </a:t>
            </a: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Hypoxic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respiratory failure </a:t>
            </a:r>
          </a:p>
          <a:p>
            <a:r>
              <a:rPr lang="en-GB" sz="28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epsis and septic shock. </a:t>
            </a:r>
          </a:p>
          <a:p>
            <a:endParaRPr lang="en-TZ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962727"/>
      </p:ext>
    </p:extLst>
  </p:cSld>
  <p:clrMapOvr>
    <a:masterClrMapping/>
  </p:clrMapOvr>
  <p:transition spd="slow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C97E-6AB2-0F39-E5D3-30CAF8F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...contd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3D1F-714B-7C28-529A-DB6C941CC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48"/>
            <a:ext cx="10880993" cy="518201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800" dirty="0"/>
              <a:t>Careful fluid resuscitation to avoid worsening capillary leak (pulmonary edema &amp; third spacing)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Fluid input and output should be monitored by recording 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800" dirty="0"/>
              <a:t>Symptomatic and complication management 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Antipyretics (avoid NSAIDs), antiemetics, management of bleeding, and treatment of secondary infections</a:t>
            </a:r>
          </a:p>
        </p:txBody>
      </p:sp>
    </p:spTree>
    <p:extLst>
      <p:ext uri="{BB962C8B-B14F-4D97-AF65-F5344CB8AC3E}">
        <p14:creationId xmlns:p14="http://schemas.microsoft.com/office/powerpoint/2010/main" val="453856939"/>
      </p:ext>
    </p:extLst>
  </p:cSld>
  <p:clrMapOvr>
    <a:masterClrMapping/>
  </p:clrMapOvr>
  <p:transition spd="slow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C97E-6AB2-0F39-E5D3-30CAF8F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FLUID RESUSCITATION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3D1F-714B-7C28-529A-DB6C941C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isotonic crystalloid fluid; 0.9% saline or Ringer’s lactate.</a:t>
            </a:r>
          </a:p>
          <a:p>
            <a:pPr algn="just">
              <a:lnSpc>
                <a:spcPct val="150000"/>
              </a:lnSpc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Bolus up to 30 ml/kg or until normalization of signs of perfusion </a:t>
            </a:r>
          </a:p>
          <a:p>
            <a:pPr algn="just">
              <a:lnSpc>
                <a:spcPct val="150000"/>
              </a:lnSpc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shock persists, then add vasopressors to maintain perfusion </a:t>
            </a:r>
          </a:p>
          <a:p>
            <a:pPr lvl="1" algn="just">
              <a:lnSpc>
                <a:spcPct val="150000"/>
              </a:lnSpc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adults, noradrenaline is 1</a:t>
            </a:r>
            <a:r>
              <a:rPr lang="en-GB" sz="2400" baseline="30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line: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0.1 mcg/kg/min, max 0.75</a:t>
            </a:r>
          </a:p>
          <a:p>
            <a:pPr algn="just">
              <a:lnSpc>
                <a:spcPct val="150000"/>
              </a:lnSpc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overload develop, fluids should be stopped until signs resolve.</a:t>
            </a:r>
          </a:p>
          <a:p>
            <a:pPr algn="just">
              <a:lnSpc>
                <a:spcPct val="150000"/>
              </a:lnSpc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TZ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283498"/>
      </p:ext>
    </p:extLst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C97E-6AB2-0F39-E5D3-30CAF8F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BLOOD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3D1F-714B-7C28-529A-DB6C941C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haemorrhaging, ensure two large bore IV </a:t>
            </a:r>
            <a:r>
              <a:rPr lang="en-GB" sz="2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cannulae</a:t>
            </a: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Measure Hb, platelets and coagulation cascade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Consider PRBC transfusion if active bleeding and haemodynamic instability or Hb &lt; 7 g/dl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Fresh plasma to target INR &lt; 1.5, and platelets to target &gt; 50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Consider IV tranexamic acid: 1gm 8hrly and  IV vitamin K 5-10mg</a:t>
            </a:r>
          </a:p>
          <a:p>
            <a:pPr>
              <a:lnSpc>
                <a:spcPct val="150000"/>
              </a:lnSpc>
            </a:pPr>
            <a:endParaRPr lang="en-TZ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52869"/>
      </p:ext>
    </p:extLst>
  </p:cSld>
  <p:clrMapOvr>
    <a:masterClrMapping/>
  </p:clrMapOvr>
  <p:transition spd="slow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C97E-6AB2-0F39-E5D3-30CAF8F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SYMPTOMS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3D1F-714B-7C28-529A-DB6C941CC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9828"/>
            <a:ext cx="10972800" cy="523353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Analgesics (</a:t>
            </a:r>
            <a:r>
              <a:rPr lang="en-GB" sz="2800" dirty="0" err="1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paracetamol and opioids) are recommended</a:t>
            </a:r>
          </a:p>
          <a:p>
            <a:pPr lvl="1" algn="just">
              <a:lnSpc>
                <a:spcPct val="150000"/>
              </a:lnSpc>
            </a:pPr>
            <a:r>
              <a:rPr lang="en-GB" sz="24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Nonsteroidal anti-inflammatory drugs (NSAIDs) should be AVOIDED given their effects on platelet function and risk of gastritis </a:t>
            </a:r>
          </a:p>
          <a:p>
            <a:pPr lvl="1" algn="just">
              <a:lnSpc>
                <a:spcPct val="150000"/>
              </a:lnSpc>
            </a:pPr>
            <a:endParaRPr lang="en-GB" sz="2400" dirty="0">
              <a:solidFill>
                <a:srgbClr val="211D1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Nausea/vomiting : Ondansetron, PPIs for gastritis</a:t>
            </a:r>
          </a:p>
          <a:p>
            <a:pPr algn="just">
              <a:lnSpc>
                <a:spcPct val="150000"/>
              </a:lnSpc>
            </a:pPr>
            <a:r>
              <a:rPr lang="en-GB" sz="28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Diarrhoea should be managed conservatively. </a:t>
            </a:r>
          </a:p>
          <a:p>
            <a:pPr lvl="1" algn="just">
              <a:lnSpc>
                <a:spcPct val="150000"/>
              </a:lnSpc>
            </a:pPr>
            <a:r>
              <a:rPr lang="en-GB" sz="24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use of anti-motility agents is not generally recommended given the potential for </a:t>
            </a:r>
            <a:r>
              <a:rPr lang="en-GB" sz="2400" dirty="0">
                <a:solidFill>
                  <a:srgbClr val="211D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paralytic </a:t>
            </a:r>
            <a:r>
              <a:rPr lang="en-GB" sz="2400" dirty="0">
                <a:solidFill>
                  <a:srgbClr val="211D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ileus. </a:t>
            </a:r>
          </a:p>
          <a:p>
            <a:pPr algn="just">
              <a:lnSpc>
                <a:spcPct val="150000"/>
              </a:lnSpc>
            </a:pPr>
            <a:endParaRPr lang="en-GB" sz="2800" dirty="0">
              <a:solidFill>
                <a:srgbClr val="211D1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GB" sz="2800" dirty="0">
              <a:solidFill>
                <a:srgbClr val="211D1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GB" sz="2800" dirty="0">
              <a:solidFill>
                <a:srgbClr val="211D1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TZ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089113"/>
      </p:ext>
    </p:extLst>
  </p:cSld>
  <p:clrMapOvr>
    <a:masterClrMapping/>
  </p:clrMapOvr>
  <p:transition spd="slow"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8099-CC16-3D14-D952-FF491F62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THERAUPETICS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204EA-BDB5-EEA0-2A57-065F515BA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Lassa fever: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No approved antiviral; ribavirin used early off-label with limited evidence of benefit</a:t>
            </a:r>
          </a:p>
          <a:p>
            <a:pPr algn="just">
              <a:lnSpc>
                <a:spcPct val="15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CCHF: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No approved treatment; ribavirin sometimes used but efficacy remains uncertain</a:t>
            </a:r>
          </a:p>
          <a:p>
            <a:pPr algn="just">
              <a:lnSpc>
                <a:spcPct val="150000"/>
              </a:lnSpc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Marburg &amp; Dengue: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No approved antivirals; management is strictly supportive care per WHO guidelines</a:t>
            </a:r>
            <a:endParaRPr lang="en-TZ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949240"/>
      </p:ext>
    </p:extLst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8099-CC16-3D14-D952-FF491F62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THERAUPETICS</a:t>
            </a:r>
            <a:r>
              <a:rPr lang="en-GB" b="1" dirty="0"/>
              <a:t> FOR EVD</a:t>
            </a:r>
            <a:endParaRPr lang="en-TZ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204EA-BDB5-EEA0-2A57-065F515BA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03" y="2631121"/>
            <a:ext cx="9239480" cy="395609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Ebola virus disease: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Only VHF with approved targeted therapy</a:t>
            </a:r>
          </a:p>
          <a:p>
            <a:pPr algn="just">
              <a:lnSpc>
                <a:spcPct val="150000"/>
              </a:lnSpc>
            </a:pPr>
            <a:r>
              <a:rPr lang="en-GB" sz="2400" dirty="0"/>
              <a:t>WHO recommend either mAb114 (</a:t>
            </a:r>
            <a:r>
              <a:rPr lang="en-GB" sz="2400" dirty="0" err="1"/>
              <a:t>Ebanga</a:t>
            </a:r>
            <a:r>
              <a:rPr lang="en-GB" sz="2400" dirty="0"/>
              <a:t>)  or REGN-EB3(</a:t>
            </a:r>
            <a:r>
              <a:rPr lang="en-GB" sz="2400" dirty="0" err="1"/>
              <a:t>Enzameb</a:t>
            </a:r>
            <a:r>
              <a:rPr lang="en-GB" sz="2400" dirty="0"/>
              <a:t>) for: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RT-PCR confirmed EVD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Neonates of unconfirmed EVD status, 7 days or younger, born to mothers with confirmed EVD</a:t>
            </a:r>
            <a:endParaRPr lang="en-TZ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A987A-2AD1-4C34-A659-3F94BC3FE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66" y="1257953"/>
            <a:ext cx="7888077" cy="13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58035"/>
      </p:ext>
    </p:extLst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8099-CC16-3D14-D952-FF491F62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PALM STUDY</a:t>
            </a:r>
            <a:endParaRPr lang="en-TZ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204EA-BDB5-EEA0-2A57-065F515BA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9829"/>
            <a:ext cx="10972800" cy="50950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700" b="1" dirty="0"/>
              <a:t>Design:</a:t>
            </a:r>
            <a:r>
              <a:rPr lang="en-GB" sz="2700" dirty="0"/>
              <a:t> RCT, 2018–2020 Ebola outbreak in DRC</a:t>
            </a:r>
          </a:p>
          <a:p>
            <a:pPr>
              <a:lnSpc>
                <a:spcPct val="150000"/>
              </a:lnSpc>
            </a:pPr>
            <a:r>
              <a:rPr lang="en-GB" sz="2700" b="1" dirty="0"/>
              <a:t>Interventions:</a:t>
            </a:r>
            <a:r>
              <a:rPr lang="en-GB" sz="2700" dirty="0"/>
              <a:t> standard care vs 3 </a:t>
            </a:r>
            <a:r>
              <a:rPr lang="en-GB" sz="2700" dirty="0" err="1"/>
              <a:t>mAbs</a:t>
            </a:r>
            <a:r>
              <a:rPr lang="en-GB" sz="2700" dirty="0"/>
              <a:t> (including </a:t>
            </a:r>
            <a:r>
              <a:rPr lang="en-GB" sz="2700" b="1" dirty="0"/>
              <a:t>REGN-EB3</a:t>
            </a:r>
            <a:r>
              <a:rPr lang="en-GB" sz="2700" dirty="0"/>
              <a:t> &amp; </a:t>
            </a:r>
            <a:r>
              <a:rPr lang="en-GB" sz="2700" b="1" dirty="0"/>
              <a:t>mAb114 , </a:t>
            </a:r>
            <a:r>
              <a:rPr lang="en-GB" sz="2700" dirty="0"/>
              <a:t>) and antivirals. Early trial termination due to benefit.</a:t>
            </a:r>
          </a:p>
          <a:p>
            <a:pPr>
              <a:lnSpc>
                <a:spcPct val="150000"/>
              </a:lnSpc>
            </a:pPr>
            <a:r>
              <a:rPr lang="en-GB" sz="2700" b="1" dirty="0"/>
              <a:t>Outcomes:</a:t>
            </a:r>
            <a:r>
              <a:rPr lang="en-GB" sz="27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Mortality reduced ~</a:t>
            </a:r>
            <a:r>
              <a:rPr lang="en-GB" sz="2400" b="1" dirty="0"/>
              <a:t>34% (REGN-EB3); p = 0.002</a:t>
            </a:r>
            <a:r>
              <a:rPr lang="en-GB" sz="2400" dirty="0"/>
              <a:t> and ~</a:t>
            </a:r>
            <a:r>
              <a:rPr lang="en-GB" sz="2400" b="1" dirty="0"/>
              <a:t>35% (mAb114); p = 0.035</a:t>
            </a:r>
            <a:r>
              <a:rPr lang="en-GB" sz="2400" dirty="0"/>
              <a:t> vs higher mortality in control (&gt;50%)</a:t>
            </a:r>
          </a:p>
          <a:p>
            <a:pPr>
              <a:lnSpc>
                <a:spcPct val="150000"/>
              </a:lnSpc>
            </a:pPr>
            <a:r>
              <a:rPr lang="en-GB" sz="2700" b="1" dirty="0"/>
              <a:t>Impact:</a:t>
            </a:r>
            <a:r>
              <a:rPr lang="en-GB" sz="2700" dirty="0"/>
              <a:t> Established </a:t>
            </a:r>
            <a:r>
              <a:rPr lang="en-GB" sz="2700" b="1" dirty="0"/>
              <a:t>monoclonal antibody therapy as standard of care for Ebola virus disease</a:t>
            </a:r>
            <a:endParaRPr lang="en-TZ" sz="2700" dirty="0"/>
          </a:p>
        </p:txBody>
      </p:sp>
    </p:spTree>
    <p:extLst>
      <p:ext uri="{BB962C8B-B14F-4D97-AF65-F5344CB8AC3E}">
        <p14:creationId xmlns:p14="http://schemas.microsoft.com/office/powerpoint/2010/main" val="2795081693"/>
      </p:ext>
    </p:extLst>
  </p:cSld>
  <p:clrMapOvr>
    <a:masterClrMapping/>
  </p:clrMapOvr>
  <p:transition spd="slow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1628-6B3B-4416-9BFD-BAF7CCD4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Remdesivir  Use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EE2D-4222-4087-A65F-3DD31A666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Treatment with remdesivir for patients with RT-PCR confirmed EVD</a:t>
            </a:r>
            <a:r>
              <a:rPr lang="en-GB" sz="2800" i="1" dirty="0"/>
              <a:t> is not recommended</a:t>
            </a:r>
          </a:p>
          <a:p>
            <a:pPr marL="0" indent="0">
              <a:buNone/>
            </a:pPr>
            <a:r>
              <a:rPr lang="en-GB" sz="2800" i="1" dirty="0"/>
              <a:t> </a:t>
            </a:r>
          </a:p>
          <a:p>
            <a:r>
              <a:rPr lang="en-GB" sz="2800" dirty="0"/>
              <a:t>For EVD caused by Ebola virus (EBOV; Zaire ebolavirus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0998191"/>
      </p:ext>
    </p:extLst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07C6-2970-176F-9EF8-D6A853ED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</a:t>
            </a:r>
            <a:r>
              <a:rPr lang="en-TZ" b="1" dirty="0"/>
              <a:t>VACCINES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CDE0-4751-154F-8E06-83BA8B6D4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9828"/>
            <a:ext cx="10972800" cy="5233533"/>
          </a:xfrm>
        </p:spPr>
        <p:txBody>
          <a:bodyPr/>
          <a:lstStyle/>
          <a:p>
            <a:pPr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Ervebo (rVSV-ZEBOV Ebola vaccine)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Single-dose, live recombinant virus vector expressing Ebola GP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Protects against EVD caused by Zaire Ebolavirus Species 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High efficacy in ring vaccination strategy; rapid onset of protection (~10 d), duration of protection is unknown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Used for outbreak containment (contacts-of-contacts, frontline workers)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individuals 12 months and older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Deployed in West Africa (2014–2015) and DRC (2018–2020) </a:t>
            </a:r>
          </a:p>
        </p:txBody>
      </p:sp>
    </p:spTree>
    <p:extLst>
      <p:ext uri="{BB962C8B-B14F-4D97-AF65-F5344CB8AC3E}">
        <p14:creationId xmlns:p14="http://schemas.microsoft.com/office/powerpoint/2010/main" val="3246569728"/>
      </p:ext>
    </p:extLst>
  </p:cSld>
  <p:clrMapOvr>
    <a:masterClrMapping/>
  </p:clrMapOvr>
  <p:transition spd="slow"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07C6-2970-176F-9EF8-D6A853ED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VACCINES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CDE0-4751-154F-8E06-83BA8B6D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Zabdeno (Ad26.ZEBOV) + </a:t>
            </a:r>
            <a:r>
              <a:rPr lang="en-GB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Mvabea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 (MVA-BN-Filo):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Two-dose heterologous vaccine(Ad26 prime + MVA boost)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Induces broader filovirus immunity 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Longer immunization schedule (0 and ~8 weeks)</a:t>
            </a:r>
          </a:p>
          <a:p>
            <a:pPr lvl="1">
              <a:lnSpc>
                <a:spcPts val="386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Used for preventive vaccination in at-risk populations rather than outbreak control </a:t>
            </a:r>
          </a:p>
        </p:txBody>
      </p:sp>
    </p:spTree>
    <p:extLst>
      <p:ext uri="{BB962C8B-B14F-4D97-AF65-F5344CB8AC3E}">
        <p14:creationId xmlns:p14="http://schemas.microsoft.com/office/powerpoint/2010/main" val="1213872749"/>
      </p:ext>
    </p:extLst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22FF-2FCD-41A9-9193-31CBFED6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Role of vaccines in current Ebola Outbreak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CA83-4DBB-4B4D-9541-040D4B0F1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The current approved vaccines have no impact</a:t>
            </a:r>
          </a:p>
          <a:p>
            <a:r>
              <a:rPr lang="en-GB" sz="2400" dirty="0"/>
              <a:t>The available vaccines are effective against EVD (by Zaire Ebolavirus) </a:t>
            </a:r>
          </a:p>
          <a:p>
            <a:endParaRPr lang="en-GB" sz="2400" dirty="0"/>
          </a:p>
          <a:p>
            <a:r>
              <a:rPr lang="en-GB" sz="2400" dirty="0"/>
              <a:t>The current outbreak is due to Bundibugyo virus</a:t>
            </a:r>
          </a:p>
          <a:p>
            <a:r>
              <a:rPr lang="en-US" sz="2400" dirty="0"/>
              <a:t>No licensed vaccine for Bundibugyo Ebola strain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Trials under way to test a vaccine that can be efficacious against other Ebola viruses species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3779441"/>
      </p:ext>
    </p:extLst>
  </p:cSld>
  <p:clrMapOvr>
    <a:masterClrMapping/>
  </p:clrMapOvr>
  <p:transition spd="slow">
    <p:wedg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9B58-3B9F-5F0B-496F-3504931A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BD10-3844-2951-91E5-38A7745DB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09179"/>
            <a:ext cx="10972800" cy="4311423"/>
          </a:xfrm>
        </p:spPr>
        <p:txBody>
          <a:bodyPr/>
          <a:lstStyle/>
          <a:p>
            <a:pPr algn="just">
              <a:buFont typeface="+mj-lt"/>
              <a:buAutoNum type="arabicPeriod"/>
            </a:pPr>
            <a:r>
              <a:rPr lang="en-GB" sz="1400" dirty="0" err="1"/>
              <a:t>Paessler</a:t>
            </a:r>
            <a:r>
              <a:rPr lang="en-GB" sz="1400" dirty="0"/>
              <a:t>, S., &amp; Walker, D. H. (2013). Pathogenesis of the viral </a:t>
            </a:r>
            <a:r>
              <a:rPr lang="en-GB" sz="1400" dirty="0" err="1"/>
              <a:t>hemorrhagic</a:t>
            </a:r>
            <a:r>
              <a:rPr lang="en-GB" sz="1400" dirty="0"/>
              <a:t> fevers (File: 01. epi, presentation and pathogenesis - paessler2012.pdf). Annual Review of Pathology: Mechanisms of Disease, 8, 411-440.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Perkins, M. V., &amp; </a:t>
            </a:r>
            <a:r>
              <a:rPr lang="en-GB" sz="1400" dirty="0" err="1"/>
              <a:t>Mackman</a:t>
            </a:r>
            <a:r>
              <a:rPr lang="en-GB" sz="1400" dirty="0"/>
              <a:t>, N. (2023). Why do patients with viral </a:t>
            </a:r>
            <a:r>
              <a:rPr lang="en-GB" sz="1400" dirty="0" err="1"/>
              <a:t>hemorrhagic</a:t>
            </a:r>
            <a:r>
              <a:rPr lang="en-GB" sz="1400" dirty="0"/>
              <a:t> fevers bleed? (File: 02. why haemorrhage - perkins2023.pdf). Arteriosclerosis, Thrombosis, and Vascular Biology. (UNC Chapel Hill)</a:t>
            </a:r>
          </a:p>
          <a:p>
            <a:pPr algn="just">
              <a:buFont typeface="+mj-lt"/>
              <a:buAutoNum type="arabicPeriod"/>
            </a:pPr>
            <a:r>
              <a:rPr lang="en-GB" sz="1400" dirty="0" err="1"/>
              <a:t>Rasca</a:t>
            </a:r>
            <a:r>
              <a:rPr lang="en-GB" sz="1400" dirty="0"/>
              <a:t>, L. D., Kraft, C. S., Olinger, G. G., &amp; Hensley, L. E. (2016). Viral </a:t>
            </a:r>
            <a:r>
              <a:rPr lang="en-GB" sz="1400" dirty="0" err="1"/>
              <a:t>hemorrhagic</a:t>
            </a:r>
            <a:r>
              <a:rPr lang="en-GB" sz="1400" dirty="0"/>
              <a:t> fever diagnostics (File: 03. diagnostics tests - racsa2016.pdf). Clinical Infectious Diseases.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Rigby, I., </a:t>
            </a:r>
            <a:r>
              <a:rPr lang="en-GB" sz="1400" dirty="0" err="1"/>
              <a:t>Michelen</a:t>
            </a:r>
            <a:r>
              <a:rPr lang="en-GB" sz="1400" dirty="0"/>
              <a:t>, M., </a:t>
            </a:r>
            <a:r>
              <a:rPr lang="en-GB" sz="1400" dirty="0" err="1"/>
              <a:t>Dagens</a:t>
            </a:r>
            <a:r>
              <a:rPr lang="en-GB" sz="1400" dirty="0"/>
              <a:t>, A., et al. (2023). Standard of care for viral haemorrhagic fevers (VHFs): a systematic review of clinical management guidelines for high-priority VHFs (File: 04. management approach - rigby2023.pdf). The Lancet Infectious Diseases, 23(7), e240-e252.</a:t>
            </a:r>
          </a:p>
          <a:p>
            <a:pPr algn="just">
              <a:buFont typeface="+mj-lt"/>
              <a:buAutoNum type="arabicPeriod"/>
            </a:pPr>
            <a:r>
              <a:rPr lang="en-GB" sz="1400" dirty="0" err="1"/>
              <a:t>Gullu</a:t>
            </a:r>
            <a:r>
              <a:rPr lang="en-GB" sz="1400" dirty="0"/>
              <a:t>, D., </a:t>
            </a:r>
            <a:r>
              <a:rPr lang="en-GB" sz="1400" dirty="0" err="1"/>
              <a:t>Keske</a:t>
            </a:r>
            <a:r>
              <a:rPr lang="en-GB" sz="1400" dirty="0"/>
              <a:t>, S., &amp; </a:t>
            </a:r>
            <a:r>
              <a:rPr lang="en-GB" sz="1400" dirty="0" err="1"/>
              <a:t>Ergonul</a:t>
            </a:r>
            <a:r>
              <a:rPr lang="en-GB" sz="1400" dirty="0"/>
              <a:t>, O. (2025). Viral </a:t>
            </a:r>
            <a:r>
              <a:rPr lang="en-GB" sz="1400" dirty="0" err="1"/>
              <a:t>hemorrhagic</a:t>
            </a:r>
            <a:r>
              <a:rPr lang="en-GB" sz="1400" dirty="0"/>
              <a:t> fevers - therapeutic trial advances and challenges (File: 05. vhf therapeutic advances - güllü2025.pdf). Expert Review of Anti-infective Therapy.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World Health Organization. (2016). Clinical management of patients with viral haemorrhagic fever: A pocket guide for front-line health workers. Interim emergency guidance for country adaptation (File: 06. pocket book - who2013.pdf). WHO. (Note: Second edition, February 2016)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South Africa Department of Health. (2015). National guidelines for recognition &amp; management of viral haemorrhagic fevers (File: 07. </a:t>
            </a:r>
            <a:r>
              <a:rPr lang="en-GB" sz="1400" dirty="0" err="1"/>
              <a:t>rsa</a:t>
            </a:r>
            <a:r>
              <a:rPr lang="en-GB" sz="1400" dirty="0"/>
              <a:t> vhf management - moh2017.pdf). (Published 2015, document dated 2017)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World Health Organization. (2024). Diagnostic testing for Ebola and Marburg virus diseases: Interim guidance (File: content 3.pdf). WHO. (20 December 2024)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World Health Organization. (2024). Extraordinary meeting of the Strategic Advisory Group of Experts on Immunization on Ebola vaccination, May 2024: conclusions and recommendations (File: content 4.pdf). Weekly Epidemiological Record, 99(27), 355-362.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World Health Organization. (2019). Optimized supportive care for Ebola virus disease: Clinical management standard operating procedures (File: </a:t>
            </a:r>
            <a:r>
              <a:rPr lang="en-GB" sz="1400" dirty="0" err="1"/>
              <a:t>content.pdf</a:t>
            </a:r>
            <a:r>
              <a:rPr lang="en-GB" sz="1400" dirty="0"/>
              <a:t>). WHO.</a:t>
            </a:r>
          </a:p>
          <a:p>
            <a:pPr algn="just">
              <a:buFont typeface="+mj-lt"/>
              <a:buAutoNum type="arabicPeriod"/>
            </a:pPr>
            <a:r>
              <a:rPr lang="en-GB" sz="1400" dirty="0"/>
              <a:t>World Health Organization. (2022). Therapeutics for Ebola virus disease (File: who2022a.pdf). WHO. (19 August 2022</a:t>
            </a:r>
          </a:p>
        </p:txBody>
      </p:sp>
    </p:spTree>
    <p:extLst>
      <p:ext uri="{BB962C8B-B14F-4D97-AF65-F5344CB8AC3E}">
        <p14:creationId xmlns:p14="http://schemas.microsoft.com/office/powerpoint/2010/main" val="437582212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Office Theme">
  <a:themeElements>
    <a:clrScheme name="Custom 1">
      <a:dk1>
        <a:srgbClr val="32A9E5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7087</TotalTime>
  <Words>3243</Words>
  <Application>Microsoft Macintosh PowerPoint</Application>
  <PresentationFormat>Widescreen</PresentationFormat>
  <Paragraphs>299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Google Sans Text</vt:lpstr>
      <vt:lpstr>Helvetica</vt:lpstr>
      <vt:lpstr>Times New Roman</vt:lpstr>
      <vt:lpstr>Office Theme</vt:lpstr>
      <vt:lpstr>VIRAL HAEMORRHAGIC FEVERS</vt:lpstr>
      <vt:lpstr>INTRODUCTION</vt:lpstr>
      <vt:lpstr>ETIOLOGY</vt:lpstr>
      <vt:lpstr>EPIDEMIOLOGY</vt:lpstr>
      <vt:lpstr>contd.</vt:lpstr>
      <vt:lpstr>contd.</vt:lpstr>
      <vt:lpstr>CLINICAL PROGRESSION</vt:lpstr>
      <vt:lpstr>HEMORRHAGIC CASCADE</vt:lpstr>
      <vt:lpstr>DIFFERENTIAL APPROACH</vt:lpstr>
      <vt:lpstr>DIAGNOSTIC MODALITIES</vt:lpstr>
      <vt:lpstr>DIAGNOSTIC MODALITIES</vt:lpstr>
      <vt:lpstr>..contd</vt:lpstr>
      <vt:lpstr>DENGUE DIAGNOSTICS</vt:lpstr>
      <vt:lpstr>…contd</vt:lpstr>
      <vt:lpstr>…contd</vt:lpstr>
      <vt:lpstr>MANAGEMENT PRINCIPLES</vt:lpstr>
      <vt:lpstr>..contd</vt:lpstr>
      <vt:lpstr>...contd</vt:lpstr>
      <vt:lpstr>FLUID RESUSCITATION</vt:lpstr>
      <vt:lpstr>BLOOD PRODUCTS</vt:lpstr>
      <vt:lpstr>SYMPTOMS MANAGEMENT</vt:lpstr>
      <vt:lpstr>THERAUPETICS</vt:lpstr>
      <vt:lpstr>THERAUPETICS FOR EVD</vt:lpstr>
      <vt:lpstr>PALM STUDY</vt:lpstr>
      <vt:lpstr>Remdesivir  Use </vt:lpstr>
      <vt:lpstr> VACCINES</vt:lpstr>
      <vt:lpstr>VACCINES</vt:lpstr>
      <vt:lpstr>Role of vaccines in current Ebola Outbreak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Fredirick Mashili</dc:creator>
  <cp:lastModifiedBy>clinicalrythm</cp:lastModifiedBy>
  <cp:revision>595</cp:revision>
  <dcterms:created xsi:type="dcterms:W3CDTF">2017-04-05T10:53:00Z</dcterms:created>
  <dcterms:modified xsi:type="dcterms:W3CDTF">2026-07-28T13:43:32Z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5E5D257DCD8B4AF1845569F50671B1D2_13</vt:lpwstr>
  </property>
  <property fmtid="{D5CDD505-2E9C-101B-9397-08002B2CF9AE}" pid="3" name="KSOProductBuildVer">
    <vt:lpwstr>1033-12.2.0.13489</vt:lpwstr>
  </property>
</Properties>
</file>