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500" r:id="rId2"/>
    <p:sldId id="494" r:id="rId3"/>
    <p:sldId id="502" r:id="rId4"/>
    <p:sldId id="546" r:id="rId5"/>
    <p:sldId id="547" r:id="rId6"/>
    <p:sldId id="503" r:id="rId7"/>
    <p:sldId id="548" r:id="rId8"/>
    <p:sldId id="505" r:id="rId9"/>
    <p:sldId id="506" r:id="rId10"/>
    <p:sldId id="550" r:id="rId11"/>
    <p:sldId id="507" r:id="rId12"/>
    <p:sldId id="551" r:id="rId13"/>
    <p:sldId id="552" r:id="rId14"/>
    <p:sldId id="510" r:id="rId15"/>
    <p:sldId id="511" r:id="rId16"/>
    <p:sldId id="553" r:id="rId17"/>
    <p:sldId id="513" r:id="rId18"/>
    <p:sldId id="264" r:id="rId19"/>
    <p:sldId id="515" r:id="rId20"/>
    <p:sldId id="554" r:id="rId21"/>
    <p:sldId id="572" r:id="rId22"/>
    <p:sldId id="517" r:id="rId23"/>
    <p:sldId id="518" r:id="rId24"/>
    <p:sldId id="520" r:id="rId25"/>
    <p:sldId id="555" r:id="rId26"/>
    <p:sldId id="521" r:id="rId27"/>
    <p:sldId id="523" r:id="rId28"/>
    <p:sldId id="524" r:id="rId29"/>
    <p:sldId id="556" r:id="rId30"/>
    <p:sldId id="525" r:id="rId31"/>
    <p:sldId id="526" r:id="rId32"/>
    <p:sldId id="558" r:id="rId33"/>
    <p:sldId id="560" r:id="rId34"/>
    <p:sldId id="561" r:id="rId35"/>
    <p:sldId id="562" r:id="rId36"/>
    <p:sldId id="563" r:id="rId37"/>
    <p:sldId id="541" r:id="rId38"/>
    <p:sldId id="542" r:id="rId39"/>
    <p:sldId id="543" r:id="rId40"/>
    <p:sldId id="544" r:id="rId4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28C"/>
    <a:srgbClr val="1C7F5E"/>
    <a:srgbClr val="E6DF13"/>
    <a:srgbClr val="E4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9" autoAdjust="0"/>
    <p:restoredTop sz="94061" autoAdjust="0"/>
  </p:normalViewPr>
  <p:slideViewPr>
    <p:cSldViewPr snapToGrid="0" snapToObjects="1" showGuides="1">
      <p:cViewPr>
        <p:scale>
          <a:sx n="61" d="100"/>
          <a:sy n="61" d="100"/>
        </p:scale>
        <p:origin x="85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7" d="100"/>
          <a:sy n="57" d="100"/>
        </p:scale>
        <p:origin x="2808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A5C2878-4654-4079-B030-5E47C2C5D674}" type="datetimeFigureOut">
              <a:rPr lang="en-US" altLang="en-US"/>
              <a:t>5/30/2026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497DE80-0297-46C5-B5C0-F08F29C2DD8F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EECDD41-E951-430A-8AF4-2C94325B6799}" type="datetimeFigureOut">
              <a:rPr lang="en-US" altLang="en-US"/>
              <a:t>5/30/2026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6948324-13D7-4655-B8F7-1E5C093BA4F7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~70% HIV/AIDS </a:t>
            </a:r>
            <a:r>
              <a:rPr lang="en-US" sz="1200" dirty="0" err="1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assocaited</a:t>
            </a:r>
            <a:endParaRPr lang="en-US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Rising incidence driven by expanding immunosuppressed populations: HIV/AIDS, transplant recipients, hematologic malignancies, and prolonged ICU stays.</a:t>
            </a:r>
            <a:endParaRPr lang="en-US" sz="1200" b="0" dirty="0">
              <a:solidFill>
                <a:srgbClr val="000000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Cryptococcosis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Leading cause of meningitis in HIV+ adults </a:t>
            </a:r>
            <a:endParaRPr lang="en-US" sz="1200" b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Histoplasmosis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Under-</a:t>
            </a:r>
            <a:r>
              <a:rPr lang="en-US" sz="1200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recognised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bat caves &amp; agriculture exposure</a:t>
            </a:r>
            <a:endParaRPr lang="en-US" sz="1200" b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Candidiasis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Dominant in ICU, post-surgical &amp; immunosuppressed patients</a:t>
            </a:r>
            <a:endParaRPr lang="en-US" sz="1200" b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Aspergillosis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Rising with TB sequelae &amp; prolonged steroid use</a:t>
            </a:r>
            <a:endParaRPr lang="en-US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FF0F5-A5A4-4DAC-A684-0CFBE26A94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36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4984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COMPLICATIONS: ARDS,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haemorrhagic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pericarditis, adrenal insufficiency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676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BAL- Bronchoalveolar lavage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136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Migration and tourism are raising concerns that CM will grow beyond a regional disease to a global problem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670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4C58-AD52-269B-4E64-29623F7C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D00BC-7D88-9EBD-2F0A-F8AEC5390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A9907-517F-BAA3-E31B-6013FC873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1F802-C18B-0C0C-0535-4FC98837B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2296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Meningitis requiring lifelong therapy; chronic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fibrocavitary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lung disease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Hydrocephalus (VP shunting may be required)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Dissemination to bone, skin, and adrenal glands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682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Inoculated onto 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Sabouraud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 dextrose agar (with/without chloramphenicol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0412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TPN- Total Parenteral nutrition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36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E10D-3554-FD02-954D-6089F1B62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C1A45-9D25-19C2-A675-DE877B14D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55681-5444-12DB-1E90-C9E524FB1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334A7-67C5-FCC0-BDD9-62A94D654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977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High-resolution CT of the chest showing a classic ground-glass 'halo sign' indicative of angioinvasive aspergillosis.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FF0F5-A5A4-4DAC-A684-0CFBE26A947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2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1D893-CA3F-1992-7E2C-987965B1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0C9CE-03B4-8906-37F0-D9C23D2C7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C1BCF-0789-A09B-AC07-D48B582D1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BC744-C906-8E5C-7C01-CDA26278B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89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COMPLICATIONS: Raised ICP (herniation), IRIS, sensorineural hearing loss, hydrocephalus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6956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COMPLICATIONS: Cavernous sinus thrombosis, carotid invasion, cerebral infarction; mortality &gt; 50%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0383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2C39A"/>
                </a:solidFill>
              </a:rPr>
              <a:t>CLINICAL RULE:  </a:t>
            </a:r>
            <a:r>
              <a:rPr lang="en-US" sz="1200" b="1" dirty="0" err="1">
                <a:solidFill>
                  <a:srgbClr val="02C39A"/>
                </a:solidFill>
              </a:rPr>
              <a:t>Candidaemia</a:t>
            </a:r>
            <a:r>
              <a:rPr lang="en-US" sz="1200" b="1" dirty="0">
                <a:solidFill>
                  <a:srgbClr val="02C39A"/>
                </a:solidFill>
              </a:rPr>
              <a:t> → Echinocandin (1st-line) → step-down Fluconazole  |  Cryptococcal meningitis induction → </a:t>
            </a:r>
            <a:r>
              <a:rPr lang="en-US" sz="1200" b="1" dirty="0" err="1">
                <a:solidFill>
                  <a:srgbClr val="02C39A"/>
                </a:solidFill>
              </a:rPr>
              <a:t>AmB</a:t>
            </a:r>
            <a:r>
              <a:rPr lang="en-US" sz="1200" b="1" dirty="0">
                <a:solidFill>
                  <a:srgbClr val="02C39A"/>
                </a:solidFill>
              </a:rPr>
              <a:t>-d + 5-FC  |  NEVER Echinocandin for CNS  |  C. auris → Echinocandin (MDR, strict isolation</a:t>
            </a:r>
            <a:r>
              <a:rPr lang="en-US" sz="800" b="1" dirty="0">
                <a:solidFill>
                  <a:srgbClr val="02C39A"/>
                </a:solidFill>
              </a:rPr>
              <a:t>)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0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New MUHAS 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651" y="187325"/>
            <a:ext cx="1964267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073776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1" y="6267451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4552D5-EC0A-4420-A9C7-D00A539C5BE2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8A2F7-7EFE-4CD9-B702-1E4B6E00B8A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6073776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51" y="6267451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7" name="Picture 9" descr="New MUHAS 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718" y="5310189"/>
            <a:ext cx="111336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  <a:lvl2pPr>
              <a:defRPr>
                <a:solidFill>
                  <a:srgbClr val="20328C"/>
                </a:solidFill>
              </a:defRPr>
            </a:lvl2pPr>
            <a:lvl3pPr>
              <a:defRPr>
                <a:solidFill>
                  <a:srgbClr val="20328C"/>
                </a:solidFill>
              </a:defRPr>
            </a:lvl3pPr>
            <a:lvl4pPr>
              <a:defRPr>
                <a:solidFill>
                  <a:srgbClr val="20328C"/>
                </a:solidFill>
              </a:defRPr>
            </a:lvl4pPr>
            <a:lvl5pPr>
              <a:defRPr>
                <a:solidFill>
                  <a:srgbClr val="20328C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1B95A2-8D10-425A-80AF-6A41821E181F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99B34-1B6F-498C-AAD9-0E5AD70A31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835202-6649-4393-88A8-2DFC9C5D6F49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ED6D0-55B1-475C-965C-8B60615A93F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6E9522-81A6-4BF5-AA5C-56A2ED040A26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D7F7AD-559D-40EF-93EF-C2EF8DFE6BD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4743F8-02AA-43A9-ADD4-279FD9B3CE82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27321C-A958-490C-8DF3-FB6D03F9098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192A4C-29EF-402E-93CF-5AE200365443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E40818-CC6C-4855-AAF4-BC35D4D0C0C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14E88B-15B8-4955-A249-A465D99F13F8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2613-C6EF-4F22-BF61-53C00E45B04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A2870A-CCAA-4169-B511-7940DFC4A7F7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61BD5-D7F5-443A-B85D-9B7EFAF7FFE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58136F-E3DE-4FDC-89FD-EB66D8A26F93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21D2E8-0304-4A0D-8CFE-6C8B65ADC46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45645E-E00A-4B9B-A43D-D4EB0EC18659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805DC-062E-4591-982C-A90D862E97C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68164C-F273-4B0F-A1C8-F42992C99D59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2D8E8-64D2-4FD6-9B4B-22063417951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79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FC3EC"/>
                </a:solidFill>
              </a:defRPr>
            </a:lvl1pPr>
          </a:lstStyle>
          <a:p>
            <a:fld id="{D8617F84-1766-4394-A5FF-BC4A8A4DDAE1}" type="datetime2">
              <a:rPr lang="en-US" altLang="en-US" smtClean="0"/>
              <a:t>Saturday, May 30,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FC3EC"/>
                </a:solidFill>
              </a:defRPr>
            </a:lvl1pPr>
          </a:lstStyle>
          <a:p>
            <a:fld id="{71C4D8BE-8B01-4B18-A281-B0A79AC19526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09702"/>
            <a:ext cx="10363200" cy="2190749"/>
          </a:xfrm>
        </p:spPr>
        <p:txBody>
          <a:bodyPr/>
          <a:lstStyle/>
          <a:p>
            <a:r>
              <a:rPr lang="en-US" dirty="0"/>
              <a:t>Management of Deep Mycoses</a:t>
            </a:r>
            <a:br>
              <a:rPr lang="en-US" dirty="0"/>
            </a:br>
            <a:endParaRPr lang="en-US" sz="2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6206B5D-0D0D-A8C5-626E-D008BC9A1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386" y="3886200"/>
            <a:ext cx="5237018" cy="1752600"/>
          </a:xfrm>
        </p:spPr>
        <p:txBody>
          <a:bodyPr/>
          <a:lstStyle/>
          <a:p>
            <a:r>
              <a:rPr lang="en-US" dirty="0"/>
              <a:t>Presenters</a:t>
            </a:r>
          </a:p>
          <a:p>
            <a:r>
              <a:rPr lang="en-US" dirty="0"/>
              <a:t>      Dr Emmanuel </a:t>
            </a:r>
            <a:r>
              <a:rPr lang="en-US" dirty="0" err="1"/>
              <a:t>Lusomi</a:t>
            </a:r>
            <a:endParaRPr lang="en-US" dirty="0"/>
          </a:p>
          <a:p>
            <a:r>
              <a:rPr lang="en-US" dirty="0"/>
              <a:t>Dr Mariam </a:t>
            </a:r>
            <a:r>
              <a:rPr lang="en-US" dirty="0" err="1"/>
              <a:t>Digelo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3E91B2BB-C3C0-9872-33E1-615DEEC483CA}"/>
              </a:ext>
            </a:extLst>
          </p:cNvPr>
          <p:cNvSpPr txBox="1">
            <a:spLocks/>
          </p:cNvSpPr>
          <p:nvPr/>
        </p:nvSpPr>
        <p:spPr bwMode="auto">
          <a:xfrm flipH="1">
            <a:off x="5771802" y="3600451"/>
            <a:ext cx="5666510" cy="2190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accent1">
                    <a:lumMod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457200" indent="0" algn="ctr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914400" indent="0" algn="ctr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371600" indent="0" algn="ctr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828800" indent="0" algn="ctr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Facilitator</a:t>
            </a:r>
          </a:p>
          <a:p>
            <a:r>
              <a:rPr lang="en-US" dirty="0" err="1"/>
              <a:t>Dr.Moledina</a:t>
            </a:r>
            <a:r>
              <a:rPr lang="en-US" dirty="0"/>
              <a:t>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</p:spTree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9644-8F39-D99C-7A01-C93600FB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BCA29-986C-F634-287F-F454B0B82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18"/>
            <a:ext cx="10972800" cy="4525963"/>
          </a:xfrm>
        </p:spPr>
        <p:txBody>
          <a:bodyPr/>
          <a:lstStyle/>
          <a:p>
            <a:pPr marL="571500" indent="-571500">
              <a:buFont typeface="+mj-lt"/>
              <a:buAutoNum type="romanLcPeriod"/>
            </a:pPr>
            <a:r>
              <a:rPr lang="en-US" dirty="0"/>
              <a:t>Introduction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Classification of Fungal Infections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Risk Factors for Acquiring Fungal Infections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Clinical Syndromes — Pathogen by Pathogen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An Overview of Antifungals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Case Scenarios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err="1"/>
              <a:t>Refferences</a:t>
            </a:r>
            <a:endParaRPr lang="en-US" dirty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4678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EC4BE-9B43-6458-AC1B-D99262A7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2047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16DD9-DCC0-2590-5793-6F954855F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5297"/>
            <a:ext cx="10972800" cy="4900868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mycoses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serious, chronic fungal infections that penetrate beyond the superficial layers of the skin to invade the subcutaneous tissues, deep organs, or multiple systemic tracts of the body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affect ~300 million people annually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&gt;1.5 million deaths — exceeding tuberculosis mortality in immunocompromised populations </a:t>
            </a:r>
          </a:p>
          <a:p>
            <a:endParaRPr lang="en-US" sz="1200" dirty="0">
              <a:solidFill>
                <a:schemeClr val="tx1">
                  <a:tint val="75000"/>
                </a:schemeClr>
              </a:solidFill>
              <a:ea typeface="+mn-ea"/>
            </a:endParaRPr>
          </a:p>
          <a:p>
            <a:endParaRPr 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E83EBF23-BA64-C177-4A62-21A94ABE3269}"/>
              </a:ext>
            </a:extLst>
          </p:cNvPr>
          <p:cNvSpPr/>
          <p:nvPr/>
        </p:nvSpPr>
        <p:spPr>
          <a:xfrm>
            <a:off x="755598" y="5697191"/>
            <a:ext cx="10385367" cy="42897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 anchor="ctr"/>
          <a:lstStyle/>
          <a:p>
            <a:pPr>
              <a:lnSpc>
                <a:spcPts val="1600"/>
              </a:lnSpc>
            </a:pPr>
            <a:r>
              <a:rPr lang="en-US" sz="1400" b="1" dirty="0" err="1">
                <a:solidFill>
                  <a:schemeClr val="tx1">
                    <a:tint val="75000"/>
                  </a:schemeClr>
                </a:solidFill>
              </a:rPr>
              <a:t>Rajasingham</a:t>
            </a:r>
            <a:r>
              <a:rPr lang="en-US" sz="1400" b="1" dirty="0">
                <a:solidFill>
                  <a:schemeClr val="tx1">
                    <a:tint val="75000"/>
                  </a:schemeClr>
                </a:solidFill>
              </a:rPr>
              <a:t> R et al. Lancet Infect Dis 2022; </a:t>
            </a:r>
            <a:r>
              <a:rPr lang="en-US" sz="1400" b="1" dirty="0" err="1">
                <a:solidFill>
                  <a:schemeClr val="tx1">
                    <a:tint val="75000"/>
                  </a:schemeClr>
                </a:solidFill>
              </a:rPr>
              <a:t>Bongomin</a:t>
            </a:r>
            <a:r>
              <a:rPr lang="en-US" sz="1400" b="1" dirty="0">
                <a:solidFill>
                  <a:schemeClr val="tx1">
                    <a:tint val="75000"/>
                  </a:schemeClr>
                </a:solidFill>
              </a:rPr>
              <a:t> F et al. J Fungi 2017; Denning DW et al. Lancet Infect Dis 2023</a:t>
            </a:r>
          </a:p>
        </p:txBody>
      </p:sp>
    </p:spTree>
    <p:extLst>
      <p:ext uri="{BB962C8B-B14F-4D97-AF65-F5344CB8AC3E}">
        <p14:creationId xmlns:p14="http://schemas.microsoft.com/office/powerpoint/2010/main" val="1822561675"/>
      </p:ext>
    </p:extLst>
  </p:cSld>
  <p:clrMapOvr>
    <a:masterClrMapping/>
  </p:clrMapOvr>
  <p:transition spd="slow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B2854F1-411B-7A69-E7B7-93EBA318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484" y="675992"/>
            <a:ext cx="10974916" cy="493241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Classification: Endemic vs Opportunistic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04ECC60-972D-EDED-DA02-5966F6629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7484" y="1394085"/>
            <a:ext cx="5389033" cy="78079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ENDEMIC (Primary Pathogens)</a:t>
            </a:r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9822590-A2FD-67E1-5C8D-2716A98CD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518" y="2174875"/>
            <a:ext cx="5261999" cy="304170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 disease in immunocompetent hosts; geographically restricted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 Histoplasma capsulatum, Coccidioides spp., Blastomyces dermatitidis, Paracoccidioides,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Talaromyces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marneffei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F4DB8A-CCD6-B830-A668-B7BE890F8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OPPORTUNISTIC Pathogens</a:t>
            </a:r>
          </a:p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D97A04-1E74-B715-DD81-C0B5C9AD1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14801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 disease primarily in immunocompromised hosts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 Candida spp., Aspergillus spp., Cryptococcus neoformans, Pneumocystis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jirovecii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Mucorales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06A0D-6226-D684-64DA-C0BD11E4CD23}"/>
              </a:ext>
            </a:extLst>
          </p:cNvPr>
          <p:cNvSpPr txBox="1"/>
          <p:nvPr/>
        </p:nvSpPr>
        <p:spPr>
          <a:xfrm>
            <a:off x="2132351" y="4893411"/>
            <a:ext cx="8045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Immunocompromised hosts are susceptible to BOTH categories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E1821E-BDB7-1BB0-AC28-294F99A9F464}"/>
              </a:ext>
            </a:extLst>
          </p:cNvPr>
          <p:cNvSpPr txBox="1"/>
          <p:nvPr/>
        </p:nvSpPr>
        <p:spPr>
          <a:xfrm>
            <a:off x="609600" y="5934670"/>
            <a:ext cx="10453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Ref: Kauffman CA. Diagnosis of Endemic Mycoses. CID 2011; 52(S4):S219–S225. | WHO Fungal Priority Pathogens List. Geneva: WHO,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84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C758BA-0D52-A2C0-4945-C82B2E20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4331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Risk Factors for Acquiring Fungal Infections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B818F-7271-549E-0E14-A49F8F5FE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HOST-RELATED RISK FACTORS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9A887B-EED1-2586-CD61-CDCA5C341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1" y="1888761"/>
            <a:ext cx="5386916" cy="3951288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HIV/AIDS (CD4 &lt; 200 cells/µL)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Prolonged neutropenia —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haematologic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malignancies, chemotherapy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organ or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haematopoietic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stem cell transplantation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Prolonged corticosteroid use (≥ 20 mg prednisone/day &gt; 3 weeks)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 therapy: TNF-</a:t>
            </a:r>
            <a:r>
              <a:rPr lang="el-G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inhibitors, JAK inhibitors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mellitus (especially uncontrolled — risk for mucormycosis)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C72F8C-B517-FB1A-D206-B784A8DD5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121585"/>
            <a:ext cx="5389032" cy="639762"/>
          </a:xfrm>
        </p:spPr>
        <p:txBody>
          <a:bodyPr/>
          <a:lstStyle/>
          <a:p>
            <a:r>
              <a:rPr lang="en-US" dirty="0"/>
              <a:t>ENVIRONMENTAL FACTORS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C46ED8-81FF-813A-39E6-1288624B0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368" y="1888761"/>
            <a:ext cx="5389033" cy="423740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 residence / travel (endemic mycoses)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Occupational exposure: farmers, construction workers, spelunkers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Broad-spectrum antibiotic use — Candida overgrowth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Indwelling CVC, ICU stay, TPN — invasive candidiasis</a:t>
            </a:r>
          </a:p>
          <a:p>
            <a:endParaRPr lang="en-US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0789F21-0E06-3B3D-FA94-5F71A36018B2}"/>
              </a:ext>
            </a:extLst>
          </p:cNvPr>
          <p:cNvSpPr/>
          <p:nvPr/>
        </p:nvSpPr>
        <p:spPr>
          <a:xfrm>
            <a:off x="869430" y="6126163"/>
            <a:ext cx="10478123" cy="47548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Ref: Kullberg BJ, Arendrup MC. Invasive Fungal Disease in the Patient with Leukaemia. Haematologica 2015; 100:991–997. | Pappas PG et al. IDSA Guidelines for Candidiasis. CID 2016; 62(4):e1–50.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2135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31DB-D409-2B09-1ABF-45036D34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Histoplasmosis — Overview &amp; Risk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C617-3A5B-0B71-358D-6C2E67E21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74361"/>
            <a:ext cx="10972800" cy="515180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granulomatous disease caused by the thermally dimorphic fungus Histoplasma capsulatum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HC.var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capsulatum- classical or American histoplasmosis , HC var.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duboisii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-African histoplasmosis)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Risk Factors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bird/bat droppings — cave exploration, demolition, agricultural work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HIV/AIDS — reactivation disease (CD4 &lt; 150 cells/µL),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organ transplant, anti-TNF therapy,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haematologic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malignancy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Pathogenesis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Inhalation of microconidia → phagocytosed by macrophages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haematogenous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spread in immunocompromised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21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D17E-2114-C6BA-D07C-F40D354B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Histoplasmosis — Clinical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2FD46E-03FD-13CB-2128-DE0E1DD8D2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0714051"/>
              </p:ext>
            </p:extLst>
          </p:nvPr>
        </p:nvGraphicFramePr>
        <p:xfrm>
          <a:off x="609600" y="1538823"/>
          <a:ext cx="10972800" cy="4267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656">
                  <a:extLst>
                    <a:ext uri="{9D8B030D-6E8A-4147-A177-3AD203B41FA5}">
                      <a16:colId xmlns:a16="http://schemas.microsoft.com/office/drawing/2014/main" val="3954713988"/>
                    </a:ext>
                  </a:extLst>
                </a:gridCol>
                <a:gridCol w="6529144">
                  <a:extLst>
                    <a:ext uri="{9D8B030D-6E8A-4147-A177-3AD203B41FA5}">
                      <a16:colId xmlns:a16="http://schemas.microsoft.com/office/drawing/2014/main" val="1047246293"/>
                    </a:ext>
                  </a:extLst>
                </a:gridCol>
              </a:tblGrid>
              <a:tr h="17905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Clinical Syndrome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Clinical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548101"/>
                  </a:ext>
                </a:extLst>
              </a:tr>
              <a:tr h="77551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Acute Pulmonary Histoplasmosis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Flu-like illness, cough, fever, myalgias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Self-limiting in &gt; 90%z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74675"/>
                  </a:ext>
                </a:extLst>
              </a:tr>
              <a:tr h="947272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Chronic Cavitary Pulmonary Histoplasmosis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2–8% of patients with pulmonary histoplasmosis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Resembles TB — upper lobe cavities, </a:t>
                      </a:r>
                      <a:r>
                        <a:rPr lang="en-US" sz="1800" b="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haemoptysis</a:t>
                      </a:r>
                      <a:endParaRPr lang="en-US" sz="1800" b="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125090"/>
                  </a:ext>
                </a:extLst>
              </a:tr>
              <a:tr h="204027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Disseminated Histoplasmosis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Fever, weight loss, hepatosplenomegaly, pancytopenia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Mucocutaneous ulcers (oral/GI), adrenal involvement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CNS histoplasmosis: meningitis, brain abscess (rare but severe)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Mediastinal complications: fibrosing mediastinitis, lymphadenopathy</a:t>
                      </a:r>
                    </a:p>
                    <a:p>
                      <a:endParaRPr lang="en-US" sz="1800" b="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041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6EE53C-C131-C476-023F-481C1506BA5D}"/>
              </a:ext>
            </a:extLst>
          </p:cNvPr>
          <p:cNvSpPr txBox="1"/>
          <p:nvPr/>
        </p:nvSpPr>
        <p:spPr>
          <a:xfrm>
            <a:off x="284813" y="6260196"/>
            <a:ext cx="112975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Ref: Wheat LJ et al. IDSA Guidelines: Histoplasmosis. CID 2007; 45(7):807–825. | </a:t>
            </a:r>
            <a:r>
              <a:rPr lang="en-US" sz="1200" i="1" dirty="0" err="1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Deepe</a:t>
            </a:r>
            <a:r>
              <a:rPr lang="en-US" sz="120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GS. Histoplasma capsulatum. In: Mandell GL et al. (eds). Principles and Practice of Infectious Diseases, 9th ed. Elsevier, 2019</a:t>
            </a:r>
            <a:r>
              <a:rPr lang="en-US" sz="180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473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F170-9752-26D0-28A8-0B06D439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Histoplasmosis — Diagnosis &amp; Treatment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6F5D0-5863-9493-7694-737B5F13D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19331"/>
            <a:ext cx="10972800" cy="4422099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Urine Histoplasma antigen — most sensitive for disseminated disease (&gt; 90%)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Serology (complement fixation, immunodiffusion) — useful for pulmonary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 (gold standard) — weeks; BAL or bone marrow biopsy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Histopathology: small intracellular yeast within macrophages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Mild-moderate: Itraconazole 200 mg TDS × 3 days, then BD × 12 months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/ CNS: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3-5 mg/kg/day × 2 weeks → step down to Itraconazole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prophylaxis in HIV: Itraconazole 200 mg OD until CD4 &gt; 150 × 6 months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2871F-5F8E-7C5C-D20C-2DB12E5A7D36}"/>
              </a:ext>
            </a:extLst>
          </p:cNvPr>
          <p:cNvSpPr txBox="1"/>
          <p:nvPr/>
        </p:nvSpPr>
        <p:spPr>
          <a:xfrm>
            <a:off x="329784" y="5490755"/>
            <a:ext cx="112526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IDSA 2024, Ocansey BK, Kosmidis C,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</a:rPr>
              <a:t>Ayanlowo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OO, Agyei M, Dorkenoo AM, Oladele RO, Darre T, Denning DW. Histoplasmosis in Africa: Current perspectives, knowledge gaps, and research priorities.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</a:rPr>
              <a:t>PLoS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bg2">
                    <a:lumMod val="10000"/>
                  </a:schemeClr>
                </a:solidFill>
              </a:rPr>
              <a:t>Negl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Trop Dis. 2022 Jun;16(6):e0010486. doi:10.1371/journal.pntd.0010486.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1661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6BCD-2829-31F6-7BE1-015E9924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Coccidioidomycosis — Overview &amp; Risk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CDE1E-B860-B486-83E4-B1EB23E66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4321"/>
            <a:ext cx="10972800" cy="509184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Pathogen: Coccidioides immitis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posadasii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(dimorphic fungus)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Geography: SW USA (Arizona, California), N. Mexico, South America — 'Valley Fever’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Risk Factors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Dust/soil disturbance — construction, farming, military exercises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Immunocompromised: HIV (CD4 &lt; 250), transplant, corticosteroids, DM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Pregnancy (3rd trimester) — increased risk of dissemination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African-American and Filipino ethnicity — higher risk of dissemination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PATHOGENESIS (brief)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Inhalation of arthroconidia → spherules in lung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haematogenous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dissemination 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immunocompromised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E6AC9-6A63-348D-7F00-A5057D7BAC13}"/>
              </a:ext>
            </a:extLst>
          </p:cNvPr>
          <p:cNvSpPr txBox="1"/>
          <p:nvPr/>
        </p:nvSpPr>
        <p:spPr>
          <a:xfrm>
            <a:off x="690879" y="6260197"/>
            <a:ext cx="10972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Ref: Galgiani JN et al. IDSA Guidelines: Coccidioidomycosis. CID 2016; 63(6):e112–e146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28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A484-5466-D36E-7380-2ADB5B64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C066-25E7-CE58-A7CE-FF29EA1C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Coccidioidomycosis — Clinical Features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CB3E20-35A4-1A0D-F99B-EBF1B7D39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766745"/>
              </p:ext>
            </p:extLst>
          </p:nvPr>
        </p:nvGraphicFramePr>
        <p:xfrm>
          <a:off x="609600" y="1538823"/>
          <a:ext cx="10972800" cy="431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197">
                  <a:extLst>
                    <a:ext uri="{9D8B030D-6E8A-4147-A177-3AD203B41FA5}">
                      <a16:colId xmlns:a16="http://schemas.microsoft.com/office/drawing/2014/main" val="3954713988"/>
                    </a:ext>
                  </a:extLst>
                </a:gridCol>
                <a:gridCol w="8224603">
                  <a:extLst>
                    <a:ext uri="{9D8B030D-6E8A-4147-A177-3AD203B41FA5}">
                      <a16:colId xmlns:a16="http://schemas.microsoft.com/office/drawing/2014/main" val="1047246293"/>
                    </a:ext>
                  </a:extLst>
                </a:gridCol>
              </a:tblGrid>
              <a:tr h="34801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Clinical Syndrome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Clinical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548101"/>
                  </a:ext>
                </a:extLst>
              </a:tr>
              <a:tr h="165304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Acute Pulmonary CM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Fever, cough, chest pain, fatigue; erythema nodosum/multiforme (good prognostic sign)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Immunologic manifestations: Arthralgias, myalgias, skin rashes → “desert rheumatism.”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Eosinophilia on FBC — characteristic finding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74675"/>
                  </a:ext>
                </a:extLst>
              </a:tr>
              <a:tr h="702743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Chronic Pulmonary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Pulmonary nodules, thin-walled cavities,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Chronic progressive pneumonia -Requires long-term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125090"/>
                  </a:ext>
                </a:extLst>
              </a:tr>
              <a:tr h="151360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Disseminated CM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(&lt; 1% immunocompetent; much higher in immunocompromised)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Bone/joint: osteomyelitis, septic arthritis; Skin: verrucous plaques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CNS meningitis — most feared complication; almost invariably fatal if untreated</a:t>
                      </a:r>
                    </a:p>
                    <a:p>
                      <a:endParaRPr lang="en-US" sz="1800" b="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041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7A1D5B7-BCD9-9760-E380-CA9498493468}"/>
              </a:ext>
            </a:extLst>
          </p:cNvPr>
          <p:cNvSpPr txBox="1"/>
          <p:nvPr/>
        </p:nvSpPr>
        <p:spPr>
          <a:xfrm>
            <a:off x="284813" y="6260196"/>
            <a:ext cx="112975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Ref: Wheat LJ et al. IDSA Guidelines: Histoplasmosis. CID 2007; 45(7):807–825. | </a:t>
            </a:r>
            <a:r>
              <a:rPr lang="en-US" sz="1200" i="1" dirty="0" err="1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Deepe</a:t>
            </a:r>
            <a:r>
              <a:rPr lang="en-US" sz="120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GS. Histoplasma capsulatum. In: Mandell GL et al. (eds). Principles and Practice of Infectious Diseases, 9th ed. Elsevier, 2019</a:t>
            </a:r>
            <a:r>
              <a:rPr lang="en-US" sz="180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278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6C0E-12B6-37E7-8C19-F4A7B0A8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Coccidioidomycosis — Diagnosis &amp; Treatment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77D4A-13F9-6E95-F5BE-3FE9BD2C4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" y="1198880"/>
            <a:ext cx="11968480" cy="492728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Serology: IgM (early) and IgG (CF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severity marker); Urine antigen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 (BSL-3); GMS/PAS stain: spherules with endospores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pulmonary (immunocompetent): observation ± Fluconazole 400 mg OD × 3–6 months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pulmonary / disseminated: Fluconazole 400–800 mg OD or Itraconazole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Meningitis: Fluconazole 400–800 mg OD LIFELONG — never discontinue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Intrathecal Amphotericin B for refractory meningitis (historically used)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Surgical: resection for ruptured cavity,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haemoptysis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persistent lesion</a:t>
            </a: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Donovan et al ; Coccidioidomycosis: a growing global concern, J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Antimicrob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Chemother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2025; 80 Suppl 1: i40–i49 https://doi.org/10.1093/jac/dkaf002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3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497B-9571-FFB6-114E-30BFBF763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8E05-CCD4-44F8-12E9-280A1574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Blastomycosis — Overview &amp; Risk factors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3E676-5551-B53E-5A00-992C9D1B7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Pyogranulomatous disease caused by inhalation of Blastomyces conidia or hyphal fragments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caused by Blastomyces species complex: Common: B. dermatitidis, B.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gilchristii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helicus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percursus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emzantsi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Geography: Great Lakes (NA), Mississippi/Ohio River valleys, south-central USA, Africa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Risk Factors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Moist soil, rotting wood, beaver dams — hunters, loggers, campers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Immunocompromised: HIV, transplant, corticosteroids — more severe disease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03546-17ED-6DD2-8F54-F980F1317A2A}"/>
              </a:ext>
            </a:extLst>
          </p:cNvPr>
          <p:cNvSpPr txBox="1"/>
          <p:nvPr/>
        </p:nvSpPr>
        <p:spPr>
          <a:xfrm>
            <a:off x="484683" y="5602944"/>
            <a:ext cx="11097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Harrison’s Principle of Internal Medicine- 22</a:t>
            </a:r>
            <a:r>
              <a:rPr lang="en-US" sz="1400" baseline="30000" dirty="0">
                <a:solidFill>
                  <a:schemeClr val="bg2">
                    <a:lumMod val="10000"/>
                  </a:schemeClr>
                </a:solidFill>
              </a:rPr>
              <a:t>nd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Edition,     McBride JA, Gauthier GM, Klein BS. Clinical manifestations and treatment of blastomycosis. Clin Chest Med. 2017 Jun 12;38(3):435–449.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</a:rPr>
              <a:t>doi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: 10.1016/j.ccm.2017.04.006.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9639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9CC2-0D29-4F67-9DE3-529476C02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05" y="401499"/>
            <a:ext cx="10972800" cy="45856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Blastomycosis- Clinical Presentation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2C9355-F4F1-65BB-491C-B345C564E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9600" y="1601566"/>
            <a:ext cx="10972800" cy="4191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11F26-3862-C837-974C-DC9B59D0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Deep Mycoses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1BD7FB-C1C8-D861-4E24-4062B8157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04" y="964757"/>
            <a:ext cx="11430991" cy="45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58162"/>
      </p:ext>
    </p:extLst>
  </p:cSld>
  <p:clrMapOvr>
    <a:masterClrMapping/>
  </p:clrMapOvr>
  <p:transition spd="slow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4D92-1DAB-9CAB-F5D9-FCC1A908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79605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Blastomycosis — Diagnosis&amp;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3DE92-F3E2-DDBC-D253-9D7FEC108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49311"/>
            <a:ext cx="11157679" cy="507685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Radiographic and physical exam manifestations of blastomycosis are highly non-specific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 of sputum, bronchial washings, pus, or biopsy material (gold standard)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in 5–10 days, but may require up to 30 days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Urine antigen</a:t>
            </a:r>
          </a:p>
          <a:p>
            <a:pPr lvl="1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Methenamine Silver (GMS) stain: broad-based budding yeast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Mild-moderate: Itraconazole 200 mg BD × 6–12 months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</a:t>
            </a:r>
            <a:r>
              <a:rPr lang="en-US" sz="2000" dirty="0"/>
              <a:t>/ CNS: </a:t>
            </a:r>
          </a:p>
          <a:p>
            <a:pPr lvl="1"/>
            <a:r>
              <a:rPr lang="en-US" sz="2000" dirty="0" err="1"/>
              <a:t>LAmB</a:t>
            </a:r>
            <a:r>
              <a:rPr lang="en-US" sz="2000" dirty="0"/>
              <a:t> 3–5 mg/kg/day → Itraconazole step-down</a:t>
            </a:r>
          </a:p>
          <a:p>
            <a:pPr lvl="1"/>
            <a:r>
              <a:rPr lang="en-US" sz="2000" dirty="0"/>
              <a:t>Amphotericin B at a high dose of 0.7 to 1 mg/kg/day to a total dose of 1.5 to 2 grams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BD0F5-0BE7-19FF-9901-B33056DE8679}"/>
              </a:ext>
            </a:extLst>
          </p:cNvPr>
          <p:cNvSpPr txBox="1"/>
          <p:nvPr/>
        </p:nvSpPr>
        <p:spPr>
          <a:xfrm>
            <a:off x="1049311" y="6398696"/>
            <a:ext cx="10148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Thompson GR 3rd, Le T. Global guideline for the diagnosis and management of the endemic mycoses: an initiative of the European Confederation of Medical Mycology in cooperation with the International Society for Human and Animal Mycology. Lancet Infect Dis. 2021 Dec;21(12):e364–e374. doi:10.1016/S1473-3099(21)00191-2.</a:t>
            </a:r>
          </a:p>
        </p:txBody>
      </p:sp>
    </p:spTree>
    <p:extLst>
      <p:ext uri="{BB962C8B-B14F-4D97-AF65-F5344CB8AC3E}">
        <p14:creationId xmlns:p14="http://schemas.microsoft.com/office/powerpoint/2010/main" val="295097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552CA-B142-D75A-0B2D-89909C01D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Candidiasis — Overview &amp; Risk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68C00-8412-9829-499C-088F05061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55041"/>
            <a:ext cx="11127698" cy="517112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Candidiasis is a versatile opportunistic fungal disease spanning from self-limiting mucocutaneous infections to life-threatening deep-seated candidemia and multi-organ involvement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Pathogens: C. albicans (most common), C. glabrata, C. tropicalis, C.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parapsilosis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auris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For Invasive Disease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venous catheter (CVC) — most important single risk factor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candidaemia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Broad-spectrum antibiotics — disruption of normal flora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Immunosuppression: neutropenia, HIV, corticosteroids, transplant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Abdominal surgery, GI perforation, pancreatitis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TPN, prolonged ICU stay, renal replacement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Diabetes mellitus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3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5E25B7-574A-7C7D-F4C8-9511EC3E4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Candidiasis —Forms &amp; Clinical Features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DBA77A-DE42-AF64-B8E9-17BF22E31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MUCOCUTANEOUS FORMS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0C096-95D1-F1CB-4874-BBE3E6071F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Oral thrush: white plaques on erythematous base (scrape off) — KOH: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pseudohyphae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Oesophagitis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odynophagia, dysphagia — endoscopy: white plaques; AIDS-defining illness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Vulvovaginal: thick white discharge, intense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pruritis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erythema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96DA2F-77B2-4904-A1BF-9DE20B556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0564" y="1854994"/>
            <a:ext cx="5706257" cy="639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 CANDIDIASIS / CANDIDAEMIA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D691CE-1209-1A3A-81F1-3A6EA332FD2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fever despite broad-spectrum antibiotics in ICU — KEY clinical clue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Endophthalmitis (dilated fundoscopy mandatory in ALL cases of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candidaemia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Endocarditis: particularly C.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parapsilosis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(CVC-associated)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Hepatosplenic candidiasis: 'bull's-eye' lesions on CT — post-neutrophil recovery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6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95D4A-8791-EA0F-7210-7C6AFA99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Candidiasis —Diagnosis &amp; Treatment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A35A-48C8-07D3-72C3-BCC258074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" y="894081"/>
            <a:ext cx="11805920" cy="523208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cultures (Gold standard) ; beta-D-glucan (BDG); mannan/anti-mannan; T2Candida panel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Mucocutaneous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thrush: Nystatin suspension or Fluconazole 150 mg single dose</a:t>
            </a:r>
          </a:p>
          <a:p>
            <a:pPr lvl="1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Oesophagitis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Fluconazole 200–400 mg OD × 14–21 days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Vulvovaginal: Fluconazole 150 mg single dose; topical azoles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 Candidiasis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Candidaemia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First-line: Echinocandin (Caspofungin, Micafungin, Anidulafungin) × ≥ 14 days from last positive culture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Step-down to Fluconazole once stable, susceptibility confirmed, no endophthalmitis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remove CVC as soon as clinically feasible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4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Chronic Disseminated Candidiasis &amp; Antifungal Drug Reference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694944"/>
            <a:ext cx="11612880" cy="274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503560"/>
              </p:ext>
            </p:extLst>
          </p:nvPr>
        </p:nvGraphicFramePr>
        <p:xfrm>
          <a:off x="274320" y="777240"/>
          <a:ext cx="11384280" cy="4974208"/>
        </p:xfrm>
        <a:graphic>
          <a:graphicData uri="http://schemas.openxmlformats.org/drawingml/2006/table">
            <a:tbl>
              <a:tblPr/>
              <a:tblGrid>
                <a:gridCol w="279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1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Condition 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Recommendations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5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Chronic disseminated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(hepatosplenic) candidiasis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— Initial therapy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Lipid AmB 3–5 mg/kg/d OR Echinocandin for several weeks, then Fluconazole 400 mg/d (if unlikely fluconazole-resistant isolate)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Therapy continues until lesions resolve on imaging (usually several months)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51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Candidemia and invasive candidiasis (except CNS, eye, urinary tract)</a:t>
                      </a:r>
                    </a:p>
                    <a:p>
                      <a:pPr marL="0" indent="0">
                        <a:buNone/>
                      </a:pPr>
                      <a:endParaRPr lang="en-US" sz="1400" kern="1200" dirty="0">
                        <a:solidFill>
                          <a:srgbClr val="20328C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Echinocandins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Preferred for most Fungicidal; once-daily IV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Dosing: Caspofungin 70 mg LD → 50 mg/d; Micafungin 100 mg/d; Anidulafungin 200 mg LD → 100 mg/d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0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Susceptible mucosal + invasive candidiasis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Fluconazole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Standard therapy for; excellent CSF and vitreous penetration (&gt;70% serum)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Loading dose for invasive disease: 800 mg LD → 400 mg/d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No activity against C. krusei; reduced activity against C. glabrata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CNS infections (higher brain tissue levels)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Liposomal </a:t>
                      </a:r>
                      <a:r>
                        <a:rPr lang="en-US" sz="1400" kern="1200" dirty="0" err="1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preferred over AmB deoxycholate for invasive disease (less nephrotoxicity)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Dose: 3–5 mg/kg/d for invasive candidiasis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7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Susceptibility testing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Azole susceptibility testing: recommended for all bloodstream and clinically relevant Candida isolates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Echinocandin susceptibility testing: in patients with prior echinocandin exposure or C. glabrata/C. parapsilosis infection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20328C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C. glabrata: no established susceptibility breakpoint for fluconazole → use epidemiological cut-off values (ECV)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82378E-8EA4-8FEC-641B-612AEC76F15B}"/>
              </a:ext>
            </a:extLst>
          </p:cNvPr>
          <p:cNvSpPr txBox="1"/>
          <p:nvPr/>
        </p:nvSpPr>
        <p:spPr>
          <a:xfrm>
            <a:off x="1842655" y="6214086"/>
            <a:ext cx="8506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SzPct val="10000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Pappas PG et al. IDSA Guidelines: Candidiasis. CID 2016; 62(4):e1–50</a:t>
            </a:r>
            <a:r>
              <a:rPr lang="en-US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9544-F96C-6450-F77F-7C5ED5C2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Aspergillosis — Overview &amp; Risk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3D446-8B46-02D5-0437-D1CE716FB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" y="833121"/>
            <a:ext cx="11704320" cy="529304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Diverse spectrum of pulmonary and systemic disorders caused by inhaled spores of the environmental mold Aspergillus, ranging from chronic cavitary disease to rapid angioinvasive parenchymal infection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Pathogens: A. fumigatus (most common), A. flavus, 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niger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terreus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For Invasive Aspergillosis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Prolonged neutropenia &gt; 10 days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haematologic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malignancy, HSCT) — HIGHEST RISK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Allogeneic HSCT, especially with GVHD on corticosteroids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organ transplant (lung &gt; liver &gt; renal)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High-dose corticosteroids (≥ 0.3 mg/kg/day &gt; 3 weeks)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influenza, COVID-19 — SARS-CoV-2-associated pulmonary aspergillosis Chronic granulomatous disease (CGD) —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paediatric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/young adult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38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59B78-B88D-C30C-3104-30095D6B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C9BB-0C18-4029-425F-0E17F4C4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Aspergillosis — Clinical Features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7E6D39-3EF2-2823-675C-81CA70897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782305"/>
              </p:ext>
            </p:extLst>
          </p:nvPr>
        </p:nvGraphicFramePr>
        <p:xfrm>
          <a:off x="609600" y="1234023"/>
          <a:ext cx="10972800" cy="4679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82">
                  <a:extLst>
                    <a:ext uri="{9D8B030D-6E8A-4147-A177-3AD203B41FA5}">
                      <a16:colId xmlns:a16="http://schemas.microsoft.com/office/drawing/2014/main" val="3954713988"/>
                    </a:ext>
                  </a:extLst>
                </a:gridCol>
                <a:gridCol w="8659318">
                  <a:extLst>
                    <a:ext uri="{9D8B030D-6E8A-4147-A177-3AD203B41FA5}">
                      <a16:colId xmlns:a16="http://schemas.microsoft.com/office/drawing/2014/main" val="1047246293"/>
                    </a:ext>
                  </a:extLst>
                </a:gridCol>
              </a:tblGrid>
              <a:tr h="34801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Clinical Syndrome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Clinical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548101"/>
                  </a:ext>
                </a:extLst>
              </a:tr>
              <a:tr h="838617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Aspergilloma</a:t>
                      </a:r>
                    </a:p>
                    <a:p>
                      <a:endParaRPr lang="en-US" sz="240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Pre-existing cavity (TB, sarcoidosis) </a:t>
                      </a:r>
                      <a:r>
                        <a:rPr lang="en-US" sz="2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colonised</a:t>
                      </a:r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US" sz="2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haemoptysis</a:t>
                      </a:r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(can be massive)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74675"/>
                  </a:ext>
                </a:extLst>
              </a:tr>
              <a:tr h="70274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Allergic Bronchopulmonary Aspergillosis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Asthma/CF: wheezing, proximal bronchiectasis, fleeting infiltrates; ↑ total IgE; ↑ A. fumigatus specific IgE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125090"/>
                  </a:ext>
                </a:extLst>
              </a:tr>
              <a:tr h="1513601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Invasive Pulmonary Aspergillosis (IA)</a:t>
                      </a:r>
                    </a:p>
                    <a:p>
                      <a:endParaRPr lang="en-US" sz="240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Fever unresponsive to antibiotics + pleuritic chest pain + </a:t>
                      </a:r>
                      <a:r>
                        <a:rPr lang="en-US" sz="2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haemoptysis</a:t>
                      </a:r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 neutropenic patient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HRCT: 'Halo sign' (early) — nodule with surrounding ground-glass; 'Air crescent sign' (recovery)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CNS aspergillosis, endophthalmitis, skin lesions</a:t>
                      </a:r>
                    </a:p>
                    <a:p>
                      <a:endParaRPr lang="en-US" sz="240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04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0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2EEC-ED4B-D46D-5C12-5626AF49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Aspergillosis — Clinical Features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2819C1-1BA1-3DF2-47BE-B3BF4046C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785146" y="1417638"/>
            <a:ext cx="997175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3073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1B02-4BC6-4EDC-A39B-1CF5695B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Aspergillosis — Diagnosis &amp;Treatment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778E7-4B14-325C-79A2-86A7E588E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Galactomannan (serum/BAL) — high sensitivity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haematology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Beta-D-glucan; BAL culture and microscopy; CT findings; tissue biopsy (gold standard)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Aspergilloma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Asymptomatic: observe;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Haemoptysis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bronchial artery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embolisation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surgical resection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ABPA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prednisolone + Itraconazole 200 mg BD × 4–6 months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2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7E48-247B-9F98-EF9F-916E3085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Aspergillosis — Treatment &amp; Complications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C385-A354-8C6D-24F1-93F31166E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9351"/>
            <a:ext cx="10972800" cy="513681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 Aspergillosis — First-line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Voriconazole 6 mg/kg IV Q12h × 2 loading doses, then 4 mg/kg IV Q12h (or 200 mg PO BD)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Isavuconazole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similar efficacy, fewer side effects, no QTc prolongation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3–5 mg/kg/day — CNS disease, azole-refractory, drug interactions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 minimum 6–12 weeks; continue until immunosuppression reversed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PROPHYLAXIS: Posaconazole for high-risk AML/HSCT patients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Haemoptysis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cerebral infarction (angioinvasion), respiratory failure</a:t>
            </a:r>
          </a:p>
          <a:p>
            <a:endParaRPr lang="en-US" sz="1200" i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ea typeface="Times New Roman" pitchFamily="34" charset="-122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Ref: Herbrecht R et al. Voriconazole vs </a:t>
            </a:r>
            <a:r>
              <a:rPr lang="en-US" sz="1200" i="1" dirty="0" err="1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</a:t>
            </a: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IA. NEJM 2002; 347:408–415. | Maertens JA et al. </a:t>
            </a:r>
            <a:r>
              <a:rPr lang="en-US" sz="1200" i="1" dirty="0" err="1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Isavuconazole</a:t>
            </a: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vs Voriconazole (SECURE). NEJM 2016; 374:1209–1219. | Patterson TF et al. CID 2016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4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EBB3-9B53-FE59-D96B-27504A23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Cryptococcosis — Overview &amp; Risk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B1BF-463C-870C-97DB-210DBEA68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" y="833121"/>
            <a:ext cx="11724640" cy="529304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Pathogens: C. neoformans (HIV/immunocompromised) | C.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gattii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(immunocompetent)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neoformans — worldwide (soil, bird droppings); C.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gattii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tropical/subtropical regions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HIV/AIDS — CD4 &lt; 100 cells/µL: major risk; leading cause of AIDS-defining meningitis mortality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organ transplant (especially renal and cardiac)</a:t>
            </a:r>
          </a:p>
          <a:p>
            <a:pPr lvl="1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Haematologic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malignancies, chronic corticosteroids, anti-CD20 biologics (Rituximab)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Cirrhosis, sarcoidosis, idiopathic CD4+ lymphopenia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gattii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immunocompetent, outdoor exposure in endemic areas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Pathogenesis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Inhalation → lung → polysaccharide capsule resists phagocytosis → CNS via 'Trojan horse' macrophages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6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68E46-FAD3-E89A-2CC2-DC7A0ADA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944B-DCAD-BB4B-FE1A-9EA3B83D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Cryptococcosis — Clinical Features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A1B04A-AA08-B24E-2E63-2969CF49AA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59048"/>
              </p:ext>
            </p:extLst>
          </p:nvPr>
        </p:nvGraphicFramePr>
        <p:xfrm>
          <a:off x="609600" y="1538824"/>
          <a:ext cx="10972800" cy="3961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197">
                  <a:extLst>
                    <a:ext uri="{9D8B030D-6E8A-4147-A177-3AD203B41FA5}">
                      <a16:colId xmlns:a16="http://schemas.microsoft.com/office/drawing/2014/main" val="3954713988"/>
                    </a:ext>
                  </a:extLst>
                </a:gridCol>
                <a:gridCol w="8224603">
                  <a:extLst>
                    <a:ext uri="{9D8B030D-6E8A-4147-A177-3AD203B41FA5}">
                      <a16:colId xmlns:a16="http://schemas.microsoft.com/office/drawing/2014/main" val="1047246293"/>
                    </a:ext>
                  </a:extLst>
                </a:gridCol>
              </a:tblGrid>
              <a:tr h="337201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Clinical Syndrome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Clinical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548101"/>
                  </a:ext>
                </a:extLst>
              </a:tr>
              <a:tr h="843003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Pulmonary Cryptococcosis</a:t>
                      </a:r>
                    </a:p>
                    <a:p>
                      <a:endParaRPr lang="en-US" sz="180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Often asymptomatic or mild; cough, fever, </a:t>
                      </a:r>
                      <a:r>
                        <a:rPr lang="en-US" sz="18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dyspnoea</a:t>
                      </a: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; nodules on CXR/CT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74675"/>
                  </a:ext>
                </a:extLst>
              </a:tr>
              <a:tr h="1601705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Cryptococcal Meningitis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Most common presentation in HIV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Insidious onset: fever, headache, altered sensorium; neck stiffness may be ABSENT in HIV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Raised intracranial pressure (ICP) — major driver of morbidity and mortality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LP: ↑ opening pressure, lymphocytes, ↑ protein, ↓ glucose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India ink (budding encapsulated yeast): positive in ~80% of HIV patients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125090"/>
                  </a:ext>
                </a:extLst>
              </a:tr>
              <a:tr h="94399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Disseminated C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Skin (molluscum-like), prostatitis (reservoir), chorioretinitis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041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F1739D-0CA6-6097-B470-43B62436DD27}"/>
              </a:ext>
            </a:extLst>
          </p:cNvPr>
          <p:cNvSpPr txBox="1"/>
          <p:nvPr/>
        </p:nvSpPr>
        <p:spPr>
          <a:xfrm>
            <a:off x="284813" y="6260196"/>
            <a:ext cx="11297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Ref: Perfect JR et al. IDSA Guidelines for Cryptococcal Disease. CID 2010; 50(3):291–322. | Molloy SF et al. Cryptococcal meningitis and ART timing. CID 2018; 67(10):1613–1619.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57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63A88-52BB-7B98-089F-D66C11B3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Cryptococcosis — Clinical Features &amp; Diagnosis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FAA86-4956-80EE-37A1-5302371DB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975360"/>
            <a:ext cx="11948160" cy="5150805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(cryptococcal antigen) — serum/CSF lateral flow assay (LFA): sensitivity &gt; 99% in HIV meningitis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Culture: gold standard; CSF, blood, urine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Cryptococcal Meningitis — WHO 2022 / IDSA Preferred Regimen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Induction (2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deoxycholate 1 mg/kg/day + Flucytosine 25 mg/kg QDS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OR AMBITION regimen: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Single-dose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mg/kg + Fluconazole 1200 mg OD × 14 days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Consolidation (8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Fluconazole 400 mg 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Maintenance: Fluconazole 200 mg OD until CD4 &gt; 200 × 6 months (HIV)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Raised ICP Management — Critical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LP if opening pressure ≥ 25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cmH₂O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reduce by 50% or to ≤ 20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cmH₂O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role for corticosteroids in HIV-related cryptococcal meningitis (↑ mortality)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Ref: Perfect JR et al. IDSA Guidelines for Cryptococcal Disease. CID 2010; 50(3):291–322. | Molloy SF et al. Cryptococcal meningitis and ART timing. CID 2018; 67(10):1613–1619.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46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2930-B6DD-268D-C898-4C05C1E3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22889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Pneumocystis </a:t>
            </a:r>
            <a:r>
              <a:rPr lang="en-US" b="1" dirty="0" err="1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jirovecii</a:t>
            </a:r>
            <a:r>
              <a:rPr lang="en-US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Pneumonia (PJP)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7C999-9E20-8846-528B-2E9B8D52A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166018"/>
            <a:ext cx="11139055" cy="452596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Pneumocystis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jirovecii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Pneumonia (PJP) is a severe, life-threatening interstitial pulmonary infection targeting immunocompromised patients, particularly those with depleted cellular immunity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Pathogen: Pneumocystis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jirovecii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fungus (formerly classified as protozoan)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HIV: CD4 &lt; 200 cells/µL — commonest AIDS-defining illness in high-income settings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Non-HIV: solid organ transplant,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haematologic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malignancy, long-term steroids, biologics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98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E579-C2E3-031E-9B0A-62F1E1C1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PJP- Clinical Presentation&amp; Diagnosis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EC0D2-1B02-0DE8-6366-C1779BA55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33055"/>
            <a:ext cx="10972800" cy="4893109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Features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HIV: insidious onset — weeks of progressive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dyspnoea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dry cough, low-grade fever, hypoxia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Non-HIV: more acute and severe onset; higher mortality than HIV-associated PCP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Diagnosis: BAL (&gt; 95% sensitivity); induced sputum (~60%); PCR; LDH elevated; BDG elevated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CXR: bilateral interstitial infiltrates; CT: bilateral ground-glass ('crazy paving’)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ea typeface="Times New Roman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Ref: </a:t>
            </a:r>
            <a:r>
              <a:rPr lang="en-US" sz="1400" i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Bozzette</a:t>
            </a: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SA et al. Corticosteroids in PCP. NEJM 1990; 323:1451–1457. | Kaplan JE et al. IDSA/HIVMA Guidelines: Prevention of Opportunistic Infections. CID 2009; 48(Suppl 4):S16–S35.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CD44-6C57-1AFF-CC5E-B8112755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PJP- Treatment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95E5-720F-DBC5-3847-CC56D30E6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First-line: TMP-SMX 15–20 mg/kg/day (TMP component) × 21 days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Adjunct steroids: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&lt; 70 mmHg — Prednisolone 40 mg BD × 5 days, then taper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Prophylaxis: TMP-SMX 1 SS tablet OD if CD4 &lt; 200; Dapsone/Atovaquone if allergic</a:t>
            </a:r>
          </a:p>
          <a:p>
            <a:pPr marL="0" indent="0">
              <a:buNone/>
            </a:pPr>
            <a:endParaRPr lang="en-US" sz="1800" i="1" dirty="0">
              <a:solidFill>
                <a:srgbClr val="555566"/>
              </a:solidFill>
              <a:latin typeface="Times New Roman" panose="02020603050405020304" pitchFamily="18" charset="0"/>
              <a:ea typeface="Times New Roman" pitchFamily="34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B1DEC-4B28-B6A6-EB7D-C70C3AB2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Mucormycosis (</a:t>
            </a:r>
            <a:r>
              <a:rPr lang="en-US" dirty="0" err="1"/>
              <a:t>Zygomycosis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C002-5789-93CC-0E27-82CF37706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198881"/>
            <a:ext cx="11663680" cy="4927284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Mucormycosis is a hyperacute, progressive, highly destructive and angioinvasive fungal disease carrying exceptionally high mortality rates.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Pathogens: Rhizopus, Mucor,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Lichtheimia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Cunninghamella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(Order: Mucorales)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ketoacidosis (DKA)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hyperglycaemia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acidosis impair phagocyte function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Deferoxamine therapy (iron chelation — provides iron for fungal growth)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Prolonged neutropenia,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haematologic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malignancy, allogeneic HSCT; high-dose corticosteroids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07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2903-432D-D351-F6C2-B8237228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Mucormycosis (</a:t>
            </a:r>
            <a:r>
              <a:rPr lang="en-US" dirty="0" err="1"/>
              <a:t>Zygomycosis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F0958-3C32-5F10-1DB5-5B63570B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5345"/>
            <a:ext cx="10972800" cy="4920819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Features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Rhino-orbito-cerebral (ROCM): sinusitis, periorbital oedema, proptosis, black eschar on palate — RAPID PROGRESSION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Pulmonary: fever,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haemoptysis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angioinvasion; CT: wedge infarcts, reverse halo sign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Cutaneous: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necrotising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wound at trauma/inoculation site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DIAGNOSIS: Tissue biopsy + GMS stain: broad, pauci-septate ribbon-like hyphae branching at 90°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TREATMENT: Surgical debridement (cornerstone)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5–10 mg/kg/day;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Isavuconazole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alternative; NO echinocandins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down to Posaconazole 300mg BID loading dose , then 300mg OD for 3-6 months (CT-guided)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6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63C0-C51C-491C-B65D-ABF3B0D3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Antifungals-1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BA1858-DA98-048F-B4CA-3BD2C780C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609600" y="1417638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27449840-DF5E-AB1A-5A20-E9F4AE9F699D}"/>
              </a:ext>
            </a:extLst>
          </p:cNvPr>
          <p:cNvSpPr/>
          <p:nvPr/>
        </p:nvSpPr>
        <p:spPr>
          <a:xfrm>
            <a:off x="182880" y="6291072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F0DC8-C7E4-5190-04BF-268B3D543745}"/>
              </a:ext>
            </a:extLst>
          </p:cNvPr>
          <p:cNvSpPr txBox="1"/>
          <p:nvPr/>
        </p:nvSpPr>
        <p:spPr>
          <a:xfrm>
            <a:off x="441434" y="6350395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Ref: Pappas PG et al. CID 2016; Perfect JR et al. CID 2010; WHO Fungal Priority Pathogens List 2022 | Jarvis JN et al. AMBITION Trial. NEJM 2022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19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ED09-223E-CF57-50A0-6546D19A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Antifungals-2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A36925-C3FE-05C8-F52F-A3CE82462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9600" y="1600200"/>
            <a:ext cx="10972799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098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E78-8380-B45B-2B01-B7CC8C30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Antifungals-3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5A845D-DD60-E8BF-AF5B-B188530F5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41434" y="1135118"/>
            <a:ext cx="11140966" cy="5328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922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8D05-BAFA-85FD-DD14-5E00DC47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Antifungals-4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B85CBE-B144-0411-2A1C-DE66D6496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4724" y="1417638"/>
            <a:ext cx="11167675" cy="491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85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A475-E3C8-ABE5-AABD-7BFC3305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Antifungals-5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35E2AB-88CE-8135-E34D-5C161D39F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28326" y="1417638"/>
            <a:ext cx="11054073" cy="441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5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B435-3D49-EC0C-1C94-EED8A4D2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Case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79794-0CD0-E638-0983-30EFE75C1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35-year-old with AML on induction chemotherapy. Day 12 post-chemo. Neutrophils 0.1 × 10⁹/L. Persistent fever × 5 days despite piperacillin-tazobactam + gentamicin.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CT: dense RUL consolidation with 'halo sign'. Serum Galactomannan: 2.3 (positive ≥ 0.5)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diagnosis ?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management of the above diagnosis ?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prevention of diagnosis?</a:t>
            </a:r>
          </a:p>
        </p:txBody>
      </p:sp>
    </p:spTree>
    <p:extLst>
      <p:ext uri="{BB962C8B-B14F-4D97-AF65-F5344CB8AC3E}">
        <p14:creationId xmlns:p14="http://schemas.microsoft.com/office/powerpoint/2010/main" val="39983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AFD8-7AC2-5F38-D0A2-447F4EA6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DD-848A-57FD-4870-A9443683A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55-year-old Type 1 diabetic presenting in DKA (pH 7.15, glucose 32 mmol/L). 3-day history: facial swelling, periorbital oedema, left proptosis, black eschar on hard palate.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 sinuses: pan-sinusitis with orbital invasion. Tissue biopsy: broad pauci-septate hyphae branching at 90</a:t>
            </a:r>
            <a:r>
              <a:rPr lang="en-US" dirty="0"/>
              <a:t>°.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diagnosis 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management of diagnosis above?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40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A4CC4-31E3-9DD9-7D97-FADD8304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E0C47-AF1A-359F-0717-326943C95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35117"/>
            <a:ext cx="10972800" cy="4991047"/>
          </a:xfrm>
        </p:spPr>
        <p:txBody>
          <a:bodyPr/>
          <a:lstStyle/>
          <a:p>
            <a:pPr>
              <a:spcAft>
                <a:spcPts val="200"/>
              </a:spcAft>
              <a:buSzPct val="100000"/>
            </a:pPr>
            <a:r>
              <a:rPr lang="en-US" sz="20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Wheat LJ et al. IDSA Guidelines: Histoplasmosis. CID 2007; 45(7):807–825.</a:t>
            </a:r>
            <a:endParaRPr lang="en-US" sz="2000" dirty="0">
              <a:solidFill>
                <a:schemeClr val="tx2"/>
              </a:solidFill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20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Galgiani JN et al. IDSA Guidelines: Coccidioidomycosis. CID 2016; 63(6):e112–e146.</a:t>
            </a:r>
            <a:endParaRPr lang="en-US" sz="2000" dirty="0">
              <a:solidFill>
                <a:schemeClr val="tx2"/>
              </a:solidFill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20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Chapman SW et al. IDSA Guidelines: Blastomycosis. CID 2008; 46(12):1801–1812.</a:t>
            </a:r>
            <a:endParaRPr lang="en-US" sz="2000" dirty="0">
              <a:solidFill>
                <a:schemeClr val="tx2"/>
              </a:solidFill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20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Pappas PG et al. IDSA Guidelines: Candidiasis. CID 2016; 62(4):e1–50.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Patterson TF et al. IDSA Guidelines: Aspergillosis. CID 2016; 63(4):e1–60.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JR et al. IDSA Guidelines: Cryptococcal Disease. CID 2010; 50(3):291–322.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Cornely OA et al. ESCMID/ECMM Guidelines: Mucormycosis. CMI 2014; 20(Suppl 3):5–26.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Bozzette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et al. Corticosteroids in Pneumocystis Pneumonia. NEJM 1990; 323:1451–1457.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Herbrecht R et al. Voriconazole vs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 for IA. NEJM 2002; 347:408–415.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Maertens JA et al.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Isavuconazole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Voriconazole (SECURE). NEJM 2016; 374:1209–1219.</a:t>
            </a:r>
          </a:p>
          <a:p>
            <a:pPr>
              <a:spcAft>
                <a:spcPts val="200"/>
              </a:spcAft>
              <a:buSzPct val="100000"/>
            </a:pPr>
            <a:endParaRPr lang="en-US" sz="20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61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22E1-635E-DA44-DC29-4D12DB6B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199C2-240F-D010-690F-056FBF34B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3945"/>
            <a:ext cx="10972800" cy="4912219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JN et al. (ACTA Trial): Cryptococcal Meningitis. NEJM 2013; 368:1291–1302.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Jarvis JN et al. (AMBITION Trial): Single-Dose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NEJM 2022; 386:1109–1120.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Kuse ER et al. Micafungin vs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(MICELAN). Lancet 2007; 369:1519–1527.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Fungal Priority Pathogens List. Geneva: WHO, 2022.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Mandell GL et al. Principles and Practice of Infectious Diseases, 9th ed. Elsevier, 2019.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Harrison’s Principle of Internal Medicine- 22nd Edition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Rajasingham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et al. Lancet Infect Dis 2022;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Bongomin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et al. J Fungi 2017; Denning DW et al. Lancet Infect Dis 2023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55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32A9E5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418</TotalTime>
  <Words>4035</Words>
  <Application>Microsoft Office PowerPoint</Application>
  <PresentationFormat>Widescreen</PresentationFormat>
  <Paragraphs>389</Paragraphs>
  <Slides>40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IBM Plex Sans</vt:lpstr>
      <vt:lpstr>Outfit Medium</vt:lpstr>
      <vt:lpstr>Times New Roman</vt:lpstr>
      <vt:lpstr>Office Theme</vt:lpstr>
      <vt:lpstr>Management of Deep Mycoses </vt:lpstr>
      <vt:lpstr>Outline </vt:lpstr>
      <vt:lpstr>Introduction</vt:lpstr>
      <vt:lpstr>Classification: Endemic vs Opportunistic </vt:lpstr>
      <vt:lpstr>Risk Factors for Acquiring Fungal Infections</vt:lpstr>
      <vt:lpstr>Histoplasmosis — Overview &amp; Risk Factors </vt:lpstr>
      <vt:lpstr>Histoplasmosis — Clinical Features</vt:lpstr>
      <vt:lpstr>Histoplasmosis — Diagnosis &amp; Treatment </vt:lpstr>
      <vt:lpstr>Coccidioidomycosis — Overview &amp; Risk Factors </vt:lpstr>
      <vt:lpstr>Coccidioidomycosis — Clinical Features</vt:lpstr>
      <vt:lpstr> Coccidioidomycosis — Diagnosis &amp; Treatment </vt:lpstr>
      <vt:lpstr> Blastomycosis — Overview &amp; Risk factors  </vt:lpstr>
      <vt:lpstr>Blastomycosis- Clinical Presentation</vt:lpstr>
      <vt:lpstr>Blastomycosis — Diagnosis&amp; Treatment</vt:lpstr>
      <vt:lpstr>Candidiasis — Overview &amp; Risk Factors </vt:lpstr>
      <vt:lpstr>Candidiasis —Forms &amp; Clinical Features</vt:lpstr>
      <vt:lpstr>Candidiasis —Diagnosis &amp; Treatment </vt:lpstr>
      <vt:lpstr>PowerPoint Presentation</vt:lpstr>
      <vt:lpstr>Aspergillosis — Overview &amp; Risk Factors </vt:lpstr>
      <vt:lpstr>Aspergillosis — Clinical Features</vt:lpstr>
      <vt:lpstr>Aspergillosis — Clinical Features</vt:lpstr>
      <vt:lpstr>Aspergillosis — Diagnosis &amp;Treatment</vt:lpstr>
      <vt:lpstr>Aspergillosis — Treatment &amp; Complications </vt:lpstr>
      <vt:lpstr>Cryptococcosis — Overview &amp; Risk Factors </vt:lpstr>
      <vt:lpstr>Cryptococcosis — Clinical Features</vt:lpstr>
      <vt:lpstr>Cryptococcosis — Clinical Features &amp; Diagnosis </vt:lpstr>
      <vt:lpstr>Pneumocystis jirovecii Pneumonia (PJP)</vt:lpstr>
      <vt:lpstr>PJP- Clinical Presentation&amp; Diagnosis  </vt:lpstr>
      <vt:lpstr>PJP- Treatment</vt:lpstr>
      <vt:lpstr>Mucormycosis (Zygomycosis) </vt:lpstr>
      <vt:lpstr>Mucormycosis (Zygomycosis)</vt:lpstr>
      <vt:lpstr>An Overview of Antifungals-1</vt:lpstr>
      <vt:lpstr>An Overview of Antifungals-2</vt:lpstr>
      <vt:lpstr>An Overview of Antifungals-3</vt:lpstr>
      <vt:lpstr>An Overview of Antifungals-4</vt:lpstr>
      <vt:lpstr>An Overview of Antifungals-5</vt:lpstr>
      <vt:lpstr>Case 1 </vt:lpstr>
      <vt:lpstr>Case 2 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Fredirick Mashili</dc:creator>
  <cp:lastModifiedBy>Administrator</cp:lastModifiedBy>
  <cp:revision>509</cp:revision>
  <dcterms:created xsi:type="dcterms:W3CDTF">2017-04-05T10:53:00Z</dcterms:created>
  <dcterms:modified xsi:type="dcterms:W3CDTF">2026-05-30T14:55:36Z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5E5D257DCD8B4AF1845569F50671B1D2_13</vt:lpwstr>
  </property>
  <property fmtid="{D5CDD505-2E9C-101B-9397-08002B2CF9AE}" pid="3" name="KSOProductBuildVer">
    <vt:lpwstr>1033-12.2.0.13489</vt:lpwstr>
  </property>
</Properties>
</file>