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436" r:id="rId13"/>
    <p:sldId id="432" r:id="rId14"/>
    <p:sldId id="270" r:id="rId15"/>
    <p:sldId id="353" r:id="rId16"/>
    <p:sldId id="276" r:id="rId17"/>
    <p:sldId id="354" r:id="rId18"/>
    <p:sldId id="355" r:id="rId19"/>
    <p:sldId id="296" r:id="rId20"/>
    <p:sldId id="356" r:id="rId21"/>
    <p:sldId id="357" r:id="rId22"/>
    <p:sldId id="358" r:id="rId23"/>
    <p:sldId id="382" r:id="rId24"/>
    <p:sldId id="387" r:id="rId25"/>
    <p:sldId id="384" r:id="rId26"/>
    <p:sldId id="386" r:id="rId27"/>
    <p:sldId id="388" r:id="rId28"/>
    <p:sldId id="431" r:id="rId29"/>
    <p:sldId id="433" r:id="rId30"/>
    <p:sldId id="434" r:id="rId31"/>
    <p:sldId id="435" r:id="rId32"/>
    <p:sldId id="362" r:id="rId33"/>
    <p:sldId id="389" r:id="rId34"/>
    <p:sldId id="390" r:id="rId35"/>
    <p:sldId id="391" r:id="rId36"/>
    <p:sldId id="392" r:id="rId37"/>
    <p:sldId id="393" r:id="rId38"/>
    <p:sldId id="395" r:id="rId39"/>
    <p:sldId id="396" r:id="rId40"/>
    <p:sldId id="397" r:id="rId41"/>
    <p:sldId id="398" r:id="rId42"/>
    <p:sldId id="399" r:id="rId43"/>
    <p:sldId id="400" r:id="rId44"/>
    <p:sldId id="414" r:id="rId45"/>
    <p:sldId id="415" r:id="rId46"/>
    <p:sldId id="416" r:id="rId47"/>
    <p:sldId id="417" r:id="rId48"/>
    <p:sldId id="418" r:id="rId49"/>
    <p:sldId id="323" r:id="rId50"/>
    <p:sldId id="324" r:id="rId51"/>
    <p:sldId id="419" r:id="rId52"/>
    <p:sldId id="425" r:id="rId53"/>
    <p:sldId id="325" r:id="rId54"/>
    <p:sldId id="326" r:id="rId55"/>
    <p:sldId id="328" r:id="rId56"/>
    <p:sldId id="420" r:id="rId57"/>
    <p:sldId id="423" r:id="rId58"/>
    <p:sldId id="421" r:id="rId59"/>
    <p:sldId id="422" r:id="rId60"/>
    <p:sldId id="427" r:id="rId61"/>
    <p:sldId id="428" r:id="rId62"/>
    <p:sldId id="429" r:id="rId63"/>
    <p:sldId id="437" r:id="rId6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28C"/>
    <a:srgbClr val="1C7F5E"/>
    <a:srgbClr val="E6DF13"/>
    <a:srgbClr val="E4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60425" autoAdjust="0"/>
  </p:normalViewPr>
  <p:slideViewPr>
    <p:cSldViewPr snapToGrid="0" snapToObjects="1" showGuides="1">
      <p:cViewPr varScale="1">
        <p:scale>
          <a:sx n="51" d="100"/>
          <a:sy n="51" d="100"/>
        </p:scale>
        <p:origin x="2059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A5C2878-4654-4079-B030-5E47C2C5D674}" type="datetimeFigureOut">
              <a:rPr lang="en-US" altLang="en-US"/>
              <a:t>5/12/2026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497DE80-0297-46C5-B5C0-F08F29C2DD8F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EECDD41-E951-430A-8AF4-2C94325B6799}" type="datetimeFigureOut">
              <a:rPr lang="en-US" altLang="en-US"/>
              <a:t>5/12/2026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6948324-13D7-4655-B8F7-1E5C093BA4F7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05c67aa9f8e6b22964c7e0117a01a98891df203a7cb3b7e8055f38fc8eb489acJmltdHM9MTc3ODAyNTYwMA&amp;ptn=3&amp;ver=2&amp;hsh=4&amp;fclid=0db46a94-2be6-6e13-07d5-7c252a566f26&amp;u=a1aHR0cHM6Ly9nZWVreW1lZGljcy5jb20vc2Vuc2l0aXZpdHktc3BlY2lmaWNpdHktcHB2LWFuZC1ucHYv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05c67aa9f8e6b22964c7e0117a01a98891df203a7cb3b7e8055f38fc8eb489acJmltdHM9MTc3ODAyNTYwMA&amp;ptn=3&amp;ver=2&amp;hsh=4&amp;fclid=0db46a94-2be6-6e13-07d5-7c252a566f26&amp;u=a1aHR0cHM6Ly9nZWVreW1lZGljcy5jb20vc2Vuc2l0aXZpdHktc3BlY2lmaWNpdHktcHB2LWFuZC1ucHYv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2458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7725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512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Sensitivity</a:t>
            </a:r>
            <a:r>
              <a:rPr lang="en-US" dirty="0"/>
              <a:t> and </a:t>
            </a:r>
            <a:r>
              <a:rPr lang="en-US" b="1" dirty="0"/>
              <a:t>specificity</a:t>
            </a:r>
            <a:r>
              <a:rPr lang="en-US" dirty="0"/>
              <a:t> are measures used to evaluate the accuracy of a medical test:</a:t>
            </a:r>
          </a:p>
          <a:p>
            <a:r>
              <a:rPr lang="en-US" b="1" dirty="0"/>
              <a:t>Sensitivity:</a:t>
            </a:r>
            <a:r>
              <a:rPr lang="en-US" dirty="0"/>
              <a:t> The ability of a test to correctly identify people who </a:t>
            </a:r>
            <a:r>
              <a:rPr lang="en-US" i="1" dirty="0"/>
              <a:t>have</a:t>
            </a:r>
            <a:r>
              <a:rPr lang="en-US" dirty="0"/>
              <a:t> the disease (true positive rate).</a:t>
            </a:r>
            <a:br>
              <a:rPr lang="en-US" dirty="0"/>
            </a:br>
            <a:r>
              <a:rPr lang="en-US" dirty="0"/>
              <a:t>→ High sensitivity means the test rarely misses the disease. </a:t>
            </a:r>
          </a:p>
          <a:p>
            <a:r>
              <a:rPr lang="en-US" b="1" dirty="0"/>
              <a:t>Specificity:</a:t>
            </a:r>
            <a:r>
              <a:rPr lang="en-US" dirty="0"/>
              <a:t> The ability of a test to correctly identify people who </a:t>
            </a:r>
            <a:r>
              <a:rPr lang="en-US" i="1" dirty="0"/>
              <a:t>do not have</a:t>
            </a:r>
            <a:r>
              <a:rPr lang="en-US" dirty="0"/>
              <a:t> the disease (true negative rate).</a:t>
            </a:r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26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Sepsis Cascade</a:t>
            </a:r>
            <a:r>
              <a:rPr lang="en-US" dirty="0"/>
              <a:t> refers to the series of </a:t>
            </a:r>
            <a:r>
              <a:rPr lang="en-US" b="1" dirty="0"/>
              <a:t>pathophysiological events</a:t>
            </a:r>
            <a:r>
              <a:rPr lang="en-US" dirty="0"/>
              <a:t> that follow a severe infection leading to </a:t>
            </a:r>
            <a:r>
              <a:rPr lang="en-US" b="1" dirty="0"/>
              <a:t>systemic inflammation, organ dysfunction, and potentially death</a:t>
            </a:r>
            <a:r>
              <a:rPr lang="en-US" dirty="0"/>
              <a:t>. It is triggered by </a:t>
            </a:r>
            <a:r>
              <a:rPr lang="en-US" b="1" dirty="0"/>
              <a:t>an overwhelming host response</a:t>
            </a:r>
            <a:r>
              <a:rPr lang="en-US" dirty="0"/>
              <a:t> to infection and involves </a:t>
            </a:r>
            <a:r>
              <a:rPr lang="en-US" b="1" dirty="0"/>
              <a:t>immune, inflammatory, coagulation, and endothelial dysfunction pathways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🧬 STEP-BY-STEP SEPSIS CASCADE:</a:t>
            </a:r>
          </a:p>
          <a:p>
            <a:pPr>
              <a:buNone/>
            </a:pPr>
            <a:r>
              <a:rPr lang="en-US" b="1" dirty="0"/>
              <a:t>1. Infection (Trigger)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Pathogen entry</a:t>
            </a:r>
            <a:r>
              <a:rPr lang="en-US" dirty="0"/>
              <a:t> (bacteria, virus, fungus, parasite).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sources: lungs (pneumonia), urinary tract, abdomen, or bloodstream.</a:t>
            </a:r>
          </a:p>
          <a:p>
            <a:pPr>
              <a:buNone/>
            </a:pPr>
            <a:r>
              <a:rPr lang="en-US" b="1" dirty="0"/>
              <a:t>2. Pathogen Recognition by Immune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PAMPs (Pathogen-Associated Molecular Patterns)</a:t>
            </a:r>
            <a:r>
              <a:rPr lang="en-US" dirty="0"/>
              <a:t> on microbes are detected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PRRs (Pattern Recognition Receptors)</a:t>
            </a:r>
            <a:r>
              <a:rPr lang="en-US" dirty="0"/>
              <a:t> like Toll-like receptors (TLRs) on macrophages, dendritic cells, and endothelial cells.</a:t>
            </a:r>
          </a:p>
          <a:p>
            <a:pPr>
              <a:buNone/>
            </a:pPr>
            <a:r>
              <a:rPr lang="en-US" b="1" dirty="0"/>
              <a:t>3. Activation of Inflammatory Pathways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Cytokine storm: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↑ </a:t>
            </a:r>
            <a:r>
              <a:rPr lang="en-US" b="1" dirty="0"/>
              <a:t>Proinflammatory cytokines</a:t>
            </a:r>
            <a:r>
              <a:rPr lang="en-US" dirty="0"/>
              <a:t>: TNF-</a:t>
            </a:r>
            <a:r>
              <a:rPr lang="el-GR" dirty="0"/>
              <a:t>α, </a:t>
            </a:r>
            <a:r>
              <a:rPr lang="en-US" dirty="0"/>
              <a:t>IL-1, IL-6, IL-8.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↑ </a:t>
            </a:r>
            <a:r>
              <a:rPr lang="en-US" b="1" dirty="0"/>
              <a:t>Anti-inflammatory cytokines</a:t>
            </a:r>
            <a:r>
              <a:rPr lang="en-US" dirty="0"/>
              <a:t>: IL-10 (compensatory).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Neutrophils, monocytes, and complement system are activated.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Endothelial cells become activated → </a:t>
            </a:r>
            <a:r>
              <a:rPr lang="en-US" b="1" dirty="0"/>
              <a:t>increased vascular permeability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4. Endothelial Dysfunction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 of tight junctions → </a:t>
            </a:r>
            <a:r>
              <a:rPr lang="en-US" b="1" dirty="0"/>
              <a:t>leaky capillaries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Vasodilation → ↓ systemic vascular resistance.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Microvascular thrombosis → </a:t>
            </a:r>
            <a:r>
              <a:rPr lang="en-US" b="1" dirty="0"/>
              <a:t>tissue hypoperfusion</a:t>
            </a:r>
            <a:r>
              <a:rPr lang="en-US" dirty="0"/>
              <a:t> and </a:t>
            </a:r>
            <a:r>
              <a:rPr lang="en-US" b="1" dirty="0"/>
              <a:t>organ ischemia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Nitric oxide (NO)</a:t>
            </a:r>
            <a:r>
              <a:rPr lang="en-US" dirty="0"/>
              <a:t> and prostaglandins contribute to vasodilation and hypotension.</a:t>
            </a:r>
          </a:p>
          <a:p>
            <a:pPr>
              <a:buNone/>
            </a:pPr>
            <a:r>
              <a:rPr lang="en-US" b="1" dirty="0"/>
              <a:t>5. Coagulation Abnormalities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Tissue factor expression</a:t>
            </a:r>
            <a:r>
              <a:rPr lang="en-US" dirty="0"/>
              <a:t> is increased.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Disseminated Intravascular Coagulation (DIC)</a:t>
            </a:r>
            <a:r>
              <a:rPr lang="en-US" dirty="0"/>
              <a:t> may occur: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↑ Microthrombi.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↓ Platelets and clotting factors → bleeding risk.</a:t>
            </a:r>
          </a:p>
          <a:p>
            <a:pPr>
              <a:buNone/>
            </a:pPr>
            <a:r>
              <a:rPr lang="en-US" b="1" dirty="0"/>
              <a:t>6. Cellular &amp; Metabolic Dysfunction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Mitochondrial dysfunction</a:t>
            </a:r>
            <a:r>
              <a:rPr lang="en-US" dirty="0"/>
              <a:t> → ↓ ATP → metabolic failure.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Lactic acidosis</a:t>
            </a:r>
            <a:r>
              <a:rPr lang="en-US" dirty="0"/>
              <a:t> from anaerobic metabolism due to poor perfusion.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Apoptosis of immune and epithelial cells.</a:t>
            </a:r>
          </a:p>
          <a:p>
            <a:pPr>
              <a:buNone/>
            </a:pPr>
            <a:r>
              <a:rPr lang="en-US" b="1" dirty="0"/>
              <a:t>7. Organ Dysfunction (Severe Sepsis)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Lung</a:t>
            </a:r>
            <a:r>
              <a:rPr lang="en-US" dirty="0"/>
              <a:t>: ARDS (acute respiratory distress syndrome).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Kidney</a:t>
            </a:r>
            <a:r>
              <a:rPr lang="en-US" dirty="0"/>
              <a:t>: Acute kidney injury (AKI).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Liver</a:t>
            </a:r>
            <a:r>
              <a:rPr lang="en-US" dirty="0"/>
              <a:t>: Cholestasis, failure.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Brain</a:t>
            </a:r>
            <a:r>
              <a:rPr lang="en-US" dirty="0"/>
              <a:t>: Encephalopathy.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Heart</a:t>
            </a:r>
            <a:r>
              <a:rPr lang="en-US" dirty="0"/>
              <a:t>: Myocardial depression.</a:t>
            </a:r>
          </a:p>
          <a:p>
            <a:pPr>
              <a:buNone/>
            </a:pPr>
            <a:r>
              <a:rPr lang="en-US" b="1" dirty="0"/>
              <a:t>8. Septic Shock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Persistent </a:t>
            </a:r>
            <a:r>
              <a:rPr lang="en-US" b="1" dirty="0"/>
              <a:t>hypotension requiring vasopressors</a:t>
            </a:r>
            <a:r>
              <a:rPr lang="en-US" dirty="0"/>
              <a:t> despite fluid resuscitation.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Serum </a:t>
            </a:r>
            <a:r>
              <a:rPr lang="en-US" b="1" dirty="0"/>
              <a:t>lactate &gt; 2 mmol/L</a:t>
            </a:r>
            <a:r>
              <a:rPr lang="en-US" dirty="0"/>
              <a:t> = marker of tissue hypoxia.</a:t>
            </a:r>
          </a:p>
          <a:p>
            <a:pPr>
              <a:buNone/>
            </a:pPr>
            <a:r>
              <a:rPr lang="en-US" b="1" dirty="0"/>
              <a:t>9. Death (if unchecked)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Due to multi-organ failure (MOF), refractory hypotension, or irreversible cellular injury.</a:t>
            </a:r>
          </a:p>
          <a:p>
            <a:pPr>
              <a:buNone/>
            </a:pPr>
            <a:r>
              <a:rPr lang="en-US" b="1" dirty="0"/>
              <a:t>🔬 Summary Flowchart:</a:t>
            </a:r>
          </a:p>
          <a:p>
            <a:pPr>
              <a:buNone/>
            </a:pPr>
            <a:r>
              <a:rPr lang="en-US" b="1" dirty="0"/>
              <a:t>Infection → PRRs detect PAMPs → Cytokine storm → Endothelial damage + Vasodilation → Coagulation activation → Organ hypoperfusion → Organ dysfunction → Shock → Death</a:t>
            </a:r>
            <a:endParaRPr lang="en-US" dirty="0"/>
          </a:p>
          <a:p>
            <a:pPr>
              <a:buNone/>
            </a:pPr>
            <a:r>
              <a:rPr lang="en-US" b="1" dirty="0"/>
              <a:t>🎯 Key Mediators:</a:t>
            </a:r>
          </a:p>
          <a:p>
            <a:pPr>
              <a:buNone/>
            </a:pPr>
            <a:r>
              <a:rPr lang="en-US" dirty="0"/>
              <a:t>Pathway Mediators Inflammatory TNF-</a:t>
            </a:r>
            <a:r>
              <a:rPr lang="el-GR" dirty="0"/>
              <a:t>α, </a:t>
            </a:r>
            <a:r>
              <a:rPr lang="en-US" dirty="0"/>
              <a:t>IL-1, IL-6 Endothelial NO, histamine, bradykinin Coagulation Tissue factor, thrombin, fibrin Metabolic Lactic acid, mitochondrial ROS </a:t>
            </a:r>
            <a:r>
              <a:rPr lang="en-US" b="1" dirty="0"/>
              <a:t>🧠 Mnemonic: "SIRS-CO"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</a:t>
            </a:r>
            <a:r>
              <a:rPr lang="en-US" dirty="0"/>
              <a:t>ystemic inflammation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</a:t>
            </a:r>
            <a:r>
              <a:rPr lang="en-US" dirty="0"/>
              <a:t>mmune activation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</a:t>
            </a:r>
            <a:r>
              <a:rPr lang="en-US" dirty="0"/>
              <a:t>elease of cytokines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</a:t>
            </a:r>
            <a:r>
              <a:rPr lang="en-US" dirty="0"/>
              <a:t>hock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</a:t>
            </a:r>
            <a:r>
              <a:rPr lang="en-US" dirty="0"/>
              <a:t>oagulation (DIC)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</a:t>
            </a:r>
            <a:r>
              <a:rPr lang="en-US" dirty="0"/>
              <a:t>rgan failure</a:t>
            </a:r>
          </a:p>
          <a:p>
            <a:pPr>
              <a:buNone/>
            </a:pPr>
            <a:r>
              <a:rPr lang="en-US" dirty="0"/>
              <a:t>Let me know if you'd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Diagram of the sepsis cascade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USMLE/PLAB-style MCQs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Sepsis vs SIRS vs Septic shock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Latest </a:t>
            </a:r>
            <a:r>
              <a:rPr lang="en-US" b="1" dirty="0"/>
              <a:t>Surviving Sepsis Campaign</a:t>
            </a:r>
            <a:r>
              <a:rPr lang="en-US" dirty="0"/>
              <a:t> guidelines (2024)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BEDE3-C6D7-4BFD-B816-22C45476B6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84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Differences: Updated from NEWS (2012) to include specific management for patients requiring oxygen saturation (SpO2) targets of 88–92% (e.g., COPD patients) and to better assess delirium or new confusion (AVPU score).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A4300-8337-488C-B53B-711676AB1D73}" type="slidenum">
              <a:rPr lang="en-TZ" smtClean="0"/>
              <a:t>25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71123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from NEWS/NEWS2: MEWS typically does not include oxygen saturation (SPO2 %) as a core parameter and does not differentiate between patients who need oxygen and those who do not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A4300-8337-488C-B53B-711676AB1D73}" type="slidenum">
              <a:rPr lang="en-TZ" smtClean="0"/>
              <a:t>27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369960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</a:rPr>
              <a:t>Sensitivity and Specificity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Sensitivity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proportion of true positives correctly identified by a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Specificity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proportion of true negatives correctly identified. It answers: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“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PPV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probability that a person with a positive test result actually has the disease. 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NPV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probability that a person with a negative test result truly does not have the disease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+mn-cs"/>
            </a:endParaRPr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795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</a:rPr>
              <a:t>Sensitivity and Specificity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Sensitivity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proportion of true positives correctly identified by a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Specificity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proportion of true negatives correctly identified. It answers: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“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PPV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probability that a person with a positive test result actually has the disease. 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NPV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MS PGothic" panose="020B0600070205080204" pitchFamily="34" charset="-128"/>
                <a:cs typeface="+mn-cs"/>
                <a:hlinkClick r:id="rId3"/>
              </a:rPr>
              <a:t> is the probability that a person with a negative test result truly does not have the disease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+mn-cs"/>
            </a:endParaRPr>
          </a:p>
          <a:p>
            <a:endParaRPr lang="en-TZ" dirty="0"/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842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825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051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New MUHAS 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51" y="187325"/>
            <a:ext cx="1964267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073776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1" y="6267451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8AC291-31EB-4CF8-9406-F31D65B17B78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8A2F7-7EFE-4CD9-B702-1E4B6E00B8A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073776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1" y="6267451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7" name="Picture 9" descr="New MUHAS 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718" y="5310189"/>
            <a:ext cx="111336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  <a:lvl2pPr>
              <a:defRPr>
                <a:solidFill>
                  <a:srgbClr val="20328C"/>
                </a:solidFill>
              </a:defRPr>
            </a:lvl2pPr>
            <a:lvl3pPr>
              <a:defRPr>
                <a:solidFill>
                  <a:srgbClr val="20328C"/>
                </a:solidFill>
              </a:defRPr>
            </a:lvl3pPr>
            <a:lvl4pPr>
              <a:defRPr>
                <a:solidFill>
                  <a:srgbClr val="20328C"/>
                </a:solidFill>
              </a:defRPr>
            </a:lvl4pPr>
            <a:lvl5pPr>
              <a:defRPr>
                <a:solidFill>
                  <a:srgbClr val="20328C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99B34-1B6F-498C-AAD9-0E5AD70A31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305A4A-2BB2-453B-930D-BCE03039A2CD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ED6D0-55B1-475C-965C-8B60615A93F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B51C1D-8406-426F-9816-5F6F46EDA99B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D7F7AD-559D-40EF-93EF-C2EF8DFE6BD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2189BA-E12F-4303-B46A-01BF1775B999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27321C-A958-490C-8DF3-FB6D03F9098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64B21-3B82-4DF4-9E62-DD369F010353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40818-CC6C-4855-AAF4-BC35D4D0C0C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B3794F-6193-404F-8E7D-D69D84FB5871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2613-C6EF-4F22-BF61-53C00E45B04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6EFE1E-CCD2-42E9-AEA3-ADE4E3E71FB0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61BD5-D7F5-443A-B85D-9B7EFAF7FFE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90A97C-F370-4976-9331-AF0BA57ED057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21D2E8-0304-4A0D-8CFE-6C8B65ADC46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696D39-AF80-405C-BF8B-55E0283A3E80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805DC-062E-4591-982C-A90D862E97C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519BDF-7279-4603-A71A-7E3606EA8E2F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2D8E8-64D2-4FD6-9B4B-22063417951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FC3EC"/>
                </a:solidFill>
              </a:defRPr>
            </a:lvl1pPr>
          </a:lstStyle>
          <a:p>
            <a:fld id="{6D882F65-218E-4FC8-AA8F-8ADE843E6233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FC3EC"/>
                </a:solidFill>
              </a:defRPr>
            </a:lvl1pPr>
          </a:lstStyle>
          <a:p>
            <a:fld id="{71C4D8BE-8B01-4B18-A281-B0A79AC19526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 ftr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web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18F5-01DB-9F50-AFEA-E2E0EDC59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 NEGATIVE BACTEREMIA AND SEPSIS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52F65-D20D-0CD2-A3D2-2D8DBCBF2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32" y="3886200"/>
            <a:ext cx="10048568" cy="2140974"/>
          </a:xfrm>
        </p:spPr>
        <p:txBody>
          <a:bodyPr/>
          <a:lstStyle/>
          <a:p>
            <a:pPr algn="l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PRESENTERS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NADHIRU NASSOR RAMADHANI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ZAZI SIGONDA</a:t>
            </a:r>
          </a:p>
          <a:p>
            <a:pPr algn="l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FACILITOR  </a:t>
            </a:r>
          </a:p>
          <a:p>
            <a:pPr algn="l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PROF.SHAYO </a:t>
            </a:r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47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F82D-C5A6-9777-0B8C-BC62D6C2A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EA49-AC4B-05C7-EFD6-366212757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why is it important to study gram negative than gram positive 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 to definition of bacteremia and sepsis  septic shock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 to explain the pathophysiology of sepsis and finally septic shock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patient presents in both sepsis and septic shock 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available guideline ( standard treatment guidelines and international studies ) 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international study says  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 to know key findings of new SURVIVING SEPSIS CAMPAIGN2026 as compared to SSC of 2016 </a:t>
            </a:r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1909D-7F03-C102-6A1A-D8295F9F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C1AE-9DCA-4AE0-9360-6A6953F61CD5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E786-E3B8-DE77-FD31-665739188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30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2EBD-0E7E-F71D-C760-B673EEFC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70D1-2238-BF53-C9B8-18CEB7C88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Epidemiology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and Aetiology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on clinically important gram negatives and MRSA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Pathophysiology of sepsis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presentation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to a patient with Septicaemia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FEE4C-5B48-3AEC-26A9-25D8A45C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00F8B-DFA2-41E2-BC7E-E5AE7FCE8F67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60D8C-4E62-C998-BD55-45C408DB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87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DC87-6E5E-26E9-0D4F-1793546A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BB2E4-E728-4D5D-3ED2-51CB76D33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Bacteremia: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Presence of bacteria in the bloodstream; can progress to severe infection. 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Sepsis: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Life-threatening organ dysfunction caused by a dysregulated response to infection. Organ dysfunction begins (e.g., AKI, altered mental status, hypoxia) 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 shock: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Severe sepsis </a:t>
            </a:r>
            <a:r>
              <a:rPr lang="en-US" sz="2400" b="1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circulatory failure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requiring vasopressors to maintain MAP ≥65 mmHg and persistent serum lactate &gt;2 mmol/L despite adequate fluid resuscitation, associated with high mortality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impact: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TZ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49 million cases and 13 million sepsis-related deaths each year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2030 Global Agenda for Sepsis: Making the next Success Story in Global Health, n.d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recognized as a priority by the World Health Organization. 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69BE6-E726-F820-1B06-CD72EC1FD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FE3F7-E827-4DD3-8971-2EAB7DDFC615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8BE87-21D6-AB11-D88C-91CE6B46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318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0A2F-2D74-9D9B-F708-722BB309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SIGNIFICANCY OF GRAM-NEGATIVE BACTERIAL OVER GRAM-POSITIVE BACTEREMIA</a:t>
            </a:r>
            <a:endParaRPr lang="en-T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3A168-4575-4D35-4F1D-39A059086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in Pathogens: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Increasing cases of bacteremia are now caused by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Gram-negative bacteria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Escherichia coli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surpassed 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Staphylococcus aureus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most common bloodstream pathogen, followed by 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Klebsiella pneumoniae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Pseudomonas aeruginosa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(Holmes et al., 2021) 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study done by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silango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 found that sepsis at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bugando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neonatal ward had the  prevalence of culture confirmed bacteremia of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34.5% of which 85.5%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GNB (Silago et al., 2020)  </a:t>
            </a:r>
          </a:p>
          <a:p>
            <a:pPr marL="457200" lvl="1" indent="0">
              <a:buNone/>
            </a:pP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done by Holmes, C. L., Anderson, M. T., Mobley, H. L. T., &amp; Bachman, M. A. (2021). Pathogenesis of Gram-Negative Bacteremia. https://doi.org/10.1128/CMR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FE3B1-B903-0E91-0BEC-FE90DE19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3084-E04B-47A2-96CA-E3F6D5E5C0F5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999A2-6874-FA27-2B12-8658EE33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64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EB5E-2985-745C-3EFC-8F510A48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0D5B8-8DBB-D51F-FDCD-B6014B818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Bacteremia due to gram negative bacilli(</a:t>
            </a:r>
            <a:r>
              <a:rPr lang="en-US" sz="28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E.coli, klebsiella and pseudomonas  etc.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has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proportion of community-onset than hospital-onset bacteremia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poses a serious therapeutic difficulties because of increasing incidence in multidrug resistance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 negative bacillary sepsis with shock has a mortality rate of 12-38%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BDC1-F3A2-9460-81E4-26D382F4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A5B6-D9CE-417D-9DA5-4ABE05778AFA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E361-1C07-F957-345F-C7F57FB8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828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A56F-08D2-167B-C055-22E4AD52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dirty="0"/>
              <a:t>…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F3DE9-3323-01CA-4EC8-25CE5D42D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9033"/>
            <a:ext cx="10972800" cy="48971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 international ICU study on infection, microbiology, antibiotic use, and mortality done by Vincent et al found that </a:t>
            </a:r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burden of ICU infections: 54% of 15,202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ICU patients had suspected/confirmed infection, with ICU-acquired infections linked to higher mortality (OR 1.32).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Microbiology &amp; antibiotic resistance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Gram-negative bacteria were most common (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67%), and 65%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 positive cultures; resistant organisms (e.g., </a:t>
            </a:r>
            <a:r>
              <a:rPr lang="en-US" sz="2400" b="1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vancomycin-resistant Enterococcus, carbapenem-resistant Acinetobacter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were strongly associated with increased death risk.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outcomes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In-hospital mortality among infected patients was high (30%), with 70% receiving antibiotics, highlighting the severity and treatment burden of ICU infections globally. (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Vincent et al., 2020)</a:t>
            </a:r>
            <a:endParaRPr lang="en-TZ" sz="2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683D-CB87-197A-42C4-694DBF05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DBDD-0B0B-40D5-B8D2-B3334A191A5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DFAD9-DB4E-44B8-A1AD-70D25291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123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F75B-A0A1-86F7-CCBF-E85B26C7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DRUG RESISITANCE …</a:t>
            </a:r>
            <a:endParaRPr lang="en-TZ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AA2F8-2878-B1E9-F1E0-4A6FB00F4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027"/>
            <a:ext cx="10972800" cy="4838138"/>
          </a:xfrm>
        </p:spPr>
        <p:txBody>
          <a:bodyPr/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MDR pathogens: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 with resistance to ≥1 drug in ≥3 antimicrobial classes 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Acinetobacter baumannii,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ESBL-producing Gram-negative bacteria,(E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coli,Klebsiella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spp Pseudomonas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Carbapenem Resistance Enterococci, 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Vancomycin Resistant Enterococci, 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multidrug-resistant Pseudomonas aeruginosa, 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MRSA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 They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Cause difficult-to-treat infections and require careful antibiotic management(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Oliveira &amp; de Castro, 2025)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of them are gram negative bacteria </a:t>
            </a:r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1D7B-8C17-8D44-1253-946B9E4B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466A-7710-48B3-805D-8C99AD158D85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142F4-FB5A-73BB-CB26-D16473F4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79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E1B8-780D-9378-4E2A-A5DAD947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6525"/>
            <a:ext cx="11710219" cy="1281114"/>
          </a:xfrm>
        </p:spPr>
        <p:txBody>
          <a:bodyPr/>
          <a:lstStyle/>
          <a:p>
            <a: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FOR MDR PATHOGENS INCLUDE, </a:t>
            </a:r>
            <a:b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TZ" sz="3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8947B-07A2-A0B5-83A9-AFF031932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infection with the MDR pathogen of concern, 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colonization with the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mdr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pathogen of concern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prolonged use of broad‑spectrum antibiotics, and 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prolonged hospitalization in a unit with a high prevalence of the MDR pathogen of concern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2534E-41AE-E386-2BDA-2A749534C6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Genetic factor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Intensive care unit hospitalization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Invasive procedures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Comorbidities (e.g. malignancies, chronic liver disease and chronic kidney disease)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age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Immunosuppression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hospitalization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D6320-1BDD-1928-060C-6D2DA8CF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0CDE7-C7CD-454A-845A-23390628CDDF}" type="datetime2">
              <a:rPr lang="en-US" altLang="en-US" smtClean="0"/>
              <a:t>Tuesday, May 12, 2026</a:t>
            </a:fld>
            <a:endParaRPr lang="en-US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4A53A-BC2E-D095-EA18-303DB229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7F7AD-559D-40EF-93EF-C2EF8DFE6BD3}" type="slidenum">
              <a:rPr lang="en-US" altLang="en-US" smtClean="0"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97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F30F-5876-6114-5FA1-0188C259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ETIOLOGY OF GRAM NEGATIVE BACTERMIA </a:t>
            </a:r>
            <a:endParaRPr lang="en-TZ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1719-BE41-B738-22F8-A1A9BDDCD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specific gram-negative bacteremia differs by either the infection is hospital or community acquired, and by the likely primary source of infection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acquired: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coli, K. pneumoniae, P. aeruginosa, Proteus spp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ICU: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aeruginosa, Enterobacter spp, K. pneumoniae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based: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-E. coli, P. aeruginosa, K. pneumoniae, Salmonella spp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E89B1-DD54-C9FF-87B4-7E4715E1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12A4-8AE6-4DEF-A8F5-C29B752044C7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94D5A-5118-5D86-3D3E-373668F6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915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E0A4-83E5-A38C-7550-C83EF065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IMPORTANT GRAM NEGATIVE AND (SOME) GRAM POSITIVE BACTERIA</a:t>
            </a:r>
            <a:endParaRPr lang="en-T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FE02-76EF-14B9-94B4-3CFBFA071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beta lactamase producers (EBSL)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coli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Klebsiella spp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Proteus spp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Enterobacter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Salmonella spp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Pseudomonas spp</a:t>
            </a:r>
          </a:p>
          <a:p>
            <a:pPr lvl="1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MDR pathogens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Acinetobacter baumannii, ESBL-producing Gram-negative bacteria, CRE, VRE, multidrug-resistant Pseudomonas aeruginosa, MRSA: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gram-positive bacteria (MRSA, enterococci)</a:t>
            </a: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A8638-61C4-3617-A8C1-CD04880C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25CD-B5E8-44A0-BA74-3C433A5B87F0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F8731-46C2-9912-356D-CC23B1CB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74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MULTIDRUG-RESISTANT GRAM-NEGATIVE PATHOGENS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Pseudomonas aeruginosa: 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Gram-negative aerobic bacillus; causes </a:t>
            </a:r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VAP, UTI, SSTI, endocarditis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forms biofilms on invasive devices; highly multidrug-resistant.</a:t>
            </a:r>
          </a:p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Klebsiella pneumoniae: 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Encapsulated Gram-negative bacillus causing severe necrotizing lobar pneumonia; associated with alcoholics/diabetics; ‘</a:t>
            </a:r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currant jelly sputum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</a:p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Escherichia coli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Normal gut flora; leading cause of community and hospital-acquired UTI; </a:t>
            </a:r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ESBL-producing 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pathogen.</a:t>
            </a:r>
          </a:p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Acinetobacter baumannii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MDR Gram-negative coccobacillus linked to healthcare settings; </a:t>
            </a:r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VAP, bloodstream infections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UTI with high mortality.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 AND ESCALATION THERAPY IN SEVERE SEPSIS DUE 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empiric therapy (within 1 hour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Ampicillin + Cloxacillin + Gentamicin for broad Gram-positive and Gram-negative coverage.</a:t>
            </a:r>
          </a:p>
          <a:p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Reassess within 24 hours: If no improvement, </a:t>
            </a:r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escalate to 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Ceftriaxone + Gentamicin and refer for higher-level care.</a:t>
            </a:r>
          </a:p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therapy for severe/non-responding cases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Piperacillin-Tazobactam or Ceftriaxone-Sulbactam + Gentamicin.</a:t>
            </a:r>
          </a:p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Escalation for resistant organisms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Meropenem or Vancomycin based on culture results and specialist guidance.</a:t>
            </a:r>
          </a:p>
          <a:p>
            <a:r>
              <a:rPr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Adjunct therapy</a:t>
            </a:r>
            <a:r>
              <a:rPr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Add Metronidazole or Clindamycin for anaerobic coverage; reserve Colistin + Linezolid for MDR infections.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D0F8-F274-DFC4-C9E4-E7F208F8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SEPSIS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2CF87-1DCA-0552-5C3F-E76CA7DC0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the better understanding of the research, physiology, and management, Sepsis definitions were revised by the </a:t>
            </a:r>
            <a:r>
              <a:rPr lang="en-US" sz="2400" b="1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International Consensus Definitions for Sepsis and Septic Shock (Sepsis-3)  (SSC 2016)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Sepsis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life-threatening organ dysfunction caused by a dysregulated host response to infection.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clinically defined by Sequential [Sepsis-related] Organ Failure Assessment (SOFA) of more than 2 points (Predicts Mortality rate of 10%)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a large cohort study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(&gt;221,000 patients) showed NEWS2 has the highest sensitivity and specificity for sepsis screening, and due to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qSOFA’s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poor sensitivity, guidelines recommend NEWS/NEWS2, MEWS, or SIRS over qSOFA as a standalone tool (Prescott et al.).</a:t>
            </a:r>
          </a:p>
          <a:p>
            <a:pPr>
              <a:lnSpc>
                <a:spcPct val="110000"/>
              </a:lnSpc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F1620-9E80-3E5B-2F2D-2FB95A68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9AFD-9191-4AA3-9444-0098C1F44DD6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8C281-BD28-5B83-DEAD-4E4D4866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040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6" y="777834"/>
            <a:ext cx="9814508" cy="6080166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22DE5-6DC8-FAE0-8DF9-FC436C72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90C9-1379-4A98-B519-230553A2E2CD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EFD71-924E-6C99-728F-12F13FAB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24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5FEC-248C-269F-75FE-CB89376B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SEPTIC SHOCK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CE6B4-D41E-845C-FD49-C4C4AB228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 shock: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Severe sepsis </a:t>
            </a:r>
            <a:r>
              <a:rPr lang="en-US" sz="2400" b="1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circulatory failure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requiring vasopressors to maintain MAP ≥65 mmHg and persistent serum lactate &gt;2 mmol/L despite adequate fluid resuscitation, associated with high mortality. 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Epidemiology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2020, sepsis affected ~48.9 million people and caused ~11 million deaths globally (~20% of all deaths), with about 85% of cases and deaths occurring in low- and middle-income countries.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meta-analysis of 14 studies (2009–2022) in Sub-Saharan Africa found sepsis prevalence of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18% in East Africa and 20% in Southern Africa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ICU prevalence of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14% and 13% respectively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consistently high burden with slight regional variation. 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PER Surviving Sepsis Campaign: international guidelines for management of sepsis and septic shock 2026</a:t>
            </a: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3DE7A-A698-DADD-AF7A-1F24EC5B8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0F8B-509D-476B-A76A-8C3A730624CA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F321C-3FCD-7CB1-1D4D-E6999D99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85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6262-8518-6F93-ABBC-D14E26A6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 FOR SEPSIS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94BF-1A79-E65F-34FE-546A3E0AE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age more than 65 years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Immunosuppression ( malignancies, AIDS, renal and hepatic failure and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asplenism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hospitalization.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ICU admission, 50% of ICU admissions develop nosocomial infections.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Bacteremia, 95% of positive blood cultures were associated with sepsis and septic shock.</a:t>
            </a: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19FD-78AD-AE45-695C-0C8C6ABF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854F-D068-4558-A871-01AE3E8BC0A5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76AB1-832B-E117-2295-746FB6BB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09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EBC2-6BA4-3A44-F3FF-197A99F3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PATHOPHYSIOLOGY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3174D-E0BC-935A-EAD4-FCB98F13E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LPS (endotoxin) 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Gram-negative bacteria activates macrophages, triggering inflammatory cytokines (TNF, IL-1, IL-6, IL-8).</a:t>
            </a:r>
          </a:p>
          <a:p>
            <a:r>
              <a:rPr lang="en-US"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Cytokine storm 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systemic inflammation → fever, endothelial damage, coagulation problems (DIC), and widespread microvascular injury.</a:t>
            </a:r>
          </a:p>
          <a:p>
            <a:r>
              <a:rPr lang="en-US"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in septic shock 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vasodilation, low blood pressure, tissue hypoxia, lactic acidosis, and possible multi-organ failure/death.</a:t>
            </a:r>
          </a:p>
          <a:p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evidence that sepsis results from an exaggerated systemic inflammatory response induced by infecting organisms is compelling. Inflammatory mediators are the key players in the pathogenesis of sepsis (see Table 3 below).</a:t>
            </a:r>
          </a:p>
          <a:p>
            <a:endParaRPr lang="en-TZ" sz="27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7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E3E9-1AB9-3440-6326-44E05891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70A12-8498-437D-93E7-0AC8F2A7EA4F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DAB5-1918-9467-34A9-C9B9880E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07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ascodanny\Desktop\29db0fe3aed3bf34094b06ab27748eb9.gif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1045" y="399393"/>
            <a:ext cx="9566787" cy="605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E4F9E-58B4-CBB8-DF13-EB28C2D99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00A0-AC73-483D-98FD-437BFB475CC7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5CC92-8ABD-CD18-FD92-7DF11679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19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D91D-9CC7-424E-C562-D071E8B1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PRESENTATION</a:t>
            </a:r>
            <a:endParaRPr lang="en-TZ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B8A51-6EDD-B14C-B2DF-F7A19004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 and signs are usually non specific.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 and signs specific to the source of infection.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include: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&gt;38.3c or &lt;36c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rate &gt; 90bpm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Respiratory rate &gt; 20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SBP &gt; 90mmHg, MAP&lt; 70mmHg or an SBP decrease of &gt; 40mmHg.</a:t>
            </a: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E1303-3DD5-E819-13D6-D06199BA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4D2A-643A-4C6D-BD7B-B4D794436526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84A49-03A9-924E-1A92-406C479B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47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8868-D50B-48E0-ED9F-C0ADE9E2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PRESENTATION </a:t>
            </a:r>
            <a:endParaRPr lang="en-TZ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4C49B-EBE8-5A89-E12B-2FCA534F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of end organ hypoperfusion.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Warm flushed skin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early stages of sepsis then cool skin with decreased capillary refill, cyanosis or skin mottling.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Altered mental status, obtundation, restlessness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Oliguria or anuria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Ileus or absent bowel sounds.</a:t>
            </a: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1F24A-5C53-8CB8-3B78-16267B47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3B41-7F00-4698-B23B-72825C1B384B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F1C3A-D20C-721E-E2E3-9810EEB4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75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B1F7-F9AD-D581-0C75-3A819532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EARLY SEPSIS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080CE-E49F-9ADD-353D-CD1449979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infected patients who have a risk to develop sepsis is the way to decrease sepsis related mortality.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score include is the Quick sequential organ failure assessment score( qSOFA) score.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qSOFA score was validated in 2016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is most useful predictor of mortality in patients suspected of sepsis outside of the ICU.</a:t>
            </a:r>
          </a:p>
          <a:p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acutely ill patients in hospital,  “recommendation” is by using NEWS, NEW2, MEWS, or SIRS over qSOFA as a single tool to screen for sepsis IN THE NEW  SSC CAMPAIN 2026</a:t>
            </a:r>
            <a:endParaRPr lang="en-US" sz="2800" b="1" i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1" i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5FB36-6246-354D-AD98-89754DF6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2C04-F233-4D91-B7BD-AB6D1AF352B3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2605F-A92C-FE06-E0BD-3B0B92EC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92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qSOFA SCORE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10" y="1710813"/>
            <a:ext cx="8833146" cy="44661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0ABE4-5791-DB97-5433-3F79B269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E2A4-83C6-49D7-963A-B232B463239B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AD0BB-08D9-A400-42D4-E3CE0BBB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23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1EA4-A0E3-BD3F-62A5-BE20EA3D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SCORING SYSTME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CF45636-3180-518F-5AB7-7E91FF68C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2" y="1524000"/>
            <a:ext cx="9606115" cy="456009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EF745-BD3E-9F46-DED4-D862F08A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40B6-BB7B-42BB-A153-AAF93B4C6778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C72CE-A84E-7427-989A-77A70796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370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F9D27-015E-F651-ED1B-5AAF9F42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 2 CRITERIA </a:t>
            </a:r>
            <a:endParaRPr lang="en-TZ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82CD31-33FE-982D-D7E9-01AFC0A761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47654"/>
            <a:ext cx="5181600" cy="432930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1912D27-69D0-F660-C35E-99FAC3E5DA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40" y="1432874"/>
            <a:ext cx="5015060" cy="474408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49607-E00E-A3A1-B292-6DF8D3C6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62B29-A296-496F-9942-D84E63EE3A37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557FD-E20F-30EA-C2AA-D8A24DA4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7F7AD-559D-40EF-93EF-C2EF8DFE6BD3}" type="slidenum">
              <a:rPr lang="en-US" altLang="en-US" smtClean="0"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75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275C-6E39-CF8A-DDF1-74CCFBB4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MEWS SCORE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C14F73-F09E-1CB4-0718-F85A2C414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25625"/>
            <a:ext cx="9954706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20826-A3BD-B0EA-9CCF-B7A23C0B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2F97E-013E-4A72-B017-A4926F040769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9147C-6BDA-E4BF-F44D-BE56FB69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35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E742-10DE-61BC-19ED-8DB04A95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MEWS SCORE 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3FAF6B-8E22-873A-6689-328345F49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398" y="2020094"/>
            <a:ext cx="8091602" cy="39624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688F0-CA4B-0AA2-A32A-44503B77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8F55-ED01-4630-99EA-7D94A14350B6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19C6B-E763-3AEE-F1A3-40DABC8E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52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BE37-264B-8E6E-3899-167F18C3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Z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EBD6B8-B837-A1DA-39EF-AE7DACBB4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966954"/>
              </p:ext>
            </p:extLst>
          </p:nvPr>
        </p:nvGraphicFramePr>
        <p:xfrm>
          <a:off x="529936" y="274638"/>
          <a:ext cx="11585862" cy="571825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930977">
                  <a:extLst>
                    <a:ext uri="{9D8B030D-6E8A-4147-A177-3AD203B41FA5}">
                      <a16:colId xmlns:a16="http://schemas.microsoft.com/office/drawing/2014/main" val="3712107484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598524771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1523566270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50859490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4131211803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2767756990"/>
                    </a:ext>
                  </a:extLst>
                </a:gridCol>
              </a:tblGrid>
              <a:tr h="39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Score</a:t>
                      </a:r>
                      <a:endParaRPr lang="en-US" sz="9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Parameters Measured</a:t>
                      </a:r>
                      <a:endParaRPr lang="en-US" sz="9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Criteria / Components</a:t>
                      </a:r>
                      <a:endParaRPr lang="en-US" sz="9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Positive Score</a:t>
                      </a:r>
                      <a:endParaRPr lang="en-US" sz="9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Main Purpose</a:t>
                      </a:r>
                      <a:endParaRPr lang="en-US" sz="9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Key Features</a:t>
                      </a:r>
                      <a:endParaRPr lang="en-US" sz="9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519413411"/>
                  </a:ext>
                </a:extLst>
              </a:tr>
              <a:tr h="1065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SIRS</a:t>
                      </a: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(Systemic Inflammatory Response Syndrome)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4 parameters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• HR &gt; 90 bpm • RR &gt; 20/min • Temp &lt; 36°C or &gt; 38°C • WBC &lt; 4,000 or &gt; 12,000/mm³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≥ 2 / 4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Detect systemic inflammation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Very sensitive, not specific for sepsis</a:t>
                      </a: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271429646"/>
                  </a:ext>
                </a:extLst>
              </a:tr>
              <a:tr h="728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qSOFA</a:t>
                      </a: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(Quick SOFA)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 parameters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• SBP ≤ 100 mmHg • RR ≥ 22/min • GCS &lt; 15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≥ 2 / 3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Identify high-risk sepsis patients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Quick bedside tool, more specific</a:t>
                      </a: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1025803665"/>
                  </a:ext>
                </a:extLst>
              </a:tr>
              <a:tr h="1065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EWS</a:t>
                      </a: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(Early Warning Score)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5 parameters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• SBP • Pulse rate • RR • Temperature • AVPU (Alert, Voice, Pain, Unresponsive)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 fixed universal cutoff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Detect early clinical deterioration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Simple bedside monitoring tool</a:t>
                      </a: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537970109"/>
                  </a:ext>
                </a:extLst>
              </a:tr>
              <a:tr h="1569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NEWS</a:t>
                      </a: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(National Early Warning Score)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7 parameters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• RR • Oxygen saturation • Supplemental O₂ use • Temperature • SBP • Pulse rate • Consciousness level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≥ 5 (Red flag)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Detect acute illness severity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Standardized, widely used, score 0–20</a:t>
                      </a: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1268590559"/>
                  </a:ext>
                </a:extLst>
              </a:tr>
              <a:tr h="896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MEWS</a:t>
                      </a: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(Modified EWS)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5 parameters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• SBP • HR • RR • Temperature • Mental status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Varies (trend-based)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Identify deterioration (esp. surgical patients)</a:t>
                      </a: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Considers deviation from baseline; may include urine output</a:t>
                      </a: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135637739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5399-5409-BE3F-253B-3008143F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679FE-9527-BE37-C0C7-FF7F2A79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25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A793-AECE-7523-BF92-5456EE14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BETWEEN SIRS, QSOFA, NEWS AND MEWS SCORE AS PREDICTORS FOR INHOSPITAL MORTALITY OF PATIENTS GETTING ADMITTED TO ICU OF A TERTIARY CARE TEACHING HOSPITAL</a:t>
            </a:r>
            <a:endParaRPr lang="en-T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B07817A-DAA2-390B-FFD5-C387A517A7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321721"/>
              </p:ext>
            </p:extLst>
          </p:nvPr>
        </p:nvGraphicFramePr>
        <p:xfrm>
          <a:off x="609599" y="1555507"/>
          <a:ext cx="11381508" cy="4525963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96918">
                  <a:extLst>
                    <a:ext uri="{9D8B030D-6E8A-4147-A177-3AD203B41FA5}">
                      <a16:colId xmlns:a16="http://schemas.microsoft.com/office/drawing/2014/main" val="3066736648"/>
                    </a:ext>
                  </a:extLst>
                </a:gridCol>
                <a:gridCol w="1896918">
                  <a:extLst>
                    <a:ext uri="{9D8B030D-6E8A-4147-A177-3AD203B41FA5}">
                      <a16:colId xmlns:a16="http://schemas.microsoft.com/office/drawing/2014/main" val="948404866"/>
                    </a:ext>
                  </a:extLst>
                </a:gridCol>
                <a:gridCol w="1896918">
                  <a:extLst>
                    <a:ext uri="{9D8B030D-6E8A-4147-A177-3AD203B41FA5}">
                      <a16:colId xmlns:a16="http://schemas.microsoft.com/office/drawing/2014/main" val="3737175357"/>
                    </a:ext>
                  </a:extLst>
                </a:gridCol>
                <a:gridCol w="1896918">
                  <a:extLst>
                    <a:ext uri="{9D8B030D-6E8A-4147-A177-3AD203B41FA5}">
                      <a16:colId xmlns:a16="http://schemas.microsoft.com/office/drawing/2014/main" val="1550603149"/>
                    </a:ext>
                  </a:extLst>
                </a:gridCol>
                <a:gridCol w="1896918">
                  <a:extLst>
                    <a:ext uri="{9D8B030D-6E8A-4147-A177-3AD203B41FA5}">
                      <a16:colId xmlns:a16="http://schemas.microsoft.com/office/drawing/2014/main" val="3371907678"/>
                    </a:ext>
                  </a:extLst>
                </a:gridCol>
                <a:gridCol w="1896918">
                  <a:extLst>
                    <a:ext uri="{9D8B030D-6E8A-4147-A177-3AD203B41FA5}">
                      <a16:colId xmlns:a16="http://schemas.microsoft.com/office/drawing/2014/main" val="3614632789"/>
                    </a:ext>
                  </a:extLst>
                </a:gridCol>
              </a:tblGrid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Score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Sensitivity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Specificity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PPV / NPV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AUROC (95% CI)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Key Takeaway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827136014"/>
                  </a:ext>
                </a:extLst>
              </a:tr>
              <a:tr h="1114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SIRS ≥2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77.78%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23.88%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Low PPV, high NPV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0.49 (0.37–0.61)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Very sensitive, poor specificity; weak prognostic accuracy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3752146456"/>
                  </a:ext>
                </a:extLst>
              </a:tr>
              <a:tr h="905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qSOFA ≥2</a:t>
                      </a:r>
                      <a:endParaRPr lang="en-US" sz="1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36.02%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73.61%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Higher PPV, lower NPV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0.56 (0.46–0.66)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Specific but insensitive; misses many cases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295445317"/>
                  </a:ext>
                </a:extLst>
              </a:tr>
              <a:tr h="1322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NEWS ≥5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77.78%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41.79%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Balanced PPV/NPV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0.61 (0.52–0.71)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Sensitive, moderate specificity; better than SIRS but still limited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1218900260"/>
                  </a:ext>
                </a:extLst>
              </a:tr>
              <a:tr h="696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MEWS ≥5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76.36%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63.91%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Best balance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Z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0.76 (0.68–0.84)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Highest overall prognostic accuracy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762758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6472A-F633-A4F6-68D6-FAED1851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50070-C2EE-DB9D-C050-12DE069D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08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B047-7FF8-05D5-765B-996E0F578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MEWS ≥5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Best overall predictor of ICU mortality (highest AUROC, balanced sensitivity/specificity).</a:t>
            </a:r>
          </a:p>
          <a:p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SIRS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Overly sensitive, poor specificity → not reliable for mortality prediction.</a:t>
            </a:r>
          </a:p>
          <a:p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qSOFA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High specificity but very low sensitivity → good for ruling in high-risk patients, but misses many.</a:t>
            </a:r>
          </a:p>
          <a:p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Similar sensitivity to SIRS, slightly better specificity, but still inferior to MEWS.</a:t>
            </a:r>
          </a:p>
          <a:p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score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achieves both high sensitivity and specificity → bedside tools should complement, not replace, clinical judgment.</a:t>
            </a:r>
          </a:p>
          <a:p>
            <a:endParaRPr lang="en-TZ" sz="25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A1BCE-E62B-22FE-EC4A-2ADFA1DEB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B7477-C5DE-59D6-09F9-B16DDB5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30</a:t>
            </a:fld>
            <a:endParaRPr lang="en-US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079E783-72DC-F69F-6B82-BFBEEBF2B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22972"/>
            <a:ext cx="48141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TZ" sz="3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(Majmundar et al., 2023)</a:t>
            </a:r>
            <a:endParaRPr kumimoji="0" lang="en-US" altLang="en-TZ" sz="1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70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8FAD-5ABC-0BFA-83A1-14658EF0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758A-CCA7-61A9-45A1-42DCEA4F1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Pearl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MEWS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most useful for prognostic accuracy in ICU mortality.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qSOFA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best for identifying patients at high risk of poor outcomes (specificity).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SIRS/NEWS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remain sensitive screening tools but lack discriminative power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4F6E3-8A75-852D-FC94-D42B32BE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D6273-DC79-1A14-D296-361B2560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83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45" y="483476"/>
            <a:ext cx="9480331" cy="5875283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13041-6091-CB30-5B5F-C8B16A52B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1EC5-2140-4A1F-81C6-32535F2D86A6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50EB7B-5B00-B120-2A71-A520F97C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32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2E3C-8E78-CE8D-635C-7825E4F6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FROM THE SURVIVING SEPSIS CAMPAIGN-2026</a:t>
            </a:r>
            <a:endParaRPr lang="en-TZ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7709C-E335-9F86-2937-D90D02DE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F31A-E16F-494F-B78D-69AE248637E7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1BE5B-720F-BFD5-1A04-993C490A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33</a:t>
            </a:fld>
            <a:endParaRPr lang="en-US" alt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38B4588-0284-38FB-8813-D639DA8BF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1126776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46EC-3BFE-8791-DC77-26C827FC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TO A PATIENT WITH SEPTICAEMIA</a:t>
            </a:r>
            <a:br>
              <a:rPr lang="en-GB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TZ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DD746-5E05-FA4A-721C-6FCEAC6D8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recommendation: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Hospitals should consider implementing “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sepsis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”/“sepsis huddle” protocols—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multidisciplinary bedside coordination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—to expedite diagnosis and treatment of Sepsis despite low-certainty evidence.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acutely ill patients in hospital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is  strongly “recommend” using NEWS, NEW2, MEWS, or SIRS over qSOFA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single tool to screen for sepsis (strong recommendation, moderate certainty evidence)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practice: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Sepsis remains a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diagnosis (not based on a single biomarker/test)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there is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evidence to recommend novel rapid host-response diagnostics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5D5A0-6D1D-9812-F789-4E8C9E43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AC4F-E7FB-4893-B499-B50CE4618F87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F4A95-8984-4B3D-76AA-5B299129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97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BA4E-67C1-D644-4C2F-E0A15087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6254B-93DF-5509-5EF1-DCECE2617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recommendation: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suspected or confirmed sepsis or septic shock,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 blood cultures asap—ideally before starting antimicrobials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recommendation: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suspected or confirmed sepsis or septic shock,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blood lactate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care: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sepsis and septic shock require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treatment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including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≥30 ml/kg iv crystalloids within 3 h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individualized dosing and frequent reassessment to avoid under-/over-resuscitation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34C43-170A-019D-479E-C00C074D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D034-0640-4BC1-AB0A-91FD88591DEE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0D61C-5FA8-9560-093B-997C1357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487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5CCE-9AAE-8B01-68F4-F44098607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725A4-C1DD-7231-9259-F93A500AF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endParaRPr lang="en-US" sz="2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recommendation: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sepsis-induced hypotension due to Sepsis, give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IV crystalloid bolus, then add vasopressors if hypotension persists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in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unstable septic shock, start vasopressors concurrently with fluids based on clinical signs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recommendation: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septic shock due to Sepsis,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vasopressors via peripheral IV to rapidly restore MAP rather than delaying for central access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(very low-certainty evidence). </a:t>
            </a:r>
          </a:p>
          <a:p>
            <a:pPr marL="514350" indent="-514350">
              <a:buFont typeface="+mj-lt"/>
              <a:buAutoNum type="arabicPeriod" startAt="8"/>
            </a:pPr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7D837-8C71-F1F4-BD5D-DC7E20F3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3CF0-CA69-4D79-B207-786EA6E3C749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4BA7F-273F-27A1-AF27-FDB05C07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07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A488-098C-034F-8331-5851900C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TIMING OF ANTIBIOTIC INITIATION IN HOSPITAL</a:t>
            </a:r>
            <a:endParaRPr lang="en-T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682E0-3327-B107-03B7-13DE1115C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antibiotics (≤1 h):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 with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 shock or likely sepsis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administer antimicrobials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soon as possible (ideally within 1 hour).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sepsis (no shock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Perform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assessment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if infection remains suspected,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antimicrobials within 3 hours.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infection likelihood: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 shock and low suspicion,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defer antibiotics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 monitoring and reassessment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adults with sepsis or septic shock who require ICU admission, we “suggest” admitting the patients to the ICU within 6 h (conditional recommendation, low certainty evidence)</a:t>
            </a: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B23A8-5077-5C33-EE27-CCCC9185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B9B4-F15D-484E-94DA-D82DD9737154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B344F-8855-E65E-B07B-6380A528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100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B028-A8AB-F39C-1F90-70D3F74A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dirty="0"/>
              <a:t>…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DEE3-D506-AABC-BFEA-B22A3787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101213"/>
            <a:ext cx="11670890" cy="5024951"/>
          </a:xfrm>
        </p:spPr>
        <p:txBody>
          <a:bodyPr/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sepsis/septic shock,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 MDR coverage is suggested only for high-risk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 (e.g.,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colonization/infection, prolonged broad-spectrum antibiotics, high-prevalence units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but not recommended in low-risk patients (conditional, very low certainty). 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sepsis/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 shock, omit anaerobic coverage if no risk factors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include it when anaerobic infection is suspected (e.g.,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intra-abdominal, necrotizing soft tissue, gynecologic, head/neck infections, CNS abscess/empyema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(conditional, very low certainty).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sepsis/septic shock,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prolonged (extended/continuous) beta-lactam infusions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after a loading dose rather than intermittent bolus dosing (strong recommendation, moderate certainty).</a:t>
            </a: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F579-4354-7471-AEF9-D8010024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3E452-DE06-465F-BD57-A66ED3DFC789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A2232-CA07-EC91-558B-5805FBBD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10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179D-771D-D13A-AAF4-F14B9851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9F7F7-1EF9-CB84-C1CC-EE29CF22F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sepsis/septic shock with adequate source control,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shorter antibiotic courses are suggested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longer durations 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sepsis/septic shock with adequate source control and unclear duration,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procalcitonin-guided plus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assessment is suggested over clinical assessment alone to guide antibiotic discontinuation 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6ADE0-9EA8-C674-7AD2-74C3993D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43F97-0199-442D-9B13-86AF13733C88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98D2A-5E28-EA05-57FD-DE1C045C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10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9B98-B512-2F30-DA2E-5A299596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HEMODYNAMIC MANAGEMENT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E06C0-4E0E-340B-598E-8EC9FD92C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First-line fluids: Use crystalloids for resuscitation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sepsis/septic shock; prefer balanced crystalloids over 0.9% saline, except use 0.9% saline in traumatic brain injury (strong/conditional, moderate certainty).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Adjunct fluids: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Crystalloids alone are preferred over routine addition of albumin; albumin may be considered only after large crystalloid volumes or in cirrhosis, and avoided in TBI (conditional, moderate certainty).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Avoided fluids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Do not use starches (strong recommendation, high certainty) and avoid gelatin for resuscitation (conditional, moderate certainty).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27157-096F-CCFE-9471-B9FFFA7FB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39E3-4D21-43AE-B132-7F2D8C65F8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6890A-B8B4-8A51-77DC-D601913A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28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05FB-6A38-28F2-4D70-E9DBE1C0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VASOPRESSOR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41BF4-203A-B345-8424-1DEB76682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First-line vasopressor;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norepinephrine as the first-line vasopressor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septic shock (strong recommendation) over dopamine, epinephrine, selepressin, vasopressin, and angiotensin II.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Escalation strategy: If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 remains inadequate, add vasopressin to norepinephrine, and if still refractory, consider adding epinephrine (conditional recommendations). Avoid terlipressin (conditional against use).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situation (cardiac dysfunction):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Either norepinephrine or epinephrine may be used first-line in septic shock with cardiac dysfunction, with choice guided by clinical profile (e.g., arrhythmia risk).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refractory septic shock,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methylene blue has insufficient evidence for recommendation as rescue therapy despite possible BP improvement, with no proven survival benefit and minimal routine use in practice.</a:t>
            </a: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0BE1-1523-F653-DB93-D5C28643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80EA-DFF5-47DC-B554-BF4200D664AF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13273-360C-8A2E-C3FF-861946F0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93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953D-B497-6A7E-9091-AA6F6C40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IONOTROPES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9E20-6308-3159-0201-1D2FEB8FF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Inotrope use: In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septic shock with cardiac dysfunction and persistent hypoperfusion despite adequate fluids and MAP, use inotropes in addition to vasopressors (e.g.,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dobutamine to norepinephrine or use epinephrine alone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(conditional, very low certainty).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Avoid: Levosimendan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suggested against in this setting due to insufficient supporting evidence (conditional, low certainty).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0A51A-C56A-2039-5828-5617FBA2F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809F-F9DB-4148-BB99-19D39B5A6CB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9DF7F-158E-A541-FFE6-9E2296475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66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F825-E0E2-3192-B734-3DACAB65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RESPIRATORY SUPPORT </a:t>
            </a:r>
            <a:endParaRPr lang="en-TZ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3A5D-851D-F706-1A61-A00EED812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sepsis, oxygenation assessment is suggested using either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oximetry (SpO₂)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arterial blood gas (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₂)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alongside clinical evaluation (conditional, very low certainty).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ABG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preferred when available as the gold standard, providing broader data (pH,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PaCO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₂, lactate, bicarbonate) and more accurate oxygenation assessment.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SpO₂/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FiO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substitute for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PaO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₂/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FiO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is less reliable in shock, extreme saturations, and in patients with darker skin tones.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BA909-B16A-E3E6-3024-4C91679F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B7311-B70D-38F6-7391-4290F86E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97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CE82-7C3D-22A9-ABA8-AD3D27EF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NON-INVASIVE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0F27-C9A6-F842-5BB3-9C9D78D5F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 with acute hypoxemic respiratory failure (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₂/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 &lt;200 or SpO₂/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 &lt;235),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high-flow nasal cannula (HFNC)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suggested over conventional oxygen therapy and non-invasive ventilation (conditional recommendations, very low to low certainty).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HFNC is also suggested as initial respiratory support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non-invasive positive pressure ventilation.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HFNC is preferred over alternating HFNC with non-invasive ventilation due to insufficient evidence for added benefit.</a:t>
            </a: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1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79E6-F918-2C7E-71B3-CD053A3A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3F930-D3FA-1DFF-5A48-335676615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 with ARDS;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lung-protective ventilation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low tidal volume (6 mL/kg IBW) and limit plateau pressure ≤30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cmH₂O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(strong recommendations, high certainty).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ARDS: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tidal volume 6–8 mL/kg IBW rather than very low tidal volumes (4–&lt;6 mL/kg) (conditional, low certainty).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note: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Regularly reassess for development of ARDS as diagnosis is often missed or delayed.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51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58AA-3E55-208D-398F-C08FE1F0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dirty="0"/>
              <a:t>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C92AF-C079-04E1-3BE5-85F4727C8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moderate–severe ARDS in sepsis, use higher PEEP (over lower PEEP) and prone positioning &gt;12 hours daily, but avoid incremental PEEP titration strategies (conditional/strong recommendations, moderate certainty).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neuromuscular blockade, intermittent bolus dosing is suggested over continuous infusion (conditional, moderate certainty).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Veno ECMO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severe sepsis-related ARDS,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Veno-venous ECMO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suggested as rescue therapy when conventional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ventilation fails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only in experienced centers with appropriate infrastructure (conditional, low certainty).</a:t>
            </a: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37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40FB-23FF-610D-EC2A-C7F930DB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ADJUVANT THERAPIES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8C3A-71E1-8D75-3D4A-A1FE8AFBB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septic shock</a:t>
            </a: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IV corticosteroids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suggested for patients with ongoing shock despite adequate fluid resuscitation and vasopressors (conditional, low certainty evidence).</a:t>
            </a:r>
          </a:p>
          <a:p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sepsis/</a:t>
            </a: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 shock, antipyretic therapy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(drug or surface cooling) is suggested against for improving outcomes, except when used for symptom relief, pain control, or other specific indications (conditional, very low certainty).</a:t>
            </a:r>
          </a:p>
          <a:p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sepsis/</a:t>
            </a: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 shock, IV immunoglobulins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suggested against for routine use due to lack of clear outcome benefit (conditional, low certainty evidence).</a:t>
            </a:r>
          </a:p>
          <a:p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sepsis/</a:t>
            </a: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 shock, IV vitamin C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suggested against for routine use due to insufficient evidence of clinical benefit (conditional, low certainty evidence).</a:t>
            </a:r>
          </a:p>
          <a:p>
            <a:endParaRPr lang="en-TZ" sz="25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82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0239-1071-E915-ADD0-41DB129F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3A94B-5507-7F09-D9CE-9F8424854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sepsis/septic shock, </a:t>
            </a: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pharmacologic VTE prophylaxis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recommended unless contraindicated, with low-molecular-weight heparin preferred over unfractionated heparin (strong recommendations, moderate certainty).</a:t>
            </a:r>
          </a:p>
          <a:p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prophylaxis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routinely added to pharmacologic prophylaxis; use pharmacologic prophylaxis alone (conditional, moderate certainty).</a:t>
            </a:r>
          </a:p>
          <a:p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sepsis/septic shock (after resolution of hypoperfusion and in absence of special indications), </a:t>
            </a:r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transfuse RBCs only when Hb &lt;7 g/dL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target 7–9 g/dL (restrictive strategy). </a:t>
            </a:r>
          </a:p>
          <a:p>
            <a:r>
              <a:rPr lang="en-US" sz="2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sepsis/septic shock with AKI, </a:t>
            </a:r>
            <a:r>
              <a:rPr lang="en-US" sz="2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initiating renal replacement therapy without a clear indication, but when RRT is required, either continuous or intermittent modalities can be used (conditional recommendations, low–moderate certainty).</a:t>
            </a:r>
          </a:p>
          <a:p>
            <a:endParaRPr lang="en-US" sz="25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sz="25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9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76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SUMMARY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5324" y="1019503"/>
            <a:ext cx="9101959" cy="5473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06E6-2842-4051-9D2D-842A7C11EF01}" type="slidenum">
              <a:rPr lang="en-GB" smtClean="0"/>
              <a:t>49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33903" y="0"/>
            <a:ext cx="7924800" cy="6453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06E6-2842-4051-9D2D-842A7C11EF01}" type="slidenum">
              <a:rPr lang="en-GB" smtClean="0"/>
              <a:t>50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7FE7-2B83-210A-4F70-559DE1F8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STG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EBBF2-75F6-CAF8-FA07-E05F0EB1C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1716"/>
            <a:ext cx="10972800" cy="5054449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resuscitation: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IV crystalloids (0.9% saline or Ringer’s lactate; adults ~2 L, children 20 mL/kg) within the first hour, with reassessment and cautious boluses in heart failure.</a:t>
            </a:r>
          </a:p>
          <a:p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Hemodynamic support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fluid-refractory shock, initiate vasopressors/inotropes (noradrenaline to maintain MAP ≥65 mmHg; dobutamine for low cardiac output) and give hydrocortisone 200 mg IV if indicated.</a:t>
            </a:r>
          </a:p>
          <a:p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antibiotics (within 1 hour):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broad-spectrum coverage immediately (ampicillin + cloxacillin + gentamicin), targeting likely polymicrobial sepsis before culture results.</a:t>
            </a:r>
          </a:p>
          <a:p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Escalation strategy: If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clinical improvement within 24 hours, escalate to broader agents (ceftriaxone-based regimens or piperacillin-tazobactam combinations with gentamicin; consider meropenem or vancomycin in severe/tertiary cases---- gram-v and gram+ve ).</a:t>
            </a:r>
          </a:p>
          <a:p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Adjunct and targeted therapy: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metronidazole/clindamycin for anaerobes; consider antifungals (fluconazole) in high-risk patients and reserve colistin/linezolid for multidrug-resistant organisms based on culture results VRE $CRB</a:t>
            </a:r>
            <a:endParaRPr lang="en-TZ" sz="2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4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7651-7E54-924C-F6BD-C6DFCC31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Z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FBE322-25DC-79A7-FACB-E2A5E89223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73626" y="274638"/>
            <a:ext cx="5722373" cy="5851525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655A36A-5F87-98DB-F4D1-58C23F9ADB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96000" y="274638"/>
            <a:ext cx="5820697" cy="585152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FAF1D-D3C5-BB0A-0F49-CAF0ABD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1C1D-8406-426F-9816-5F6F46EDA99B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3945-DC8C-D9C7-3D89-2905A404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7F7AD-559D-40EF-93EF-C2EF8DFE6BD3}" type="slidenum">
              <a:rPr lang="en-US" altLang="en-US" smtClean="0"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2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MNH ADULT SEPSIS PROTOCOL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191916" y="1439917"/>
            <a:ext cx="7609489" cy="5052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06E6-2842-4051-9D2D-842A7C11EF01}" type="slidenum">
              <a:rPr lang="en-GB" smtClean="0"/>
              <a:t>53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702676" y="651641"/>
            <a:ext cx="8229600" cy="5704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06E6-2842-4051-9D2D-842A7C11EF01}" type="slidenum">
              <a:rPr lang="en-GB" smtClean="0"/>
              <a:t>54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Acute respiratory distress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Acute kidney injury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Acute liver failure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Myocardial dysfunction</a:t>
            </a:r>
          </a:p>
          <a:p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Endocarditis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Meningitis</a:t>
            </a:r>
          </a:p>
          <a:p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Osteomyelitis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06E6-2842-4051-9D2D-842A7C11EF01}" type="slidenum">
              <a:rPr lang="en-GB" smtClean="0"/>
              <a:t>55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2996-87EB-0275-7C25-9E3A0B88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NEW </a:t>
            </a:r>
            <a:endParaRPr lang="en-TZ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EB8C6-A153-20CF-4CA1-F9C8D377F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SSC 2026 shifts sepsis management from rigid early “bundle-driven protocol care” (2016) to a more individualized, physiology-guided, antimicrobial-stewardship–focused and ICU-wide organ support approach.</a:t>
            </a:r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4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7D36-C8B4-24FB-841C-2B89D1D3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B521-1215-B69A-ABA9-AD6AC16D05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6E46F-86D9-2B6C-BEFD-0845BC05F6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SSC 2026 shifts sepsis management from rigid early “bundle-driven protocol care” (2016) to a more individualized, physiology-guided, antimicrobial-stewardship–focused and ICU-wide organ support approach.</a:t>
            </a:r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871AEA-230F-91CF-BA9F-C454C9F6D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56" y="365126"/>
            <a:ext cx="5830544" cy="605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5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615C-24AD-F727-4505-D11D4D62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NEW 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BDDCC-3897-28FE-EA79-17E78BE1A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Surviving Sepsis Campaign: 2026 vs 2016 – Key Updates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Fluid Strategy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 Fixed 30 mL/kg crystalloids 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2026: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Individualised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dynamic fluid responsiveness; avoid overload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Antibiotics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 All sepsis → antibiotics within 1 hour </a:t>
            </a: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2026: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in septic shock; risk-based timing in non-shock + stronger de-escalation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TZ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20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1574E-8AA7-5DB2-FA63-FD040796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NEW 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0623F-2B46-8532-1327-6DF93B067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Hemodynamic Support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 Norepinephrine + fluids protocol-driven 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2026: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vasopressors, balanced crystalloids, physiology-guided resuscitation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Diagnostics &amp; Monitoring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 Lactate + qSOFA emphasis 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2026: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lactate, NEWS/MEWS preferred, multimodal clinical assessment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ICU Bundle Expansion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 Core sepsis bundle only 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2026: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organ support strategy (ARDS care, nutrition,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glycaemic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control, VTE prophylaxis, stewardship, goals of care)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TZ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6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0FA4-476E-4D29-D9E7-25882CBD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17B4A-08C2-7F8C-BB14-5B055807F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2030 global agenda for sepsis: Making the next success story in global health. (n.d.).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Oliveira, A. M., &amp; de Castro, C. P. (2025). Perspectives in clinical microbiology for combating multi-drug resistant bacterial infections. In Frontiers in Cellular and Infection Microbiology (Vol. 15). Frontiers Media SA. https://doi.org/10.3389/fcimb.2025.1695284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Holmes, C. L., Anderson, M. T., Mobley, H. L. T., &amp; Bachman, M. A. (2021). Pathogenesis of Gram-Negative Bacteremia. https://doi.org/10.1128/CMR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Levinson, Warren. (2016). Review of medical microbiology and immunology. McGraw-Hill Education.</a:t>
            </a: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B8977-869D-A846-F9B8-8ADD3ACC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DFFB8-540F-D0F5-8F01-51ECFCB7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68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15A0-12AD-0F8F-63B1-4A6CDCA8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53DD-CBF0-14F7-5F20-71500514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4243"/>
            <a:ext cx="10972800" cy="4971921"/>
          </a:xfrm>
        </p:spPr>
        <p:txBody>
          <a:bodyPr/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Prescott, H. C., Antonelli, M.,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Alhazzani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W., Møller, M. H.,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Alshamsi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F., Azevedo, L. C. P., Belley-Cote, E., De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Waele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Derde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L., Dionne, J. C., Evans, L.,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Gershengorn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H. B., Hodgson, C. L.,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Honarmand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Kesecioglu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J., McIntyre, L., Mer, M., Nunnally, M. E., Oczkowski, S. J. W., … Coopersmith, C. M. (2026b). Surviving Sepsis Campaign: international guidelines for management of sepsis and septic shock 2026. Intensive Care Medicine. https://doi.org/10.1007/s00134-026-08361-1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Silago, V., Kovacs, D.,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Msanga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 R., Seni, J., Matthews, L.,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Oravcová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Zadoks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 N.,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Lupindu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 M., Hoza, A. S., &amp;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Mshana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E. (2020). Bacteremia in critical care units at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Bugando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Medical Centre, Mwanza, Tanzania: The role of colonization and contaminated cots and mothers’ hands in cross-transmission of multidrug resistant Gram-negative bacteria. Antimicrobial Resistance and Infection Control, 9(1). https://doi.org/10.1186/s13756-020-00721-w</a:t>
            </a:r>
          </a:p>
          <a:p>
            <a:endParaRPr lang="en-TZ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5AC93-BFF5-0687-2CDE-CE88BDA9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C6463-5796-5D7B-419A-71D79FB9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32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9A4F-C2F9-7E28-E1E7-DC9AD974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48DE-B4B2-1663-5DCA-B1C7FFD5F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slam MM, Nasrin T, Walther BA et al (2019) Prediction of sepsis patients  using machine learning approach: a meta analysis.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  Programs Biomed 170:1–9. (n.d.). Slam MM, Nasrin T, Walther BA et al (2019) Prediction of Sepsis Patients  Using Machine Learning Approach: A Meta analysis.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  Programs Biomed 170:1–9.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Vincent, J.-L., Sakr, Y., Singer, M., Martin-Loeches, I., Machado, F. R., Marshall, J. C.,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Finfer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S., Pelosi, P., Brazzi, L.,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Aditianingsih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D., Timsit, J.-F., Du, B.,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Wittebole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X.,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Máca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J., Kannan, S.,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Gorordo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-Delsol, L. A., De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Waele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 J., Mehta, Y.,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Bonten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J. M., … Angus, D. C. (2020). Prevalence and Outcomes of Infection Among Patients in Intensive Care Units in 2017. JAMA, 323(15), 1478. https://doi.org/10.1001/jama.2020.2717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(2030 Global Agenda for Sepsis: Making the next Success Story in Global Health, n.d.; “Slam MM, Nasrin T, Walther BA et al (2019) Prediction of Sepsis Patients  Using Machine Learning Approach: A Meta analysis.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  Programs Biomed 170:1–9,” n.d.; de Oliveira &amp; de Castro, 2025; Holmes et al., 2021; Levinson, 2016; Prescott et al., 2026a, 2026b; Silago et al., 2020; Vincent et al., 2020)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78546-DB77-595A-7A58-15D15A68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FA604-ED23-C36C-6246-2AADF548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09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F54F-5DD0-CD95-0982-A93BA3DD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34CCE-43CB-B7B9-BFCB-76133DC0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7C1-AC33-412D-A6F1-498346107F9C}" type="datetime2">
              <a:rPr lang="en-US" altLang="en-US" smtClean="0"/>
              <a:t>Tuesday, May 12, 2026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7F83B-D677-F1D7-A8E8-A7A091CE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63</a:t>
            </a:fld>
            <a:endParaRPr lang="en-US" alt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90B84B5-2B2B-A69E-44A7-409FF6C01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5400000">
            <a:off x="2198559" y="-2528341"/>
            <a:ext cx="7794884" cy="1219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699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32A9E5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2709</TotalTime>
  <Words>5581</Words>
  <Application>Microsoft Office PowerPoint</Application>
  <PresentationFormat>Widescreen</PresentationFormat>
  <Paragraphs>524</Paragraphs>
  <Slides>63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Calibri</vt:lpstr>
      <vt:lpstr>Times New Roman</vt:lpstr>
      <vt:lpstr>Wingdings</vt:lpstr>
      <vt:lpstr>Office Theme</vt:lpstr>
      <vt:lpstr>GRAM NEGATIVE BACTEREMIA AND SEPSIS</vt:lpstr>
      <vt:lpstr>OBJECTIVES </vt:lpstr>
      <vt:lpstr>OUTLINE </vt:lpstr>
      <vt:lpstr>INTRODUCTION</vt:lpstr>
      <vt:lpstr>SIGNIFICANCY OF GRAM-NEGATIVE BACTERIAL OVER GRAM-POSITIVE BACTEREMIA</vt:lpstr>
      <vt:lpstr>CONT…</vt:lpstr>
      <vt:lpstr>CONT…</vt:lpstr>
      <vt:lpstr>MULTI DRUG RESISITANCE …</vt:lpstr>
      <vt:lpstr>RISK FACTORS FOR MDR PATHOGENS INCLUDE,  </vt:lpstr>
      <vt:lpstr>ETIOLOGY OF GRAM NEGATIVE BACTERMIA </vt:lpstr>
      <vt:lpstr>CLINICALLY IMPORTANT GRAM NEGATIVE AND (SOME) GRAM POSITIVE BACTERIA</vt:lpstr>
      <vt:lpstr>MAJOR MULTIDRUG-RESISTANT GRAM-NEGATIVE PATHOGENS</vt:lpstr>
      <vt:lpstr>EMPIRIC AND ESCALATION THERAPY IN SEVERE SEPSIS DUE TO</vt:lpstr>
      <vt:lpstr>SEPSIS</vt:lpstr>
      <vt:lpstr>PowerPoint Presentation</vt:lpstr>
      <vt:lpstr>SEPTIC SHOCK </vt:lpstr>
      <vt:lpstr>RISK FACTOR FOR SEPSIS</vt:lpstr>
      <vt:lpstr>PATHOPHYSIOLOGY </vt:lpstr>
      <vt:lpstr>PowerPoint Presentation</vt:lpstr>
      <vt:lpstr>CLINICAL PRESENTATION</vt:lpstr>
      <vt:lpstr>CLINICAL PRESENTATION </vt:lpstr>
      <vt:lpstr>IDENTIFICATION OF EARLY SEPSIS</vt:lpstr>
      <vt:lpstr>qSOFA SCORE</vt:lpstr>
      <vt:lpstr>NEWS SCORING SYSTME </vt:lpstr>
      <vt:lpstr>NEWS 2 CRITERIA </vt:lpstr>
      <vt:lpstr>MODIFIED MEWS SCORE</vt:lpstr>
      <vt:lpstr>MEWS SCORE  </vt:lpstr>
      <vt:lpstr>PowerPoint Presentation</vt:lpstr>
      <vt:lpstr>A COMPARATIVE STUDY BETWEEN SIRS, QSOFA, NEWS AND MEWS SCORE AS PREDICTORS FOR INHOSPITAL MORTALITY OF PATIENTS GETTING ADMITTED TO ICU OF A TERTIARY CARE TEACHING HOSPITAL</vt:lpstr>
      <vt:lpstr>(Majmundar et al., 2023)</vt:lpstr>
      <vt:lpstr>CONT…</vt:lpstr>
      <vt:lpstr>PowerPoint Presentation</vt:lpstr>
      <vt:lpstr>RECOMMENDATIONS FROM THE SURVIVING SEPSIS CAMPAIGN-2026</vt:lpstr>
      <vt:lpstr>APPROACH TO A PATIENT WITH SEPTICAEMIA </vt:lpstr>
      <vt:lpstr>CONT…</vt:lpstr>
      <vt:lpstr>CONT….</vt:lpstr>
      <vt:lpstr>INFECTION TIMING OF ANTIBIOTIC INITIATION IN HOSPITAL</vt:lpstr>
      <vt:lpstr>CONT…</vt:lpstr>
      <vt:lpstr>CONT…</vt:lpstr>
      <vt:lpstr>HEMODYNAMIC MANAGEMENT</vt:lpstr>
      <vt:lpstr>IV VASOPRESSOR </vt:lpstr>
      <vt:lpstr>IONOTROPES</vt:lpstr>
      <vt:lpstr>RESPIRATORY SUPPORT </vt:lpstr>
      <vt:lpstr>NON-INVASIVE </vt:lpstr>
      <vt:lpstr>INVASIVE </vt:lpstr>
      <vt:lpstr>CONT..</vt:lpstr>
      <vt:lpstr>ADJUVANT THERAPIES </vt:lpstr>
      <vt:lpstr>CONT…</vt:lpstr>
      <vt:lpstr>MANAGEMENT SUMMARY</vt:lpstr>
      <vt:lpstr>PowerPoint Presentation</vt:lpstr>
      <vt:lpstr>TANZANIA STG</vt:lpstr>
      <vt:lpstr>PowerPoint Presentation</vt:lpstr>
      <vt:lpstr>MNH ADULT SEPSIS PROTOCOL</vt:lpstr>
      <vt:lpstr>PowerPoint Presentation</vt:lpstr>
      <vt:lpstr>COMPLICATIONS</vt:lpstr>
      <vt:lpstr>WHAT IS NEW </vt:lpstr>
      <vt:lpstr>PowerPoint Presentation</vt:lpstr>
      <vt:lpstr>WHAT IS NEW </vt:lpstr>
      <vt:lpstr>WHAT IS NEW </vt:lpstr>
      <vt:lpstr>REFERENCES 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Fredirick Mashili</dc:creator>
  <cp:lastModifiedBy>Dr NADHIRU RAMADHANI</cp:lastModifiedBy>
  <cp:revision>513</cp:revision>
  <dcterms:created xsi:type="dcterms:W3CDTF">2017-04-05T10:53:00Z</dcterms:created>
  <dcterms:modified xsi:type="dcterms:W3CDTF">2026-05-12T15:27:04Z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5E5D257DCD8B4AF1845569F50671B1D2_13</vt:lpwstr>
  </property>
  <property fmtid="{D5CDD505-2E9C-101B-9397-08002B2CF9AE}" pid="3" name="KSOProductBuildVer">
    <vt:lpwstr>1033-12.2.0.13489</vt:lpwstr>
  </property>
</Properties>
</file>