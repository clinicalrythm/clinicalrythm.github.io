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61"/>
  </p:notesMasterIdLst>
  <p:handoutMasterIdLst>
    <p:handoutMasterId r:id="rId62"/>
  </p:handoutMasterIdLst>
  <p:sldIdLst>
    <p:sldId id="498" r:id="rId2"/>
    <p:sldId id="554" r:id="rId3"/>
    <p:sldId id="494" r:id="rId4"/>
    <p:sldId id="500" r:id="rId5"/>
    <p:sldId id="495" r:id="rId6"/>
    <p:sldId id="496" r:id="rId7"/>
    <p:sldId id="555" r:id="rId8"/>
    <p:sldId id="499" r:id="rId9"/>
    <p:sldId id="501" r:id="rId10"/>
    <p:sldId id="502" r:id="rId11"/>
    <p:sldId id="504" r:id="rId12"/>
    <p:sldId id="505" r:id="rId13"/>
    <p:sldId id="506" r:id="rId14"/>
    <p:sldId id="507" r:id="rId15"/>
    <p:sldId id="508" r:id="rId16"/>
    <p:sldId id="509" r:id="rId17"/>
    <p:sldId id="510" r:id="rId18"/>
    <p:sldId id="514" r:id="rId19"/>
    <p:sldId id="515" r:id="rId20"/>
    <p:sldId id="516" r:id="rId21"/>
    <p:sldId id="511" r:id="rId22"/>
    <p:sldId id="512" r:id="rId23"/>
    <p:sldId id="517" r:id="rId24"/>
    <p:sldId id="518" r:id="rId25"/>
    <p:sldId id="519" r:id="rId26"/>
    <p:sldId id="521" r:id="rId27"/>
    <p:sldId id="520" r:id="rId28"/>
    <p:sldId id="522" r:id="rId29"/>
    <p:sldId id="523" r:id="rId30"/>
    <p:sldId id="524" r:id="rId31"/>
    <p:sldId id="525" r:id="rId32"/>
    <p:sldId id="553" r:id="rId33"/>
    <p:sldId id="527" r:id="rId34"/>
    <p:sldId id="528" r:id="rId35"/>
    <p:sldId id="529" r:id="rId36"/>
    <p:sldId id="530" r:id="rId37"/>
    <p:sldId id="531" r:id="rId38"/>
    <p:sldId id="532" r:id="rId39"/>
    <p:sldId id="533" r:id="rId40"/>
    <p:sldId id="534" r:id="rId41"/>
    <p:sldId id="535" r:id="rId42"/>
    <p:sldId id="551" r:id="rId43"/>
    <p:sldId id="552" r:id="rId44"/>
    <p:sldId id="537" r:id="rId45"/>
    <p:sldId id="513" r:id="rId46"/>
    <p:sldId id="538" r:id="rId47"/>
    <p:sldId id="539" r:id="rId48"/>
    <p:sldId id="540" r:id="rId49"/>
    <p:sldId id="541" r:id="rId50"/>
    <p:sldId id="542" r:id="rId51"/>
    <p:sldId id="543" r:id="rId52"/>
    <p:sldId id="544" r:id="rId53"/>
    <p:sldId id="549" r:id="rId54"/>
    <p:sldId id="545" r:id="rId55"/>
    <p:sldId id="546" r:id="rId56"/>
    <p:sldId id="556" r:id="rId57"/>
    <p:sldId id="557" r:id="rId58"/>
    <p:sldId id="547" r:id="rId59"/>
    <p:sldId id="550" r:id="rId60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es Noel" initials="DN" lastIdx="1" clrIdx="0">
    <p:extLst>
      <p:ext uri="{19B8F6BF-5375-455C-9EA6-DF929625EA0E}">
        <p15:presenceInfo xmlns:p15="http://schemas.microsoft.com/office/powerpoint/2012/main" userId="Des Noe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28C"/>
    <a:srgbClr val="1C7F5E"/>
    <a:srgbClr val="E6DF13"/>
    <a:srgbClr val="E400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587" autoAdjust="0"/>
    <p:restoredTop sz="86413" autoAdjust="0"/>
  </p:normalViewPr>
  <p:slideViewPr>
    <p:cSldViewPr snapToGrid="0" snapToObjects="1" showGuides="1">
      <p:cViewPr varScale="1">
        <p:scale>
          <a:sx n="64" d="100"/>
          <a:sy n="64" d="100"/>
        </p:scale>
        <p:origin x="180" y="72"/>
      </p:cViewPr>
      <p:guideLst/>
    </p:cSldViewPr>
  </p:slideViewPr>
  <p:outlineViewPr>
    <p:cViewPr>
      <p:scale>
        <a:sx n="33" d="100"/>
        <a:sy n="33" d="100"/>
      </p:scale>
      <p:origin x="0" y="-288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7" d="100"/>
          <a:sy n="57" d="100"/>
        </p:scale>
        <p:origin x="2808" y="4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ommentAuthors" Target="commentAuthors.xml"/><Relationship Id="rId68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jumanne" userId="b594b693f1aa1ba3" providerId="LiveId" clId="{FC4EB0AE-61DF-43FC-A92F-DD593C65D8B5}"/>
    <pc:docChg chg="addSld delSld modSld sldOrd">
      <pc:chgData name="joseph jumanne" userId="b594b693f1aa1ba3" providerId="LiveId" clId="{FC4EB0AE-61DF-43FC-A92F-DD593C65D8B5}" dt="2025-01-28T19:27:50.716" v="13" actId="2696"/>
      <pc:docMkLst>
        <pc:docMk/>
      </pc:docMkLst>
      <pc:sldChg chg="del">
        <pc:chgData name="joseph jumanne" userId="b594b693f1aa1ba3" providerId="LiveId" clId="{FC4EB0AE-61DF-43FC-A92F-DD593C65D8B5}" dt="2025-01-28T19:27:39.630" v="11" actId="2696"/>
        <pc:sldMkLst>
          <pc:docMk/>
          <pc:sldMk cId="0" sldId="440"/>
        </pc:sldMkLst>
      </pc:sldChg>
      <pc:sldChg chg="modSp del mod">
        <pc:chgData name="joseph jumanne" userId="b594b693f1aa1ba3" providerId="LiveId" clId="{FC4EB0AE-61DF-43FC-A92F-DD593C65D8B5}" dt="2025-01-28T19:27:43.974" v="12" actId="2696"/>
        <pc:sldMkLst>
          <pc:docMk/>
          <pc:sldMk cId="0" sldId="441"/>
        </pc:sldMkLst>
        <pc:spChg chg="mod">
          <ac:chgData name="joseph jumanne" userId="b594b693f1aa1ba3" providerId="LiveId" clId="{FC4EB0AE-61DF-43FC-A92F-DD593C65D8B5}" dt="2025-01-28T19:24:14.633" v="1" actId="20577"/>
          <ac:spMkLst>
            <pc:docMk/>
            <pc:sldMk cId="0" sldId="441"/>
            <ac:spMk id="3" creationId="{00000000-0000-0000-0000-000000000000}"/>
          </ac:spMkLst>
        </pc:spChg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42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43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44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45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46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47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48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49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50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51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52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53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54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55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56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57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58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59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60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61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62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63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64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65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66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67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68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69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70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71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72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73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74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75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76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77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78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79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80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81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82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84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85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86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87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88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89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90"/>
        </pc:sldMkLst>
      </pc:sldChg>
      <pc:sldChg chg="del">
        <pc:chgData name="joseph jumanne" userId="b594b693f1aa1ba3" providerId="LiveId" clId="{FC4EB0AE-61DF-43FC-A92F-DD593C65D8B5}" dt="2025-01-28T19:27:50.716" v="13" actId="2696"/>
        <pc:sldMkLst>
          <pc:docMk/>
          <pc:sldMk cId="0" sldId="493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94"/>
        </pc:sldMkLst>
      </pc:sldChg>
      <pc:sldChg chg="new">
        <pc:chgData name="joseph jumanne" userId="b594b693f1aa1ba3" providerId="LiveId" clId="{FC4EB0AE-61DF-43FC-A92F-DD593C65D8B5}" dt="2025-01-28T19:26:13.840" v="4" actId="680"/>
        <pc:sldMkLst>
          <pc:docMk/>
          <pc:sldMk cId="1446784214" sldId="494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95"/>
        </pc:sldMkLst>
      </pc:sldChg>
      <pc:sldChg chg="new">
        <pc:chgData name="joseph jumanne" userId="b594b693f1aa1ba3" providerId="LiveId" clId="{FC4EB0AE-61DF-43FC-A92F-DD593C65D8B5}" dt="2025-01-28T19:26:18.123" v="5" actId="680"/>
        <pc:sldMkLst>
          <pc:docMk/>
          <pc:sldMk cId="1229635104" sldId="495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96"/>
        </pc:sldMkLst>
      </pc:sldChg>
      <pc:sldChg chg="new">
        <pc:chgData name="joseph jumanne" userId="b594b693f1aa1ba3" providerId="LiveId" clId="{FC4EB0AE-61DF-43FC-A92F-DD593C65D8B5}" dt="2025-01-28T19:26:19.671" v="6" actId="680"/>
        <pc:sldMkLst>
          <pc:docMk/>
          <pc:sldMk cId="3323946836" sldId="496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97"/>
        </pc:sldMkLst>
      </pc:sldChg>
      <pc:sldChg chg="new">
        <pc:chgData name="joseph jumanne" userId="b594b693f1aa1ba3" providerId="LiveId" clId="{FC4EB0AE-61DF-43FC-A92F-DD593C65D8B5}" dt="2025-01-28T19:26:36.398" v="7" actId="680"/>
        <pc:sldMkLst>
          <pc:docMk/>
          <pc:sldMk cId="2905489316" sldId="497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98"/>
        </pc:sldMkLst>
      </pc:sldChg>
      <pc:sldChg chg="new ord">
        <pc:chgData name="joseph jumanne" userId="b594b693f1aa1ba3" providerId="LiveId" clId="{FC4EB0AE-61DF-43FC-A92F-DD593C65D8B5}" dt="2025-01-28T19:27:30.409" v="10"/>
        <pc:sldMkLst>
          <pc:docMk/>
          <pc:sldMk cId="3474785746" sldId="498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499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00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01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02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03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04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05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06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07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58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59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60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62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63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64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65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66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67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68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69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70"/>
        </pc:sldMkLst>
      </pc:sldChg>
      <pc:sldChg chg="del">
        <pc:chgData name="joseph jumanne" userId="b594b693f1aa1ba3" providerId="LiveId" clId="{FC4EB0AE-61DF-43FC-A92F-DD593C65D8B5}" dt="2025-01-28T19:25:59.956" v="3" actId="2696"/>
        <pc:sldMkLst>
          <pc:docMk/>
          <pc:sldMk cId="0" sldId="571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72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73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74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75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76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77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78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79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80"/>
        </pc:sldMkLst>
      </pc:sldChg>
      <pc:sldChg chg="del">
        <pc:chgData name="joseph jumanne" userId="b594b693f1aa1ba3" providerId="LiveId" clId="{FC4EB0AE-61DF-43FC-A92F-DD593C65D8B5}" dt="2025-01-28T19:25:50.146" v="2" actId="2696"/>
        <pc:sldMkLst>
          <pc:docMk/>
          <pc:sldMk cId="0" sldId="58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A5C2878-4654-4079-B030-5E47C2C5D674}" type="datetimeFigureOut">
              <a:rPr lang="en-US" altLang="en-US"/>
              <a:t>5/25/2026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5497DE80-0297-46C5-B5C0-F08F29C2DD8F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8EECDD41-E951-430A-8AF4-2C94325B6799}" type="datetimeFigureOut">
              <a:rPr lang="en-US" altLang="en-US"/>
              <a:t>5/25/2026</a:t>
            </a:fld>
            <a:endParaRPr lang="en-US" alt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Calibri" panose="020F0502020204030204" pitchFamily="34" charset="0"/>
              </a:defRPr>
            </a:lvl1pPr>
          </a:lstStyle>
          <a:p>
            <a:fld id="{86948324-13D7-4655-B8F7-1E5C093BA4F7}" type="slidenum">
              <a:rPr lang="en-US" altLang="en-US"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6521949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1pPr>
    <a:lvl2pPr marL="4572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2pPr>
    <a:lvl3pPr marL="9144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3pPr>
    <a:lvl4pPr marL="13716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4pPr>
    <a:lvl5pPr marL="1828800" algn="l" defTabSz="457200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MS PGothic" panose="020B0600070205080204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34907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 smtClean="0"/>
              <a:t>. Mortality from JHR: up to 5% in LBRF. Anti-TNF strategies have been investigated but not routinely adopted (Reference: </a:t>
            </a:r>
            <a:r>
              <a:rPr lang="en-US" dirty="0" err="1" smtClean="0"/>
              <a:t>Warrell</a:t>
            </a:r>
            <a:r>
              <a:rPr lang="en-US" dirty="0" smtClean="0"/>
              <a:t> DA et al. Br Med J. 1983;307:1576–1580).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5343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8277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948324-13D7-4655-B8F7-1E5C093BA4F7}" type="slidenum">
              <a:rPr lang="en-US" altLang="en-US" smtClean="0"/>
              <a:t>56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02317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 descr="New MUHAS 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9651" y="187325"/>
            <a:ext cx="1964267" cy="1347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6073776"/>
            <a:ext cx="12192000" cy="49213"/>
          </a:xfrm>
          <a:prstGeom prst="rect">
            <a:avLst/>
          </a:prstGeom>
          <a:solidFill>
            <a:srgbClr val="E4001B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351" y="6167438"/>
            <a:ext cx="12192000" cy="49212"/>
          </a:xfrm>
          <a:prstGeom prst="rect">
            <a:avLst/>
          </a:prstGeom>
          <a:solidFill>
            <a:srgbClr val="E6DF13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351" y="6267451"/>
            <a:ext cx="12192000" cy="49213"/>
          </a:xfrm>
          <a:prstGeom prst="rect">
            <a:avLst/>
          </a:prstGeom>
          <a:solidFill>
            <a:srgbClr val="1C7F5E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>
                <a:solidFill>
                  <a:srgbClr val="20328C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56AB3D1-6DB5-48E8-8E66-BC530E8E14FF}" type="datetime2">
              <a:rPr lang="en-US" altLang="en-US"/>
              <a:t>Monday, May 25, 2026</a:t>
            </a:fld>
            <a:endParaRPr lang="en-US" alt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FF8A2F7-7EFE-4CD9-B702-1E4B6E00B8AC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hf hd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6073776"/>
            <a:ext cx="12192000" cy="49213"/>
          </a:xfrm>
          <a:prstGeom prst="rect">
            <a:avLst/>
          </a:prstGeom>
          <a:solidFill>
            <a:srgbClr val="E4001B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6351" y="6167438"/>
            <a:ext cx="12192000" cy="49212"/>
          </a:xfrm>
          <a:prstGeom prst="rect">
            <a:avLst/>
          </a:prstGeom>
          <a:solidFill>
            <a:srgbClr val="E6DF13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6351" y="6267451"/>
            <a:ext cx="12192000" cy="49213"/>
          </a:xfrm>
          <a:prstGeom prst="rect">
            <a:avLst/>
          </a:prstGeom>
          <a:solidFill>
            <a:srgbClr val="1C7F5E"/>
          </a:solidFill>
          <a:ln>
            <a:noFill/>
          </a:ln>
          <a:effectLst>
            <a:outerShdw blurRad="40000" dist="23000" dir="5400000" rotWithShape="0">
              <a:srgbClr val="808080">
                <a:alpha val="34999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endParaRPr lang="en-US" altLang="en-US">
              <a:solidFill>
                <a:srgbClr val="FFFFFF"/>
              </a:solidFill>
            </a:endParaRPr>
          </a:p>
        </p:txBody>
      </p:sp>
      <p:pic>
        <p:nvPicPr>
          <p:cNvPr id="7" name="Picture 9" descr="New MUHAS Logo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5718" y="5310189"/>
            <a:ext cx="1113367" cy="763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20328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20328C"/>
                </a:solidFill>
              </a:defRPr>
            </a:lvl1pPr>
            <a:lvl2pPr>
              <a:defRPr>
                <a:solidFill>
                  <a:srgbClr val="20328C"/>
                </a:solidFill>
              </a:defRPr>
            </a:lvl2pPr>
            <a:lvl3pPr>
              <a:defRPr>
                <a:solidFill>
                  <a:srgbClr val="20328C"/>
                </a:solidFill>
              </a:defRPr>
            </a:lvl3pPr>
            <a:lvl4pPr>
              <a:defRPr>
                <a:solidFill>
                  <a:srgbClr val="20328C"/>
                </a:solidFill>
              </a:defRPr>
            </a:lvl4pPr>
            <a:lvl5pPr>
              <a:defRPr>
                <a:solidFill>
                  <a:srgbClr val="20328C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A482952-A15B-4F66-B92F-C3CBBC9C388C}" type="datetime2">
              <a:rPr lang="en-US" altLang="en-US"/>
              <a:t>Monday, May 25, 2026</a:t>
            </a:fld>
            <a:endParaRPr lang="en-US" altLang="en-US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799B34-1B6F-498C-AAD9-0E5AD70A3170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hf hd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3CB48E3-D5AF-44C5-BD1F-670AC2B5F203}" type="datetime2">
              <a:rPr lang="en-US" altLang="en-US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C3ED6D0-55B1-475C-965C-8B60615A93F5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2B28DE-E07C-4482-8778-D4D352CF1192}" type="datetime2">
              <a:rPr lang="en-US" altLang="en-US"/>
              <a:t>Monday, May 25, 2026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D7F7AD-559D-40EF-93EF-C2EF8DFE6BD3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hf hd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99B6466-B2EC-4155-BC74-30CD799F3382}" type="datetime2">
              <a:rPr lang="en-US" altLang="en-US"/>
              <a:t>Monday, May 25, 2026</a:t>
            </a:fld>
            <a:endParaRPr lang="en-US" alt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127321C-A958-490C-8DF3-FB6D03F9098A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96FF888-81B0-47BF-9886-C9CE8ACDC1D9}" type="datetime2">
              <a:rPr lang="en-US" altLang="en-US"/>
              <a:t>Monday, May 25, 2026</a:t>
            </a:fld>
            <a:endParaRPr lang="en-US" alt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E40818-CC6C-4855-AAF4-BC35D4D0C0CF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84EC0D5-E3A4-4FB9-B123-B8BEDD6A3050}" type="datetime2">
              <a:rPr lang="en-US" altLang="en-US"/>
              <a:t>Monday, May 25, 2026</a:t>
            </a:fld>
            <a:endParaRPr lang="en-US" alt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E82613-C6EF-4F22-BF61-53C00E45B04F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hf hd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D841004-09AB-417B-A0DF-180326076515}" type="datetime2">
              <a:rPr lang="en-US" altLang="en-US"/>
              <a:t>Monday, May 25, 2026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B61BD5-D7F5-443A-B85D-9B7EFAF7FFE2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hf hd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800110F2-4C4E-4C8A-BA93-FAD859B05306}" type="datetime2">
              <a:rPr lang="en-US" altLang="en-US"/>
              <a:t>Monday, May 25, 2026</a:t>
            </a:fld>
            <a:endParaRPr lang="en-US" alt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21D2E8-0304-4A0D-8CFE-6C8B65ADC469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A49C2150-4E09-495F-BE00-AF5F832440C9}" type="datetime2">
              <a:rPr lang="en-US" altLang="en-US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B5805DC-062E-4591-982C-A90D862E97CD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40E99C-1359-421A-BABB-0F2C34D836F5}" type="datetime2">
              <a:rPr lang="en-US" altLang="en-US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072D8E8-64D2-4FD6-9B4B-22063417951E}" type="slidenum">
              <a:rPr lang="en-US" altLang="en-US"/>
              <a:t>‹#›</a:t>
            </a:fld>
            <a:endParaRPr lang="en-US" alt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sz="1200">
                <a:solidFill>
                  <a:srgbClr val="8FC3EC"/>
                </a:solidFill>
              </a:defRPr>
            </a:lvl1pPr>
          </a:lstStyle>
          <a:p>
            <a:fld id="{2F430D95-D1CB-4A9E-BDE2-84CD7F073305}" type="datetime2">
              <a:rPr lang="en-US" altLang="en-US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/>
              <a:t>Dr. Joseph Jumanne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FC3EC"/>
                </a:solidFill>
              </a:defRPr>
            </a:lvl1pPr>
          </a:lstStyle>
          <a:p>
            <a:fld id="{71C4D8BE-8B01-4B18-A281-B0A79AC19526}" type="slidenum">
              <a:rPr lang="en-US" altLang="en-US"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hf hdr="0"/>
  <p:txStyles>
    <p:titleStyle>
      <a:lvl1pPr algn="ctr" defTabSz="457200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MS PGothic" panose="020B0600070205080204" pitchFamily="34" charset="-128"/>
          <a:cs typeface="+mj-cs"/>
        </a:defRPr>
      </a:lvl1pPr>
      <a:lvl2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2pPr>
      <a:lvl3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3pPr>
      <a:lvl4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4pPr>
      <a:lvl5pPr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MS PGothic" panose="020B0600070205080204" pitchFamily="34" charset="-128"/>
        </a:defRPr>
      </a:lvl9pPr>
    </p:titleStyle>
    <p:bodyStyle>
      <a:lvl1pPr marL="342900" indent="-3429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2pPr>
      <a:lvl3pPr marL="11430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3pPr>
      <a:lvl4pPr marL="16002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4pPr>
      <a:lvl5pPr marL="2057400" indent="-228600" algn="l" defTabSz="457200" rtl="0" fontAlgn="base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MS PGothic" panose="020B0600070205080204" pitchFamily="34" charset="-128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hyperlink" Target="https://pubmed.ncbi.nlm.nih.gov/2096523/" TargetMode="External"/><Relationship Id="rId2" Type="http://schemas.openxmlformats.org/officeDocument/2006/relationships/hyperlink" Target="https://www.cdc.gov/relapsing-fever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ncbi.nlm.nih.gov/books/NBK441913/" TargetMode="External"/><Relationship Id="rId4" Type="http://schemas.openxmlformats.org/officeDocument/2006/relationships/hyperlink" Target="https://www.jscimedcentral.com/jounal-article-info/Annals-of-Clinical-Cytology-and-Pathology/Tick-Borne-Relapsing-Fever-in-Rural--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E1D201C-FC2B-27C3-E7BA-3D57B0B94F2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RELAPSING FEVER</a:t>
            </a:r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3EB26452-7E9E-6C52-A8F8-3F3AEF9E4C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 smtClean="0"/>
              <a:t>DAUDI E STEPHEN</a:t>
            </a:r>
          </a:p>
          <a:p>
            <a:r>
              <a:rPr lang="en-US" sz="2400" dirty="0" smtClean="0"/>
              <a:t>EMMANUEL MBUKI</a:t>
            </a:r>
          </a:p>
          <a:p>
            <a:endParaRPr lang="en-US" sz="2000" dirty="0" smtClean="0"/>
          </a:p>
          <a:p>
            <a:r>
              <a:rPr lang="en-US" sz="2000" dirty="0"/>
              <a:t> </a:t>
            </a:r>
            <a:r>
              <a:rPr lang="en-US" sz="2000" dirty="0" smtClean="0"/>
              <a:t>  SUPERVISOR:  PROFESSOR BAKARI</a:t>
            </a:r>
            <a:endParaRPr lang="en-AE" sz="2000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9B67C6D1-4B98-8479-A05E-DA78031515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6AB3D1-6DB5-48E8-8E66-BC530E8E14FF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C70E157D-FB85-DD63-4AAC-1D4B709244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DR DAUDI/ DR MBUKI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B6A8310-1441-A32F-75D4-48A9CA4AA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F8A2F7-7EFE-4CD9-B702-1E4B6E00B8AC}" type="slidenum">
              <a:rPr lang="en-US" altLang="en-US" smtClean="0"/>
              <a:t>1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4747857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Epidemiology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Pathogenesis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Clinical presentation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Diagnosis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Treatment and prognosis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err="1" smtClean="0"/>
              <a:t>Dr</a:t>
            </a:r>
            <a:r>
              <a:rPr lang="en-US" dirty="0" smtClean="0"/>
              <a:t> DAUDI/ DR MBUKI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5792065"/>
      </p:ext>
    </p:extLst>
  </p:cSld>
  <p:clrMapOvr>
    <a:masterClrMapping/>
  </p:clrMapOvr>
  <p:transition spd="slow">
    <p:wedg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4AB9644-8F39-D99C-7A01-C93600FB6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</a:t>
            </a:r>
            <a:r>
              <a:rPr lang="en-US" dirty="0"/>
              <a:t>n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7E2BCA29-986C-F634-287F-F454B0B82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Relapsing fever (RF) is a vector-borne bacterial infection caused by spirochetes of the genus </a:t>
            </a:r>
            <a:r>
              <a:rPr lang="en-US" sz="2800" dirty="0" err="1"/>
              <a:t>Borrelia</a:t>
            </a:r>
            <a:r>
              <a:rPr lang="en-US" sz="2800" dirty="0"/>
              <a:t>, characterized by recurring febrile episodes separated by afebrile </a:t>
            </a:r>
            <a:r>
              <a:rPr lang="en-US" sz="2800" dirty="0" smtClean="0"/>
              <a:t>intervals that accompany </a:t>
            </a:r>
            <a:r>
              <a:rPr lang="en-US" sz="2800" dirty="0" err="1" smtClean="0"/>
              <a:t>spirochetemia</a:t>
            </a:r>
            <a:endParaRPr lang="en-US" sz="2800" dirty="0" smtClean="0"/>
          </a:p>
          <a:p>
            <a:r>
              <a:rPr lang="en-US" sz="2800" dirty="0"/>
              <a:t>F</a:t>
            </a:r>
            <a:r>
              <a:rPr lang="en-US" sz="2800" dirty="0" smtClean="0"/>
              <a:t>ebrile </a:t>
            </a:r>
            <a:r>
              <a:rPr lang="en-US" sz="2800" dirty="0"/>
              <a:t>episodes of at least 38.5°C lasting 3–5 days each, with afebrile remissions of 4–7 days between episodes</a:t>
            </a:r>
            <a:endParaRPr lang="en-US" sz="2800" dirty="0" smtClean="0"/>
          </a:p>
          <a:p>
            <a:endParaRPr lang="en-AE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AD88D9B9-82B5-CF05-EE22-DD4DA5884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36D6C86C-3F77-BB67-C99B-1A8B1BEB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 DAUDI/ DR MBUKI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B79621F6-30F2-6FCA-611B-F4D2C2441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</a:t>
            </a:fld>
            <a:endParaRPr lang="en-US" altLang="en-US"/>
          </a:p>
        </p:txBody>
      </p:sp>
      <p:sp>
        <p:nvSpPr>
          <p:cNvPr id="8" name="TextBox 7"/>
          <p:cNvSpPr txBox="1"/>
          <p:nvPr/>
        </p:nvSpPr>
        <p:spPr>
          <a:xfrm>
            <a:off x="844062" y="5331656"/>
            <a:ext cx="99880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World Health Organization. Relapsing Fevers: Key Facts. WHO Technical Report, 2021.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67842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</a:t>
            </a:r>
            <a:r>
              <a:rPr lang="en-US" dirty="0" smtClean="0"/>
              <a:t>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" y="1600201"/>
            <a:ext cx="10972800" cy="4525963"/>
          </a:xfrm>
        </p:spPr>
        <p:txBody>
          <a:bodyPr/>
          <a:lstStyle/>
          <a:p>
            <a:r>
              <a:rPr lang="en-US" sz="2800" dirty="0" smtClean="0"/>
              <a:t>The fever relapses result from </a:t>
            </a:r>
            <a:r>
              <a:rPr lang="en-US" sz="2800" dirty="0" err="1" smtClean="0"/>
              <a:t>spirochetal</a:t>
            </a:r>
            <a:r>
              <a:rPr lang="en-US" sz="2800" dirty="0" smtClean="0"/>
              <a:t> antigenic variation</a:t>
            </a:r>
          </a:p>
          <a:p>
            <a:r>
              <a:rPr lang="en-US" sz="2800" dirty="0" smtClean="0"/>
              <a:t>If untreated may be fatal</a:t>
            </a:r>
          </a:p>
          <a:p>
            <a:pPr marL="0" indent="0">
              <a:buNone/>
            </a:pPr>
            <a:endParaRPr lang="en-US" sz="2800" dirty="0" smtClean="0"/>
          </a:p>
          <a:p>
            <a:r>
              <a:rPr lang="en-US" sz="2800" dirty="0" smtClean="0"/>
              <a:t>Relapsing fever is an arthropod borne infection spread by lice( </a:t>
            </a:r>
            <a:r>
              <a:rPr lang="en-US" sz="2800" dirty="0" err="1" smtClean="0"/>
              <a:t>Pediculus</a:t>
            </a:r>
            <a:r>
              <a:rPr lang="en-US" sz="2800" dirty="0" smtClean="0"/>
              <a:t> </a:t>
            </a:r>
            <a:r>
              <a:rPr lang="en-US" sz="2800" dirty="0" err="1" smtClean="0"/>
              <a:t>humanus</a:t>
            </a:r>
            <a:r>
              <a:rPr lang="en-US" sz="2800" dirty="0" smtClean="0"/>
              <a:t>) and ticks (</a:t>
            </a:r>
            <a:r>
              <a:rPr lang="en-US" sz="2800" dirty="0" err="1" smtClean="0"/>
              <a:t>ornithodoros</a:t>
            </a:r>
            <a:r>
              <a:rPr lang="en-US" sz="2800" dirty="0" smtClean="0"/>
              <a:t> species)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DR DAUDI/ DR MBUKI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81252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BCDB28D2-E2CD-8729-124F-906685C6B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Relapsing fever major forms</a:t>
            </a:r>
            <a:endParaRPr lang="en-A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B18F3A0-6B08-32AF-B965-17C202BE57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262" y="1625716"/>
            <a:ext cx="10972800" cy="4525963"/>
          </a:xfrm>
        </p:spPr>
        <p:txBody>
          <a:bodyPr/>
          <a:lstStyle/>
          <a:p>
            <a:r>
              <a:rPr lang="en-US" dirty="0" smtClean="0"/>
              <a:t>Relapsing fever </a:t>
            </a:r>
            <a:r>
              <a:rPr lang="en-US" dirty="0" err="1"/>
              <a:t>B</a:t>
            </a:r>
            <a:r>
              <a:rPr lang="en-US" dirty="0" err="1" smtClean="0"/>
              <a:t>orrelia</a:t>
            </a:r>
            <a:r>
              <a:rPr lang="en-US" dirty="0" smtClean="0"/>
              <a:t> infections 3 major forms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Soft tick relapsing fever ( STRF)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Hard tick relapsing fever (HTRF)</a:t>
            </a:r>
          </a:p>
          <a:p>
            <a:pPr marL="914400" lvl="1" indent="-514350">
              <a:buFont typeface="+mj-lt"/>
              <a:buAutoNum type="arabicPeriod"/>
            </a:pPr>
            <a:r>
              <a:rPr lang="en-US" dirty="0" smtClean="0"/>
              <a:t>Louse borne relapsing fever (LBRF)</a:t>
            </a:r>
          </a:p>
          <a:p>
            <a:pPr marL="400050" lvl="1" indent="0">
              <a:buNone/>
            </a:pPr>
            <a:r>
              <a:rPr lang="en-US" dirty="0" smtClean="0"/>
              <a:t>    </a:t>
            </a:r>
            <a:endParaRPr lang="en-AE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23837B50-28BA-1F70-E35D-904E043A6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813E0550-E49F-5EC4-0116-5F5D13E28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 DAUDI/ DR MBUKI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94C177A2-039C-27CB-D443-0CDDF1116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5</a:t>
            </a:fld>
            <a:endParaRPr lang="en-US" altLang="en-US"/>
          </a:p>
        </p:txBody>
      </p:sp>
      <p:sp>
        <p:nvSpPr>
          <p:cNvPr id="7" name="TextBox 6"/>
          <p:cNvSpPr txBox="1"/>
          <p:nvPr/>
        </p:nvSpPr>
        <p:spPr>
          <a:xfrm>
            <a:off x="609600" y="5040929"/>
            <a:ext cx="109024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Relapsing </a:t>
            </a:r>
            <a:r>
              <a:rPr lang="en-US" dirty="0"/>
              <a:t>Fevers: Key Facts. WHO Technical Report, </a:t>
            </a:r>
            <a:r>
              <a:rPr lang="en-US" dirty="0" smtClean="0"/>
              <a:t>2021</a:t>
            </a:r>
          </a:p>
          <a:p>
            <a:r>
              <a:rPr lang="en-US" dirty="0" smtClean="0"/>
              <a:t>Relapsing </a:t>
            </a:r>
            <a:r>
              <a:rPr lang="en-US" dirty="0"/>
              <a:t>Fever. CDC Health Topics, 2023. https://www.cdc.gov/relapsing-fever</a:t>
            </a:r>
          </a:p>
          <a:p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9635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C9F8ED1-67A0-A300-59A8-2C122A008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Pattern of </a:t>
            </a:r>
            <a:r>
              <a:rPr lang="en-US" dirty="0"/>
              <a:t>R</a:t>
            </a:r>
            <a:r>
              <a:rPr lang="en-US" dirty="0" smtClean="0"/>
              <a:t>elapsing fever</a:t>
            </a:r>
            <a:endParaRPr lang="en-AE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17638"/>
            <a:ext cx="12005993" cy="4744011"/>
          </a:xfrm>
        </p:spPr>
      </p:pic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4078716A-7465-DA90-30D7-327F12FAB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1B898FFD-3057-11D2-B0A7-450549796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 DAUDI/ DR MBUKI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3958A8C0-7BBA-F8A3-0050-4A19ED055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3946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wedge/>
      </p:transition>
    </mc:Choice>
    <mc:Fallback xmlns="">
      <p:transition spd="slow">
        <p:wedg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511175"/>
          </a:xfrm>
        </p:spPr>
        <p:txBody>
          <a:bodyPr/>
          <a:lstStyle/>
          <a:p>
            <a:r>
              <a:rPr lang="en-US" dirty="0" smtClean="0"/>
              <a:t>Epidemiological triad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DR DAUDI/DR MBUKI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7</a:t>
            </a:fld>
            <a:endParaRPr lang="en-US" altLang="en-US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xmlns="" id="{2389BD5A-4E93-AD8C-4BD6-26E50B77CA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914401"/>
            <a:ext cx="12192000" cy="5240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2080111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Epidemiology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TBRF and LBRF vary significantly in terms of epidemiology</a:t>
            </a:r>
          </a:p>
          <a:p>
            <a:r>
              <a:rPr lang="en-US" sz="2800" dirty="0" smtClean="0"/>
              <a:t>A soft bodied tick (</a:t>
            </a:r>
            <a:r>
              <a:rPr lang="en-US" sz="2800" dirty="0" err="1" smtClean="0"/>
              <a:t>ornithodos</a:t>
            </a:r>
            <a:r>
              <a:rPr lang="en-US" sz="2800" dirty="0" smtClean="0"/>
              <a:t>)  transmits multiple </a:t>
            </a:r>
            <a:r>
              <a:rPr lang="en-US" sz="2800" dirty="0" err="1" smtClean="0"/>
              <a:t>Borrelia</a:t>
            </a:r>
            <a:r>
              <a:rPr lang="en-US" sz="2800" dirty="0" smtClean="0"/>
              <a:t> species that cause endemic relapsing fever (STRF)</a:t>
            </a:r>
          </a:p>
          <a:p>
            <a:r>
              <a:rPr lang="en-US" sz="2800" dirty="0" smtClean="0"/>
              <a:t>A human body louse transmits  B </a:t>
            </a:r>
            <a:r>
              <a:rPr lang="en-US" sz="2800" dirty="0" err="1" smtClean="0"/>
              <a:t>recurrentis</a:t>
            </a:r>
            <a:r>
              <a:rPr lang="en-US" sz="2800" dirty="0" smtClean="0"/>
              <a:t> which causes an epidemic form of relapsing fever (LBRF)</a:t>
            </a:r>
          </a:p>
          <a:p>
            <a:r>
              <a:rPr lang="en-US" sz="2800" dirty="0" smtClean="0"/>
              <a:t>Humans are sole host of B </a:t>
            </a:r>
            <a:r>
              <a:rPr lang="en-US" sz="2800" dirty="0" err="1" smtClean="0"/>
              <a:t>recurrentis</a:t>
            </a:r>
            <a:r>
              <a:rPr lang="en-US" sz="2800" dirty="0" smtClean="0"/>
              <a:t> where mammals </a:t>
            </a:r>
            <a:r>
              <a:rPr lang="en-US" sz="2800" dirty="0" err="1" smtClean="0"/>
              <a:t>eg</a:t>
            </a:r>
            <a:r>
              <a:rPr lang="en-US" sz="2800" dirty="0" smtClean="0"/>
              <a:t> cattle, pigs, squirrels, chipmunks and reptiles serve as reservoir for </a:t>
            </a:r>
            <a:r>
              <a:rPr lang="en-US" sz="2800" dirty="0" err="1" smtClean="0"/>
              <a:t>tickborne</a:t>
            </a:r>
            <a:r>
              <a:rPr lang="en-US" sz="2800" dirty="0" smtClean="0"/>
              <a:t> </a:t>
            </a:r>
            <a:r>
              <a:rPr lang="en-US" sz="2800" dirty="0" err="1" smtClean="0"/>
              <a:t>Borrelia</a:t>
            </a:r>
            <a:r>
              <a:rPr lang="en-US" sz="2800" dirty="0" smtClean="0"/>
              <a:t> species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DR DAUDI/DR MBUKI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736330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Epidemiology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Borrelia</a:t>
            </a:r>
            <a:r>
              <a:rPr lang="en-US" dirty="0"/>
              <a:t> </a:t>
            </a:r>
            <a:r>
              <a:rPr lang="en-US" dirty="0" err="1"/>
              <a:t>recurrentis</a:t>
            </a:r>
            <a:r>
              <a:rPr lang="en-US" dirty="0"/>
              <a:t>, or epidemic relapsing fever or LBRF, is reported most commonly in areas of overcrowding and poor person </a:t>
            </a:r>
            <a:r>
              <a:rPr lang="en-US" dirty="0" smtClean="0"/>
              <a:t>hygiene</a:t>
            </a:r>
          </a:p>
          <a:p>
            <a:r>
              <a:rPr lang="en-US" dirty="0" smtClean="0"/>
              <a:t>It </a:t>
            </a:r>
            <a:r>
              <a:rPr lang="en-US" dirty="0"/>
              <a:t>causes </a:t>
            </a:r>
            <a:r>
              <a:rPr lang="en-US" dirty="0" err="1"/>
              <a:t>epidermics</a:t>
            </a:r>
            <a:r>
              <a:rPr lang="en-US" dirty="0"/>
              <a:t> and has previously associated with war, poverty and </a:t>
            </a:r>
            <a:r>
              <a:rPr lang="en-US" dirty="0" smtClean="0"/>
              <a:t>famines</a:t>
            </a:r>
          </a:p>
          <a:p>
            <a:r>
              <a:rPr lang="en-US" dirty="0"/>
              <a:t>STRF have been identified on all continent except Australia and Antarctica</a:t>
            </a: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DR DAUDI /DR MBUKI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9475636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Epidemiology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Ethiopia and part of Sudan are currently regarded as the only remaining countries where LBRF, remain </a:t>
            </a:r>
            <a:r>
              <a:rPr lang="en-US" dirty="0" smtClean="0"/>
              <a:t>endemic</a:t>
            </a:r>
          </a:p>
          <a:p>
            <a:r>
              <a:rPr lang="en-US" dirty="0"/>
              <a:t>STRF in East Africa usually caused by </a:t>
            </a:r>
            <a:r>
              <a:rPr lang="en-US" dirty="0" err="1"/>
              <a:t>Borrelia</a:t>
            </a:r>
            <a:r>
              <a:rPr lang="en-US" dirty="0"/>
              <a:t> </a:t>
            </a:r>
            <a:r>
              <a:rPr lang="en-US" dirty="0" err="1"/>
              <a:t>Duttonii</a:t>
            </a:r>
            <a:endParaRPr lang="en-US" dirty="0"/>
          </a:p>
          <a:p>
            <a:r>
              <a:rPr lang="en-US" dirty="0"/>
              <a:t>West Africa usually caused by B </a:t>
            </a:r>
            <a:r>
              <a:rPr lang="en-US" dirty="0" err="1"/>
              <a:t>crocdurae</a:t>
            </a:r>
            <a:r>
              <a:rPr lang="en-US" dirty="0"/>
              <a:t>.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DR DAUDI/DR MBUKI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792886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solidFill>
                  <a:srgbClr val="002060"/>
                </a:solidFill>
              </a:rPr>
              <a:t>Borrelia</a:t>
            </a:r>
            <a:r>
              <a:rPr lang="en-US" dirty="0" smtClean="0">
                <a:solidFill>
                  <a:srgbClr val="002060"/>
                </a:solidFill>
              </a:rPr>
              <a:t> species causing STRF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B28DE-E07C-4482-8778-D4D352CF1192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7F7AD-559D-40EF-93EF-C2EF8DFE6BD3}" type="slidenum">
              <a:rPr lang="en-US" altLang="en-US" smtClean="0"/>
              <a:t>11</a:t>
            </a:fld>
            <a:endParaRPr lang="en-US" altLang="en-US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11015" y="1600200"/>
            <a:ext cx="5884986" cy="4525963"/>
          </a:xfrm>
          <a:prstGeom prst="rect">
            <a:avLst/>
          </a:prstGeom>
        </p:spPr>
      </p:pic>
      <p:pic>
        <p:nvPicPr>
          <p:cNvPr id="12" name="Content Placeholder 11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96001" y="1600200"/>
            <a:ext cx="5791199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968723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12</a:t>
            </a:fld>
            <a:endParaRPr lang="en-US" altLang="en-US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609600" y="283591"/>
            <a:ext cx="10972800" cy="423213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68812" y="5219113"/>
            <a:ext cx="107195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https://www.jscimedcentral.com/jounal-article-info/Annals-of-Clinical-Cytology-and-Pathology/Tick-Borne-Relapsing-Fever-in-Rural--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627100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Epidemiology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13</a:t>
            </a:fld>
            <a:endParaRPr lang="en-US" alt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417638"/>
            <a:ext cx="11108788" cy="470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04804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Epidemiology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14</a:t>
            </a:fld>
            <a:endParaRPr lang="en-US" alt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1600200"/>
            <a:ext cx="11094720" cy="4525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814139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Pathogenesis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Transmission and Entry</a:t>
            </a:r>
          </a:p>
          <a:p>
            <a:pPr lvl="0"/>
            <a:r>
              <a:rPr lang="en-US" dirty="0" smtClean="0"/>
              <a:t>LBRF</a:t>
            </a:r>
            <a:r>
              <a:rPr lang="en-US" dirty="0"/>
              <a:t>: Louse is crushed on skin; B. </a:t>
            </a:r>
            <a:r>
              <a:rPr lang="en-US" dirty="0" err="1"/>
              <a:t>recurrentis</a:t>
            </a:r>
            <a:r>
              <a:rPr lang="en-US" dirty="0"/>
              <a:t> enters through abrasions or mucous membranes (not by bite). Alternatively, contamination of </a:t>
            </a:r>
            <a:r>
              <a:rPr lang="en-US" dirty="0" smtClean="0"/>
              <a:t>conjunctiva</a:t>
            </a:r>
            <a:endParaRPr lang="en-US" dirty="0"/>
          </a:p>
          <a:p>
            <a:pPr lvl="0"/>
            <a:r>
              <a:rPr lang="en-US" dirty="0"/>
              <a:t>TBRF: Tick feeds for &lt;30 minutes; spirochetes are injected with tick saliva. </a:t>
            </a:r>
            <a:r>
              <a:rPr lang="en-US" dirty="0" err="1"/>
              <a:t>Ornithodoros</a:t>
            </a:r>
            <a:r>
              <a:rPr lang="en-US" dirty="0"/>
              <a:t> ticks are painless feeders (nocturnal), making exposure often </a:t>
            </a:r>
            <a:r>
              <a:rPr lang="en-US" dirty="0" smtClean="0"/>
              <a:t>unrecognized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89691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/>
            <a:r>
              <a:rPr lang="en-US" dirty="0"/>
              <a:t>Pathogenesis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6179233"/>
          </a:xfrm>
        </p:spPr>
        <p:txBody>
          <a:bodyPr/>
          <a:lstStyle/>
          <a:p>
            <a:pPr marL="0" lvl="0" indent="0">
              <a:buNone/>
            </a:pPr>
            <a:r>
              <a:rPr lang="en-US" b="1" dirty="0" err="1"/>
              <a:t>Spirochetemia</a:t>
            </a:r>
            <a:r>
              <a:rPr lang="en-US" b="1" dirty="0"/>
              <a:t> and Immune Evasion</a:t>
            </a:r>
            <a:endParaRPr lang="en-US" dirty="0" smtClean="0"/>
          </a:p>
          <a:p>
            <a:pPr lvl="0"/>
            <a:r>
              <a:rPr lang="en-US" dirty="0" smtClean="0"/>
              <a:t>After </a:t>
            </a:r>
            <a:r>
              <a:rPr lang="en-US" dirty="0"/>
              <a:t>inoculation, </a:t>
            </a:r>
            <a:r>
              <a:rPr lang="en-US" dirty="0" err="1"/>
              <a:t>Borrelia</a:t>
            </a:r>
            <a:r>
              <a:rPr lang="en-US" dirty="0"/>
              <a:t> disseminates </a:t>
            </a:r>
            <a:r>
              <a:rPr lang="en-US" dirty="0" err="1"/>
              <a:t>hematogenously</a:t>
            </a:r>
            <a:r>
              <a:rPr lang="en-US" dirty="0"/>
              <a:t> within 3–7 days</a:t>
            </a:r>
          </a:p>
          <a:p>
            <a:pPr lvl="0"/>
            <a:r>
              <a:rPr lang="en-US" dirty="0"/>
              <a:t>High-density </a:t>
            </a:r>
            <a:r>
              <a:rPr lang="en-US" dirty="0" err="1"/>
              <a:t>spirochetemia</a:t>
            </a:r>
            <a:r>
              <a:rPr lang="en-US" dirty="0"/>
              <a:t> (10^4–10^7 organisms/mL blood) drives febrile paroxysm via cytokine storm (IL-1, IL-6, TNF-α, IFN-γ)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5000222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32435"/>
            <a:ext cx="10972800" cy="1143000"/>
          </a:xfrm>
        </p:spPr>
        <p:txBody>
          <a:bodyPr/>
          <a:lstStyle/>
          <a:p>
            <a:r>
              <a:rPr lang="en-US" dirty="0"/>
              <a:t>Pathogenesis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Immune system mounts antibody response against expressed </a:t>
            </a:r>
            <a:r>
              <a:rPr lang="en-US" dirty="0" err="1"/>
              <a:t>Vsp</a:t>
            </a:r>
            <a:r>
              <a:rPr lang="en-US" dirty="0"/>
              <a:t>/</a:t>
            </a:r>
            <a:r>
              <a:rPr lang="en-US" dirty="0" err="1"/>
              <a:t>Vlp</a:t>
            </a:r>
            <a:r>
              <a:rPr lang="en-US" dirty="0"/>
              <a:t> antigens, clearing </a:t>
            </a:r>
            <a:r>
              <a:rPr lang="en-US" dirty="0" err="1"/>
              <a:t>spirochetemia</a:t>
            </a:r>
            <a:r>
              <a:rPr lang="en-US" dirty="0"/>
              <a:t> → clinical </a:t>
            </a:r>
            <a:r>
              <a:rPr lang="en-US" dirty="0" smtClean="0"/>
              <a:t>remission</a:t>
            </a:r>
            <a:endParaRPr lang="en-US" dirty="0"/>
          </a:p>
          <a:p>
            <a:pPr lvl="0"/>
            <a:r>
              <a:rPr lang="en-US" dirty="0" smtClean="0"/>
              <a:t>A </a:t>
            </a:r>
            <a:r>
              <a:rPr lang="en-US" dirty="0"/>
              <a:t>small subset of spirochetes switch to a new </a:t>
            </a:r>
            <a:r>
              <a:rPr lang="en-US" dirty="0" err="1"/>
              <a:t>Vsp</a:t>
            </a:r>
            <a:r>
              <a:rPr lang="en-US" dirty="0"/>
              <a:t> variant (segmental gene conversion), establishing new bacteremia → next febrile relapse</a:t>
            </a:r>
          </a:p>
          <a:p>
            <a:pPr lvl="0"/>
            <a:r>
              <a:rPr lang="en-US" dirty="0"/>
              <a:t>Cycle repeats 3–5 times in LBRF; up to 10+ times in TBRF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17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1557160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Pathogenesis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A </a:t>
            </a:r>
            <a:r>
              <a:rPr lang="en-US" b="1" u="sng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single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spirochete may be sufficient to initiate an infection</a:t>
            </a:r>
            <a:r>
              <a:rPr lang="en-US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RF is primarily an extracellular infection of the bloodstream. </a:t>
            </a:r>
          </a:p>
          <a:p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In blood </a:t>
            </a:r>
            <a:r>
              <a:rPr lang="en-US" dirty="0" err="1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Borrelia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divide every 6 to 12 hours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10</a:t>
            </a:r>
            <a:r>
              <a:rPr lang="en-US" baseline="300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6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 to 10</a:t>
            </a:r>
            <a:r>
              <a:rPr lang="en-US" baseline="300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8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 per mL of blood. </a:t>
            </a:r>
          </a:p>
          <a:p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Spirochetes bind to </a:t>
            </a:r>
            <a:r>
              <a:rPr lang="en-US" dirty="0" err="1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to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erythrocytes 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aggregation of RBCs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4289319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athogenesis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  <a:latin typeface="+mj-lt"/>
                <a:cs typeface="Segoe UI Semibold" panose="020B0702040204020203" pitchFamily="34" charset="0"/>
              </a:rPr>
              <a:t>Relapses are caused by antigenic variation of major antigen abundant on its surface.</a:t>
            </a:r>
          </a:p>
          <a:p>
            <a:r>
              <a:rPr lang="en-US" dirty="0" smtClean="0">
                <a:solidFill>
                  <a:srgbClr val="002060"/>
                </a:solidFill>
                <a:latin typeface="+mj-lt"/>
                <a:cs typeface="Segoe UI Semibold" panose="020B0702040204020203" pitchFamily="34" charset="0"/>
              </a:rPr>
              <a:t>Outer </a:t>
            </a:r>
            <a:r>
              <a:rPr lang="en-US" dirty="0">
                <a:solidFill>
                  <a:srgbClr val="002060"/>
                </a:solidFill>
                <a:latin typeface="+mj-lt"/>
                <a:cs typeface="Segoe UI Semibold" panose="020B0702040204020203" pitchFamily="34" charset="0"/>
              </a:rPr>
              <a:t>membrane lipoproteins called variable major proteins (VMPs) </a:t>
            </a:r>
          </a:p>
          <a:p>
            <a:r>
              <a:rPr lang="en-US" dirty="0" smtClean="0">
                <a:solidFill>
                  <a:srgbClr val="002060"/>
                </a:solidFill>
                <a:latin typeface="+mj-lt"/>
                <a:cs typeface="Segoe UI Semibold" panose="020B0702040204020203" pitchFamily="34" charset="0"/>
              </a:rPr>
              <a:t>They  </a:t>
            </a:r>
            <a:r>
              <a:rPr lang="en-US" dirty="0">
                <a:solidFill>
                  <a:srgbClr val="002060"/>
                </a:solidFill>
                <a:latin typeface="+mj-lt"/>
                <a:cs typeface="Segoe UI Semibold" panose="020B0702040204020203" pitchFamily="34" charset="0"/>
              </a:rPr>
              <a:t>determine serotype identity of relapsing fever </a:t>
            </a:r>
            <a:r>
              <a:rPr lang="en-US" i="1" dirty="0" err="1">
                <a:solidFill>
                  <a:srgbClr val="002060"/>
                </a:solidFill>
                <a:latin typeface="+mj-lt"/>
                <a:cs typeface="Segoe UI Semibold" panose="020B0702040204020203" pitchFamily="34" charset="0"/>
              </a:rPr>
              <a:t>Borrelia</a:t>
            </a:r>
            <a:r>
              <a:rPr lang="en-US" i="1" dirty="0">
                <a:solidFill>
                  <a:srgbClr val="002060"/>
                </a:solidFill>
                <a:latin typeface="+mj-lt"/>
                <a:cs typeface="Segoe UI Semibold" panose="020B0702040204020203" pitchFamily="34" charset="0"/>
              </a:rPr>
              <a:t> </a:t>
            </a:r>
            <a:r>
              <a:rPr lang="en-US" dirty="0" err="1">
                <a:solidFill>
                  <a:srgbClr val="002060"/>
                </a:solidFill>
                <a:latin typeface="+mj-lt"/>
                <a:cs typeface="Segoe UI Semibold" panose="020B0702040204020203" pitchFamily="34" charset="0"/>
              </a:rPr>
              <a:t>spp</a:t>
            </a:r>
            <a:r>
              <a:rPr lang="en-US" dirty="0">
                <a:solidFill>
                  <a:srgbClr val="002060"/>
                </a:solidFill>
                <a:latin typeface="+mj-lt"/>
                <a:cs typeface="Segoe UI Semibold" panose="020B0702040204020203" pitchFamily="34" charset="0"/>
              </a:rPr>
              <a:t> </a:t>
            </a:r>
          </a:p>
          <a:p>
            <a:r>
              <a:rPr lang="en-US" dirty="0" smtClean="0">
                <a:solidFill>
                  <a:srgbClr val="002060"/>
                </a:solidFill>
                <a:latin typeface="+mj-lt"/>
                <a:cs typeface="Segoe UI Semibold" panose="020B0702040204020203" pitchFamily="34" charset="0"/>
              </a:rPr>
              <a:t>This </a:t>
            </a:r>
            <a:r>
              <a:rPr lang="en-US" dirty="0">
                <a:solidFill>
                  <a:srgbClr val="002060"/>
                </a:solidFill>
                <a:latin typeface="+mj-lt"/>
                <a:cs typeface="Segoe UI Semibold" panose="020B0702040204020203" pitchFamily="34" charset="0"/>
              </a:rPr>
              <a:t>places them one step ahead of the immune system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895657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Pathogenesis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A single strain of a relapsing fever </a:t>
            </a:r>
            <a:r>
              <a:rPr lang="en-US" sz="2800" i="1" dirty="0" err="1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Borrelia</a:t>
            </a:r>
            <a:r>
              <a:rPr lang="en-US" sz="28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 species is able to produce several </a:t>
            </a:r>
            <a:r>
              <a:rPr lang="en-US" sz="2800" dirty="0" err="1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antigenically</a:t>
            </a:r>
            <a:r>
              <a:rPr lang="en-US" sz="28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distinct variants called </a:t>
            </a:r>
            <a:r>
              <a:rPr lang="en-US" sz="28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serotypes</a:t>
            </a:r>
            <a:endParaRPr lang="en-US" sz="2800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 These variable proteins also determine differences in disease expression. </a:t>
            </a:r>
          </a:p>
          <a:p>
            <a:pPr lvl="1"/>
            <a:r>
              <a:rPr lang="en-US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Example: the propensity for CNS invasion with </a:t>
            </a:r>
            <a:r>
              <a:rPr lang="en-US" sz="2400" i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B. </a:t>
            </a:r>
            <a:r>
              <a:rPr lang="en-US" sz="2400" i="1" dirty="0" err="1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turicatae</a:t>
            </a:r>
            <a:r>
              <a:rPr lang="en-US" sz="2400" i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 </a:t>
            </a:r>
          </a:p>
          <a:p>
            <a:pPr marL="457200" lvl="1" indent="0">
              <a:buNone/>
            </a:pPr>
            <a:r>
              <a:rPr lang="en-US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(experimental studies with infected mice</a:t>
            </a:r>
            <a:r>
              <a:rPr lang="en-US" sz="24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)</a:t>
            </a:r>
            <a:endParaRPr lang="en-US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2800" dirty="0" err="1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IgM</a:t>
            </a:r>
            <a:r>
              <a:rPr lang="en-US" sz="28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specific for VMPs, appear after a few days of infection </a:t>
            </a:r>
          </a:p>
          <a:p>
            <a:pPr lvl="1"/>
            <a:r>
              <a:rPr lang="en-US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Direct bactericidal action or </a:t>
            </a:r>
            <a:r>
              <a:rPr lang="en-US" sz="2400" dirty="0" err="1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opsonization</a:t>
            </a:r>
            <a:r>
              <a:rPr lang="en-US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  <a:sym typeface="Wingdings" pitchFamily="2" charset="2"/>
              </a:rPr>
              <a:t> </a:t>
            </a:r>
            <a:r>
              <a:rPr lang="en-US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bacteria </a:t>
            </a:r>
            <a:r>
              <a:rPr lang="en-US" sz="2400" dirty="0" err="1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lysis</a:t>
            </a:r>
            <a:r>
              <a:rPr lang="en-US" sz="24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occurs</a:t>
            </a:r>
            <a:endParaRPr lang="en-US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4189452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>Organ </a:t>
            </a:r>
            <a:r>
              <a:rPr lang="en-US" b="1" dirty="0"/>
              <a:t>Involvement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CNS: Spirochetes cross blood-brain barrier; lymphocytic meningitis, cranial nerve palsies, cerebral </a:t>
            </a:r>
            <a:r>
              <a:rPr lang="en-US" dirty="0" smtClean="0"/>
              <a:t>hemorrhage</a:t>
            </a:r>
          </a:p>
          <a:p>
            <a:r>
              <a:rPr lang="en-US" dirty="0" smtClean="0"/>
              <a:t>Liver</a:t>
            </a:r>
            <a:r>
              <a:rPr lang="en-US" dirty="0"/>
              <a:t>: Hepatocellular damage from </a:t>
            </a:r>
            <a:r>
              <a:rPr lang="en-US" dirty="0" err="1"/>
              <a:t>spirochetal</a:t>
            </a:r>
            <a:r>
              <a:rPr lang="en-US" dirty="0"/>
              <a:t> invasion; </a:t>
            </a:r>
            <a:r>
              <a:rPr lang="en-US" dirty="0" err="1"/>
              <a:t>periportal</a:t>
            </a:r>
            <a:r>
              <a:rPr lang="en-US" dirty="0"/>
              <a:t> inflammation, </a:t>
            </a:r>
            <a:r>
              <a:rPr lang="en-US" dirty="0" err="1"/>
              <a:t>Kupffer</a:t>
            </a:r>
            <a:r>
              <a:rPr lang="en-US" dirty="0"/>
              <a:t> cell </a:t>
            </a:r>
            <a:r>
              <a:rPr lang="en-US" dirty="0" smtClean="0"/>
              <a:t>activation</a:t>
            </a:r>
          </a:p>
          <a:p>
            <a:r>
              <a:rPr lang="en-US" dirty="0" smtClean="0"/>
              <a:t>Spleen</a:t>
            </a:r>
            <a:r>
              <a:rPr lang="en-US" dirty="0"/>
              <a:t>: Splenomegaly from </a:t>
            </a:r>
            <a:r>
              <a:rPr lang="en-US" dirty="0" err="1"/>
              <a:t>reticuloendothelial</a:t>
            </a:r>
            <a:r>
              <a:rPr lang="en-US" dirty="0"/>
              <a:t> hyperplasia; splenic rupture (rare but life-threatening)</a:t>
            </a:r>
            <a:br>
              <a:rPr lang="en-US" dirty="0"/>
            </a:b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3159310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Organ Involvement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Heart: Myocarditis, conduction defects (QT prolongation, AV block</a:t>
            </a:r>
            <a:r>
              <a:rPr lang="en-US" dirty="0" smtClean="0"/>
              <a:t>)</a:t>
            </a:r>
          </a:p>
          <a:p>
            <a:r>
              <a:rPr lang="en-US" dirty="0" smtClean="0"/>
              <a:t>Lungs</a:t>
            </a:r>
            <a:r>
              <a:rPr lang="en-US" dirty="0"/>
              <a:t>: Acute respiratory distress from cytokine-mediated capillary </a:t>
            </a:r>
            <a:r>
              <a:rPr lang="en-US" dirty="0" smtClean="0"/>
              <a:t>leak</a:t>
            </a:r>
          </a:p>
          <a:p>
            <a:r>
              <a:rPr lang="en-US" dirty="0" smtClean="0"/>
              <a:t>Placenta</a:t>
            </a:r>
            <a:r>
              <a:rPr lang="en-US" dirty="0"/>
              <a:t>: </a:t>
            </a:r>
            <a:r>
              <a:rPr lang="en-US" dirty="0" err="1"/>
              <a:t>Transplacental</a:t>
            </a:r>
            <a:r>
              <a:rPr lang="en-US" dirty="0"/>
              <a:t> transmission → fetal </a:t>
            </a:r>
            <a:r>
              <a:rPr lang="en-US" dirty="0" err="1"/>
              <a:t>spirochetemia</a:t>
            </a:r>
            <a:r>
              <a:rPr lang="en-US" dirty="0"/>
              <a:t> → miscarriage, preterm labor, neonatal RF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7226081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Clinical presentation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Incubation Period</a:t>
            </a:r>
          </a:p>
          <a:p>
            <a:pPr lvl="0"/>
            <a:r>
              <a:rPr lang="en-US" dirty="0"/>
              <a:t>LBRF: 2–18 days (mean 7 days) after louse contact/infestation</a:t>
            </a:r>
          </a:p>
          <a:p>
            <a:pPr lvl="0"/>
            <a:r>
              <a:rPr lang="en-US" dirty="0"/>
              <a:t>TBRF: 4–18 days (mean 7 days) after tick bite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569531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Febrile episodes pattern </a:t>
            </a:r>
            <a:endParaRPr lang="en-US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7736662"/>
              </p:ext>
            </p:extLst>
          </p:nvPr>
        </p:nvGraphicFramePr>
        <p:xfrm>
          <a:off x="150126" y="1417641"/>
          <a:ext cx="11432274" cy="454643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31352"/>
                <a:gridCol w="4250461"/>
                <a:gridCol w="4250461"/>
              </a:tblGrid>
              <a:tr h="987021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Clinical Parameter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LBRF (B. </a:t>
                      </a:r>
                      <a:r>
                        <a:rPr lang="en-US" sz="2800" dirty="0" err="1">
                          <a:effectLst/>
                        </a:rPr>
                        <a:t>recurrentis</a:t>
                      </a:r>
                      <a:r>
                        <a:rPr lang="en-US" sz="2800" dirty="0">
                          <a:effectLst/>
                        </a:rPr>
                        <a:t>)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TBRF (</a:t>
                      </a:r>
                      <a:r>
                        <a:rPr lang="en-US" sz="2800" dirty="0" err="1">
                          <a:effectLst/>
                        </a:rPr>
                        <a:t>Borrelia</a:t>
                      </a:r>
                      <a:r>
                        <a:rPr lang="en-US" sz="2800" dirty="0">
                          <a:effectLst/>
                        </a:rPr>
                        <a:t> spp.)</a:t>
                      </a:r>
                      <a:endParaRPr lang="en-US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63500" marB="63500" anchor="ctr"/>
                </a:tc>
              </a:tr>
              <a:tr h="8387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Febrile episode duration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3–6 days</a:t>
                      </a:r>
                      <a:endParaRPr lang="en-US" sz="28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3–5 days</a:t>
                      </a:r>
                      <a:endParaRPr lang="en-US" sz="28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  <a:tr h="4704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Afebrile interval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5–9 days</a:t>
                      </a:r>
                      <a:endParaRPr lang="en-US" sz="28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4–8 days</a:t>
                      </a:r>
                      <a:endParaRPr lang="en-US" sz="28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  <a:tr h="83871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Number of relapses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1–2 (usually)</a:t>
                      </a:r>
                      <a:endParaRPr lang="en-US" sz="28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3–4 (can be &gt;10)</a:t>
                      </a:r>
                      <a:endParaRPr lang="en-US" sz="28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  <a:tr h="4704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Fever peak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39–41°C</a:t>
                      </a:r>
                      <a:endParaRPr lang="en-US" sz="28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39–41°C</a:t>
                      </a:r>
                      <a:endParaRPr lang="en-US" sz="28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  <a:tr h="4704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Untreated CFR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30–70%</a:t>
                      </a:r>
                      <a:endParaRPr lang="en-US" sz="28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2–10%</a:t>
                      </a:r>
                      <a:endParaRPr lang="en-US" sz="28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  <a:tr h="47049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JHR frequency</a:t>
                      </a:r>
                      <a:endParaRPr lang="en-US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55–90%</a:t>
                      </a:r>
                      <a:endParaRPr lang="en-US" sz="280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chemeClr val="tx2">
                              <a:lumMod val="50000"/>
                            </a:schemeClr>
                          </a:solidFill>
                          <a:effectLst/>
                        </a:rPr>
                        <a:t>30–60%</a:t>
                      </a:r>
                      <a:endParaRPr lang="en-US" sz="2800" dirty="0">
                        <a:solidFill>
                          <a:schemeClr val="tx2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590877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presentation</a:t>
            </a: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lang="en-US" b="1" dirty="0"/>
              <a:t>Constitutional Symptoms</a:t>
            </a:r>
            <a:endParaRPr lang="en-US" dirty="0" smtClean="0"/>
          </a:p>
          <a:p>
            <a:pPr lvl="0"/>
            <a:r>
              <a:rPr lang="en-US" dirty="0" smtClean="0"/>
              <a:t>Sudden-onset </a:t>
            </a:r>
            <a:r>
              <a:rPr lang="en-US" dirty="0"/>
              <a:t>high fever with rigors (92–98%)</a:t>
            </a:r>
          </a:p>
          <a:p>
            <a:pPr lvl="0"/>
            <a:r>
              <a:rPr lang="en-US" dirty="0"/>
              <a:t>Profuse diaphoresis at </a:t>
            </a:r>
            <a:r>
              <a:rPr lang="en-US" dirty="0" err="1"/>
              <a:t>defervescence</a:t>
            </a:r>
            <a:endParaRPr lang="en-US" dirty="0"/>
          </a:p>
          <a:p>
            <a:pPr lvl="0"/>
            <a:r>
              <a:rPr lang="en-US" dirty="0"/>
              <a:t>Severe headache (90–97%) – often retro-orbital</a:t>
            </a:r>
          </a:p>
          <a:p>
            <a:pPr lvl="0"/>
            <a:r>
              <a:rPr lang="en-US" dirty="0"/>
              <a:t>Myalgia and arthralgia (70–85%)</a:t>
            </a:r>
          </a:p>
          <a:p>
            <a:pPr lvl="0"/>
            <a:r>
              <a:rPr lang="en-US" dirty="0"/>
              <a:t>Fatigue, malaise, anorexia (&gt;90%)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645900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Neurological Manifestations (5–10%)</a:t>
            </a:r>
          </a:p>
          <a:p>
            <a:pPr lvl="0"/>
            <a:r>
              <a:rPr lang="en-US" dirty="0" err="1" smtClean="0"/>
              <a:t>Meningism</a:t>
            </a:r>
            <a:r>
              <a:rPr lang="en-US" dirty="0" smtClean="0"/>
              <a:t> </a:t>
            </a:r>
            <a:r>
              <a:rPr lang="en-US" dirty="0"/>
              <a:t>(neck stiffness, photophobia)</a:t>
            </a:r>
          </a:p>
          <a:p>
            <a:pPr lvl="0"/>
            <a:r>
              <a:rPr lang="en-US" dirty="0"/>
              <a:t>CSF </a:t>
            </a:r>
            <a:r>
              <a:rPr lang="en-US" dirty="0" err="1"/>
              <a:t>pleocytosis</a:t>
            </a:r>
            <a:r>
              <a:rPr lang="en-US" dirty="0"/>
              <a:t> (lymphocytic)</a:t>
            </a:r>
          </a:p>
          <a:p>
            <a:pPr lvl="0"/>
            <a:r>
              <a:rPr lang="en-US" dirty="0"/>
              <a:t>Cranial nerve palsies (VII most common, bilateral in TBRF)</a:t>
            </a:r>
          </a:p>
          <a:p>
            <a:pPr lvl="0"/>
            <a:r>
              <a:rPr lang="en-US" dirty="0" err="1"/>
              <a:t>Iridocyclitis</a:t>
            </a:r>
            <a:r>
              <a:rPr lang="en-US" dirty="0"/>
              <a:t>, uveitis</a:t>
            </a:r>
          </a:p>
          <a:p>
            <a:pPr lvl="0"/>
            <a:r>
              <a:rPr lang="en-US" dirty="0"/>
              <a:t>Hemiplegia, aphasia (rare – due to CNS </a:t>
            </a:r>
            <a:r>
              <a:rPr lang="en-US" dirty="0" err="1"/>
              <a:t>vasculitis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Coma (severe/late disease)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1429496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Gastrointestinal</a:t>
            </a:r>
          </a:p>
          <a:p>
            <a:pPr lvl="0"/>
            <a:r>
              <a:rPr lang="en-US" dirty="0"/>
              <a:t>Nausea and vomiting (60–75%)</a:t>
            </a:r>
          </a:p>
          <a:p>
            <a:pPr lvl="0"/>
            <a:r>
              <a:rPr lang="en-US" dirty="0"/>
              <a:t>Abdominal pain, hepatomegaly (50–75%)</a:t>
            </a:r>
          </a:p>
          <a:p>
            <a:pPr lvl="0"/>
            <a:r>
              <a:rPr lang="en-US" dirty="0"/>
              <a:t>Jaundice (15–40% in LBRF; rare in TBRF)</a:t>
            </a:r>
          </a:p>
          <a:p>
            <a:pPr lvl="0"/>
            <a:r>
              <a:rPr lang="en-US" dirty="0"/>
              <a:t>Splenomegaly (up to 75%)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384185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Cardiovascular</a:t>
            </a:r>
          </a:p>
          <a:p>
            <a:pPr lvl="0"/>
            <a:r>
              <a:rPr lang="en-US" dirty="0"/>
              <a:t>Relative bradycardia (unlike most febrile illnesses)</a:t>
            </a:r>
          </a:p>
          <a:p>
            <a:pPr lvl="0"/>
            <a:r>
              <a:rPr lang="en-US" dirty="0"/>
              <a:t>Myocarditis: chest pain, elevated troponin, ST changes</a:t>
            </a:r>
          </a:p>
          <a:p>
            <a:pPr lvl="0"/>
            <a:r>
              <a:rPr lang="en-US" dirty="0"/>
              <a:t>QT prolongation, first/second-degree AV block (ECG)</a:t>
            </a:r>
          </a:p>
          <a:p>
            <a:pPr lvl="0"/>
            <a:r>
              <a:rPr lang="en-US" dirty="0"/>
              <a:t>Hypotension (common during JHR)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888031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Clinical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Hemorrhagic Manifestations</a:t>
            </a:r>
          </a:p>
          <a:p>
            <a:pPr lvl="0"/>
            <a:r>
              <a:rPr lang="en-US" dirty="0" err="1"/>
              <a:t>Petechiae</a:t>
            </a:r>
            <a:r>
              <a:rPr lang="en-US" dirty="0"/>
              <a:t>, epistaxis, </a:t>
            </a:r>
            <a:r>
              <a:rPr lang="en-US" dirty="0" err="1"/>
              <a:t>conjunctival</a:t>
            </a:r>
            <a:r>
              <a:rPr lang="en-US" dirty="0"/>
              <a:t> hemorrhage</a:t>
            </a:r>
          </a:p>
          <a:p>
            <a:pPr lvl="0"/>
            <a:r>
              <a:rPr lang="en-US" dirty="0"/>
              <a:t>Gastrointestinal bleeding (hematemesis, melena)</a:t>
            </a:r>
          </a:p>
          <a:p>
            <a:pPr lvl="0"/>
            <a:r>
              <a:rPr lang="en-US" dirty="0" err="1"/>
              <a:t>Subconjunctival</a:t>
            </a:r>
            <a:r>
              <a:rPr lang="en-US" dirty="0"/>
              <a:t> hemorrhage (pathognomonic feature in some series)</a:t>
            </a:r>
          </a:p>
          <a:p>
            <a:pPr lvl="0"/>
            <a:r>
              <a:rPr lang="en-US" dirty="0"/>
              <a:t>Severe coagulopathy resembling DIC in fatal cases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2328857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Pregnancy-Associated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Pregnant 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women with relapsing fever tend to have a more severe and prolonged illness. </a:t>
            </a:r>
          </a:p>
          <a:p>
            <a:pPr marL="0" indent="0">
              <a:buNone/>
            </a:pPr>
            <a:r>
              <a:rPr lang="en-US" dirty="0" err="1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Transplacental</a:t>
            </a:r>
            <a:r>
              <a:rPr lang="en-US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transmission of the infection can occur leads to abortion or stillbirth;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Congenital 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malformations -not been reported. </a:t>
            </a:r>
          </a:p>
          <a:p>
            <a:pPr marL="0" indent="0">
              <a:buNone/>
            </a:pPr>
            <a:r>
              <a:rPr lang="en-US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A 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newborn may also be infected shortly after birth, and neonates with relapsing fever are at increased risk of complications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</a:p>
          <a:p>
            <a:endParaRPr lang="en-US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4777954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Diagnostic approach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Diagnosis requires a high index of </a:t>
            </a:r>
            <a:r>
              <a:rPr lang="en-US" dirty="0" smtClean="0"/>
              <a:t>suspicion, Travel </a:t>
            </a:r>
            <a:r>
              <a:rPr lang="en-US" dirty="0"/>
              <a:t>history, exposure to lice/ticks, and presence of relapsing fever pattern are key</a:t>
            </a:r>
            <a:endParaRPr lang="en-US" dirty="0" smtClean="0"/>
          </a:p>
          <a:p>
            <a:r>
              <a:rPr lang="en-US" dirty="0" smtClean="0"/>
              <a:t>Diagnosis </a:t>
            </a:r>
            <a:r>
              <a:rPr lang="en-US" dirty="0"/>
              <a:t>is </a:t>
            </a:r>
            <a:r>
              <a:rPr lang="en-US" dirty="0" smtClean="0"/>
              <a:t>confirmed </a:t>
            </a:r>
            <a:r>
              <a:rPr lang="en-US" dirty="0"/>
              <a:t>by detecting </a:t>
            </a:r>
            <a:r>
              <a:rPr lang="en-US" dirty="0" err="1"/>
              <a:t>Borrelia</a:t>
            </a:r>
            <a:r>
              <a:rPr lang="en-US" dirty="0"/>
              <a:t> in </a:t>
            </a:r>
            <a:r>
              <a:rPr lang="en-US" dirty="0" err="1"/>
              <a:t>Giemsa</a:t>
            </a:r>
            <a:r>
              <a:rPr lang="en-US" dirty="0"/>
              <a:t>-stained blood films, serological analysis or </a:t>
            </a:r>
            <a:r>
              <a:rPr lang="en-US" dirty="0" smtClean="0"/>
              <a:t>PCR detection </a:t>
            </a:r>
            <a:r>
              <a:rPr lang="en-US" dirty="0"/>
              <a:t>of the </a:t>
            </a:r>
            <a:r>
              <a:rPr lang="en-US" dirty="0" smtClean="0"/>
              <a:t>organism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071447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Diagnostic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7254240" cy="452596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</a:rPr>
              <a:t>Peripheral Blood Smear (Gold Standard)</a:t>
            </a:r>
          </a:p>
          <a:p>
            <a:pPr lvl="0"/>
            <a:r>
              <a:rPr lang="en-US" dirty="0">
                <a:solidFill>
                  <a:srgbClr val="002060"/>
                </a:solidFill>
              </a:rPr>
              <a:t>Wright’s or </a:t>
            </a:r>
            <a:r>
              <a:rPr lang="en-US" dirty="0" err="1">
                <a:solidFill>
                  <a:srgbClr val="002060"/>
                </a:solidFill>
              </a:rPr>
              <a:t>Giemsa</a:t>
            </a:r>
            <a:r>
              <a:rPr lang="en-US" dirty="0">
                <a:solidFill>
                  <a:srgbClr val="002060"/>
                </a:solidFill>
              </a:rPr>
              <a:t> stain of thin or thick peripheral blood film during febrile phase</a:t>
            </a:r>
          </a:p>
          <a:p>
            <a:r>
              <a:rPr lang="en-US" dirty="0">
                <a:solidFill>
                  <a:srgbClr val="002060"/>
                </a:solidFill>
              </a:rPr>
              <a:t>Sensitivity: 70–90% during acute </a:t>
            </a:r>
            <a:r>
              <a:rPr lang="en-US" dirty="0" err="1">
                <a:solidFill>
                  <a:srgbClr val="002060"/>
                </a:solidFill>
              </a:rPr>
              <a:t>spirochetemia</a:t>
            </a:r>
            <a:r>
              <a:rPr lang="en-US" dirty="0">
                <a:solidFill>
                  <a:srgbClr val="002060"/>
                </a:solidFill>
              </a:rPr>
              <a:t> </a:t>
            </a:r>
          </a:p>
          <a:p>
            <a:pPr lvl="0"/>
            <a:r>
              <a:rPr lang="en-US" dirty="0">
                <a:solidFill>
                  <a:srgbClr val="002060"/>
                </a:solidFill>
              </a:rPr>
              <a:t>Dark-field microscopy enhances </a:t>
            </a:r>
            <a:r>
              <a:rPr lang="en-US" dirty="0" smtClean="0">
                <a:solidFill>
                  <a:srgbClr val="002060"/>
                </a:solidFill>
              </a:rPr>
              <a:t>sensitivity</a:t>
            </a:r>
            <a:endParaRPr lang="en-US" dirty="0">
              <a:solidFill>
                <a:srgbClr val="002060"/>
              </a:solidFill>
            </a:endParaRPr>
          </a:p>
          <a:p>
            <a:pPr marL="0" lvl="0" indent="0">
              <a:buNone/>
            </a:pPr>
            <a:r>
              <a:rPr lang="en-US" dirty="0">
                <a:solidFill>
                  <a:srgbClr val="002060"/>
                </a:solidFill>
              </a:rPr>
              <a:t>Note: Sample must be taken during febrile episode (</a:t>
            </a:r>
            <a:r>
              <a:rPr lang="en-US" dirty="0" err="1">
                <a:solidFill>
                  <a:srgbClr val="002060"/>
                </a:solidFill>
              </a:rPr>
              <a:t>spirochetemia</a:t>
            </a:r>
            <a:r>
              <a:rPr lang="en-US" dirty="0">
                <a:solidFill>
                  <a:srgbClr val="002060"/>
                </a:solidFill>
              </a:rPr>
              <a:t> absent in afebrile intervals)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2B28DE-E07C-4482-8778-D4D352CF1192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D7F7AD-559D-40EF-93EF-C2EF8DFE6BD3}" type="slidenum">
              <a:rPr lang="en-US" altLang="en-US" smtClean="0"/>
              <a:t>32</a:t>
            </a:fld>
            <a:endParaRPr lang="en-US" alt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3686" y="1814732"/>
            <a:ext cx="3901440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505908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Diagnostic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PCR (Polymerase Chain Reaction)</a:t>
            </a:r>
          </a:p>
          <a:p>
            <a:pPr lvl="0"/>
            <a:r>
              <a:rPr lang="en-US" dirty="0"/>
              <a:t>16S </a:t>
            </a:r>
            <a:r>
              <a:rPr lang="en-US" dirty="0" err="1"/>
              <a:t>rRNA</a:t>
            </a:r>
            <a:r>
              <a:rPr lang="en-US" dirty="0"/>
              <a:t> gene or </a:t>
            </a:r>
            <a:r>
              <a:rPr lang="en-US" dirty="0" err="1"/>
              <a:t>flagellin</a:t>
            </a:r>
            <a:r>
              <a:rPr lang="en-US" dirty="0"/>
              <a:t> gene (</a:t>
            </a:r>
            <a:r>
              <a:rPr lang="en-US" dirty="0" err="1"/>
              <a:t>flaB</a:t>
            </a:r>
            <a:r>
              <a:rPr lang="en-US" dirty="0"/>
              <a:t>) PCR from whole blood or CSF</a:t>
            </a:r>
          </a:p>
          <a:p>
            <a:pPr lvl="0"/>
            <a:r>
              <a:rPr lang="en-US" dirty="0"/>
              <a:t>Sensitivity: 94–100%, Specificity: </a:t>
            </a:r>
            <a:r>
              <a:rPr lang="en-US" dirty="0" smtClean="0"/>
              <a:t>99–100%</a:t>
            </a:r>
            <a:endParaRPr lang="en-US" dirty="0"/>
          </a:p>
          <a:p>
            <a:pPr lvl="0"/>
            <a:r>
              <a:rPr lang="en-US" dirty="0"/>
              <a:t>Can </a:t>
            </a:r>
            <a:r>
              <a:rPr lang="en-US" dirty="0" err="1"/>
              <a:t>speciate</a:t>
            </a:r>
            <a:r>
              <a:rPr lang="en-US" dirty="0"/>
              <a:t> </a:t>
            </a:r>
            <a:r>
              <a:rPr lang="en-US" dirty="0" err="1"/>
              <a:t>Borrelia</a:t>
            </a:r>
            <a:r>
              <a:rPr lang="en-US" dirty="0"/>
              <a:t> </a:t>
            </a:r>
          </a:p>
          <a:p>
            <a:pPr lvl="0"/>
            <a:r>
              <a:rPr lang="en-US" dirty="0"/>
              <a:t>Useful in early infection before </a:t>
            </a:r>
            <a:r>
              <a:rPr lang="en-US" dirty="0" err="1"/>
              <a:t>spirochetemia</a:t>
            </a:r>
            <a:r>
              <a:rPr lang="en-US" dirty="0"/>
              <a:t> threshold reached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487415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Diagnostic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Culture</a:t>
            </a:r>
          </a:p>
          <a:p>
            <a:pPr lvl="0"/>
            <a:r>
              <a:rPr lang="en-US" sz="2800" dirty="0"/>
              <a:t>Modified Kelly-</a:t>
            </a:r>
            <a:r>
              <a:rPr lang="en-US" sz="2800" dirty="0" err="1"/>
              <a:t>Pettenkofer</a:t>
            </a:r>
            <a:r>
              <a:rPr lang="en-US" sz="2800" dirty="0"/>
              <a:t> (MKP) medium or Barbour-</a:t>
            </a:r>
            <a:r>
              <a:rPr lang="en-US" sz="2800" dirty="0" err="1"/>
              <a:t>Stoenner</a:t>
            </a:r>
            <a:r>
              <a:rPr lang="en-US" sz="2800" dirty="0"/>
              <a:t>-Kelly (BSK) medium</a:t>
            </a:r>
          </a:p>
          <a:p>
            <a:pPr lvl="0"/>
            <a:r>
              <a:rPr lang="en-US" sz="2800" dirty="0"/>
              <a:t>Blood inoculation into culture medium; incubation at 32–34°C</a:t>
            </a:r>
          </a:p>
          <a:p>
            <a:pPr lvl="0"/>
            <a:r>
              <a:rPr lang="en-US" sz="2800" dirty="0"/>
              <a:t>Sensitivity low (~40–60%) due to fastidious growth requirements</a:t>
            </a:r>
          </a:p>
          <a:p>
            <a:pPr lvl="0"/>
            <a:r>
              <a:rPr lang="en-US" sz="2800" dirty="0"/>
              <a:t>Time-consuming (2–6 weeks); primarily for research/reference </a:t>
            </a:r>
            <a:r>
              <a:rPr lang="en-US" sz="2800" dirty="0" smtClean="0"/>
              <a:t>laboratories</a:t>
            </a:r>
          </a:p>
          <a:p>
            <a:r>
              <a:rPr lang="en-US" sz="28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Culture can be difficult to perform and is not routinely available</a:t>
            </a:r>
            <a:r>
              <a:rPr lang="en-US" sz="28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endParaRPr lang="en-US" sz="2800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691047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Diagnostic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/>
              <a:t>Serology</a:t>
            </a:r>
            <a:endParaRPr lang="en-US" b="1" dirty="0"/>
          </a:p>
          <a:p>
            <a:pPr lvl="0"/>
            <a:r>
              <a:rPr lang="en-US" dirty="0"/>
              <a:t>ELISA and Western blot for </a:t>
            </a:r>
            <a:r>
              <a:rPr lang="en-US" dirty="0" err="1"/>
              <a:t>Borrelia</a:t>
            </a:r>
            <a:r>
              <a:rPr lang="en-US" dirty="0"/>
              <a:t>-specific </a:t>
            </a:r>
            <a:r>
              <a:rPr lang="en-US" dirty="0" err="1"/>
              <a:t>IgM</a:t>
            </a:r>
            <a:r>
              <a:rPr lang="en-US" dirty="0"/>
              <a:t>/</a:t>
            </a:r>
            <a:r>
              <a:rPr lang="en-US" dirty="0" err="1"/>
              <a:t>IgG</a:t>
            </a:r>
            <a:endParaRPr lang="en-US" dirty="0"/>
          </a:p>
          <a:p>
            <a:pPr lvl="0"/>
            <a:r>
              <a:rPr lang="en-US" dirty="0" smtClean="0"/>
              <a:t>Sensitivity </a:t>
            </a:r>
            <a:r>
              <a:rPr lang="en-US" dirty="0"/>
              <a:t>50–70% (limited due to antigenic variation)</a:t>
            </a:r>
          </a:p>
          <a:p>
            <a:pPr lvl="0"/>
            <a:r>
              <a:rPr lang="en-US" dirty="0"/>
              <a:t>Useful for retrospective diagnosis or epidemiological studies</a:t>
            </a:r>
          </a:p>
          <a:p>
            <a:r>
              <a:rPr lang="en-US" dirty="0"/>
              <a:t>Not suitable for acute diagnosis in clinical settings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9291186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Other laboratory findings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CBC</a:t>
            </a:r>
            <a:endParaRPr lang="en-US" b="1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A mild-to-moderate normocytic anemia is common, </a:t>
            </a:r>
          </a:p>
          <a:p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Leukocyte counts normal range or slightly elevated; There can be </a:t>
            </a:r>
            <a:r>
              <a:rPr lang="en-US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leukopenia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during the </a:t>
            </a:r>
            <a:r>
              <a:rPr lang="en-US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crisis</a:t>
            </a:r>
            <a:endParaRPr lang="en-US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</a:t>
            </a:r>
            <a:r>
              <a:rPr lang="en-US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Thrombocytopenia.</a:t>
            </a:r>
          </a:p>
          <a:p>
            <a:pPr marL="0" indent="0">
              <a:buNone/>
            </a:pPr>
            <a:r>
              <a:rPr lang="en-US" b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ESR</a:t>
            </a:r>
            <a:endParaRPr lang="en-US" b="1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ESR- </a:t>
            </a:r>
            <a:r>
              <a:rPr lang="en-US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elevated</a:t>
            </a:r>
            <a:endParaRPr lang="en-US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24813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laboratory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Liver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 test.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elevated serum concentrations of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unconjugated bilirubin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aminotransferases,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Moderately prolonged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PT, </a:t>
            </a: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PTT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Hypoalbuminemia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, is more often due to malnutrition than hepatic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dysfunction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33644687"/>
      </p:ext>
    </p:extLst>
  </p:cSld>
  <p:clrMapOvr>
    <a:masterClrMapping/>
  </p:clrMapOvr>
  <p:transition spd="slow">
    <p:wedg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Other laboratory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CSF Analysis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eg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when there are signs of meningitis or </a:t>
            </a:r>
            <a:r>
              <a:rPr lang="en-US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meningoencephalitis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), the CSF examination usually reveals a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mononuclear </a:t>
            </a:r>
            <a:r>
              <a:rPr lang="en-US" b="1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pleocytosis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and/or mildly to moderately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elevated protein levels with normal or elevated 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glucose </a:t>
            </a:r>
            <a:r>
              <a:rPr lang="en-US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concentrations</a:t>
            </a:r>
            <a:endParaRPr lang="en-US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6320785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Imaging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Cardiovascular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workup</a:t>
            </a:r>
          </a:p>
          <a:p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 patients with </a:t>
            </a:r>
            <a:r>
              <a:rPr lang="en-US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myocarditis</a:t>
            </a:r>
            <a:r>
              <a:rPr lang="en-US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lvl="1">
              <a:buFont typeface="Wingdings" pitchFamily="2" charset="2"/>
              <a:buChar char="ü"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ECG may reveal a prolonged </a:t>
            </a:r>
            <a:r>
              <a:rPr lang="en-US" sz="32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QTc</a:t>
            </a: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interval. </a:t>
            </a:r>
          </a:p>
          <a:p>
            <a:pPr lvl="1">
              <a:buFont typeface="Wingdings" pitchFamily="2" charset="2"/>
              <a:buChar char="ü"/>
            </a:pPr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CXR may show cardiomegaly and pulmonary edema</a:t>
            </a:r>
            <a:endParaRPr lang="en-US" dirty="0">
              <a:solidFill>
                <a:srgbClr val="00206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938379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785" y="457200"/>
            <a:ext cx="10972800" cy="597877"/>
          </a:xfrm>
        </p:spPr>
        <p:txBody>
          <a:bodyPr/>
          <a:lstStyle/>
          <a:p>
            <a:r>
              <a:rPr lang="en-US" dirty="0" smtClean="0"/>
              <a:t>Differential diagnosis</a:t>
            </a: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2090302"/>
              </p:ext>
            </p:extLst>
          </p:nvPr>
        </p:nvGraphicFramePr>
        <p:xfrm>
          <a:off x="154745" y="1153553"/>
          <a:ext cx="11774658" cy="48533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925445"/>
                <a:gridCol w="7849213"/>
              </a:tblGrid>
              <a:tr h="531949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2060"/>
                          </a:solidFill>
                          <a:effectLst/>
                        </a:rPr>
                        <a:t>Diagnosis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2060"/>
                          </a:solidFill>
                          <a:effectLst/>
                        </a:rPr>
                        <a:t>Distinguishing Features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63500" marB="63500" anchor="ctr"/>
                </a:tc>
              </a:tr>
              <a:tr h="8993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2060"/>
                          </a:solidFill>
                          <a:effectLst/>
                        </a:rPr>
                        <a:t>Malaria</a:t>
                      </a:r>
                      <a:endParaRPr lang="en-US" sz="24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2060"/>
                          </a:solidFill>
                          <a:effectLst/>
                        </a:rPr>
                        <a:t>No true afebrile remission; P. falciparum continuous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  <a:tr h="50452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2060"/>
                          </a:solidFill>
                          <a:effectLst/>
                        </a:rPr>
                        <a:t>Typhoid fever</a:t>
                      </a:r>
                      <a:endParaRPr lang="en-US" sz="24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2060"/>
                          </a:solidFill>
                          <a:effectLst/>
                        </a:rPr>
                        <a:t>Step-ladder fever, no relapsing pattern</a:t>
                      </a:r>
                      <a:endParaRPr lang="en-US" sz="24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  <a:tr h="89937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2060"/>
                          </a:solidFill>
                          <a:effectLst/>
                        </a:rPr>
                        <a:t>Viral haemorrhagic fever</a:t>
                      </a:r>
                      <a:endParaRPr lang="en-US" sz="24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2060"/>
                          </a:solidFill>
                          <a:effectLst/>
                        </a:rPr>
                        <a:t>No relapsing pattern; high hemorrhagic risk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  <a:tr h="50452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2060"/>
                          </a:solidFill>
                          <a:effectLst/>
                        </a:rPr>
                        <a:t>Louse-borne typhus</a:t>
                      </a:r>
                      <a:endParaRPr lang="en-US" sz="24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 err="1">
                          <a:solidFill>
                            <a:srgbClr val="002060"/>
                          </a:solidFill>
                          <a:effectLst/>
                        </a:rPr>
                        <a:t>Eschar</a:t>
                      </a:r>
                      <a:r>
                        <a:rPr lang="en-US" sz="2400" dirty="0">
                          <a:solidFill>
                            <a:srgbClr val="002060"/>
                          </a:solidFill>
                          <a:effectLst/>
                        </a:rPr>
                        <a:t> absent; </a:t>
                      </a:r>
                      <a:r>
                        <a:rPr lang="en-US" sz="2400" dirty="0" err="1">
                          <a:solidFill>
                            <a:srgbClr val="002060"/>
                          </a:solidFill>
                          <a:effectLst/>
                        </a:rPr>
                        <a:t>maculopapular</a:t>
                      </a:r>
                      <a:r>
                        <a:rPr lang="en-US" sz="2400" dirty="0">
                          <a:solidFill>
                            <a:srgbClr val="002060"/>
                          </a:solidFill>
                          <a:effectLst/>
                        </a:rPr>
                        <a:t> rash, delirium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  <a:tr h="50452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2060"/>
                          </a:solidFill>
                          <a:effectLst/>
                        </a:rPr>
                        <a:t>Brucellosis</a:t>
                      </a:r>
                      <a:endParaRPr lang="en-US" sz="24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2060"/>
                          </a:solidFill>
                          <a:effectLst/>
                        </a:rPr>
                        <a:t>Undulating fever, insidious onset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  <a:tr h="50452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2060"/>
                          </a:solidFill>
                          <a:effectLst/>
                        </a:rPr>
                        <a:t>Lyme disease</a:t>
                      </a:r>
                      <a:endParaRPr lang="en-US" sz="24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2060"/>
                          </a:solidFill>
                          <a:effectLst/>
                        </a:rPr>
                        <a:t>No relapsing fever; erythema </a:t>
                      </a:r>
                      <a:r>
                        <a:rPr lang="en-US" sz="2400" dirty="0" err="1">
                          <a:solidFill>
                            <a:srgbClr val="002060"/>
                          </a:solidFill>
                          <a:effectLst/>
                        </a:rPr>
                        <a:t>migrans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  <a:tr h="50452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002060"/>
                          </a:solidFill>
                          <a:effectLst/>
                        </a:rPr>
                        <a:t>Meningococcal sepsis</a:t>
                      </a:r>
                      <a:endParaRPr lang="en-US" sz="24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002060"/>
                          </a:solidFill>
                          <a:effectLst/>
                        </a:rPr>
                        <a:t>No relapsing; </a:t>
                      </a:r>
                      <a:r>
                        <a:rPr lang="en-US" sz="2400" dirty="0" err="1">
                          <a:solidFill>
                            <a:srgbClr val="002060"/>
                          </a:solidFill>
                          <a:effectLst/>
                        </a:rPr>
                        <a:t>purpuric</a:t>
                      </a:r>
                      <a:r>
                        <a:rPr lang="en-US" sz="2400" dirty="0">
                          <a:solidFill>
                            <a:srgbClr val="002060"/>
                          </a:solidFill>
                          <a:effectLst/>
                        </a:rPr>
                        <a:t> rash, rapid deterioration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43681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314" y="456839"/>
            <a:ext cx="10972800" cy="1143000"/>
          </a:xfrm>
        </p:spPr>
        <p:txBody>
          <a:bodyPr/>
          <a:lstStyle/>
          <a:p>
            <a:pPr lvl="0"/>
            <a:r>
              <a:rPr lang="en-US" b="1" dirty="0" smtClean="0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br>
              <a:rPr lang="en-US" b="1" dirty="0" smtClean="0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b="1" dirty="0" smtClean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LBRF– </a:t>
            </a:r>
            <a:r>
              <a:rPr lang="en-US" sz="3600" b="1" dirty="0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First-Line Treatment</a:t>
            </a:r>
            <a:r>
              <a:rPr lang="en-US" b="1" dirty="0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b="1" dirty="0">
                <a:solidFill>
                  <a:srgbClr val="C0392B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dirty="0"/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8835817"/>
              </p:ext>
            </p:extLst>
          </p:nvPr>
        </p:nvGraphicFramePr>
        <p:xfrm>
          <a:off x="342313" y="1599839"/>
          <a:ext cx="11516752" cy="423825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51436"/>
                <a:gridCol w="2742084"/>
                <a:gridCol w="2437407"/>
                <a:gridCol w="2985825"/>
              </a:tblGrid>
              <a:tr h="803807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Drug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 dirty="0">
                          <a:effectLst/>
                        </a:rPr>
                        <a:t>Dose (Adult)</a:t>
                      </a:r>
                      <a:endParaRPr lang="en-US" sz="24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Route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400">
                          <a:effectLst/>
                        </a:rPr>
                        <a:t>Duration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63500" marB="63500" anchor="ctr"/>
                </a:tc>
              </a:tr>
              <a:tr h="6868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Tetracycline (1st line)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effectLst/>
                        </a:rPr>
                        <a:t>500 mg single dose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effectLst/>
                        </a:rPr>
                        <a:t>Oral/IV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2060"/>
                          </a:solidFill>
                          <a:effectLst/>
                        </a:rPr>
                        <a:t>Single dose</a:t>
                      </a:r>
                      <a:endParaRPr lang="en-US" sz="24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  <a:tr h="6868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Doxycycline (1st line)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2060"/>
                          </a:solidFill>
                          <a:effectLst/>
                        </a:rPr>
                        <a:t>100 mg single dose</a:t>
                      </a:r>
                      <a:endParaRPr lang="en-US" sz="24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effectLst/>
                        </a:rPr>
                        <a:t>Oral/IV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effectLst/>
                        </a:rPr>
                        <a:t>Single dose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  <a:tr h="6868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Erythromycin (alternative)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2060"/>
                          </a:solidFill>
                          <a:effectLst/>
                        </a:rPr>
                        <a:t>500 mg single dose</a:t>
                      </a:r>
                      <a:endParaRPr lang="en-US" sz="24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2060"/>
                          </a:solidFill>
                          <a:effectLst/>
                        </a:rPr>
                        <a:t>Oral/IV</a:t>
                      </a:r>
                      <a:endParaRPr lang="en-US" sz="24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effectLst/>
                        </a:rPr>
                        <a:t>Single dose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  <a:tr h="6868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Penicillin G (pregnancy)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2060"/>
                          </a:solidFill>
                          <a:effectLst/>
                        </a:rPr>
                        <a:t>300,000–600,000 IU</a:t>
                      </a:r>
                      <a:endParaRPr lang="en-US" sz="24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2060"/>
                          </a:solidFill>
                          <a:effectLst/>
                        </a:rPr>
                        <a:t>IV/IM</a:t>
                      </a:r>
                      <a:endParaRPr lang="en-US" sz="24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2060"/>
                          </a:solidFill>
                          <a:effectLst/>
                        </a:rPr>
                        <a:t>Single dose</a:t>
                      </a:r>
                      <a:endParaRPr lang="en-US" sz="24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  <a:tr h="686889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Chloramphenicol (alt.)</a:t>
                      </a:r>
                      <a:endParaRPr lang="en-US" sz="24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2060"/>
                          </a:solidFill>
                          <a:effectLst/>
                        </a:rPr>
                        <a:t>500 mg</a:t>
                      </a:r>
                      <a:endParaRPr lang="en-US" sz="24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2060"/>
                          </a:solidFill>
                          <a:effectLst/>
                        </a:rPr>
                        <a:t>Oral/IV</a:t>
                      </a:r>
                      <a:endParaRPr lang="en-US" sz="240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2060"/>
                          </a:solidFill>
                          <a:effectLst/>
                        </a:rPr>
                        <a:t>Single dose</a:t>
                      </a:r>
                      <a:endParaRPr lang="en-US" sz="2400" dirty="0">
                        <a:solidFill>
                          <a:srgbClr val="002060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82550" marR="82550" marT="50800" marB="50800"/>
                </a:tc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249970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98474" y="156994"/>
            <a:ext cx="11437034" cy="729272"/>
          </a:xfrm>
        </p:spPr>
        <p:txBody>
          <a:bodyPr/>
          <a:lstStyle/>
          <a:p>
            <a:r>
              <a:rPr lang="en-US" sz="2400" b="1" dirty="0" smtClean="0"/>
              <a:t> </a:t>
            </a:r>
            <a:r>
              <a:rPr lang="en-US" sz="3600" b="1" dirty="0" smtClean="0"/>
              <a:t>TBRF antimicrobia</a:t>
            </a:r>
            <a:r>
              <a:rPr lang="en-US" sz="3600" b="1" dirty="0"/>
              <a:t>l</a:t>
            </a:r>
            <a:endParaRPr lang="en-US" sz="36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886266"/>
            <a:ext cx="11971606" cy="523989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1990422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6436" y="247625"/>
            <a:ext cx="10972800" cy="751181"/>
          </a:xfrm>
        </p:spPr>
        <p:txBody>
          <a:bodyPr/>
          <a:lstStyle/>
          <a:p>
            <a:r>
              <a:rPr lang="en-US" sz="3600" b="1" dirty="0"/>
              <a:t>TBRF antimicrobial</a:t>
            </a:r>
            <a:endParaRPr lang="en-US" sz="36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06436" y="998806"/>
            <a:ext cx="11075963" cy="5050302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621690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STG - NEMLT 2021 FOR TBRF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Pharmacological Treatment -: erythromycin(PO) 500mg (or 12.5 mg/kg) 8 hourly for 14days </a:t>
            </a:r>
          </a:p>
          <a:p>
            <a:r>
              <a:rPr lang="en-US" dirty="0"/>
              <a:t>Tetracycline(PO)500mg 6hourly for 14days </a:t>
            </a:r>
          </a:p>
          <a:p>
            <a:r>
              <a:rPr lang="en-US" dirty="0"/>
              <a:t> Ceftriaxone (IV or IM) 2 grams daily for 10-14days is preferred for patients with central nervous system involvement</a:t>
            </a:r>
            <a:endParaRPr lang="en-TZ" dirty="0"/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Dr</a:t>
            </a:r>
            <a:r>
              <a:rPr lang="en-US" dirty="0"/>
              <a:t>. DAUDI</a:t>
            </a:r>
            <a:r>
              <a:rPr lang="en-US" dirty="0" smtClean="0"/>
              <a:t>/ DR </a:t>
            </a:r>
            <a:r>
              <a:rPr lang="en-US" dirty="0"/>
              <a:t>MBUKI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44</a:t>
            </a:fld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6253023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/>
              <a:t>Jarisch-Herxheimer</a:t>
            </a:r>
            <a:r>
              <a:rPr lang="en-US" b="1" dirty="0"/>
              <a:t> Reaction (JHR)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 smtClean="0"/>
              <a:t>JHR </a:t>
            </a:r>
            <a:r>
              <a:rPr lang="en-US" sz="2800" dirty="0"/>
              <a:t>is a systemic inflammatory response occurring 1–4 hours after the first dose of </a:t>
            </a:r>
            <a:r>
              <a:rPr lang="en-US" sz="2800" dirty="0" smtClean="0"/>
              <a:t>antibiotic</a:t>
            </a:r>
          </a:p>
          <a:p>
            <a:r>
              <a:rPr lang="en-US" sz="2800" dirty="0" smtClean="0"/>
              <a:t> </a:t>
            </a:r>
            <a:r>
              <a:rPr lang="en-US" sz="2800" dirty="0"/>
              <a:t>It results from massive release of cytokines (TNF-α, IL-6, IL-8) following rapid spirochete killing and antigen </a:t>
            </a:r>
            <a:r>
              <a:rPr lang="en-US" sz="2800" dirty="0" smtClean="0"/>
              <a:t>release</a:t>
            </a:r>
            <a:endParaRPr lang="en-US" sz="2800" dirty="0"/>
          </a:p>
          <a:p>
            <a:r>
              <a:rPr lang="en-US" sz="2800" dirty="0"/>
              <a:t>Frequency: 55–90% in LBRF; 30–60% in </a:t>
            </a:r>
            <a:r>
              <a:rPr lang="en-US" sz="2800" dirty="0" smtClean="0"/>
              <a:t>TBRF</a:t>
            </a:r>
          </a:p>
          <a:p>
            <a:r>
              <a:rPr lang="en-US" sz="2800" dirty="0"/>
              <a:t>Clinically: rigors, hyperthermia (temp spike 1–2°C above baseline), hypotension, and in severe cases, cardiorespiratory collapse</a:t>
            </a:r>
          </a:p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45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195520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4000" b="1" dirty="0" smtClean="0"/>
              <a:t>Management </a:t>
            </a:r>
            <a:r>
              <a:rPr lang="en-US" sz="4000" b="1" dirty="0"/>
              <a:t>of </a:t>
            </a:r>
            <a:r>
              <a:rPr lang="en-US" sz="4000" b="1" dirty="0" err="1"/>
              <a:t>Jarisch-Herxheimer</a:t>
            </a:r>
            <a:r>
              <a:rPr lang="en-US" sz="4000" b="1" dirty="0"/>
              <a:t> Reaction (JHR)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JHR is not an indication to stop </a:t>
            </a:r>
            <a:r>
              <a:rPr lang="en-US" dirty="0" smtClean="0"/>
              <a:t>antibiotics</a:t>
            </a:r>
          </a:p>
          <a:p>
            <a:r>
              <a:rPr lang="en-US" dirty="0" smtClean="0"/>
              <a:t>Premature </a:t>
            </a:r>
            <a:r>
              <a:rPr lang="en-US" dirty="0"/>
              <a:t>cessation leads to treatment failure and higher </a:t>
            </a:r>
            <a:r>
              <a:rPr lang="en-US" dirty="0" smtClean="0"/>
              <a:t>mortality</a:t>
            </a:r>
          </a:p>
          <a:p>
            <a:r>
              <a:rPr lang="en-US" dirty="0" smtClean="0"/>
              <a:t> </a:t>
            </a:r>
            <a:r>
              <a:rPr lang="en-US" dirty="0"/>
              <a:t>Management is </a:t>
            </a:r>
            <a:r>
              <a:rPr lang="en-US" dirty="0" smtClean="0"/>
              <a:t>supportive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46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80405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Management </a:t>
            </a:r>
            <a:r>
              <a:rPr lang="en-US" sz="3200" b="1" dirty="0"/>
              <a:t>of </a:t>
            </a:r>
            <a:r>
              <a:rPr lang="en-US" sz="3200" b="1" dirty="0" err="1"/>
              <a:t>Jarisch-Herxheimer</a:t>
            </a:r>
            <a:r>
              <a:rPr lang="en-US" sz="3200" b="1" dirty="0"/>
              <a:t> Reaction (JHR)</a:t>
            </a:r>
            <a:r>
              <a:rPr lang="en-US" b="1" dirty="0"/>
              <a:t/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Anticipate JHR within 1–4 hours of first antibiotic dose</a:t>
            </a:r>
          </a:p>
          <a:p>
            <a:pPr lvl="0"/>
            <a:r>
              <a:rPr lang="en-US" dirty="0"/>
              <a:t>IV fluid resuscitation for hypotension (normal saline 500 mL bolus, repeat as needed)</a:t>
            </a:r>
          </a:p>
          <a:p>
            <a:pPr lvl="0"/>
            <a:r>
              <a:rPr lang="en-US" dirty="0"/>
              <a:t>Supplemental oxygen for </a:t>
            </a:r>
            <a:r>
              <a:rPr lang="en-US" dirty="0" err="1"/>
              <a:t>dyspnoea</a:t>
            </a:r>
            <a:r>
              <a:rPr lang="en-US" dirty="0"/>
              <a:t>/desaturation</a:t>
            </a:r>
          </a:p>
          <a:p>
            <a:pPr lvl="0"/>
            <a:r>
              <a:rPr lang="en-US" dirty="0"/>
              <a:t>Antipyretics: </a:t>
            </a:r>
            <a:r>
              <a:rPr lang="en-US" dirty="0" err="1"/>
              <a:t>Paracetamol</a:t>
            </a:r>
            <a:r>
              <a:rPr lang="en-US" dirty="0"/>
              <a:t> 1 g IV/oral for fever spikes</a:t>
            </a:r>
          </a:p>
          <a:p>
            <a:pPr lvl="0"/>
            <a:r>
              <a:rPr lang="en-US" dirty="0"/>
              <a:t>Vasopressors (noradrenaline/dopamine) if refractory hypotension in ICU </a:t>
            </a:r>
            <a:r>
              <a:rPr lang="en-US" dirty="0" smtClean="0"/>
              <a:t>setting</a:t>
            </a:r>
          </a:p>
          <a:p>
            <a:pPr lvl="0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47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5241015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/>
              <a:t/>
            </a:r>
            <a:br>
              <a:rPr lang="en-US" sz="3200" b="1" dirty="0" smtClean="0"/>
            </a:br>
            <a:r>
              <a:rPr lang="en-US" sz="3200" b="1" dirty="0" smtClean="0"/>
              <a:t>Management </a:t>
            </a:r>
            <a:r>
              <a:rPr lang="en-US" sz="3200" b="1" dirty="0"/>
              <a:t>of </a:t>
            </a:r>
            <a:r>
              <a:rPr lang="en-US" sz="3200" b="1" dirty="0" err="1"/>
              <a:t>Jarisch-Herxheimer</a:t>
            </a:r>
            <a:r>
              <a:rPr lang="en-US" sz="3200" b="1" dirty="0"/>
              <a:t> Reaction (JHR)</a:t>
            </a:r>
            <a:r>
              <a:rPr lang="en-US" b="1" dirty="0"/>
              <a:t/>
            </a:r>
            <a:br>
              <a:rPr lang="en-US" b="1" dirty="0"/>
            </a:br>
            <a:endParaRPr lang="en-US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Newer treatment modalities-using </a:t>
            </a:r>
            <a:r>
              <a:rPr lang="en-US" dirty="0"/>
              <a:t>of TNF-ANTAGONIST</a:t>
            </a:r>
          </a:p>
          <a:p>
            <a:pPr lvl="1"/>
            <a:r>
              <a:rPr lang="en-US" dirty="0" err="1"/>
              <a:t>Eg</a:t>
            </a:r>
            <a:r>
              <a:rPr lang="en-US" dirty="0"/>
              <a:t>: Infliximab and </a:t>
            </a:r>
            <a:r>
              <a:rPr lang="en-US" dirty="0" err="1"/>
              <a:t>etanercept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48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3589380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Supportive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IV </a:t>
            </a:r>
            <a:r>
              <a:rPr lang="en-US" dirty="0"/>
              <a:t>fluid resuscitation for dehydration and hypotension</a:t>
            </a:r>
          </a:p>
          <a:p>
            <a:pPr lvl="0"/>
            <a:r>
              <a:rPr lang="en-US" dirty="0"/>
              <a:t>Antipyretics (</a:t>
            </a:r>
            <a:r>
              <a:rPr lang="en-US" dirty="0" err="1"/>
              <a:t>paracetamol</a:t>
            </a:r>
            <a:r>
              <a:rPr lang="en-US" dirty="0"/>
              <a:t> preferred; avoid NSAIDs due to platelet dysfunction)</a:t>
            </a:r>
          </a:p>
          <a:p>
            <a:pPr lvl="0"/>
            <a:r>
              <a:rPr lang="en-US" dirty="0"/>
              <a:t>Blood transfusion for severe </a:t>
            </a:r>
            <a:r>
              <a:rPr lang="en-US" dirty="0" err="1"/>
              <a:t>anaemia</a:t>
            </a:r>
            <a:r>
              <a:rPr lang="en-US" dirty="0"/>
              <a:t> (</a:t>
            </a:r>
            <a:r>
              <a:rPr lang="en-US" dirty="0" err="1"/>
              <a:t>Hb</a:t>
            </a:r>
            <a:r>
              <a:rPr lang="en-US" dirty="0"/>
              <a:t> &lt;7 g/</a:t>
            </a:r>
            <a:r>
              <a:rPr lang="en-US" dirty="0" err="1"/>
              <a:t>dL</a:t>
            </a:r>
            <a:r>
              <a:rPr lang="en-US" dirty="0"/>
              <a:t>)</a:t>
            </a:r>
          </a:p>
          <a:p>
            <a:pPr lvl="0"/>
            <a:r>
              <a:rPr lang="en-US" dirty="0"/>
              <a:t>Platelet transfusion if &lt;10×10⁹/L or active bleeding</a:t>
            </a:r>
          </a:p>
          <a:p>
            <a:pPr lvl="0"/>
            <a:r>
              <a:rPr lang="en-US" dirty="0"/>
              <a:t>Fresh frozen plasma for DIC with </a:t>
            </a:r>
            <a:r>
              <a:rPr lang="en-US" dirty="0" smtClean="0"/>
              <a:t>coagulopathy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49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15413983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Supportive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err="1" smtClean="0"/>
              <a:t>Antiepileptics</a:t>
            </a:r>
            <a:r>
              <a:rPr lang="en-US" dirty="0" smtClean="0"/>
              <a:t> </a:t>
            </a:r>
            <a:r>
              <a:rPr lang="en-US" dirty="0"/>
              <a:t>for seizures </a:t>
            </a:r>
            <a:endParaRPr lang="en-US" dirty="0" smtClean="0"/>
          </a:p>
          <a:p>
            <a:pPr lvl="0"/>
            <a:r>
              <a:rPr lang="en-US" dirty="0" smtClean="0"/>
              <a:t>Management </a:t>
            </a:r>
            <a:r>
              <a:rPr lang="en-US" dirty="0"/>
              <a:t>of acute kidney </a:t>
            </a:r>
            <a:r>
              <a:rPr lang="en-US" dirty="0" smtClean="0"/>
              <a:t>injury</a:t>
            </a:r>
          </a:p>
          <a:p>
            <a:pPr lvl="0"/>
            <a:r>
              <a:rPr lang="en-US" dirty="0" smtClean="0"/>
              <a:t>Nutritional </a:t>
            </a:r>
            <a:r>
              <a:rPr lang="en-US" dirty="0"/>
              <a:t>support and management of </a:t>
            </a:r>
            <a:r>
              <a:rPr lang="en-US" dirty="0" err="1"/>
              <a:t>hypoglycaemia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50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7490946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Pregnancy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Penicillin </a:t>
            </a:r>
            <a:r>
              <a:rPr lang="en-US" dirty="0"/>
              <a:t>G (single dose IM) remains first-line to avoid tetracycline teratogenicity</a:t>
            </a:r>
          </a:p>
          <a:p>
            <a:pPr lvl="0"/>
            <a:r>
              <a:rPr lang="en-US" dirty="0"/>
              <a:t>Erythromycin 500 mg QDS for 7–14 days if penicillin allergic</a:t>
            </a:r>
          </a:p>
          <a:p>
            <a:pPr lvl="0"/>
            <a:r>
              <a:rPr lang="en-US" dirty="0"/>
              <a:t>Early treatment essential to prevent fetal loss and neonatal transmission</a:t>
            </a:r>
          </a:p>
          <a:p>
            <a:pPr lvl="0"/>
            <a:r>
              <a:rPr lang="en-US" dirty="0"/>
              <a:t>Neonatal relapsing fever: Penicillin G 50,000 IU/kg/day IV × 10 days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51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310684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HIV Co-infection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Higher </a:t>
            </a:r>
            <a:r>
              <a:rPr lang="en-US" dirty="0"/>
              <a:t>risk of treatment failure and atypical presentations</a:t>
            </a:r>
          </a:p>
          <a:p>
            <a:pPr lvl="0"/>
            <a:r>
              <a:rPr lang="en-US" dirty="0"/>
              <a:t>Prolonged antibiotic course (14 days) recommended</a:t>
            </a:r>
          </a:p>
          <a:p>
            <a:pPr lvl="0"/>
            <a:r>
              <a:rPr lang="en-US" dirty="0"/>
              <a:t>Monitor for opportunistic infections unmasked by immune reconstitution</a:t>
            </a:r>
          </a:p>
          <a:p>
            <a:pPr lvl="0"/>
            <a:r>
              <a:rPr lang="en-US" dirty="0"/>
              <a:t>No specific antiretroviral interactions with standard RF antibiotics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52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5392957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Prognosis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3840" y="1166018"/>
            <a:ext cx="10972800" cy="4525963"/>
          </a:xfrm>
        </p:spPr>
        <p:txBody>
          <a:bodyPr/>
          <a:lstStyle/>
          <a:p>
            <a:r>
              <a:rPr lang="en-US" sz="28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The mortality rates (TBRF)  </a:t>
            </a:r>
            <a:r>
              <a:rPr lang="en-US" sz="28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4% </a:t>
            </a:r>
            <a:r>
              <a:rPr lang="en-US" sz="28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to </a:t>
            </a:r>
            <a:r>
              <a:rPr lang="en-US" sz="28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10% and </a:t>
            </a:r>
            <a:r>
              <a:rPr lang="en-US" sz="28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(LBRF) </a:t>
            </a:r>
            <a:r>
              <a:rPr lang="en-US" sz="28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10% to 70% with </a:t>
            </a:r>
            <a:r>
              <a:rPr lang="en-US" sz="28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prompt antibiotic treatment, the mortality rate is reduced to </a:t>
            </a:r>
            <a:r>
              <a:rPr lang="en-US" sz="28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less than  2%  for  </a:t>
            </a:r>
            <a:r>
              <a:rPr lang="en-US" sz="28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TBRF and </a:t>
            </a:r>
            <a:r>
              <a:rPr lang="en-US" sz="28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2% - 5%  </a:t>
            </a:r>
            <a:r>
              <a:rPr lang="en-US" sz="28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for LBRF </a:t>
            </a:r>
            <a:endParaRPr lang="en-US" sz="2800" dirty="0" smtClean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2800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Mortality secondary to relapsing fever has also been associated with </a:t>
            </a:r>
            <a:r>
              <a:rPr lang="en-US" sz="2800" dirty="0" err="1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Jarisch-Herxheimer</a:t>
            </a:r>
            <a:r>
              <a:rPr lang="en-US" sz="28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reaction (JHR) for up to 5% in LBRF</a:t>
            </a:r>
            <a:r>
              <a:rPr lang="en-US" sz="2800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.</a:t>
            </a:r>
            <a:endParaRPr lang="en-US" sz="2800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sz="28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Stupor or coma, diffuse bleeding, Myocarditis, Malnutrition, poor hepatic function, Bronchopneumonia on admission denotes poor prognosis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92155"/>
            <a:ext cx="3860800" cy="365125"/>
          </a:xfrm>
        </p:spPr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53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9837617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Prevention and Control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Reducing </a:t>
            </a:r>
            <a:r>
              <a:rPr lang="en-US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exposure</a:t>
            </a:r>
            <a:endParaRPr lang="en-US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TBRF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; constructing houses with concrete or sealed plank floors and without thatched roofs or mud walls. </a:t>
            </a:r>
          </a:p>
          <a:p>
            <a:r>
              <a:rPr lang="en-US" i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By using insect repellent containing DEET or </a:t>
            </a:r>
            <a:r>
              <a:rPr lang="en-US" i="1" dirty="0" err="1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permethrin</a:t>
            </a:r>
            <a:r>
              <a:rPr lang="en-US" i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to prevent tick </a:t>
            </a:r>
            <a:r>
              <a:rPr lang="en-US" i="1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bites</a:t>
            </a:r>
            <a:endParaRPr lang="en-US" i="1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rgbClr val="002060"/>
                </a:solidFill>
                <a:cs typeface="Times New Roman" panose="02020603050405020304" pitchFamily="18" charset="0"/>
              </a:rPr>
              <a:t>LBRF</a:t>
            </a:r>
            <a:r>
              <a:rPr lang="en-US" dirty="0">
                <a:solidFill>
                  <a:srgbClr val="002060"/>
                </a:solidFill>
                <a:cs typeface="Times New Roman" panose="02020603050405020304" pitchFamily="18" charset="0"/>
              </a:rPr>
              <a:t>; improved personal hygiene, reduced crowding, and improved access to washing facilities</a:t>
            </a:r>
          </a:p>
          <a:p>
            <a:endParaRPr lang="en-US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54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05997502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Prevention and Control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en-US" sz="3200" dirty="0" smtClean="0">
                <a:solidFill>
                  <a:srgbClr val="002060"/>
                </a:solidFill>
                <a:cs typeface="Times New Roman" panose="02020603050405020304" pitchFamily="18" charset="0"/>
              </a:rPr>
              <a:t>There </a:t>
            </a:r>
            <a:r>
              <a:rPr lang="en-US" sz="3200" dirty="0">
                <a:solidFill>
                  <a:srgbClr val="002060"/>
                </a:solidFill>
                <a:cs typeface="Times New Roman" panose="02020603050405020304" pitchFamily="18" charset="0"/>
              </a:rPr>
              <a:t>are no vaccines for either tick-borne relapsing fever (TBRF) or louse-borne relapsing fever (LBRF</a:t>
            </a:r>
          </a:p>
          <a:p>
            <a:endParaRPr lang="en-US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Dr. DAUDI/DR MBUKI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55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3950860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0" y="329784"/>
            <a:ext cx="11932170" cy="4407108"/>
          </a:xfrm>
          <a:prstGeom prst="rect">
            <a:avLst/>
          </a:prstGeo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DR DAUDI/DR MBUKI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56</a:t>
            </a:fld>
            <a:endParaRPr lang="en-US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494676" y="5316984"/>
            <a:ext cx="10493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002060"/>
                </a:solidFill>
              </a:rPr>
              <a:t>Tal </a:t>
            </a:r>
            <a:r>
              <a:rPr lang="en-US" dirty="0" err="1" smtClean="0">
                <a:solidFill>
                  <a:srgbClr val="002060"/>
                </a:solidFill>
              </a:rPr>
              <a:t>hasin</a:t>
            </a:r>
            <a:r>
              <a:rPr lang="en-US" dirty="0">
                <a:solidFill>
                  <a:srgbClr val="002060"/>
                </a:solidFill>
              </a:rPr>
              <a:t> et </a:t>
            </a:r>
            <a:r>
              <a:rPr lang="en-US" dirty="0" smtClean="0">
                <a:solidFill>
                  <a:srgbClr val="002060"/>
                </a:solidFill>
              </a:rPr>
              <a:t>al  </a:t>
            </a:r>
            <a:r>
              <a:rPr lang="en-US" dirty="0" err="1" smtClean="0">
                <a:solidFill>
                  <a:srgbClr val="002060"/>
                </a:solidFill>
              </a:rPr>
              <a:t>postexposure</a:t>
            </a:r>
            <a:r>
              <a:rPr lang="en-US" dirty="0" smtClean="0">
                <a:solidFill>
                  <a:srgbClr val="002060"/>
                </a:solidFill>
              </a:rPr>
              <a:t> treatment </a:t>
            </a:r>
            <a:r>
              <a:rPr lang="en-US" dirty="0" err="1" smtClean="0">
                <a:solidFill>
                  <a:srgbClr val="002060"/>
                </a:solidFill>
              </a:rPr>
              <a:t>wth</a:t>
            </a:r>
            <a:r>
              <a:rPr lang="en-US" dirty="0" smtClean="0">
                <a:solidFill>
                  <a:srgbClr val="002060"/>
                </a:solidFill>
              </a:rPr>
              <a:t> doxycycline for the prevention of tick bone relapsing fever </a:t>
            </a:r>
            <a:r>
              <a:rPr lang="en-US" dirty="0">
                <a:solidFill>
                  <a:srgbClr val="002060"/>
                </a:solidFill>
              </a:rPr>
              <a:t>https://pubmed.ncbi.nlm.nih.gov/16837678/</a:t>
            </a:r>
          </a:p>
        </p:txBody>
      </p:sp>
    </p:spTree>
    <p:extLst>
      <p:ext uri="{BB962C8B-B14F-4D97-AF65-F5344CB8AC3E}">
        <p14:creationId xmlns:p14="http://schemas.microsoft.com/office/powerpoint/2010/main" val="3818263708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 exposure treatment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002060"/>
                </a:solidFill>
              </a:rPr>
              <a:t>Double blind placebo controlled trial, 93 health subjects with suspected tick exposure </a:t>
            </a:r>
          </a:p>
          <a:p>
            <a:r>
              <a:rPr lang="en-US" dirty="0">
                <a:solidFill>
                  <a:srgbClr val="002060"/>
                </a:solidFill>
              </a:rPr>
              <a:t>Received doxycycline 200mg/D1 then 100mg for 4 days</a:t>
            </a:r>
          </a:p>
          <a:p>
            <a:r>
              <a:rPr lang="en-US" dirty="0">
                <a:solidFill>
                  <a:srgbClr val="002060"/>
                </a:solidFill>
              </a:rPr>
              <a:t>Result all 10 cases of TBRH identified by positive blood smear were in the placebo group</a:t>
            </a:r>
          </a:p>
          <a:p>
            <a:r>
              <a:rPr lang="en-US" dirty="0">
                <a:solidFill>
                  <a:srgbClr val="002060"/>
                </a:solidFill>
              </a:rPr>
              <a:t>100% efficacy of preemptive treatment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DR DAUDI/DR MBUKI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57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4843679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Post exposure treatment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Oral  doxycycline 200 mg  1</a:t>
            </a:r>
            <a:r>
              <a:rPr lang="en-US" baseline="300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st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day then 100 mg daily for 4 days.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2</a:t>
            </a:r>
            <a:r>
              <a:rPr lang="en-US" b="1" baseline="30000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nd</a:t>
            </a:r>
            <a:r>
              <a:rPr lang="en-US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 line 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tetracycline 500 mg 6hourly for four days.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 </a:t>
            </a:r>
            <a:r>
              <a:rPr lang="en-US" b="1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Erythromycin</a:t>
            </a:r>
            <a:r>
              <a:rPr lang="en-US" dirty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 or another macrolide would be equally efficacious</a:t>
            </a:r>
            <a:r>
              <a:rPr lang="en-US" dirty="0" smtClean="0">
                <a:solidFill>
                  <a:srgbClr val="002060"/>
                </a:solidFill>
                <a:latin typeface="+mj-lt"/>
                <a:cs typeface="Times New Roman" panose="02020603050405020304" pitchFamily="18" charset="0"/>
              </a:rPr>
              <a:t>.</a:t>
            </a:r>
            <a:endParaRPr lang="en-US" dirty="0">
              <a:solidFill>
                <a:srgbClr val="002060"/>
              </a:solidFill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58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78728964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</a:t>
            </a:r>
            <a:r>
              <a:rPr lang="en-US" dirty="0" smtClean="0"/>
              <a:t>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World Health Organization. Relapsing Fevers: Key Facts. WHO Technical Report, 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</a:rPr>
              <a:t>2021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</a:rPr>
              <a:t>Relapsing Fever. CDC Health Topics, 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</a:rPr>
              <a:t>2023 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hlinkClick r:id="rId2"/>
              </a:rPr>
              <a:t>https</a:t>
            </a:r>
            <a:r>
              <a:rPr lang="en-US" sz="2400" dirty="0">
                <a:solidFill>
                  <a:schemeClr val="bg2">
                    <a:lumMod val="10000"/>
                  </a:schemeClr>
                </a:solidFill>
                <a:hlinkClick r:id="rId2"/>
              </a:rPr>
              <a:t>://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hlinkClick r:id="rId2"/>
              </a:rPr>
              <a:t>www.cdc.gov/relapsing-fever</a:t>
            </a:r>
            <a:endParaRPr lang="en-US" sz="2400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hlinkClick r:id="rId3"/>
              </a:rPr>
              <a:t>https://pubmed.ncbi.nlm.nih.gov/2096523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hlinkClick r:id="rId3"/>
              </a:rPr>
              <a:t>/</a:t>
            </a:r>
            <a:endParaRPr lang="en-US" sz="2400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hlinkClick r:id="rId4"/>
              </a:rPr>
              <a:t>https://www.jscimedcentral.com/jounal-article-info/Annals-of-Clinical-Cytology-and-Pathology/Tick-Borne-Relapsing-Fever-in-Rural-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hlinkClick r:id="rId4"/>
              </a:rPr>
              <a:t>-</a:t>
            </a:r>
            <a:endParaRPr lang="en-US" sz="2400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>
                <a:solidFill>
                  <a:schemeClr val="bg2">
                    <a:lumMod val="10000"/>
                  </a:schemeClr>
                </a:solidFill>
                <a:hlinkClick r:id="rId5"/>
              </a:rPr>
              <a:t>https://www.ncbi.nlm.nih.gov/books/NBK441913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  <a:hlinkClick r:id="rId5"/>
              </a:rPr>
              <a:t>/</a:t>
            </a:r>
            <a:endParaRPr lang="en-US" sz="2400" dirty="0" smtClean="0">
              <a:solidFill>
                <a:schemeClr val="bg2">
                  <a:lumMod val="10000"/>
                </a:schemeClr>
              </a:solidFill>
            </a:endParaRPr>
          </a:p>
          <a:p>
            <a:pPr marL="914400" lvl="1" indent="-457200">
              <a:buFont typeface="+mj-lt"/>
              <a:buAutoNum type="arabicPeriod"/>
            </a:pPr>
            <a:r>
              <a:rPr lang="en-US" sz="2400" dirty="0" err="1" smtClean="0">
                <a:solidFill>
                  <a:schemeClr val="bg2">
                    <a:lumMod val="10000"/>
                  </a:schemeClr>
                </a:solidFill>
              </a:rPr>
              <a:t>Uptodate</a:t>
            </a:r>
            <a:r>
              <a:rPr lang="en-US" sz="2400" dirty="0" smtClean="0">
                <a:solidFill>
                  <a:schemeClr val="bg2">
                    <a:lumMod val="10000"/>
                  </a:schemeClr>
                </a:solidFill>
              </a:rPr>
              <a:t> clinical features, diagnosis and management of relapsing fever, microbiology, pathogenesis and epidemiology of relapsing fever</a:t>
            </a:r>
          </a:p>
          <a:p>
            <a:pPr marL="457200" lvl="1" indent="0">
              <a:buNone/>
            </a:pPr>
            <a:endParaRPr lang="en-US" sz="2400" dirty="0">
              <a:solidFill>
                <a:schemeClr val="bg2">
                  <a:lumMod val="1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482952-A15B-4F66-B92F-C3CBBC9C388C}" type="datetime2">
              <a:rPr lang="en-US" altLang="en-US" smtClean="0"/>
              <a:t>Monday, May 25, 2026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Dr. DAUDI/DR MBUKI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799B34-1B6F-498C-AAD9-0E5AD70A3170}" type="slidenum">
              <a:rPr lang="en-US" altLang="en-US" smtClean="0"/>
              <a:t>59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1522635"/>
      </p:ext>
    </p:extLst>
  </p:cSld>
  <p:clrMapOvr>
    <a:masterClrMapping/>
  </p:clrMapOvr>
  <p:transition spd="slow">
    <p:wedg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32A9E5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3044</TotalTime>
  <Words>2506</Words>
  <Application>Microsoft Office PowerPoint</Application>
  <PresentationFormat>Widescreen</PresentationFormat>
  <Paragraphs>495</Paragraphs>
  <Slides>59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6" baseType="lpstr">
      <vt:lpstr>MS PGothic</vt:lpstr>
      <vt:lpstr>Arial</vt:lpstr>
      <vt:lpstr>Calibri</vt:lpstr>
      <vt:lpstr>Segoe UI Semibold</vt:lpstr>
      <vt:lpstr>Times New Roman</vt:lpstr>
      <vt:lpstr>Wingdings</vt:lpstr>
      <vt:lpstr>Office Theme</vt:lpstr>
      <vt:lpstr>RELAPSING FEVER</vt:lpstr>
      <vt:lpstr>Outlines</vt:lpstr>
      <vt:lpstr>Introduction</vt:lpstr>
      <vt:lpstr>Introduction</vt:lpstr>
      <vt:lpstr>Relapsing fever major forms</vt:lpstr>
      <vt:lpstr>Pattern of Relapsing fever</vt:lpstr>
      <vt:lpstr>Epidemiological triad</vt:lpstr>
      <vt:lpstr>Epidemiology </vt:lpstr>
      <vt:lpstr>Epidemiology</vt:lpstr>
      <vt:lpstr>Epidemiology </vt:lpstr>
      <vt:lpstr>Borrelia species causing STRF</vt:lpstr>
      <vt:lpstr>PowerPoint Presentation</vt:lpstr>
      <vt:lpstr>Epidemiology</vt:lpstr>
      <vt:lpstr>Epidemiology </vt:lpstr>
      <vt:lpstr>Pathogenesis</vt:lpstr>
      <vt:lpstr>Pathogenesis</vt:lpstr>
      <vt:lpstr>Pathogenesis</vt:lpstr>
      <vt:lpstr>Pathogenesis </vt:lpstr>
      <vt:lpstr>Pathogenesis </vt:lpstr>
      <vt:lpstr>Pathogenesis </vt:lpstr>
      <vt:lpstr> Organ Involvement </vt:lpstr>
      <vt:lpstr>Organ Involvement</vt:lpstr>
      <vt:lpstr>Clinical presentation</vt:lpstr>
      <vt:lpstr>Febrile episodes pattern </vt:lpstr>
      <vt:lpstr>Clinical presentation</vt:lpstr>
      <vt:lpstr>Clinical presentation</vt:lpstr>
      <vt:lpstr>Clinical presentation</vt:lpstr>
      <vt:lpstr>Clinical presentation</vt:lpstr>
      <vt:lpstr>Clinical presentation</vt:lpstr>
      <vt:lpstr>Pregnancy-Associated</vt:lpstr>
      <vt:lpstr>Diagnostic approach</vt:lpstr>
      <vt:lpstr>Diagnostic approach</vt:lpstr>
      <vt:lpstr>Diagnostic approach</vt:lpstr>
      <vt:lpstr>Diagnostic approach</vt:lpstr>
      <vt:lpstr>Diagnostic approach</vt:lpstr>
      <vt:lpstr>Other laboratory findings</vt:lpstr>
      <vt:lpstr>Other laboratory findings</vt:lpstr>
      <vt:lpstr>Other laboratory findings</vt:lpstr>
      <vt:lpstr>Imaging</vt:lpstr>
      <vt:lpstr>Differential diagnosis</vt:lpstr>
      <vt:lpstr>  LBRF– First-Line Treatment </vt:lpstr>
      <vt:lpstr> TBRF antimicrobial</vt:lpstr>
      <vt:lpstr>TBRF antimicrobial</vt:lpstr>
      <vt:lpstr>STG - NEMLT 2021 FOR TBRF</vt:lpstr>
      <vt:lpstr>Jarisch-Herxheimer Reaction (JHR)</vt:lpstr>
      <vt:lpstr> Management of Jarisch-Herxheimer Reaction (JHR) </vt:lpstr>
      <vt:lpstr> Management of Jarisch-Herxheimer Reaction (JHR) </vt:lpstr>
      <vt:lpstr> Management of Jarisch-Herxheimer Reaction (JHR) </vt:lpstr>
      <vt:lpstr>Supportive Management</vt:lpstr>
      <vt:lpstr>Supportive Management</vt:lpstr>
      <vt:lpstr>Pregnancy</vt:lpstr>
      <vt:lpstr>HIV Co-infection</vt:lpstr>
      <vt:lpstr>Prognosis</vt:lpstr>
      <vt:lpstr>Prevention and Control</vt:lpstr>
      <vt:lpstr>Prevention and Control</vt:lpstr>
      <vt:lpstr>PowerPoint Presentation</vt:lpstr>
      <vt:lpstr>Post exposure treatment </vt:lpstr>
      <vt:lpstr>Post exposure treatment</vt:lpstr>
      <vt:lpstr>References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Fredirick Mashili</dc:creator>
  <cp:lastModifiedBy>Des Noel</cp:lastModifiedBy>
  <cp:revision>581</cp:revision>
  <dcterms:created xsi:type="dcterms:W3CDTF">2017-04-05T10:53:00Z</dcterms:created>
  <dcterms:modified xsi:type="dcterms:W3CDTF">2026-05-25T18:21:23Z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5E5D257DCD8B4AF1845569F50671B1D2_13</vt:lpwstr>
  </property>
  <property fmtid="{D5CDD505-2E9C-101B-9397-08002B2CF9AE}" pid="3" name="KSOProductBuildVer">
    <vt:lpwstr>1033-12.2.0.13489</vt:lpwstr>
  </property>
</Properties>
</file>